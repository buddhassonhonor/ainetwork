
<file path=[Content_Types].xml><?xml version="1.0" encoding="utf-8"?>
<Types xmlns="http://schemas.openxmlformats.org/package/2006/content-types">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20"/>
  </p:notesMasterIdLst>
  <p:sldIdLst>
    <p:sldId id="282" r:id="rId2"/>
    <p:sldId id="283" r:id="rId3"/>
    <p:sldId id="286" r:id="rId4"/>
    <p:sldId id="287" r:id="rId5"/>
    <p:sldId id="358" r:id="rId6"/>
    <p:sldId id="299" r:id="rId7"/>
    <p:sldId id="281" r:id="rId8"/>
    <p:sldId id="285" r:id="rId9"/>
    <p:sldId id="359" r:id="rId10"/>
    <p:sldId id="288" r:id="rId11"/>
    <p:sldId id="291" r:id="rId12"/>
    <p:sldId id="360" r:id="rId13"/>
    <p:sldId id="361" r:id="rId14"/>
    <p:sldId id="362" r:id="rId15"/>
    <p:sldId id="363" r:id="rId16"/>
    <p:sldId id="364" r:id="rId17"/>
    <p:sldId id="365" r:id="rId18"/>
    <p:sldId id="305" r:id="rId19"/>
    <p:sldId id="307" r:id="rId20"/>
    <p:sldId id="306" r:id="rId21"/>
    <p:sldId id="308" r:id="rId22"/>
    <p:sldId id="491" r:id="rId23"/>
    <p:sldId id="272" r:id="rId24"/>
    <p:sldId id="311" r:id="rId25"/>
    <p:sldId id="310" r:id="rId26"/>
    <p:sldId id="347" r:id="rId27"/>
    <p:sldId id="349" r:id="rId28"/>
    <p:sldId id="350" r:id="rId29"/>
    <p:sldId id="352" r:id="rId30"/>
    <p:sldId id="351" r:id="rId31"/>
    <p:sldId id="353" r:id="rId32"/>
    <p:sldId id="354" r:id="rId33"/>
    <p:sldId id="374" r:id="rId34"/>
    <p:sldId id="375" r:id="rId35"/>
    <p:sldId id="356" r:id="rId36"/>
    <p:sldId id="355" r:id="rId37"/>
    <p:sldId id="376" r:id="rId38"/>
    <p:sldId id="381" r:id="rId39"/>
    <p:sldId id="382" r:id="rId40"/>
    <p:sldId id="383" r:id="rId41"/>
    <p:sldId id="388" r:id="rId42"/>
    <p:sldId id="389" r:id="rId43"/>
    <p:sldId id="390" r:id="rId44"/>
    <p:sldId id="391" r:id="rId45"/>
    <p:sldId id="392" r:id="rId46"/>
    <p:sldId id="393" r:id="rId47"/>
    <p:sldId id="479" r:id="rId48"/>
    <p:sldId id="394" r:id="rId49"/>
    <p:sldId id="395" r:id="rId50"/>
    <p:sldId id="396" r:id="rId51"/>
    <p:sldId id="397" r:id="rId52"/>
    <p:sldId id="398" r:id="rId53"/>
    <p:sldId id="399" r:id="rId54"/>
    <p:sldId id="400" r:id="rId55"/>
    <p:sldId id="401" r:id="rId56"/>
    <p:sldId id="402" r:id="rId57"/>
    <p:sldId id="403" r:id="rId58"/>
    <p:sldId id="493" r:id="rId59"/>
    <p:sldId id="404" r:id="rId60"/>
    <p:sldId id="405" r:id="rId61"/>
    <p:sldId id="406" r:id="rId62"/>
    <p:sldId id="492" r:id="rId63"/>
    <p:sldId id="494" r:id="rId64"/>
    <p:sldId id="480" r:id="rId65"/>
    <p:sldId id="412" r:id="rId66"/>
    <p:sldId id="414" r:id="rId67"/>
    <p:sldId id="415" r:id="rId68"/>
    <p:sldId id="416" r:id="rId69"/>
    <p:sldId id="417" r:id="rId70"/>
    <p:sldId id="481" r:id="rId71"/>
    <p:sldId id="482" r:id="rId72"/>
    <p:sldId id="421" r:id="rId73"/>
    <p:sldId id="425" r:id="rId74"/>
    <p:sldId id="483" r:id="rId75"/>
    <p:sldId id="428" r:id="rId76"/>
    <p:sldId id="429" r:id="rId77"/>
    <p:sldId id="430" r:id="rId78"/>
    <p:sldId id="431" r:id="rId79"/>
    <p:sldId id="432" r:id="rId80"/>
    <p:sldId id="433" r:id="rId81"/>
    <p:sldId id="434" r:id="rId82"/>
    <p:sldId id="435" r:id="rId83"/>
    <p:sldId id="436" r:id="rId84"/>
    <p:sldId id="437" r:id="rId85"/>
    <p:sldId id="490" r:id="rId86"/>
    <p:sldId id="484" r:id="rId87"/>
    <p:sldId id="440" r:id="rId88"/>
    <p:sldId id="441" r:id="rId89"/>
    <p:sldId id="442" r:id="rId90"/>
    <p:sldId id="443" r:id="rId91"/>
    <p:sldId id="485" r:id="rId92"/>
    <p:sldId id="445" r:id="rId93"/>
    <p:sldId id="446" r:id="rId94"/>
    <p:sldId id="447" r:id="rId95"/>
    <p:sldId id="448" r:id="rId96"/>
    <p:sldId id="449" r:id="rId97"/>
    <p:sldId id="486" r:id="rId98"/>
    <p:sldId id="450" r:id="rId99"/>
    <p:sldId id="487" r:id="rId100"/>
    <p:sldId id="453" r:id="rId101"/>
    <p:sldId id="454" r:id="rId102"/>
    <p:sldId id="456" r:id="rId103"/>
    <p:sldId id="457" r:id="rId104"/>
    <p:sldId id="458" r:id="rId105"/>
    <p:sldId id="459" r:id="rId106"/>
    <p:sldId id="460" r:id="rId107"/>
    <p:sldId id="461" r:id="rId108"/>
    <p:sldId id="462" r:id="rId109"/>
    <p:sldId id="463" r:id="rId110"/>
    <p:sldId id="464" r:id="rId111"/>
    <p:sldId id="465" r:id="rId112"/>
    <p:sldId id="466" r:id="rId113"/>
    <p:sldId id="467" r:id="rId114"/>
    <p:sldId id="468" r:id="rId115"/>
    <p:sldId id="474" r:id="rId116"/>
    <p:sldId id="496" r:id="rId117"/>
    <p:sldId id="497" r:id="rId118"/>
    <p:sldId id="498" r:id="rId119"/>
  </p:sldIdLst>
  <p:sldSz cx="9144000" cy="6858000" type="screen4x3"/>
  <p:notesSz cx="6858000" cy="9144000"/>
  <p:defaultTextStyle>
    <a:defPPr>
      <a:defRPr lang="zh-CN"/>
    </a:defPPr>
    <a:lvl1pPr algn="l" rtl="0" fontAlgn="base">
      <a:spcBef>
        <a:spcPct val="0"/>
      </a:spcBef>
      <a:spcAft>
        <a:spcPct val="0"/>
      </a:spcAft>
      <a:defRPr sz="2000"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Tahoma" pitchFamily="34" charset="0"/>
        <a:ea typeface="宋体" pitchFamily="2" charset="-122"/>
        <a:cs typeface="+mn-cs"/>
      </a:defRPr>
    </a:lvl5pPr>
    <a:lvl6pPr marL="2286000" algn="l" defTabSz="914400" rtl="0" eaLnBrk="1" latinLnBrk="0" hangingPunct="1">
      <a:defRPr sz="2000" kern="1200">
        <a:solidFill>
          <a:schemeClr val="tx1"/>
        </a:solidFill>
        <a:latin typeface="Tahoma" pitchFamily="34" charset="0"/>
        <a:ea typeface="宋体" pitchFamily="2" charset="-122"/>
        <a:cs typeface="+mn-cs"/>
      </a:defRPr>
    </a:lvl6pPr>
    <a:lvl7pPr marL="2743200" algn="l" defTabSz="914400" rtl="0" eaLnBrk="1" latinLnBrk="0" hangingPunct="1">
      <a:defRPr sz="2000" kern="1200">
        <a:solidFill>
          <a:schemeClr val="tx1"/>
        </a:solidFill>
        <a:latin typeface="Tahoma" pitchFamily="34" charset="0"/>
        <a:ea typeface="宋体" pitchFamily="2" charset="-122"/>
        <a:cs typeface="+mn-cs"/>
      </a:defRPr>
    </a:lvl7pPr>
    <a:lvl8pPr marL="3200400" algn="l" defTabSz="914400" rtl="0" eaLnBrk="1" latinLnBrk="0" hangingPunct="1">
      <a:defRPr sz="2000" kern="1200">
        <a:solidFill>
          <a:schemeClr val="tx1"/>
        </a:solidFill>
        <a:latin typeface="Tahoma" pitchFamily="34" charset="0"/>
        <a:ea typeface="宋体" pitchFamily="2" charset="-122"/>
        <a:cs typeface="+mn-cs"/>
      </a:defRPr>
    </a:lvl8pPr>
    <a:lvl9pPr marL="3657600" algn="l" defTabSz="914400" rtl="0" eaLnBrk="1" latinLnBrk="0" hangingPunct="1">
      <a:defRPr sz="2000"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FF"/>
    <a:srgbClr val="FFCCFF"/>
    <a:srgbClr val="CCECFF"/>
    <a:srgbClr val="FF9900"/>
    <a:srgbClr val="663300"/>
    <a:srgbClr val="FFFF66"/>
    <a:srgbClr val="99FF33"/>
    <a:srgbClr val="66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05" autoAdjust="0"/>
    <p:restoredTop sz="94588" autoAdjust="0"/>
  </p:normalViewPr>
  <p:slideViewPr>
    <p:cSldViewPr>
      <p:cViewPr varScale="1">
        <p:scale>
          <a:sx n="91" d="100"/>
          <a:sy n="91" d="100"/>
        </p:scale>
        <p:origin x="1428"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937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20173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1239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173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173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20173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4AEA16E4-78B8-48F6-A274-9A57B206EB76}" type="slidenum">
              <a:rPr lang="en-US" altLang="zh-CN"/>
              <a:pPr>
                <a:defRPr/>
              </a:pPr>
              <a:t>‹#›</a:t>
            </a:fld>
            <a:endParaRPr lang="en-US" altLang="zh-CN"/>
          </a:p>
        </p:txBody>
      </p:sp>
    </p:spTree>
    <p:extLst>
      <p:ext uri="{BB962C8B-B14F-4D97-AF65-F5344CB8AC3E}">
        <p14:creationId xmlns:p14="http://schemas.microsoft.com/office/powerpoint/2010/main" val="19126093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21CC98D1-4A81-424D-B228-55DBC9DFBC0F}" type="slidenum">
              <a:rPr lang="en-US" altLang="zh-CN" sz="1200" smtClean="0">
                <a:latin typeface="Arial" pitchFamily="34" charset="0"/>
              </a:rPr>
              <a:pPr eaLnBrk="1" hangingPunct="1"/>
              <a:t>1</a:t>
            </a:fld>
            <a:endParaRPr lang="en-US" altLang="zh-CN" sz="1200" smtClean="0">
              <a:latin typeface="Arial" pitchFamily="34"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C94D333C-5A28-4220-9BD1-188C35A5CE95}" type="slidenum">
              <a:rPr lang="en-US" altLang="zh-CN" sz="1200" smtClean="0">
                <a:latin typeface="Arial" pitchFamily="34" charset="0"/>
              </a:rPr>
              <a:pPr eaLnBrk="1" hangingPunct="1"/>
              <a:t>2</a:t>
            </a:fld>
            <a:endParaRPr lang="en-US" altLang="zh-CN" sz="1200" smtClean="0">
              <a:latin typeface="Arial" pitchFamily="34"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13918CC6-5E2B-4ADA-9A6A-1C2272F6CFA8}" type="slidenum">
              <a:rPr lang="en-US" altLang="zh-CN" sz="1200" smtClean="0">
                <a:latin typeface="Arial" pitchFamily="34" charset="0"/>
              </a:rPr>
              <a:pPr eaLnBrk="1" hangingPunct="1"/>
              <a:t>3</a:t>
            </a:fld>
            <a:endParaRPr lang="en-US" altLang="zh-CN" sz="1200" smtClean="0">
              <a:latin typeface="Arial" pitchFamily="34"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77D95D78-2C2B-41E2-8F35-4CCBA3112B3B}" type="slidenum">
              <a:rPr lang="en-US" altLang="zh-CN" sz="1200" smtClean="0">
                <a:latin typeface="Arial" pitchFamily="34" charset="0"/>
              </a:rPr>
              <a:pPr eaLnBrk="1" hangingPunct="1"/>
              <a:t>4</a:t>
            </a:fld>
            <a:endParaRPr lang="en-US" altLang="zh-CN" sz="1200" smtClean="0">
              <a:latin typeface="Arial" pitchFamily="34"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3A0034A3-F3B7-48D5-9469-45EDD092CC87}" type="slidenum">
              <a:rPr lang="en-US" altLang="zh-CN" sz="1200" smtClean="0">
                <a:latin typeface="Arial" pitchFamily="34" charset="0"/>
              </a:rPr>
              <a:pPr eaLnBrk="1" hangingPunct="1"/>
              <a:t>5</a:t>
            </a:fld>
            <a:endParaRPr lang="en-US" altLang="zh-CN" sz="1200" smtClean="0">
              <a:latin typeface="Arial" pitchFamily="34"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7A544BDD-28DC-4A58-A26E-B6A4FAFFAD4B}" type="slidenum">
              <a:rPr lang="en-US" altLang="zh-CN" sz="1200" smtClean="0">
                <a:latin typeface="Arial" pitchFamily="34" charset="0"/>
              </a:rPr>
              <a:pPr eaLnBrk="1" hangingPunct="1"/>
              <a:t>6</a:t>
            </a:fld>
            <a:endParaRPr lang="en-US" altLang="zh-CN" sz="1200" smtClean="0">
              <a:latin typeface="Arial" pitchFamily="34"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7BFAF935-B83B-483B-B9CF-4A0C97DF429D}" type="slidenum">
              <a:rPr lang="en-US" altLang="zh-CN" sz="1200" smtClean="0">
                <a:latin typeface="Arial" pitchFamily="34" charset="0"/>
              </a:rPr>
              <a:pPr eaLnBrk="1" hangingPunct="1"/>
              <a:t>7</a:t>
            </a:fld>
            <a:endParaRPr lang="en-US" altLang="zh-CN" sz="1200" smtClean="0">
              <a:latin typeface="Arial" pitchFamily="3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3F2013F6-9AE7-4681-8189-840C1D97F621}" type="slidenum">
              <a:rPr lang="en-US" altLang="zh-CN" sz="1200" smtClean="0">
                <a:latin typeface="Arial" pitchFamily="34" charset="0"/>
              </a:rPr>
              <a:pPr eaLnBrk="1" hangingPunct="1"/>
              <a:t>8</a:t>
            </a:fld>
            <a:endParaRPr lang="en-US" altLang="zh-CN" sz="1200" smtClean="0">
              <a:latin typeface="Arial" pitchFamily="34"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7ED80BC7-730A-45DA-BDA1-113617562826}" type="slidenum">
              <a:rPr lang="en-US" altLang="zh-CN" sz="1200" smtClean="0">
                <a:latin typeface="Arial" pitchFamily="34" charset="0"/>
              </a:rPr>
              <a:pPr eaLnBrk="1" hangingPunct="1"/>
              <a:t>9</a:t>
            </a:fld>
            <a:endParaRPr lang="en-US" altLang="zh-CN" sz="1200" smtClean="0">
              <a:latin typeface="Arial" pitchFamily="34"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EF3B9471-FBAB-43CE-AA23-18C902D54939}" type="slidenum">
              <a:rPr lang="en-US" altLang="zh-CN" sz="1200" smtClean="0">
                <a:latin typeface="Arial" pitchFamily="34" charset="0"/>
              </a:rPr>
              <a:pPr eaLnBrk="1" hangingPunct="1"/>
              <a:t>10</a:t>
            </a:fld>
            <a:endParaRPr lang="en-US" altLang="zh-CN" sz="1200" smtClean="0">
              <a:latin typeface="Arial" pitchFamily="34"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BD9F9453-DCD5-4A59-9657-C0A7D034EF4E}" type="slidenum">
              <a:rPr lang="en-US" altLang="zh-CN" sz="1200" smtClean="0">
                <a:latin typeface="Arial" pitchFamily="34" charset="0"/>
              </a:rPr>
              <a:pPr eaLnBrk="1" hangingPunct="1"/>
              <a:t>11</a:t>
            </a:fld>
            <a:endParaRPr lang="en-US" altLang="zh-CN" sz="1200" smtClean="0">
              <a:latin typeface="Arial" pitchFamily="34" charset="0"/>
            </a:endParaRP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82E90AEE-E6F4-4ECC-853E-D5ABCEEAA748}" type="slidenum">
              <a:rPr lang="en-US" altLang="zh-CN" sz="1200" smtClean="0">
                <a:latin typeface="Arial" pitchFamily="34" charset="0"/>
              </a:rPr>
              <a:pPr eaLnBrk="1" hangingPunct="1"/>
              <a:t>12</a:t>
            </a:fld>
            <a:endParaRPr lang="en-US" altLang="zh-CN" sz="1200" smtClean="0">
              <a:latin typeface="Arial" pitchFamily="34"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B60F1028-20EC-4E6A-BB20-6D525EF33563}" type="slidenum">
              <a:rPr lang="en-US" altLang="zh-CN" sz="1200" smtClean="0">
                <a:latin typeface="Arial" pitchFamily="34" charset="0"/>
              </a:rPr>
              <a:pPr eaLnBrk="1" hangingPunct="1"/>
              <a:t>13</a:t>
            </a:fld>
            <a:endParaRPr lang="en-US" altLang="zh-CN" sz="1200" smtClean="0">
              <a:latin typeface="Arial"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36E6F7B8-2393-413A-8099-3A1F9B41BD30}" type="slidenum">
              <a:rPr lang="en-US" altLang="zh-CN" sz="1200" smtClean="0">
                <a:latin typeface="Arial" pitchFamily="34" charset="0"/>
              </a:rPr>
              <a:pPr eaLnBrk="1" hangingPunct="1"/>
              <a:t>14</a:t>
            </a:fld>
            <a:endParaRPr lang="en-US" altLang="zh-CN" sz="1200" smtClean="0">
              <a:latin typeface="Arial" pitchFamily="34"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8494510E-A0AC-4A39-B353-4E9B600CC856}" type="slidenum">
              <a:rPr lang="en-US" altLang="zh-CN" sz="1200" smtClean="0">
                <a:latin typeface="Arial" pitchFamily="34" charset="0"/>
              </a:rPr>
              <a:pPr eaLnBrk="1" hangingPunct="1"/>
              <a:t>15</a:t>
            </a:fld>
            <a:endParaRPr lang="en-US" altLang="zh-CN" sz="1200" smtClean="0">
              <a:latin typeface="Arial" pitchFamily="34" charset="0"/>
            </a:endParaRPr>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9F5F062A-5681-4869-908E-91A95D85E7C4}" type="slidenum">
              <a:rPr lang="en-US" altLang="zh-CN" sz="1200" smtClean="0">
                <a:latin typeface="Arial" pitchFamily="34" charset="0"/>
              </a:rPr>
              <a:pPr eaLnBrk="1" hangingPunct="1"/>
              <a:t>16</a:t>
            </a:fld>
            <a:endParaRPr lang="en-US" altLang="zh-CN" sz="1200" smtClean="0">
              <a:latin typeface="Arial" pitchFamily="34"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194B0F12-47F5-417C-A186-BD57285C3271}" type="slidenum">
              <a:rPr lang="en-US" altLang="zh-CN" sz="1200" smtClean="0">
                <a:latin typeface="Arial" pitchFamily="34" charset="0"/>
              </a:rPr>
              <a:pPr eaLnBrk="1" hangingPunct="1"/>
              <a:t>17</a:t>
            </a:fld>
            <a:endParaRPr lang="en-US" altLang="zh-CN" sz="1200" smtClean="0">
              <a:latin typeface="Arial" pitchFamily="34"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973F8452-BBE9-42EE-B8D0-BF53D5DE10CC}" type="slidenum">
              <a:rPr lang="en-US" altLang="zh-CN" sz="1200" smtClean="0">
                <a:latin typeface="Arial" pitchFamily="34" charset="0"/>
              </a:rPr>
              <a:pPr eaLnBrk="1" hangingPunct="1"/>
              <a:t>18</a:t>
            </a:fld>
            <a:endParaRPr lang="en-US" altLang="zh-CN" sz="1200" smtClean="0">
              <a:latin typeface="Arial" pitchFamily="34"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A4814398-208F-4720-B2B6-CE1481FAF962}" type="slidenum">
              <a:rPr lang="en-US" altLang="zh-CN" sz="1200" smtClean="0">
                <a:latin typeface="Arial" pitchFamily="34" charset="0"/>
              </a:rPr>
              <a:pPr eaLnBrk="1" hangingPunct="1"/>
              <a:t>19</a:t>
            </a:fld>
            <a:endParaRPr lang="en-US" altLang="zh-CN" sz="1200" smtClean="0">
              <a:latin typeface="Arial" pitchFamily="34" charset="0"/>
            </a:endParaRPr>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5DCE9650-E365-4634-BDA5-B3ED134A1D58}" type="slidenum">
              <a:rPr lang="en-US" altLang="zh-CN" sz="1200" smtClean="0">
                <a:latin typeface="Arial" pitchFamily="34" charset="0"/>
              </a:rPr>
              <a:pPr eaLnBrk="1" hangingPunct="1"/>
              <a:t>20</a:t>
            </a:fld>
            <a:endParaRPr lang="en-US" altLang="zh-CN" sz="1200" smtClean="0">
              <a:latin typeface="Arial" pitchFamily="34" charset="0"/>
            </a:endParaRP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DCF95DD9-32CE-4DE6-ACFA-D461AF789819}" type="slidenum">
              <a:rPr lang="en-US" altLang="zh-CN" sz="1200" smtClean="0">
                <a:latin typeface="Arial" pitchFamily="34" charset="0"/>
              </a:rPr>
              <a:pPr eaLnBrk="1" hangingPunct="1"/>
              <a:t>21</a:t>
            </a:fld>
            <a:endParaRPr lang="en-US" altLang="zh-CN" sz="1200" smtClean="0">
              <a:latin typeface="Arial" pitchFamily="34" charset="0"/>
            </a:endParaRP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740B49A4-BFC0-4A49-ABB4-C11DEF62440B}" type="slidenum">
              <a:rPr lang="en-US" altLang="zh-CN" sz="1200" smtClean="0">
                <a:latin typeface="Arial" pitchFamily="34" charset="0"/>
              </a:rPr>
              <a:pPr eaLnBrk="1" hangingPunct="1"/>
              <a:t>23</a:t>
            </a:fld>
            <a:endParaRPr lang="en-US" altLang="zh-CN" sz="1200" smtClean="0">
              <a:latin typeface="Arial" pitchFamily="34" charset="0"/>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E054B43B-C9E8-49D0-8DCA-D81030FC69EC}" type="slidenum">
              <a:rPr lang="en-US" altLang="zh-CN" sz="1200" smtClean="0">
                <a:latin typeface="Arial" pitchFamily="34" charset="0"/>
              </a:rPr>
              <a:pPr eaLnBrk="1" hangingPunct="1"/>
              <a:t>24</a:t>
            </a:fld>
            <a:endParaRPr lang="en-US" altLang="zh-CN" sz="1200" smtClean="0">
              <a:latin typeface="Arial" pitchFamily="34" charset="0"/>
            </a:endParaRPr>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70A08556-D309-4467-AD2D-9A4DE86E4AAC}" type="slidenum">
              <a:rPr lang="en-US" altLang="zh-CN" sz="1200" smtClean="0">
                <a:latin typeface="Arial" pitchFamily="34" charset="0"/>
              </a:rPr>
              <a:pPr eaLnBrk="1" hangingPunct="1"/>
              <a:t>25</a:t>
            </a:fld>
            <a:endParaRPr lang="en-US" altLang="zh-CN" sz="1200" smtClean="0">
              <a:latin typeface="Arial" pitchFamily="34" charset="0"/>
            </a:endParaRP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70448AEE-D3CF-4926-A176-A44AC249FAF7}" type="slidenum">
              <a:rPr lang="en-US" altLang="zh-CN" sz="1200" smtClean="0">
                <a:latin typeface="Arial" pitchFamily="34" charset="0"/>
              </a:rPr>
              <a:pPr eaLnBrk="1" hangingPunct="1"/>
              <a:t>26</a:t>
            </a:fld>
            <a:endParaRPr lang="en-US" altLang="zh-CN" sz="1200" smtClean="0">
              <a:latin typeface="Arial" pitchFamily="34" charset="0"/>
            </a:endParaRPr>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A65A680A-FEF4-47D5-9A21-7A8D95FEE4A3}" type="slidenum">
              <a:rPr lang="en-US" altLang="zh-CN" sz="1200" smtClean="0">
                <a:latin typeface="Arial" pitchFamily="34" charset="0"/>
              </a:rPr>
              <a:pPr eaLnBrk="1" hangingPunct="1"/>
              <a:t>27</a:t>
            </a:fld>
            <a:endParaRPr lang="en-US" altLang="zh-CN" sz="1200" smtClean="0">
              <a:latin typeface="Arial" pitchFamily="34" charset="0"/>
            </a:endParaRP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37D8B2B5-19A8-46C7-97C1-5A472B298053}" type="slidenum">
              <a:rPr lang="en-US" altLang="zh-CN" sz="1200" smtClean="0">
                <a:latin typeface="Arial" pitchFamily="34" charset="0"/>
              </a:rPr>
              <a:pPr eaLnBrk="1" hangingPunct="1"/>
              <a:t>28</a:t>
            </a:fld>
            <a:endParaRPr lang="en-US" altLang="zh-CN" sz="1200" smtClean="0">
              <a:latin typeface="Arial" pitchFamily="34" charset="0"/>
            </a:endParaRPr>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916BA456-960A-4E7F-A969-48EF1010F91B}" type="slidenum">
              <a:rPr lang="en-US" altLang="zh-CN" sz="1200" smtClean="0">
                <a:latin typeface="Arial" pitchFamily="34" charset="0"/>
              </a:rPr>
              <a:pPr eaLnBrk="1" hangingPunct="1"/>
              <a:t>29</a:t>
            </a:fld>
            <a:endParaRPr lang="en-US" altLang="zh-CN" sz="1200" smtClean="0">
              <a:latin typeface="Arial" pitchFamily="34" charset="0"/>
            </a:endParaRPr>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C722CC5D-F55D-4415-98AB-91BD2AC5857D}" type="slidenum">
              <a:rPr lang="en-US" altLang="zh-CN" sz="1200" smtClean="0">
                <a:latin typeface="Arial" pitchFamily="34" charset="0"/>
              </a:rPr>
              <a:pPr eaLnBrk="1" hangingPunct="1"/>
              <a:t>30</a:t>
            </a:fld>
            <a:endParaRPr lang="en-US" altLang="zh-CN" sz="1200" smtClean="0">
              <a:latin typeface="Arial" pitchFamily="34" charset="0"/>
            </a:endParaRPr>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A0D99EA1-BD5F-4BEC-847D-C347EE774CF6}" type="slidenum">
              <a:rPr lang="en-US" altLang="zh-CN" sz="1200" smtClean="0">
                <a:latin typeface="Arial" pitchFamily="34" charset="0"/>
              </a:rPr>
              <a:pPr eaLnBrk="1" hangingPunct="1"/>
              <a:t>31</a:t>
            </a:fld>
            <a:endParaRPr lang="en-US" altLang="zh-CN" sz="1200" smtClean="0">
              <a:latin typeface="Arial" pitchFamily="34" charset="0"/>
            </a:endParaRPr>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9ED682DA-22E2-4ED9-A5F1-06BCAA2EC949}" type="slidenum">
              <a:rPr lang="en-US" altLang="zh-CN" sz="1200" smtClean="0">
                <a:latin typeface="Arial" pitchFamily="34" charset="0"/>
              </a:rPr>
              <a:pPr eaLnBrk="1" hangingPunct="1"/>
              <a:t>32</a:t>
            </a:fld>
            <a:endParaRPr lang="en-US" altLang="zh-CN" sz="1200" smtClean="0">
              <a:latin typeface="Arial" pitchFamily="34" charset="0"/>
            </a:endParaRPr>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D1E038D7-96D8-4AD4-B7E1-E02637274A93}" type="slidenum">
              <a:rPr lang="en-US" altLang="zh-CN" sz="1200" smtClean="0">
                <a:latin typeface="Arial" pitchFamily="34" charset="0"/>
              </a:rPr>
              <a:pPr eaLnBrk="1" hangingPunct="1"/>
              <a:t>33</a:t>
            </a:fld>
            <a:endParaRPr lang="en-US" altLang="zh-CN" sz="1200" smtClean="0">
              <a:latin typeface="Arial" pitchFamily="34" charset="0"/>
            </a:endParaRPr>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C21046E6-1DF1-402B-B683-041DB8494DCB}" type="slidenum">
              <a:rPr lang="en-US" altLang="zh-CN" sz="1200" smtClean="0">
                <a:latin typeface="Arial" pitchFamily="34" charset="0"/>
              </a:rPr>
              <a:pPr eaLnBrk="1" hangingPunct="1"/>
              <a:t>34</a:t>
            </a:fld>
            <a:endParaRPr lang="en-US" altLang="zh-CN" sz="1200" smtClean="0">
              <a:latin typeface="Arial" pitchFamily="34" charset="0"/>
            </a:endParaRP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0EF385D5-341F-4390-8391-76F8BB1360BD}" type="slidenum">
              <a:rPr lang="en-US" altLang="zh-CN" sz="1200" smtClean="0">
                <a:latin typeface="Arial" pitchFamily="34" charset="0"/>
              </a:rPr>
              <a:pPr eaLnBrk="1" hangingPunct="1"/>
              <a:t>35</a:t>
            </a:fld>
            <a:endParaRPr lang="en-US" altLang="zh-CN" sz="1200" smtClean="0">
              <a:latin typeface="Arial" pitchFamily="34" charset="0"/>
            </a:endParaRPr>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171DC331-4EFB-411F-A193-500490242EC1}" type="slidenum">
              <a:rPr lang="en-US" altLang="zh-CN" sz="1200" smtClean="0">
                <a:latin typeface="Arial" pitchFamily="34" charset="0"/>
              </a:rPr>
              <a:pPr eaLnBrk="1" hangingPunct="1"/>
              <a:t>36</a:t>
            </a:fld>
            <a:endParaRPr lang="en-US" altLang="zh-CN" sz="1200" smtClean="0">
              <a:latin typeface="Arial" pitchFamily="34" charset="0"/>
            </a:endParaRP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E06CF2D8-7DBA-4E2D-AC6C-E43E4B87ECE8}" type="slidenum">
              <a:rPr lang="en-US" altLang="zh-CN" sz="1200" smtClean="0">
                <a:latin typeface="Arial" pitchFamily="34" charset="0"/>
              </a:rPr>
              <a:pPr eaLnBrk="1" hangingPunct="1"/>
              <a:t>37</a:t>
            </a:fld>
            <a:endParaRPr lang="en-US" altLang="zh-CN" sz="1200" smtClean="0">
              <a:latin typeface="Arial" pitchFamily="34" charset="0"/>
            </a:endParaRPr>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A7ABC6AF-02C3-4764-BDEC-DF60C5EBB91D}" type="slidenum">
              <a:rPr lang="en-US" altLang="zh-CN" sz="1200" smtClean="0">
                <a:latin typeface="Arial" pitchFamily="34" charset="0"/>
              </a:rPr>
              <a:pPr eaLnBrk="1" hangingPunct="1"/>
              <a:t>38</a:t>
            </a:fld>
            <a:endParaRPr lang="en-US" altLang="zh-CN" sz="1200" smtClean="0">
              <a:latin typeface="Arial" pitchFamily="34" charset="0"/>
            </a:endParaRPr>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668ED599-CE86-4C6C-844C-5B328923FBC1}" type="slidenum">
              <a:rPr lang="en-US" altLang="zh-CN" sz="1200" smtClean="0">
                <a:latin typeface="Arial" pitchFamily="34" charset="0"/>
              </a:rPr>
              <a:pPr eaLnBrk="1" hangingPunct="1"/>
              <a:t>39</a:t>
            </a:fld>
            <a:endParaRPr lang="en-US" altLang="zh-CN" sz="1200" smtClean="0">
              <a:latin typeface="Arial" pitchFamily="34" charset="0"/>
            </a:endParaRPr>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A6D05FBB-59E3-4144-A26C-752AA0A35599}" type="slidenum">
              <a:rPr lang="en-US" altLang="zh-CN" sz="1200" smtClean="0">
                <a:latin typeface="Arial" pitchFamily="34" charset="0"/>
              </a:rPr>
              <a:pPr eaLnBrk="1" hangingPunct="1"/>
              <a:t>40</a:t>
            </a:fld>
            <a:endParaRPr lang="en-US" altLang="zh-CN" sz="1200" smtClean="0">
              <a:latin typeface="Arial" pitchFamily="34" charset="0"/>
            </a:endParaRPr>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CCCCB8D6-BC2E-422E-9963-87ADEBA853B6}" type="slidenum">
              <a:rPr lang="en-US" altLang="zh-CN" sz="1200" smtClean="0">
                <a:latin typeface="Arial" pitchFamily="34" charset="0"/>
              </a:rPr>
              <a:pPr eaLnBrk="1" hangingPunct="1"/>
              <a:t>41</a:t>
            </a:fld>
            <a:endParaRPr lang="en-US" altLang="zh-CN" sz="1200" smtClean="0">
              <a:latin typeface="Arial" pitchFamily="34" charset="0"/>
            </a:endParaRPr>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A3CCE468-07FD-4B15-A276-06817D4EA252}" type="slidenum">
              <a:rPr lang="en-US" altLang="zh-CN" sz="1200" smtClean="0">
                <a:latin typeface="Arial" pitchFamily="34" charset="0"/>
              </a:rPr>
              <a:pPr eaLnBrk="1" hangingPunct="1"/>
              <a:t>42</a:t>
            </a:fld>
            <a:endParaRPr lang="en-US" altLang="zh-CN" sz="1200" smtClean="0">
              <a:latin typeface="Arial" pitchFamily="34" charset="0"/>
            </a:endParaRPr>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5020E8E6-39A6-402D-95C7-1281CCB9FE11}" type="slidenum">
              <a:rPr lang="en-US" altLang="zh-CN" sz="1200" smtClean="0">
                <a:latin typeface="Arial" pitchFamily="34" charset="0"/>
              </a:rPr>
              <a:pPr eaLnBrk="1" hangingPunct="1"/>
              <a:t>43</a:t>
            </a:fld>
            <a:endParaRPr lang="en-US" altLang="zh-CN" sz="1200" smtClean="0">
              <a:latin typeface="Arial" pitchFamily="34" charset="0"/>
            </a:endParaRP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2F311F4D-F182-40FB-8ABC-F897E7B146E4}" type="slidenum">
              <a:rPr lang="en-US" altLang="zh-CN" sz="1200" smtClean="0">
                <a:latin typeface="Arial" pitchFamily="34" charset="0"/>
              </a:rPr>
              <a:pPr eaLnBrk="1" hangingPunct="1"/>
              <a:t>44</a:t>
            </a:fld>
            <a:endParaRPr lang="en-US" altLang="zh-CN" sz="1200" smtClean="0">
              <a:latin typeface="Arial" pitchFamily="34" charset="0"/>
            </a:endParaRPr>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0FEFFFA9-1698-4191-B4EF-205006536C40}" type="slidenum">
              <a:rPr lang="en-US" altLang="zh-CN" sz="1200" smtClean="0">
                <a:latin typeface="Arial" pitchFamily="34" charset="0"/>
              </a:rPr>
              <a:pPr eaLnBrk="1" hangingPunct="1"/>
              <a:t>45</a:t>
            </a:fld>
            <a:endParaRPr lang="en-US" altLang="zh-CN" sz="1200" smtClean="0">
              <a:latin typeface="Arial" pitchFamily="34" charset="0"/>
            </a:endParaRPr>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B2231F5D-88FA-413E-A4F1-6F02771C84AC}" type="slidenum">
              <a:rPr lang="en-US" altLang="zh-CN" sz="1200" smtClean="0">
                <a:latin typeface="Arial" pitchFamily="34" charset="0"/>
              </a:rPr>
              <a:pPr eaLnBrk="1" hangingPunct="1"/>
              <a:t>46</a:t>
            </a:fld>
            <a:endParaRPr lang="en-US" altLang="zh-CN" sz="1200" smtClean="0">
              <a:latin typeface="Arial" pitchFamily="34" charset="0"/>
            </a:endParaRPr>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93C0D1D0-516C-468C-8F4B-8AC91E1E86BB}" type="slidenum">
              <a:rPr lang="en-US" altLang="zh-CN" sz="1200" smtClean="0">
                <a:latin typeface="Arial" pitchFamily="34" charset="0"/>
              </a:rPr>
              <a:pPr eaLnBrk="1" hangingPunct="1"/>
              <a:t>47</a:t>
            </a:fld>
            <a:endParaRPr lang="en-US" altLang="zh-CN" sz="1200" smtClean="0">
              <a:latin typeface="Arial" pitchFamily="34" charset="0"/>
            </a:endParaRPr>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56F5C3E2-EB36-4359-97C6-75338AD883F7}" type="slidenum">
              <a:rPr lang="en-US" altLang="zh-CN" sz="1200" smtClean="0">
                <a:latin typeface="Arial" pitchFamily="34" charset="0"/>
              </a:rPr>
              <a:pPr eaLnBrk="1" hangingPunct="1"/>
              <a:t>48</a:t>
            </a:fld>
            <a:endParaRPr lang="en-US" altLang="zh-CN" sz="1200" smtClean="0">
              <a:latin typeface="Arial" pitchFamily="34"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E51DFC79-6051-4165-8901-03AC799D63B8}" type="slidenum">
              <a:rPr lang="en-US" altLang="zh-CN" sz="1200" smtClean="0">
                <a:latin typeface="Arial" pitchFamily="34" charset="0"/>
              </a:rPr>
              <a:pPr eaLnBrk="1" hangingPunct="1"/>
              <a:t>49</a:t>
            </a:fld>
            <a:endParaRPr lang="en-US" altLang="zh-CN" sz="1200" smtClean="0">
              <a:latin typeface="Arial" pitchFamily="34" charset="0"/>
            </a:endParaRPr>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224A3886-DE14-4517-87F3-DB6083996344}" type="slidenum">
              <a:rPr lang="en-US" altLang="zh-CN" sz="1200" smtClean="0">
                <a:latin typeface="Arial" pitchFamily="34" charset="0"/>
              </a:rPr>
              <a:pPr eaLnBrk="1" hangingPunct="1"/>
              <a:t>50</a:t>
            </a:fld>
            <a:endParaRPr lang="en-US" altLang="zh-CN" sz="1200" smtClean="0">
              <a:latin typeface="Arial" pitchFamily="34" charset="0"/>
            </a:endParaRPr>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5859A8EC-ABA6-4CD0-94BB-C33FAC6FD11A}" type="slidenum">
              <a:rPr lang="en-US" altLang="zh-CN" sz="1200" smtClean="0">
                <a:latin typeface="Arial" pitchFamily="34" charset="0"/>
              </a:rPr>
              <a:pPr eaLnBrk="1" hangingPunct="1"/>
              <a:t>51</a:t>
            </a:fld>
            <a:endParaRPr lang="en-US" altLang="zh-CN" sz="1200" smtClean="0">
              <a:latin typeface="Arial" pitchFamily="34" charset="0"/>
            </a:endParaRPr>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5605F2B0-AB13-4407-9BB6-03DF9AC13633}" type="slidenum">
              <a:rPr lang="en-US" altLang="zh-CN" sz="1200" smtClean="0">
                <a:latin typeface="Arial" pitchFamily="34" charset="0"/>
              </a:rPr>
              <a:pPr eaLnBrk="1" hangingPunct="1"/>
              <a:t>52</a:t>
            </a:fld>
            <a:endParaRPr lang="en-US" altLang="zh-CN" sz="1200" smtClean="0">
              <a:latin typeface="Arial" pitchFamily="34" charset="0"/>
            </a:endParaRPr>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4D062392-371C-4A4E-BD3E-7769BE1642CF}" type="slidenum">
              <a:rPr lang="en-US" altLang="zh-CN" sz="1200" smtClean="0">
                <a:latin typeface="Arial" pitchFamily="34" charset="0"/>
              </a:rPr>
              <a:pPr eaLnBrk="1" hangingPunct="1"/>
              <a:t>53</a:t>
            </a:fld>
            <a:endParaRPr lang="en-US" altLang="zh-CN" sz="1200" smtClean="0">
              <a:latin typeface="Arial" pitchFamily="34" charset="0"/>
            </a:endParaRPr>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C4FFE1C9-C73A-408E-952D-D7B8AFEBD58A}" type="slidenum">
              <a:rPr lang="en-US" altLang="zh-CN" sz="1200" smtClean="0">
                <a:latin typeface="Arial" pitchFamily="34" charset="0"/>
              </a:rPr>
              <a:pPr eaLnBrk="1" hangingPunct="1"/>
              <a:t>54</a:t>
            </a:fld>
            <a:endParaRPr lang="en-US" altLang="zh-CN" sz="1200" smtClean="0">
              <a:latin typeface="Arial" pitchFamily="34" charset="0"/>
            </a:endParaRPr>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68149F82-8E56-434A-962D-0BD243B816B4}" type="slidenum">
              <a:rPr lang="en-US" altLang="zh-CN" sz="1200" smtClean="0">
                <a:latin typeface="Arial" pitchFamily="34" charset="0"/>
              </a:rPr>
              <a:pPr eaLnBrk="1" hangingPunct="1"/>
              <a:t>55</a:t>
            </a:fld>
            <a:endParaRPr lang="en-US" altLang="zh-CN" sz="1200" smtClean="0">
              <a:latin typeface="Arial" pitchFamily="34" charset="0"/>
            </a:endParaRPr>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9EEC9456-286C-44D9-8229-DB01176CE402}" type="slidenum">
              <a:rPr lang="en-US" altLang="zh-CN" sz="1200" smtClean="0">
                <a:latin typeface="Arial" pitchFamily="34" charset="0"/>
              </a:rPr>
              <a:pPr eaLnBrk="1" hangingPunct="1"/>
              <a:t>56</a:t>
            </a:fld>
            <a:endParaRPr lang="en-US" altLang="zh-CN" sz="1200" smtClean="0">
              <a:latin typeface="Arial" pitchFamily="34" charset="0"/>
            </a:endParaRPr>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B51B6319-33A2-4608-A44A-75C1EB80461C}" type="slidenum">
              <a:rPr lang="en-US" altLang="zh-CN" sz="1200" smtClean="0">
                <a:latin typeface="Arial" pitchFamily="34" charset="0"/>
              </a:rPr>
              <a:pPr eaLnBrk="1" hangingPunct="1"/>
              <a:t>57</a:t>
            </a:fld>
            <a:endParaRPr lang="en-US" altLang="zh-CN" sz="1200" smtClean="0">
              <a:latin typeface="Arial" pitchFamily="34" charset="0"/>
            </a:endParaRPr>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BA2E4419-F1EA-417C-916C-AFB3AAE0A6E0}" type="slidenum">
              <a:rPr lang="en-US" altLang="zh-CN" sz="1200" smtClean="0">
                <a:latin typeface="Arial" pitchFamily="34" charset="0"/>
              </a:rPr>
              <a:pPr eaLnBrk="1" hangingPunct="1"/>
              <a:t>59</a:t>
            </a:fld>
            <a:endParaRPr lang="en-US" altLang="zh-CN" sz="1200" smtClean="0">
              <a:latin typeface="Arial" pitchFamily="34" charset="0"/>
            </a:endParaRPr>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A16763A6-CA94-413E-8345-88D15C659968}" type="slidenum">
              <a:rPr lang="en-US" altLang="zh-CN" sz="1200" smtClean="0">
                <a:latin typeface="Arial" pitchFamily="34" charset="0"/>
              </a:rPr>
              <a:pPr eaLnBrk="1" hangingPunct="1"/>
              <a:t>60</a:t>
            </a:fld>
            <a:endParaRPr lang="en-US" altLang="zh-CN" sz="1200" smtClean="0">
              <a:latin typeface="Arial" pitchFamily="34" charset="0"/>
            </a:endParaRPr>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6E263744-86B9-4959-89E0-EE28A5C728D1}" type="slidenum">
              <a:rPr lang="en-US" altLang="zh-CN" sz="1200" smtClean="0">
                <a:latin typeface="Arial" pitchFamily="34" charset="0"/>
              </a:rPr>
              <a:pPr eaLnBrk="1" hangingPunct="1"/>
              <a:t>61</a:t>
            </a:fld>
            <a:endParaRPr lang="en-US" altLang="zh-CN" sz="1200" smtClean="0">
              <a:latin typeface="Arial" pitchFamily="34" charset="0"/>
            </a:endParaRPr>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5E97C5B9-E5DE-4BA9-ABA2-54FE0F2CC0C6}" type="slidenum">
              <a:rPr lang="en-US" altLang="zh-CN" sz="1200" smtClean="0">
                <a:latin typeface="Arial" pitchFamily="34" charset="0"/>
              </a:rPr>
              <a:pPr eaLnBrk="1" hangingPunct="1"/>
              <a:t>65</a:t>
            </a:fld>
            <a:endParaRPr lang="en-US" altLang="zh-CN" sz="1200" smtClean="0">
              <a:latin typeface="Arial" pitchFamily="34" charset="0"/>
            </a:endParaRPr>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66ED5FCE-F7F4-4FC6-B4AF-3F01CB2B6E74}" type="slidenum">
              <a:rPr lang="en-US" altLang="zh-CN" sz="1200" smtClean="0">
                <a:latin typeface="Arial" pitchFamily="34" charset="0"/>
              </a:rPr>
              <a:pPr eaLnBrk="1" hangingPunct="1"/>
              <a:t>66</a:t>
            </a:fld>
            <a:endParaRPr lang="en-US" altLang="zh-CN" sz="1200" smtClean="0">
              <a:latin typeface="Arial" pitchFamily="34" charset="0"/>
            </a:endParaRPr>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B09A2FEA-424C-4859-938F-224C14BA3AE0}" type="slidenum">
              <a:rPr lang="en-US" altLang="zh-CN" sz="1200" smtClean="0">
                <a:latin typeface="Arial" pitchFamily="34" charset="0"/>
              </a:rPr>
              <a:pPr eaLnBrk="1" hangingPunct="1"/>
              <a:t>67</a:t>
            </a:fld>
            <a:endParaRPr lang="en-US" altLang="zh-CN" sz="1200" smtClean="0">
              <a:latin typeface="Arial" pitchFamily="34" charset="0"/>
            </a:endParaRPr>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9312F12D-C667-4E23-8E21-6ADA94494373}" type="slidenum">
              <a:rPr lang="en-US" altLang="zh-CN" sz="1200" smtClean="0">
                <a:latin typeface="Arial" pitchFamily="34" charset="0"/>
              </a:rPr>
              <a:pPr eaLnBrk="1" hangingPunct="1"/>
              <a:t>68</a:t>
            </a:fld>
            <a:endParaRPr lang="en-US" altLang="zh-CN" sz="1200" smtClean="0">
              <a:latin typeface="Arial" pitchFamily="34" charset="0"/>
            </a:endParaRPr>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F8DBF712-C19B-48DB-A957-7E662E50058C}" type="slidenum">
              <a:rPr lang="en-US" altLang="zh-CN" sz="1200" smtClean="0">
                <a:latin typeface="Arial" pitchFamily="34" charset="0"/>
              </a:rPr>
              <a:pPr eaLnBrk="1" hangingPunct="1"/>
              <a:t>69</a:t>
            </a:fld>
            <a:endParaRPr lang="en-US" altLang="zh-CN" sz="1200" smtClean="0">
              <a:latin typeface="Arial" pitchFamily="34" charset="0"/>
            </a:endParaRPr>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B647E408-7DB1-41CF-90B0-0AC8397E95B0}" type="slidenum">
              <a:rPr lang="en-US" altLang="zh-CN" sz="1200" smtClean="0">
                <a:latin typeface="Arial" pitchFamily="34" charset="0"/>
              </a:rPr>
              <a:pPr eaLnBrk="1" hangingPunct="1"/>
              <a:t>72</a:t>
            </a:fld>
            <a:endParaRPr lang="en-US" altLang="zh-CN" sz="1200" smtClean="0">
              <a:latin typeface="Arial" pitchFamily="34" charset="0"/>
            </a:endParaRPr>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FBAE282F-6EF6-4C4E-974C-FF82A6A813A8}" type="slidenum">
              <a:rPr lang="en-US" altLang="zh-CN" sz="1200" smtClean="0">
                <a:latin typeface="Arial" pitchFamily="34" charset="0"/>
              </a:rPr>
              <a:pPr eaLnBrk="1" hangingPunct="1"/>
              <a:t>73</a:t>
            </a:fld>
            <a:endParaRPr lang="en-US" altLang="zh-CN" sz="1200" smtClean="0">
              <a:latin typeface="Arial" pitchFamily="34" charset="0"/>
            </a:endParaRPr>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9750A856-185E-41F8-8BF0-97C147B6D9F4}" type="slidenum">
              <a:rPr lang="en-US" altLang="zh-CN" sz="1200" smtClean="0">
                <a:latin typeface="Arial" pitchFamily="34" charset="0"/>
              </a:rPr>
              <a:pPr eaLnBrk="1" hangingPunct="1"/>
              <a:t>75</a:t>
            </a:fld>
            <a:endParaRPr lang="en-US" altLang="zh-CN" sz="1200" smtClean="0">
              <a:latin typeface="Arial" pitchFamily="34" charset="0"/>
            </a:endParaRPr>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856BBDD0-684B-41EE-BEBB-390B5CA2C41A}" type="slidenum">
              <a:rPr lang="en-US" altLang="zh-CN" sz="1200" smtClean="0">
                <a:latin typeface="Arial" pitchFamily="34" charset="0"/>
              </a:rPr>
              <a:pPr eaLnBrk="1" hangingPunct="1"/>
              <a:t>76</a:t>
            </a:fld>
            <a:endParaRPr lang="en-US" altLang="zh-CN" sz="1200" smtClean="0">
              <a:latin typeface="Arial" pitchFamily="34" charset="0"/>
            </a:endParaRPr>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CC66C338-45E1-4F64-80C2-D24A0FD2D075}" type="slidenum">
              <a:rPr lang="en-US" altLang="zh-CN" sz="1200" smtClean="0">
                <a:latin typeface="Arial" pitchFamily="34" charset="0"/>
              </a:rPr>
              <a:pPr eaLnBrk="1" hangingPunct="1"/>
              <a:t>77</a:t>
            </a:fld>
            <a:endParaRPr lang="en-US" altLang="zh-CN" sz="1200" smtClean="0">
              <a:latin typeface="Arial" pitchFamily="34" charset="0"/>
            </a:endParaRPr>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B414FA5E-B8EF-4A5E-9A9C-E7BBB1BAA74E}" type="slidenum">
              <a:rPr lang="en-US" altLang="zh-CN" sz="1200" smtClean="0">
                <a:latin typeface="Arial" pitchFamily="34" charset="0"/>
              </a:rPr>
              <a:pPr eaLnBrk="1" hangingPunct="1"/>
              <a:t>78</a:t>
            </a:fld>
            <a:endParaRPr lang="en-US" altLang="zh-CN" sz="1200" smtClean="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E0E46165-271D-4177-8B09-9D0B77108E5B}" type="slidenum">
              <a:rPr lang="en-US" altLang="zh-CN" sz="1200" smtClean="0">
                <a:latin typeface="Arial" pitchFamily="34" charset="0"/>
              </a:rPr>
              <a:pPr eaLnBrk="1" hangingPunct="1"/>
              <a:t>79</a:t>
            </a:fld>
            <a:endParaRPr lang="en-US" altLang="zh-CN" sz="1200" smtClean="0">
              <a:latin typeface="Arial" pitchFamily="34" charset="0"/>
            </a:endParaRPr>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0753F474-CF51-441F-A662-3229C94C08DB}" type="slidenum">
              <a:rPr lang="en-US" altLang="zh-CN" sz="1200" smtClean="0">
                <a:latin typeface="Arial" pitchFamily="34" charset="0"/>
              </a:rPr>
              <a:pPr eaLnBrk="1" hangingPunct="1"/>
              <a:t>80</a:t>
            </a:fld>
            <a:endParaRPr lang="en-US" altLang="zh-CN" sz="1200" smtClean="0">
              <a:latin typeface="Arial" pitchFamily="34" charset="0"/>
            </a:endParaRPr>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00FE7DF8-FB45-4C41-94AA-815B72AD5CE5}" type="slidenum">
              <a:rPr lang="en-US" altLang="zh-CN" sz="1200" smtClean="0">
                <a:latin typeface="Arial" pitchFamily="34" charset="0"/>
              </a:rPr>
              <a:pPr eaLnBrk="1" hangingPunct="1"/>
              <a:t>81</a:t>
            </a:fld>
            <a:endParaRPr lang="en-US" altLang="zh-CN" sz="1200" smtClean="0">
              <a:latin typeface="Arial" pitchFamily="34" charset="0"/>
            </a:endParaRPr>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EF2E2B83-282F-4534-A61D-7D636DD02C7F}" type="slidenum">
              <a:rPr lang="en-US" altLang="zh-CN" sz="1200" smtClean="0">
                <a:latin typeface="Arial" pitchFamily="34" charset="0"/>
              </a:rPr>
              <a:pPr eaLnBrk="1" hangingPunct="1"/>
              <a:t>82</a:t>
            </a:fld>
            <a:endParaRPr lang="en-US" altLang="zh-CN" sz="1200" smtClean="0">
              <a:latin typeface="Arial" pitchFamily="34" charset="0"/>
            </a:endParaRPr>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D1F309EA-F751-422D-8D0F-AC182E87FF32}" type="slidenum">
              <a:rPr lang="en-US" altLang="zh-CN" sz="1200" smtClean="0">
                <a:latin typeface="Arial" pitchFamily="34" charset="0"/>
              </a:rPr>
              <a:pPr eaLnBrk="1" hangingPunct="1"/>
              <a:t>83</a:t>
            </a:fld>
            <a:endParaRPr lang="en-US" altLang="zh-CN" sz="1200" smtClean="0">
              <a:latin typeface="Arial" pitchFamily="34" charset="0"/>
            </a:endParaRPr>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C2B475DA-B17C-445A-9D73-73CA00E783F6}" type="slidenum">
              <a:rPr lang="en-US" altLang="zh-CN" sz="1200" smtClean="0">
                <a:latin typeface="Arial" pitchFamily="34" charset="0"/>
              </a:rPr>
              <a:pPr eaLnBrk="1" hangingPunct="1"/>
              <a:t>84</a:t>
            </a:fld>
            <a:endParaRPr lang="en-US" altLang="zh-CN" sz="1200" smtClean="0">
              <a:latin typeface="Arial" pitchFamily="34" charset="0"/>
            </a:endParaRPr>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0E0009BE-3356-40B9-AC09-EF4647FB2186}" type="slidenum">
              <a:rPr lang="en-US" altLang="zh-CN" sz="1200" smtClean="0">
                <a:latin typeface="Arial" pitchFamily="34" charset="0"/>
              </a:rPr>
              <a:pPr eaLnBrk="1" hangingPunct="1"/>
              <a:t>86</a:t>
            </a:fld>
            <a:endParaRPr lang="en-US" altLang="zh-CN" sz="1200" smtClean="0">
              <a:latin typeface="Arial" pitchFamily="34" charset="0"/>
            </a:endParaRPr>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BCAF6C0F-7F6B-4DD8-815B-05571EEF7252}" type="slidenum">
              <a:rPr lang="en-US" altLang="zh-CN" sz="1200" smtClean="0">
                <a:latin typeface="Arial" pitchFamily="34" charset="0"/>
              </a:rPr>
              <a:pPr eaLnBrk="1" hangingPunct="1"/>
              <a:t>87</a:t>
            </a:fld>
            <a:endParaRPr lang="en-US" altLang="zh-CN" sz="1200" smtClean="0">
              <a:latin typeface="Arial" pitchFamily="34" charset="0"/>
            </a:endParaRPr>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46CBF536-C9F2-4C8E-95F8-520B0AC534A5}" type="slidenum">
              <a:rPr lang="en-US" altLang="zh-CN" sz="1200" smtClean="0">
                <a:latin typeface="Arial" pitchFamily="34" charset="0"/>
              </a:rPr>
              <a:pPr eaLnBrk="1" hangingPunct="1"/>
              <a:t>88</a:t>
            </a:fld>
            <a:endParaRPr lang="en-US" altLang="zh-CN" sz="1200" smtClean="0">
              <a:latin typeface="Arial" pitchFamily="34" charset="0"/>
            </a:endParaRPr>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D31D25C7-083E-4B5C-9878-903D64994366}" type="slidenum">
              <a:rPr lang="en-US" altLang="zh-CN" sz="1200" smtClean="0">
                <a:latin typeface="Arial" pitchFamily="34" charset="0"/>
              </a:rPr>
              <a:pPr eaLnBrk="1" hangingPunct="1"/>
              <a:t>89</a:t>
            </a:fld>
            <a:endParaRPr lang="en-US" altLang="zh-CN" sz="1200" smtClean="0">
              <a:latin typeface="Arial" pitchFamily="34" charset="0"/>
            </a:endParaRPr>
          </a:p>
        </p:txBody>
      </p:sp>
      <p:sp>
        <p:nvSpPr>
          <p:cNvPr id="205827" name="Rectangle 2"/>
          <p:cNvSpPr>
            <a:spLocks noGrp="1" noRot="1" noChangeAspect="1" noChangeArrowheads="1" noTextEdit="1"/>
          </p:cNvSpPr>
          <p:nvPr>
            <p:ph type="sldImg"/>
          </p:nvPr>
        </p:nvSpPr>
        <p:spPr>
          <a:ln/>
        </p:spPr>
      </p:sp>
      <p:sp>
        <p:nvSpPr>
          <p:cNvPr id="2058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003DFA94-614F-497D-BCCB-8BE4181E70A4}" type="slidenum">
              <a:rPr lang="en-US" altLang="zh-CN" sz="1200" smtClean="0">
                <a:latin typeface="Arial" pitchFamily="34" charset="0"/>
              </a:rPr>
              <a:pPr eaLnBrk="1" hangingPunct="1"/>
              <a:t>90</a:t>
            </a:fld>
            <a:endParaRPr lang="en-US" altLang="zh-CN" sz="1200" smtClean="0">
              <a:latin typeface="Arial" pitchFamily="34" charset="0"/>
            </a:endParaRPr>
          </a:p>
        </p:txBody>
      </p:sp>
      <p:sp>
        <p:nvSpPr>
          <p:cNvPr id="206851" name="Rectangle 2"/>
          <p:cNvSpPr>
            <a:spLocks noGrp="1" noRot="1" noChangeAspect="1" noChangeArrowheads="1" noTextEdit="1"/>
          </p:cNvSpPr>
          <p:nvPr>
            <p:ph type="sldImg"/>
          </p:nvPr>
        </p:nvSpPr>
        <p:spPr>
          <a:ln/>
        </p:spPr>
      </p:sp>
      <p:sp>
        <p:nvSpPr>
          <p:cNvPr id="2068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202E46E2-38DC-45D0-870C-5BAB1643115D}" type="slidenum">
              <a:rPr lang="en-US" altLang="zh-CN" sz="1200" smtClean="0">
                <a:latin typeface="Arial" pitchFamily="34" charset="0"/>
              </a:rPr>
              <a:pPr eaLnBrk="1" hangingPunct="1"/>
              <a:t>92</a:t>
            </a:fld>
            <a:endParaRPr lang="en-US" altLang="zh-CN" sz="1200" smtClean="0">
              <a:latin typeface="Arial" pitchFamily="34" charset="0"/>
            </a:endParaRPr>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37C4C165-6E65-4DE7-8366-C9F9DA5A5DB1}" type="slidenum">
              <a:rPr lang="en-US" altLang="zh-CN" sz="1200" smtClean="0">
                <a:latin typeface="Arial" pitchFamily="34" charset="0"/>
              </a:rPr>
              <a:pPr eaLnBrk="1" hangingPunct="1"/>
              <a:t>93</a:t>
            </a:fld>
            <a:endParaRPr lang="en-US" altLang="zh-CN" sz="1200" smtClean="0">
              <a:latin typeface="Arial" pitchFamily="34" charset="0"/>
            </a:endParaRPr>
          </a:p>
        </p:txBody>
      </p:sp>
      <p:sp>
        <p:nvSpPr>
          <p:cNvPr id="208899" name="Rectangle 2"/>
          <p:cNvSpPr>
            <a:spLocks noGrp="1" noRot="1" noChangeAspect="1" noChangeArrowheads="1" noTextEdit="1"/>
          </p:cNvSpPr>
          <p:nvPr>
            <p:ph type="sldImg"/>
          </p:nvPr>
        </p:nvSpPr>
        <p:spPr>
          <a:ln/>
        </p:spPr>
      </p:sp>
      <p:sp>
        <p:nvSpPr>
          <p:cNvPr id="2089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1A91C71F-59CA-4E1D-B71B-B04231ED303B}" type="slidenum">
              <a:rPr lang="en-US" altLang="zh-CN" sz="1200" smtClean="0">
                <a:latin typeface="Arial" pitchFamily="34" charset="0"/>
              </a:rPr>
              <a:pPr eaLnBrk="1" hangingPunct="1"/>
              <a:t>94</a:t>
            </a:fld>
            <a:endParaRPr lang="en-US" altLang="zh-CN" sz="1200" smtClean="0">
              <a:latin typeface="Arial" pitchFamily="34" charset="0"/>
            </a:endParaRPr>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68744D7D-50FE-41F2-8BB5-72C26DDE63AB}" type="slidenum">
              <a:rPr lang="en-US" altLang="zh-CN" sz="1200" smtClean="0">
                <a:latin typeface="Arial" pitchFamily="34" charset="0"/>
              </a:rPr>
              <a:pPr eaLnBrk="1" hangingPunct="1"/>
              <a:t>95</a:t>
            </a:fld>
            <a:endParaRPr lang="en-US" altLang="zh-CN" sz="1200" smtClean="0">
              <a:latin typeface="Arial" pitchFamily="34" charset="0"/>
            </a:endParaRPr>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9D75A2E6-ADEB-4963-8404-7423A083E869}" type="slidenum">
              <a:rPr lang="en-US" altLang="zh-CN" sz="1200" smtClean="0">
                <a:latin typeface="Arial" pitchFamily="34" charset="0"/>
              </a:rPr>
              <a:pPr eaLnBrk="1" hangingPunct="1"/>
              <a:t>96</a:t>
            </a:fld>
            <a:endParaRPr lang="en-US" altLang="zh-CN" sz="1200" smtClean="0">
              <a:latin typeface="Arial" pitchFamily="34" charset="0"/>
            </a:endParaRPr>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2CCEED0B-53D9-4801-8082-9D31F08658E3}" type="slidenum">
              <a:rPr lang="en-US" altLang="zh-CN" sz="1200" smtClean="0">
                <a:latin typeface="Arial" pitchFamily="34" charset="0"/>
              </a:rPr>
              <a:pPr eaLnBrk="1" hangingPunct="1"/>
              <a:t>98</a:t>
            </a:fld>
            <a:endParaRPr lang="en-US" altLang="zh-CN" sz="1200" smtClean="0">
              <a:latin typeface="Arial" pitchFamily="34" charset="0"/>
            </a:endParaRPr>
          </a:p>
        </p:txBody>
      </p:sp>
      <p:sp>
        <p:nvSpPr>
          <p:cNvPr id="212995" name="Rectangle 2"/>
          <p:cNvSpPr>
            <a:spLocks noGrp="1" noRot="1" noChangeAspect="1" noChangeArrowheads="1" noTextEdit="1"/>
          </p:cNvSpPr>
          <p:nvPr>
            <p:ph type="sldImg"/>
          </p:nvPr>
        </p:nvSpPr>
        <p:spPr>
          <a:ln/>
        </p:spPr>
      </p:sp>
      <p:sp>
        <p:nvSpPr>
          <p:cNvPr id="2129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490BD62E-0D70-4383-8FA0-3C8F8D811AE3}" type="slidenum">
              <a:rPr lang="en-US" altLang="zh-CN" sz="1200" smtClean="0">
                <a:latin typeface="Arial" pitchFamily="34" charset="0"/>
              </a:rPr>
              <a:pPr eaLnBrk="1" hangingPunct="1"/>
              <a:t>100</a:t>
            </a:fld>
            <a:endParaRPr lang="en-US" altLang="zh-CN" sz="1200" smtClean="0">
              <a:latin typeface="Arial" pitchFamily="34" charset="0"/>
            </a:endParaRPr>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FE9A2D94-ABFA-4A0A-AE38-0E5E38246F19}" type="slidenum">
              <a:rPr lang="en-US" altLang="zh-CN" sz="1200" smtClean="0">
                <a:latin typeface="Arial" pitchFamily="34" charset="0"/>
              </a:rPr>
              <a:pPr eaLnBrk="1" hangingPunct="1"/>
              <a:t>101</a:t>
            </a:fld>
            <a:endParaRPr lang="en-US" altLang="zh-CN" sz="1200" smtClean="0">
              <a:latin typeface="Arial" pitchFamily="34"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0402BAE9-64B6-4F1A-AE6B-BB6FAEE258D5}" type="slidenum">
              <a:rPr lang="en-US" altLang="zh-CN" sz="1200" smtClean="0">
                <a:latin typeface="Arial" pitchFamily="34" charset="0"/>
              </a:rPr>
              <a:pPr eaLnBrk="1" hangingPunct="1"/>
              <a:t>102</a:t>
            </a:fld>
            <a:endParaRPr lang="en-US" altLang="zh-CN" sz="1200" smtClean="0">
              <a:latin typeface="Arial" pitchFamily="34" charset="0"/>
            </a:endParaRPr>
          </a:p>
        </p:txBody>
      </p:sp>
      <p:sp>
        <p:nvSpPr>
          <p:cNvPr id="216067" name="Rectangle 2"/>
          <p:cNvSpPr>
            <a:spLocks noGrp="1" noRot="1" noChangeAspect="1" noChangeArrowheads="1" noTextEdit="1"/>
          </p:cNvSpPr>
          <p:nvPr>
            <p:ph type="sldImg"/>
          </p:nvPr>
        </p:nvSpPr>
        <p:spPr>
          <a:ln/>
        </p:spPr>
      </p:sp>
      <p:sp>
        <p:nvSpPr>
          <p:cNvPr id="2160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2C41E9EA-7ADD-4D58-A147-CD144D580789}" type="slidenum">
              <a:rPr lang="en-US" altLang="zh-CN" sz="1200" smtClean="0">
                <a:latin typeface="Arial" pitchFamily="34" charset="0"/>
              </a:rPr>
              <a:pPr eaLnBrk="1" hangingPunct="1"/>
              <a:t>103</a:t>
            </a:fld>
            <a:endParaRPr lang="en-US" altLang="zh-CN" sz="1200" smtClean="0">
              <a:latin typeface="Arial" pitchFamily="34" charset="0"/>
            </a:endParaRPr>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854F001C-9387-4137-9AE8-932AC6165A02}" type="slidenum">
              <a:rPr lang="en-US" altLang="zh-CN" sz="1200" smtClean="0">
                <a:latin typeface="Arial" pitchFamily="34" charset="0"/>
              </a:rPr>
              <a:pPr eaLnBrk="1" hangingPunct="1"/>
              <a:t>104</a:t>
            </a:fld>
            <a:endParaRPr lang="en-US" altLang="zh-CN" sz="1200" smtClean="0">
              <a:latin typeface="Arial" pitchFamily="34" charset="0"/>
            </a:endParaRPr>
          </a:p>
        </p:txBody>
      </p:sp>
      <p:sp>
        <p:nvSpPr>
          <p:cNvPr id="218115" name="Rectangle 2"/>
          <p:cNvSpPr>
            <a:spLocks noGrp="1" noRot="1" noChangeAspect="1" noChangeArrowheads="1" noTextEdit="1"/>
          </p:cNvSpPr>
          <p:nvPr>
            <p:ph type="sldImg"/>
          </p:nvPr>
        </p:nvSpPr>
        <p:spPr>
          <a:ln/>
        </p:spPr>
      </p:sp>
      <p:sp>
        <p:nvSpPr>
          <p:cNvPr id="2181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7FF0F022-47FB-4EC3-96D8-7164AC7331BF}" type="slidenum">
              <a:rPr lang="en-US" altLang="zh-CN" sz="1200" smtClean="0">
                <a:latin typeface="Arial" pitchFamily="34" charset="0"/>
              </a:rPr>
              <a:pPr eaLnBrk="1" hangingPunct="1"/>
              <a:t>105</a:t>
            </a:fld>
            <a:endParaRPr lang="en-US" altLang="zh-CN" sz="1200" smtClean="0">
              <a:latin typeface="Arial" pitchFamily="34" charset="0"/>
            </a:endParaRPr>
          </a:p>
        </p:txBody>
      </p:sp>
      <p:sp>
        <p:nvSpPr>
          <p:cNvPr id="219139" name="Rectangle 2"/>
          <p:cNvSpPr>
            <a:spLocks noGrp="1" noRot="1" noChangeAspect="1" noChangeArrowheads="1" noTextEdit="1"/>
          </p:cNvSpPr>
          <p:nvPr>
            <p:ph type="sldImg"/>
          </p:nvPr>
        </p:nvSpPr>
        <p:spPr>
          <a:ln/>
        </p:spPr>
      </p:sp>
      <p:sp>
        <p:nvSpPr>
          <p:cNvPr id="2191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CAC747D4-99FD-4EEC-9132-F2F5FC706D25}" type="slidenum">
              <a:rPr lang="en-US" altLang="zh-CN" sz="1200" smtClean="0">
                <a:latin typeface="Arial" pitchFamily="34" charset="0"/>
              </a:rPr>
              <a:pPr eaLnBrk="1" hangingPunct="1"/>
              <a:t>106</a:t>
            </a:fld>
            <a:endParaRPr lang="en-US" altLang="zh-CN" sz="1200" smtClean="0">
              <a:latin typeface="Arial" pitchFamily="34" charset="0"/>
            </a:endParaRPr>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AAD9C46B-7A70-49D7-97A0-4B4C05DD82A6}" type="slidenum">
              <a:rPr lang="en-US" altLang="zh-CN" sz="1200" smtClean="0">
                <a:latin typeface="Arial" pitchFamily="34" charset="0"/>
              </a:rPr>
              <a:pPr eaLnBrk="1" hangingPunct="1"/>
              <a:t>107</a:t>
            </a:fld>
            <a:endParaRPr lang="en-US" altLang="zh-CN" sz="1200" smtClean="0">
              <a:latin typeface="Arial" pitchFamily="34" charset="0"/>
            </a:endParaRPr>
          </a:p>
        </p:txBody>
      </p:sp>
      <p:sp>
        <p:nvSpPr>
          <p:cNvPr id="221187" name="Rectangle 2"/>
          <p:cNvSpPr>
            <a:spLocks noGrp="1" noRot="1" noChangeAspect="1" noChangeArrowheads="1" noTextEdit="1"/>
          </p:cNvSpPr>
          <p:nvPr>
            <p:ph type="sldImg"/>
          </p:nvPr>
        </p:nvSpPr>
        <p:spPr>
          <a:ln/>
        </p:spPr>
      </p:sp>
      <p:sp>
        <p:nvSpPr>
          <p:cNvPr id="2211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49DE801A-470C-441B-9CA4-F3F025F1B313}" type="slidenum">
              <a:rPr lang="en-US" altLang="zh-CN" sz="1200" smtClean="0">
                <a:latin typeface="Arial" pitchFamily="34" charset="0"/>
              </a:rPr>
              <a:pPr eaLnBrk="1" hangingPunct="1"/>
              <a:t>108</a:t>
            </a:fld>
            <a:endParaRPr lang="en-US" altLang="zh-CN" sz="1200" smtClean="0">
              <a:latin typeface="Arial" pitchFamily="34" charset="0"/>
            </a:endParaRPr>
          </a:p>
        </p:txBody>
      </p:sp>
      <p:sp>
        <p:nvSpPr>
          <p:cNvPr id="222211" name="Rectangle 2"/>
          <p:cNvSpPr>
            <a:spLocks noGrp="1" noRot="1" noChangeAspect="1" noChangeArrowheads="1" noTextEdit="1"/>
          </p:cNvSpPr>
          <p:nvPr>
            <p:ph type="sldImg"/>
          </p:nvPr>
        </p:nvSpPr>
        <p:spPr>
          <a:ln/>
        </p:spPr>
      </p:sp>
      <p:sp>
        <p:nvSpPr>
          <p:cNvPr id="2222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B455CE03-F942-4641-87EF-6F33D7B8351F}" type="slidenum">
              <a:rPr lang="en-US" altLang="zh-CN" sz="1200" smtClean="0">
                <a:latin typeface="Arial" pitchFamily="34" charset="0"/>
              </a:rPr>
              <a:pPr eaLnBrk="1" hangingPunct="1"/>
              <a:t>109</a:t>
            </a:fld>
            <a:endParaRPr lang="en-US" altLang="zh-CN" sz="1200" smtClean="0">
              <a:latin typeface="Arial" pitchFamily="34" charset="0"/>
            </a:endParaRPr>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C15CA1EB-90C2-4556-8A57-85C65605C5E4}" type="slidenum">
              <a:rPr lang="en-US" altLang="zh-CN" sz="1200" smtClean="0">
                <a:latin typeface="Arial" pitchFamily="34" charset="0"/>
              </a:rPr>
              <a:pPr eaLnBrk="1" hangingPunct="1"/>
              <a:t>110</a:t>
            </a:fld>
            <a:endParaRPr lang="en-US" altLang="zh-CN" sz="1200" smtClean="0">
              <a:latin typeface="Arial" pitchFamily="34" charset="0"/>
            </a:endParaRPr>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AB2E03C3-2019-432D-A80C-577918FFD212}" type="slidenum">
              <a:rPr lang="en-US" altLang="zh-CN" sz="1200" smtClean="0">
                <a:latin typeface="Arial" pitchFamily="34" charset="0"/>
              </a:rPr>
              <a:pPr eaLnBrk="1" hangingPunct="1"/>
              <a:t>111</a:t>
            </a:fld>
            <a:endParaRPr lang="en-US" altLang="zh-CN" sz="1200" smtClean="0">
              <a:latin typeface="Arial" pitchFamily="34" charset="0"/>
            </a:endParaRPr>
          </a:p>
        </p:txBody>
      </p:sp>
      <p:sp>
        <p:nvSpPr>
          <p:cNvPr id="225283" name="Rectangle 2"/>
          <p:cNvSpPr>
            <a:spLocks noGrp="1" noRot="1" noChangeAspect="1" noChangeArrowheads="1" noTextEdit="1"/>
          </p:cNvSpPr>
          <p:nvPr>
            <p:ph type="sldImg"/>
          </p:nvPr>
        </p:nvSpPr>
        <p:spPr>
          <a:ln/>
        </p:spPr>
      </p:sp>
      <p:sp>
        <p:nvSpPr>
          <p:cNvPr id="2252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FD85C689-5A66-44C8-9C7B-265312B04B06}" type="slidenum">
              <a:rPr lang="en-US" altLang="zh-CN" sz="1200" smtClean="0">
                <a:latin typeface="Arial" pitchFamily="34" charset="0"/>
              </a:rPr>
              <a:pPr eaLnBrk="1" hangingPunct="1"/>
              <a:t>112</a:t>
            </a:fld>
            <a:endParaRPr lang="en-US" altLang="zh-CN" sz="1200" smtClean="0">
              <a:latin typeface="Arial" pitchFamily="34" charset="0"/>
            </a:endParaRPr>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B6D83886-78A8-4251-B238-97A3C8D02286}" type="slidenum">
              <a:rPr lang="en-US" altLang="zh-CN" sz="1200" smtClean="0">
                <a:latin typeface="Arial" pitchFamily="34" charset="0"/>
              </a:rPr>
              <a:pPr eaLnBrk="1" hangingPunct="1"/>
              <a:t>113</a:t>
            </a:fld>
            <a:endParaRPr lang="en-US" altLang="zh-CN" sz="1200" smtClean="0">
              <a:latin typeface="Arial" pitchFamily="34" charset="0"/>
            </a:endParaRPr>
          </a:p>
        </p:txBody>
      </p:sp>
      <p:sp>
        <p:nvSpPr>
          <p:cNvPr id="227331" name="Rectangle 2"/>
          <p:cNvSpPr>
            <a:spLocks noGrp="1" noRot="1" noChangeAspect="1" noChangeArrowheads="1" noTextEdit="1"/>
          </p:cNvSpPr>
          <p:nvPr>
            <p:ph type="sldImg"/>
          </p:nvPr>
        </p:nvSpPr>
        <p:spPr>
          <a:ln/>
        </p:spPr>
      </p:sp>
      <p:sp>
        <p:nvSpPr>
          <p:cNvPr id="2273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63C4BE9F-BF43-417C-82BD-81C5749A3FEC}" type="slidenum">
              <a:rPr lang="en-US" altLang="zh-CN" sz="1200" smtClean="0">
                <a:latin typeface="Arial" pitchFamily="34" charset="0"/>
              </a:rPr>
              <a:pPr eaLnBrk="1" hangingPunct="1"/>
              <a:t>114</a:t>
            </a:fld>
            <a:endParaRPr lang="en-US" altLang="zh-CN" sz="1200" smtClean="0">
              <a:latin typeface="Arial" pitchFamily="34" charset="0"/>
            </a:endParaRPr>
          </a:p>
        </p:txBody>
      </p:sp>
      <p:sp>
        <p:nvSpPr>
          <p:cNvPr id="228355" name="Rectangle 2"/>
          <p:cNvSpPr>
            <a:spLocks noGrp="1" noRot="1" noChangeAspect="1" noChangeArrowheads="1" noTextEdit="1"/>
          </p:cNvSpPr>
          <p:nvPr>
            <p:ph type="sldImg"/>
          </p:nvPr>
        </p:nvSpPr>
        <p:spPr>
          <a:ln/>
        </p:spPr>
      </p:sp>
      <p:sp>
        <p:nvSpPr>
          <p:cNvPr id="2283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a:noFill/>
        </p:spPr>
        <p:txBody>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fld id="{C7FF5DD5-5A27-4B18-ABFC-7CDBF79213FE}" type="slidenum">
              <a:rPr lang="en-US" altLang="zh-CN" sz="1200" smtClean="0">
                <a:latin typeface="Arial" pitchFamily="34" charset="0"/>
              </a:rPr>
              <a:pPr eaLnBrk="1" hangingPunct="1"/>
              <a:t>115</a:t>
            </a:fld>
            <a:endParaRPr lang="en-US" altLang="zh-CN" sz="1200" smtClean="0">
              <a:latin typeface="Arial" pitchFamily="34" charset="0"/>
            </a:endParaRPr>
          </a:p>
        </p:txBody>
      </p:sp>
      <p:sp>
        <p:nvSpPr>
          <p:cNvPr id="229379" name="Rectangle 2"/>
          <p:cNvSpPr>
            <a:spLocks noGrp="1" noRot="1" noChangeAspect="1" noChangeArrowheads="1" noTextEdit="1"/>
          </p:cNvSpPr>
          <p:nvPr>
            <p:ph type="sldImg"/>
          </p:nvPr>
        </p:nvSpPr>
        <p:spPr>
          <a:ln/>
        </p:spPr>
      </p:sp>
      <p:sp>
        <p:nvSpPr>
          <p:cNvPr id="2293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612"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smtClean="0"/>
              <a:t>单击此处编辑母版标题样式</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6"/>
          <p:cNvSpPr>
            <a:spLocks noGrp="1" noChangeArrowheads="1"/>
          </p:cNvSpPr>
          <p:nvPr>
            <p:ph type="sldNum" sz="quarter" idx="11"/>
          </p:nvPr>
        </p:nvSpPr>
        <p:spPr>
          <a:xfrm>
            <a:off x="6858000" y="6248400"/>
            <a:ext cx="1905000" cy="457200"/>
          </a:xfrm>
        </p:spPr>
        <p:txBody>
          <a:bodyPr/>
          <a:lstStyle>
            <a:lvl1pPr>
              <a:defRPr>
                <a:solidFill>
                  <a:schemeClr val="bg2"/>
                </a:solidFill>
              </a:defRPr>
            </a:lvl1pPr>
          </a:lstStyle>
          <a:p>
            <a:pPr>
              <a:defRPr/>
            </a:pPr>
            <a:fld id="{DD95F488-5428-4B36-A121-C16F098B99E5}" type="slidenum">
              <a:rPr lang="en-US" altLang="zh-CN"/>
              <a:pPr>
                <a:defRPr/>
              </a:pPr>
              <a:t>‹#›</a:t>
            </a:fld>
            <a:endParaRPr lang="en-US" altLang="zh-CN"/>
          </a:p>
        </p:txBody>
      </p:sp>
    </p:spTree>
    <p:extLst>
      <p:ext uri="{BB962C8B-B14F-4D97-AF65-F5344CB8AC3E}">
        <p14:creationId xmlns:p14="http://schemas.microsoft.com/office/powerpoint/2010/main" val="1115544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59F4DBB4-D585-49A4-8F85-BF4B5608F1CE}" type="slidenum">
              <a:rPr lang="en-US" altLang="zh-CN"/>
              <a:pPr>
                <a:defRPr/>
              </a:pPr>
              <a:t>‹#›</a:t>
            </a:fld>
            <a:endParaRPr lang="en-US" altLang="zh-CN"/>
          </a:p>
        </p:txBody>
      </p:sp>
    </p:spTree>
    <p:extLst>
      <p:ext uri="{BB962C8B-B14F-4D97-AF65-F5344CB8AC3E}">
        <p14:creationId xmlns:p14="http://schemas.microsoft.com/office/powerpoint/2010/main" val="2661123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E3E70014-3EA2-42D7-8D76-37C8F9C0CE50}" type="slidenum">
              <a:rPr lang="en-US" altLang="zh-CN"/>
              <a:pPr>
                <a:defRPr/>
              </a:pPr>
              <a:t>‹#›</a:t>
            </a:fld>
            <a:endParaRPr lang="en-US" altLang="zh-CN"/>
          </a:p>
        </p:txBody>
      </p:sp>
    </p:spTree>
    <p:extLst>
      <p:ext uri="{BB962C8B-B14F-4D97-AF65-F5344CB8AC3E}">
        <p14:creationId xmlns:p14="http://schemas.microsoft.com/office/powerpoint/2010/main" val="252784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0429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0053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7F5239F4-87FC-460C-B7C3-B4515547D16B}" type="slidenum">
              <a:rPr lang="en-US" altLang="zh-CN"/>
              <a:pPr>
                <a:defRPr/>
              </a:pPr>
              <a:t>‹#›</a:t>
            </a:fld>
            <a:endParaRPr lang="en-US" altLang="zh-CN"/>
          </a:p>
        </p:txBody>
      </p:sp>
    </p:spTree>
    <p:extLst>
      <p:ext uri="{BB962C8B-B14F-4D97-AF65-F5344CB8AC3E}">
        <p14:creationId xmlns:p14="http://schemas.microsoft.com/office/powerpoint/2010/main" val="1692152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3"/>
          <p:cNvSpPr>
            <a:spLocks noGrp="1" noChangeArrowheads="1"/>
          </p:cNvSpPr>
          <p:nvPr>
            <p:ph type="sldNum" sz="quarter" idx="11"/>
          </p:nvPr>
        </p:nvSpPr>
        <p:spPr>
          <a:ln/>
        </p:spPr>
        <p:txBody>
          <a:bodyPr/>
          <a:lstStyle>
            <a:lvl1pPr>
              <a:defRPr/>
            </a:lvl1pPr>
          </a:lstStyle>
          <a:p>
            <a:pPr>
              <a:defRPr/>
            </a:pPr>
            <a:fld id="{53B51397-0498-4D9E-9366-6B31EF8CD61B}" type="slidenum">
              <a:rPr lang="en-US" altLang="zh-CN"/>
              <a:pPr>
                <a:defRPr/>
              </a:pPr>
              <a:t>‹#›</a:t>
            </a:fld>
            <a:endParaRPr lang="en-US" altLang="zh-CN"/>
          </a:p>
        </p:txBody>
      </p:sp>
    </p:spTree>
    <p:extLst>
      <p:ext uri="{BB962C8B-B14F-4D97-AF65-F5344CB8AC3E}">
        <p14:creationId xmlns:p14="http://schemas.microsoft.com/office/powerpoint/2010/main" val="2964936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1"/>
          </p:nvPr>
        </p:nvSpPr>
        <p:spPr>
          <a:ln/>
        </p:spPr>
        <p:txBody>
          <a:bodyPr/>
          <a:lstStyle>
            <a:lvl1pPr>
              <a:defRPr/>
            </a:lvl1pPr>
          </a:lstStyle>
          <a:p>
            <a:pPr>
              <a:defRPr/>
            </a:pPr>
            <a:fld id="{0E9D3F43-9DE5-4595-9CE6-5ECF3AC62574}" type="slidenum">
              <a:rPr lang="en-US" altLang="zh-CN"/>
              <a:pPr>
                <a:defRPr/>
              </a:pPr>
              <a:t>‹#›</a:t>
            </a:fld>
            <a:endParaRPr lang="en-US" altLang="zh-CN"/>
          </a:p>
        </p:txBody>
      </p:sp>
    </p:spTree>
    <p:extLst>
      <p:ext uri="{BB962C8B-B14F-4D97-AF65-F5344CB8AC3E}">
        <p14:creationId xmlns:p14="http://schemas.microsoft.com/office/powerpoint/2010/main" val="2811765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3"/>
          <p:cNvSpPr>
            <a:spLocks noGrp="1" noChangeArrowheads="1"/>
          </p:cNvSpPr>
          <p:nvPr>
            <p:ph type="sldNum" sz="quarter" idx="11"/>
          </p:nvPr>
        </p:nvSpPr>
        <p:spPr>
          <a:ln/>
        </p:spPr>
        <p:txBody>
          <a:bodyPr/>
          <a:lstStyle>
            <a:lvl1pPr>
              <a:defRPr/>
            </a:lvl1pPr>
          </a:lstStyle>
          <a:p>
            <a:pPr>
              <a:defRPr/>
            </a:pPr>
            <a:fld id="{B64D68FD-717A-443D-8AF3-95AA98107A0D}" type="slidenum">
              <a:rPr lang="en-US" altLang="zh-CN"/>
              <a:pPr>
                <a:defRPr/>
              </a:pPr>
              <a:t>‹#›</a:t>
            </a:fld>
            <a:endParaRPr lang="en-US" altLang="zh-CN"/>
          </a:p>
        </p:txBody>
      </p:sp>
    </p:spTree>
    <p:extLst>
      <p:ext uri="{BB962C8B-B14F-4D97-AF65-F5344CB8AC3E}">
        <p14:creationId xmlns:p14="http://schemas.microsoft.com/office/powerpoint/2010/main" val="1044444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A2B538F2-C4A5-4DAD-AECE-857DAB7629AD}" type="slidenum">
              <a:rPr lang="en-US" altLang="zh-CN"/>
              <a:pPr>
                <a:defRPr/>
              </a:pPr>
              <a:t>‹#›</a:t>
            </a:fld>
            <a:endParaRPr lang="en-US" altLang="zh-CN"/>
          </a:p>
        </p:txBody>
      </p:sp>
    </p:spTree>
    <p:extLst>
      <p:ext uri="{BB962C8B-B14F-4D97-AF65-F5344CB8AC3E}">
        <p14:creationId xmlns:p14="http://schemas.microsoft.com/office/powerpoint/2010/main" val="3518749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2BA96F0F-8F3A-4B4E-BC10-A50C788CA5B5}" type="slidenum">
              <a:rPr lang="en-US" altLang="zh-CN"/>
              <a:pPr>
                <a:defRPr/>
              </a:pPr>
              <a:t>‹#›</a:t>
            </a:fld>
            <a:endParaRPr lang="en-US" altLang="zh-CN"/>
          </a:p>
        </p:txBody>
      </p:sp>
    </p:spTree>
    <p:extLst>
      <p:ext uri="{BB962C8B-B14F-4D97-AF65-F5344CB8AC3E}">
        <p14:creationId xmlns:p14="http://schemas.microsoft.com/office/powerpoint/2010/main" val="2296628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300C6DE5-F9AA-4BE5-87DD-E938B5D5AEF0}" type="slidenum">
              <a:rPr lang="en-US" altLang="zh-CN"/>
              <a:pPr>
                <a:defRPr/>
              </a:pPr>
              <a:t>‹#›</a:t>
            </a:fld>
            <a:endParaRPr lang="en-US" altLang="zh-CN"/>
          </a:p>
        </p:txBody>
      </p:sp>
    </p:spTree>
    <p:extLst>
      <p:ext uri="{BB962C8B-B14F-4D97-AF65-F5344CB8AC3E}">
        <p14:creationId xmlns:p14="http://schemas.microsoft.com/office/powerpoint/2010/main" val="4244710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69125" y="214313"/>
            <a:ext cx="1974850" cy="56737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042988" y="214313"/>
            <a:ext cx="5773737" cy="56737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B266734C-870D-480C-B47F-0E3C22B40509}" type="slidenum">
              <a:rPr lang="en-US" altLang="zh-CN"/>
              <a:pPr>
                <a:defRPr/>
              </a:pPr>
              <a:t>‹#›</a:t>
            </a:fld>
            <a:endParaRPr lang="en-US" altLang="zh-CN"/>
          </a:p>
        </p:txBody>
      </p:sp>
    </p:spTree>
    <p:extLst>
      <p:ext uri="{BB962C8B-B14F-4D97-AF65-F5344CB8AC3E}">
        <p14:creationId xmlns:p14="http://schemas.microsoft.com/office/powerpoint/2010/main" val="4132140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34" name="Rectangle 10"/>
          <p:cNvSpPr>
            <a:spLocks noGrp="1" noChangeArrowheads="1"/>
          </p:cNvSpPr>
          <p:nvPr>
            <p:ph type="body" idx="1"/>
          </p:nvPr>
        </p:nvSpPr>
        <p:spPr bwMode="auto">
          <a:xfrm>
            <a:off x="1042988" y="17732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4587"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lvl1pPr>
          </a:lstStyle>
          <a:p>
            <a:pPr>
              <a:defRPr/>
            </a:pPr>
            <a:endParaRPr lang="en-US" altLang="zh-CN"/>
          </a:p>
        </p:txBody>
      </p:sp>
      <p:sp>
        <p:nvSpPr>
          <p:cNvPr id="24589"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vl1pPr>
          </a:lstStyle>
          <a:p>
            <a:pPr>
              <a:defRPr/>
            </a:pPr>
            <a:fld id="{7E2F447E-A9A8-4B00-B711-D77587E129A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charset="0"/>
          <a:ea typeface="黑体" pitchFamily="49" charset="-122"/>
        </a:defRPr>
      </a:lvl2pPr>
      <a:lvl3pPr algn="l" rtl="0" eaLnBrk="0" fontAlgn="base" hangingPunct="0">
        <a:spcBef>
          <a:spcPct val="0"/>
        </a:spcBef>
        <a:spcAft>
          <a:spcPct val="0"/>
        </a:spcAft>
        <a:defRPr sz="4400">
          <a:solidFill>
            <a:srgbClr val="333399"/>
          </a:solidFill>
          <a:latin typeface="Arial" charset="0"/>
          <a:ea typeface="黑体" pitchFamily="49" charset="-122"/>
        </a:defRPr>
      </a:lvl3pPr>
      <a:lvl4pPr algn="l" rtl="0" eaLnBrk="0" fontAlgn="base" hangingPunct="0">
        <a:spcBef>
          <a:spcPct val="0"/>
        </a:spcBef>
        <a:spcAft>
          <a:spcPct val="0"/>
        </a:spcAft>
        <a:defRPr sz="4400">
          <a:solidFill>
            <a:srgbClr val="333399"/>
          </a:solidFill>
          <a:latin typeface="Arial" charset="0"/>
          <a:ea typeface="黑体" pitchFamily="49" charset="-122"/>
        </a:defRPr>
      </a:lvl4pPr>
      <a:lvl5pPr algn="l" rtl="0" eaLnBrk="0" fontAlgn="base" hangingPunct="0">
        <a:spcBef>
          <a:spcPct val="0"/>
        </a:spcBef>
        <a:spcAft>
          <a:spcPct val="0"/>
        </a:spcAft>
        <a:defRPr sz="4400">
          <a:solidFill>
            <a:srgbClr val="333399"/>
          </a:solidFill>
          <a:latin typeface="Arial" charset="0"/>
          <a:ea typeface="黑体" pitchFamily="49" charset="-122"/>
        </a:defRPr>
      </a:lvl5pPr>
      <a:lvl6pPr marL="457200" algn="l" rtl="0" fontAlgn="base">
        <a:spcBef>
          <a:spcPct val="0"/>
        </a:spcBef>
        <a:spcAft>
          <a:spcPct val="0"/>
        </a:spcAft>
        <a:defRPr sz="4400">
          <a:solidFill>
            <a:srgbClr val="333399"/>
          </a:solidFill>
          <a:latin typeface="Arial" charset="0"/>
          <a:ea typeface="黑体" pitchFamily="49" charset="-122"/>
        </a:defRPr>
      </a:lvl6pPr>
      <a:lvl7pPr marL="914400" algn="l" rtl="0" fontAlgn="base">
        <a:spcBef>
          <a:spcPct val="0"/>
        </a:spcBef>
        <a:spcAft>
          <a:spcPct val="0"/>
        </a:spcAft>
        <a:defRPr sz="4400">
          <a:solidFill>
            <a:srgbClr val="333399"/>
          </a:solidFill>
          <a:latin typeface="Arial" charset="0"/>
          <a:ea typeface="黑体" pitchFamily="49" charset="-122"/>
        </a:defRPr>
      </a:lvl7pPr>
      <a:lvl8pPr marL="1371600" algn="l" rtl="0" fontAlgn="base">
        <a:spcBef>
          <a:spcPct val="0"/>
        </a:spcBef>
        <a:spcAft>
          <a:spcPct val="0"/>
        </a:spcAft>
        <a:defRPr sz="4400">
          <a:solidFill>
            <a:srgbClr val="333399"/>
          </a:solidFill>
          <a:latin typeface="Arial" charset="0"/>
          <a:ea typeface="黑体" pitchFamily="49" charset="-122"/>
        </a:defRPr>
      </a:lvl8pPr>
      <a:lvl9pPr marL="1828800" algn="l" rtl="0" fontAlgn="base">
        <a:spcBef>
          <a:spcPct val="0"/>
        </a:spcBef>
        <a:spcAft>
          <a:spcPct val="0"/>
        </a:spcAft>
        <a:defRPr sz="4400">
          <a:solidFill>
            <a:srgbClr val="333399"/>
          </a:solidFill>
          <a:latin typeface="Arial" charset="0"/>
          <a:ea typeface="黑体"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333399"/>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Tahoma" pitchFamily="34" charset="0"/>
          <a:ea typeface="宋体" pitchFamily="2" charset="-122"/>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Tahoma" pitchFamily="34" charset="0"/>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wmf"/><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image" Target="../media/image4.w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wmf"/><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8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8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9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2.wmf"/><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2.wmf"/><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image" Target="../media/image7.wmf"/><Relationship Id="rId4" Type="http://schemas.openxmlformats.org/officeDocument/2006/relationships/image" Target="../media/image9.wmf"/></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wmf"/></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90600" y="1676400"/>
            <a:ext cx="7253288" cy="1462088"/>
          </a:xfrm>
        </p:spPr>
        <p:txBody>
          <a:bodyPr/>
          <a:lstStyle/>
          <a:p>
            <a:pPr algn="ctr" eaLnBrk="1" hangingPunct="1"/>
            <a:r>
              <a:rPr lang="zh-CN" altLang="en-US" smtClean="0"/>
              <a:t>计算机网络</a:t>
            </a:r>
            <a:endParaRPr lang="zh-CN" altLang="en-US" dirty="0" smtClean="0"/>
          </a:p>
        </p:txBody>
      </p:sp>
      <p:sp>
        <p:nvSpPr>
          <p:cNvPr id="3075" name="Rectangle 3"/>
          <p:cNvSpPr>
            <a:spLocks noGrp="1" noChangeArrowheads="1"/>
          </p:cNvSpPr>
          <p:nvPr>
            <p:ph type="subTitle" idx="1"/>
          </p:nvPr>
        </p:nvSpPr>
        <p:spPr/>
        <p:txBody>
          <a:bodyPr/>
          <a:lstStyle/>
          <a:p>
            <a:pPr eaLnBrk="1" hangingPunct="1"/>
            <a:r>
              <a:rPr lang="zh-CN" altLang="en-US" smtClean="0"/>
              <a:t>第 </a:t>
            </a:r>
            <a:r>
              <a:rPr lang="en-US" altLang="zh-CN" smtClean="0"/>
              <a:t>3 </a:t>
            </a:r>
            <a:r>
              <a:rPr lang="zh-CN" altLang="en-US" smtClean="0"/>
              <a:t>章   数据链路层</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100138" y="931863"/>
            <a:ext cx="6856412" cy="768350"/>
          </a:xfrm>
        </p:spPr>
        <p:txBody>
          <a:bodyPr/>
          <a:lstStyle/>
          <a:p>
            <a:pPr algn="ctr" eaLnBrk="1" hangingPunct="1"/>
            <a:r>
              <a:rPr lang="zh-CN" altLang="en-US" smtClean="0">
                <a:ea typeface="Arial Unicode MS" pitchFamily="34" charset="-122"/>
                <a:cs typeface="Arial Unicode MS" pitchFamily="34" charset="-122"/>
              </a:rPr>
              <a:t>第 </a:t>
            </a:r>
            <a:r>
              <a:rPr lang="en-US" altLang="zh-CN" smtClean="0">
                <a:ea typeface="Arial Unicode MS" pitchFamily="34" charset="-122"/>
                <a:cs typeface="Arial Unicode MS" pitchFamily="34" charset="-122"/>
              </a:rPr>
              <a:t>3 </a:t>
            </a:r>
            <a:r>
              <a:rPr lang="zh-CN" altLang="en-US" smtClean="0">
                <a:ea typeface="Arial Unicode MS" pitchFamily="34" charset="-122"/>
                <a:cs typeface="Arial Unicode MS" pitchFamily="34" charset="-122"/>
              </a:rPr>
              <a:t>章  </a:t>
            </a:r>
            <a:r>
              <a:rPr lang="zh-CN" altLang="en-US" smtClean="0"/>
              <a:t>数据链路层</a:t>
            </a:r>
          </a:p>
        </p:txBody>
      </p:sp>
      <p:sp>
        <p:nvSpPr>
          <p:cNvPr id="4099" name="Rectangle 3"/>
          <p:cNvSpPr>
            <a:spLocks noGrp="1" noChangeArrowheads="1"/>
          </p:cNvSpPr>
          <p:nvPr>
            <p:ph type="body" idx="1"/>
          </p:nvPr>
        </p:nvSpPr>
        <p:spPr>
          <a:xfrm>
            <a:off x="755650" y="2017713"/>
            <a:ext cx="8204200" cy="4506912"/>
          </a:xfrm>
        </p:spPr>
        <p:txBody>
          <a:bodyPr/>
          <a:lstStyle/>
          <a:p>
            <a:pPr eaLnBrk="1" hangingPunct="1">
              <a:buFont typeface="Wingdings" pitchFamily="2" charset="2"/>
              <a:buNone/>
            </a:pPr>
            <a:r>
              <a:rPr lang="en-US" altLang="zh-CN" smtClean="0"/>
              <a:t>3.1  </a:t>
            </a:r>
            <a:r>
              <a:rPr lang="zh-CN" altLang="en-US" smtClean="0"/>
              <a:t>使用点对点信道的数据链路层</a:t>
            </a:r>
          </a:p>
          <a:p>
            <a:pPr eaLnBrk="1" hangingPunct="1">
              <a:buFont typeface="Wingdings" pitchFamily="2" charset="2"/>
              <a:buNone/>
            </a:pPr>
            <a:r>
              <a:rPr lang="zh-CN" altLang="en-US" smtClean="0"/>
              <a:t>		</a:t>
            </a:r>
            <a:r>
              <a:rPr lang="en-US" altLang="zh-CN" smtClean="0"/>
              <a:t>3.1.1 </a:t>
            </a:r>
            <a:r>
              <a:rPr lang="zh-CN" altLang="en-US" smtClean="0"/>
              <a:t>数据链路和帧</a:t>
            </a:r>
          </a:p>
          <a:p>
            <a:pPr eaLnBrk="1" hangingPunct="1">
              <a:buFont typeface="Wingdings" pitchFamily="2" charset="2"/>
              <a:buNone/>
            </a:pPr>
            <a:r>
              <a:rPr lang="zh-CN" altLang="en-US" smtClean="0"/>
              <a:t>		</a:t>
            </a:r>
            <a:r>
              <a:rPr lang="en-US" altLang="zh-CN" smtClean="0"/>
              <a:t>3.1.2 </a:t>
            </a:r>
            <a:r>
              <a:rPr lang="zh-CN" altLang="en-US" smtClean="0"/>
              <a:t>三个基本问题</a:t>
            </a:r>
          </a:p>
          <a:p>
            <a:pPr eaLnBrk="1" hangingPunct="1">
              <a:buFont typeface="Wingdings" pitchFamily="2" charset="2"/>
              <a:buNone/>
            </a:pPr>
            <a:r>
              <a:rPr lang="en-US" altLang="zh-CN" smtClean="0"/>
              <a:t>3.2  </a:t>
            </a:r>
            <a:r>
              <a:rPr lang="zh-CN" altLang="en-US" smtClean="0"/>
              <a:t>点对点协议 </a:t>
            </a:r>
            <a:r>
              <a:rPr lang="en-US" altLang="zh-CN" smtClean="0"/>
              <a:t>PPP</a:t>
            </a:r>
          </a:p>
          <a:p>
            <a:pPr eaLnBrk="1" hangingPunct="1">
              <a:buFont typeface="Wingdings" pitchFamily="2" charset="2"/>
              <a:buNone/>
            </a:pPr>
            <a:r>
              <a:rPr lang="en-US" altLang="zh-CN" smtClean="0"/>
              <a:t>		3.2.1 PPP </a:t>
            </a:r>
            <a:r>
              <a:rPr lang="zh-CN" altLang="en-US" smtClean="0"/>
              <a:t>协议的特点</a:t>
            </a:r>
          </a:p>
          <a:p>
            <a:pPr eaLnBrk="1" hangingPunct="1">
              <a:buFont typeface="Wingdings" pitchFamily="2" charset="2"/>
              <a:buNone/>
            </a:pPr>
            <a:r>
              <a:rPr lang="zh-CN" altLang="en-US" smtClean="0"/>
              <a:t>		</a:t>
            </a:r>
            <a:r>
              <a:rPr lang="en-US" altLang="zh-CN" smtClean="0"/>
              <a:t>3.2.2 PPP </a:t>
            </a:r>
            <a:r>
              <a:rPr lang="zh-CN" altLang="en-US" smtClean="0"/>
              <a:t>协议的帧格式</a:t>
            </a:r>
          </a:p>
          <a:p>
            <a:pPr eaLnBrk="1" hangingPunct="1">
              <a:buFont typeface="Wingdings" pitchFamily="2" charset="2"/>
              <a:buNone/>
            </a:pPr>
            <a:r>
              <a:rPr lang="zh-CN" altLang="en-US" smtClean="0"/>
              <a:t>		</a:t>
            </a:r>
            <a:r>
              <a:rPr lang="en-US" altLang="zh-CN" smtClean="0"/>
              <a:t>3.2.3 PPP </a:t>
            </a:r>
            <a:r>
              <a:rPr lang="zh-CN" altLang="en-US" smtClean="0"/>
              <a:t>协议的工作状态</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460500" y="931863"/>
            <a:ext cx="6856413" cy="768350"/>
          </a:xfrm>
        </p:spPr>
        <p:txBody>
          <a:bodyPr/>
          <a:lstStyle/>
          <a:p>
            <a:pPr algn="ctr" eaLnBrk="1" hangingPunct="1"/>
            <a:r>
              <a:rPr lang="zh-CN" altLang="en-US" smtClean="0">
                <a:ea typeface="Arial Unicode MS" pitchFamily="34" charset="-122"/>
                <a:cs typeface="Arial Unicode MS" pitchFamily="34" charset="-122"/>
              </a:rPr>
              <a:t>第 </a:t>
            </a:r>
            <a:r>
              <a:rPr lang="en-US" altLang="zh-CN" smtClean="0">
                <a:ea typeface="Arial Unicode MS" pitchFamily="34" charset="-122"/>
                <a:cs typeface="Arial Unicode MS" pitchFamily="34" charset="-122"/>
              </a:rPr>
              <a:t>3 </a:t>
            </a:r>
            <a:r>
              <a:rPr lang="zh-CN" altLang="en-US" smtClean="0">
                <a:ea typeface="Arial Unicode MS" pitchFamily="34" charset="-122"/>
                <a:cs typeface="Arial Unicode MS" pitchFamily="34" charset="-122"/>
              </a:rPr>
              <a:t>章  </a:t>
            </a:r>
            <a:r>
              <a:rPr lang="zh-CN" altLang="en-US" smtClean="0"/>
              <a:t>数据链路层（续）</a:t>
            </a:r>
          </a:p>
        </p:txBody>
      </p:sp>
      <p:sp>
        <p:nvSpPr>
          <p:cNvPr id="5123" name="Rectangle 3"/>
          <p:cNvSpPr>
            <a:spLocks noGrp="1" noChangeArrowheads="1"/>
          </p:cNvSpPr>
          <p:nvPr>
            <p:ph type="body" idx="1"/>
          </p:nvPr>
        </p:nvSpPr>
        <p:spPr>
          <a:xfrm>
            <a:off x="755650" y="2017713"/>
            <a:ext cx="8204200" cy="4506912"/>
          </a:xfrm>
        </p:spPr>
        <p:txBody>
          <a:bodyPr/>
          <a:lstStyle/>
          <a:p>
            <a:pPr eaLnBrk="1" hangingPunct="1">
              <a:buFont typeface="Wingdings" pitchFamily="2" charset="2"/>
              <a:buNone/>
            </a:pPr>
            <a:r>
              <a:rPr lang="en-US" altLang="zh-CN" smtClean="0"/>
              <a:t>3.3  </a:t>
            </a:r>
            <a:r>
              <a:rPr lang="zh-CN" altLang="en-US" smtClean="0"/>
              <a:t>使用广播信道的数据链路层</a:t>
            </a:r>
          </a:p>
          <a:p>
            <a:pPr eaLnBrk="1" hangingPunct="1">
              <a:buFont typeface="Wingdings" pitchFamily="2" charset="2"/>
              <a:buNone/>
            </a:pPr>
            <a:r>
              <a:rPr lang="zh-CN" altLang="en-US" smtClean="0"/>
              <a:t>	    </a:t>
            </a:r>
            <a:r>
              <a:rPr lang="en-US" altLang="zh-CN" smtClean="0"/>
              <a:t>3.3.1 </a:t>
            </a:r>
            <a:r>
              <a:rPr lang="zh-CN" altLang="en-US" smtClean="0"/>
              <a:t>局域网的数据链路层</a:t>
            </a:r>
          </a:p>
          <a:p>
            <a:pPr eaLnBrk="1" hangingPunct="1">
              <a:buFont typeface="Wingdings" pitchFamily="2" charset="2"/>
              <a:buNone/>
            </a:pPr>
            <a:r>
              <a:rPr lang="zh-CN" altLang="en-US" smtClean="0"/>
              <a:t>	    </a:t>
            </a:r>
            <a:r>
              <a:rPr lang="en-US" altLang="zh-CN" smtClean="0"/>
              <a:t>3.3.2 CSMA/CD </a:t>
            </a:r>
            <a:r>
              <a:rPr lang="zh-CN" altLang="en-US" smtClean="0"/>
              <a:t>协议</a:t>
            </a:r>
          </a:p>
          <a:p>
            <a:pPr eaLnBrk="1" hangingPunct="1">
              <a:buFont typeface="Wingdings" pitchFamily="2" charset="2"/>
              <a:buNone/>
            </a:pPr>
            <a:r>
              <a:rPr lang="en-US" altLang="zh-CN" smtClean="0"/>
              <a:t>3.4  </a:t>
            </a:r>
            <a:r>
              <a:rPr lang="zh-CN" altLang="en-US" smtClean="0"/>
              <a:t>使用广播信道的以太网</a:t>
            </a:r>
          </a:p>
          <a:p>
            <a:pPr eaLnBrk="1" hangingPunct="1">
              <a:buFont typeface="Wingdings" pitchFamily="2" charset="2"/>
              <a:buNone/>
            </a:pPr>
            <a:r>
              <a:rPr lang="zh-CN" altLang="en-US" smtClean="0"/>
              <a:t>       </a:t>
            </a:r>
            <a:r>
              <a:rPr lang="en-US" altLang="zh-CN" smtClean="0"/>
              <a:t>3.4.1  </a:t>
            </a:r>
            <a:r>
              <a:rPr lang="zh-CN" altLang="en-US" smtClean="0"/>
              <a:t>使用集线器的星形拓扑</a:t>
            </a:r>
          </a:p>
          <a:p>
            <a:pPr eaLnBrk="1" hangingPunct="1">
              <a:buFont typeface="Wingdings" pitchFamily="2" charset="2"/>
              <a:buNone/>
            </a:pPr>
            <a:r>
              <a:rPr lang="zh-CN" altLang="en-US" smtClean="0"/>
              <a:t>       </a:t>
            </a:r>
            <a:r>
              <a:rPr lang="en-US" altLang="zh-CN" smtClean="0"/>
              <a:t>3.4.2  </a:t>
            </a:r>
            <a:r>
              <a:rPr lang="zh-CN" altLang="en-US" smtClean="0"/>
              <a:t>以太网的信道利用率</a:t>
            </a:r>
          </a:p>
          <a:p>
            <a:pPr eaLnBrk="1" hangingPunct="1">
              <a:buFont typeface="Wingdings" pitchFamily="2" charset="2"/>
              <a:buNone/>
            </a:pPr>
            <a:r>
              <a:rPr lang="zh-CN" altLang="en-US" smtClean="0"/>
              <a:t>       </a:t>
            </a:r>
            <a:r>
              <a:rPr lang="en-US" altLang="zh-CN" smtClean="0"/>
              <a:t>3.4.3  </a:t>
            </a:r>
            <a:r>
              <a:rPr lang="zh-CN" altLang="en-US" smtClean="0"/>
              <a:t>以太网的 </a:t>
            </a:r>
            <a:r>
              <a:rPr lang="en-US" altLang="zh-CN" smtClean="0"/>
              <a:t>MAC </a:t>
            </a:r>
            <a:r>
              <a:rPr lang="zh-CN" altLang="en-US" smtClean="0"/>
              <a:t>层</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316038" y="931863"/>
            <a:ext cx="6856412" cy="768350"/>
          </a:xfrm>
        </p:spPr>
        <p:txBody>
          <a:bodyPr/>
          <a:lstStyle/>
          <a:p>
            <a:pPr algn="ctr" eaLnBrk="1" hangingPunct="1"/>
            <a:r>
              <a:rPr lang="zh-CN" altLang="en-US" smtClean="0">
                <a:ea typeface="Arial Unicode MS" pitchFamily="34" charset="-122"/>
                <a:cs typeface="Arial Unicode MS" pitchFamily="34" charset="-122"/>
              </a:rPr>
              <a:t>第 </a:t>
            </a:r>
            <a:r>
              <a:rPr lang="en-US" altLang="zh-CN" smtClean="0">
                <a:ea typeface="Arial Unicode MS" pitchFamily="34" charset="-122"/>
                <a:cs typeface="Arial Unicode MS" pitchFamily="34" charset="-122"/>
              </a:rPr>
              <a:t>3 </a:t>
            </a:r>
            <a:r>
              <a:rPr lang="zh-CN" altLang="en-US" smtClean="0">
                <a:ea typeface="Arial Unicode MS" pitchFamily="34" charset="-122"/>
                <a:cs typeface="Arial Unicode MS" pitchFamily="34" charset="-122"/>
              </a:rPr>
              <a:t>章  </a:t>
            </a:r>
            <a:r>
              <a:rPr lang="zh-CN" altLang="en-US" smtClean="0"/>
              <a:t>数据链路层（续）</a:t>
            </a:r>
          </a:p>
        </p:txBody>
      </p:sp>
      <p:sp>
        <p:nvSpPr>
          <p:cNvPr id="6147" name="Rectangle 3"/>
          <p:cNvSpPr>
            <a:spLocks noGrp="1" noChangeArrowheads="1"/>
          </p:cNvSpPr>
          <p:nvPr>
            <p:ph type="body" idx="1"/>
          </p:nvPr>
        </p:nvSpPr>
        <p:spPr>
          <a:xfrm>
            <a:off x="755650" y="2017713"/>
            <a:ext cx="8204200" cy="4506912"/>
          </a:xfrm>
        </p:spPr>
        <p:txBody>
          <a:bodyPr/>
          <a:lstStyle/>
          <a:p>
            <a:pPr eaLnBrk="1" hangingPunct="1">
              <a:lnSpc>
                <a:spcPct val="90000"/>
              </a:lnSpc>
              <a:buFont typeface="Wingdings" pitchFamily="2" charset="2"/>
              <a:buNone/>
            </a:pPr>
            <a:r>
              <a:rPr lang="en-US" altLang="zh-CN" sz="2800" smtClean="0"/>
              <a:t>3.5 </a:t>
            </a:r>
            <a:r>
              <a:rPr lang="zh-CN" altLang="en-US" sz="2800" smtClean="0"/>
              <a:t>扩展的以太网</a:t>
            </a:r>
          </a:p>
          <a:p>
            <a:pPr eaLnBrk="1" hangingPunct="1">
              <a:lnSpc>
                <a:spcPct val="90000"/>
              </a:lnSpc>
              <a:buFont typeface="Wingdings" pitchFamily="2" charset="2"/>
              <a:buNone/>
            </a:pPr>
            <a:r>
              <a:rPr lang="zh-CN" altLang="en-US" sz="2800" smtClean="0"/>
              <a:t>		</a:t>
            </a:r>
            <a:r>
              <a:rPr lang="en-US" altLang="zh-CN" sz="2800" smtClean="0"/>
              <a:t>3.5.1  </a:t>
            </a:r>
            <a:r>
              <a:rPr lang="zh-CN" altLang="en-US" sz="2800" smtClean="0"/>
              <a:t>在物理层扩展以太网</a:t>
            </a:r>
          </a:p>
          <a:p>
            <a:pPr eaLnBrk="1" hangingPunct="1">
              <a:lnSpc>
                <a:spcPct val="90000"/>
              </a:lnSpc>
              <a:buFont typeface="Wingdings" pitchFamily="2" charset="2"/>
              <a:buNone/>
            </a:pPr>
            <a:r>
              <a:rPr lang="zh-CN" altLang="en-US" sz="2800" smtClean="0"/>
              <a:t>		</a:t>
            </a:r>
            <a:r>
              <a:rPr lang="en-US" altLang="zh-CN" sz="2800" smtClean="0"/>
              <a:t>3.5.2  </a:t>
            </a:r>
            <a:r>
              <a:rPr lang="zh-CN" altLang="en-US" sz="2800" smtClean="0"/>
              <a:t>在数据链路层扩展以太网</a:t>
            </a:r>
          </a:p>
          <a:p>
            <a:pPr eaLnBrk="1" hangingPunct="1">
              <a:lnSpc>
                <a:spcPct val="90000"/>
              </a:lnSpc>
              <a:buFont typeface="Wingdings" pitchFamily="2" charset="2"/>
              <a:buNone/>
            </a:pPr>
            <a:r>
              <a:rPr lang="en-US" altLang="zh-CN" sz="2800" smtClean="0"/>
              <a:t>3.6 </a:t>
            </a:r>
            <a:r>
              <a:rPr lang="zh-CN" altLang="en-US" sz="2800" smtClean="0"/>
              <a:t>高速以太网</a:t>
            </a:r>
          </a:p>
          <a:p>
            <a:pPr eaLnBrk="1" hangingPunct="1">
              <a:lnSpc>
                <a:spcPct val="90000"/>
              </a:lnSpc>
              <a:buFont typeface="Wingdings" pitchFamily="2" charset="2"/>
              <a:buNone/>
            </a:pPr>
            <a:r>
              <a:rPr lang="zh-CN" altLang="en-US" sz="2800" smtClean="0"/>
              <a:t>         </a:t>
            </a:r>
            <a:r>
              <a:rPr lang="en-US" altLang="zh-CN" sz="2800" smtClean="0"/>
              <a:t>3.6.1  100BASE-T </a:t>
            </a:r>
            <a:r>
              <a:rPr lang="zh-CN" altLang="en-US" sz="2800" smtClean="0"/>
              <a:t>以太网</a:t>
            </a:r>
          </a:p>
          <a:p>
            <a:pPr eaLnBrk="1" hangingPunct="1">
              <a:lnSpc>
                <a:spcPct val="90000"/>
              </a:lnSpc>
              <a:buFont typeface="Wingdings" pitchFamily="2" charset="2"/>
              <a:buNone/>
            </a:pPr>
            <a:r>
              <a:rPr lang="zh-CN" altLang="en-US" sz="2800" smtClean="0"/>
              <a:t>         </a:t>
            </a:r>
            <a:r>
              <a:rPr lang="en-US" altLang="zh-CN" sz="2800" smtClean="0"/>
              <a:t>3.6.2  </a:t>
            </a:r>
            <a:r>
              <a:rPr lang="zh-CN" altLang="en-US" sz="2800" smtClean="0"/>
              <a:t>吉比特以太网</a:t>
            </a:r>
          </a:p>
          <a:p>
            <a:pPr eaLnBrk="1" hangingPunct="1">
              <a:lnSpc>
                <a:spcPct val="90000"/>
              </a:lnSpc>
              <a:buFont typeface="Wingdings" pitchFamily="2" charset="2"/>
              <a:buNone/>
            </a:pPr>
            <a:r>
              <a:rPr lang="zh-CN" altLang="en-US" sz="2800" smtClean="0"/>
              <a:t>         </a:t>
            </a:r>
            <a:r>
              <a:rPr lang="en-US" altLang="zh-CN" sz="2800" smtClean="0"/>
              <a:t>3.6.3  10 </a:t>
            </a:r>
            <a:r>
              <a:rPr lang="zh-CN" altLang="en-US" sz="2800" smtClean="0"/>
              <a:t>吉比特以太网</a:t>
            </a:r>
          </a:p>
          <a:p>
            <a:pPr eaLnBrk="1" hangingPunct="1">
              <a:lnSpc>
                <a:spcPct val="90000"/>
              </a:lnSpc>
              <a:buFont typeface="Wingdings" pitchFamily="2" charset="2"/>
              <a:buNone/>
            </a:pPr>
            <a:r>
              <a:rPr lang="zh-CN" altLang="en-US" sz="2800" smtClean="0"/>
              <a:t>         </a:t>
            </a:r>
            <a:r>
              <a:rPr lang="en-US" altLang="zh-CN" sz="2800" smtClean="0"/>
              <a:t>3.6.4  </a:t>
            </a:r>
            <a:r>
              <a:rPr lang="zh-CN" altLang="en-US" sz="2800" smtClean="0"/>
              <a:t>使用高速以太网进行宽带接入</a:t>
            </a:r>
          </a:p>
          <a:p>
            <a:pPr eaLnBrk="1" hangingPunct="1">
              <a:lnSpc>
                <a:spcPct val="90000"/>
              </a:lnSpc>
              <a:buFont typeface="Wingdings" pitchFamily="2" charset="2"/>
              <a:buNone/>
            </a:pPr>
            <a:r>
              <a:rPr lang="en-US" altLang="zh-CN" sz="2800" smtClean="0"/>
              <a:t>3.7  </a:t>
            </a:r>
            <a:r>
              <a:rPr lang="zh-CN" altLang="en-US" sz="2800" smtClean="0"/>
              <a:t>其他类型的高速局域网接口</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350963" y="0"/>
            <a:ext cx="6605587" cy="1462088"/>
          </a:xfrm>
        </p:spPr>
        <p:txBody>
          <a:bodyPr/>
          <a:lstStyle/>
          <a:p>
            <a:pPr algn="ctr" eaLnBrk="1" hangingPunct="1"/>
            <a:r>
              <a:rPr lang="zh-CN" altLang="en-US" smtClean="0"/>
              <a:t>数据链路层</a:t>
            </a:r>
          </a:p>
        </p:txBody>
      </p:sp>
      <p:sp>
        <p:nvSpPr>
          <p:cNvPr id="7171" name="Rectangle 3"/>
          <p:cNvSpPr>
            <a:spLocks noGrp="1" noChangeArrowheads="1"/>
          </p:cNvSpPr>
          <p:nvPr>
            <p:ph type="body" idx="1"/>
          </p:nvPr>
        </p:nvSpPr>
        <p:spPr>
          <a:xfrm>
            <a:off x="1042988" y="1773238"/>
            <a:ext cx="7772400" cy="4608512"/>
          </a:xfrm>
        </p:spPr>
        <p:txBody>
          <a:bodyPr/>
          <a:lstStyle/>
          <a:p>
            <a:pPr eaLnBrk="1" hangingPunct="1">
              <a:lnSpc>
                <a:spcPct val="90000"/>
              </a:lnSpc>
              <a:buFont typeface="Wingdings" pitchFamily="2" charset="2"/>
              <a:buNone/>
            </a:pPr>
            <a:r>
              <a:rPr lang="zh-CN" altLang="en-US" smtClean="0"/>
              <a:t>数据链路层使用的信道主要有以下两种类型：</a:t>
            </a:r>
          </a:p>
          <a:p>
            <a:pPr eaLnBrk="1" hangingPunct="1">
              <a:lnSpc>
                <a:spcPct val="90000"/>
              </a:lnSpc>
            </a:pPr>
            <a:r>
              <a:rPr lang="zh-CN" altLang="en-US" smtClean="0">
                <a:solidFill>
                  <a:schemeClr val="hlink"/>
                </a:solidFill>
              </a:rPr>
              <a:t>点对点信道</a:t>
            </a:r>
            <a:r>
              <a:rPr lang="zh-CN" altLang="en-US" smtClean="0"/>
              <a:t>。这种信道使用一对一的点对点通信方式。</a:t>
            </a:r>
          </a:p>
          <a:p>
            <a:pPr eaLnBrk="1" hangingPunct="1">
              <a:lnSpc>
                <a:spcPct val="90000"/>
              </a:lnSpc>
            </a:pPr>
            <a:r>
              <a:rPr lang="zh-CN" altLang="en-US" smtClean="0">
                <a:solidFill>
                  <a:schemeClr val="hlink"/>
                </a:solidFill>
              </a:rPr>
              <a:t>广播信道</a:t>
            </a:r>
            <a:r>
              <a:rPr lang="zh-CN" altLang="en-US" smtClean="0"/>
              <a:t>。这种信道使用一对多的广播通信方式，因此过程比较复杂。广播信道上连接的主机很多，因此必须使用专用的共享信道协议来协调这些主机的数据发送</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171575" y="931863"/>
            <a:ext cx="6856413" cy="768350"/>
          </a:xfrm>
        </p:spPr>
        <p:txBody>
          <a:bodyPr/>
          <a:lstStyle/>
          <a:p>
            <a:pPr algn="ctr" eaLnBrk="1" hangingPunct="1"/>
            <a:r>
              <a:rPr lang="zh-CN" altLang="en-US" sz="4800" smtClean="0">
                <a:latin typeface="黑体" pitchFamily="49" charset="-122"/>
              </a:rPr>
              <a:t>数据链路层的简单模型</a:t>
            </a:r>
          </a:p>
        </p:txBody>
      </p:sp>
      <p:sp>
        <p:nvSpPr>
          <p:cNvPr id="8195" name="Line 3"/>
          <p:cNvSpPr>
            <a:spLocks noChangeShapeType="1"/>
          </p:cNvSpPr>
          <p:nvPr/>
        </p:nvSpPr>
        <p:spPr bwMode="auto">
          <a:xfrm flipH="1" flipV="1">
            <a:off x="7835900" y="3478213"/>
            <a:ext cx="673100" cy="635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6" name="Line 4"/>
          <p:cNvSpPr>
            <a:spLocks noChangeShapeType="1"/>
          </p:cNvSpPr>
          <p:nvPr/>
        </p:nvSpPr>
        <p:spPr bwMode="auto">
          <a:xfrm flipH="1" flipV="1">
            <a:off x="6743700" y="3173413"/>
            <a:ext cx="635000" cy="2159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7" name="Line 5"/>
          <p:cNvSpPr>
            <a:spLocks noChangeShapeType="1"/>
          </p:cNvSpPr>
          <p:nvPr/>
        </p:nvSpPr>
        <p:spPr bwMode="auto">
          <a:xfrm flipV="1">
            <a:off x="5854700" y="3160713"/>
            <a:ext cx="762000" cy="1524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8" name="Line 6"/>
          <p:cNvSpPr>
            <a:spLocks noChangeShapeType="1"/>
          </p:cNvSpPr>
          <p:nvPr/>
        </p:nvSpPr>
        <p:spPr bwMode="auto">
          <a:xfrm flipV="1">
            <a:off x="4787900" y="3236913"/>
            <a:ext cx="914400" cy="762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9" name="Line 7"/>
          <p:cNvSpPr>
            <a:spLocks noChangeShapeType="1"/>
          </p:cNvSpPr>
          <p:nvPr/>
        </p:nvSpPr>
        <p:spPr bwMode="auto">
          <a:xfrm>
            <a:off x="3721100" y="3313113"/>
            <a:ext cx="9144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0" name="Line 8"/>
          <p:cNvSpPr>
            <a:spLocks noChangeShapeType="1"/>
          </p:cNvSpPr>
          <p:nvPr/>
        </p:nvSpPr>
        <p:spPr bwMode="auto">
          <a:xfrm>
            <a:off x="2578100" y="3084513"/>
            <a:ext cx="914400" cy="2286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1" name="Freeform 9"/>
          <p:cNvSpPr>
            <a:spLocks/>
          </p:cNvSpPr>
          <p:nvPr/>
        </p:nvSpPr>
        <p:spPr bwMode="auto">
          <a:xfrm>
            <a:off x="774700" y="3122613"/>
            <a:ext cx="1752600" cy="508000"/>
          </a:xfrm>
          <a:custGeom>
            <a:avLst/>
            <a:gdLst>
              <a:gd name="T0" fmla="*/ 0 w 1104"/>
              <a:gd name="T1" fmla="*/ 2147483647 h 320"/>
              <a:gd name="T2" fmla="*/ 2147483647 w 1104"/>
              <a:gd name="T3" fmla="*/ 2147483647 h 320"/>
              <a:gd name="T4" fmla="*/ 2147483647 w 1104"/>
              <a:gd name="T5" fmla="*/ 0 h 320"/>
              <a:gd name="T6" fmla="*/ 0 60000 65536"/>
              <a:gd name="T7" fmla="*/ 0 60000 65536"/>
              <a:gd name="T8" fmla="*/ 0 60000 65536"/>
            </a:gdLst>
            <a:ahLst/>
            <a:cxnLst>
              <a:cxn ang="T6">
                <a:pos x="T0" y="T1"/>
              </a:cxn>
              <a:cxn ang="T7">
                <a:pos x="T2" y="T3"/>
              </a:cxn>
              <a:cxn ang="T8">
                <a:pos x="T4" y="T5"/>
              </a:cxn>
            </a:cxnLst>
            <a:rect l="0" t="0" r="r" b="b"/>
            <a:pathLst>
              <a:path w="1104" h="320">
                <a:moveTo>
                  <a:pt x="0" y="320"/>
                </a:moveTo>
                <a:lnTo>
                  <a:pt x="568" y="200"/>
                </a:lnTo>
                <a:lnTo>
                  <a:pt x="1104" y="0"/>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02" name="Group 10"/>
          <p:cNvGrpSpPr>
            <a:grpSpLocks/>
          </p:cNvGrpSpPr>
          <p:nvPr/>
        </p:nvGrpSpPr>
        <p:grpSpPr bwMode="auto">
          <a:xfrm>
            <a:off x="1130300" y="2932113"/>
            <a:ext cx="1128713" cy="781050"/>
            <a:chOff x="1680" y="240"/>
            <a:chExt cx="2529" cy="1270"/>
          </a:xfrm>
        </p:grpSpPr>
        <p:sp>
          <p:nvSpPr>
            <p:cNvPr id="8759" name="Oval 11"/>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60" name="Oval 12"/>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61" name="Oval 13"/>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62" name="Oval 14"/>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63" name="Oval 15"/>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64" name="Oval 16"/>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65" name="Oval 17"/>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66" name="Oval 18"/>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67" name="Oval 19"/>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8203" name="Group 20"/>
          <p:cNvGrpSpPr>
            <a:grpSpLocks/>
          </p:cNvGrpSpPr>
          <p:nvPr/>
        </p:nvGrpSpPr>
        <p:grpSpPr bwMode="auto">
          <a:xfrm>
            <a:off x="3035300" y="2932113"/>
            <a:ext cx="1128713" cy="781050"/>
            <a:chOff x="1680" y="240"/>
            <a:chExt cx="2529" cy="1270"/>
          </a:xfrm>
        </p:grpSpPr>
        <p:sp>
          <p:nvSpPr>
            <p:cNvPr id="8750" name="Oval 21"/>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51" name="Oval 22"/>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52" name="Oval 23"/>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53" name="Oval 24"/>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54" name="Oval 25"/>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55" name="Oval 26"/>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56" name="Oval 27"/>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57" name="Oval 28"/>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58" name="Oval 29"/>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8204" name="Text Box 30"/>
          <p:cNvSpPr txBox="1">
            <a:spLocks noChangeArrowheads="1"/>
          </p:cNvSpPr>
          <p:nvPr/>
        </p:nvSpPr>
        <p:spPr bwMode="auto">
          <a:xfrm>
            <a:off x="3225800" y="312102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局域网</a:t>
            </a:r>
          </a:p>
        </p:txBody>
      </p:sp>
      <p:pic>
        <p:nvPicPr>
          <p:cNvPr id="8205"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8075" y="2963863"/>
            <a:ext cx="441325"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8206"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3100" y="3160713"/>
            <a:ext cx="441325"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8207" name="Picture 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16900" y="3224213"/>
            <a:ext cx="5334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08"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4300" y="3011488"/>
            <a:ext cx="441325"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8209" name="Group 35"/>
          <p:cNvGrpSpPr>
            <a:grpSpLocks/>
          </p:cNvGrpSpPr>
          <p:nvPr/>
        </p:nvGrpSpPr>
        <p:grpSpPr bwMode="auto">
          <a:xfrm>
            <a:off x="5168900" y="2932113"/>
            <a:ext cx="1128713" cy="781050"/>
            <a:chOff x="1680" y="240"/>
            <a:chExt cx="2529" cy="1270"/>
          </a:xfrm>
        </p:grpSpPr>
        <p:sp>
          <p:nvSpPr>
            <p:cNvPr id="8741" name="Oval 36"/>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42" name="Oval 37"/>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43" name="Oval 38"/>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44" name="Oval 39"/>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45" name="Oval 40"/>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46" name="Oval 41"/>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47" name="Oval 42"/>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48" name="Oval 43"/>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49" name="Oval 44"/>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8210" name="Text Box 45"/>
          <p:cNvSpPr txBox="1">
            <a:spLocks noChangeArrowheads="1"/>
          </p:cNvSpPr>
          <p:nvPr/>
        </p:nvSpPr>
        <p:spPr bwMode="auto">
          <a:xfrm>
            <a:off x="5334000" y="312102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广域网</a:t>
            </a:r>
          </a:p>
        </p:txBody>
      </p:sp>
      <p:sp>
        <p:nvSpPr>
          <p:cNvPr id="8211" name="Text Box 46"/>
          <p:cNvSpPr txBox="1">
            <a:spLocks noChangeArrowheads="1"/>
          </p:cNvSpPr>
          <p:nvPr/>
        </p:nvSpPr>
        <p:spPr bwMode="auto">
          <a:xfrm>
            <a:off x="319088" y="2786063"/>
            <a:ext cx="939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主机</a:t>
            </a:r>
            <a:r>
              <a:rPr kumimoji="1" lang="zh-CN" altLang="en-US" sz="1400">
                <a:solidFill>
                  <a:srgbClr val="333399"/>
                </a:solidFill>
                <a:latin typeface="Arial" pitchFamily="34" charset="0"/>
                <a:ea typeface="黑体" pitchFamily="49" charset="-122"/>
              </a:rPr>
              <a:t> </a:t>
            </a:r>
            <a:r>
              <a:rPr kumimoji="1" lang="en-US" altLang="zh-CN" sz="1800" b="1">
                <a:solidFill>
                  <a:srgbClr val="333399"/>
                </a:solidFill>
                <a:latin typeface="Arial" pitchFamily="34" charset="0"/>
                <a:ea typeface="黑体" pitchFamily="49" charset="-122"/>
              </a:rPr>
              <a:t>H</a:t>
            </a:r>
            <a:r>
              <a:rPr kumimoji="1" lang="en-US" altLang="zh-CN" sz="1800" b="1" baseline="-25000">
                <a:solidFill>
                  <a:srgbClr val="333399"/>
                </a:solidFill>
                <a:latin typeface="Arial" pitchFamily="34" charset="0"/>
                <a:ea typeface="黑体" pitchFamily="49" charset="-122"/>
              </a:rPr>
              <a:t>1</a:t>
            </a:r>
          </a:p>
        </p:txBody>
      </p:sp>
      <p:sp>
        <p:nvSpPr>
          <p:cNvPr id="8212" name="Text Box 47"/>
          <p:cNvSpPr txBox="1">
            <a:spLocks noChangeArrowheads="1"/>
          </p:cNvSpPr>
          <p:nvPr/>
        </p:nvSpPr>
        <p:spPr bwMode="auto">
          <a:xfrm>
            <a:off x="8024813" y="2905125"/>
            <a:ext cx="93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主机</a:t>
            </a:r>
            <a:r>
              <a:rPr kumimoji="1" lang="zh-CN" altLang="en-US" sz="1400" b="1">
                <a:solidFill>
                  <a:srgbClr val="333399"/>
                </a:solidFill>
                <a:latin typeface="Arial" pitchFamily="34" charset="0"/>
                <a:ea typeface="黑体" pitchFamily="49" charset="-122"/>
              </a:rPr>
              <a:t> </a:t>
            </a:r>
            <a:r>
              <a:rPr kumimoji="1" lang="en-US" altLang="zh-CN" sz="1800" b="1">
                <a:solidFill>
                  <a:srgbClr val="333399"/>
                </a:solidFill>
                <a:latin typeface="Arial" pitchFamily="34" charset="0"/>
                <a:ea typeface="黑体" pitchFamily="49" charset="-122"/>
              </a:rPr>
              <a:t>H</a:t>
            </a:r>
            <a:r>
              <a:rPr kumimoji="1" lang="en-US" altLang="zh-CN" sz="1800" b="1" baseline="-25000">
                <a:solidFill>
                  <a:srgbClr val="333399"/>
                </a:solidFill>
                <a:latin typeface="Arial" pitchFamily="34" charset="0"/>
                <a:ea typeface="黑体" pitchFamily="49" charset="-122"/>
              </a:rPr>
              <a:t>2</a:t>
            </a:r>
          </a:p>
        </p:txBody>
      </p:sp>
      <p:sp>
        <p:nvSpPr>
          <p:cNvPr id="8213" name="Text Box 48"/>
          <p:cNvSpPr txBox="1">
            <a:spLocks noChangeArrowheads="1"/>
          </p:cNvSpPr>
          <p:nvPr/>
        </p:nvSpPr>
        <p:spPr bwMode="auto">
          <a:xfrm>
            <a:off x="2047875" y="2601913"/>
            <a:ext cx="11509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路由器</a:t>
            </a:r>
            <a:r>
              <a:rPr kumimoji="1" lang="zh-CN" altLang="en-US" sz="900">
                <a:solidFill>
                  <a:srgbClr val="333399"/>
                </a:solidFill>
                <a:latin typeface="Arial" pitchFamily="34" charset="0"/>
                <a:ea typeface="黑体" pitchFamily="49" charset="-122"/>
              </a:rPr>
              <a:t> </a:t>
            </a:r>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1</a:t>
            </a:r>
          </a:p>
        </p:txBody>
      </p:sp>
      <p:sp>
        <p:nvSpPr>
          <p:cNvPr id="8214" name="Text Box 49"/>
          <p:cNvSpPr txBox="1">
            <a:spLocks noChangeArrowheads="1"/>
          </p:cNvSpPr>
          <p:nvPr/>
        </p:nvSpPr>
        <p:spPr bwMode="auto">
          <a:xfrm>
            <a:off x="4206875" y="2798763"/>
            <a:ext cx="11509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路由器</a:t>
            </a:r>
            <a:r>
              <a:rPr kumimoji="1" lang="zh-CN" altLang="en-US" sz="900" b="1">
                <a:solidFill>
                  <a:srgbClr val="333399"/>
                </a:solidFill>
                <a:latin typeface="Arial" pitchFamily="34" charset="0"/>
                <a:ea typeface="黑体" pitchFamily="49" charset="-122"/>
              </a:rPr>
              <a:t> </a:t>
            </a:r>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2</a:t>
            </a:r>
          </a:p>
        </p:txBody>
      </p:sp>
      <p:sp>
        <p:nvSpPr>
          <p:cNvPr id="8215" name="Text Box 50"/>
          <p:cNvSpPr txBox="1">
            <a:spLocks noChangeArrowheads="1"/>
          </p:cNvSpPr>
          <p:nvPr/>
        </p:nvSpPr>
        <p:spPr bwMode="auto">
          <a:xfrm>
            <a:off x="6151563" y="2659063"/>
            <a:ext cx="11509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路由器</a:t>
            </a:r>
            <a:r>
              <a:rPr kumimoji="1" lang="zh-CN" altLang="en-US" sz="900" b="1">
                <a:solidFill>
                  <a:srgbClr val="333399"/>
                </a:solidFill>
                <a:latin typeface="Arial" pitchFamily="34" charset="0"/>
                <a:ea typeface="黑体" pitchFamily="49" charset="-122"/>
              </a:rPr>
              <a:t> </a:t>
            </a:r>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3</a:t>
            </a:r>
          </a:p>
        </p:txBody>
      </p:sp>
      <p:sp>
        <p:nvSpPr>
          <p:cNvPr id="8216" name="Text Box 51"/>
          <p:cNvSpPr txBox="1">
            <a:spLocks noChangeArrowheads="1"/>
          </p:cNvSpPr>
          <p:nvPr/>
        </p:nvSpPr>
        <p:spPr bwMode="auto">
          <a:xfrm>
            <a:off x="1282700" y="313372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电话网</a:t>
            </a:r>
          </a:p>
        </p:txBody>
      </p:sp>
      <p:grpSp>
        <p:nvGrpSpPr>
          <p:cNvPr id="8217" name="Group 53"/>
          <p:cNvGrpSpPr>
            <a:grpSpLocks/>
          </p:cNvGrpSpPr>
          <p:nvPr/>
        </p:nvGrpSpPr>
        <p:grpSpPr bwMode="auto">
          <a:xfrm>
            <a:off x="368300" y="3160713"/>
            <a:ext cx="665163" cy="546100"/>
            <a:chOff x="624" y="2968"/>
            <a:chExt cx="1331" cy="920"/>
          </a:xfrm>
        </p:grpSpPr>
        <p:sp>
          <p:nvSpPr>
            <p:cNvPr id="8289" name="Freeform 54"/>
            <p:cNvSpPr>
              <a:spLocks/>
            </p:cNvSpPr>
            <p:nvPr/>
          </p:nvSpPr>
          <p:spPr bwMode="auto">
            <a:xfrm>
              <a:off x="1238" y="2968"/>
              <a:ext cx="713" cy="770"/>
            </a:xfrm>
            <a:custGeom>
              <a:avLst/>
              <a:gdLst>
                <a:gd name="T0" fmla="*/ 31 w 1426"/>
                <a:gd name="T1" fmla="*/ 9 h 2309"/>
                <a:gd name="T2" fmla="*/ 31 w 1426"/>
                <a:gd name="T3" fmla="*/ 10 h 2309"/>
                <a:gd name="T4" fmla="*/ 0 w 1426"/>
                <a:gd name="T5" fmla="*/ 6 h 2309"/>
                <a:gd name="T6" fmla="*/ 11 w 1426"/>
                <a:gd name="T7" fmla="*/ 0 h 2309"/>
                <a:gd name="T8" fmla="*/ 12 w 1426"/>
                <a:gd name="T9" fmla="*/ 0 h 2309"/>
                <a:gd name="T10" fmla="*/ 13 w 1426"/>
                <a:gd name="T11" fmla="*/ 0 h 2309"/>
                <a:gd name="T12" fmla="*/ 15 w 1426"/>
                <a:gd name="T13" fmla="*/ 0 h 2309"/>
                <a:gd name="T14" fmla="*/ 44 w 1426"/>
                <a:gd name="T15" fmla="*/ 2 h 2309"/>
                <a:gd name="T16" fmla="*/ 45 w 1426"/>
                <a:gd name="T17" fmla="*/ 2 h 2309"/>
                <a:gd name="T18" fmla="*/ 45 w 1426"/>
                <a:gd name="T19" fmla="*/ 2 h 2309"/>
                <a:gd name="T20" fmla="*/ 45 w 1426"/>
                <a:gd name="T21" fmla="*/ 2 h 2309"/>
                <a:gd name="T22" fmla="*/ 32 w 1426"/>
                <a:gd name="T23" fmla="*/ 9 h 2309"/>
                <a:gd name="T24" fmla="*/ 31 w 1426"/>
                <a:gd name="T25" fmla="*/ 9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90" name="Freeform 55"/>
            <p:cNvSpPr>
              <a:spLocks/>
            </p:cNvSpPr>
            <p:nvPr/>
          </p:nvSpPr>
          <p:spPr bwMode="auto">
            <a:xfrm>
              <a:off x="1668" y="3087"/>
              <a:ext cx="286" cy="660"/>
            </a:xfrm>
            <a:custGeom>
              <a:avLst/>
              <a:gdLst>
                <a:gd name="T0" fmla="*/ 17 w 573"/>
                <a:gd name="T1" fmla="*/ 0 h 1980"/>
                <a:gd name="T2" fmla="*/ 17 w 573"/>
                <a:gd name="T3" fmla="*/ 1 h 1980"/>
                <a:gd name="T4" fmla="*/ 4 w 573"/>
                <a:gd name="T5" fmla="*/ 8 h 1980"/>
                <a:gd name="T6" fmla="*/ 4 w 573"/>
                <a:gd name="T7" fmla="*/ 8 h 1980"/>
                <a:gd name="T8" fmla="*/ 4 w 573"/>
                <a:gd name="T9" fmla="*/ 8 h 1980"/>
                <a:gd name="T10" fmla="*/ 3 w 573"/>
                <a:gd name="T11" fmla="*/ 8 h 1980"/>
                <a:gd name="T12" fmla="*/ 3 w 573"/>
                <a:gd name="T13" fmla="*/ 8 h 1980"/>
                <a:gd name="T14" fmla="*/ 2 w 573"/>
                <a:gd name="T15" fmla="*/ 8 h 1980"/>
                <a:gd name="T16" fmla="*/ 0 w 573"/>
                <a:gd name="T17" fmla="*/ 8 h 1980"/>
                <a:gd name="T18" fmla="*/ 13 w 573"/>
                <a:gd name="T19" fmla="*/ 0 h 1980"/>
                <a:gd name="T20" fmla="*/ 13 w 573"/>
                <a:gd name="T21" fmla="*/ 0 h 1980"/>
                <a:gd name="T22" fmla="*/ 12 w 573"/>
                <a:gd name="T23" fmla="*/ 0 h 1980"/>
                <a:gd name="T24" fmla="*/ 13 w 573"/>
                <a:gd name="T25" fmla="*/ 0 h 1980"/>
                <a:gd name="T26" fmla="*/ 16 w 573"/>
                <a:gd name="T27" fmla="*/ 0 h 1980"/>
                <a:gd name="T28" fmla="*/ 17 w 573"/>
                <a:gd name="T29" fmla="*/ 0 h 1980"/>
                <a:gd name="T30" fmla="*/ 17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8291" name="Freeform 56"/>
            <p:cNvSpPr>
              <a:spLocks/>
            </p:cNvSpPr>
            <p:nvPr/>
          </p:nvSpPr>
          <p:spPr bwMode="auto">
            <a:xfrm>
              <a:off x="1432" y="2970"/>
              <a:ext cx="523" cy="147"/>
            </a:xfrm>
            <a:custGeom>
              <a:avLst/>
              <a:gdLst>
                <a:gd name="T0" fmla="*/ 0 w 1045"/>
                <a:gd name="T1" fmla="*/ 0 h 441"/>
                <a:gd name="T2" fmla="*/ 1 w 1045"/>
                <a:gd name="T3" fmla="*/ 0 h 441"/>
                <a:gd name="T4" fmla="*/ 2 w 1045"/>
                <a:gd name="T5" fmla="*/ 0 h 441"/>
                <a:gd name="T6" fmla="*/ 32 w 1045"/>
                <a:gd name="T7" fmla="*/ 2 h 441"/>
                <a:gd name="T8" fmla="*/ 33 w 1045"/>
                <a:gd name="T9" fmla="*/ 2 h 441"/>
                <a:gd name="T10" fmla="*/ 33 w 1045"/>
                <a:gd name="T11" fmla="*/ 2 h 441"/>
                <a:gd name="T12" fmla="*/ 0 w 1045"/>
                <a:gd name="T13" fmla="*/ 0 h 4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8292" name="Freeform 57"/>
            <p:cNvSpPr>
              <a:spLocks/>
            </p:cNvSpPr>
            <p:nvPr/>
          </p:nvSpPr>
          <p:spPr bwMode="auto">
            <a:xfrm>
              <a:off x="1315" y="3056"/>
              <a:ext cx="478" cy="573"/>
            </a:xfrm>
            <a:custGeom>
              <a:avLst/>
              <a:gdLst>
                <a:gd name="T0" fmla="*/ 20 w 955"/>
                <a:gd name="T1" fmla="*/ 7 h 1719"/>
                <a:gd name="T2" fmla="*/ 0 w 955"/>
                <a:gd name="T3" fmla="*/ 5 h 1719"/>
                <a:gd name="T4" fmla="*/ 10 w 955"/>
                <a:gd name="T5" fmla="*/ 0 h 1719"/>
                <a:gd name="T6" fmla="*/ 30 w 955"/>
                <a:gd name="T7" fmla="*/ 1 h 1719"/>
                <a:gd name="T8" fmla="*/ 20 w 955"/>
                <a:gd name="T9" fmla="*/ 7 h 17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a:p>
          </p:txBody>
        </p:sp>
        <p:sp>
          <p:nvSpPr>
            <p:cNvPr id="8293" name="Freeform 58"/>
            <p:cNvSpPr>
              <a:spLocks/>
            </p:cNvSpPr>
            <p:nvPr/>
          </p:nvSpPr>
          <p:spPr bwMode="auto">
            <a:xfrm>
              <a:off x="1337" y="3076"/>
              <a:ext cx="431" cy="529"/>
            </a:xfrm>
            <a:custGeom>
              <a:avLst/>
              <a:gdLst>
                <a:gd name="T0" fmla="*/ 18 w 862"/>
                <a:gd name="T1" fmla="*/ 7 h 1587"/>
                <a:gd name="T2" fmla="*/ 0 w 862"/>
                <a:gd name="T3" fmla="*/ 5 h 1587"/>
                <a:gd name="T4" fmla="*/ 9 w 862"/>
                <a:gd name="T5" fmla="*/ 0 h 1587"/>
                <a:gd name="T6" fmla="*/ 27 w 862"/>
                <a:gd name="T7" fmla="*/ 1 h 1587"/>
                <a:gd name="T8" fmla="*/ 18 w 862"/>
                <a:gd name="T9" fmla="*/ 7 h 1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a:p>
          </p:txBody>
        </p:sp>
        <p:sp>
          <p:nvSpPr>
            <p:cNvPr id="8294" name="Freeform 59"/>
            <p:cNvSpPr>
              <a:spLocks/>
            </p:cNvSpPr>
            <p:nvPr/>
          </p:nvSpPr>
          <p:spPr bwMode="auto">
            <a:xfrm>
              <a:off x="1233" y="2968"/>
              <a:ext cx="203" cy="494"/>
            </a:xfrm>
            <a:custGeom>
              <a:avLst/>
              <a:gdLst>
                <a:gd name="T0" fmla="*/ 12 w 408"/>
                <a:gd name="T1" fmla="*/ 0 h 1480"/>
                <a:gd name="T2" fmla="*/ 11 w 408"/>
                <a:gd name="T3" fmla="*/ 0 h 1480"/>
                <a:gd name="T4" fmla="*/ 11 w 408"/>
                <a:gd name="T5" fmla="*/ 0 h 1480"/>
                <a:gd name="T6" fmla="*/ 10 w 408"/>
                <a:gd name="T7" fmla="*/ 0 h 1480"/>
                <a:gd name="T8" fmla="*/ 10 w 408"/>
                <a:gd name="T9" fmla="*/ 0 h 1480"/>
                <a:gd name="T10" fmla="*/ 9 w 408"/>
                <a:gd name="T11" fmla="*/ 0 h 1480"/>
                <a:gd name="T12" fmla="*/ 0 w 408"/>
                <a:gd name="T13" fmla="*/ 6 h 1480"/>
                <a:gd name="T14" fmla="*/ 0 w 408"/>
                <a:gd name="T15" fmla="*/ 6 h 1480"/>
                <a:gd name="T16" fmla="*/ 10 w 408"/>
                <a:gd name="T17" fmla="*/ 0 h 1480"/>
                <a:gd name="T18" fmla="*/ 10 w 408"/>
                <a:gd name="T19" fmla="*/ 0 h 1480"/>
                <a:gd name="T20" fmla="*/ 11 w 408"/>
                <a:gd name="T21" fmla="*/ 0 h 1480"/>
                <a:gd name="T22" fmla="*/ 11 w 408"/>
                <a:gd name="T23" fmla="*/ 0 h 1480"/>
                <a:gd name="T24" fmla="*/ 11 w 408"/>
                <a:gd name="T25" fmla="*/ 0 h 1480"/>
                <a:gd name="T26" fmla="*/ 12 w 408"/>
                <a:gd name="T27" fmla="*/ 0 h 1480"/>
                <a:gd name="T28" fmla="*/ 12 w 408"/>
                <a:gd name="T29" fmla="*/ 0 h 1480"/>
                <a:gd name="T30" fmla="*/ 12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95" name="Freeform 60"/>
            <p:cNvSpPr>
              <a:spLocks/>
            </p:cNvSpPr>
            <p:nvPr/>
          </p:nvSpPr>
          <p:spPr bwMode="auto">
            <a:xfrm>
              <a:off x="1204" y="3479"/>
              <a:ext cx="532" cy="321"/>
            </a:xfrm>
            <a:custGeom>
              <a:avLst/>
              <a:gdLst>
                <a:gd name="T0" fmla="*/ 33 w 1065"/>
                <a:gd name="T1" fmla="*/ 4 h 963"/>
                <a:gd name="T2" fmla="*/ 32 w 1065"/>
                <a:gd name="T3" fmla="*/ 3 h 963"/>
                <a:gd name="T4" fmla="*/ 31 w 1065"/>
                <a:gd name="T5" fmla="*/ 3 h 963"/>
                <a:gd name="T6" fmla="*/ 4 w 1065"/>
                <a:gd name="T7" fmla="*/ 0 h 963"/>
                <a:gd name="T8" fmla="*/ 3 w 1065"/>
                <a:gd name="T9" fmla="*/ 0 h 963"/>
                <a:gd name="T10" fmla="*/ 1 w 1065"/>
                <a:gd name="T11" fmla="*/ 0 h 963"/>
                <a:gd name="T12" fmla="*/ 1 w 1065"/>
                <a:gd name="T13" fmla="*/ 0 h 963"/>
                <a:gd name="T14" fmla="*/ 0 w 1065"/>
                <a:gd name="T15" fmla="*/ 1 h 963"/>
                <a:gd name="T16" fmla="*/ 27 w 1065"/>
                <a:gd name="T17" fmla="*/ 4 h 963"/>
                <a:gd name="T18" fmla="*/ 33 w 1065"/>
                <a:gd name="T19" fmla="*/ 4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96" name="Freeform 61"/>
            <p:cNvSpPr>
              <a:spLocks/>
            </p:cNvSpPr>
            <p:nvPr/>
          </p:nvSpPr>
          <p:spPr bwMode="auto">
            <a:xfrm>
              <a:off x="642" y="3519"/>
              <a:ext cx="985" cy="288"/>
            </a:xfrm>
            <a:custGeom>
              <a:avLst/>
              <a:gdLst>
                <a:gd name="T0" fmla="*/ 0 w 1969"/>
                <a:gd name="T1" fmla="*/ 0 h 862"/>
                <a:gd name="T2" fmla="*/ 36 w 1969"/>
                <a:gd name="T3" fmla="*/ 0 h 862"/>
                <a:gd name="T4" fmla="*/ 62 w 1969"/>
                <a:gd name="T5" fmla="*/ 3 h 862"/>
                <a:gd name="T6" fmla="*/ 15 w 1969"/>
                <a:gd name="T7" fmla="*/ 4 h 862"/>
                <a:gd name="T8" fmla="*/ 0 w 1969"/>
                <a:gd name="T9" fmla="*/ 0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97" name="Freeform 62"/>
            <p:cNvSpPr>
              <a:spLocks/>
            </p:cNvSpPr>
            <p:nvPr/>
          </p:nvSpPr>
          <p:spPr bwMode="auto">
            <a:xfrm>
              <a:off x="852" y="3789"/>
              <a:ext cx="889" cy="99"/>
            </a:xfrm>
            <a:custGeom>
              <a:avLst/>
              <a:gdLst>
                <a:gd name="T0" fmla="*/ 2 w 1777"/>
                <a:gd name="T1" fmla="*/ 0 h 297"/>
                <a:gd name="T2" fmla="*/ 0 w 1777"/>
                <a:gd name="T3" fmla="*/ 1 h 297"/>
                <a:gd name="T4" fmla="*/ 55 w 1777"/>
                <a:gd name="T5" fmla="*/ 1 h 297"/>
                <a:gd name="T6" fmla="*/ 56 w 1777"/>
                <a:gd name="T7" fmla="*/ 1 h 297"/>
                <a:gd name="T8" fmla="*/ 56 w 1777"/>
                <a:gd name="T9" fmla="*/ 0 h 297"/>
                <a:gd name="T10" fmla="*/ 56 w 1777"/>
                <a:gd name="T11" fmla="*/ 0 h 297"/>
                <a:gd name="T12" fmla="*/ 2 w 1777"/>
                <a:gd name="T13" fmla="*/ 0 h 2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98" name="Freeform 63"/>
            <p:cNvSpPr>
              <a:spLocks/>
            </p:cNvSpPr>
            <p:nvPr/>
          </p:nvSpPr>
          <p:spPr bwMode="auto">
            <a:xfrm>
              <a:off x="624" y="3519"/>
              <a:ext cx="256" cy="369"/>
            </a:xfrm>
            <a:custGeom>
              <a:avLst/>
              <a:gdLst>
                <a:gd name="T0" fmla="*/ 1 w 513"/>
                <a:gd name="T1" fmla="*/ 0 h 1106"/>
                <a:gd name="T2" fmla="*/ 0 w 513"/>
                <a:gd name="T3" fmla="*/ 1 h 1106"/>
                <a:gd name="T4" fmla="*/ 14 w 513"/>
                <a:gd name="T5" fmla="*/ 5 h 1106"/>
                <a:gd name="T6" fmla="*/ 16 w 513"/>
                <a:gd name="T7" fmla="*/ 4 h 1106"/>
                <a:gd name="T8" fmla="*/ 1 w 513"/>
                <a:gd name="T9" fmla="*/ 0 h 1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99" name="Freeform 64"/>
            <p:cNvSpPr>
              <a:spLocks/>
            </p:cNvSpPr>
            <p:nvPr/>
          </p:nvSpPr>
          <p:spPr bwMode="auto">
            <a:xfrm>
              <a:off x="1206" y="3791"/>
              <a:ext cx="132" cy="8"/>
            </a:xfrm>
            <a:custGeom>
              <a:avLst/>
              <a:gdLst>
                <a:gd name="T0" fmla="*/ 1 w 262"/>
                <a:gd name="T1" fmla="*/ 0 h 25"/>
                <a:gd name="T2" fmla="*/ 0 w 262"/>
                <a:gd name="T3" fmla="*/ 0 h 25"/>
                <a:gd name="T4" fmla="*/ 8 w 262"/>
                <a:gd name="T5" fmla="*/ 0 h 25"/>
                <a:gd name="T6" fmla="*/ 9 w 262"/>
                <a:gd name="T7" fmla="*/ 0 h 25"/>
                <a:gd name="T8" fmla="*/ 1 w 262"/>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00" name="Freeform 65"/>
            <p:cNvSpPr>
              <a:spLocks/>
            </p:cNvSpPr>
            <p:nvPr/>
          </p:nvSpPr>
          <p:spPr bwMode="auto">
            <a:xfrm>
              <a:off x="927" y="3521"/>
              <a:ext cx="281" cy="279"/>
            </a:xfrm>
            <a:custGeom>
              <a:avLst/>
              <a:gdLst>
                <a:gd name="T0" fmla="*/ 18 w 561"/>
                <a:gd name="T1" fmla="*/ 3 h 836"/>
                <a:gd name="T2" fmla="*/ 0 w 561"/>
                <a:gd name="T3" fmla="*/ 0 h 836"/>
                <a:gd name="T4" fmla="*/ 18 w 561"/>
                <a:gd name="T5" fmla="*/ 3 h 836"/>
                <a:gd name="T6" fmla="*/ 18 w 561"/>
                <a:gd name="T7" fmla="*/ 3 h 8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301" name="Group 66"/>
            <p:cNvGrpSpPr>
              <a:grpSpLocks/>
            </p:cNvGrpSpPr>
            <p:nvPr/>
          </p:nvGrpSpPr>
          <p:grpSpPr bwMode="auto">
            <a:xfrm>
              <a:off x="700" y="3526"/>
              <a:ext cx="515" cy="270"/>
              <a:chOff x="700" y="3526"/>
              <a:chExt cx="515" cy="270"/>
            </a:xfrm>
          </p:grpSpPr>
          <p:grpSp>
            <p:nvGrpSpPr>
              <p:cNvPr id="8327" name="Group 67"/>
              <p:cNvGrpSpPr>
                <a:grpSpLocks/>
              </p:cNvGrpSpPr>
              <p:nvPr/>
            </p:nvGrpSpPr>
            <p:grpSpPr bwMode="auto">
              <a:xfrm>
                <a:off x="737" y="3534"/>
                <a:ext cx="49" cy="23"/>
                <a:chOff x="737" y="3534"/>
                <a:chExt cx="49" cy="23"/>
              </a:xfrm>
            </p:grpSpPr>
            <p:sp>
              <p:nvSpPr>
                <p:cNvPr id="8738" name="Freeform 68"/>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39" name="Freeform 69"/>
                <p:cNvSpPr>
                  <a:spLocks/>
                </p:cNvSpPr>
                <p:nvPr/>
              </p:nvSpPr>
              <p:spPr bwMode="auto">
                <a:xfrm>
                  <a:off x="742" y="3535"/>
                  <a:ext cx="36" cy="9"/>
                </a:xfrm>
                <a:custGeom>
                  <a:avLst/>
                  <a:gdLst>
                    <a:gd name="T0" fmla="*/ 0 w 73"/>
                    <a:gd name="T1" fmla="*/ 0 h 29"/>
                    <a:gd name="T2" fmla="*/ 1 w 73"/>
                    <a:gd name="T3" fmla="*/ 0 h 29"/>
                    <a:gd name="T4" fmla="*/ 1 w 73"/>
                    <a:gd name="T5" fmla="*/ 0 h 29"/>
                    <a:gd name="T6" fmla="*/ 1 w 73"/>
                    <a:gd name="T7" fmla="*/ 0 h 29"/>
                    <a:gd name="T8" fmla="*/ 2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40" name="Freeform 70"/>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3 w 82"/>
                    <a:gd name="T9" fmla="*/ 0 h 35"/>
                    <a:gd name="T10" fmla="*/ 3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28" name="Group 71"/>
              <p:cNvGrpSpPr>
                <a:grpSpLocks/>
              </p:cNvGrpSpPr>
              <p:nvPr/>
            </p:nvGrpSpPr>
            <p:grpSpPr bwMode="auto">
              <a:xfrm>
                <a:off x="748" y="3547"/>
                <a:ext cx="50" cy="23"/>
                <a:chOff x="748" y="3547"/>
                <a:chExt cx="50" cy="23"/>
              </a:xfrm>
            </p:grpSpPr>
            <p:sp>
              <p:nvSpPr>
                <p:cNvPr id="8735" name="Freeform 72"/>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36" name="Freeform 73"/>
                <p:cNvSpPr>
                  <a:spLocks/>
                </p:cNvSpPr>
                <p:nvPr/>
              </p:nvSpPr>
              <p:spPr bwMode="auto">
                <a:xfrm>
                  <a:off x="753" y="3548"/>
                  <a:ext cx="37" cy="10"/>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37" name="Freeform 74"/>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329" name="Freeform 75"/>
              <p:cNvSpPr>
                <a:spLocks/>
              </p:cNvSpPr>
              <p:nvPr/>
            </p:nvSpPr>
            <p:spPr bwMode="auto">
              <a:xfrm>
                <a:off x="952" y="3538"/>
                <a:ext cx="39" cy="12"/>
              </a:xfrm>
              <a:custGeom>
                <a:avLst/>
                <a:gdLst>
                  <a:gd name="T0" fmla="*/ 0 w 79"/>
                  <a:gd name="T1" fmla="*/ 0 h 36"/>
                  <a:gd name="T2" fmla="*/ 0 w 79"/>
                  <a:gd name="T3" fmla="*/ 0 h 36"/>
                  <a:gd name="T4" fmla="*/ 2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30" name="Freeform 76"/>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31" name="Freeform 77"/>
              <p:cNvSpPr>
                <a:spLocks/>
              </p:cNvSpPr>
              <p:nvPr/>
            </p:nvSpPr>
            <p:spPr bwMode="auto">
              <a:xfrm>
                <a:off x="867" y="3535"/>
                <a:ext cx="34" cy="10"/>
              </a:xfrm>
              <a:custGeom>
                <a:avLst/>
                <a:gdLst>
                  <a:gd name="T0" fmla="*/ 0 w 70"/>
                  <a:gd name="T1" fmla="*/ 0 h 30"/>
                  <a:gd name="T2" fmla="*/ 1 w 70"/>
                  <a:gd name="T3" fmla="*/ 0 h 30"/>
                  <a:gd name="T4" fmla="*/ 1 w 70"/>
                  <a:gd name="T5" fmla="*/ 0 h 30"/>
                  <a:gd name="T6" fmla="*/ 1 w 70"/>
                  <a:gd name="T7" fmla="*/ 0 h 30"/>
                  <a:gd name="T8" fmla="*/ 2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32" name="Freeform 78"/>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333" name="Group 79"/>
              <p:cNvGrpSpPr>
                <a:grpSpLocks/>
              </p:cNvGrpSpPr>
              <p:nvPr/>
            </p:nvGrpSpPr>
            <p:grpSpPr bwMode="auto">
              <a:xfrm>
                <a:off x="872" y="3547"/>
                <a:ext cx="50" cy="23"/>
                <a:chOff x="872" y="3547"/>
                <a:chExt cx="50" cy="23"/>
              </a:xfrm>
            </p:grpSpPr>
            <p:sp>
              <p:nvSpPr>
                <p:cNvPr id="8732" name="Freeform 80"/>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33" name="Freeform 81"/>
                <p:cNvSpPr>
                  <a:spLocks/>
                </p:cNvSpPr>
                <p:nvPr/>
              </p:nvSpPr>
              <p:spPr bwMode="auto">
                <a:xfrm>
                  <a:off x="878" y="3547"/>
                  <a:ext cx="36" cy="10"/>
                </a:xfrm>
                <a:custGeom>
                  <a:avLst/>
                  <a:gdLst>
                    <a:gd name="T0" fmla="*/ 0 w 73"/>
                    <a:gd name="T1" fmla="*/ 0 h 30"/>
                    <a:gd name="T2" fmla="*/ 1 w 73"/>
                    <a:gd name="T3" fmla="*/ 0 h 30"/>
                    <a:gd name="T4" fmla="*/ 1 w 73"/>
                    <a:gd name="T5" fmla="*/ 0 h 30"/>
                    <a:gd name="T6" fmla="*/ 1 w 73"/>
                    <a:gd name="T7" fmla="*/ 0 h 30"/>
                    <a:gd name="T8" fmla="*/ 2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34" name="Freeform 82"/>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34" name="Group 83"/>
              <p:cNvGrpSpPr>
                <a:grpSpLocks/>
              </p:cNvGrpSpPr>
              <p:nvPr/>
            </p:nvGrpSpPr>
            <p:grpSpPr bwMode="auto">
              <a:xfrm>
                <a:off x="885" y="3559"/>
                <a:ext cx="50" cy="23"/>
                <a:chOff x="885" y="3559"/>
                <a:chExt cx="50" cy="23"/>
              </a:xfrm>
            </p:grpSpPr>
            <p:sp>
              <p:nvSpPr>
                <p:cNvPr id="8729" name="Freeform 84"/>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30" name="Freeform 85"/>
                <p:cNvSpPr>
                  <a:spLocks/>
                </p:cNvSpPr>
                <p:nvPr/>
              </p:nvSpPr>
              <p:spPr bwMode="auto">
                <a:xfrm>
                  <a:off x="890" y="3560"/>
                  <a:ext cx="37" cy="10"/>
                </a:xfrm>
                <a:custGeom>
                  <a:avLst/>
                  <a:gdLst>
                    <a:gd name="T0" fmla="*/ 1 w 74"/>
                    <a:gd name="T1" fmla="*/ 0 h 30"/>
                    <a:gd name="T2" fmla="*/ 2 w 74"/>
                    <a:gd name="T3" fmla="*/ 0 h 30"/>
                    <a:gd name="T4" fmla="*/ 2 w 74"/>
                    <a:gd name="T5" fmla="*/ 0 h 30"/>
                    <a:gd name="T6" fmla="*/ 2 w 74"/>
                    <a:gd name="T7" fmla="*/ 0 h 30"/>
                    <a:gd name="T8" fmla="*/ 3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31" name="Freeform 86"/>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35" name="Group 87"/>
              <p:cNvGrpSpPr>
                <a:grpSpLocks/>
              </p:cNvGrpSpPr>
              <p:nvPr/>
            </p:nvGrpSpPr>
            <p:grpSpPr bwMode="auto">
              <a:xfrm>
                <a:off x="898" y="3571"/>
                <a:ext cx="49" cy="23"/>
                <a:chOff x="898" y="3571"/>
                <a:chExt cx="49" cy="23"/>
              </a:xfrm>
            </p:grpSpPr>
            <p:sp>
              <p:nvSpPr>
                <p:cNvPr id="8726" name="Freeform 88"/>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27" name="Freeform 89"/>
                <p:cNvSpPr>
                  <a:spLocks/>
                </p:cNvSpPr>
                <p:nvPr/>
              </p:nvSpPr>
              <p:spPr bwMode="auto">
                <a:xfrm>
                  <a:off x="903" y="3572"/>
                  <a:ext cx="37" cy="10"/>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28" name="Freeform 90"/>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36" name="Group 91"/>
              <p:cNvGrpSpPr>
                <a:grpSpLocks/>
              </p:cNvGrpSpPr>
              <p:nvPr/>
            </p:nvGrpSpPr>
            <p:grpSpPr bwMode="auto">
              <a:xfrm>
                <a:off x="911" y="3585"/>
                <a:ext cx="49" cy="23"/>
                <a:chOff x="911" y="3585"/>
                <a:chExt cx="49" cy="23"/>
              </a:xfrm>
            </p:grpSpPr>
            <p:sp>
              <p:nvSpPr>
                <p:cNvPr id="8723" name="Freeform 92"/>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24" name="Freeform 93"/>
                <p:cNvSpPr>
                  <a:spLocks/>
                </p:cNvSpPr>
                <p:nvPr/>
              </p:nvSpPr>
              <p:spPr bwMode="auto">
                <a:xfrm>
                  <a:off x="915" y="3585"/>
                  <a:ext cx="38" cy="10"/>
                </a:xfrm>
                <a:custGeom>
                  <a:avLst/>
                  <a:gdLst>
                    <a:gd name="T0" fmla="*/ 1 w 75"/>
                    <a:gd name="T1" fmla="*/ 0 h 30"/>
                    <a:gd name="T2" fmla="*/ 2 w 75"/>
                    <a:gd name="T3" fmla="*/ 0 h 30"/>
                    <a:gd name="T4" fmla="*/ 2 w 75"/>
                    <a:gd name="T5" fmla="*/ 0 h 30"/>
                    <a:gd name="T6" fmla="*/ 2 w 75"/>
                    <a:gd name="T7" fmla="*/ 0 h 30"/>
                    <a:gd name="T8" fmla="*/ 3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25" name="Freeform 94"/>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37" name="Group 95"/>
              <p:cNvGrpSpPr>
                <a:grpSpLocks/>
              </p:cNvGrpSpPr>
              <p:nvPr/>
            </p:nvGrpSpPr>
            <p:grpSpPr bwMode="auto">
              <a:xfrm>
                <a:off x="923" y="3600"/>
                <a:ext cx="99" cy="73"/>
                <a:chOff x="923" y="3600"/>
                <a:chExt cx="99" cy="73"/>
              </a:xfrm>
            </p:grpSpPr>
            <p:grpSp>
              <p:nvGrpSpPr>
                <p:cNvPr id="8703" name="Group 96"/>
                <p:cNvGrpSpPr>
                  <a:grpSpLocks/>
                </p:cNvGrpSpPr>
                <p:nvPr/>
              </p:nvGrpSpPr>
              <p:grpSpPr bwMode="auto">
                <a:xfrm>
                  <a:off x="923" y="3600"/>
                  <a:ext cx="49" cy="23"/>
                  <a:chOff x="923" y="3600"/>
                  <a:chExt cx="49" cy="23"/>
                </a:xfrm>
              </p:grpSpPr>
              <p:sp>
                <p:nvSpPr>
                  <p:cNvPr id="8720" name="Freeform 97"/>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21" name="Freeform 98"/>
                  <p:cNvSpPr>
                    <a:spLocks/>
                  </p:cNvSpPr>
                  <p:nvPr/>
                </p:nvSpPr>
                <p:spPr bwMode="auto">
                  <a:xfrm>
                    <a:off x="928" y="3600"/>
                    <a:ext cx="37" cy="10"/>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22" name="Freeform 99"/>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3 w 82"/>
                      <a:gd name="T9" fmla="*/ 0 h 37"/>
                      <a:gd name="T10" fmla="*/ 3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704" name="Group 100"/>
                <p:cNvGrpSpPr>
                  <a:grpSpLocks/>
                </p:cNvGrpSpPr>
                <p:nvPr/>
              </p:nvGrpSpPr>
              <p:grpSpPr bwMode="auto">
                <a:xfrm>
                  <a:off x="935" y="3612"/>
                  <a:ext cx="48" cy="23"/>
                  <a:chOff x="935" y="3612"/>
                  <a:chExt cx="48" cy="23"/>
                </a:xfrm>
              </p:grpSpPr>
              <p:sp>
                <p:nvSpPr>
                  <p:cNvPr id="8717" name="Freeform 101"/>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8" name="Freeform 102"/>
                  <p:cNvSpPr>
                    <a:spLocks/>
                  </p:cNvSpPr>
                  <p:nvPr/>
                </p:nvSpPr>
                <p:spPr bwMode="auto">
                  <a:xfrm>
                    <a:off x="939" y="3612"/>
                    <a:ext cx="38" cy="11"/>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9" name="Freeform 103"/>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705" name="Group 104"/>
                <p:cNvGrpSpPr>
                  <a:grpSpLocks/>
                </p:cNvGrpSpPr>
                <p:nvPr/>
              </p:nvGrpSpPr>
              <p:grpSpPr bwMode="auto">
                <a:xfrm>
                  <a:off x="947" y="3625"/>
                  <a:ext cx="50" cy="22"/>
                  <a:chOff x="947" y="3625"/>
                  <a:chExt cx="50" cy="22"/>
                </a:xfrm>
              </p:grpSpPr>
              <p:sp>
                <p:nvSpPr>
                  <p:cNvPr id="8714" name="Freeform 105"/>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5" name="Freeform 106"/>
                  <p:cNvSpPr>
                    <a:spLocks/>
                  </p:cNvSpPr>
                  <p:nvPr/>
                </p:nvSpPr>
                <p:spPr bwMode="auto">
                  <a:xfrm>
                    <a:off x="953" y="3625"/>
                    <a:ext cx="36" cy="10"/>
                  </a:xfrm>
                  <a:custGeom>
                    <a:avLst/>
                    <a:gdLst>
                      <a:gd name="T0" fmla="*/ 0 w 73"/>
                      <a:gd name="T1" fmla="*/ 0 h 29"/>
                      <a:gd name="T2" fmla="*/ 1 w 73"/>
                      <a:gd name="T3" fmla="*/ 0 h 29"/>
                      <a:gd name="T4" fmla="*/ 1 w 73"/>
                      <a:gd name="T5" fmla="*/ 0 h 29"/>
                      <a:gd name="T6" fmla="*/ 1 w 73"/>
                      <a:gd name="T7" fmla="*/ 0 h 29"/>
                      <a:gd name="T8" fmla="*/ 2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6" name="Freeform 107"/>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706" name="Group 108"/>
                <p:cNvGrpSpPr>
                  <a:grpSpLocks/>
                </p:cNvGrpSpPr>
                <p:nvPr/>
              </p:nvGrpSpPr>
              <p:grpSpPr bwMode="auto">
                <a:xfrm>
                  <a:off x="960" y="3637"/>
                  <a:ext cx="50" cy="23"/>
                  <a:chOff x="960" y="3637"/>
                  <a:chExt cx="50" cy="23"/>
                </a:xfrm>
              </p:grpSpPr>
              <p:sp>
                <p:nvSpPr>
                  <p:cNvPr id="8711" name="Freeform 109"/>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2" name="Freeform 110"/>
                  <p:cNvSpPr>
                    <a:spLocks/>
                  </p:cNvSpPr>
                  <p:nvPr/>
                </p:nvSpPr>
                <p:spPr bwMode="auto">
                  <a:xfrm>
                    <a:off x="965" y="3638"/>
                    <a:ext cx="37" cy="9"/>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3" name="Freeform 111"/>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3 w 83"/>
                      <a:gd name="T9" fmla="*/ 0 h 35"/>
                      <a:gd name="T10" fmla="*/ 3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707" name="Group 112"/>
                <p:cNvGrpSpPr>
                  <a:grpSpLocks/>
                </p:cNvGrpSpPr>
                <p:nvPr/>
              </p:nvGrpSpPr>
              <p:grpSpPr bwMode="auto">
                <a:xfrm>
                  <a:off x="973" y="3650"/>
                  <a:ext cx="49" cy="23"/>
                  <a:chOff x="973" y="3650"/>
                  <a:chExt cx="49" cy="23"/>
                </a:xfrm>
              </p:grpSpPr>
              <p:sp>
                <p:nvSpPr>
                  <p:cNvPr id="8708" name="Freeform 113"/>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 name="Freeform 114"/>
                  <p:cNvSpPr>
                    <a:spLocks/>
                  </p:cNvSpPr>
                  <p:nvPr/>
                </p:nvSpPr>
                <p:spPr bwMode="auto">
                  <a:xfrm>
                    <a:off x="978" y="3651"/>
                    <a:ext cx="37" cy="10"/>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 name="Freeform 115"/>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8338" name="Group 116"/>
              <p:cNvGrpSpPr>
                <a:grpSpLocks/>
              </p:cNvGrpSpPr>
              <p:nvPr/>
            </p:nvGrpSpPr>
            <p:grpSpPr bwMode="auto">
              <a:xfrm>
                <a:off x="985" y="3665"/>
                <a:ext cx="100" cy="73"/>
                <a:chOff x="985" y="3665"/>
                <a:chExt cx="100" cy="73"/>
              </a:xfrm>
            </p:grpSpPr>
            <p:grpSp>
              <p:nvGrpSpPr>
                <p:cNvPr id="8683" name="Group 117"/>
                <p:cNvGrpSpPr>
                  <a:grpSpLocks/>
                </p:cNvGrpSpPr>
                <p:nvPr/>
              </p:nvGrpSpPr>
              <p:grpSpPr bwMode="auto">
                <a:xfrm>
                  <a:off x="985" y="3665"/>
                  <a:ext cx="50" cy="23"/>
                  <a:chOff x="985" y="3665"/>
                  <a:chExt cx="50" cy="23"/>
                </a:xfrm>
              </p:grpSpPr>
              <p:sp>
                <p:nvSpPr>
                  <p:cNvPr id="8700" name="Freeform 118"/>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1" name="Freeform 119"/>
                  <p:cNvSpPr>
                    <a:spLocks/>
                  </p:cNvSpPr>
                  <p:nvPr/>
                </p:nvSpPr>
                <p:spPr bwMode="auto">
                  <a:xfrm>
                    <a:off x="989" y="3665"/>
                    <a:ext cx="38" cy="11"/>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2" name="Freeform 120"/>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84" name="Group 121"/>
                <p:cNvGrpSpPr>
                  <a:grpSpLocks/>
                </p:cNvGrpSpPr>
                <p:nvPr/>
              </p:nvGrpSpPr>
              <p:grpSpPr bwMode="auto">
                <a:xfrm>
                  <a:off x="997" y="3677"/>
                  <a:ext cx="49" cy="23"/>
                  <a:chOff x="997" y="3677"/>
                  <a:chExt cx="49" cy="23"/>
                </a:xfrm>
              </p:grpSpPr>
              <p:sp>
                <p:nvSpPr>
                  <p:cNvPr id="8697" name="Freeform 122"/>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98" name="Freeform 123"/>
                  <p:cNvSpPr>
                    <a:spLocks/>
                  </p:cNvSpPr>
                  <p:nvPr/>
                </p:nvSpPr>
                <p:spPr bwMode="auto">
                  <a:xfrm>
                    <a:off x="1002" y="3678"/>
                    <a:ext cx="37" cy="10"/>
                  </a:xfrm>
                  <a:custGeom>
                    <a:avLst/>
                    <a:gdLst>
                      <a:gd name="T0" fmla="*/ 1 w 73"/>
                      <a:gd name="T1" fmla="*/ 0 h 30"/>
                      <a:gd name="T2" fmla="*/ 2 w 73"/>
                      <a:gd name="T3" fmla="*/ 0 h 30"/>
                      <a:gd name="T4" fmla="*/ 2 w 73"/>
                      <a:gd name="T5" fmla="*/ 0 h 30"/>
                      <a:gd name="T6" fmla="*/ 2 w 73"/>
                      <a:gd name="T7" fmla="*/ 0 h 30"/>
                      <a:gd name="T8" fmla="*/ 3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99" name="Freeform 124"/>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2 w 83"/>
                      <a:gd name="T9" fmla="*/ 0 h 37"/>
                      <a:gd name="T10" fmla="*/ 2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85" name="Group 125"/>
                <p:cNvGrpSpPr>
                  <a:grpSpLocks/>
                </p:cNvGrpSpPr>
                <p:nvPr/>
              </p:nvGrpSpPr>
              <p:grpSpPr bwMode="auto">
                <a:xfrm>
                  <a:off x="1010" y="3690"/>
                  <a:ext cx="48" cy="23"/>
                  <a:chOff x="1010" y="3690"/>
                  <a:chExt cx="48" cy="23"/>
                </a:xfrm>
              </p:grpSpPr>
              <p:sp>
                <p:nvSpPr>
                  <p:cNvPr id="8694" name="Freeform 126"/>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95" name="Freeform 127"/>
                  <p:cNvSpPr>
                    <a:spLocks/>
                  </p:cNvSpPr>
                  <p:nvPr/>
                </p:nvSpPr>
                <p:spPr bwMode="auto">
                  <a:xfrm>
                    <a:off x="1014" y="3690"/>
                    <a:ext cx="38" cy="10"/>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96" name="Freeform 128"/>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2 w 82"/>
                      <a:gd name="T9" fmla="*/ 0 h 35"/>
                      <a:gd name="T10" fmla="*/ 2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86" name="Group 129"/>
                <p:cNvGrpSpPr>
                  <a:grpSpLocks/>
                </p:cNvGrpSpPr>
                <p:nvPr/>
              </p:nvGrpSpPr>
              <p:grpSpPr bwMode="auto">
                <a:xfrm>
                  <a:off x="1023" y="3703"/>
                  <a:ext cx="49" cy="22"/>
                  <a:chOff x="1023" y="3703"/>
                  <a:chExt cx="49" cy="22"/>
                </a:xfrm>
              </p:grpSpPr>
              <p:sp>
                <p:nvSpPr>
                  <p:cNvPr id="8691" name="Freeform 130"/>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92" name="Freeform 131"/>
                  <p:cNvSpPr>
                    <a:spLocks/>
                  </p:cNvSpPr>
                  <p:nvPr/>
                </p:nvSpPr>
                <p:spPr bwMode="auto">
                  <a:xfrm>
                    <a:off x="1028" y="3703"/>
                    <a:ext cx="37" cy="10"/>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93" name="Freeform 132"/>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87" name="Group 133"/>
                <p:cNvGrpSpPr>
                  <a:grpSpLocks/>
                </p:cNvGrpSpPr>
                <p:nvPr/>
              </p:nvGrpSpPr>
              <p:grpSpPr bwMode="auto">
                <a:xfrm>
                  <a:off x="1036" y="3716"/>
                  <a:ext cx="49" cy="22"/>
                  <a:chOff x="1036" y="3716"/>
                  <a:chExt cx="49" cy="22"/>
                </a:xfrm>
              </p:grpSpPr>
              <p:sp>
                <p:nvSpPr>
                  <p:cNvPr id="8688" name="Freeform 134"/>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89" name="Freeform 135"/>
                  <p:cNvSpPr>
                    <a:spLocks/>
                  </p:cNvSpPr>
                  <p:nvPr/>
                </p:nvSpPr>
                <p:spPr bwMode="auto">
                  <a:xfrm>
                    <a:off x="1040" y="3716"/>
                    <a:ext cx="37" cy="10"/>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90" name="Freeform 136"/>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8339" name="Group 137"/>
              <p:cNvGrpSpPr>
                <a:grpSpLocks/>
              </p:cNvGrpSpPr>
              <p:nvPr/>
            </p:nvGrpSpPr>
            <p:grpSpPr bwMode="auto">
              <a:xfrm>
                <a:off x="1046" y="3727"/>
                <a:ext cx="49" cy="23"/>
                <a:chOff x="1046" y="3727"/>
                <a:chExt cx="49" cy="23"/>
              </a:xfrm>
            </p:grpSpPr>
            <p:sp>
              <p:nvSpPr>
                <p:cNvPr id="8680" name="Freeform 138"/>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81" name="Freeform 139"/>
                <p:cNvSpPr>
                  <a:spLocks/>
                </p:cNvSpPr>
                <p:nvPr/>
              </p:nvSpPr>
              <p:spPr bwMode="auto">
                <a:xfrm>
                  <a:off x="1051" y="3727"/>
                  <a:ext cx="36" cy="11"/>
                </a:xfrm>
                <a:custGeom>
                  <a:avLst/>
                  <a:gdLst>
                    <a:gd name="T0" fmla="*/ 0 w 73"/>
                    <a:gd name="T1" fmla="*/ 0 h 31"/>
                    <a:gd name="T2" fmla="*/ 1 w 73"/>
                    <a:gd name="T3" fmla="*/ 0 h 31"/>
                    <a:gd name="T4" fmla="*/ 1 w 73"/>
                    <a:gd name="T5" fmla="*/ 0 h 31"/>
                    <a:gd name="T6" fmla="*/ 1 w 73"/>
                    <a:gd name="T7" fmla="*/ 0 h 31"/>
                    <a:gd name="T8" fmla="*/ 2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82" name="Freeform 140"/>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3 w 82"/>
                    <a:gd name="T9" fmla="*/ 0 h 35"/>
                    <a:gd name="T10" fmla="*/ 3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40" name="Group 141"/>
              <p:cNvGrpSpPr>
                <a:grpSpLocks/>
              </p:cNvGrpSpPr>
              <p:nvPr/>
            </p:nvGrpSpPr>
            <p:grpSpPr bwMode="auto">
              <a:xfrm>
                <a:off x="1058" y="3739"/>
                <a:ext cx="50" cy="23"/>
                <a:chOff x="1058" y="3739"/>
                <a:chExt cx="50" cy="23"/>
              </a:xfrm>
            </p:grpSpPr>
            <p:sp>
              <p:nvSpPr>
                <p:cNvPr id="8677" name="Freeform 142"/>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78" name="Freeform 143"/>
                <p:cNvSpPr>
                  <a:spLocks/>
                </p:cNvSpPr>
                <p:nvPr/>
              </p:nvSpPr>
              <p:spPr bwMode="auto">
                <a:xfrm>
                  <a:off x="1063" y="3740"/>
                  <a:ext cx="37" cy="10"/>
                </a:xfrm>
                <a:custGeom>
                  <a:avLst/>
                  <a:gdLst>
                    <a:gd name="T0" fmla="*/ 0 w 75"/>
                    <a:gd name="T1" fmla="*/ 0 h 30"/>
                    <a:gd name="T2" fmla="*/ 1 w 75"/>
                    <a:gd name="T3" fmla="*/ 0 h 30"/>
                    <a:gd name="T4" fmla="*/ 1 w 75"/>
                    <a:gd name="T5" fmla="*/ 0 h 30"/>
                    <a:gd name="T6" fmla="*/ 1 w 75"/>
                    <a:gd name="T7" fmla="*/ 0 h 30"/>
                    <a:gd name="T8" fmla="*/ 2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79" name="Freeform 144"/>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41" name="Group 145"/>
              <p:cNvGrpSpPr>
                <a:grpSpLocks/>
              </p:cNvGrpSpPr>
              <p:nvPr/>
            </p:nvGrpSpPr>
            <p:grpSpPr bwMode="auto">
              <a:xfrm>
                <a:off x="1072" y="3753"/>
                <a:ext cx="48" cy="22"/>
                <a:chOff x="1072" y="3753"/>
                <a:chExt cx="48" cy="22"/>
              </a:xfrm>
            </p:grpSpPr>
            <p:sp>
              <p:nvSpPr>
                <p:cNvPr id="8674" name="Freeform 146"/>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75" name="Freeform 147"/>
                <p:cNvSpPr>
                  <a:spLocks/>
                </p:cNvSpPr>
                <p:nvPr/>
              </p:nvSpPr>
              <p:spPr bwMode="auto">
                <a:xfrm>
                  <a:off x="1076" y="3753"/>
                  <a:ext cx="37" cy="10"/>
                </a:xfrm>
                <a:custGeom>
                  <a:avLst/>
                  <a:gdLst>
                    <a:gd name="T0" fmla="*/ 1 w 74"/>
                    <a:gd name="T1" fmla="*/ 0 h 31"/>
                    <a:gd name="T2" fmla="*/ 2 w 74"/>
                    <a:gd name="T3" fmla="*/ 0 h 31"/>
                    <a:gd name="T4" fmla="*/ 2 w 74"/>
                    <a:gd name="T5" fmla="*/ 0 h 31"/>
                    <a:gd name="T6" fmla="*/ 2 w 74"/>
                    <a:gd name="T7" fmla="*/ 0 h 31"/>
                    <a:gd name="T8" fmla="*/ 3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76" name="Freeform 148"/>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342" name="Freeform 149"/>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43" name="Freeform 150"/>
              <p:cNvSpPr>
                <a:spLocks/>
              </p:cNvSpPr>
              <p:nvPr/>
            </p:nvSpPr>
            <p:spPr bwMode="auto">
              <a:xfrm>
                <a:off x="825" y="3535"/>
                <a:ext cx="36" cy="9"/>
              </a:xfrm>
              <a:custGeom>
                <a:avLst/>
                <a:gdLst>
                  <a:gd name="T0" fmla="*/ 0 w 71"/>
                  <a:gd name="T1" fmla="*/ 0 h 27"/>
                  <a:gd name="T2" fmla="*/ 2 w 71"/>
                  <a:gd name="T3" fmla="*/ 0 h 27"/>
                  <a:gd name="T4" fmla="*/ 2 w 71"/>
                  <a:gd name="T5" fmla="*/ 0 h 27"/>
                  <a:gd name="T6" fmla="*/ 2 w 71"/>
                  <a:gd name="T7" fmla="*/ 0 h 27"/>
                  <a:gd name="T8" fmla="*/ 3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44" name="Freeform 151"/>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345" name="Group 152"/>
              <p:cNvGrpSpPr>
                <a:grpSpLocks/>
              </p:cNvGrpSpPr>
              <p:nvPr/>
            </p:nvGrpSpPr>
            <p:grpSpPr bwMode="auto">
              <a:xfrm>
                <a:off x="832" y="3547"/>
                <a:ext cx="49" cy="23"/>
                <a:chOff x="832" y="3547"/>
                <a:chExt cx="49" cy="23"/>
              </a:xfrm>
            </p:grpSpPr>
            <p:sp>
              <p:nvSpPr>
                <p:cNvPr id="8671" name="Freeform 153"/>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72" name="Freeform 154"/>
                <p:cNvSpPr>
                  <a:spLocks/>
                </p:cNvSpPr>
                <p:nvPr/>
              </p:nvSpPr>
              <p:spPr bwMode="auto">
                <a:xfrm>
                  <a:off x="837" y="3548"/>
                  <a:ext cx="36" cy="10"/>
                </a:xfrm>
                <a:custGeom>
                  <a:avLst/>
                  <a:gdLst>
                    <a:gd name="T0" fmla="*/ 1 w 72"/>
                    <a:gd name="T1" fmla="*/ 0 h 29"/>
                    <a:gd name="T2" fmla="*/ 2 w 72"/>
                    <a:gd name="T3" fmla="*/ 0 h 29"/>
                    <a:gd name="T4" fmla="*/ 2 w 72"/>
                    <a:gd name="T5" fmla="*/ 0 h 29"/>
                    <a:gd name="T6" fmla="*/ 2 w 72"/>
                    <a:gd name="T7" fmla="*/ 0 h 29"/>
                    <a:gd name="T8" fmla="*/ 3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73" name="Freeform 155"/>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46" name="Group 156"/>
              <p:cNvGrpSpPr>
                <a:grpSpLocks/>
              </p:cNvGrpSpPr>
              <p:nvPr/>
            </p:nvGrpSpPr>
            <p:grpSpPr bwMode="auto">
              <a:xfrm>
                <a:off x="844" y="3560"/>
                <a:ext cx="49" cy="22"/>
                <a:chOff x="844" y="3560"/>
                <a:chExt cx="49" cy="22"/>
              </a:xfrm>
            </p:grpSpPr>
            <p:sp>
              <p:nvSpPr>
                <p:cNvPr id="8668" name="Freeform 157"/>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69" name="Freeform 158"/>
                <p:cNvSpPr>
                  <a:spLocks/>
                </p:cNvSpPr>
                <p:nvPr/>
              </p:nvSpPr>
              <p:spPr bwMode="auto">
                <a:xfrm>
                  <a:off x="849" y="3560"/>
                  <a:ext cx="37" cy="10"/>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70" name="Freeform 159"/>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2 w 82"/>
                    <a:gd name="T9" fmla="*/ 0 h 35"/>
                    <a:gd name="T10" fmla="*/ 2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47" name="Group 160"/>
              <p:cNvGrpSpPr>
                <a:grpSpLocks/>
              </p:cNvGrpSpPr>
              <p:nvPr/>
            </p:nvGrpSpPr>
            <p:grpSpPr bwMode="auto">
              <a:xfrm>
                <a:off x="857" y="3572"/>
                <a:ext cx="50" cy="23"/>
                <a:chOff x="857" y="3572"/>
                <a:chExt cx="50" cy="23"/>
              </a:xfrm>
            </p:grpSpPr>
            <p:sp>
              <p:nvSpPr>
                <p:cNvPr id="8665" name="Freeform 161"/>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66" name="Freeform 162"/>
                <p:cNvSpPr>
                  <a:spLocks/>
                </p:cNvSpPr>
                <p:nvPr/>
              </p:nvSpPr>
              <p:spPr bwMode="auto">
                <a:xfrm>
                  <a:off x="862" y="3573"/>
                  <a:ext cx="37" cy="9"/>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67" name="Freeform 163"/>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48" name="Group 164"/>
              <p:cNvGrpSpPr>
                <a:grpSpLocks/>
              </p:cNvGrpSpPr>
              <p:nvPr/>
            </p:nvGrpSpPr>
            <p:grpSpPr bwMode="auto">
              <a:xfrm>
                <a:off x="870" y="3585"/>
                <a:ext cx="48" cy="23"/>
                <a:chOff x="870" y="3585"/>
                <a:chExt cx="48" cy="23"/>
              </a:xfrm>
            </p:grpSpPr>
            <p:sp>
              <p:nvSpPr>
                <p:cNvPr id="8662" name="Freeform 165"/>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63" name="Freeform 166"/>
                <p:cNvSpPr>
                  <a:spLocks/>
                </p:cNvSpPr>
                <p:nvPr/>
              </p:nvSpPr>
              <p:spPr bwMode="auto">
                <a:xfrm>
                  <a:off x="874" y="3586"/>
                  <a:ext cx="38" cy="10"/>
                </a:xfrm>
                <a:custGeom>
                  <a:avLst/>
                  <a:gdLst>
                    <a:gd name="T0" fmla="*/ 1 w 75"/>
                    <a:gd name="T1" fmla="*/ 0 h 29"/>
                    <a:gd name="T2" fmla="*/ 2 w 75"/>
                    <a:gd name="T3" fmla="*/ 0 h 29"/>
                    <a:gd name="T4" fmla="*/ 2 w 75"/>
                    <a:gd name="T5" fmla="*/ 0 h 29"/>
                    <a:gd name="T6" fmla="*/ 2 w 75"/>
                    <a:gd name="T7" fmla="*/ 0 h 29"/>
                    <a:gd name="T8" fmla="*/ 3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64" name="Freeform 167"/>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3 w 80"/>
                    <a:gd name="T9" fmla="*/ 0 h 36"/>
                    <a:gd name="T10" fmla="*/ 3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49" name="Group 168"/>
              <p:cNvGrpSpPr>
                <a:grpSpLocks/>
              </p:cNvGrpSpPr>
              <p:nvPr/>
            </p:nvGrpSpPr>
            <p:grpSpPr bwMode="auto">
              <a:xfrm>
                <a:off x="882" y="3600"/>
                <a:ext cx="100" cy="73"/>
                <a:chOff x="882" y="3600"/>
                <a:chExt cx="100" cy="73"/>
              </a:xfrm>
            </p:grpSpPr>
            <p:grpSp>
              <p:nvGrpSpPr>
                <p:cNvPr id="8642" name="Group 169"/>
                <p:cNvGrpSpPr>
                  <a:grpSpLocks/>
                </p:cNvGrpSpPr>
                <p:nvPr/>
              </p:nvGrpSpPr>
              <p:grpSpPr bwMode="auto">
                <a:xfrm>
                  <a:off x="882" y="3600"/>
                  <a:ext cx="49" cy="23"/>
                  <a:chOff x="882" y="3600"/>
                  <a:chExt cx="49" cy="23"/>
                </a:xfrm>
              </p:grpSpPr>
              <p:sp>
                <p:nvSpPr>
                  <p:cNvPr id="8659" name="Freeform 170"/>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60" name="Freeform 171"/>
                  <p:cNvSpPr>
                    <a:spLocks/>
                  </p:cNvSpPr>
                  <p:nvPr/>
                </p:nvSpPr>
                <p:spPr bwMode="auto">
                  <a:xfrm>
                    <a:off x="887" y="3600"/>
                    <a:ext cx="37" cy="11"/>
                  </a:xfrm>
                  <a:custGeom>
                    <a:avLst/>
                    <a:gdLst>
                      <a:gd name="T0" fmla="*/ 1 w 73"/>
                      <a:gd name="T1" fmla="*/ 0 h 31"/>
                      <a:gd name="T2" fmla="*/ 2 w 73"/>
                      <a:gd name="T3" fmla="*/ 0 h 31"/>
                      <a:gd name="T4" fmla="*/ 2 w 73"/>
                      <a:gd name="T5" fmla="*/ 0 h 31"/>
                      <a:gd name="T6" fmla="*/ 2 w 73"/>
                      <a:gd name="T7" fmla="*/ 0 h 31"/>
                      <a:gd name="T8" fmla="*/ 3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61" name="Freeform 172"/>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2 w 83"/>
                      <a:gd name="T9" fmla="*/ 0 h 38"/>
                      <a:gd name="T10" fmla="*/ 2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43" name="Group 173"/>
                <p:cNvGrpSpPr>
                  <a:grpSpLocks/>
                </p:cNvGrpSpPr>
                <p:nvPr/>
              </p:nvGrpSpPr>
              <p:grpSpPr bwMode="auto">
                <a:xfrm>
                  <a:off x="894" y="3612"/>
                  <a:ext cx="49" cy="23"/>
                  <a:chOff x="894" y="3612"/>
                  <a:chExt cx="49" cy="23"/>
                </a:xfrm>
              </p:grpSpPr>
              <p:sp>
                <p:nvSpPr>
                  <p:cNvPr id="8656" name="Freeform 174"/>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57" name="Freeform 175"/>
                  <p:cNvSpPr>
                    <a:spLocks/>
                  </p:cNvSpPr>
                  <p:nvPr/>
                </p:nvSpPr>
                <p:spPr bwMode="auto">
                  <a:xfrm>
                    <a:off x="899" y="3613"/>
                    <a:ext cx="37" cy="10"/>
                  </a:xfrm>
                  <a:custGeom>
                    <a:avLst/>
                    <a:gdLst>
                      <a:gd name="T0" fmla="*/ 0 w 75"/>
                      <a:gd name="T1" fmla="*/ 0 h 32"/>
                      <a:gd name="T2" fmla="*/ 1 w 75"/>
                      <a:gd name="T3" fmla="*/ 0 h 32"/>
                      <a:gd name="T4" fmla="*/ 1 w 75"/>
                      <a:gd name="T5" fmla="*/ 0 h 32"/>
                      <a:gd name="T6" fmla="*/ 1 w 75"/>
                      <a:gd name="T7" fmla="*/ 0 h 32"/>
                      <a:gd name="T8" fmla="*/ 2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58" name="Freeform 176"/>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44" name="Group 177"/>
                <p:cNvGrpSpPr>
                  <a:grpSpLocks/>
                </p:cNvGrpSpPr>
                <p:nvPr/>
              </p:nvGrpSpPr>
              <p:grpSpPr bwMode="auto">
                <a:xfrm>
                  <a:off x="907" y="3625"/>
                  <a:ext cx="49" cy="23"/>
                  <a:chOff x="907" y="3625"/>
                  <a:chExt cx="49" cy="23"/>
                </a:xfrm>
              </p:grpSpPr>
              <p:sp>
                <p:nvSpPr>
                  <p:cNvPr id="8653" name="Freeform 178"/>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54" name="Freeform 179"/>
                  <p:cNvSpPr>
                    <a:spLocks/>
                  </p:cNvSpPr>
                  <p:nvPr/>
                </p:nvSpPr>
                <p:spPr bwMode="auto">
                  <a:xfrm>
                    <a:off x="912" y="3626"/>
                    <a:ext cx="36" cy="9"/>
                  </a:xfrm>
                  <a:custGeom>
                    <a:avLst/>
                    <a:gdLst>
                      <a:gd name="T0" fmla="*/ 1 w 72"/>
                      <a:gd name="T1" fmla="*/ 0 h 29"/>
                      <a:gd name="T2" fmla="*/ 2 w 72"/>
                      <a:gd name="T3" fmla="*/ 0 h 29"/>
                      <a:gd name="T4" fmla="*/ 2 w 72"/>
                      <a:gd name="T5" fmla="*/ 0 h 29"/>
                      <a:gd name="T6" fmla="*/ 2 w 72"/>
                      <a:gd name="T7" fmla="*/ 0 h 29"/>
                      <a:gd name="T8" fmla="*/ 3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55" name="Freeform 180"/>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45" name="Group 181"/>
                <p:cNvGrpSpPr>
                  <a:grpSpLocks/>
                </p:cNvGrpSpPr>
                <p:nvPr/>
              </p:nvGrpSpPr>
              <p:grpSpPr bwMode="auto">
                <a:xfrm>
                  <a:off x="919" y="3638"/>
                  <a:ext cx="49" cy="22"/>
                  <a:chOff x="919" y="3638"/>
                  <a:chExt cx="49" cy="22"/>
                </a:xfrm>
              </p:grpSpPr>
              <p:sp>
                <p:nvSpPr>
                  <p:cNvPr id="8650" name="Freeform 182"/>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51" name="Freeform 183"/>
                  <p:cNvSpPr>
                    <a:spLocks/>
                  </p:cNvSpPr>
                  <p:nvPr/>
                </p:nvSpPr>
                <p:spPr bwMode="auto">
                  <a:xfrm>
                    <a:off x="924" y="3638"/>
                    <a:ext cx="37" cy="10"/>
                  </a:xfrm>
                  <a:custGeom>
                    <a:avLst/>
                    <a:gdLst>
                      <a:gd name="T0" fmla="*/ 1 w 73"/>
                      <a:gd name="T1" fmla="*/ 0 h 30"/>
                      <a:gd name="T2" fmla="*/ 2 w 73"/>
                      <a:gd name="T3" fmla="*/ 0 h 30"/>
                      <a:gd name="T4" fmla="*/ 2 w 73"/>
                      <a:gd name="T5" fmla="*/ 0 h 30"/>
                      <a:gd name="T6" fmla="*/ 2 w 73"/>
                      <a:gd name="T7" fmla="*/ 0 h 30"/>
                      <a:gd name="T8" fmla="*/ 3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52" name="Freeform 184"/>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46" name="Group 185"/>
                <p:cNvGrpSpPr>
                  <a:grpSpLocks/>
                </p:cNvGrpSpPr>
                <p:nvPr/>
              </p:nvGrpSpPr>
              <p:grpSpPr bwMode="auto">
                <a:xfrm>
                  <a:off x="932" y="3651"/>
                  <a:ext cx="50" cy="22"/>
                  <a:chOff x="932" y="3651"/>
                  <a:chExt cx="50" cy="22"/>
                </a:xfrm>
              </p:grpSpPr>
              <p:sp>
                <p:nvSpPr>
                  <p:cNvPr id="8647" name="Freeform 186"/>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48" name="Freeform 187"/>
                  <p:cNvSpPr>
                    <a:spLocks/>
                  </p:cNvSpPr>
                  <p:nvPr/>
                </p:nvSpPr>
                <p:spPr bwMode="auto">
                  <a:xfrm>
                    <a:off x="937" y="3651"/>
                    <a:ext cx="37" cy="10"/>
                  </a:xfrm>
                  <a:custGeom>
                    <a:avLst/>
                    <a:gdLst>
                      <a:gd name="T0" fmla="*/ 1 w 72"/>
                      <a:gd name="T1" fmla="*/ 0 h 29"/>
                      <a:gd name="T2" fmla="*/ 2 w 72"/>
                      <a:gd name="T3" fmla="*/ 0 h 29"/>
                      <a:gd name="T4" fmla="*/ 2 w 72"/>
                      <a:gd name="T5" fmla="*/ 0 h 29"/>
                      <a:gd name="T6" fmla="*/ 2 w 72"/>
                      <a:gd name="T7" fmla="*/ 0 h 29"/>
                      <a:gd name="T8" fmla="*/ 3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49" name="Freeform 188"/>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3 w 83"/>
                      <a:gd name="T9" fmla="*/ 0 h 35"/>
                      <a:gd name="T10" fmla="*/ 3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8350" name="Group 189"/>
              <p:cNvGrpSpPr>
                <a:grpSpLocks/>
              </p:cNvGrpSpPr>
              <p:nvPr/>
            </p:nvGrpSpPr>
            <p:grpSpPr bwMode="auto">
              <a:xfrm>
                <a:off x="944" y="3665"/>
                <a:ext cx="99" cy="74"/>
                <a:chOff x="944" y="3665"/>
                <a:chExt cx="99" cy="74"/>
              </a:xfrm>
            </p:grpSpPr>
            <p:grpSp>
              <p:nvGrpSpPr>
                <p:cNvPr id="8622" name="Group 190"/>
                <p:cNvGrpSpPr>
                  <a:grpSpLocks/>
                </p:cNvGrpSpPr>
                <p:nvPr/>
              </p:nvGrpSpPr>
              <p:grpSpPr bwMode="auto">
                <a:xfrm>
                  <a:off x="944" y="3665"/>
                  <a:ext cx="49" cy="23"/>
                  <a:chOff x="944" y="3665"/>
                  <a:chExt cx="49" cy="23"/>
                </a:xfrm>
              </p:grpSpPr>
              <p:sp>
                <p:nvSpPr>
                  <p:cNvPr id="8639" name="Freeform 191"/>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40" name="Freeform 192"/>
                  <p:cNvSpPr>
                    <a:spLocks/>
                  </p:cNvSpPr>
                  <p:nvPr/>
                </p:nvSpPr>
                <p:spPr bwMode="auto">
                  <a:xfrm>
                    <a:off x="949" y="3666"/>
                    <a:ext cx="37" cy="10"/>
                  </a:xfrm>
                  <a:custGeom>
                    <a:avLst/>
                    <a:gdLst>
                      <a:gd name="T0" fmla="*/ 0 w 75"/>
                      <a:gd name="T1" fmla="*/ 0 h 31"/>
                      <a:gd name="T2" fmla="*/ 1 w 75"/>
                      <a:gd name="T3" fmla="*/ 0 h 31"/>
                      <a:gd name="T4" fmla="*/ 1 w 75"/>
                      <a:gd name="T5" fmla="*/ 0 h 31"/>
                      <a:gd name="T6" fmla="*/ 1 w 75"/>
                      <a:gd name="T7" fmla="*/ 0 h 31"/>
                      <a:gd name="T8" fmla="*/ 2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41" name="Freeform 193"/>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23" name="Group 194"/>
                <p:cNvGrpSpPr>
                  <a:grpSpLocks/>
                </p:cNvGrpSpPr>
                <p:nvPr/>
              </p:nvGrpSpPr>
              <p:grpSpPr bwMode="auto">
                <a:xfrm>
                  <a:off x="957" y="3678"/>
                  <a:ext cx="48" cy="23"/>
                  <a:chOff x="957" y="3678"/>
                  <a:chExt cx="48" cy="23"/>
                </a:xfrm>
              </p:grpSpPr>
              <p:sp>
                <p:nvSpPr>
                  <p:cNvPr id="8636" name="Freeform 195"/>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37" name="Freeform 196"/>
                  <p:cNvSpPr>
                    <a:spLocks/>
                  </p:cNvSpPr>
                  <p:nvPr/>
                </p:nvSpPr>
                <p:spPr bwMode="auto">
                  <a:xfrm>
                    <a:off x="961" y="3678"/>
                    <a:ext cx="37" cy="10"/>
                  </a:xfrm>
                  <a:custGeom>
                    <a:avLst/>
                    <a:gdLst>
                      <a:gd name="T0" fmla="*/ 1 w 74"/>
                      <a:gd name="T1" fmla="*/ 0 h 30"/>
                      <a:gd name="T2" fmla="*/ 2 w 74"/>
                      <a:gd name="T3" fmla="*/ 0 h 30"/>
                      <a:gd name="T4" fmla="*/ 2 w 74"/>
                      <a:gd name="T5" fmla="*/ 0 h 30"/>
                      <a:gd name="T6" fmla="*/ 2 w 74"/>
                      <a:gd name="T7" fmla="*/ 0 h 30"/>
                      <a:gd name="T8" fmla="*/ 3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38" name="Freeform 197"/>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3 w 82"/>
                      <a:gd name="T9" fmla="*/ 0 h 38"/>
                      <a:gd name="T10" fmla="*/ 3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24" name="Group 198"/>
                <p:cNvGrpSpPr>
                  <a:grpSpLocks/>
                </p:cNvGrpSpPr>
                <p:nvPr/>
              </p:nvGrpSpPr>
              <p:grpSpPr bwMode="auto">
                <a:xfrm>
                  <a:off x="969" y="3690"/>
                  <a:ext cx="49" cy="23"/>
                  <a:chOff x="969" y="3690"/>
                  <a:chExt cx="49" cy="23"/>
                </a:xfrm>
              </p:grpSpPr>
              <p:sp>
                <p:nvSpPr>
                  <p:cNvPr id="8633" name="Freeform 199"/>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34" name="Freeform 200"/>
                  <p:cNvSpPr>
                    <a:spLocks/>
                  </p:cNvSpPr>
                  <p:nvPr/>
                </p:nvSpPr>
                <p:spPr bwMode="auto">
                  <a:xfrm>
                    <a:off x="974" y="3691"/>
                    <a:ext cx="37" cy="10"/>
                  </a:xfrm>
                  <a:custGeom>
                    <a:avLst/>
                    <a:gdLst>
                      <a:gd name="T0" fmla="*/ 0 w 75"/>
                      <a:gd name="T1" fmla="*/ 0 h 31"/>
                      <a:gd name="T2" fmla="*/ 1 w 75"/>
                      <a:gd name="T3" fmla="*/ 0 h 31"/>
                      <a:gd name="T4" fmla="*/ 1 w 75"/>
                      <a:gd name="T5" fmla="*/ 0 h 31"/>
                      <a:gd name="T6" fmla="*/ 1 w 75"/>
                      <a:gd name="T7" fmla="*/ 0 h 31"/>
                      <a:gd name="T8" fmla="*/ 2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35" name="Freeform 201"/>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25" name="Group 202"/>
                <p:cNvGrpSpPr>
                  <a:grpSpLocks/>
                </p:cNvGrpSpPr>
                <p:nvPr/>
              </p:nvGrpSpPr>
              <p:grpSpPr bwMode="auto">
                <a:xfrm>
                  <a:off x="982" y="3703"/>
                  <a:ext cx="49" cy="23"/>
                  <a:chOff x="982" y="3703"/>
                  <a:chExt cx="49" cy="23"/>
                </a:xfrm>
              </p:grpSpPr>
              <p:sp>
                <p:nvSpPr>
                  <p:cNvPr id="8630" name="Freeform 203"/>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31" name="Freeform 204"/>
                  <p:cNvSpPr>
                    <a:spLocks/>
                  </p:cNvSpPr>
                  <p:nvPr/>
                </p:nvSpPr>
                <p:spPr bwMode="auto">
                  <a:xfrm>
                    <a:off x="987" y="3703"/>
                    <a:ext cx="37" cy="10"/>
                  </a:xfrm>
                  <a:custGeom>
                    <a:avLst/>
                    <a:gdLst>
                      <a:gd name="T0" fmla="*/ 1 w 73"/>
                      <a:gd name="T1" fmla="*/ 0 h 30"/>
                      <a:gd name="T2" fmla="*/ 2 w 73"/>
                      <a:gd name="T3" fmla="*/ 0 h 30"/>
                      <a:gd name="T4" fmla="*/ 2 w 73"/>
                      <a:gd name="T5" fmla="*/ 0 h 30"/>
                      <a:gd name="T6" fmla="*/ 2 w 73"/>
                      <a:gd name="T7" fmla="*/ 0 h 30"/>
                      <a:gd name="T8" fmla="*/ 3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32" name="Freeform 205"/>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626" name="Group 206"/>
                <p:cNvGrpSpPr>
                  <a:grpSpLocks/>
                </p:cNvGrpSpPr>
                <p:nvPr/>
              </p:nvGrpSpPr>
              <p:grpSpPr bwMode="auto">
                <a:xfrm>
                  <a:off x="995" y="3716"/>
                  <a:ext cx="48" cy="23"/>
                  <a:chOff x="995" y="3716"/>
                  <a:chExt cx="48" cy="23"/>
                </a:xfrm>
              </p:grpSpPr>
              <p:sp>
                <p:nvSpPr>
                  <p:cNvPr id="8627" name="Freeform 207"/>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28" name="Freeform 208"/>
                  <p:cNvSpPr>
                    <a:spLocks/>
                  </p:cNvSpPr>
                  <p:nvPr/>
                </p:nvSpPr>
                <p:spPr bwMode="auto">
                  <a:xfrm>
                    <a:off x="999" y="3717"/>
                    <a:ext cx="38" cy="9"/>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29" name="Freeform 209"/>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8351" name="Group 210"/>
              <p:cNvGrpSpPr>
                <a:grpSpLocks/>
              </p:cNvGrpSpPr>
              <p:nvPr/>
            </p:nvGrpSpPr>
            <p:grpSpPr bwMode="auto">
              <a:xfrm>
                <a:off x="1005" y="3727"/>
                <a:ext cx="49" cy="23"/>
                <a:chOff x="1005" y="3727"/>
                <a:chExt cx="49" cy="23"/>
              </a:xfrm>
            </p:grpSpPr>
            <p:sp>
              <p:nvSpPr>
                <p:cNvPr id="8619" name="Freeform 211"/>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20" name="Freeform 212"/>
                <p:cNvSpPr>
                  <a:spLocks/>
                </p:cNvSpPr>
                <p:nvPr/>
              </p:nvSpPr>
              <p:spPr bwMode="auto">
                <a:xfrm>
                  <a:off x="1010" y="3728"/>
                  <a:ext cx="37" cy="10"/>
                </a:xfrm>
                <a:custGeom>
                  <a:avLst/>
                  <a:gdLst>
                    <a:gd name="T0" fmla="*/ 1 w 73"/>
                    <a:gd name="T1" fmla="*/ 0 h 31"/>
                    <a:gd name="T2" fmla="*/ 2 w 73"/>
                    <a:gd name="T3" fmla="*/ 0 h 31"/>
                    <a:gd name="T4" fmla="*/ 2 w 73"/>
                    <a:gd name="T5" fmla="*/ 0 h 31"/>
                    <a:gd name="T6" fmla="*/ 2 w 73"/>
                    <a:gd name="T7" fmla="*/ 0 h 31"/>
                    <a:gd name="T8" fmla="*/ 3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21" name="Freeform 213"/>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52" name="Group 214"/>
              <p:cNvGrpSpPr>
                <a:grpSpLocks/>
              </p:cNvGrpSpPr>
              <p:nvPr/>
            </p:nvGrpSpPr>
            <p:grpSpPr bwMode="auto">
              <a:xfrm>
                <a:off x="1018" y="3740"/>
                <a:ext cx="49" cy="22"/>
                <a:chOff x="1018" y="3740"/>
                <a:chExt cx="49" cy="22"/>
              </a:xfrm>
            </p:grpSpPr>
            <p:sp>
              <p:nvSpPr>
                <p:cNvPr id="8616" name="Freeform 215"/>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17" name="Freeform 216"/>
                <p:cNvSpPr>
                  <a:spLocks/>
                </p:cNvSpPr>
                <p:nvPr/>
              </p:nvSpPr>
              <p:spPr bwMode="auto">
                <a:xfrm>
                  <a:off x="1022" y="3740"/>
                  <a:ext cx="38" cy="10"/>
                </a:xfrm>
                <a:custGeom>
                  <a:avLst/>
                  <a:gdLst>
                    <a:gd name="T0" fmla="*/ 1 w 74"/>
                    <a:gd name="T1" fmla="*/ 0 h 31"/>
                    <a:gd name="T2" fmla="*/ 2 w 74"/>
                    <a:gd name="T3" fmla="*/ 0 h 31"/>
                    <a:gd name="T4" fmla="*/ 2 w 74"/>
                    <a:gd name="T5" fmla="*/ 0 h 31"/>
                    <a:gd name="T6" fmla="*/ 2 w 74"/>
                    <a:gd name="T7" fmla="*/ 0 h 31"/>
                    <a:gd name="T8" fmla="*/ 3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18" name="Freeform 217"/>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53" name="Group 218"/>
              <p:cNvGrpSpPr>
                <a:grpSpLocks/>
              </p:cNvGrpSpPr>
              <p:nvPr/>
            </p:nvGrpSpPr>
            <p:grpSpPr bwMode="auto">
              <a:xfrm>
                <a:off x="1030" y="3753"/>
                <a:ext cx="49" cy="23"/>
                <a:chOff x="1030" y="3753"/>
                <a:chExt cx="49" cy="23"/>
              </a:xfrm>
            </p:grpSpPr>
            <p:sp>
              <p:nvSpPr>
                <p:cNvPr id="8613" name="Freeform 219"/>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14" name="Freeform 220"/>
                <p:cNvSpPr>
                  <a:spLocks/>
                </p:cNvSpPr>
                <p:nvPr/>
              </p:nvSpPr>
              <p:spPr bwMode="auto">
                <a:xfrm>
                  <a:off x="1035" y="3753"/>
                  <a:ext cx="37" cy="11"/>
                </a:xfrm>
                <a:custGeom>
                  <a:avLst/>
                  <a:gdLst>
                    <a:gd name="T0" fmla="*/ 1 w 74"/>
                    <a:gd name="T1" fmla="*/ 0 h 31"/>
                    <a:gd name="T2" fmla="*/ 2 w 74"/>
                    <a:gd name="T3" fmla="*/ 0 h 31"/>
                    <a:gd name="T4" fmla="*/ 2 w 74"/>
                    <a:gd name="T5" fmla="*/ 0 h 31"/>
                    <a:gd name="T6" fmla="*/ 2 w 74"/>
                    <a:gd name="T7" fmla="*/ 0 h 31"/>
                    <a:gd name="T8" fmla="*/ 3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15" name="Freeform 221"/>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2 w 82"/>
                    <a:gd name="T9" fmla="*/ 0 h 35"/>
                    <a:gd name="T10" fmla="*/ 2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354" name="Freeform 222"/>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55" name="Freeform 223"/>
              <p:cNvSpPr>
                <a:spLocks/>
              </p:cNvSpPr>
              <p:nvPr/>
            </p:nvSpPr>
            <p:spPr bwMode="auto">
              <a:xfrm>
                <a:off x="783" y="3535"/>
                <a:ext cx="36" cy="11"/>
              </a:xfrm>
              <a:custGeom>
                <a:avLst/>
                <a:gdLst>
                  <a:gd name="T0" fmla="*/ 1 w 72"/>
                  <a:gd name="T1" fmla="*/ 0 h 31"/>
                  <a:gd name="T2" fmla="*/ 2 w 72"/>
                  <a:gd name="T3" fmla="*/ 0 h 31"/>
                  <a:gd name="T4" fmla="*/ 2 w 72"/>
                  <a:gd name="T5" fmla="*/ 0 h 31"/>
                  <a:gd name="T6" fmla="*/ 2 w 72"/>
                  <a:gd name="T7" fmla="*/ 0 h 31"/>
                  <a:gd name="T8" fmla="*/ 3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56" name="Freeform 224"/>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357" name="Group 225"/>
              <p:cNvGrpSpPr>
                <a:grpSpLocks/>
              </p:cNvGrpSpPr>
              <p:nvPr/>
            </p:nvGrpSpPr>
            <p:grpSpPr bwMode="auto">
              <a:xfrm>
                <a:off x="790" y="3547"/>
                <a:ext cx="49" cy="23"/>
                <a:chOff x="790" y="3547"/>
                <a:chExt cx="49" cy="23"/>
              </a:xfrm>
            </p:grpSpPr>
            <p:sp>
              <p:nvSpPr>
                <p:cNvPr id="8610" name="Freeform 226"/>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11" name="Freeform 227"/>
                <p:cNvSpPr>
                  <a:spLocks/>
                </p:cNvSpPr>
                <p:nvPr/>
              </p:nvSpPr>
              <p:spPr bwMode="auto">
                <a:xfrm>
                  <a:off x="795" y="3548"/>
                  <a:ext cx="37" cy="10"/>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12" name="Freeform 228"/>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58" name="Group 229"/>
              <p:cNvGrpSpPr>
                <a:grpSpLocks/>
              </p:cNvGrpSpPr>
              <p:nvPr/>
            </p:nvGrpSpPr>
            <p:grpSpPr bwMode="auto">
              <a:xfrm>
                <a:off x="803" y="3560"/>
                <a:ext cx="49" cy="22"/>
                <a:chOff x="803" y="3560"/>
                <a:chExt cx="49" cy="22"/>
              </a:xfrm>
            </p:grpSpPr>
            <p:sp>
              <p:nvSpPr>
                <p:cNvPr id="8607" name="Freeform 230"/>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08" name="Freeform 231"/>
                <p:cNvSpPr>
                  <a:spLocks/>
                </p:cNvSpPr>
                <p:nvPr/>
              </p:nvSpPr>
              <p:spPr bwMode="auto">
                <a:xfrm>
                  <a:off x="808" y="3560"/>
                  <a:ext cx="36" cy="10"/>
                </a:xfrm>
                <a:custGeom>
                  <a:avLst/>
                  <a:gdLst>
                    <a:gd name="T0" fmla="*/ 1 w 72"/>
                    <a:gd name="T1" fmla="*/ 0 h 29"/>
                    <a:gd name="T2" fmla="*/ 2 w 72"/>
                    <a:gd name="T3" fmla="*/ 0 h 29"/>
                    <a:gd name="T4" fmla="*/ 2 w 72"/>
                    <a:gd name="T5" fmla="*/ 0 h 29"/>
                    <a:gd name="T6" fmla="*/ 2 w 72"/>
                    <a:gd name="T7" fmla="*/ 0 h 29"/>
                    <a:gd name="T8" fmla="*/ 3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09" name="Freeform 232"/>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2 w 83"/>
                    <a:gd name="T9" fmla="*/ 0 h 35"/>
                    <a:gd name="T10" fmla="*/ 2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59" name="Group 233"/>
              <p:cNvGrpSpPr>
                <a:grpSpLocks/>
              </p:cNvGrpSpPr>
              <p:nvPr/>
            </p:nvGrpSpPr>
            <p:grpSpPr bwMode="auto">
              <a:xfrm>
                <a:off x="815" y="3572"/>
                <a:ext cx="50" cy="23"/>
                <a:chOff x="815" y="3572"/>
                <a:chExt cx="50" cy="23"/>
              </a:xfrm>
            </p:grpSpPr>
            <p:sp>
              <p:nvSpPr>
                <p:cNvPr id="8604" name="Freeform 234"/>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05" name="Freeform 235"/>
                <p:cNvSpPr>
                  <a:spLocks/>
                </p:cNvSpPr>
                <p:nvPr/>
              </p:nvSpPr>
              <p:spPr bwMode="auto">
                <a:xfrm>
                  <a:off x="820" y="3573"/>
                  <a:ext cx="37" cy="9"/>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06" name="Freeform 236"/>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60" name="Group 237"/>
              <p:cNvGrpSpPr>
                <a:grpSpLocks/>
              </p:cNvGrpSpPr>
              <p:nvPr/>
            </p:nvGrpSpPr>
            <p:grpSpPr bwMode="auto">
              <a:xfrm>
                <a:off x="828" y="3585"/>
                <a:ext cx="49" cy="23"/>
                <a:chOff x="828" y="3585"/>
                <a:chExt cx="49" cy="23"/>
              </a:xfrm>
            </p:grpSpPr>
            <p:sp>
              <p:nvSpPr>
                <p:cNvPr id="8601" name="Freeform 238"/>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02" name="Freeform 239"/>
                <p:cNvSpPr>
                  <a:spLocks/>
                </p:cNvSpPr>
                <p:nvPr/>
              </p:nvSpPr>
              <p:spPr bwMode="auto">
                <a:xfrm>
                  <a:off x="833" y="3586"/>
                  <a:ext cx="37" cy="10"/>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03" name="Freeform 240"/>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3 w 80"/>
                    <a:gd name="T9" fmla="*/ 0 h 36"/>
                    <a:gd name="T10" fmla="*/ 3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61" name="Group 241"/>
              <p:cNvGrpSpPr>
                <a:grpSpLocks/>
              </p:cNvGrpSpPr>
              <p:nvPr/>
            </p:nvGrpSpPr>
            <p:grpSpPr bwMode="auto">
              <a:xfrm>
                <a:off x="840" y="3600"/>
                <a:ext cx="100" cy="73"/>
                <a:chOff x="840" y="3600"/>
                <a:chExt cx="100" cy="73"/>
              </a:xfrm>
            </p:grpSpPr>
            <p:grpSp>
              <p:nvGrpSpPr>
                <p:cNvPr id="8581" name="Group 242"/>
                <p:cNvGrpSpPr>
                  <a:grpSpLocks/>
                </p:cNvGrpSpPr>
                <p:nvPr/>
              </p:nvGrpSpPr>
              <p:grpSpPr bwMode="auto">
                <a:xfrm>
                  <a:off x="840" y="3600"/>
                  <a:ext cx="49" cy="23"/>
                  <a:chOff x="840" y="3600"/>
                  <a:chExt cx="49" cy="23"/>
                </a:xfrm>
              </p:grpSpPr>
              <p:sp>
                <p:nvSpPr>
                  <p:cNvPr id="8598" name="Freeform 243"/>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99" name="Freeform 244"/>
                  <p:cNvSpPr>
                    <a:spLocks/>
                  </p:cNvSpPr>
                  <p:nvPr/>
                </p:nvSpPr>
                <p:spPr bwMode="auto">
                  <a:xfrm>
                    <a:off x="845" y="3600"/>
                    <a:ext cx="37" cy="11"/>
                  </a:xfrm>
                  <a:custGeom>
                    <a:avLst/>
                    <a:gdLst>
                      <a:gd name="T0" fmla="*/ 0 w 75"/>
                      <a:gd name="T1" fmla="*/ 0 h 31"/>
                      <a:gd name="T2" fmla="*/ 1 w 75"/>
                      <a:gd name="T3" fmla="*/ 0 h 31"/>
                      <a:gd name="T4" fmla="*/ 1 w 75"/>
                      <a:gd name="T5" fmla="*/ 0 h 31"/>
                      <a:gd name="T6" fmla="*/ 1 w 75"/>
                      <a:gd name="T7" fmla="*/ 0 h 31"/>
                      <a:gd name="T8" fmla="*/ 2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00" name="Freeform 245"/>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3 w 82"/>
                      <a:gd name="T9" fmla="*/ 0 h 38"/>
                      <a:gd name="T10" fmla="*/ 3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82" name="Group 246"/>
                <p:cNvGrpSpPr>
                  <a:grpSpLocks/>
                </p:cNvGrpSpPr>
                <p:nvPr/>
              </p:nvGrpSpPr>
              <p:grpSpPr bwMode="auto">
                <a:xfrm>
                  <a:off x="853" y="3612"/>
                  <a:ext cx="48" cy="23"/>
                  <a:chOff x="853" y="3612"/>
                  <a:chExt cx="48" cy="23"/>
                </a:xfrm>
              </p:grpSpPr>
              <p:sp>
                <p:nvSpPr>
                  <p:cNvPr id="8595" name="Freeform 247"/>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96" name="Freeform 248"/>
                  <p:cNvSpPr>
                    <a:spLocks/>
                  </p:cNvSpPr>
                  <p:nvPr/>
                </p:nvSpPr>
                <p:spPr bwMode="auto">
                  <a:xfrm>
                    <a:off x="857" y="3613"/>
                    <a:ext cx="37" cy="10"/>
                  </a:xfrm>
                  <a:custGeom>
                    <a:avLst/>
                    <a:gdLst>
                      <a:gd name="T0" fmla="*/ 1 w 73"/>
                      <a:gd name="T1" fmla="*/ 0 h 32"/>
                      <a:gd name="T2" fmla="*/ 2 w 73"/>
                      <a:gd name="T3" fmla="*/ 0 h 32"/>
                      <a:gd name="T4" fmla="*/ 2 w 73"/>
                      <a:gd name="T5" fmla="*/ 0 h 32"/>
                      <a:gd name="T6" fmla="*/ 2 w 73"/>
                      <a:gd name="T7" fmla="*/ 0 h 32"/>
                      <a:gd name="T8" fmla="*/ 3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97" name="Freeform 249"/>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83" name="Group 250"/>
                <p:cNvGrpSpPr>
                  <a:grpSpLocks/>
                </p:cNvGrpSpPr>
                <p:nvPr/>
              </p:nvGrpSpPr>
              <p:grpSpPr bwMode="auto">
                <a:xfrm>
                  <a:off x="865" y="3625"/>
                  <a:ext cx="49" cy="23"/>
                  <a:chOff x="865" y="3625"/>
                  <a:chExt cx="49" cy="23"/>
                </a:xfrm>
              </p:grpSpPr>
              <p:sp>
                <p:nvSpPr>
                  <p:cNvPr id="8592" name="Freeform 251"/>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93" name="Freeform 252"/>
                  <p:cNvSpPr>
                    <a:spLocks/>
                  </p:cNvSpPr>
                  <p:nvPr/>
                </p:nvSpPr>
                <p:spPr bwMode="auto">
                  <a:xfrm>
                    <a:off x="870" y="3626"/>
                    <a:ext cx="37" cy="9"/>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94" name="Freeform 253"/>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84" name="Group 254"/>
                <p:cNvGrpSpPr>
                  <a:grpSpLocks/>
                </p:cNvGrpSpPr>
                <p:nvPr/>
              </p:nvGrpSpPr>
              <p:grpSpPr bwMode="auto">
                <a:xfrm>
                  <a:off x="878" y="3638"/>
                  <a:ext cx="49" cy="22"/>
                  <a:chOff x="878" y="3638"/>
                  <a:chExt cx="49" cy="22"/>
                </a:xfrm>
              </p:grpSpPr>
              <p:sp>
                <p:nvSpPr>
                  <p:cNvPr id="8589" name="Freeform 255"/>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90" name="Freeform 256"/>
                  <p:cNvSpPr>
                    <a:spLocks/>
                  </p:cNvSpPr>
                  <p:nvPr/>
                </p:nvSpPr>
                <p:spPr bwMode="auto">
                  <a:xfrm>
                    <a:off x="883" y="3638"/>
                    <a:ext cx="36" cy="10"/>
                  </a:xfrm>
                  <a:custGeom>
                    <a:avLst/>
                    <a:gdLst>
                      <a:gd name="T0" fmla="*/ 1 w 72"/>
                      <a:gd name="T1" fmla="*/ 0 h 30"/>
                      <a:gd name="T2" fmla="*/ 2 w 72"/>
                      <a:gd name="T3" fmla="*/ 0 h 30"/>
                      <a:gd name="T4" fmla="*/ 2 w 72"/>
                      <a:gd name="T5" fmla="*/ 0 h 30"/>
                      <a:gd name="T6" fmla="*/ 2 w 72"/>
                      <a:gd name="T7" fmla="*/ 0 h 30"/>
                      <a:gd name="T8" fmla="*/ 3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91" name="Freeform 257"/>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85" name="Group 258"/>
                <p:cNvGrpSpPr>
                  <a:grpSpLocks/>
                </p:cNvGrpSpPr>
                <p:nvPr/>
              </p:nvGrpSpPr>
              <p:grpSpPr bwMode="auto">
                <a:xfrm>
                  <a:off x="890" y="3651"/>
                  <a:ext cx="50" cy="22"/>
                  <a:chOff x="890" y="3651"/>
                  <a:chExt cx="50" cy="22"/>
                </a:xfrm>
              </p:grpSpPr>
              <p:sp>
                <p:nvSpPr>
                  <p:cNvPr id="8586" name="Freeform 259"/>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87" name="Freeform 260"/>
                  <p:cNvSpPr>
                    <a:spLocks/>
                  </p:cNvSpPr>
                  <p:nvPr/>
                </p:nvSpPr>
                <p:spPr bwMode="auto">
                  <a:xfrm>
                    <a:off x="895" y="3651"/>
                    <a:ext cx="37" cy="10"/>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88" name="Freeform 261"/>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2 w 83"/>
                      <a:gd name="T9" fmla="*/ 0 h 35"/>
                      <a:gd name="T10" fmla="*/ 2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8362" name="Group 262"/>
              <p:cNvGrpSpPr>
                <a:grpSpLocks/>
              </p:cNvGrpSpPr>
              <p:nvPr/>
            </p:nvGrpSpPr>
            <p:grpSpPr bwMode="auto">
              <a:xfrm>
                <a:off x="903" y="3665"/>
                <a:ext cx="99" cy="74"/>
                <a:chOff x="903" y="3665"/>
                <a:chExt cx="99" cy="74"/>
              </a:xfrm>
            </p:grpSpPr>
            <p:grpSp>
              <p:nvGrpSpPr>
                <p:cNvPr id="8561" name="Group 263"/>
                <p:cNvGrpSpPr>
                  <a:grpSpLocks/>
                </p:cNvGrpSpPr>
                <p:nvPr/>
              </p:nvGrpSpPr>
              <p:grpSpPr bwMode="auto">
                <a:xfrm>
                  <a:off x="903" y="3665"/>
                  <a:ext cx="49" cy="23"/>
                  <a:chOff x="903" y="3665"/>
                  <a:chExt cx="49" cy="23"/>
                </a:xfrm>
              </p:grpSpPr>
              <p:sp>
                <p:nvSpPr>
                  <p:cNvPr id="8578" name="Freeform 264"/>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79" name="Freeform 265"/>
                  <p:cNvSpPr>
                    <a:spLocks/>
                  </p:cNvSpPr>
                  <p:nvPr/>
                </p:nvSpPr>
                <p:spPr bwMode="auto">
                  <a:xfrm>
                    <a:off x="907" y="3666"/>
                    <a:ext cx="37" cy="10"/>
                  </a:xfrm>
                  <a:custGeom>
                    <a:avLst/>
                    <a:gdLst>
                      <a:gd name="T0" fmla="*/ 1 w 73"/>
                      <a:gd name="T1" fmla="*/ 0 h 31"/>
                      <a:gd name="T2" fmla="*/ 2 w 73"/>
                      <a:gd name="T3" fmla="*/ 0 h 31"/>
                      <a:gd name="T4" fmla="*/ 2 w 73"/>
                      <a:gd name="T5" fmla="*/ 0 h 31"/>
                      <a:gd name="T6" fmla="*/ 2 w 73"/>
                      <a:gd name="T7" fmla="*/ 0 h 31"/>
                      <a:gd name="T8" fmla="*/ 3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80" name="Freeform 266"/>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62" name="Group 267"/>
                <p:cNvGrpSpPr>
                  <a:grpSpLocks/>
                </p:cNvGrpSpPr>
                <p:nvPr/>
              </p:nvGrpSpPr>
              <p:grpSpPr bwMode="auto">
                <a:xfrm>
                  <a:off x="914" y="3678"/>
                  <a:ext cx="49" cy="23"/>
                  <a:chOff x="914" y="3678"/>
                  <a:chExt cx="49" cy="23"/>
                </a:xfrm>
              </p:grpSpPr>
              <p:sp>
                <p:nvSpPr>
                  <p:cNvPr id="8575" name="Freeform 268"/>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76" name="Freeform 269"/>
                  <p:cNvSpPr>
                    <a:spLocks/>
                  </p:cNvSpPr>
                  <p:nvPr/>
                </p:nvSpPr>
                <p:spPr bwMode="auto">
                  <a:xfrm>
                    <a:off x="919" y="3678"/>
                    <a:ext cx="38" cy="10"/>
                  </a:xfrm>
                  <a:custGeom>
                    <a:avLst/>
                    <a:gdLst>
                      <a:gd name="T0" fmla="*/ 1 w 75"/>
                      <a:gd name="T1" fmla="*/ 0 h 30"/>
                      <a:gd name="T2" fmla="*/ 2 w 75"/>
                      <a:gd name="T3" fmla="*/ 0 h 30"/>
                      <a:gd name="T4" fmla="*/ 2 w 75"/>
                      <a:gd name="T5" fmla="*/ 0 h 30"/>
                      <a:gd name="T6" fmla="*/ 2 w 75"/>
                      <a:gd name="T7" fmla="*/ 0 h 30"/>
                      <a:gd name="T8" fmla="*/ 3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77" name="Freeform 270"/>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3 w 81"/>
                      <a:gd name="T9" fmla="*/ 0 h 38"/>
                      <a:gd name="T10" fmla="*/ 3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63" name="Group 271"/>
                <p:cNvGrpSpPr>
                  <a:grpSpLocks/>
                </p:cNvGrpSpPr>
                <p:nvPr/>
              </p:nvGrpSpPr>
              <p:grpSpPr bwMode="auto">
                <a:xfrm>
                  <a:off x="928" y="3690"/>
                  <a:ext cx="48" cy="23"/>
                  <a:chOff x="928" y="3690"/>
                  <a:chExt cx="48" cy="23"/>
                </a:xfrm>
              </p:grpSpPr>
              <p:sp>
                <p:nvSpPr>
                  <p:cNvPr id="8572" name="Freeform 272"/>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73" name="Freeform 273"/>
                  <p:cNvSpPr>
                    <a:spLocks/>
                  </p:cNvSpPr>
                  <p:nvPr/>
                </p:nvSpPr>
                <p:spPr bwMode="auto">
                  <a:xfrm>
                    <a:off x="932" y="3691"/>
                    <a:ext cx="38" cy="10"/>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74" name="Freeform 274"/>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64" name="Group 275"/>
                <p:cNvGrpSpPr>
                  <a:grpSpLocks/>
                </p:cNvGrpSpPr>
                <p:nvPr/>
              </p:nvGrpSpPr>
              <p:grpSpPr bwMode="auto">
                <a:xfrm>
                  <a:off x="940" y="3703"/>
                  <a:ext cx="49" cy="23"/>
                  <a:chOff x="940" y="3703"/>
                  <a:chExt cx="49" cy="23"/>
                </a:xfrm>
              </p:grpSpPr>
              <p:sp>
                <p:nvSpPr>
                  <p:cNvPr id="8569" name="Freeform 276"/>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70" name="Freeform 277"/>
                  <p:cNvSpPr>
                    <a:spLocks/>
                  </p:cNvSpPr>
                  <p:nvPr/>
                </p:nvSpPr>
                <p:spPr bwMode="auto">
                  <a:xfrm>
                    <a:off x="945" y="3703"/>
                    <a:ext cx="37" cy="10"/>
                  </a:xfrm>
                  <a:custGeom>
                    <a:avLst/>
                    <a:gdLst>
                      <a:gd name="T0" fmla="*/ 0 w 75"/>
                      <a:gd name="T1" fmla="*/ 0 h 30"/>
                      <a:gd name="T2" fmla="*/ 1 w 75"/>
                      <a:gd name="T3" fmla="*/ 0 h 30"/>
                      <a:gd name="T4" fmla="*/ 1 w 75"/>
                      <a:gd name="T5" fmla="*/ 0 h 30"/>
                      <a:gd name="T6" fmla="*/ 1 w 75"/>
                      <a:gd name="T7" fmla="*/ 0 h 30"/>
                      <a:gd name="T8" fmla="*/ 2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71" name="Freeform 278"/>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65" name="Group 279"/>
                <p:cNvGrpSpPr>
                  <a:grpSpLocks/>
                </p:cNvGrpSpPr>
                <p:nvPr/>
              </p:nvGrpSpPr>
              <p:grpSpPr bwMode="auto">
                <a:xfrm>
                  <a:off x="953" y="3716"/>
                  <a:ext cx="49" cy="23"/>
                  <a:chOff x="953" y="3716"/>
                  <a:chExt cx="49" cy="23"/>
                </a:xfrm>
              </p:grpSpPr>
              <p:sp>
                <p:nvSpPr>
                  <p:cNvPr id="8566" name="Freeform 280"/>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67" name="Freeform 281"/>
                  <p:cNvSpPr>
                    <a:spLocks/>
                  </p:cNvSpPr>
                  <p:nvPr/>
                </p:nvSpPr>
                <p:spPr bwMode="auto">
                  <a:xfrm>
                    <a:off x="958" y="3717"/>
                    <a:ext cx="37" cy="9"/>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68" name="Freeform 282"/>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8363" name="Group 283"/>
              <p:cNvGrpSpPr>
                <a:grpSpLocks/>
              </p:cNvGrpSpPr>
              <p:nvPr/>
            </p:nvGrpSpPr>
            <p:grpSpPr bwMode="auto">
              <a:xfrm>
                <a:off x="963" y="3727"/>
                <a:ext cx="49" cy="23"/>
                <a:chOff x="963" y="3727"/>
                <a:chExt cx="49" cy="23"/>
              </a:xfrm>
            </p:grpSpPr>
            <p:sp>
              <p:nvSpPr>
                <p:cNvPr id="8558" name="Freeform 284"/>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59" name="Freeform 285"/>
                <p:cNvSpPr>
                  <a:spLocks/>
                </p:cNvSpPr>
                <p:nvPr/>
              </p:nvSpPr>
              <p:spPr bwMode="auto">
                <a:xfrm>
                  <a:off x="968" y="3728"/>
                  <a:ext cx="37" cy="10"/>
                </a:xfrm>
                <a:custGeom>
                  <a:avLst/>
                  <a:gdLst>
                    <a:gd name="T0" fmla="*/ 1 w 73"/>
                    <a:gd name="T1" fmla="*/ 0 h 31"/>
                    <a:gd name="T2" fmla="*/ 2 w 73"/>
                    <a:gd name="T3" fmla="*/ 0 h 31"/>
                    <a:gd name="T4" fmla="*/ 2 w 73"/>
                    <a:gd name="T5" fmla="*/ 0 h 31"/>
                    <a:gd name="T6" fmla="*/ 2 w 73"/>
                    <a:gd name="T7" fmla="*/ 0 h 31"/>
                    <a:gd name="T8" fmla="*/ 3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60" name="Freeform 286"/>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64" name="Group 287"/>
              <p:cNvGrpSpPr>
                <a:grpSpLocks/>
              </p:cNvGrpSpPr>
              <p:nvPr/>
            </p:nvGrpSpPr>
            <p:grpSpPr bwMode="auto">
              <a:xfrm>
                <a:off x="976" y="3740"/>
                <a:ext cx="50" cy="22"/>
                <a:chOff x="976" y="3740"/>
                <a:chExt cx="50" cy="22"/>
              </a:xfrm>
            </p:grpSpPr>
            <p:sp>
              <p:nvSpPr>
                <p:cNvPr id="8555" name="Freeform 288"/>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56" name="Freeform 289"/>
                <p:cNvSpPr>
                  <a:spLocks/>
                </p:cNvSpPr>
                <p:nvPr/>
              </p:nvSpPr>
              <p:spPr bwMode="auto">
                <a:xfrm>
                  <a:off x="980" y="3740"/>
                  <a:ext cx="38" cy="10"/>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57" name="Freeform 290"/>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65" name="Group 291"/>
              <p:cNvGrpSpPr>
                <a:grpSpLocks/>
              </p:cNvGrpSpPr>
              <p:nvPr/>
            </p:nvGrpSpPr>
            <p:grpSpPr bwMode="auto">
              <a:xfrm>
                <a:off x="761" y="3560"/>
                <a:ext cx="50" cy="22"/>
                <a:chOff x="761" y="3560"/>
                <a:chExt cx="50" cy="22"/>
              </a:xfrm>
            </p:grpSpPr>
            <p:sp>
              <p:nvSpPr>
                <p:cNvPr id="8552" name="Freeform 292"/>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53" name="Freeform 293"/>
                <p:cNvSpPr>
                  <a:spLocks/>
                </p:cNvSpPr>
                <p:nvPr/>
              </p:nvSpPr>
              <p:spPr bwMode="auto">
                <a:xfrm>
                  <a:off x="767" y="3560"/>
                  <a:ext cx="36" cy="10"/>
                </a:xfrm>
                <a:custGeom>
                  <a:avLst/>
                  <a:gdLst>
                    <a:gd name="T0" fmla="*/ 0 w 73"/>
                    <a:gd name="T1" fmla="*/ 0 h 29"/>
                    <a:gd name="T2" fmla="*/ 1 w 73"/>
                    <a:gd name="T3" fmla="*/ 0 h 29"/>
                    <a:gd name="T4" fmla="*/ 1 w 73"/>
                    <a:gd name="T5" fmla="*/ 0 h 29"/>
                    <a:gd name="T6" fmla="*/ 1 w 73"/>
                    <a:gd name="T7" fmla="*/ 0 h 29"/>
                    <a:gd name="T8" fmla="*/ 2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54" name="Freeform 294"/>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3 w 83"/>
                    <a:gd name="T9" fmla="*/ 0 h 35"/>
                    <a:gd name="T10" fmla="*/ 3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66" name="Group 295"/>
              <p:cNvGrpSpPr>
                <a:grpSpLocks/>
              </p:cNvGrpSpPr>
              <p:nvPr/>
            </p:nvGrpSpPr>
            <p:grpSpPr bwMode="auto">
              <a:xfrm>
                <a:off x="774" y="3572"/>
                <a:ext cx="49" cy="23"/>
                <a:chOff x="774" y="3572"/>
                <a:chExt cx="49" cy="23"/>
              </a:xfrm>
            </p:grpSpPr>
            <p:sp>
              <p:nvSpPr>
                <p:cNvPr id="8549" name="Freeform 296"/>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50" name="Freeform 297"/>
                <p:cNvSpPr>
                  <a:spLocks/>
                </p:cNvSpPr>
                <p:nvPr/>
              </p:nvSpPr>
              <p:spPr bwMode="auto">
                <a:xfrm>
                  <a:off x="778" y="3573"/>
                  <a:ext cx="38" cy="9"/>
                </a:xfrm>
                <a:custGeom>
                  <a:avLst/>
                  <a:gdLst>
                    <a:gd name="T0" fmla="*/ 1 w 75"/>
                    <a:gd name="T1" fmla="*/ 0 h 29"/>
                    <a:gd name="T2" fmla="*/ 2 w 75"/>
                    <a:gd name="T3" fmla="*/ 0 h 29"/>
                    <a:gd name="T4" fmla="*/ 2 w 75"/>
                    <a:gd name="T5" fmla="*/ 0 h 29"/>
                    <a:gd name="T6" fmla="*/ 2 w 75"/>
                    <a:gd name="T7" fmla="*/ 0 h 29"/>
                    <a:gd name="T8" fmla="*/ 3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51" name="Freeform 298"/>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67" name="Group 299"/>
              <p:cNvGrpSpPr>
                <a:grpSpLocks/>
              </p:cNvGrpSpPr>
              <p:nvPr/>
            </p:nvGrpSpPr>
            <p:grpSpPr bwMode="auto">
              <a:xfrm>
                <a:off x="787" y="3585"/>
                <a:ext cx="49" cy="23"/>
                <a:chOff x="787" y="3585"/>
                <a:chExt cx="49" cy="23"/>
              </a:xfrm>
            </p:grpSpPr>
            <p:sp>
              <p:nvSpPr>
                <p:cNvPr id="8546" name="Freeform 300"/>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7" name="Freeform 301"/>
                <p:cNvSpPr>
                  <a:spLocks/>
                </p:cNvSpPr>
                <p:nvPr/>
              </p:nvSpPr>
              <p:spPr bwMode="auto">
                <a:xfrm>
                  <a:off x="792" y="3586"/>
                  <a:ext cx="36" cy="10"/>
                </a:xfrm>
                <a:custGeom>
                  <a:avLst/>
                  <a:gdLst>
                    <a:gd name="T0" fmla="*/ 0 w 74"/>
                    <a:gd name="T1" fmla="*/ 0 h 29"/>
                    <a:gd name="T2" fmla="*/ 1 w 74"/>
                    <a:gd name="T3" fmla="*/ 0 h 29"/>
                    <a:gd name="T4" fmla="*/ 1 w 74"/>
                    <a:gd name="T5" fmla="*/ 0 h 29"/>
                    <a:gd name="T6" fmla="*/ 1 w 74"/>
                    <a:gd name="T7" fmla="*/ 0 h 29"/>
                    <a:gd name="T8" fmla="*/ 2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8" name="Freeform 302"/>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68" name="Group 303"/>
              <p:cNvGrpSpPr>
                <a:grpSpLocks/>
              </p:cNvGrpSpPr>
              <p:nvPr/>
            </p:nvGrpSpPr>
            <p:grpSpPr bwMode="auto">
              <a:xfrm>
                <a:off x="799" y="3600"/>
                <a:ext cx="99" cy="73"/>
                <a:chOff x="799" y="3600"/>
                <a:chExt cx="99" cy="73"/>
              </a:xfrm>
            </p:grpSpPr>
            <p:grpSp>
              <p:nvGrpSpPr>
                <p:cNvPr id="8526" name="Group 304"/>
                <p:cNvGrpSpPr>
                  <a:grpSpLocks/>
                </p:cNvGrpSpPr>
                <p:nvPr/>
              </p:nvGrpSpPr>
              <p:grpSpPr bwMode="auto">
                <a:xfrm>
                  <a:off x="799" y="3600"/>
                  <a:ext cx="48" cy="23"/>
                  <a:chOff x="799" y="3600"/>
                  <a:chExt cx="48" cy="23"/>
                </a:xfrm>
              </p:grpSpPr>
              <p:sp>
                <p:nvSpPr>
                  <p:cNvPr id="8543" name="Freeform 305"/>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4" name="Freeform 306"/>
                  <p:cNvSpPr>
                    <a:spLocks/>
                  </p:cNvSpPr>
                  <p:nvPr/>
                </p:nvSpPr>
                <p:spPr bwMode="auto">
                  <a:xfrm>
                    <a:off x="803" y="3600"/>
                    <a:ext cx="38" cy="11"/>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5" name="Freeform 307"/>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2 w 82"/>
                      <a:gd name="T9" fmla="*/ 0 h 38"/>
                      <a:gd name="T10" fmla="*/ 2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27" name="Group 308"/>
                <p:cNvGrpSpPr>
                  <a:grpSpLocks/>
                </p:cNvGrpSpPr>
                <p:nvPr/>
              </p:nvGrpSpPr>
              <p:grpSpPr bwMode="auto">
                <a:xfrm>
                  <a:off x="811" y="3612"/>
                  <a:ext cx="48" cy="23"/>
                  <a:chOff x="811" y="3612"/>
                  <a:chExt cx="48" cy="23"/>
                </a:xfrm>
              </p:grpSpPr>
              <p:sp>
                <p:nvSpPr>
                  <p:cNvPr id="8540" name="Freeform 309"/>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1" name="Freeform 310"/>
                  <p:cNvSpPr>
                    <a:spLocks/>
                  </p:cNvSpPr>
                  <p:nvPr/>
                </p:nvSpPr>
                <p:spPr bwMode="auto">
                  <a:xfrm>
                    <a:off x="815" y="3613"/>
                    <a:ext cx="38" cy="10"/>
                  </a:xfrm>
                  <a:custGeom>
                    <a:avLst/>
                    <a:gdLst>
                      <a:gd name="T0" fmla="*/ 1 w 75"/>
                      <a:gd name="T1" fmla="*/ 0 h 32"/>
                      <a:gd name="T2" fmla="*/ 2 w 75"/>
                      <a:gd name="T3" fmla="*/ 0 h 32"/>
                      <a:gd name="T4" fmla="*/ 2 w 75"/>
                      <a:gd name="T5" fmla="*/ 0 h 32"/>
                      <a:gd name="T6" fmla="*/ 2 w 75"/>
                      <a:gd name="T7" fmla="*/ 0 h 32"/>
                      <a:gd name="T8" fmla="*/ 3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2" name="Freeform 311"/>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28" name="Group 312"/>
                <p:cNvGrpSpPr>
                  <a:grpSpLocks/>
                </p:cNvGrpSpPr>
                <p:nvPr/>
              </p:nvGrpSpPr>
              <p:grpSpPr bwMode="auto">
                <a:xfrm>
                  <a:off x="823" y="3625"/>
                  <a:ext cx="49" cy="23"/>
                  <a:chOff x="823" y="3625"/>
                  <a:chExt cx="49" cy="23"/>
                </a:xfrm>
              </p:grpSpPr>
              <p:sp>
                <p:nvSpPr>
                  <p:cNvPr id="8537" name="Freeform 313"/>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8" name="Freeform 314"/>
                  <p:cNvSpPr>
                    <a:spLocks/>
                  </p:cNvSpPr>
                  <p:nvPr/>
                </p:nvSpPr>
                <p:spPr bwMode="auto">
                  <a:xfrm>
                    <a:off x="828" y="3626"/>
                    <a:ext cx="37" cy="9"/>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9" name="Freeform 315"/>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29" name="Group 316"/>
                <p:cNvGrpSpPr>
                  <a:grpSpLocks/>
                </p:cNvGrpSpPr>
                <p:nvPr/>
              </p:nvGrpSpPr>
              <p:grpSpPr bwMode="auto">
                <a:xfrm>
                  <a:off x="836" y="3638"/>
                  <a:ext cx="50" cy="22"/>
                  <a:chOff x="836" y="3638"/>
                  <a:chExt cx="50" cy="22"/>
                </a:xfrm>
              </p:grpSpPr>
              <p:sp>
                <p:nvSpPr>
                  <p:cNvPr id="8534" name="Freeform 317"/>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5" name="Freeform 318"/>
                  <p:cNvSpPr>
                    <a:spLocks/>
                  </p:cNvSpPr>
                  <p:nvPr/>
                </p:nvSpPr>
                <p:spPr bwMode="auto">
                  <a:xfrm>
                    <a:off x="842" y="3638"/>
                    <a:ext cx="36" cy="10"/>
                  </a:xfrm>
                  <a:custGeom>
                    <a:avLst/>
                    <a:gdLst>
                      <a:gd name="T0" fmla="*/ 1 w 72"/>
                      <a:gd name="T1" fmla="*/ 0 h 30"/>
                      <a:gd name="T2" fmla="*/ 2 w 72"/>
                      <a:gd name="T3" fmla="*/ 0 h 30"/>
                      <a:gd name="T4" fmla="*/ 2 w 72"/>
                      <a:gd name="T5" fmla="*/ 0 h 30"/>
                      <a:gd name="T6" fmla="*/ 2 w 72"/>
                      <a:gd name="T7" fmla="*/ 0 h 30"/>
                      <a:gd name="T8" fmla="*/ 3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6" name="Freeform 319"/>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30" name="Group 320"/>
                <p:cNvGrpSpPr>
                  <a:grpSpLocks/>
                </p:cNvGrpSpPr>
                <p:nvPr/>
              </p:nvGrpSpPr>
              <p:grpSpPr bwMode="auto">
                <a:xfrm>
                  <a:off x="849" y="3651"/>
                  <a:ext cx="49" cy="22"/>
                  <a:chOff x="849" y="3651"/>
                  <a:chExt cx="49" cy="22"/>
                </a:xfrm>
              </p:grpSpPr>
              <p:sp>
                <p:nvSpPr>
                  <p:cNvPr id="8531" name="Freeform 321"/>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2" name="Freeform 322"/>
                  <p:cNvSpPr>
                    <a:spLocks/>
                  </p:cNvSpPr>
                  <p:nvPr/>
                </p:nvSpPr>
                <p:spPr bwMode="auto">
                  <a:xfrm>
                    <a:off x="854" y="3651"/>
                    <a:ext cx="37" cy="10"/>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3" name="Freeform 323"/>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3 w 81"/>
                      <a:gd name="T9" fmla="*/ 0 h 35"/>
                      <a:gd name="T10" fmla="*/ 3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8369" name="Group 324"/>
              <p:cNvGrpSpPr>
                <a:grpSpLocks/>
              </p:cNvGrpSpPr>
              <p:nvPr/>
            </p:nvGrpSpPr>
            <p:grpSpPr bwMode="auto">
              <a:xfrm>
                <a:off x="861" y="3665"/>
                <a:ext cx="99" cy="74"/>
                <a:chOff x="861" y="3665"/>
                <a:chExt cx="99" cy="74"/>
              </a:xfrm>
            </p:grpSpPr>
            <p:grpSp>
              <p:nvGrpSpPr>
                <p:cNvPr id="8506" name="Group 325"/>
                <p:cNvGrpSpPr>
                  <a:grpSpLocks/>
                </p:cNvGrpSpPr>
                <p:nvPr/>
              </p:nvGrpSpPr>
              <p:grpSpPr bwMode="auto">
                <a:xfrm>
                  <a:off x="861" y="3665"/>
                  <a:ext cx="50" cy="23"/>
                  <a:chOff x="861" y="3665"/>
                  <a:chExt cx="50" cy="23"/>
                </a:xfrm>
              </p:grpSpPr>
              <p:sp>
                <p:nvSpPr>
                  <p:cNvPr id="8523" name="Freeform 326"/>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4" name="Freeform 327"/>
                  <p:cNvSpPr>
                    <a:spLocks/>
                  </p:cNvSpPr>
                  <p:nvPr/>
                </p:nvSpPr>
                <p:spPr bwMode="auto">
                  <a:xfrm>
                    <a:off x="865" y="3666"/>
                    <a:ext cx="38" cy="10"/>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5" name="Freeform 328"/>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07" name="Group 329"/>
                <p:cNvGrpSpPr>
                  <a:grpSpLocks/>
                </p:cNvGrpSpPr>
                <p:nvPr/>
              </p:nvGrpSpPr>
              <p:grpSpPr bwMode="auto">
                <a:xfrm>
                  <a:off x="873" y="3678"/>
                  <a:ext cx="49" cy="23"/>
                  <a:chOff x="873" y="3678"/>
                  <a:chExt cx="49" cy="23"/>
                </a:xfrm>
              </p:grpSpPr>
              <p:sp>
                <p:nvSpPr>
                  <p:cNvPr id="8520" name="Freeform 330"/>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1" name="Freeform 331"/>
                  <p:cNvSpPr>
                    <a:spLocks/>
                  </p:cNvSpPr>
                  <p:nvPr/>
                </p:nvSpPr>
                <p:spPr bwMode="auto">
                  <a:xfrm>
                    <a:off x="878" y="3678"/>
                    <a:ext cx="37" cy="10"/>
                  </a:xfrm>
                  <a:custGeom>
                    <a:avLst/>
                    <a:gdLst>
                      <a:gd name="T0" fmla="*/ 0 w 75"/>
                      <a:gd name="T1" fmla="*/ 0 h 30"/>
                      <a:gd name="T2" fmla="*/ 1 w 75"/>
                      <a:gd name="T3" fmla="*/ 0 h 30"/>
                      <a:gd name="T4" fmla="*/ 1 w 75"/>
                      <a:gd name="T5" fmla="*/ 0 h 30"/>
                      <a:gd name="T6" fmla="*/ 1 w 75"/>
                      <a:gd name="T7" fmla="*/ 0 h 30"/>
                      <a:gd name="T8" fmla="*/ 2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2" name="Freeform 332"/>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3 w 82"/>
                      <a:gd name="T9" fmla="*/ 0 h 38"/>
                      <a:gd name="T10" fmla="*/ 3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08" name="Group 333"/>
                <p:cNvGrpSpPr>
                  <a:grpSpLocks/>
                </p:cNvGrpSpPr>
                <p:nvPr/>
              </p:nvGrpSpPr>
              <p:grpSpPr bwMode="auto">
                <a:xfrm>
                  <a:off x="886" y="3690"/>
                  <a:ext cx="49" cy="23"/>
                  <a:chOff x="886" y="3690"/>
                  <a:chExt cx="49" cy="23"/>
                </a:xfrm>
              </p:grpSpPr>
              <p:sp>
                <p:nvSpPr>
                  <p:cNvPr id="8517" name="Freeform 334"/>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18" name="Freeform 335"/>
                  <p:cNvSpPr>
                    <a:spLocks/>
                  </p:cNvSpPr>
                  <p:nvPr/>
                </p:nvSpPr>
                <p:spPr bwMode="auto">
                  <a:xfrm>
                    <a:off x="890" y="3691"/>
                    <a:ext cx="38" cy="10"/>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19" name="Freeform 336"/>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09" name="Group 337"/>
                <p:cNvGrpSpPr>
                  <a:grpSpLocks/>
                </p:cNvGrpSpPr>
                <p:nvPr/>
              </p:nvGrpSpPr>
              <p:grpSpPr bwMode="auto">
                <a:xfrm>
                  <a:off x="899" y="3703"/>
                  <a:ext cx="48" cy="23"/>
                  <a:chOff x="899" y="3703"/>
                  <a:chExt cx="48" cy="23"/>
                </a:xfrm>
              </p:grpSpPr>
              <p:sp>
                <p:nvSpPr>
                  <p:cNvPr id="8514" name="Freeform 338"/>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15" name="Freeform 339"/>
                  <p:cNvSpPr>
                    <a:spLocks/>
                  </p:cNvSpPr>
                  <p:nvPr/>
                </p:nvSpPr>
                <p:spPr bwMode="auto">
                  <a:xfrm>
                    <a:off x="903" y="3703"/>
                    <a:ext cx="38" cy="10"/>
                  </a:xfrm>
                  <a:custGeom>
                    <a:avLst/>
                    <a:gdLst>
                      <a:gd name="T0" fmla="*/ 1 w 75"/>
                      <a:gd name="T1" fmla="*/ 0 h 30"/>
                      <a:gd name="T2" fmla="*/ 2 w 75"/>
                      <a:gd name="T3" fmla="*/ 0 h 30"/>
                      <a:gd name="T4" fmla="*/ 2 w 75"/>
                      <a:gd name="T5" fmla="*/ 0 h 30"/>
                      <a:gd name="T6" fmla="*/ 2 w 75"/>
                      <a:gd name="T7" fmla="*/ 0 h 30"/>
                      <a:gd name="T8" fmla="*/ 3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16" name="Freeform 340"/>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510" name="Group 341"/>
                <p:cNvGrpSpPr>
                  <a:grpSpLocks/>
                </p:cNvGrpSpPr>
                <p:nvPr/>
              </p:nvGrpSpPr>
              <p:grpSpPr bwMode="auto">
                <a:xfrm>
                  <a:off x="912" y="3716"/>
                  <a:ext cx="48" cy="23"/>
                  <a:chOff x="912" y="3716"/>
                  <a:chExt cx="48" cy="23"/>
                </a:xfrm>
              </p:grpSpPr>
              <p:sp>
                <p:nvSpPr>
                  <p:cNvPr id="8511" name="Freeform 342"/>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12" name="Freeform 343"/>
                  <p:cNvSpPr>
                    <a:spLocks/>
                  </p:cNvSpPr>
                  <p:nvPr/>
                </p:nvSpPr>
                <p:spPr bwMode="auto">
                  <a:xfrm>
                    <a:off x="916" y="3717"/>
                    <a:ext cx="37" cy="9"/>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13" name="Freeform 344"/>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8370" name="Group 345"/>
              <p:cNvGrpSpPr>
                <a:grpSpLocks/>
              </p:cNvGrpSpPr>
              <p:nvPr/>
            </p:nvGrpSpPr>
            <p:grpSpPr bwMode="auto">
              <a:xfrm>
                <a:off x="922" y="3727"/>
                <a:ext cx="49" cy="23"/>
                <a:chOff x="922" y="3727"/>
                <a:chExt cx="49" cy="23"/>
              </a:xfrm>
            </p:grpSpPr>
            <p:sp>
              <p:nvSpPr>
                <p:cNvPr id="8503" name="Freeform 346"/>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04" name="Freeform 347"/>
                <p:cNvSpPr>
                  <a:spLocks/>
                </p:cNvSpPr>
                <p:nvPr/>
              </p:nvSpPr>
              <p:spPr bwMode="auto">
                <a:xfrm>
                  <a:off x="927" y="3728"/>
                  <a:ext cx="36" cy="10"/>
                </a:xfrm>
                <a:custGeom>
                  <a:avLst/>
                  <a:gdLst>
                    <a:gd name="T0" fmla="*/ 1 w 72"/>
                    <a:gd name="T1" fmla="*/ 0 h 31"/>
                    <a:gd name="T2" fmla="*/ 2 w 72"/>
                    <a:gd name="T3" fmla="*/ 0 h 31"/>
                    <a:gd name="T4" fmla="*/ 2 w 72"/>
                    <a:gd name="T5" fmla="*/ 0 h 31"/>
                    <a:gd name="T6" fmla="*/ 2 w 72"/>
                    <a:gd name="T7" fmla="*/ 0 h 31"/>
                    <a:gd name="T8" fmla="*/ 3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05" name="Freeform 348"/>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71" name="Group 349"/>
              <p:cNvGrpSpPr>
                <a:grpSpLocks/>
              </p:cNvGrpSpPr>
              <p:nvPr/>
            </p:nvGrpSpPr>
            <p:grpSpPr bwMode="auto">
              <a:xfrm>
                <a:off x="895" y="3526"/>
                <a:ext cx="44" cy="23"/>
                <a:chOff x="895" y="3526"/>
                <a:chExt cx="44" cy="23"/>
              </a:xfrm>
            </p:grpSpPr>
            <p:sp>
              <p:nvSpPr>
                <p:cNvPr id="8500" name="Freeform 350"/>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2 w 38"/>
                    <a:gd name="T7" fmla="*/ 0 h 69"/>
                    <a:gd name="T8" fmla="*/ 1 w 38"/>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01" name="Freeform 351"/>
                <p:cNvSpPr>
                  <a:spLocks/>
                </p:cNvSpPr>
                <p:nvPr/>
              </p:nvSpPr>
              <p:spPr bwMode="auto">
                <a:xfrm>
                  <a:off x="901" y="3526"/>
                  <a:ext cx="33" cy="12"/>
                </a:xfrm>
                <a:custGeom>
                  <a:avLst/>
                  <a:gdLst>
                    <a:gd name="T0" fmla="*/ 0 w 64"/>
                    <a:gd name="T1" fmla="*/ 0 h 35"/>
                    <a:gd name="T2" fmla="*/ 2 w 64"/>
                    <a:gd name="T3" fmla="*/ 0 h 35"/>
                    <a:gd name="T4" fmla="*/ 3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02" name="Freeform 352"/>
                <p:cNvSpPr>
                  <a:spLocks/>
                </p:cNvSpPr>
                <p:nvPr/>
              </p:nvSpPr>
              <p:spPr bwMode="auto">
                <a:xfrm>
                  <a:off x="907" y="3538"/>
                  <a:ext cx="32" cy="11"/>
                </a:xfrm>
                <a:custGeom>
                  <a:avLst/>
                  <a:gdLst>
                    <a:gd name="T0" fmla="*/ 0 w 65"/>
                    <a:gd name="T1" fmla="*/ 0 h 31"/>
                    <a:gd name="T2" fmla="*/ 0 w 65"/>
                    <a:gd name="T3" fmla="*/ 0 h 31"/>
                    <a:gd name="T4" fmla="*/ 1 w 65"/>
                    <a:gd name="T5" fmla="*/ 0 h 31"/>
                    <a:gd name="T6" fmla="*/ 2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72" name="Group 353"/>
              <p:cNvGrpSpPr>
                <a:grpSpLocks/>
              </p:cNvGrpSpPr>
              <p:nvPr/>
            </p:nvGrpSpPr>
            <p:grpSpPr bwMode="auto">
              <a:xfrm>
                <a:off x="907" y="3540"/>
                <a:ext cx="45" cy="22"/>
                <a:chOff x="907" y="3540"/>
                <a:chExt cx="45" cy="22"/>
              </a:xfrm>
            </p:grpSpPr>
            <p:sp>
              <p:nvSpPr>
                <p:cNvPr id="8497" name="Freeform 354"/>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2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8" name="Freeform 355"/>
                <p:cNvSpPr>
                  <a:spLocks/>
                </p:cNvSpPr>
                <p:nvPr/>
              </p:nvSpPr>
              <p:spPr bwMode="auto">
                <a:xfrm>
                  <a:off x="914" y="3540"/>
                  <a:ext cx="32" cy="11"/>
                </a:xfrm>
                <a:custGeom>
                  <a:avLst/>
                  <a:gdLst>
                    <a:gd name="T0" fmla="*/ 0 w 64"/>
                    <a:gd name="T1" fmla="*/ 0 h 34"/>
                    <a:gd name="T2" fmla="*/ 2 w 64"/>
                    <a:gd name="T3" fmla="*/ 0 h 34"/>
                    <a:gd name="T4" fmla="*/ 2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9" name="Freeform 356"/>
                <p:cNvSpPr>
                  <a:spLocks/>
                </p:cNvSpPr>
                <p:nvPr/>
              </p:nvSpPr>
              <p:spPr bwMode="auto">
                <a:xfrm>
                  <a:off x="919" y="3552"/>
                  <a:ext cx="33" cy="10"/>
                </a:xfrm>
                <a:custGeom>
                  <a:avLst/>
                  <a:gdLst>
                    <a:gd name="T0" fmla="*/ 0 w 66"/>
                    <a:gd name="T1" fmla="*/ 0 h 30"/>
                    <a:gd name="T2" fmla="*/ 1 w 66"/>
                    <a:gd name="T3" fmla="*/ 0 h 30"/>
                    <a:gd name="T4" fmla="*/ 2 w 66"/>
                    <a:gd name="T5" fmla="*/ 0 h 30"/>
                    <a:gd name="T6" fmla="*/ 3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73" name="Group 357"/>
              <p:cNvGrpSpPr>
                <a:grpSpLocks/>
              </p:cNvGrpSpPr>
              <p:nvPr/>
            </p:nvGrpSpPr>
            <p:grpSpPr bwMode="auto">
              <a:xfrm>
                <a:off x="920" y="3553"/>
                <a:ext cx="45" cy="23"/>
                <a:chOff x="920" y="3553"/>
                <a:chExt cx="45" cy="23"/>
              </a:xfrm>
            </p:grpSpPr>
            <p:sp>
              <p:nvSpPr>
                <p:cNvPr id="8494" name="Freeform 358"/>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1 w 41"/>
                    <a:gd name="T7" fmla="*/ 0 h 68"/>
                    <a:gd name="T8" fmla="*/ 0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5" name="Freeform 359"/>
                <p:cNvSpPr>
                  <a:spLocks/>
                </p:cNvSpPr>
                <p:nvPr/>
              </p:nvSpPr>
              <p:spPr bwMode="auto">
                <a:xfrm>
                  <a:off x="927" y="3554"/>
                  <a:ext cx="32" cy="11"/>
                </a:xfrm>
                <a:custGeom>
                  <a:avLst/>
                  <a:gdLst>
                    <a:gd name="T0" fmla="*/ 0 w 63"/>
                    <a:gd name="T1" fmla="*/ 0 h 33"/>
                    <a:gd name="T2" fmla="*/ 2 w 63"/>
                    <a:gd name="T3" fmla="*/ 0 h 33"/>
                    <a:gd name="T4" fmla="*/ 2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6" name="Freeform 360"/>
                <p:cNvSpPr>
                  <a:spLocks/>
                </p:cNvSpPr>
                <p:nvPr/>
              </p:nvSpPr>
              <p:spPr bwMode="auto">
                <a:xfrm>
                  <a:off x="932" y="3566"/>
                  <a:ext cx="33" cy="10"/>
                </a:xfrm>
                <a:custGeom>
                  <a:avLst/>
                  <a:gdLst>
                    <a:gd name="T0" fmla="*/ 0 w 66"/>
                    <a:gd name="T1" fmla="*/ 0 h 30"/>
                    <a:gd name="T2" fmla="*/ 1 w 66"/>
                    <a:gd name="T3" fmla="*/ 0 h 30"/>
                    <a:gd name="T4" fmla="*/ 2 w 66"/>
                    <a:gd name="T5" fmla="*/ 0 h 30"/>
                    <a:gd name="T6" fmla="*/ 3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74" name="Group 361"/>
              <p:cNvGrpSpPr>
                <a:grpSpLocks/>
              </p:cNvGrpSpPr>
              <p:nvPr/>
            </p:nvGrpSpPr>
            <p:grpSpPr bwMode="auto">
              <a:xfrm>
                <a:off x="934" y="3566"/>
                <a:ext cx="44" cy="23"/>
                <a:chOff x="934" y="3566"/>
                <a:chExt cx="44" cy="23"/>
              </a:xfrm>
            </p:grpSpPr>
            <p:sp>
              <p:nvSpPr>
                <p:cNvPr id="8491" name="Freeform 362"/>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1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2" name="Freeform 363"/>
                <p:cNvSpPr>
                  <a:spLocks/>
                </p:cNvSpPr>
                <p:nvPr/>
              </p:nvSpPr>
              <p:spPr bwMode="auto">
                <a:xfrm>
                  <a:off x="940" y="3567"/>
                  <a:ext cx="32" cy="11"/>
                </a:xfrm>
                <a:custGeom>
                  <a:avLst/>
                  <a:gdLst>
                    <a:gd name="T0" fmla="*/ 0 w 65"/>
                    <a:gd name="T1" fmla="*/ 0 h 35"/>
                    <a:gd name="T2" fmla="*/ 1 w 65"/>
                    <a:gd name="T3" fmla="*/ 0 h 35"/>
                    <a:gd name="T4" fmla="*/ 2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3" name="Freeform 364"/>
                <p:cNvSpPr>
                  <a:spLocks/>
                </p:cNvSpPr>
                <p:nvPr/>
              </p:nvSpPr>
              <p:spPr bwMode="auto">
                <a:xfrm>
                  <a:off x="945" y="3579"/>
                  <a:ext cx="33" cy="9"/>
                </a:xfrm>
                <a:custGeom>
                  <a:avLst/>
                  <a:gdLst>
                    <a:gd name="T0" fmla="*/ 0 w 65"/>
                    <a:gd name="T1" fmla="*/ 0 h 28"/>
                    <a:gd name="T2" fmla="*/ 1 w 65"/>
                    <a:gd name="T3" fmla="*/ 0 h 28"/>
                    <a:gd name="T4" fmla="*/ 2 w 65"/>
                    <a:gd name="T5" fmla="*/ 0 h 28"/>
                    <a:gd name="T6" fmla="*/ 3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75" name="Group 365"/>
              <p:cNvGrpSpPr>
                <a:grpSpLocks/>
              </p:cNvGrpSpPr>
              <p:nvPr/>
            </p:nvGrpSpPr>
            <p:grpSpPr bwMode="auto">
              <a:xfrm>
                <a:off x="949" y="3579"/>
                <a:ext cx="83" cy="63"/>
                <a:chOff x="949" y="3579"/>
                <a:chExt cx="83" cy="63"/>
              </a:xfrm>
            </p:grpSpPr>
            <p:grpSp>
              <p:nvGrpSpPr>
                <p:cNvPr id="8475" name="Group 366"/>
                <p:cNvGrpSpPr>
                  <a:grpSpLocks/>
                </p:cNvGrpSpPr>
                <p:nvPr/>
              </p:nvGrpSpPr>
              <p:grpSpPr bwMode="auto">
                <a:xfrm>
                  <a:off x="949" y="3579"/>
                  <a:ext cx="44" cy="23"/>
                  <a:chOff x="949" y="3579"/>
                  <a:chExt cx="44" cy="23"/>
                </a:xfrm>
              </p:grpSpPr>
              <p:sp>
                <p:nvSpPr>
                  <p:cNvPr id="8488" name="Freeform 367"/>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2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89" name="Freeform 368"/>
                  <p:cNvSpPr>
                    <a:spLocks/>
                  </p:cNvSpPr>
                  <p:nvPr/>
                </p:nvSpPr>
                <p:spPr bwMode="auto">
                  <a:xfrm>
                    <a:off x="955" y="3579"/>
                    <a:ext cx="32" cy="11"/>
                  </a:xfrm>
                  <a:custGeom>
                    <a:avLst/>
                    <a:gdLst>
                      <a:gd name="T0" fmla="*/ 0 w 66"/>
                      <a:gd name="T1" fmla="*/ 0 h 32"/>
                      <a:gd name="T2" fmla="*/ 1 w 66"/>
                      <a:gd name="T3" fmla="*/ 0 h 32"/>
                      <a:gd name="T4" fmla="*/ 2 w 66"/>
                      <a:gd name="T5" fmla="*/ 0 h 32"/>
                      <a:gd name="T6" fmla="*/ 0 w 66"/>
                      <a:gd name="T7" fmla="*/ 0 h 32"/>
                      <a:gd name="T8" fmla="*/ 0 w 6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0" name="Freeform 369"/>
                  <p:cNvSpPr>
                    <a:spLocks/>
                  </p:cNvSpPr>
                  <p:nvPr/>
                </p:nvSpPr>
                <p:spPr bwMode="auto">
                  <a:xfrm>
                    <a:off x="960" y="3591"/>
                    <a:ext cx="33" cy="10"/>
                  </a:xfrm>
                  <a:custGeom>
                    <a:avLst/>
                    <a:gdLst>
                      <a:gd name="T0" fmla="*/ 0 w 65"/>
                      <a:gd name="T1" fmla="*/ 0 h 31"/>
                      <a:gd name="T2" fmla="*/ 1 w 65"/>
                      <a:gd name="T3" fmla="*/ 0 h 31"/>
                      <a:gd name="T4" fmla="*/ 2 w 65"/>
                      <a:gd name="T5" fmla="*/ 0 h 31"/>
                      <a:gd name="T6" fmla="*/ 3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476" name="Group 370"/>
                <p:cNvGrpSpPr>
                  <a:grpSpLocks/>
                </p:cNvGrpSpPr>
                <p:nvPr/>
              </p:nvGrpSpPr>
              <p:grpSpPr bwMode="auto">
                <a:xfrm>
                  <a:off x="961" y="3592"/>
                  <a:ext cx="45" cy="23"/>
                  <a:chOff x="961" y="3592"/>
                  <a:chExt cx="45" cy="23"/>
                </a:xfrm>
              </p:grpSpPr>
              <p:sp>
                <p:nvSpPr>
                  <p:cNvPr id="8485" name="Freeform 371"/>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2 w 40"/>
                      <a:gd name="T7" fmla="*/ 0 h 69"/>
                      <a:gd name="T8" fmla="*/ 1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86" name="Freeform 372"/>
                  <p:cNvSpPr>
                    <a:spLocks/>
                  </p:cNvSpPr>
                  <p:nvPr/>
                </p:nvSpPr>
                <p:spPr bwMode="auto">
                  <a:xfrm>
                    <a:off x="968" y="3593"/>
                    <a:ext cx="33" cy="11"/>
                  </a:xfrm>
                  <a:custGeom>
                    <a:avLst/>
                    <a:gdLst>
                      <a:gd name="T0" fmla="*/ 0 w 66"/>
                      <a:gd name="T1" fmla="*/ 0 h 35"/>
                      <a:gd name="T2" fmla="*/ 2 w 66"/>
                      <a:gd name="T3" fmla="*/ 0 h 35"/>
                      <a:gd name="T4" fmla="*/ 3 w 66"/>
                      <a:gd name="T5" fmla="*/ 0 h 35"/>
                      <a:gd name="T6" fmla="*/ 1 w 66"/>
                      <a:gd name="T7" fmla="*/ 0 h 35"/>
                      <a:gd name="T8" fmla="*/ 0 w 66"/>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87" name="Freeform 373"/>
                  <p:cNvSpPr>
                    <a:spLocks/>
                  </p:cNvSpPr>
                  <p:nvPr/>
                </p:nvSpPr>
                <p:spPr bwMode="auto">
                  <a:xfrm>
                    <a:off x="973" y="3605"/>
                    <a:ext cx="33" cy="10"/>
                  </a:xfrm>
                  <a:custGeom>
                    <a:avLst/>
                    <a:gdLst>
                      <a:gd name="T0" fmla="*/ 0 w 66"/>
                      <a:gd name="T1" fmla="*/ 0 h 30"/>
                      <a:gd name="T2" fmla="*/ 1 w 66"/>
                      <a:gd name="T3" fmla="*/ 0 h 30"/>
                      <a:gd name="T4" fmla="*/ 2 w 66"/>
                      <a:gd name="T5" fmla="*/ 0 h 30"/>
                      <a:gd name="T6" fmla="*/ 3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477" name="Group 374"/>
                <p:cNvGrpSpPr>
                  <a:grpSpLocks/>
                </p:cNvGrpSpPr>
                <p:nvPr/>
              </p:nvGrpSpPr>
              <p:grpSpPr bwMode="auto">
                <a:xfrm>
                  <a:off x="974" y="3606"/>
                  <a:ext cx="44" cy="23"/>
                  <a:chOff x="974" y="3606"/>
                  <a:chExt cx="44" cy="23"/>
                </a:xfrm>
              </p:grpSpPr>
              <p:sp>
                <p:nvSpPr>
                  <p:cNvPr id="8482" name="Freeform 375"/>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1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83" name="Freeform 376"/>
                  <p:cNvSpPr>
                    <a:spLocks/>
                  </p:cNvSpPr>
                  <p:nvPr/>
                </p:nvSpPr>
                <p:spPr bwMode="auto">
                  <a:xfrm>
                    <a:off x="980" y="3606"/>
                    <a:ext cx="32" cy="12"/>
                  </a:xfrm>
                  <a:custGeom>
                    <a:avLst/>
                    <a:gdLst>
                      <a:gd name="T0" fmla="*/ 0 w 65"/>
                      <a:gd name="T1" fmla="*/ 0 h 35"/>
                      <a:gd name="T2" fmla="*/ 1 w 65"/>
                      <a:gd name="T3" fmla="*/ 0 h 35"/>
                      <a:gd name="T4" fmla="*/ 2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84" name="Freeform 377"/>
                  <p:cNvSpPr>
                    <a:spLocks/>
                  </p:cNvSpPr>
                  <p:nvPr/>
                </p:nvSpPr>
                <p:spPr bwMode="auto">
                  <a:xfrm>
                    <a:off x="986" y="3619"/>
                    <a:ext cx="32" cy="9"/>
                  </a:xfrm>
                  <a:custGeom>
                    <a:avLst/>
                    <a:gdLst>
                      <a:gd name="T0" fmla="*/ 0 w 65"/>
                      <a:gd name="T1" fmla="*/ 0 h 29"/>
                      <a:gd name="T2" fmla="*/ 0 w 65"/>
                      <a:gd name="T3" fmla="*/ 0 h 29"/>
                      <a:gd name="T4" fmla="*/ 1 w 65"/>
                      <a:gd name="T5" fmla="*/ 0 h 29"/>
                      <a:gd name="T6" fmla="*/ 2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478" name="Group 378"/>
                <p:cNvGrpSpPr>
                  <a:grpSpLocks/>
                </p:cNvGrpSpPr>
                <p:nvPr/>
              </p:nvGrpSpPr>
              <p:grpSpPr bwMode="auto">
                <a:xfrm>
                  <a:off x="987" y="3619"/>
                  <a:ext cx="45" cy="23"/>
                  <a:chOff x="987" y="3619"/>
                  <a:chExt cx="45" cy="23"/>
                </a:xfrm>
              </p:grpSpPr>
              <p:sp>
                <p:nvSpPr>
                  <p:cNvPr id="8479" name="Freeform 379"/>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2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80" name="Freeform 380"/>
                  <p:cNvSpPr>
                    <a:spLocks/>
                  </p:cNvSpPr>
                  <p:nvPr/>
                </p:nvSpPr>
                <p:spPr bwMode="auto">
                  <a:xfrm>
                    <a:off x="994" y="3620"/>
                    <a:ext cx="32" cy="11"/>
                  </a:xfrm>
                  <a:custGeom>
                    <a:avLst/>
                    <a:gdLst>
                      <a:gd name="T0" fmla="*/ 0 w 64"/>
                      <a:gd name="T1" fmla="*/ 0 h 33"/>
                      <a:gd name="T2" fmla="*/ 2 w 64"/>
                      <a:gd name="T3" fmla="*/ 0 h 33"/>
                      <a:gd name="T4" fmla="*/ 2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81" name="Freeform 381"/>
                  <p:cNvSpPr>
                    <a:spLocks/>
                  </p:cNvSpPr>
                  <p:nvPr/>
                </p:nvSpPr>
                <p:spPr bwMode="auto">
                  <a:xfrm>
                    <a:off x="999" y="3632"/>
                    <a:ext cx="33" cy="9"/>
                  </a:xfrm>
                  <a:custGeom>
                    <a:avLst/>
                    <a:gdLst>
                      <a:gd name="T0" fmla="*/ 0 w 65"/>
                      <a:gd name="T1" fmla="*/ 0 h 29"/>
                      <a:gd name="T2" fmla="*/ 1 w 65"/>
                      <a:gd name="T3" fmla="*/ 0 h 29"/>
                      <a:gd name="T4" fmla="*/ 2 w 65"/>
                      <a:gd name="T5" fmla="*/ 0 h 29"/>
                      <a:gd name="T6" fmla="*/ 3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8376" name="Group 382"/>
              <p:cNvGrpSpPr>
                <a:grpSpLocks/>
              </p:cNvGrpSpPr>
              <p:nvPr/>
            </p:nvGrpSpPr>
            <p:grpSpPr bwMode="auto">
              <a:xfrm>
                <a:off x="1002" y="3632"/>
                <a:ext cx="83" cy="63"/>
                <a:chOff x="1002" y="3632"/>
                <a:chExt cx="83" cy="63"/>
              </a:xfrm>
            </p:grpSpPr>
            <p:grpSp>
              <p:nvGrpSpPr>
                <p:cNvPr id="8459" name="Group 383"/>
                <p:cNvGrpSpPr>
                  <a:grpSpLocks/>
                </p:cNvGrpSpPr>
                <p:nvPr/>
              </p:nvGrpSpPr>
              <p:grpSpPr bwMode="auto">
                <a:xfrm>
                  <a:off x="1002" y="3632"/>
                  <a:ext cx="44" cy="22"/>
                  <a:chOff x="1002" y="3632"/>
                  <a:chExt cx="44" cy="22"/>
                </a:xfrm>
              </p:grpSpPr>
              <p:sp>
                <p:nvSpPr>
                  <p:cNvPr id="8472" name="Freeform 384"/>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2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73" name="Freeform 385"/>
                  <p:cNvSpPr>
                    <a:spLocks/>
                  </p:cNvSpPr>
                  <p:nvPr/>
                </p:nvSpPr>
                <p:spPr bwMode="auto">
                  <a:xfrm>
                    <a:off x="1008" y="3632"/>
                    <a:ext cx="33" cy="12"/>
                  </a:xfrm>
                  <a:custGeom>
                    <a:avLst/>
                    <a:gdLst>
                      <a:gd name="T0" fmla="*/ 0 w 65"/>
                      <a:gd name="T1" fmla="*/ 0 h 35"/>
                      <a:gd name="T2" fmla="*/ 2 w 65"/>
                      <a:gd name="T3" fmla="*/ 0 h 35"/>
                      <a:gd name="T4" fmla="*/ 3 w 65"/>
                      <a:gd name="T5" fmla="*/ 0 h 35"/>
                      <a:gd name="T6" fmla="*/ 1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74" name="Freeform 386"/>
                  <p:cNvSpPr>
                    <a:spLocks/>
                  </p:cNvSpPr>
                  <p:nvPr/>
                </p:nvSpPr>
                <p:spPr bwMode="auto">
                  <a:xfrm>
                    <a:off x="1013" y="3644"/>
                    <a:ext cx="33" cy="10"/>
                  </a:xfrm>
                  <a:custGeom>
                    <a:avLst/>
                    <a:gdLst>
                      <a:gd name="T0" fmla="*/ 0 w 66"/>
                      <a:gd name="T1" fmla="*/ 0 h 28"/>
                      <a:gd name="T2" fmla="*/ 1 w 66"/>
                      <a:gd name="T3" fmla="*/ 0 h 28"/>
                      <a:gd name="T4" fmla="*/ 2 w 66"/>
                      <a:gd name="T5" fmla="*/ 0 h 28"/>
                      <a:gd name="T6" fmla="*/ 3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460" name="Group 387"/>
                <p:cNvGrpSpPr>
                  <a:grpSpLocks/>
                </p:cNvGrpSpPr>
                <p:nvPr/>
              </p:nvGrpSpPr>
              <p:grpSpPr bwMode="auto">
                <a:xfrm>
                  <a:off x="1014" y="3645"/>
                  <a:ext cx="44" cy="23"/>
                  <a:chOff x="1014" y="3645"/>
                  <a:chExt cx="44" cy="23"/>
                </a:xfrm>
              </p:grpSpPr>
              <p:sp>
                <p:nvSpPr>
                  <p:cNvPr id="8469" name="Freeform 388"/>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1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70" name="Freeform 389"/>
                  <p:cNvSpPr>
                    <a:spLocks/>
                  </p:cNvSpPr>
                  <p:nvPr/>
                </p:nvSpPr>
                <p:spPr bwMode="auto">
                  <a:xfrm>
                    <a:off x="1021" y="3646"/>
                    <a:ext cx="32" cy="11"/>
                  </a:xfrm>
                  <a:custGeom>
                    <a:avLst/>
                    <a:gdLst>
                      <a:gd name="T0" fmla="*/ 0 w 63"/>
                      <a:gd name="T1" fmla="*/ 0 h 33"/>
                      <a:gd name="T2" fmla="*/ 2 w 63"/>
                      <a:gd name="T3" fmla="*/ 0 h 33"/>
                      <a:gd name="T4" fmla="*/ 2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71" name="Freeform 390"/>
                  <p:cNvSpPr>
                    <a:spLocks/>
                  </p:cNvSpPr>
                  <p:nvPr/>
                </p:nvSpPr>
                <p:spPr bwMode="auto">
                  <a:xfrm>
                    <a:off x="1026" y="3658"/>
                    <a:ext cx="32" cy="10"/>
                  </a:xfrm>
                  <a:custGeom>
                    <a:avLst/>
                    <a:gdLst>
                      <a:gd name="T0" fmla="*/ 0 w 65"/>
                      <a:gd name="T1" fmla="*/ 0 h 30"/>
                      <a:gd name="T2" fmla="*/ 0 w 65"/>
                      <a:gd name="T3" fmla="*/ 0 h 30"/>
                      <a:gd name="T4" fmla="*/ 1 w 65"/>
                      <a:gd name="T5" fmla="*/ 0 h 30"/>
                      <a:gd name="T6" fmla="*/ 2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461" name="Group 391"/>
                <p:cNvGrpSpPr>
                  <a:grpSpLocks/>
                </p:cNvGrpSpPr>
                <p:nvPr/>
              </p:nvGrpSpPr>
              <p:grpSpPr bwMode="auto">
                <a:xfrm>
                  <a:off x="1027" y="3659"/>
                  <a:ext cx="45" cy="23"/>
                  <a:chOff x="1027" y="3659"/>
                  <a:chExt cx="45" cy="23"/>
                </a:xfrm>
              </p:grpSpPr>
              <p:sp>
                <p:nvSpPr>
                  <p:cNvPr id="8466" name="Freeform 392"/>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2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67" name="Freeform 393"/>
                  <p:cNvSpPr>
                    <a:spLocks/>
                  </p:cNvSpPr>
                  <p:nvPr/>
                </p:nvSpPr>
                <p:spPr bwMode="auto">
                  <a:xfrm>
                    <a:off x="1033" y="3659"/>
                    <a:ext cx="33" cy="11"/>
                  </a:xfrm>
                  <a:custGeom>
                    <a:avLst/>
                    <a:gdLst>
                      <a:gd name="T0" fmla="*/ 0 w 64"/>
                      <a:gd name="T1" fmla="*/ 0 h 34"/>
                      <a:gd name="T2" fmla="*/ 2 w 64"/>
                      <a:gd name="T3" fmla="*/ 0 h 34"/>
                      <a:gd name="T4" fmla="*/ 3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68" name="Freeform 394"/>
                  <p:cNvSpPr>
                    <a:spLocks/>
                  </p:cNvSpPr>
                  <p:nvPr/>
                </p:nvSpPr>
                <p:spPr bwMode="auto">
                  <a:xfrm>
                    <a:off x="1039" y="3671"/>
                    <a:ext cx="33" cy="10"/>
                  </a:xfrm>
                  <a:custGeom>
                    <a:avLst/>
                    <a:gdLst>
                      <a:gd name="T0" fmla="*/ 0 w 66"/>
                      <a:gd name="T1" fmla="*/ 0 h 30"/>
                      <a:gd name="T2" fmla="*/ 1 w 66"/>
                      <a:gd name="T3" fmla="*/ 0 h 30"/>
                      <a:gd name="T4" fmla="*/ 2 w 66"/>
                      <a:gd name="T5" fmla="*/ 0 h 30"/>
                      <a:gd name="T6" fmla="*/ 3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462" name="Group 395"/>
                <p:cNvGrpSpPr>
                  <a:grpSpLocks/>
                </p:cNvGrpSpPr>
                <p:nvPr/>
              </p:nvGrpSpPr>
              <p:grpSpPr bwMode="auto">
                <a:xfrm>
                  <a:off x="1040" y="3672"/>
                  <a:ext cx="45" cy="23"/>
                  <a:chOff x="1040" y="3672"/>
                  <a:chExt cx="45" cy="23"/>
                </a:xfrm>
              </p:grpSpPr>
              <p:sp>
                <p:nvSpPr>
                  <p:cNvPr id="8463" name="Freeform 396"/>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1 w 41"/>
                      <a:gd name="T7" fmla="*/ 0 h 70"/>
                      <a:gd name="T8" fmla="*/ 0 w 41"/>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64" name="Freeform 397"/>
                  <p:cNvSpPr>
                    <a:spLocks/>
                  </p:cNvSpPr>
                  <p:nvPr/>
                </p:nvSpPr>
                <p:spPr bwMode="auto">
                  <a:xfrm>
                    <a:off x="1047" y="3672"/>
                    <a:ext cx="32" cy="12"/>
                  </a:xfrm>
                  <a:custGeom>
                    <a:avLst/>
                    <a:gdLst>
                      <a:gd name="T0" fmla="*/ 0 w 65"/>
                      <a:gd name="T1" fmla="*/ 0 h 34"/>
                      <a:gd name="T2" fmla="*/ 1 w 65"/>
                      <a:gd name="T3" fmla="*/ 0 h 34"/>
                      <a:gd name="T4" fmla="*/ 2 w 65"/>
                      <a:gd name="T5" fmla="*/ 0 h 34"/>
                      <a:gd name="T6" fmla="*/ 0 w 65"/>
                      <a:gd name="T7" fmla="*/ 0 h 34"/>
                      <a:gd name="T8" fmla="*/ 0 w 6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65" name="Freeform 398"/>
                  <p:cNvSpPr>
                    <a:spLocks/>
                  </p:cNvSpPr>
                  <p:nvPr/>
                </p:nvSpPr>
                <p:spPr bwMode="auto">
                  <a:xfrm>
                    <a:off x="1053" y="3685"/>
                    <a:ext cx="32" cy="9"/>
                  </a:xfrm>
                  <a:custGeom>
                    <a:avLst/>
                    <a:gdLst>
                      <a:gd name="T0" fmla="*/ 0 w 66"/>
                      <a:gd name="T1" fmla="*/ 0 h 28"/>
                      <a:gd name="T2" fmla="*/ 0 w 66"/>
                      <a:gd name="T3" fmla="*/ 0 h 28"/>
                      <a:gd name="T4" fmla="*/ 1 w 66"/>
                      <a:gd name="T5" fmla="*/ 0 h 28"/>
                      <a:gd name="T6" fmla="*/ 2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8377" name="Group 399"/>
              <p:cNvGrpSpPr>
                <a:grpSpLocks/>
              </p:cNvGrpSpPr>
              <p:nvPr/>
            </p:nvGrpSpPr>
            <p:grpSpPr bwMode="auto">
              <a:xfrm>
                <a:off x="1054" y="3685"/>
                <a:ext cx="45" cy="23"/>
                <a:chOff x="1054" y="3685"/>
                <a:chExt cx="45" cy="23"/>
              </a:xfrm>
            </p:grpSpPr>
            <p:sp>
              <p:nvSpPr>
                <p:cNvPr id="8456" name="Freeform 400"/>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2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57" name="Freeform 401"/>
                <p:cNvSpPr>
                  <a:spLocks/>
                </p:cNvSpPr>
                <p:nvPr/>
              </p:nvSpPr>
              <p:spPr bwMode="auto">
                <a:xfrm>
                  <a:off x="1061" y="3685"/>
                  <a:ext cx="32" cy="12"/>
                </a:xfrm>
                <a:custGeom>
                  <a:avLst/>
                  <a:gdLst>
                    <a:gd name="T0" fmla="*/ 0 w 63"/>
                    <a:gd name="T1" fmla="*/ 0 h 35"/>
                    <a:gd name="T2" fmla="*/ 2 w 63"/>
                    <a:gd name="T3" fmla="*/ 0 h 35"/>
                    <a:gd name="T4" fmla="*/ 2 w 63"/>
                    <a:gd name="T5" fmla="*/ 0 h 35"/>
                    <a:gd name="T6" fmla="*/ 1 w 63"/>
                    <a:gd name="T7" fmla="*/ 0 h 35"/>
                    <a:gd name="T8" fmla="*/ 0 w 63"/>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58" name="Freeform 402"/>
                <p:cNvSpPr>
                  <a:spLocks/>
                </p:cNvSpPr>
                <p:nvPr/>
              </p:nvSpPr>
              <p:spPr bwMode="auto">
                <a:xfrm>
                  <a:off x="1066" y="3697"/>
                  <a:ext cx="33" cy="10"/>
                </a:xfrm>
                <a:custGeom>
                  <a:avLst/>
                  <a:gdLst>
                    <a:gd name="T0" fmla="*/ 0 w 64"/>
                    <a:gd name="T1" fmla="*/ 0 h 30"/>
                    <a:gd name="T2" fmla="*/ 1 w 64"/>
                    <a:gd name="T3" fmla="*/ 0 h 30"/>
                    <a:gd name="T4" fmla="*/ 2 w 64"/>
                    <a:gd name="T5" fmla="*/ 0 h 30"/>
                    <a:gd name="T6" fmla="*/ 3 w 64"/>
                    <a:gd name="T7" fmla="*/ 0 h 30"/>
                    <a:gd name="T8" fmla="*/ 0 w 64"/>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78" name="Group 403"/>
              <p:cNvGrpSpPr>
                <a:grpSpLocks/>
              </p:cNvGrpSpPr>
              <p:nvPr/>
            </p:nvGrpSpPr>
            <p:grpSpPr bwMode="auto">
              <a:xfrm>
                <a:off x="1067" y="3698"/>
                <a:ext cx="45" cy="23"/>
                <a:chOff x="1067" y="3698"/>
                <a:chExt cx="45" cy="23"/>
              </a:xfrm>
            </p:grpSpPr>
            <p:sp>
              <p:nvSpPr>
                <p:cNvPr id="8453" name="Freeform 404"/>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2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54" name="Freeform 405"/>
                <p:cNvSpPr>
                  <a:spLocks/>
                </p:cNvSpPr>
                <p:nvPr/>
              </p:nvSpPr>
              <p:spPr bwMode="auto">
                <a:xfrm>
                  <a:off x="1074" y="3699"/>
                  <a:ext cx="32" cy="11"/>
                </a:xfrm>
                <a:custGeom>
                  <a:avLst/>
                  <a:gdLst>
                    <a:gd name="T0" fmla="*/ 0 w 64"/>
                    <a:gd name="T1" fmla="*/ 0 h 34"/>
                    <a:gd name="T2" fmla="*/ 2 w 64"/>
                    <a:gd name="T3" fmla="*/ 0 h 34"/>
                    <a:gd name="T4" fmla="*/ 2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55" name="Freeform 406"/>
                <p:cNvSpPr>
                  <a:spLocks/>
                </p:cNvSpPr>
                <p:nvPr/>
              </p:nvSpPr>
              <p:spPr bwMode="auto">
                <a:xfrm>
                  <a:off x="1079" y="3711"/>
                  <a:ext cx="33" cy="10"/>
                </a:xfrm>
                <a:custGeom>
                  <a:avLst/>
                  <a:gdLst>
                    <a:gd name="T0" fmla="*/ 0 w 65"/>
                    <a:gd name="T1" fmla="*/ 0 h 30"/>
                    <a:gd name="T2" fmla="*/ 1 w 65"/>
                    <a:gd name="T3" fmla="*/ 0 h 30"/>
                    <a:gd name="T4" fmla="*/ 2 w 65"/>
                    <a:gd name="T5" fmla="*/ 0 h 30"/>
                    <a:gd name="T6" fmla="*/ 3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79" name="Group 407"/>
              <p:cNvGrpSpPr>
                <a:grpSpLocks/>
              </p:cNvGrpSpPr>
              <p:nvPr/>
            </p:nvGrpSpPr>
            <p:grpSpPr bwMode="auto">
              <a:xfrm>
                <a:off x="1079" y="3712"/>
                <a:ext cx="44" cy="23"/>
                <a:chOff x="1079" y="3712"/>
                <a:chExt cx="44" cy="23"/>
              </a:xfrm>
            </p:grpSpPr>
            <p:sp>
              <p:nvSpPr>
                <p:cNvPr id="8450" name="Freeform 408"/>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2 w 41"/>
                    <a:gd name="T7" fmla="*/ 0 h 68"/>
                    <a:gd name="T8" fmla="*/ 1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51" name="Freeform 409"/>
                <p:cNvSpPr>
                  <a:spLocks/>
                </p:cNvSpPr>
                <p:nvPr/>
              </p:nvSpPr>
              <p:spPr bwMode="auto">
                <a:xfrm>
                  <a:off x="1087" y="3713"/>
                  <a:ext cx="31" cy="10"/>
                </a:xfrm>
                <a:custGeom>
                  <a:avLst/>
                  <a:gdLst>
                    <a:gd name="T0" fmla="*/ 0 w 63"/>
                    <a:gd name="T1" fmla="*/ 0 h 32"/>
                    <a:gd name="T2" fmla="*/ 1 w 63"/>
                    <a:gd name="T3" fmla="*/ 0 h 32"/>
                    <a:gd name="T4" fmla="*/ 1 w 63"/>
                    <a:gd name="T5" fmla="*/ 0 h 32"/>
                    <a:gd name="T6" fmla="*/ 0 w 63"/>
                    <a:gd name="T7" fmla="*/ 0 h 32"/>
                    <a:gd name="T8" fmla="*/ 0 w 6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52" name="Freeform 410"/>
                <p:cNvSpPr>
                  <a:spLocks/>
                </p:cNvSpPr>
                <p:nvPr/>
              </p:nvSpPr>
              <p:spPr bwMode="auto">
                <a:xfrm>
                  <a:off x="1092" y="3724"/>
                  <a:ext cx="31" cy="11"/>
                </a:xfrm>
                <a:custGeom>
                  <a:avLst/>
                  <a:gdLst>
                    <a:gd name="T0" fmla="*/ 0 w 63"/>
                    <a:gd name="T1" fmla="*/ 0 h 31"/>
                    <a:gd name="T2" fmla="*/ 0 w 63"/>
                    <a:gd name="T3" fmla="*/ 0 h 31"/>
                    <a:gd name="T4" fmla="*/ 1 w 63"/>
                    <a:gd name="T5" fmla="*/ 0 h 31"/>
                    <a:gd name="T6" fmla="*/ 1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80" name="Group 411"/>
              <p:cNvGrpSpPr>
                <a:grpSpLocks/>
              </p:cNvGrpSpPr>
              <p:nvPr/>
            </p:nvGrpSpPr>
            <p:grpSpPr bwMode="auto">
              <a:xfrm>
                <a:off x="1093" y="3725"/>
                <a:ext cx="45" cy="23"/>
                <a:chOff x="1093" y="3725"/>
                <a:chExt cx="45" cy="23"/>
              </a:xfrm>
            </p:grpSpPr>
            <p:sp>
              <p:nvSpPr>
                <p:cNvPr id="8447" name="Freeform 412"/>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2 w 40"/>
                    <a:gd name="T7" fmla="*/ 0 h 68"/>
                    <a:gd name="T8" fmla="*/ 1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48" name="Freeform 413"/>
                <p:cNvSpPr>
                  <a:spLocks/>
                </p:cNvSpPr>
                <p:nvPr/>
              </p:nvSpPr>
              <p:spPr bwMode="auto">
                <a:xfrm>
                  <a:off x="1100" y="3726"/>
                  <a:ext cx="32" cy="11"/>
                </a:xfrm>
                <a:custGeom>
                  <a:avLst/>
                  <a:gdLst>
                    <a:gd name="T0" fmla="*/ 0 w 64"/>
                    <a:gd name="T1" fmla="*/ 0 h 34"/>
                    <a:gd name="T2" fmla="*/ 2 w 64"/>
                    <a:gd name="T3" fmla="*/ 0 h 34"/>
                    <a:gd name="T4" fmla="*/ 2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49" name="Freeform 414"/>
                <p:cNvSpPr>
                  <a:spLocks/>
                </p:cNvSpPr>
                <p:nvPr/>
              </p:nvSpPr>
              <p:spPr bwMode="auto">
                <a:xfrm>
                  <a:off x="1106" y="3738"/>
                  <a:ext cx="32" cy="9"/>
                </a:xfrm>
                <a:custGeom>
                  <a:avLst/>
                  <a:gdLst>
                    <a:gd name="T0" fmla="*/ 0 w 65"/>
                    <a:gd name="T1" fmla="*/ 0 h 28"/>
                    <a:gd name="T2" fmla="*/ 0 w 65"/>
                    <a:gd name="T3" fmla="*/ 0 h 28"/>
                    <a:gd name="T4" fmla="*/ 1 w 65"/>
                    <a:gd name="T5" fmla="*/ 0 h 28"/>
                    <a:gd name="T6" fmla="*/ 2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81" name="Group 415"/>
              <p:cNvGrpSpPr>
                <a:grpSpLocks/>
              </p:cNvGrpSpPr>
              <p:nvPr/>
            </p:nvGrpSpPr>
            <p:grpSpPr bwMode="auto">
              <a:xfrm>
                <a:off x="1108" y="3739"/>
                <a:ext cx="44" cy="23"/>
                <a:chOff x="1108" y="3739"/>
                <a:chExt cx="44" cy="23"/>
              </a:xfrm>
            </p:grpSpPr>
            <p:sp>
              <p:nvSpPr>
                <p:cNvPr id="8444" name="Freeform 416"/>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1 w 40"/>
                    <a:gd name="T7" fmla="*/ 0 h 69"/>
                    <a:gd name="T8" fmla="*/ 0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45" name="Freeform 417"/>
                <p:cNvSpPr>
                  <a:spLocks/>
                </p:cNvSpPr>
                <p:nvPr/>
              </p:nvSpPr>
              <p:spPr bwMode="auto">
                <a:xfrm>
                  <a:off x="1114" y="3740"/>
                  <a:ext cx="32" cy="11"/>
                </a:xfrm>
                <a:custGeom>
                  <a:avLst/>
                  <a:gdLst>
                    <a:gd name="T0" fmla="*/ 0 w 64"/>
                    <a:gd name="T1" fmla="*/ 0 h 35"/>
                    <a:gd name="T2" fmla="*/ 2 w 64"/>
                    <a:gd name="T3" fmla="*/ 0 h 35"/>
                    <a:gd name="T4" fmla="*/ 2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46" name="Freeform 418"/>
                <p:cNvSpPr>
                  <a:spLocks/>
                </p:cNvSpPr>
                <p:nvPr/>
              </p:nvSpPr>
              <p:spPr bwMode="auto">
                <a:xfrm>
                  <a:off x="1120" y="3752"/>
                  <a:ext cx="32" cy="10"/>
                </a:xfrm>
                <a:custGeom>
                  <a:avLst/>
                  <a:gdLst>
                    <a:gd name="T0" fmla="*/ 0 w 66"/>
                    <a:gd name="T1" fmla="*/ 0 h 30"/>
                    <a:gd name="T2" fmla="*/ 0 w 66"/>
                    <a:gd name="T3" fmla="*/ 0 h 30"/>
                    <a:gd name="T4" fmla="*/ 1 w 66"/>
                    <a:gd name="T5" fmla="*/ 0 h 30"/>
                    <a:gd name="T6" fmla="*/ 2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82" name="Group 419"/>
              <p:cNvGrpSpPr>
                <a:grpSpLocks/>
              </p:cNvGrpSpPr>
              <p:nvPr/>
            </p:nvGrpSpPr>
            <p:grpSpPr bwMode="auto">
              <a:xfrm>
                <a:off x="1121" y="3753"/>
                <a:ext cx="45" cy="23"/>
                <a:chOff x="1121" y="3753"/>
                <a:chExt cx="45" cy="23"/>
              </a:xfrm>
            </p:grpSpPr>
            <p:sp>
              <p:nvSpPr>
                <p:cNvPr id="8441" name="Freeform 420"/>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2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42" name="Freeform 421"/>
                <p:cNvSpPr>
                  <a:spLocks/>
                </p:cNvSpPr>
                <p:nvPr/>
              </p:nvSpPr>
              <p:spPr bwMode="auto">
                <a:xfrm>
                  <a:off x="1127" y="3753"/>
                  <a:ext cx="33" cy="12"/>
                </a:xfrm>
                <a:custGeom>
                  <a:avLst/>
                  <a:gdLst>
                    <a:gd name="T0" fmla="*/ 0 w 64"/>
                    <a:gd name="T1" fmla="*/ 0 h 35"/>
                    <a:gd name="T2" fmla="*/ 2 w 64"/>
                    <a:gd name="T3" fmla="*/ 0 h 35"/>
                    <a:gd name="T4" fmla="*/ 3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43" name="Freeform 422"/>
                <p:cNvSpPr>
                  <a:spLocks/>
                </p:cNvSpPr>
                <p:nvPr/>
              </p:nvSpPr>
              <p:spPr bwMode="auto">
                <a:xfrm>
                  <a:off x="1133" y="3766"/>
                  <a:ext cx="33" cy="9"/>
                </a:xfrm>
                <a:custGeom>
                  <a:avLst/>
                  <a:gdLst>
                    <a:gd name="T0" fmla="*/ 0 w 66"/>
                    <a:gd name="T1" fmla="*/ 0 h 29"/>
                    <a:gd name="T2" fmla="*/ 1 w 66"/>
                    <a:gd name="T3" fmla="*/ 0 h 29"/>
                    <a:gd name="T4" fmla="*/ 2 w 66"/>
                    <a:gd name="T5" fmla="*/ 0 h 29"/>
                    <a:gd name="T6" fmla="*/ 3 w 66"/>
                    <a:gd name="T7" fmla="*/ 0 h 29"/>
                    <a:gd name="T8" fmla="*/ 0 w 66"/>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83" name="Group 423"/>
              <p:cNvGrpSpPr>
                <a:grpSpLocks/>
              </p:cNvGrpSpPr>
              <p:nvPr/>
            </p:nvGrpSpPr>
            <p:grpSpPr bwMode="auto">
              <a:xfrm>
                <a:off x="1133" y="3767"/>
                <a:ext cx="44" cy="23"/>
                <a:chOff x="1133" y="3767"/>
                <a:chExt cx="44" cy="23"/>
              </a:xfrm>
            </p:grpSpPr>
            <p:sp>
              <p:nvSpPr>
                <p:cNvPr id="8438" name="Freeform 424"/>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2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39" name="Freeform 425"/>
                <p:cNvSpPr>
                  <a:spLocks/>
                </p:cNvSpPr>
                <p:nvPr/>
              </p:nvSpPr>
              <p:spPr bwMode="auto">
                <a:xfrm>
                  <a:off x="1140" y="3767"/>
                  <a:ext cx="32" cy="11"/>
                </a:xfrm>
                <a:custGeom>
                  <a:avLst/>
                  <a:gdLst>
                    <a:gd name="T0" fmla="*/ 0 w 64"/>
                    <a:gd name="T1" fmla="*/ 0 h 33"/>
                    <a:gd name="T2" fmla="*/ 2 w 64"/>
                    <a:gd name="T3" fmla="*/ 0 h 33"/>
                    <a:gd name="T4" fmla="*/ 2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40" name="Freeform 426"/>
                <p:cNvSpPr>
                  <a:spLocks/>
                </p:cNvSpPr>
                <p:nvPr/>
              </p:nvSpPr>
              <p:spPr bwMode="auto">
                <a:xfrm>
                  <a:off x="1146" y="3779"/>
                  <a:ext cx="31" cy="10"/>
                </a:xfrm>
                <a:custGeom>
                  <a:avLst/>
                  <a:gdLst>
                    <a:gd name="T0" fmla="*/ 0 w 63"/>
                    <a:gd name="T1" fmla="*/ 0 h 31"/>
                    <a:gd name="T2" fmla="*/ 0 w 63"/>
                    <a:gd name="T3" fmla="*/ 0 h 31"/>
                    <a:gd name="T4" fmla="*/ 1 w 63"/>
                    <a:gd name="T5" fmla="*/ 0 h 31"/>
                    <a:gd name="T6" fmla="*/ 1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384" name="Freeform 427"/>
              <p:cNvSpPr>
                <a:spLocks/>
              </p:cNvSpPr>
              <p:nvPr/>
            </p:nvSpPr>
            <p:spPr bwMode="auto">
              <a:xfrm>
                <a:off x="972" y="3556"/>
                <a:ext cx="40" cy="12"/>
              </a:xfrm>
              <a:custGeom>
                <a:avLst/>
                <a:gdLst>
                  <a:gd name="T0" fmla="*/ 0 w 79"/>
                  <a:gd name="T1" fmla="*/ 0 h 36"/>
                  <a:gd name="T2" fmla="*/ 1 w 79"/>
                  <a:gd name="T3" fmla="*/ 0 h 36"/>
                  <a:gd name="T4" fmla="*/ 3 w 79"/>
                  <a:gd name="T5" fmla="*/ 0 h 36"/>
                  <a:gd name="T6" fmla="*/ 2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85" name="Freeform 428"/>
              <p:cNvSpPr>
                <a:spLocks/>
              </p:cNvSpPr>
              <p:nvPr/>
            </p:nvSpPr>
            <p:spPr bwMode="auto">
              <a:xfrm>
                <a:off x="993" y="3576"/>
                <a:ext cx="39" cy="12"/>
              </a:xfrm>
              <a:custGeom>
                <a:avLst/>
                <a:gdLst>
                  <a:gd name="T0" fmla="*/ 0 w 79"/>
                  <a:gd name="T1" fmla="*/ 0 h 36"/>
                  <a:gd name="T2" fmla="*/ 0 w 79"/>
                  <a:gd name="T3" fmla="*/ 0 h 36"/>
                  <a:gd name="T4" fmla="*/ 2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86" name="Freeform 429"/>
              <p:cNvSpPr>
                <a:spLocks/>
              </p:cNvSpPr>
              <p:nvPr/>
            </p:nvSpPr>
            <p:spPr bwMode="auto">
              <a:xfrm>
                <a:off x="1012" y="3594"/>
                <a:ext cx="39" cy="12"/>
              </a:xfrm>
              <a:custGeom>
                <a:avLst/>
                <a:gdLst>
                  <a:gd name="T0" fmla="*/ 0 w 78"/>
                  <a:gd name="T1" fmla="*/ 0 h 36"/>
                  <a:gd name="T2" fmla="*/ 1 w 78"/>
                  <a:gd name="T3" fmla="*/ 0 h 36"/>
                  <a:gd name="T4" fmla="*/ 3 w 78"/>
                  <a:gd name="T5" fmla="*/ 0 h 36"/>
                  <a:gd name="T6" fmla="*/ 2 w 78"/>
                  <a:gd name="T7" fmla="*/ 0 h 36"/>
                  <a:gd name="T8" fmla="*/ 0 w 7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87" name="Freeform 430"/>
              <p:cNvSpPr>
                <a:spLocks/>
              </p:cNvSpPr>
              <p:nvPr/>
            </p:nvSpPr>
            <p:spPr bwMode="auto">
              <a:xfrm>
                <a:off x="1032" y="3613"/>
                <a:ext cx="40" cy="12"/>
              </a:xfrm>
              <a:custGeom>
                <a:avLst/>
                <a:gdLst>
                  <a:gd name="T0" fmla="*/ 0 w 79"/>
                  <a:gd name="T1" fmla="*/ 0 h 36"/>
                  <a:gd name="T2" fmla="*/ 1 w 79"/>
                  <a:gd name="T3" fmla="*/ 0 h 36"/>
                  <a:gd name="T4" fmla="*/ 3 w 79"/>
                  <a:gd name="T5" fmla="*/ 0 h 36"/>
                  <a:gd name="T6" fmla="*/ 2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88" name="Freeform 431"/>
              <p:cNvSpPr>
                <a:spLocks/>
              </p:cNvSpPr>
              <p:nvPr/>
            </p:nvSpPr>
            <p:spPr bwMode="auto">
              <a:xfrm>
                <a:off x="1053" y="3632"/>
                <a:ext cx="39" cy="12"/>
              </a:xfrm>
              <a:custGeom>
                <a:avLst/>
                <a:gdLst>
                  <a:gd name="T0" fmla="*/ 0 w 79"/>
                  <a:gd name="T1" fmla="*/ 0 h 36"/>
                  <a:gd name="T2" fmla="*/ 0 w 79"/>
                  <a:gd name="T3" fmla="*/ 0 h 36"/>
                  <a:gd name="T4" fmla="*/ 2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89" name="Freeform 432"/>
              <p:cNvSpPr>
                <a:spLocks/>
              </p:cNvSpPr>
              <p:nvPr/>
            </p:nvSpPr>
            <p:spPr bwMode="auto">
              <a:xfrm>
                <a:off x="1074" y="3651"/>
                <a:ext cx="40" cy="12"/>
              </a:xfrm>
              <a:custGeom>
                <a:avLst/>
                <a:gdLst>
                  <a:gd name="T0" fmla="*/ 0 w 79"/>
                  <a:gd name="T1" fmla="*/ 0 h 35"/>
                  <a:gd name="T2" fmla="*/ 1 w 79"/>
                  <a:gd name="T3" fmla="*/ 0 h 35"/>
                  <a:gd name="T4" fmla="*/ 3 w 79"/>
                  <a:gd name="T5" fmla="*/ 0 h 35"/>
                  <a:gd name="T6" fmla="*/ 2 w 79"/>
                  <a:gd name="T7" fmla="*/ 0 h 35"/>
                  <a:gd name="T8" fmla="*/ 0 w 7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90" name="Freeform 433"/>
              <p:cNvSpPr>
                <a:spLocks/>
              </p:cNvSpPr>
              <p:nvPr/>
            </p:nvSpPr>
            <p:spPr bwMode="auto">
              <a:xfrm>
                <a:off x="1095" y="3669"/>
                <a:ext cx="40" cy="12"/>
              </a:xfrm>
              <a:custGeom>
                <a:avLst/>
                <a:gdLst>
                  <a:gd name="T0" fmla="*/ 0 w 80"/>
                  <a:gd name="T1" fmla="*/ 0 h 36"/>
                  <a:gd name="T2" fmla="*/ 1 w 80"/>
                  <a:gd name="T3" fmla="*/ 0 h 36"/>
                  <a:gd name="T4" fmla="*/ 3 w 80"/>
                  <a:gd name="T5" fmla="*/ 0 h 36"/>
                  <a:gd name="T6" fmla="*/ 2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91" name="Freeform 434"/>
              <p:cNvSpPr>
                <a:spLocks/>
              </p:cNvSpPr>
              <p:nvPr/>
            </p:nvSpPr>
            <p:spPr bwMode="auto">
              <a:xfrm>
                <a:off x="1115" y="3688"/>
                <a:ext cx="40" cy="12"/>
              </a:xfrm>
              <a:custGeom>
                <a:avLst/>
                <a:gdLst>
                  <a:gd name="T0" fmla="*/ 0 w 80"/>
                  <a:gd name="T1" fmla="*/ 0 h 36"/>
                  <a:gd name="T2" fmla="*/ 1 w 80"/>
                  <a:gd name="T3" fmla="*/ 0 h 36"/>
                  <a:gd name="T4" fmla="*/ 3 w 80"/>
                  <a:gd name="T5" fmla="*/ 0 h 36"/>
                  <a:gd name="T6" fmla="*/ 2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92" name="Freeform 435"/>
              <p:cNvSpPr>
                <a:spLocks/>
              </p:cNvSpPr>
              <p:nvPr/>
            </p:nvSpPr>
            <p:spPr bwMode="auto">
              <a:xfrm>
                <a:off x="1134" y="3707"/>
                <a:ext cx="39" cy="12"/>
              </a:xfrm>
              <a:custGeom>
                <a:avLst/>
                <a:gdLst>
                  <a:gd name="T0" fmla="*/ 0 w 79"/>
                  <a:gd name="T1" fmla="*/ 0 h 36"/>
                  <a:gd name="T2" fmla="*/ 0 w 79"/>
                  <a:gd name="T3" fmla="*/ 0 h 36"/>
                  <a:gd name="T4" fmla="*/ 2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93" name="Freeform 436"/>
              <p:cNvSpPr>
                <a:spLocks/>
              </p:cNvSpPr>
              <p:nvPr/>
            </p:nvSpPr>
            <p:spPr bwMode="auto">
              <a:xfrm>
                <a:off x="1154" y="3726"/>
                <a:ext cx="40" cy="12"/>
              </a:xfrm>
              <a:custGeom>
                <a:avLst/>
                <a:gdLst>
                  <a:gd name="T0" fmla="*/ 0 w 80"/>
                  <a:gd name="T1" fmla="*/ 0 h 36"/>
                  <a:gd name="T2" fmla="*/ 1 w 80"/>
                  <a:gd name="T3" fmla="*/ 0 h 36"/>
                  <a:gd name="T4" fmla="*/ 3 w 80"/>
                  <a:gd name="T5" fmla="*/ 0 h 36"/>
                  <a:gd name="T6" fmla="*/ 2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94" name="Freeform 437"/>
              <p:cNvSpPr>
                <a:spLocks/>
              </p:cNvSpPr>
              <p:nvPr/>
            </p:nvSpPr>
            <p:spPr bwMode="auto">
              <a:xfrm>
                <a:off x="1175" y="3745"/>
                <a:ext cx="40" cy="12"/>
              </a:xfrm>
              <a:custGeom>
                <a:avLst/>
                <a:gdLst>
                  <a:gd name="T0" fmla="*/ 0 w 81"/>
                  <a:gd name="T1" fmla="*/ 0 h 36"/>
                  <a:gd name="T2" fmla="*/ 0 w 81"/>
                  <a:gd name="T3" fmla="*/ 0 h 36"/>
                  <a:gd name="T4" fmla="*/ 2 w 81"/>
                  <a:gd name="T5" fmla="*/ 0 h 36"/>
                  <a:gd name="T6" fmla="*/ 1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395" name="Group 438"/>
              <p:cNvGrpSpPr>
                <a:grpSpLocks/>
              </p:cNvGrpSpPr>
              <p:nvPr/>
            </p:nvGrpSpPr>
            <p:grpSpPr bwMode="auto">
              <a:xfrm>
                <a:off x="700" y="3535"/>
                <a:ext cx="49" cy="24"/>
                <a:chOff x="700" y="3535"/>
                <a:chExt cx="49" cy="24"/>
              </a:xfrm>
            </p:grpSpPr>
            <p:sp>
              <p:nvSpPr>
                <p:cNvPr id="8435" name="Freeform 439"/>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36" name="Freeform 440"/>
                <p:cNvSpPr>
                  <a:spLocks/>
                </p:cNvSpPr>
                <p:nvPr/>
              </p:nvSpPr>
              <p:spPr bwMode="auto">
                <a:xfrm>
                  <a:off x="705" y="3536"/>
                  <a:ext cx="37" cy="10"/>
                </a:xfrm>
                <a:custGeom>
                  <a:avLst/>
                  <a:gdLst>
                    <a:gd name="T0" fmla="*/ 1 w 73"/>
                    <a:gd name="T1" fmla="*/ 0 h 30"/>
                    <a:gd name="T2" fmla="*/ 2 w 73"/>
                    <a:gd name="T3" fmla="*/ 0 h 30"/>
                    <a:gd name="T4" fmla="*/ 2 w 73"/>
                    <a:gd name="T5" fmla="*/ 0 h 30"/>
                    <a:gd name="T6" fmla="*/ 2 w 73"/>
                    <a:gd name="T7" fmla="*/ 0 h 30"/>
                    <a:gd name="T8" fmla="*/ 3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37" name="Freeform 441"/>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96" name="Group 442"/>
              <p:cNvGrpSpPr>
                <a:grpSpLocks/>
              </p:cNvGrpSpPr>
              <p:nvPr/>
            </p:nvGrpSpPr>
            <p:grpSpPr bwMode="auto">
              <a:xfrm>
                <a:off x="714" y="3551"/>
                <a:ext cx="49" cy="22"/>
                <a:chOff x="714" y="3551"/>
                <a:chExt cx="49" cy="22"/>
              </a:xfrm>
            </p:grpSpPr>
            <p:sp>
              <p:nvSpPr>
                <p:cNvPr id="8432" name="Freeform 443"/>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33" name="Freeform 444"/>
                <p:cNvSpPr>
                  <a:spLocks/>
                </p:cNvSpPr>
                <p:nvPr/>
              </p:nvSpPr>
              <p:spPr bwMode="auto">
                <a:xfrm>
                  <a:off x="719" y="3551"/>
                  <a:ext cx="36" cy="10"/>
                </a:xfrm>
                <a:custGeom>
                  <a:avLst/>
                  <a:gdLst>
                    <a:gd name="T0" fmla="*/ 0 w 74"/>
                    <a:gd name="T1" fmla="*/ 0 h 29"/>
                    <a:gd name="T2" fmla="*/ 1 w 74"/>
                    <a:gd name="T3" fmla="*/ 0 h 29"/>
                    <a:gd name="T4" fmla="*/ 1 w 74"/>
                    <a:gd name="T5" fmla="*/ 0 h 29"/>
                    <a:gd name="T6" fmla="*/ 1 w 74"/>
                    <a:gd name="T7" fmla="*/ 0 h 29"/>
                    <a:gd name="T8" fmla="*/ 2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34" name="Freeform 445"/>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3 w 81"/>
                    <a:gd name="T9" fmla="*/ 0 h 35"/>
                    <a:gd name="T10" fmla="*/ 3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97" name="Group 446"/>
              <p:cNvGrpSpPr>
                <a:grpSpLocks/>
              </p:cNvGrpSpPr>
              <p:nvPr/>
            </p:nvGrpSpPr>
            <p:grpSpPr bwMode="auto">
              <a:xfrm>
                <a:off x="728" y="3564"/>
                <a:ext cx="48" cy="23"/>
                <a:chOff x="728" y="3564"/>
                <a:chExt cx="48" cy="23"/>
              </a:xfrm>
            </p:grpSpPr>
            <p:sp>
              <p:nvSpPr>
                <p:cNvPr id="8429" name="Freeform 447"/>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30" name="Freeform 448"/>
                <p:cNvSpPr>
                  <a:spLocks/>
                </p:cNvSpPr>
                <p:nvPr/>
              </p:nvSpPr>
              <p:spPr bwMode="auto">
                <a:xfrm>
                  <a:off x="732" y="3565"/>
                  <a:ext cx="37" cy="10"/>
                </a:xfrm>
                <a:custGeom>
                  <a:avLst/>
                  <a:gdLst>
                    <a:gd name="T0" fmla="*/ 1 w 72"/>
                    <a:gd name="T1" fmla="*/ 0 h 30"/>
                    <a:gd name="T2" fmla="*/ 2 w 72"/>
                    <a:gd name="T3" fmla="*/ 0 h 30"/>
                    <a:gd name="T4" fmla="*/ 2 w 72"/>
                    <a:gd name="T5" fmla="*/ 0 h 30"/>
                    <a:gd name="T6" fmla="*/ 2 w 72"/>
                    <a:gd name="T7" fmla="*/ 0 h 30"/>
                    <a:gd name="T8" fmla="*/ 3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31" name="Freeform 449"/>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98" name="Group 450"/>
              <p:cNvGrpSpPr>
                <a:grpSpLocks/>
              </p:cNvGrpSpPr>
              <p:nvPr/>
            </p:nvGrpSpPr>
            <p:grpSpPr bwMode="auto">
              <a:xfrm>
                <a:off x="742" y="3582"/>
                <a:ext cx="49" cy="23"/>
                <a:chOff x="742" y="3582"/>
                <a:chExt cx="49" cy="23"/>
              </a:xfrm>
            </p:grpSpPr>
            <p:sp>
              <p:nvSpPr>
                <p:cNvPr id="8426" name="Freeform 451"/>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27" name="Freeform 452"/>
                <p:cNvSpPr>
                  <a:spLocks/>
                </p:cNvSpPr>
                <p:nvPr/>
              </p:nvSpPr>
              <p:spPr bwMode="auto">
                <a:xfrm>
                  <a:off x="747" y="3582"/>
                  <a:ext cx="36" cy="10"/>
                </a:xfrm>
                <a:custGeom>
                  <a:avLst/>
                  <a:gdLst>
                    <a:gd name="T0" fmla="*/ 1 w 72"/>
                    <a:gd name="T1" fmla="*/ 0 h 30"/>
                    <a:gd name="T2" fmla="*/ 2 w 72"/>
                    <a:gd name="T3" fmla="*/ 0 h 30"/>
                    <a:gd name="T4" fmla="*/ 2 w 72"/>
                    <a:gd name="T5" fmla="*/ 0 h 30"/>
                    <a:gd name="T6" fmla="*/ 2 w 72"/>
                    <a:gd name="T7" fmla="*/ 0 h 30"/>
                    <a:gd name="T8" fmla="*/ 3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28" name="Freeform 453"/>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99" name="Group 454"/>
              <p:cNvGrpSpPr>
                <a:grpSpLocks/>
              </p:cNvGrpSpPr>
              <p:nvPr/>
            </p:nvGrpSpPr>
            <p:grpSpPr bwMode="auto">
              <a:xfrm>
                <a:off x="752" y="3597"/>
                <a:ext cx="133" cy="106"/>
                <a:chOff x="752" y="3597"/>
                <a:chExt cx="133" cy="106"/>
              </a:xfrm>
            </p:grpSpPr>
            <p:sp>
              <p:nvSpPr>
                <p:cNvPr id="8423" name="Freeform 455"/>
                <p:cNvSpPr>
                  <a:spLocks/>
                </p:cNvSpPr>
                <p:nvPr/>
              </p:nvSpPr>
              <p:spPr bwMode="auto">
                <a:xfrm>
                  <a:off x="752" y="3598"/>
                  <a:ext cx="91" cy="105"/>
                </a:xfrm>
                <a:custGeom>
                  <a:avLst/>
                  <a:gdLst>
                    <a:gd name="T0" fmla="*/ 6 w 182"/>
                    <a:gd name="T1" fmla="*/ 1 h 314"/>
                    <a:gd name="T2" fmla="*/ 0 w 182"/>
                    <a:gd name="T3" fmla="*/ 0 h 314"/>
                    <a:gd name="T4" fmla="*/ 1 w 182"/>
                    <a:gd name="T5" fmla="*/ 0 h 314"/>
                    <a:gd name="T6" fmla="*/ 6 w 182"/>
                    <a:gd name="T7" fmla="*/ 1 h 314"/>
                    <a:gd name="T8" fmla="*/ 6 w 182"/>
                    <a:gd name="T9" fmla="*/ 1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24" name="Freeform 456"/>
                <p:cNvSpPr>
                  <a:spLocks/>
                </p:cNvSpPr>
                <p:nvPr/>
              </p:nvSpPr>
              <p:spPr bwMode="auto">
                <a:xfrm>
                  <a:off x="759" y="3597"/>
                  <a:ext cx="118" cy="94"/>
                </a:xfrm>
                <a:custGeom>
                  <a:avLst/>
                  <a:gdLst>
                    <a:gd name="T0" fmla="*/ 1 w 235"/>
                    <a:gd name="T1" fmla="*/ 0 h 281"/>
                    <a:gd name="T2" fmla="*/ 2 w 235"/>
                    <a:gd name="T3" fmla="*/ 0 h 281"/>
                    <a:gd name="T4" fmla="*/ 2 w 235"/>
                    <a:gd name="T5" fmla="*/ 0 h 281"/>
                    <a:gd name="T6" fmla="*/ 3 w 235"/>
                    <a:gd name="T7" fmla="*/ 0 h 281"/>
                    <a:gd name="T8" fmla="*/ 8 w 235"/>
                    <a:gd name="T9" fmla="*/ 1 h 281"/>
                    <a:gd name="T10" fmla="*/ 6 w 235"/>
                    <a:gd name="T11" fmla="*/ 1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25" name="Freeform 457"/>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2 w 95"/>
                    <a:gd name="T9" fmla="*/ 0 h 36"/>
                    <a:gd name="T10" fmla="*/ 2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400" name="Group 458"/>
              <p:cNvGrpSpPr>
                <a:grpSpLocks/>
              </p:cNvGrpSpPr>
              <p:nvPr/>
            </p:nvGrpSpPr>
            <p:grpSpPr bwMode="auto">
              <a:xfrm>
                <a:off x="844" y="3694"/>
                <a:ext cx="48" cy="23"/>
                <a:chOff x="844" y="3694"/>
                <a:chExt cx="48" cy="23"/>
              </a:xfrm>
            </p:grpSpPr>
            <p:sp>
              <p:nvSpPr>
                <p:cNvPr id="8420" name="Freeform 459"/>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21" name="Freeform 460"/>
                <p:cNvSpPr>
                  <a:spLocks/>
                </p:cNvSpPr>
                <p:nvPr/>
              </p:nvSpPr>
              <p:spPr bwMode="auto">
                <a:xfrm>
                  <a:off x="848" y="3695"/>
                  <a:ext cx="37" cy="10"/>
                </a:xfrm>
                <a:custGeom>
                  <a:avLst/>
                  <a:gdLst>
                    <a:gd name="T0" fmla="*/ 1 w 74"/>
                    <a:gd name="T1" fmla="*/ 0 h 30"/>
                    <a:gd name="T2" fmla="*/ 2 w 74"/>
                    <a:gd name="T3" fmla="*/ 0 h 30"/>
                    <a:gd name="T4" fmla="*/ 2 w 74"/>
                    <a:gd name="T5" fmla="*/ 0 h 30"/>
                    <a:gd name="T6" fmla="*/ 2 w 74"/>
                    <a:gd name="T7" fmla="*/ 0 h 30"/>
                    <a:gd name="T8" fmla="*/ 3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22" name="Freeform 461"/>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3 w 81"/>
                    <a:gd name="T9" fmla="*/ 0 h 34"/>
                    <a:gd name="T10" fmla="*/ 3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401" name="Group 462"/>
              <p:cNvGrpSpPr>
                <a:grpSpLocks/>
              </p:cNvGrpSpPr>
              <p:nvPr/>
            </p:nvGrpSpPr>
            <p:grpSpPr bwMode="auto">
              <a:xfrm>
                <a:off x="857" y="3710"/>
                <a:ext cx="49" cy="22"/>
                <a:chOff x="857" y="3710"/>
                <a:chExt cx="49" cy="22"/>
              </a:xfrm>
            </p:grpSpPr>
            <p:sp>
              <p:nvSpPr>
                <p:cNvPr id="8417" name="Freeform 463"/>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18" name="Freeform 464"/>
                <p:cNvSpPr>
                  <a:spLocks/>
                </p:cNvSpPr>
                <p:nvPr/>
              </p:nvSpPr>
              <p:spPr bwMode="auto">
                <a:xfrm>
                  <a:off x="862" y="3710"/>
                  <a:ext cx="36" cy="10"/>
                </a:xfrm>
                <a:custGeom>
                  <a:avLst/>
                  <a:gdLst>
                    <a:gd name="T0" fmla="*/ 1 w 72"/>
                    <a:gd name="T1" fmla="*/ 0 h 29"/>
                    <a:gd name="T2" fmla="*/ 2 w 72"/>
                    <a:gd name="T3" fmla="*/ 0 h 29"/>
                    <a:gd name="T4" fmla="*/ 2 w 72"/>
                    <a:gd name="T5" fmla="*/ 0 h 29"/>
                    <a:gd name="T6" fmla="*/ 2 w 72"/>
                    <a:gd name="T7" fmla="*/ 0 h 29"/>
                    <a:gd name="T8" fmla="*/ 3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19" name="Freeform 465"/>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402" name="Group 466"/>
              <p:cNvGrpSpPr>
                <a:grpSpLocks/>
              </p:cNvGrpSpPr>
              <p:nvPr/>
            </p:nvGrpSpPr>
            <p:grpSpPr bwMode="auto">
              <a:xfrm>
                <a:off x="1086" y="3766"/>
                <a:ext cx="49" cy="23"/>
                <a:chOff x="1086" y="3766"/>
                <a:chExt cx="49" cy="23"/>
              </a:xfrm>
            </p:grpSpPr>
            <p:sp>
              <p:nvSpPr>
                <p:cNvPr id="8414" name="Freeform 467"/>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15" name="Freeform 468"/>
                <p:cNvSpPr>
                  <a:spLocks/>
                </p:cNvSpPr>
                <p:nvPr/>
              </p:nvSpPr>
              <p:spPr bwMode="auto">
                <a:xfrm>
                  <a:off x="1090" y="3767"/>
                  <a:ext cx="37" cy="10"/>
                </a:xfrm>
                <a:custGeom>
                  <a:avLst/>
                  <a:gdLst>
                    <a:gd name="T0" fmla="*/ 1 w 74"/>
                    <a:gd name="T1" fmla="*/ 0 h 31"/>
                    <a:gd name="T2" fmla="*/ 2 w 74"/>
                    <a:gd name="T3" fmla="*/ 0 h 31"/>
                    <a:gd name="T4" fmla="*/ 2 w 74"/>
                    <a:gd name="T5" fmla="*/ 0 h 31"/>
                    <a:gd name="T6" fmla="*/ 2 w 74"/>
                    <a:gd name="T7" fmla="*/ 0 h 31"/>
                    <a:gd name="T8" fmla="*/ 3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16" name="Freeform 469"/>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403" name="Group 470"/>
              <p:cNvGrpSpPr>
                <a:grpSpLocks/>
              </p:cNvGrpSpPr>
              <p:nvPr/>
            </p:nvGrpSpPr>
            <p:grpSpPr bwMode="auto">
              <a:xfrm>
                <a:off x="934" y="3740"/>
                <a:ext cx="48" cy="23"/>
                <a:chOff x="934" y="3740"/>
                <a:chExt cx="48" cy="23"/>
              </a:xfrm>
            </p:grpSpPr>
            <p:sp>
              <p:nvSpPr>
                <p:cNvPr id="8411" name="Freeform 471"/>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12" name="Freeform 472"/>
                <p:cNvSpPr>
                  <a:spLocks/>
                </p:cNvSpPr>
                <p:nvPr/>
              </p:nvSpPr>
              <p:spPr bwMode="auto">
                <a:xfrm>
                  <a:off x="938" y="3741"/>
                  <a:ext cx="37" cy="10"/>
                </a:xfrm>
                <a:custGeom>
                  <a:avLst/>
                  <a:gdLst>
                    <a:gd name="T0" fmla="*/ 1 w 74"/>
                    <a:gd name="T1" fmla="*/ 0 h 30"/>
                    <a:gd name="T2" fmla="*/ 2 w 74"/>
                    <a:gd name="T3" fmla="*/ 0 h 30"/>
                    <a:gd name="T4" fmla="*/ 2 w 74"/>
                    <a:gd name="T5" fmla="*/ 0 h 30"/>
                    <a:gd name="T6" fmla="*/ 2 w 74"/>
                    <a:gd name="T7" fmla="*/ 0 h 30"/>
                    <a:gd name="T8" fmla="*/ 3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13" name="Freeform 473"/>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404" name="Group 474"/>
              <p:cNvGrpSpPr>
                <a:grpSpLocks/>
              </p:cNvGrpSpPr>
              <p:nvPr/>
            </p:nvGrpSpPr>
            <p:grpSpPr bwMode="auto">
              <a:xfrm>
                <a:off x="943" y="3754"/>
                <a:ext cx="49" cy="23"/>
                <a:chOff x="943" y="3754"/>
                <a:chExt cx="49" cy="23"/>
              </a:xfrm>
            </p:grpSpPr>
            <p:sp>
              <p:nvSpPr>
                <p:cNvPr id="8408" name="Freeform 475"/>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09" name="Freeform 476"/>
                <p:cNvSpPr>
                  <a:spLocks/>
                </p:cNvSpPr>
                <p:nvPr/>
              </p:nvSpPr>
              <p:spPr bwMode="auto">
                <a:xfrm>
                  <a:off x="948" y="3755"/>
                  <a:ext cx="37" cy="10"/>
                </a:xfrm>
                <a:custGeom>
                  <a:avLst/>
                  <a:gdLst>
                    <a:gd name="T0" fmla="*/ 1 w 74"/>
                    <a:gd name="T1" fmla="*/ 0 h 30"/>
                    <a:gd name="T2" fmla="*/ 2 w 74"/>
                    <a:gd name="T3" fmla="*/ 0 h 30"/>
                    <a:gd name="T4" fmla="*/ 2 w 74"/>
                    <a:gd name="T5" fmla="*/ 0 h 30"/>
                    <a:gd name="T6" fmla="*/ 2 w 74"/>
                    <a:gd name="T7" fmla="*/ 0 h 30"/>
                    <a:gd name="T8" fmla="*/ 3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10" name="Freeform 477"/>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405" name="Freeform 478"/>
              <p:cNvSpPr>
                <a:spLocks/>
              </p:cNvSpPr>
              <p:nvPr/>
            </p:nvSpPr>
            <p:spPr bwMode="auto">
              <a:xfrm>
                <a:off x="987" y="3753"/>
                <a:ext cx="25" cy="43"/>
              </a:xfrm>
              <a:custGeom>
                <a:avLst/>
                <a:gdLst>
                  <a:gd name="T0" fmla="*/ 1 w 51"/>
                  <a:gd name="T1" fmla="*/ 1 h 128"/>
                  <a:gd name="T2" fmla="*/ 0 w 51"/>
                  <a:gd name="T3" fmla="*/ 0 h 128"/>
                  <a:gd name="T4" fmla="*/ 0 w 51"/>
                  <a:gd name="T5" fmla="*/ 0 h 128"/>
                  <a:gd name="T6" fmla="*/ 0 w 51"/>
                  <a:gd name="T7" fmla="*/ 0 h 128"/>
                  <a:gd name="T8" fmla="*/ 0 w 51"/>
                  <a:gd name="T9" fmla="*/ 0 h 128"/>
                  <a:gd name="T10" fmla="*/ 1 w 51"/>
                  <a:gd name="T11" fmla="*/ 0 h 128"/>
                  <a:gd name="T12" fmla="*/ 1 w 51"/>
                  <a:gd name="T13" fmla="*/ 1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06" name="Freeform 479"/>
              <p:cNvSpPr>
                <a:spLocks/>
              </p:cNvSpPr>
              <p:nvPr/>
            </p:nvSpPr>
            <p:spPr bwMode="auto">
              <a:xfrm>
                <a:off x="992" y="3753"/>
                <a:ext cx="91" cy="29"/>
              </a:xfrm>
              <a:custGeom>
                <a:avLst/>
                <a:gdLst>
                  <a:gd name="T0" fmla="*/ 0 w 183"/>
                  <a:gd name="T1" fmla="*/ 0 h 85"/>
                  <a:gd name="T2" fmla="*/ 2 w 183"/>
                  <a:gd name="T3" fmla="*/ 0 h 85"/>
                  <a:gd name="T4" fmla="*/ 2 w 183"/>
                  <a:gd name="T5" fmla="*/ 0 h 85"/>
                  <a:gd name="T6" fmla="*/ 2 w 183"/>
                  <a:gd name="T7" fmla="*/ 0 h 85"/>
                  <a:gd name="T8" fmla="*/ 2 w 183"/>
                  <a:gd name="T9" fmla="*/ 0 h 85"/>
                  <a:gd name="T10" fmla="*/ 4 w 183"/>
                  <a:gd name="T11" fmla="*/ 0 h 85"/>
                  <a:gd name="T12" fmla="*/ 5 w 183"/>
                  <a:gd name="T13" fmla="*/ 0 h 85"/>
                  <a:gd name="T14" fmla="*/ 5 w 183"/>
                  <a:gd name="T15" fmla="*/ 0 h 85"/>
                  <a:gd name="T16" fmla="*/ 5 w 183"/>
                  <a:gd name="T17" fmla="*/ 0 h 85"/>
                  <a:gd name="T18" fmla="*/ 2 w 183"/>
                  <a:gd name="T19" fmla="*/ 0 h 85"/>
                  <a:gd name="T20" fmla="*/ 1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07" name="Freeform 480"/>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5 w 160"/>
                  <a:gd name="T9" fmla="*/ 0 h 36"/>
                  <a:gd name="T10" fmla="*/ 6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02" name="Group 481"/>
            <p:cNvGrpSpPr>
              <a:grpSpLocks/>
            </p:cNvGrpSpPr>
            <p:nvPr/>
          </p:nvGrpSpPr>
          <p:grpSpPr bwMode="auto">
            <a:xfrm>
              <a:off x="920" y="3821"/>
              <a:ext cx="413" cy="50"/>
              <a:chOff x="920" y="3821"/>
              <a:chExt cx="413" cy="50"/>
            </a:xfrm>
          </p:grpSpPr>
          <p:sp>
            <p:nvSpPr>
              <p:cNvPr id="8323" name="Freeform 482"/>
              <p:cNvSpPr>
                <a:spLocks/>
              </p:cNvSpPr>
              <p:nvPr/>
            </p:nvSpPr>
            <p:spPr bwMode="auto">
              <a:xfrm>
                <a:off x="920" y="3821"/>
                <a:ext cx="413" cy="50"/>
              </a:xfrm>
              <a:custGeom>
                <a:avLst/>
                <a:gdLst>
                  <a:gd name="T0" fmla="*/ 2 w 825"/>
                  <a:gd name="T1" fmla="*/ 0 h 151"/>
                  <a:gd name="T2" fmla="*/ 1 w 825"/>
                  <a:gd name="T3" fmla="*/ 0 h 151"/>
                  <a:gd name="T4" fmla="*/ 1 w 825"/>
                  <a:gd name="T5" fmla="*/ 0 h 151"/>
                  <a:gd name="T6" fmla="*/ 0 w 825"/>
                  <a:gd name="T7" fmla="*/ 0 h 151"/>
                  <a:gd name="T8" fmla="*/ 1 w 825"/>
                  <a:gd name="T9" fmla="*/ 1 h 151"/>
                  <a:gd name="T10" fmla="*/ 1 w 825"/>
                  <a:gd name="T11" fmla="*/ 1 h 151"/>
                  <a:gd name="T12" fmla="*/ 1 w 825"/>
                  <a:gd name="T13" fmla="*/ 1 h 151"/>
                  <a:gd name="T14" fmla="*/ 25 w 825"/>
                  <a:gd name="T15" fmla="*/ 1 h 151"/>
                  <a:gd name="T16" fmla="*/ 26 w 825"/>
                  <a:gd name="T17" fmla="*/ 1 h 151"/>
                  <a:gd name="T18" fmla="*/ 26 w 825"/>
                  <a:gd name="T19" fmla="*/ 0 h 151"/>
                  <a:gd name="T20" fmla="*/ 26 w 825"/>
                  <a:gd name="T21" fmla="*/ 0 h 151"/>
                  <a:gd name="T22" fmla="*/ 26 w 825"/>
                  <a:gd name="T23" fmla="*/ 0 h 151"/>
                  <a:gd name="T24" fmla="*/ 26 w 825"/>
                  <a:gd name="T25" fmla="*/ 0 h 151"/>
                  <a:gd name="T26" fmla="*/ 25 w 825"/>
                  <a:gd name="T27" fmla="*/ 0 h 151"/>
                  <a:gd name="T28" fmla="*/ 2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a:p>
            </p:txBody>
          </p:sp>
          <p:sp>
            <p:nvSpPr>
              <p:cNvPr id="8324" name="Freeform 483"/>
              <p:cNvSpPr>
                <a:spLocks/>
              </p:cNvSpPr>
              <p:nvPr/>
            </p:nvSpPr>
            <p:spPr bwMode="auto">
              <a:xfrm>
                <a:off x="972" y="3833"/>
                <a:ext cx="330" cy="27"/>
              </a:xfrm>
              <a:custGeom>
                <a:avLst/>
                <a:gdLst>
                  <a:gd name="T0" fmla="*/ 1 w 658"/>
                  <a:gd name="T1" fmla="*/ 0 h 79"/>
                  <a:gd name="T2" fmla="*/ 0 w 658"/>
                  <a:gd name="T3" fmla="*/ 0 h 79"/>
                  <a:gd name="T4" fmla="*/ 5 w 658"/>
                  <a:gd name="T5" fmla="*/ 0 h 79"/>
                  <a:gd name="T6" fmla="*/ 5 w 658"/>
                  <a:gd name="T7" fmla="*/ 0 h 79"/>
                  <a:gd name="T8" fmla="*/ 16 w 658"/>
                  <a:gd name="T9" fmla="*/ 0 h 79"/>
                  <a:gd name="T10" fmla="*/ 16 w 658"/>
                  <a:gd name="T11" fmla="*/ 0 h 79"/>
                  <a:gd name="T12" fmla="*/ 21 w 658"/>
                  <a:gd name="T13" fmla="*/ 0 h 79"/>
                  <a:gd name="T14" fmla="*/ 21 w 658"/>
                  <a:gd name="T15" fmla="*/ 0 h 79"/>
                  <a:gd name="T16" fmla="*/ 16 w 658"/>
                  <a:gd name="T17" fmla="*/ 0 h 79"/>
                  <a:gd name="T18" fmla="*/ 16 w 658"/>
                  <a:gd name="T19" fmla="*/ 0 h 79"/>
                  <a:gd name="T20" fmla="*/ 5 w 658"/>
                  <a:gd name="T21" fmla="*/ 0 h 79"/>
                  <a:gd name="T22" fmla="*/ 5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25" name="Rectangle 484"/>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326" name="Rectangle 485"/>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endParaRPr lang="zh-CN" altLang="en-US"/>
              </a:p>
            </p:txBody>
          </p:sp>
        </p:grpSp>
        <p:grpSp>
          <p:nvGrpSpPr>
            <p:cNvPr id="8303" name="Group 486"/>
            <p:cNvGrpSpPr>
              <a:grpSpLocks/>
            </p:cNvGrpSpPr>
            <p:nvPr/>
          </p:nvGrpSpPr>
          <p:grpSpPr bwMode="auto">
            <a:xfrm>
              <a:off x="1227" y="3477"/>
              <a:ext cx="508" cy="321"/>
              <a:chOff x="1227" y="3477"/>
              <a:chExt cx="508" cy="321"/>
            </a:xfrm>
          </p:grpSpPr>
          <p:sp>
            <p:nvSpPr>
              <p:cNvPr id="8304" name="Freeform 487"/>
              <p:cNvSpPr>
                <a:spLocks/>
              </p:cNvSpPr>
              <p:nvPr/>
            </p:nvSpPr>
            <p:spPr bwMode="auto">
              <a:xfrm>
                <a:off x="1640" y="3731"/>
                <a:ext cx="95" cy="66"/>
              </a:xfrm>
              <a:custGeom>
                <a:avLst/>
                <a:gdLst>
                  <a:gd name="T0" fmla="*/ 3 w 191"/>
                  <a:gd name="T1" fmla="*/ 0 h 200"/>
                  <a:gd name="T2" fmla="*/ 2 w 191"/>
                  <a:gd name="T3" fmla="*/ 0 h 200"/>
                  <a:gd name="T4" fmla="*/ 1 w 191"/>
                  <a:gd name="T5" fmla="*/ 0 h 200"/>
                  <a:gd name="T6" fmla="*/ 1 w 191"/>
                  <a:gd name="T7" fmla="*/ 0 h 200"/>
                  <a:gd name="T8" fmla="*/ 0 w 191"/>
                  <a:gd name="T9" fmla="*/ 0 h 200"/>
                  <a:gd name="T10" fmla="*/ 0 w 191"/>
                  <a:gd name="T11" fmla="*/ 0 h 200"/>
                  <a:gd name="T12" fmla="*/ 0 w 191"/>
                  <a:gd name="T13" fmla="*/ 1 h 200"/>
                  <a:gd name="T14" fmla="*/ 0 w 191"/>
                  <a:gd name="T15" fmla="*/ 1 h 200"/>
                  <a:gd name="T16" fmla="*/ 5 w 191"/>
                  <a:gd name="T17" fmla="*/ 1 h 200"/>
                  <a:gd name="T18" fmla="*/ 5 w 191"/>
                  <a:gd name="T19" fmla="*/ 0 h 200"/>
                  <a:gd name="T20" fmla="*/ 4 w 191"/>
                  <a:gd name="T21" fmla="*/ 0 h 200"/>
                  <a:gd name="T22" fmla="*/ 3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a:p>
            </p:txBody>
          </p:sp>
          <p:sp>
            <p:nvSpPr>
              <p:cNvPr id="8305" name="Freeform 488"/>
              <p:cNvSpPr>
                <a:spLocks/>
              </p:cNvSpPr>
              <p:nvPr/>
            </p:nvSpPr>
            <p:spPr bwMode="auto">
              <a:xfrm>
                <a:off x="1227" y="3477"/>
                <a:ext cx="429" cy="264"/>
              </a:xfrm>
              <a:custGeom>
                <a:avLst/>
                <a:gdLst>
                  <a:gd name="T0" fmla="*/ 0 w 860"/>
                  <a:gd name="T1" fmla="*/ 0 h 791"/>
                  <a:gd name="T2" fmla="*/ 26 w 860"/>
                  <a:gd name="T3" fmla="*/ 3 h 791"/>
                  <a:gd name="T4" fmla="*/ 26 w 860"/>
                  <a:gd name="T5" fmla="*/ 3 h 791"/>
                  <a:gd name="T6" fmla="*/ 26 w 860"/>
                  <a:gd name="T7" fmla="*/ 3 h 791"/>
                  <a:gd name="T8" fmla="*/ 0 w 860"/>
                  <a:gd name="T9" fmla="*/ 0 h 7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06" name="Freeform 489"/>
              <p:cNvSpPr>
                <a:spLocks/>
              </p:cNvSpPr>
              <p:nvPr/>
            </p:nvSpPr>
            <p:spPr bwMode="auto">
              <a:xfrm>
                <a:off x="1521" y="3650"/>
                <a:ext cx="141" cy="122"/>
              </a:xfrm>
              <a:custGeom>
                <a:avLst/>
                <a:gdLst>
                  <a:gd name="T0" fmla="*/ 1 w 281"/>
                  <a:gd name="T1" fmla="*/ 0 h 366"/>
                  <a:gd name="T2" fmla="*/ 1 w 281"/>
                  <a:gd name="T3" fmla="*/ 0 h 366"/>
                  <a:gd name="T4" fmla="*/ 2 w 281"/>
                  <a:gd name="T5" fmla="*/ 0 h 366"/>
                  <a:gd name="T6" fmla="*/ 3 w 281"/>
                  <a:gd name="T7" fmla="*/ 0 h 366"/>
                  <a:gd name="T8" fmla="*/ 4 w 281"/>
                  <a:gd name="T9" fmla="*/ 0 h 366"/>
                  <a:gd name="T10" fmla="*/ 5 w 281"/>
                  <a:gd name="T11" fmla="*/ 0 h 366"/>
                  <a:gd name="T12" fmla="*/ 9 w 281"/>
                  <a:gd name="T13" fmla="*/ 1 h 366"/>
                  <a:gd name="T14" fmla="*/ 9 w 281"/>
                  <a:gd name="T15" fmla="*/ 1 h 366"/>
                  <a:gd name="T16" fmla="*/ 8 w 281"/>
                  <a:gd name="T17" fmla="*/ 1 h 366"/>
                  <a:gd name="T18" fmla="*/ 6 w 281"/>
                  <a:gd name="T19" fmla="*/ 1 h 366"/>
                  <a:gd name="T20" fmla="*/ 5 w 281"/>
                  <a:gd name="T21" fmla="*/ 1 h 366"/>
                  <a:gd name="T22" fmla="*/ 5 w 281"/>
                  <a:gd name="T23" fmla="*/ 1 h 366"/>
                  <a:gd name="T24" fmla="*/ 5 w 281"/>
                  <a:gd name="T25" fmla="*/ 1 h 366"/>
                  <a:gd name="T26" fmla="*/ 5 w 281"/>
                  <a:gd name="T27" fmla="*/ 1 h 366"/>
                  <a:gd name="T28" fmla="*/ 5 w 281"/>
                  <a:gd name="T29" fmla="*/ 2 h 366"/>
                  <a:gd name="T30" fmla="*/ 0 w 281"/>
                  <a:gd name="T31" fmla="*/ 1 h 366"/>
                  <a:gd name="T32" fmla="*/ 0 w 281"/>
                  <a:gd name="T33" fmla="*/ 1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8307" name="Line 490"/>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8" name="Freeform 491"/>
              <p:cNvSpPr>
                <a:spLocks/>
              </p:cNvSpPr>
              <p:nvPr/>
            </p:nvSpPr>
            <p:spPr bwMode="auto">
              <a:xfrm>
                <a:off x="1242" y="3486"/>
                <a:ext cx="111" cy="96"/>
              </a:xfrm>
              <a:custGeom>
                <a:avLst/>
                <a:gdLst>
                  <a:gd name="T0" fmla="*/ 1 w 222"/>
                  <a:gd name="T1" fmla="*/ 0 h 289"/>
                  <a:gd name="T2" fmla="*/ 1 w 222"/>
                  <a:gd name="T3" fmla="*/ 0 h 289"/>
                  <a:gd name="T4" fmla="*/ 2 w 222"/>
                  <a:gd name="T5" fmla="*/ 0 h 289"/>
                  <a:gd name="T6" fmla="*/ 3 w 222"/>
                  <a:gd name="T7" fmla="*/ 0 h 289"/>
                  <a:gd name="T8" fmla="*/ 5 w 222"/>
                  <a:gd name="T9" fmla="*/ 0 h 289"/>
                  <a:gd name="T10" fmla="*/ 5 w 222"/>
                  <a:gd name="T11" fmla="*/ 0 h 289"/>
                  <a:gd name="T12" fmla="*/ 7 w 222"/>
                  <a:gd name="T13" fmla="*/ 0 h 289"/>
                  <a:gd name="T14" fmla="*/ 7 w 222"/>
                  <a:gd name="T15" fmla="*/ 0 h 289"/>
                  <a:gd name="T16" fmla="*/ 6 w 222"/>
                  <a:gd name="T17" fmla="*/ 0 h 289"/>
                  <a:gd name="T18" fmla="*/ 6 w 222"/>
                  <a:gd name="T19" fmla="*/ 0 h 289"/>
                  <a:gd name="T20" fmla="*/ 5 w 222"/>
                  <a:gd name="T21" fmla="*/ 1 h 289"/>
                  <a:gd name="T22" fmla="*/ 4 w 222"/>
                  <a:gd name="T23" fmla="*/ 1 h 289"/>
                  <a:gd name="T24" fmla="*/ 4 w 222"/>
                  <a:gd name="T25" fmla="*/ 1 h 289"/>
                  <a:gd name="T26" fmla="*/ 4 w 222"/>
                  <a:gd name="T27" fmla="*/ 1 h 289"/>
                  <a:gd name="T28" fmla="*/ 3 w 222"/>
                  <a:gd name="T29" fmla="*/ 1 h 289"/>
                  <a:gd name="T30" fmla="*/ 0 w 222"/>
                  <a:gd name="T31" fmla="*/ 1 h 289"/>
                  <a:gd name="T32" fmla="*/ 1 w 222"/>
                  <a:gd name="T33" fmla="*/ 1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8309" name="Freeform 492"/>
              <p:cNvSpPr>
                <a:spLocks/>
              </p:cNvSpPr>
              <p:nvPr/>
            </p:nvSpPr>
            <p:spPr bwMode="auto">
              <a:xfrm>
                <a:off x="1456" y="3626"/>
                <a:ext cx="64" cy="62"/>
              </a:xfrm>
              <a:custGeom>
                <a:avLst/>
                <a:gdLst>
                  <a:gd name="T0" fmla="*/ 4 w 128"/>
                  <a:gd name="T1" fmla="*/ 0 h 186"/>
                  <a:gd name="T2" fmla="*/ 2 w 128"/>
                  <a:gd name="T3" fmla="*/ 0 h 186"/>
                  <a:gd name="T4" fmla="*/ 1 w 128"/>
                  <a:gd name="T5" fmla="*/ 0 h 186"/>
                  <a:gd name="T6" fmla="*/ 1 w 128"/>
                  <a:gd name="T7" fmla="*/ 0 h 186"/>
                  <a:gd name="T8" fmla="*/ 0 w 128"/>
                  <a:gd name="T9" fmla="*/ 0 h 186"/>
                  <a:gd name="T10" fmla="*/ 0 w 128"/>
                  <a:gd name="T11" fmla="*/ 1 h 186"/>
                  <a:gd name="T12" fmla="*/ 0 w 128"/>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8310" name="Freeform 493"/>
              <p:cNvSpPr>
                <a:spLocks/>
              </p:cNvSpPr>
              <p:nvPr/>
            </p:nvSpPr>
            <p:spPr bwMode="auto">
              <a:xfrm>
                <a:off x="1440" y="3615"/>
                <a:ext cx="63" cy="61"/>
              </a:xfrm>
              <a:custGeom>
                <a:avLst/>
                <a:gdLst>
                  <a:gd name="T0" fmla="*/ 4 w 126"/>
                  <a:gd name="T1" fmla="*/ 0 h 185"/>
                  <a:gd name="T2" fmla="*/ 2 w 126"/>
                  <a:gd name="T3" fmla="*/ 0 h 185"/>
                  <a:gd name="T4" fmla="*/ 1 w 126"/>
                  <a:gd name="T5" fmla="*/ 0 h 185"/>
                  <a:gd name="T6" fmla="*/ 1 w 126"/>
                  <a:gd name="T7" fmla="*/ 0 h 185"/>
                  <a:gd name="T8" fmla="*/ 0 w 126"/>
                  <a:gd name="T9" fmla="*/ 0 h 185"/>
                  <a:gd name="T10" fmla="*/ 0 w 126"/>
                  <a:gd name="T11" fmla="*/ 1 h 185"/>
                  <a:gd name="T12" fmla="*/ 0 w 126"/>
                  <a:gd name="T13" fmla="*/ 1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8311" name="Freeform 494"/>
              <p:cNvSpPr>
                <a:spLocks/>
              </p:cNvSpPr>
              <p:nvPr/>
            </p:nvSpPr>
            <p:spPr bwMode="auto">
              <a:xfrm>
                <a:off x="1422" y="3604"/>
                <a:ext cx="64" cy="62"/>
              </a:xfrm>
              <a:custGeom>
                <a:avLst/>
                <a:gdLst>
                  <a:gd name="T0" fmla="*/ 4 w 127"/>
                  <a:gd name="T1" fmla="*/ 0 h 185"/>
                  <a:gd name="T2" fmla="*/ 2 w 127"/>
                  <a:gd name="T3" fmla="*/ 0 h 185"/>
                  <a:gd name="T4" fmla="*/ 1 w 127"/>
                  <a:gd name="T5" fmla="*/ 0 h 185"/>
                  <a:gd name="T6" fmla="*/ 1 w 127"/>
                  <a:gd name="T7" fmla="*/ 0 h 185"/>
                  <a:gd name="T8" fmla="*/ 0 w 127"/>
                  <a:gd name="T9" fmla="*/ 0 h 185"/>
                  <a:gd name="T10" fmla="*/ 0 w 127"/>
                  <a:gd name="T11" fmla="*/ 1 h 185"/>
                  <a:gd name="T12" fmla="*/ 0 w 127"/>
                  <a:gd name="T13" fmla="*/ 1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8312" name="Freeform 495"/>
              <p:cNvSpPr>
                <a:spLocks/>
              </p:cNvSpPr>
              <p:nvPr/>
            </p:nvSpPr>
            <p:spPr bwMode="auto">
              <a:xfrm>
                <a:off x="1401" y="3594"/>
                <a:ext cx="64" cy="62"/>
              </a:xfrm>
              <a:custGeom>
                <a:avLst/>
                <a:gdLst>
                  <a:gd name="T0" fmla="*/ 4 w 127"/>
                  <a:gd name="T1" fmla="*/ 0 h 186"/>
                  <a:gd name="T2" fmla="*/ 2 w 127"/>
                  <a:gd name="T3" fmla="*/ 0 h 186"/>
                  <a:gd name="T4" fmla="*/ 1 w 127"/>
                  <a:gd name="T5" fmla="*/ 0 h 186"/>
                  <a:gd name="T6" fmla="*/ 1 w 127"/>
                  <a:gd name="T7" fmla="*/ 0 h 186"/>
                  <a:gd name="T8" fmla="*/ 0 w 127"/>
                  <a:gd name="T9" fmla="*/ 0 h 186"/>
                  <a:gd name="T10" fmla="*/ 0 w 127"/>
                  <a:gd name="T11" fmla="*/ 1 h 186"/>
                  <a:gd name="T12" fmla="*/ 0 w 127"/>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8313" name="Freeform 496"/>
              <p:cNvSpPr>
                <a:spLocks/>
              </p:cNvSpPr>
              <p:nvPr/>
            </p:nvSpPr>
            <p:spPr bwMode="auto">
              <a:xfrm>
                <a:off x="1383" y="3583"/>
                <a:ext cx="64" cy="62"/>
              </a:xfrm>
              <a:custGeom>
                <a:avLst/>
                <a:gdLst>
                  <a:gd name="T0" fmla="*/ 4 w 128"/>
                  <a:gd name="T1" fmla="*/ 0 h 186"/>
                  <a:gd name="T2" fmla="*/ 2 w 128"/>
                  <a:gd name="T3" fmla="*/ 0 h 186"/>
                  <a:gd name="T4" fmla="*/ 1 w 128"/>
                  <a:gd name="T5" fmla="*/ 0 h 186"/>
                  <a:gd name="T6" fmla="*/ 1 w 128"/>
                  <a:gd name="T7" fmla="*/ 0 h 186"/>
                  <a:gd name="T8" fmla="*/ 0 w 128"/>
                  <a:gd name="T9" fmla="*/ 0 h 186"/>
                  <a:gd name="T10" fmla="*/ 0 w 128"/>
                  <a:gd name="T11" fmla="*/ 1 h 186"/>
                  <a:gd name="T12" fmla="*/ 0 w 128"/>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8314" name="Freeform 497"/>
              <p:cNvSpPr>
                <a:spLocks/>
              </p:cNvSpPr>
              <p:nvPr/>
            </p:nvSpPr>
            <p:spPr bwMode="auto">
              <a:xfrm>
                <a:off x="1365" y="3570"/>
                <a:ext cx="63" cy="62"/>
              </a:xfrm>
              <a:custGeom>
                <a:avLst/>
                <a:gdLst>
                  <a:gd name="T0" fmla="*/ 4 w 126"/>
                  <a:gd name="T1" fmla="*/ 0 h 186"/>
                  <a:gd name="T2" fmla="*/ 2 w 126"/>
                  <a:gd name="T3" fmla="*/ 0 h 186"/>
                  <a:gd name="T4" fmla="*/ 1 w 126"/>
                  <a:gd name="T5" fmla="*/ 0 h 186"/>
                  <a:gd name="T6" fmla="*/ 1 w 126"/>
                  <a:gd name="T7" fmla="*/ 0 h 186"/>
                  <a:gd name="T8" fmla="*/ 0 w 126"/>
                  <a:gd name="T9" fmla="*/ 0 h 186"/>
                  <a:gd name="T10" fmla="*/ 0 w 126"/>
                  <a:gd name="T11" fmla="*/ 1 h 186"/>
                  <a:gd name="T12" fmla="*/ 0 w 126"/>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8315" name="Freeform 498"/>
              <p:cNvSpPr>
                <a:spLocks/>
              </p:cNvSpPr>
              <p:nvPr/>
            </p:nvSpPr>
            <p:spPr bwMode="auto">
              <a:xfrm>
                <a:off x="1349" y="3558"/>
                <a:ext cx="64" cy="62"/>
              </a:xfrm>
              <a:custGeom>
                <a:avLst/>
                <a:gdLst>
                  <a:gd name="T0" fmla="*/ 4 w 127"/>
                  <a:gd name="T1" fmla="*/ 0 h 186"/>
                  <a:gd name="T2" fmla="*/ 2 w 127"/>
                  <a:gd name="T3" fmla="*/ 0 h 186"/>
                  <a:gd name="T4" fmla="*/ 2 w 127"/>
                  <a:gd name="T5" fmla="*/ 0 h 186"/>
                  <a:gd name="T6" fmla="*/ 1 w 127"/>
                  <a:gd name="T7" fmla="*/ 0 h 186"/>
                  <a:gd name="T8" fmla="*/ 0 w 127"/>
                  <a:gd name="T9" fmla="*/ 0 h 186"/>
                  <a:gd name="T10" fmla="*/ 0 w 127"/>
                  <a:gd name="T11" fmla="*/ 1 h 186"/>
                  <a:gd name="T12" fmla="*/ 0 w 127"/>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8316" name="Freeform 499"/>
              <p:cNvSpPr>
                <a:spLocks/>
              </p:cNvSpPr>
              <p:nvPr/>
            </p:nvSpPr>
            <p:spPr bwMode="auto">
              <a:xfrm>
                <a:off x="1331" y="3550"/>
                <a:ext cx="63" cy="62"/>
              </a:xfrm>
              <a:custGeom>
                <a:avLst/>
                <a:gdLst>
                  <a:gd name="T0" fmla="*/ 3 w 127"/>
                  <a:gd name="T1" fmla="*/ 0 h 186"/>
                  <a:gd name="T2" fmla="*/ 1 w 127"/>
                  <a:gd name="T3" fmla="*/ 0 h 186"/>
                  <a:gd name="T4" fmla="*/ 1 w 127"/>
                  <a:gd name="T5" fmla="*/ 0 h 186"/>
                  <a:gd name="T6" fmla="*/ 0 w 127"/>
                  <a:gd name="T7" fmla="*/ 0 h 186"/>
                  <a:gd name="T8" fmla="*/ 0 w 127"/>
                  <a:gd name="T9" fmla="*/ 0 h 186"/>
                  <a:gd name="T10" fmla="*/ 0 w 127"/>
                  <a:gd name="T11" fmla="*/ 1 h 186"/>
                  <a:gd name="T12" fmla="*/ 0 w 127"/>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8317" name="Freeform 500"/>
              <p:cNvSpPr>
                <a:spLocks/>
              </p:cNvSpPr>
              <p:nvPr/>
            </p:nvSpPr>
            <p:spPr bwMode="auto">
              <a:xfrm>
                <a:off x="1308" y="3501"/>
                <a:ext cx="47" cy="25"/>
              </a:xfrm>
              <a:custGeom>
                <a:avLst/>
                <a:gdLst>
                  <a:gd name="T0" fmla="*/ 0 w 96"/>
                  <a:gd name="T1" fmla="*/ 0 h 74"/>
                  <a:gd name="T2" fmla="*/ 2 w 96"/>
                  <a:gd name="T3" fmla="*/ 0 h 74"/>
                  <a:gd name="T4" fmla="*/ 2 w 96"/>
                  <a:gd name="T5" fmla="*/ 0 h 74"/>
                  <a:gd name="T6" fmla="*/ 2 w 96"/>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a:p>
            </p:txBody>
          </p:sp>
          <p:sp>
            <p:nvSpPr>
              <p:cNvPr id="8318" name="Oval 501"/>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19" name="Oval 502"/>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20" name="Freeform 503"/>
              <p:cNvSpPr>
                <a:spLocks/>
              </p:cNvSpPr>
              <p:nvPr/>
            </p:nvSpPr>
            <p:spPr bwMode="auto">
              <a:xfrm>
                <a:off x="1511" y="3785"/>
                <a:ext cx="94" cy="8"/>
              </a:xfrm>
              <a:custGeom>
                <a:avLst/>
                <a:gdLst>
                  <a:gd name="T0" fmla="*/ 0 w 188"/>
                  <a:gd name="T1" fmla="*/ 0 h 25"/>
                  <a:gd name="T2" fmla="*/ 1 w 188"/>
                  <a:gd name="T3" fmla="*/ 0 h 25"/>
                  <a:gd name="T4" fmla="*/ 6 w 188"/>
                  <a:gd name="T5" fmla="*/ 0 h 25"/>
                  <a:gd name="T6" fmla="*/ 6 w 188"/>
                  <a:gd name="T7" fmla="*/ 0 h 25"/>
                  <a:gd name="T8" fmla="*/ 0 w 188"/>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21" name="Oval 504"/>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22" name="Oval 505"/>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8218" name="Group 506"/>
          <p:cNvGrpSpPr>
            <a:grpSpLocks/>
          </p:cNvGrpSpPr>
          <p:nvPr/>
        </p:nvGrpSpPr>
        <p:grpSpPr bwMode="auto">
          <a:xfrm>
            <a:off x="6997700" y="3008313"/>
            <a:ext cx="1128713" cy="781050"/>
            <a:chOff x="1680" y="240"/>
            <a:chExt cx="2529" cy="1270"/>
          </a:xfrm>
        </p:grpSpPr>
        <p:sp>
          <p:nvSpPr>
            <p:cNvPr id="8280" name="Oval 507"/>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81" name="Oval 508"/>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82" name="Oval 509"/>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83" name="Oval 510"/>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84" name="Oval 511"/>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85" name="Oval 512"/>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86" name="Oval 513"/>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87" name="Oval 514"/>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88" name="Oval 515"/>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8219" name="Text Box 516"/>
          <p:cNvSpPr txBox="1">
            <a:spLocks noChangeArrowheads="1"/>
          </p:cNvSpPr>
          <p:nvPr/>
        </p:nvSpPr>
        <p:spPr bwMode="auto">
          <a:xfrm>
            <a:off x="7226300" y="319722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局域网</a:t>
            </a:r>
          </a:p>
        </p:txBody>
      </p:sp>
      <p:sp>
        <p:nvSpPr>
          <p:cNvPr id="138757" name="Line 517"/>
          <p:cNvSpPr>
            <a:spLocks noChangeShapeType="1"/>
          </p:cNvSpPr>
          <p:nvPr/>
        </p:nvSpPr>
        <p:spPr bwMode="auto">
          <a:xfrm flipV="1">
            <a:off x="1039813" y="3074988"/>
            <a:ext cx="1223962" cy="360362"/>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758" name="Line 518"/>
          <p:cNvSpPr>
            <a:spLocks noChangeShapeType="1"/>
          </p:cNvSpPr>
          <p:nvPr/>
        </p:nvSpPr>
        <p:spPr bwMode="auto">
          <a:xfrm flipV="1">
            <a:off x="4970463" y="3087688"/>
            <a:ext cx="1406525" cy="115887"/>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759" name="Line 519"/>
          <p:cNvSpPr>
            <a:spLocks noChangeShapeType="1"/>
          </p:cNvSpPr>
          <p:nvPr/>
        </p:nvSpPr>
        <p:spPr bwMode="auto">
          <a:xfrm>
            <a:off x="6977063" y="3133725"/>
            <a:ext cx="1587500" cy="261938"/>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760" name="Line 520"/>
          <p:cNvSpPr>
            <a:spLocks noChangeShapeType="1"/>
          </p:cNvSpPr>
          <p:nvPr/>
        </p:nvSpPr>
        <p:spPr bwMode="auto">
          <a:xfrm>
            <a:off x="2906713" y="3044825"/>
            <a:ext cx="1543050" cy="142875"/>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761" name="Text Box 521"/>
          <p:cNvSpPr txBox="1">
            <a:spLocks noChangeArrowheads="1"/>
          </p:cNvSpPr>
          <p:nvPr/>
        </p:nvSpPr>
        <p:spPr bwMode="auto">
          <a:xfrm>
            <a:off x="2493963" y="1844675"/>
            <a:ext cx="4165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3200">
                <a:solidFill>
                  <a:srgbClr val="333399"/>
                </a:solidFill>
                <a:latin typeface="Arial" pitchFamily="34" charset="0"/>
                <a:ea typeface="黑体" pitchFamily="49" charset="-122"/>
              </a:rPr>
              <a:t>主机</a:t>
            </a:r>
            <a:r>
              <a:rPr kumimoji="1" lang="zh-CN" altLang="en-US" sz="1800">
                <a:solidFill>
                  <a:srgbClr val="333399"/>
                </a:solidFill>
                <a:latin typeface="Arial" pitchFamily="34" charset="0"/>
                <a:ea typeface="黑体" pitchFamily="49" charset="-122"/>
              </a:rPr>
              <a:t> </a:t>
            </a:r>
            <a:r>
              <a:rPr kumimoji="1" lang="en-US" altLang="zh-CN" sz="3200">
                <a:solidFill>
                  <a:srgbClr val="333399"/>
                </a:solidFill>
                <a:latin typeface="Arial" pitchFamily="34" charset="0"/>
                <a:ea typeface="黑体" pitchFamily="49" charset="-122"/>
              </a:rPr>
              <a:t>H</a:t>
            </a:r>
            <a:r>
              <a:rPr kumimoji="1" lang="en-US" altLang="zh-CN" sz="3200" baseline="-25000">
                <a:solidFill>
                  <a:srgbClr val="333399"/>
                </a:solidFill>
                <a:latin typeface="Arial" pitchFamily="34" charset="0"/>
                <a:ea typeface="黑体" pitchFamily="49" charset="-122"/>
              </a:rPr>
              <a:t>1</a:t>
            </a:r>
            <a:r>
              <a:rPr kumimoji="1" lang="en-US" altLang="zh-CN" sz="1800">
                <a:solidFill>
                  <a:srgbClr val="333399"/>
                </a:solidFill>
                <a:latin typeface="Arial" pitchFamily="34" charset="0"/>
                <a:ea typeface="黑体" pitchFamily="49" charset="-122"/>
              </a:rPr>
              <a:t> </a:t>
            </a:r>
            <a:r>
              <a:rPr kumimoji="1" lang="zh-CN" altLang="en-US" sz="3200">
                <a:solidFill>
                  <a:srgbClr val="333399"/>
                </a:solidFill>
                <a:latin typeface="Arial" pitchFamily="34" charset="0"/>
                <a:ea typeface="黑体" pitchFamily="49" charset="-122"/>
              </a:rPr>
              <a:t>向</a:t>
            </a:r>
            <a:r>
              <a:rPr kumimoji="1" lang="zh-CN" altLang="en-US" sz="1800">
                <a:solidFill>
                  <a:srgbClr val="333399"/>
                </a:solidFill>
                <a:latin typeface="Arial" pitchFamily="34" charset="0"/>
                <a:ea typeface="黑体" pitchFamily="49" charset="-122"/>
              </a:rPr>
              <a:t> </a:t>
            </a:r>
            <a:r>
              <a:rPr kumimoji="1" lang="en-US" altLang="zh-CN" sz="3200">
                <a:solidFill>
                  <a:srgbClr val="333399"/>
                </a:solidFill>
                <a:latin typeface="Arial" pitchFamily="34" charset="0"/>
                <a:ea typeface="黑体" pitchFamily="49" charset="-122"/>
              </a:rPr>
              <a:t>H</a:t>
            </a:r>
            <a:r>
              <a:rPr kumimoji="1" lang="en-US" altLang="zh-CN" sz="3200" baseline="-25000">
                <a:solidFill>
                  <a:srgbClr val="333399"/>
                </a:solidFill>
                <a:latin typeface="Arial" pitchFamily="34" charset="0"/>
                <a:ea typeface="黑体" pitchFamily="49" charset="-122"/>
              </a:rPr>
              <a:t>2</a:t>
            </a:r>
            <a:r>
              <a:rPr kumimoji="1" lang="en-US" altLang="zh-CN" sz="1800">
                <a:solidFill>
                  <a:srgbClr val="333399"/>
                </a:solidFill>
                <a:latin typeface="Arial" pitchFamily="34" charset="0"/>
                <a:ea typeface="黑体" pitchFamily="49" charset="-122"/>
              </a:rPr>
              <a:t> </a:t>
            </a:r>
            <a:r>
              <a:rPr kumimoji="1" lang="zh-CN" altLang="en-US" sz="3200">
                <a:solidFill>
                  <a:srgbClr val="333399"/>
                </a:solidFill>
                <a:latin typeface="Arial" pitchFamily="34" charset="0"/>
                <a:ea typeface="黑体" pitchFamily="49" charset="-122"/>
              </a:rPr>
              <a:t>发送数据</a:t>
            </a:r>
            <a:endParaRPr kumimoji="1" lang="zh-CN" altLang="en-US" sz="3200" baseline="-25000">
              <a:solidFill>
                <a:srgbClr val="333399"/>
              </a:solidFill>
              <a:latin typeface="Arial" pitchFamily="34" charset="0"/>
              <a:ea typeface="黑体" pitchFamily="49" charset="-122"/>
            </a:endParaRPr>
          </a:p>
        </p:txBody>
      </p:sp>
      <p:grpSp>
        <p:nvGrpSpPr>
          <p:cNvPr id="138827" name="Group 587"/>
          <p:cNvGrpSpPr>
            <a:grpSpLocks/>
          </p:cNvGrpSpPr>
          <p:nvPr/>
        </p:nvGrpSpPr>
        <p:grpSpPr bwMode="auto">
          <a:xfrm>
            <a:off x="250825" y="3817938"/>
            <a:ext cx="8728075" cy="2419350"/>
            <a:chOff x="158" y="2405"/>
            <a:chExt cx="5498" cy="1524"/>
          </a:xfrm>
        </p:grpSpPr>
        <p:sp>
          <p:nvSpPr>
            <p:cNvPr id="8228" name="AutoShape 524"/>
            <p:cNvSpPr>
              <a:spLocks noChangeArrowheads="1"/>
            </p:cNvSpPr>
            <p:nvPr/>
          </p:nvSpPr>
          <p:spPr bwMode="auto">
            <a:xfrm>
              <a:off x="158" y="2633"/>
              <a:ext cx="564" cy="1144"/>
            </a:xfrm>
            <a:prstGeom prst="cube">
              <a:avLst>
                <a:gd name="adj" fmla="val 9250"/>
              </a:avLst>
            </a:prstGeom>
            <a:solidFill>
              <a:srgbClr val="FF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9" name="Freeform 525"/>
            <p:cNvSpPr>
              <a:spLocks/>
            </p:cNvSpPr>
            <p:nvPr/>
          </p:nvSpPr>
          <p:spPr bwMode="auto">
            <a:xfrm>
              <a:off x="158" y="3491"/>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0" name="Freeform 528"/>
            <p:cNvSpPr>
              <a:spLocks/>
            </p:cNvSpPr>
            <p:nvPr/>
          </p:nvSpPr>
          <p:spPr bwMode="auto">
            <a:xfrm>
              <a:off x="158" y="2844"/>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Freeform 526"/>
            <p:cNvSpPr>
              <a:spLocks/>
            </p:cNvSpPr>
            <p:nvPr/>
          </p:nvSpPr>
          <p:spPr bwMode="auto">
            <a:xfrm>
              <a:off x="158" y="3273"/>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2" name="Freeform 527"/>
            <p:cNvSpPr>
              <a:spLocks/>
            </p:cNvSpPr>
            <p:nvPr/>
          </p:nvSpPr>
          <p:spPr bwMode="auto">
            <a:xfrm>
              <a:off x="158" y="3058"/>
              <a:ext cx="564" cy="76"/>
            </a:xfrm>
            <a:custGeom>
              <a:avLst/>
              <a:gdLst>
                <a:gd name="T0" fmla="*/ 0 w 1200"/>
                <a:gd name="T1" fmla="*/ 12 h 120"/>
                <a:gd name="T2" fmla="*/ 25 w 1200"/>
                <a:gd name="T3" fmla="*/ 12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 name="Rectangle 529"/>
            <p:cNvSpPr>
              <a:spLocks noChangeArrowheads="1"/>
            </p:cNvSpPr>
            <p:nvPr/>
          </p:nvSpPr>
          <p:spPr bwMode="auto">
            <a:xfrm>
              <a:off x="170" y="3363"/>
              <a:ext cx="486" cy="19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4" name="Text Box 530"/>
            <p:cNvSpPr txBox="1">
              <a:spLocks noChangeArrowheads="1"/>
            </p:cNvSpPr>
            <p:nvPr/>
          </p:nvSpPr>
          <p:spPr bwMode="auto">
            <a:xfrm>
              <a:off x="158" y="3330"/>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链路层</a:t>
              </a:r>
            </a:p>
          </p:txBody>
        </p:sp>
        <p:sp>
          <p:nvSpPr>
            <p:cNvPr id="8235" name="Text Box 531"/>
            <p:cNvSpPr txBox="1">
              <a:spLocks noChangeArrowheads="1"/>
            </p:cNvSpPr>
            <p:nvPr/>
          </p:nvSpPr>
          <p:spPr bwMode="auto">
            <a:xfrm>
              <a:off x="160" y="2677"/>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应用层</a:t>
              </a:r>
            </a:p>
          </p:txBody>
        </p:sp>
        <p:sp>
          <p:nvSpPr>
            <p:cNvPr id="8236" name="Text Box 532"/>
            <p:cNvSpPr txBox="1">
              <a:spLocks noChangeArrowheads="1"/>
            </p:cNvSpPr>
            <p:nvPr/>
          </p:nvSpPr>
          <p:spPr bwMode="auto">
            <a:xfrm>
              <a:off x="158" y="2894"/>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运输层</a:t>
              </a:r>
            </a:p>
          </p:txBody>
        </p:sp>
        <p:sp>
          <p:nvSpPr>
            <p:cNvPr id="8237" name="Text Box 533"/>
            <p:cNvSpPr txBox="1">
              <a:spLocks noChangeArrowheads="1"/>
            </p:cNvSpPr>
            <p:nvPr/>
          </p:nvSpPr>
          <p:spPr bwMode="auto">
            <a:xfrm>
              <a:off x="158" y="3112"/>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网络层</a:t>
              </a:r>
            </a:p>
          </p:txBody>
        </p:sp>
        <p:sp>
          <p:nvSpPr>
            <p:cNvPr id="8238" name="Text Box 534"/>
            <p:cNvSpPr txBox="1">
              <a:spLocks noChangeArrowheads="1"/>
            </p:cNvSpPr>
            <p:nvPr/>
          </p:nvSpPr>
          <p:spPr bwMode="auto">
            <a:xfrm>
              <a:off x="158" y="3548"/>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物理层</a:t>
              </a:r>
            </a:p>
          </p:txBody>
        </p:sp>
        <p:sp>
          <p:nvSpPr>
            <p:cNvPr id="8239" name="AutoShape 536"/>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0" name="Freeform 537"/>
            <p:cNvSpPr>
              <a:spLocks/>
            </p:cNvSpPr>
            <p:nvPr/>
          </p:nvSpPr>
          <p:spPr bwMode="auto">
            <a:xfrm>
              <a:off x="5092" y="3491"/>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1" name="Freeform 538"/>
            <p:cNvSpPr>
              <a:spLocks/>
            </p:cNvSpPr>
            <p:nvPr/>
          </p:nvSpPr>
          <p:spPr bwMode="auto">
            <a:xfrm>
              <a:off x="5092" y="3273"/>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2" name="Freeform 539"/>
            <p:cNvSpPr>
              <a:spLocks/>
            </p:cNvSpPr>
            <p:nvPr/>
          </p:nvSpPr>
          <p:spPr bwMode="auto">
            <a:xfrm>
              <a:off x="5092" y="3058"/>
              <a:ext cx="564" cy="76"/>
            </a:xfrm>
            <a:custGeom>
              <a:avLst/>
              <a:gdLst>
                <a:gd name="T0" fmla="*/ 0 w 1200"/>
                <a:gd name="T1" fmla="*/ 12 h 120"/>
                <a:gd name="T2" fmla="*/ 25 w 1200"/>
                <a:gd name="T3" fmla="*/ 12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3" name="Freeform 540"/>
            <p:cNvSpPr>
              <a:spLocks/>
            </p:cNvSpPr>
            <p:nvPr/>
          </p:nvSpPr>
          <p:spPr bwMode="auto">
            <a:xfrm>
              <a:off x="5092" y="2844"/>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4" name="Rectangle 541"/>
            <p:cNvSpPr>
              <a:spLocks noChangeArrowheads="1"/>
            </p:cNvSpPr>
            <p:nvPr/>
          </p:nvSpPr>
          <p:spPr bwMode="auto">
            <a:xfrm>
              <a:off x="5104" y="3362"/>
              <a:ext cx="486" cy="19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5" name="Text Box 542"/>
            <p:cNvSpPr txBox="1">
              <a:spLocks noChangeArrowheads="1"/>
            </p:cNvSpPr>
            <p:nvPr/>
          </p:nvSpPr>
          <p:spPr bwMode="auto">
            <a:xfrm>
              <a:off x="5057" y="3339"/>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链路层</a:t>
              </a:r>
            </a:p>
          </p:txBody>
        </p:sp>
        <p:sp>
          <p:nvSpPr>
            <p:cNvPr id="8246" name="Text Box 543"/>
            <p:cNvSpPr txBox="1">
              <a:spLocks noChangeArrowheads="1"/>
            </p:cNvSpPr>
            <p:nvPr/>
          </p:nvSpPr>
          <p:spPr bwMode="auto">
            <a:xfrm>
              <a:off x="5059" y="2677"/>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应用层</a:t>
              </a:r>
            </a:p>
          </p:txBody>
        </p:sp>
        <p:sp>
          <p:nvSpPr>
            <p:cNvPr id="8247" name="Text Box 544"/>
            <p:cNvSpPr txBox="1">
              <a:spLocks noChangeArrowheads="1"/>
            </p:cNvSpPr>
            <p:nvPr/>
          </p:nvSpPr>
          <p:spPr bwMode="auto">
            <a:xfrm>
              <a:off x="5057" y="2894"/>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运输层</a:t>
              </a:r>
            </a:p>
          </p:txBody>
        </p:sp>
        <p:sp>
          <p:nvSpPr>
            <p:cNvPr id="8248" name="Text Box 545"/>
            <p:cNvSpPr txBox="1">
              <a:spLocks noChangeArrowheads="1"/>
            </p:cNvSpPr>
            <p:nvPr/>
          </p:nvSpPr>
          <p:spPr bwMode="auto">
            <a:xfrm>
              <a:off x="5057" y="3112"/>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网络层</a:t>
              </a:r>
            </a:p>
          </p:txBody>
        </p:sp>
        <p:sp>
          <p:nvSpPr>
            <p:cNvPr id="8249" name="Text Box 546"/>
            <p:cNvSpPr txBox="1">
              <a:spLocks noChangeArrowheads="1"/>
            </p:cNvSpPr>
            <p:nvPr/>
          </p:nvSpPr>
          <p:spPr bwMode="auto">
            <a:xfrm>
              <a:off x="5057" y="3548"/>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物理层</a:t>
              </a:r>
            </a:p>
          </p:txBody>
        </p:sp>
        <p:sp>
          <p:nvSpPr>
            <p:cNvPr id="8250" name="AutoShape 547"/>
            <p:cNvSpPr>
              <a:spLocks noChangeArrowheads="1"/>
            </p:cNvSpPr>
            <p:nvPr/>
          </p:nvSpPr>
          <p:spPr bwMode="auto">
            <a:xfrm>
              <a:off x="1383" y="3081"/>
              <a:ext cx="564" cy="696"/>
            </a:xfrm>
            <a:prstGeom prst="cube">
              <a:avLst>
                <a:gd name="adj" fmla="val 9250"/>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1" name="Freeform 548"/>
            <p:cNvSpPr>
              <a:spLocks/>
            </p:cNvSpPr>
            <p:nvPr/>
          </p:nvSpPr>
          <p:spPr bwMode="auto">
            <a:xfrm>
              <a:off x="1383" y="3491"/>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2" name="Rectangle 549"/>
            <p:cNvSpPr>
              <a:spLocks noChangeArrowheads="1"/>
            </p:cNvSpPr>
            <p:nvPr/>
          </p:nvSpPr>
          <p:spPr bwMode="auto">
            <a:xfrm>
              <a:off x="1408" y="3353"/>
              <a:ext cx="476" cy="2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3" name="Freeform 550"/>
            <p:cNvSpPr>
              <a:spLocks/>
            </p:cNvSpPr>
            <p:nvPr/>
          </p:nvSpPr>
          <p:spPr bwMode="auto">
            <a:xfrm>
              <a:off x="1383" y="3273"/>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4" name="Text Box 551"/>
            <p:cNvSpPr txBox="1">
              <a:spLocks noChangeArrowheads="1"/>
            </p:cNvSpPr>
            <p:nvPr/>
          </p:nvSpPr>
          <p:spPr bwMode="auto">
            <a:xfrm>
              <a:off x="1379" y="3330"/>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链路层</a:t>
              </a:r>
            </a:p>
          </p:txBody>
        </p:sp>
        <p:sp>
          <p:nvSpPr>
            <p:cNvPr id="8255" name="Text Box 552"/>
            <p:cNvSpPr txBox="1">
              <a:spLocks noChangeArrowheads="1"/>
            </p:cNvSpPr>
            <p:nvPr/>
          </p:nvSpPr>
          <p:spPr bwMode="auto">
            <a:xfrm>
              <a:off x="1379" y="3112"/>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网络层</a:t>
              </a:r>
            </a:p>
          </p:txBody>
        </p:sp>
        <p:sp>
          <p:nvSpPr>
            <p:cNvPr id="8256" name="Text Box 553"/>
            <p:cNvSpPr txBox="1">
              <a:spLocks noChangeArrowheads="1"/>
            </p:cNvSpPr>
            <p:nvPr/>
          </p:nvSpPr>
          <p:spPr bwMode="auto">
            <a:xfrm>
              <a:off x="1379" y="3548"/>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物理层</a:t>
              </a:r>
            </a:p>
          </p:txBody>
        </p:sp>
        <p:sp>
          <p:nvSpPr>
            <p:cNvPr id="8257" name="AutoShape 554"/>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8" name="Freeform 555"/>
            <p:cNvSpPr>
              <a:spLocks/>
            </p:cNvSpPr>
            <p:nvPr/>
          </p:nvSpPr>
          <p:spPr bwMode="auto">
            <a:xfrm>
              <a:off x="2710" y="3491"/>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9" name="Rectangle 556"/>
            <p:cNvSpPr>
              <a:spLocks noChangeArrowheads="1"/>
            </p:cNvSpPr>
            <p:nvPr/>
          </p:nvSpPr>
          <p:spPr bwMode="auto">
            <a:xfrm>
              <a:off x="2722" y="3353"/>
              <a:ext cx="492" cy="2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0" name="Freeform 557"/>
            <p:cNvSpPr>
              <a:spLocks/>
            </p:cNvSpPr>
            <p:nvPr/>
          </p:nvSpPr>
          <p:spPr bwMode="auto">
            <a:xfrm>
              <a:off x="2710" y="3273"/>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Text Box 558"/>
            <p:cNvSpPr txBox="1">
              <a:spLocks noChangeArrowheads="1"/>
            </p:cNvSpPr>
            <p:nvPr/>
          </p:nvSpPr>
          <p:spPr bwMode="auto">
            <a:xfrm>
              <a:off x="2699" y="3330"/>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链路层</a:t>
              </a:r>
            </a:p>
          </p:txBody>
        </p:sp>
        <p:sp>
          <p:nvSpPr>
            <p:cNvPr id="8262" name="Text Box 559"/>
            <p:cNvSpPr txBox="1">
              <a:spLocks noChangeArrowheads="1"/>
            </p:cNvSpPr>
            <p:nvPr/>
          </p:nvSpPr>
          <p:spPr bwMode="auto">
            <a:xfrm>
              <a:off x="2699" y="3112"/>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网络层</a:t>
              </a:r>
            </a:p>
          </p:txBody>
        </p:sp>
        <p:sp>
          <p:nvSpPr>
            <p:cNvPr id="8263" name="Text Box 560"/>
            <p:cNvSpPr txBox="1">
              <a:spLocks noChangeArrowheads="1"/>
            </p:cNvSpPr>
            <p:nvPr/>
          </p:nvSpPr>
          <p:spPr bwMode="auto">
            <a:xfrm>
              <a:off x="2699" y="3548"/>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物理层</a:t>
              </a:r>
            </a:p>
          </p:txBody>
        </p:sp>
        <p:sp>
          <p:nvSpPr>
            <p:cNvPr id="8264" name="AutoShape 561"/>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5" name="Freeform 562"/>
            <p:cNvSpPr>
              <a:spLocks/>
            </p:cNvSpPr>
            <p:nvPr/>
          </p:nvSpPr>
          <p:spPr bwMode="auto">
            <a:xfrm>
              <a:off x="3901" y="3491"/>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6" name="Rectangle 563"/>
            <p:cNvSpPr>
              <a:spLocks noChangeArrowheads="1"/>
            </p:cNvSpPr>
            <p:nvPr/>
          </p:nvSpPr>
          <p:spPr bwMode="auto">
            <a:xfrm>
              <a:off x="3910" y="3353"/>
              <a:ext cx="498" cy="2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7" name="Freeform 564"/>
            <p:cNvSpPr>
              <a:spLocks/>
            </p:cNvSpPr>
            <p:nvPr/>
          </p:nvSpPr>
          <p:spPr bwMode="auto">
            <a:xfrm>
              <a:off x="3901" y="3273"/>
              <a:ext cx="564" cy="75"/>
            </a:xfrm>
            <a:custGeom>
              <a:avLst/>
              <a:gdLst>
                <a:gd name="T0" fmla="*/ 0 w 1200"/>
                <a:gd name="T1" fmla="*/ 11 h 120"/>
                <a:gd name="T2" fmla="*/ 25 w 1200"/>
                <a:gd name="T3" fmla="*/ 11 h 120"/>
                <a:gd name="T4" fmla="*/ 28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8" name="Text Box 565"/>
            <p:cNvSpPr txBox="1">
              <a:spLocks noChangeArrowheads="1"/>
            </p:cNvSpPr>
            <p:nvPr/>
          </p:nvSpPr>
          <p:spPr bwMode="auto">
            <a:xfrm>
              <a:off x="3878" y="3330"/>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链路层</a:t>
              </a:r>
            </a:p>
          </p:txBody>
        </p:sp>
        <p:sp>
          <p:nvSpPr>
            <p:cNvPr id="8269" name="Text Box 566"/>
            <p:cNvSpPr txBox="1">
              <a:spLocks noChangeArrowheads="1"/>
            </p:cNvSpPr>
            <p:nvPr/>
          </p:nvSpPr>
          <p:spPr bwMode="auto">
            <a:xfrm>
              <a:off x="3878" y="3112"/>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网络层</a:t>
              </a:r>
            </a:p>
          </p:txBody>
        </p:sp>
        <p:sp>
          <p:nvSpPr>
            <p:cNvPr id="8270" name="Text Box 567"/>
            <p:cNvSpPr txBox="1">
              <a:spLocks noChangeArrowheads="1"/>
            </p:cNvSpPr>
            <p:nvPr/>
          </p:nvSpPr>
          <p:spPr bwMode="auto">
            <a:xfrm>
              <a:off x="3878" y="3548"/>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物理层</a:t>
              </a:r>
            </a:p>
          </p:txBody>
        </p:sp>
        <p:sp>
          <p:nvSpPr>
            <p:cNvPr id="8271" name="Freeform 572"/>
            <p:cNvSpPr>
              <a:spLocks/>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2" name="Freeform 573"/>
            <p:cNvSpPr>
              <a:spLocks/>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3" name="Freeform 574"/>
            <p:cNvSpPr>
              <a:spLocks/>
            </p:cNvSpPr>
            <p:nvPr/>
          </p:nvSpPr>
          <p:spPr bwMode="auto">
            <a:xfrm>
              <a:off x="1896" y="3769"/>
              <a:ext cx="920" cy="160"/>
            </a:xfrm>
            <a:custGeom>
              <a:avLst/>
              <a:gdLst>
                <a:gd name="T0" fmla="*/ 0 w 1072"/>
                <a:gd name="T1" fmla="*/ 0 h 152"/>
                <a:gd name="T2" fmla="*/ 0 w 1072"/>
                <a:gd name="T3" fmla="*/ 196 h 152"/>
                <a:gd name="T4" fmla="*/ 499 w 1072"/>
                <a:gd name="T5" fmla="*/ 196 h 152"/>
                <a:gd name="T6" fmla="*/ 499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4" name="Freeform 575"/>
            <p:cNvSpPr>
              <a:spLocks/>
            </p:cNvSpPr>
            <p:nvPr/>
          </p:nvSpPr>
          <p:spPr bwMode="auto">
            <a:xfrm>
              <a:off x="3112" y="3777"/>
              <a:ext cx="928" cy="152"/>
            </a:xfrm>
            <a:custGeom>
              <a:avLst/>
              <a:gdLst>
                <a:gd name="T0" fmla="*/ 0 w 1072"/>
                <a:gd name="T1" fmla="*/ 0 h 152"/>
                <a:gd name="T2" fmla="*/ 0 w 1072"/>
                <a:gd name="T3" fmla="*/ 152 h 152"/>
                <a:gd name="T4" fmla="*/ 521 w 1072"/>
                <a:gd name="T5" fmla="*/ 152 h 152"/>
                <a:gd name="T6" fmla="*/ 521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5" name="Text Box 576"/>
            <p:cNvSpPr txBox="1">
              <a:spLocks noChangeArrowheads="1"/>
            </p:cNvSpPr>
            <p:nvPr/>
          </p:nvSpPr>
          <p:spPr bwMode="auto">
            <a:xfrm>
              <a:off x="1531" y="2837"/>
              <a:ext cx="27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1</a:t>
              </a:r>
            </a:p>
          </p:txBody>
        </p:sp>
        <p:sp>
          <p:nvSpPr>
            <p:cNvPr id="8276" name="Text Box 577"/>
            <p:cNvSpPr txBox="1">
              <a:spLocks noChangeArrowheads="1"/>
            </p:cNvSpPr>
            <p:nvPr/>
          </p:nvSpPr>
          <p:spPr bwMode="auto">
            <a:xfrm>
              <a:off x="2872" y="2837"/>
              <a:ext cx="27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2</a:t>
              </a:r>
            </a:p>
          </p:txBody>
        </p:sp>
        <p:sp>
          <p:nvSpPr>
            <p:cNvPr id="8277" name="Text Box 578"/>
            <p:cNvSpPr txBox="1">
              <a:spLocks noChangeArrowheads="1"/>
            </p:cNvSpPr>
            <p:nvPr/>
          </p:nvSpPr>
          <p:spPr bwMode="auto">
            <a:xfrm>
              <a:off x="4067" y="2837"/>
              <a:ext cx="27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3</a:t>
              </a:r>
            </a:p>
          </p:txBody>
        </p:sp>
        <p:sp>
          <p:nvSpPr>
            <p:cNvPr id="8278" name="Text Box 579"/>
            <p:cNvSpPr txBox="1">
              <a:spLocks noChangeArrowheads="1"/>
            </p:cNvSpPr>
            <p:nvPr/>
          </p:nvSpPr>
          <p:spPr bwMode="auto">
            <a:xfrm>
              <a:off x="326" y="2405"/>
              <a:ext cx="27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rgbClr val="333399"/>
                  </a:solidFill>
                  <a:latin typeface="Arial" pitchFamily="34" charset="0"/>
                  <a:ea typeface="黑体" pitchFamily="49" charset="-122"/>
                </a:rPr>
                <a:t>H</a:t>
              </a:r>
              <a:r>
                <a:rPr kumimoji="1" lang="en-US" altLang="zh-CN" sz="1800" b="1" baseline="-25000">
                  <a:solidFill>
                    <a:srgbClr val="333399"/>
                  </a:solidFill>
                  <a:latin typeface="Arial" pitchFamily="34" charset="0"/>
                  <a:ea typeface="黑体" pitchFamily="49" charset="-122"/>
                </a:rPr>
                <a:t>1</a:t>
              </a:r>
            </a:p>
          </p:txBody>
        </p:sp>
        <p:sp>
          <p:nvSpPr>
            <p:cNvPr id="8279" name="Text Box 580"/>
            <p:cNvSpPr txBox="1">
              <a:spLocks noChangeArrowheads="1"/>
            </p:cNvSpPr>
            <p:nvPr/>
          </p:nvSpPr>
          <p:spPr bwMode="auto">
            <a:xfrm>
              <a:off x="5272" y="2405"/>
              <a:ext cx="27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rgbClr val="333399"/>
                  </a:solidFill>
                  <a:latin typeface="Arial" pitchFamily="34" charset="0"/>
                  <a:ea typeface="黑体" pitchFamily="49" charset="-122"/>
                </a:rPr>
                <a:t>H</a:t>
              </a:r>
              <a:r>
                <a:rPr kumimoji="1" lang="en-US" altLang="zh-CN" sz="1800" b="1" baseline="-25000">
                  <a:solidFill>
                    <a:srgbClr val="333399"/>
                  </a:solidFill>
                  <a:latin typeface="Arial" pitchFamily="34" charset="0"/>
                  <a:ea typeface="黑体" pitchFamily="49" charset="-122"/>
                </a:rPr>
                <a:t>2</a:t>
              </a:r>
            </a:p>
          </p:txBody>
        </p:sp>
      </p:grpSp>
      <p:sp>
        <p:nvSpPr>
          <p:cNvPr id="138822" name="Text Box 582"/>
          <p:cNvSpPr txBox="1">
            <a:spLocks noChangeArrowheads="1"/>
          </p:cNvSpPr>
          <p:nvPr/>
        </p:nvSpPr>
        <p:spPr bwMode="auto">
          <a:xfrm>
            <a:off x="2484438" y="3863975"/>
            <a:ext cx="4095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从层次上来看数据的流动</a:t>
            </a:r>
          </a:p>
        </p:txBody>
      </p:sp>
      <p:sp>
        <p:nvSpPr>
          <p:cNvPr id="138823" name="Freeform 583"/>
          <p:cNvSpPr>
            <a:spLocks/>
          </p:cNvSpPr>
          <p:nvPr/>
        </p:nvSpPr>
        <p:spPr bwMode="auto">
          <a:xfrm>
            <a:off x="1225550" y="4329113"/>
            <a:ext cx="6978650" cy="1871662"/>
          </a:xfrm>
          <a:custGeom>
            <a:avLst/>
            <a:gdLst>
              <a:gd name="T0" fmla="*/ 2147483647 w 4396"/>
              <a:gd name="T1" fmla="*/ 2147483647 h 1179"/>
              <a:gd name="T2" fmla="*/ 2147483647 w 4396"/>
              <a:gd name="T3" fmla="*/ 2147483647 h 1179"/>
              <a:gd name="T4" fmla="*/ 2147483647 w 4396"/>
              <a:gd name="T5" fmla="*/ 2147483647 h 1179"/>
              <a:gd name="T6" fmla="*/ 2147483647 w 4396"/>
              <a:gd name="T7" fmla="*/ 2147483647 h 1179"/>
              <a:gd name="T8" fmla="*/ 2147483647 w 4396"/>
              <a:gd name="T9" fmla="*/ 2147483647 h 1179"/>
              <a:gd name="T10" fmla="*/ 2147483647 w 4396"/>
              <a:gd name="T11" fmla="*/ 2147483647 h 1179"/>
              <a:gd name="T12" fmla="*/ 2147483647 w 4396"/>
              <a:gd name="T13" fmla="*/ 2147483647 h 1179"/>
              <a:gd name="T14" fmla="*/ 2147483647 w 4396"/>
              <a:gd name="T15" fmla="*/ 2147483647 h 1179"/>
              <a:gd name="T16" fmla="*/ 2147483647 w 4396"/>
              <a:gd name="T17" fmla="*/ 2147483647 h 1179"/>
              <a:gd name="T18" fmla="*/ 2147483647 w 4396"/>
              <a:gd name="T19" fmla="*/ 2147483647 h 1179"/>
              <a:gd name="T20" fmla="*/ 2147483647 w 4396"/>
              <a:gd name="T21" fmla="*/ 2147483647 h 1179"/>
              <a:gd name="T22" fmla="*/ 2147483647 w 4396"/>
              <a:gd name="T23" fmla="*/ 2147483647 h 1179"/>
              <a:gd name="T24" fmla="*/ 2147483647 w 4396"/>
              <a:gd name="T25" fmla="*/ 2147483647 h 1179"/>
              <a:gd name="T26" fmla="*/ 2147483647 w 4396"/>
              <a:gd name="T27" fmla="*/ 2147483647 h 1179"/>
              <a:gd name="T28" fmla="*/ 2147483647 w 4396"/>
              <a:gd name="T29" fmla="*/ 2147483647 h 1179"/>
              <a:gd name="T30" fmla="*/ 2147483647 w 4396"/>
              <a:gd name="T31" fmla="*/ 2147483647 h 1179"/>
              <a:gd name="T32" fmla="*/ 2147483647 w 4396"/>
              <a:gd name="T33" fmla="*/ 2147483647 h 1179"/>
              <a:gd name="T34" fmla="*/ 2147483647 w 4396"/>
              <a:gd name="T35" fmla="*/ 2147483647 h 1179"/>
              <a:gd name="T36" fmla="*/ 2147483647 w 4396"/>
              <a:gd name="T37" fmla="*/ 2147483647 h 1179"/>
              <a:gd name="T38" fmla="*/ 2147483647 w 4396"/>
              <a:gd name="T39" fmla="*/ 2147483647 h 1179"/>
              <a:gd name="T40" fmla="*/ 2147483647 w 4396"/>
              <a:gd name="T41" fmla="*/ 2147483647 h 1179"/>
              <a:gd name="T42" fmla="*/ 2147483647 w 4396"/>
              <a:gd name="T43" fmla="*/ 2147483647 h 1179"/>
              <a:gd name="T44" fmla="*/ 2147483647 w 4396"/>
              <a:gd name="T45" fmla="*/ 2147483647 h 1179"/>
              <a:gd name="T46" fmla="*/ 2147483647 w 4396"/>
              <a:gd name="T47" fmla="*/ 2147483647 h 1179"/>
              <a:gd name="T48" fmla="*/ 2147483647 w 4396"/>
              <a:gd name="T49" fmla="*/ 2147483647 h 1179"/>
              <a:gd name="T50" fmla="*/ 2147483647 w 4396"/>
              <a:gd name="T51" fmla="*/ 2147483647 h 1179"/>
              <a:gd name="T52" fmla="*/ 2147483647 w 4396"/>
              <a:gd name="T53" fmla="*/ 2147483647 h 1179"/>
              <a:gd name="T54" fmla="*/ 2147483647 w 4396"/>
              <a:gd name="T55" fmla="*/ 2147483647 h 1179"/>
              <a:gd name="T56" fmla="*/ 2147483647 w 4396"/>
              <a:gd name="T57" fmla="*/ 2147483647 h 1179"/>
              <a:gd name="T58" fmla="*/ 2147483647 w 4396"/>
              <a:gd name="T59" fmla="*/ 2147483647 h 1179"/>
              <a:gd name="T60" fmla="*/ 2147483647 w 4396"/>
              <a:gd name="T61" fmla="*/ 2147483647 h 1179"/>
              <a:gd name="T62" fmla="*/ 2147483647 w 4396"/>
              <a:gd name="T63" fmla="*/ 2147483647 h 1179"/>
              <a:gd name="T64" fmla="*/ 2147483647 w 4396"/>
              <a:gd name="T65" fmla="*/ 2147483647 h 1179"/>
              <a:gd name="T66" fmla="*/ 2147483647 w 4396"/>
              <a:gd name="T67" fmla="*/ 2147483647 h 1179"/>
              <a:gd name="T68" fmla="*/ 2147483647 w 4396"/>
              <a:gd name="T69" fmla="*/ 2147483647 h 1179"/>
              <a:gd name="T70" fmla="*/ 2147483647 w 4396"/>
              <a:gd name="T71" fmla="*/ 0 h 11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cmpd="sng">
            <a:solidFill>
              <a:srgbClr val="FF0000"/>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761"/>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grpId="0" nodeType="afterEffect">
                                  <p:stCondLst>
                                    <p:cond delay="500"/>
                                  </p:stCondLst>
                                  <p:childTnLst>
                                    <p:set>
                                      <p:cBhvr>
                                        <p:cTn id="9" dur="1" fill="hold">
                                          <p:stCondLst>
                                            <p:cond delay="0"/>
                                          </p:stCondLst>
                                        </p:cTn>
                                        <p:tgtEl>
                                          <p:spTgt spid="138757"/>
                                        </p:tgtEl>
                                        <p:attrNameLst>
                                          <p:attrName>style.visibility</p:attrName>
                                        </p:attrNameLst>
                                      </p:cBhvr>
                                      <p:to>
                                        <p:strVal val="visible"/>
                                      </p:to>
                                    </p:set>
                                    <p:animEffect transition="in" filter="wipe(left)">
                                      <p:cBhvr>
                                        <p:cTn id="10" dur="500"/>
                                        <p:tgtEl>
                                          <p:spTgt spid="138757"/>
                                        </p:tgtEl>
                                      </p:cBhvr>
                                    </p:animEffect>
                                  </p:childTnLst>
                                </p:cTn>
                              </p:par>
                            </p:childTnLst>
                          </p:cTn>
                        </p:par>
                        <p:par>
                          <p:cTn id="11" fill="hold" nodeType="afterGroup">
                            <p:stCondLst>
                              <p:cond delay="1000"/>
                            </p:stCondLst>
                            <p:childTnLst>
                              <p:par>
                                <p:cTn id="12" presetID="22" presetClass="entr" presetSubtype="8" fill="hold" grpId="0" nodeType="afterEffect">
                                  <p:stCondLst>
                                    <p:cond delay="500"/>
                                  </p:stCondLst>
                                  <p:childTnLst>
                                    <p:set>
                                      <p:cBhvr>
                                        <p:cTn id="13" dur="1" fill="hold">
                                          <p:stCondLst>
                                            <p:cond delay="0"/>
                                          </p:stCondLst>
                                        </p:cTn>
                                        <p:tgtEl>
                                          <p:spTgt spid="138760"/>
                                        </p:tgtEl>
                                        <p:attrNameLst>
                                          <p:attrName>style.visibility</p:attrName>
                                        </p:attrNameLst>
                                      </p:cBhvr>
                                      <p:to>
                                        <p:strVal val="visible"/>
                                      </p:to>
                                    </p:set>
                                    <p:animEffect transition="in" filter="wipe(left)">
                                      <p:cBhvr>
                                        <p:cTn id="14" dur="500"/>
                                        <p:tgtEl>
                                          <p:spTgt spid="138760"/>
                                        </p:tgtEl>
                                      </p:cBhvr>
                                    </p:animEffect>
                                  </p:childTnLst>
                                </p:cTn>
                              </p:par>
                            </p:childTnLst>
                          </p:cTn>
                        </p:par>
                        <p:par>
                          <p:cTn id="15" fill="hold" nodeType="afterGroup">
                            <p:stCondLst>
                              <p:cond delay="2000"/>
                            </p:stCondLst>
                            <p:childTnLst>
                              <p:par>
                                <p:cTn id="16" presetID="22" presetClass="entr" presetSubtype="8" fill="hold" grpId="0" nodeType="afterEffect">
                                  <p:stCondLst>
                                    <p:cond delay="500"/>
                                  </p:stCondLst>
                                  <p:childTnLst>
                                    <p:set>
                                      <p:cBhvr>
                                        <p:cTn id="17" dur="1" fill="hold">
                                          <p:stCondLst>
                                            <p:cond delay="0"/>
                                          </p:stCondLst>
                                        </p:cTn>
                                        <p:tgtEl>
                                          <p:spTgt spid="138758"/>
                                        </p:tgtEl>
                                        <p:attrNameLst>
                                          <p:attrName>style.visibility</p:attrName>
                                        </p:attrNameLst>
                                      </p:cBhvr>
                                      <p:to>
                                        <p:strVal val="visible"/>
                                      </p:to>
                                    </p:set>
                                    <p:animEffect transition="in" filter="wipe(left)">
                                      <p:cBhvr>
                                        <p:cTn id="18" dur="500"/>
                                        <p:tgtEl>
                                          <p:spTgt spid="138758"/>
                                        </p:tgtEl>
                                      </p:cBhvr>
                                    </p:animEffect>
                                  </p:childTnLst>
                                </p:cTn>
                              </p:par>
                            </p:childTnLst>
                          </p:cTn>
                        </p:par>
                        <p:par>
                          <p:cTn id="19" fill="hold" nodeType="afterGroup">
                            <p:stCondLst>
                              <p:cond delay="3000"/>
                            </p:stCondLst>
                            <p:childTnLst>
                              <p:par>
                                <p:cTn id="20" presetID="22" presetClass="entr" presetSubtype="8" fill="hold" grpId="0" nodeType="afterEffect">
                                  <p:stCondLst>
                                    <p:cond delay="500"/>
                                  </p:stCondLst>
                                  <p:childTnLst>
                                    <p:set>
                                      <p:cBhvr>
                                        <p:cTn id="21" dur="1" fill="hold">
                                          <p:stCondLst>
                                            <p:cond delay="0"/>
                                          </p:stCondLst>
                                        </p:cTn>
                                        <p:tgtEl>
                                          <p:spTgt spid="138759"/>
                                        </p:tgtEl>
                                        <p:attrNameLst>
                                          <p:attrName>style.visibility</p:attrName>
                                        </p:attrNameLst>
                                      </p:cBhvr>
                                      <p:to>
                                        <p:strVal val="visible"/>
                                      </p:to>
                                    </p:set>
                                    <p:animEffect transition="in" filter="wipe(left)">
                                      <p:cBhvr>
                                        <p:cTn id="22" dur="500"/>
                                        <p:tgtEl>
                                          <p:spTgt spid="1387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8822"/>
                                        </p:tgtEl>
                                        <p:attrNameLst>
                                          <p:attrName>style.visibility</p:attrName>
                                        </p:attrNameLst>
                                      </p:cBhvr>
                                      <p:to>
                                        <p:strVal val="visible"/>
                                      </p:to>
                                    </p:set>
                                  </p:childTnLst>
                                </p:cTn>
                              </p:par>
                            </p:childTnLst>
                          </p:cTn>
                        </p:par>
                        <p:par>
                          <p:cTn id="27" fill="hold" nodeType="afterGroup">
                            <p:stCondLst>
                              <p:cond delay="0"/>
                            </p:stCondLst>
                            <p:childTnLst>
                              <p:par>
                                <p:cTn id="28" presetID="1" presetClass="entr" presetSubtype="0" fill="hold" nodeType="afterEffect">
                                  <p:stCondLst>
                                    <p:cond delay="0"/>
                                  </p:stCondLst>
                                  <p:childTnLst>
                                    <p:set>
                                      <p:cBhvr>
                                        <p:cTn id="29" dur="1" fill="hold">
                                          <p:stCondLst>
                                            <p:cond delay="0"/>
                                          </p:stCondLst>
                                        </p:cTn>
                                        <p:tgtEl>
                                          <p:spTgt spid="138827"/>
                                        </p:tgtEl>
                                        <p:attrNameLst>
                                          <p:attrName>style.visibility</p:attrName>
                                        </p:attrNameLst>
                                      </p:cBhvr>
                                      <p:to>
                                        <p:strVal val="visible"/>
                                      </p:to>
                                    </p:set>
                                  </p:childTnLst>
                                </p:cTn>
                              </p:par>
                            </p:childTnLst>
                          </p:cTn>
                        </p:par>
                        <p:par>
                          <p:cTn id="30" fill="hold" nodeType="afterGroup">
                            <p:stCondLst>
                              <p:cond delay="0"/>
                            </p:stCondLst>
                            <p:childTnLst>
                              <p:par>
                                <p:cTn id="31" presetID="22" presetClass="entr" presetSubtype="8" fill="hold" grpId="0" nodeType="afterEffect">
                                  <p:stCondLst>
                                    <p:cond delay="500"/>
                                  </p:stCondLst>
                                  <p:childTnLst>
                                    <p:set>
                                      <p:cBhvr>
                                        <p:cTn id="32" dur="1" fill="hold">
                                          <p:stCondLst>
                                            <p:cond delay="0"/>
                                          </p:stCondLst>
                                        </p:cTn>
                                        <p:tgtEl>
                                          <p:spTgt spid="138823"/>
                                        </p:tgtEl>
                                        <p:attrNameLst>
                                          <p:attrName>style.visibility</p:attrName>
                                        </p:attrNameLst>
                                      </p:cBhvr>
                                      <p:to>
                                        <p:strVal val="visible"/>
                                      </p:to>
                                    </p:set>
                                    <p:animEffect transition="in" filter="wipe(left)">
                                      <p:cBhvr>
                                        <p:cTn id="33" dur="2000"/>
                                        <p:tgtEl>
                                          <p:spTgt spid="138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757" grpId="0" animBg="1"/>
      <p:bldP spid="138758" grpId="0" animBg="1"/>
      <p:bldP spid="138759" grpId="0" animBg="1"/>
      <p:bldP spid="138760" grpId="0" animBg="1"/>
      <p:bldP spid="138761" grpId="0"/>
      <p:bldP spid="138822" grpId="0"/>
      <p:bldP spid="1388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171575" y="931863"/>
            <a:ext cx="6856413" cy="768350"/>
          </a:xfrm>
        </p:spPr>
        <p:txBody>
          <a:bodyPr/>
          <a:lstStyle/>
          <a:p>
            <a:pPr algn="ctr" eaLnBrk="1" hangingPunct="1"/>
            <a:r>
              <a:rPr lang="zh-CN" altLang="en-US" sz="4800" smtClean="0">
                <a:latin typeface="黑体" pitchFamily="49" charset="-122"/>
              </a:rPr>
              <a:t>数据链路层的简单模型</a:t>
            </a:r>
            <a:r>
              <a:rPr lang="en-US" altLang="zh-CN" sz="4800" smtClean="0">
                <a:latin typeface="黑体" pitchFamily="49" charset="-122"/>
              </a:rPr>
              <a:t>( </a:t>
            </a:r>
            <a:r>
              <a:rPr lang="zh-CN" altLang="en-US" sz="4800" smtClean="0">
                <a:latin typeface="黑体" pitchFamily="49" charset="-122"/>
              </a:rPr>
              <a:t>续）</a:t>
            </a:r>
          </a:p>
        </p:txBody>
      </p:sp>
      <p:sp>
        <p:nvSpPr>
          <p:cNvPr id="9219" name="Line 4"/>
          <p:cNvSpPr>
            <a:spLocks noChangeShapeType="1"/>
          </p:cNvSpPr>
          <p:nvPr/>
        </p:nvSpPr>
        <p:spPr bwMode="auto">
          <a:xfrm flipH="1" flipV="1">
            <a:off x="7835900" y="3478213"/>
            <a:ext cx="673100" cy="635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0" name="Line 5"/>
          <p:cNvSpPr>
            <a:spLocks noChangeShapeType="1"/>
          </p:cNvSpPr>
          <p:nvPr/>
        </p:nvSpPr>
        <p:spPr bwMode="auto">
          <a:xfrm flipH="1" flipV="1">
            <a:off x="6743700" y="3173413"/>
            <a:ext cx="635000" cy="2159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1" name="Line 6"/>
          <p:cNvSpPr>
            <a:spLocks noChangeShapeType="1"/>
          </p:cNvSpPr>
          <p:nvPr/>
        </p:nvSpPr>
        <p:spPr bwMode="auto">
          <a:xfrm flipV="1">
            <a:off x="5854700" y="3160713"/>
            <a:ext cx="762000" cy="1524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2" name="Line 7"/>
          <p:cNvSpPr>
            <a:spLocks noChangeShapeType="1"/>
          </p:cNvSpPr>
          <p:nvPr/>
        </p:nvSpPr>
        <p:spPr bwMode="auto">
          <a:xfrm flipV="1">
            <a:off x="4787900" y="3236913"/>
            <a:ext cx="914400" cy="762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3" name="Line 8"/>
          <p:cNvSpPr>
            <a:spLocks noChangeShapeType="1"/>
          </p:cNvSpPr>
          <p:nvPr/>
        </p:nvSpPr>
        <p:spPr bwMode="auto">
          <a:xfrm>
            <a:off x="3721100" y="3313113"/>
            <a:ext cx="9144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4" name="Line 9"/>
          <p:cNvSpPr>
            <a:spLocks noChangeShapeType="1"/>
          </p:cNvSpPr>
          <p:nvPr/>
        </p:nvSpPr>
        <p:spPr bwMode="auto">
          <a:xfrm>
            <a:off x="2578100" y="3084513"/>
            <a:ext cx="914400" cy="2286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Freeform 10"/>
          <p:cNvSpPr>
            <a:spLocks/>
          </p:cNvSpPr>
          <p:nvPr/>
        </p:nvSpPr>
        <p:spPr bwMode="auto">
          <a:xfrm>
            <a:off x="774700" y="3122613"/>
            <a:ext cx="1752600" cy="508000"/>
          </a:xfrm>
          <a:custGeom>
            <a:avLst/>
            <a:gdLst>
              <a:gd name="T0" fmla="*/ 0 w 1104"/>
              <a:gd name="T1" fmla="*/ 2147483647 h 320"/>
              <a:gd name="T2" fmla="*/ 2147483647 w 1104"/>
              <a:gd name="T3" fmla="*/ 2147483647 h 320"/>
              <a:gd name="T4" fmla="*/ 2147483647 w 1104"/>
              <a:gd name="T5" fmla="*/ 0 h 320"/>
              <a:gd name="T6" fmla="*/ 0 60000 65536"/>
              <a:gd name="T7" fmla="*/ 0 60000 65536"/>
              <a:gd name="T8" fmla="*/ 0 60000 65536"/>
            </a:gdLst>
            <a:ahLst/>
            <a:cxnLst>
              <a:cxn ang="T6">
                <a:pos x="T0" y="T1"/>
              </a:cxn>
              <a:cxn ang="T7">
                <a:pos x="T2" y="T3"/>
              </a:cxn>
              <a:cxn ang="T8">
                <a:pos x="T4" y="T5"/>
              </a:cxn>
            </a:cxnLst>
            <a:rect l="0" t="0" r="r" b="b"/>
            <a:pathLst>
              <a:path w="1104" h="320">
                <a:moveTo>
                  <a:pt x="0" y="320"/>
                </a:moveTo>
                <a:lnTo>
                  <a:pt x="568" y="200"/>
                </a:lnTo>
                <a:lnTo>
                  <a:pt x="1104" y="0"/>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226" name="Group 11"/>
          <p:cNvGrpSpPr>
            <a:grpSpLocks/>
          </p:cNvGrpSpPr>
          <p:nvPr/>
        </p:nvGrpSpPr>
        <p:grpSpPr bwMode="auto">
          <a:xfrm>
            <a:off x="1130300" y="2932113"/>
            <a:ext cx="1128713" cy="781050"/>
            <a:chOff x="1680" y="240"/>
            <a:chExt cx="2529" cy="1270"/>
          </a:xfrm>
        </p:grpSpPr>
        <p:sp>
          <p:nvSpPr>
            <p:cNvPr id="9789" name="Oval 12"/>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90" name="Oval 13"/>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91" name="Oval 14"/>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92" name="Oval 15"/>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93" name="Oval 16"/>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94" name="Oval 17"/>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95" name="Oval 18"/>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96" name="Oval 19"/>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97" name="Oval 20"/>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9227" name="Group 28"/>
          <p:cNvGrpSpPr>
            <a:grpSpLocks/>
          </p:cNvGrpSpPr>
          <p:nvPr/>
        </p:nvGrpSpPr>
        <p:grpSpPr bwMode="auto">
          <a:xfrm>
            <a:off x="3035300" y="2932113"/>
            <a:ext cx="1128713" cy="781050"/>
            <a:chOff x="1680" y="240"/>
            <a:chExt cx="2529" cy="1270"/>
          </a:xfrm>
        </p:grpSpPr>
        <p:sp>
          <p:nvSpPr>
            <p:cNvPr id="9780" name="Oval 29"/>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81" name="Oval 30"/>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82" name="Oval 31"/>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83" name="Oval 32"/>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84" name="Oval 33"/>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85" name="Oval 34"/>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86" name="Oval 35"/>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87" name="Oval 36"/>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88" name="Oval 37"/>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9228" name="Text Box 38"/>
          <p:cNvSpPr txBox="1">
            <a:spLocks noChangeArrowheads="1"/>
          </p:cNvSpPr>
          <p:nvPr/>
        </p:nvSpPr>
        <p:spPr bwMode="auto">
          <a:xfrm>
            <a:off x="3225800" y="312102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局域网</a:t>
            </a:r>
          </a:p>
        </p:txBody>
      </p:sp>
      <p:pic>
        <p:nvPicPr>
          <p:cNvPr id="9229"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8075" y="2963863"/>
            <a:ext cx="441325"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230" name="Picture 8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3100" y="3160713"/>
            <a:ext cx="441325"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231" name="Picture 8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16900" y="3224213"/>
            <a:ext cx="5334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32" name="Picture 8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4300" y="3011488"/>
            <a:ext cx="441325"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9233" name="Group 90"/>
          <p:cNvGrpSpPr>
            <a:grpSpLocks/>
          </p:cNvGrpSpPr>
          <p:nvPr/>
        </p:nvGrpSpPr>
        <p:grpSpPr bwMode="auto">
          <a:xfrm>
            <a:off x="5168900" y="2932113"/>
            <a:ext cx="1128713" cy="781050"/>
            <a:chOff x="1680" y="240"/>
            <a:chExt cx="2529" cy="1270"/>
          </a:xfrm>
        </p:grpSpPr>
        <p:sp>
          <p:nvSpPr>
            <p:cNvPr id="9771" name="Oval 91"/>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72" name="Oval 92"/>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73" name="Oval 93"/>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74" name="Oval 94"/>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75" name="Oval 95"/>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76" name="Oval 96"/>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77" name="Oval 97"/>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78" name="Oval 98"/>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79" name="Oval 99"/>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9234" name="Text Box 100"/>
          <p:cNvSpPr txBox="1">
            <a:spLocks noChangeArrowheads="1"/>
          </p:cNvSpPr>
          <p:nvPr/>
        </p:nvSpPr>
        <p:spPr bwMode="auto">
          <a:xfrm>
            <a:off x="5334000" y="312102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广域网</a:t>
            </a:r>
          </a:p>
        </p:txBody>
      </p:sp>
      <p:sp>
        <p:nvSpPr>
          <p:cNvPr id="9235" name="Text Box 101"/>
          <p:cNvSpPr txBox="1">
            <a:spLocks noChangeArrowheads="1"/>
          </p:cNvSpPr>
          <p:nvPr/>
        </p:nvSpPr>
        <p:spPr bwMode="auto">
          <a:xfrm>
            <a:off x="319088" y="2786063"/>
            <a:ext cx="939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主机</a:t>
            </a:r>
            <a:r>
              <a:rPr kumimoji="1" lang="zh-CN" altLang="en-US" sz="1400">
                <a:solidFill>
                  <a:srgbClr val="333399"/>
                </a:solidFill>
                <a:latin typeface="Arial" pitchFamily="34" charset="0"/>
                <a:ea typeface="黑体" pitchFamily="49" charset="-122"/>
              </a:rPr>
              <a:t> </a:t>
            </a:r>
            <a:r>
              <a:rPr kumimoji="1" lang="en-US" altLang="zh-CN" sz="1800" b="1">
                <a:solidFill>
                  <a:srgbClr val="333399"/>
                </a:solidFill>
                <a:latin typeface="Arial" pitchFamily="34" charset="0"/>
                <a:ea typeface="黑体" pitchFamily="49" charset="-122"/>
              </a:rPr>
              <a:t>H</a:t>
            </a:r>
            <a:r>
              <a:rPr kumimoji="1" lang="en-US" altLang="zh-CN" sz="1800" b="1" baseline="-25000">
                <a:solidFill>
                  <a:srgbClr val="333399"/>
                </a:solidFill>
                <a:latin typeface="Arial" pitchFamily="34" charset="0"/>
                <a:ea typeface="黑体" pitchFamily="49" charset="-122"/>
              </a:rPr>
              <a:t>1</a:t>
            </a:r>
          </a:p>
        </p:txBody>
      </p:sp>
      <p:sp>
        <p:nvSpPr>
          <p:cNvPr id="9236" name="Text Box 102"/>
          <p:cNvSpPr txBox="1">
            <a:spLocks noChangeArrowheads="1"/>
          </p:cNvSpPr>
          <p:nvPr/>
        </p:nvSpPr>
        <p:spPr bwMode="auto">
          <a:xfrm>
            <a:off x="8024813" y="2905125"/>
            <a:ext cx="93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主机</a:t>
            </a:r>
            <a:r>
              <a:rPr kumimoji="1" lang="zh-CN" altLang="en-US" sz="1400">
                <a:solidFill>
                  <a:srgbClr val="333399"/>
                </a:solidFill>
                <a:latin typeface="Arial" pitchFamily="34" charset="0"/>
                <a:ea typeface="黑体" pitchFamily="49" charset="-122"/>
              </a:rPr>
              <a:t> </a:t>
            </a:r>
            <a:r>
              <a:rPr kumimoji="1" lang="en-US" altLang="zh-CN" sz="1800" b="1">
                <a:solidFill>
                  <a:srgbClr val="333399"/>
                </a:solidFill>
                <a:latin typeface="Arial" pitchFamily="34" charset="0"/>
                <a:ea typeface="黑体" pitchFamily="49" charset="-122"/>
              </a:rPr>
              <a:t>H</a:t>
            </a:r>
            <a:r>
              <a:rPr kumimoji="1" lang="en-US" altLang="zh-CN" sz="1800" b="1" baseline="-25000">
                <a:solidFill>
                  <a:srgbClr val="333399"/>
                </a:solidFill>
                <a:latin typeface="Arial" pitchFamily="34" charset="0"/>
                <a:ea typeface="黑体" pitchFamily="49" charset="-122"/>
              </a:rPr>
              <a:t>2</a:t>
            </a:r>
          </a:p>
        </p:txBody>
      </p:sp>
      <p:sp>
        <p:nvSpPr>
          <p:cNvPr id="9237" name="Text Box 103"/>
          <p:cNvSpPr txBox="1">
            <a:spLocks noChangeArrowheads="1"/>
          </p:cNvSpPr>
          <p:nvPr/>
        </p:nvSpPr>
        <p:spPr bwMode="auto">
          <a:xfrm>
            <a:off x="2047875" y="2601913"/>
            <a:ext cx="11509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路由器</a:t>
            </a:r>
            <a:r>
              <a:rPr kumimoji="1" lang="zh-CN" altLang="en-US" sz="900">
                <a:solidFill>
                  <a:srgbClr val="333399"/>
                </a:solidFill>
                <a:latin typeface="Arial" pitchFamily="34" charset="0"/>
                <a:ea typeface="黑体" pitchFamily="49" charset="-122"/>
              </a:rPr>
              <a:t> </a:t>
            </a:r>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1</a:t>
            </a:r>
          </a:p>
        </p:txBody>
      </p:sp>
      <p:sp>
        <p:nvSpPr>
          <p:cNvPr id="9238" name="Text Box 104"/>
          <p:cNvSpPr txBox="1">
            <a:spLocks noChangeArrowheads="1"/>
          </p:cNvSpPr>
          <p:nvPr/>
        </p:nvSpPr>
        <p:spPr bwMode="auto">
          <a:xfrm>
            <a:off x="4206875" y="2798763"/>
            <a:ext cx="11509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路由器</a:t>
            </a:r>
            <a:r>
              <a:rPr kumimoji="1" lang="zh-CN" altLang="en-US" sz="900">
                <a:solidFill>
                  <a:srgbClr val="333399"/>
                </a:solidFill>
                <a:latin typeface="Arial" pitchFamily="34" charset="0"/>
                <a:ea typeface="黑体" pitchFamily="49" charset="-122"/>
              </a:rPr>
              <a:t> </a:t>
            </a:r>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2</a:t>
            </a:r>
          </a:p>
        </p:txBody>
      </p:sp>
      <p:sp>
        <p:nvSpPr>
          <p:cNvPr id="9239" name="Text Box 105"/>
          <p:cNvSpPr txBox="1">
            <a:spLocks noChangeArrowheads="1"/>
          </p:cNvSpPr>
          <p:nvPr/>
        </p:nvSpPr>
        <p:spPr bwMode="auto">
          <a:xfrm>
            <a:off x="6151563" y="2659063"/>
            <a:ext cx="11509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Arial" pitchFamily="34" charset="0"/>
                <a:ea typeface="黑体" pitchFamily="49" charset="-122"/>
              </a:rPr>
              <a:t>路由器</a:t>
            </a:r>
            <a:r>
              <a:rPr kumimoji="1" lang="zh-CN" altLang="en-US" sz="900" b="1">
                <a:solidFill>
                  <a:srgbClr val="333399"/>
                </a:solidFill>
                <a:latin typeface="Arial" pitchFamily="34" charset="0"/>
                <a:ea typeface="黑体" pitchFamily="49" charset="-122"/>
              </a:rPr>
              <a:t> </a:t>
            </a:r>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3</a:t>
            </a:r>
          </a:p>
        </p:txBody>
      </p:sp>
      <p:sp>
        <p:nvSpPr>
          <p:cNvPr id="9240" name="Text Box 106"/>
          <p:cNvSpPr txBox="1">
            <a:spLocks noChangeArrowheads="1"/>
          </p:cNvSpPr>
          <p:nvPr/>
        </p:nvSpPr>
        <p:spPr bwMode="auto">
          <a:xfrm>
            <a:off x="1282700" y="313372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电话网</a:t>
            </a:r>
          </a:p>
        </p:txBody>
      </p:sp>
      <p:grpSp>
        <p:nvGrpSpPr>
          <p:cNvPr id="9241" name="Group 114"/>
          <p:cNvGrpSpPr>
            <a:grpSpLocks/>
          </p:cNvGrpSpPr>
          <p:nvPr/>
        </p:nvGrpSpPr>
        <p:grpSpPr bwMode="auto">
          <a:xfrm>
            <a:off x="368300" y="3160713"/>
            <a:ext cx="665163" cy="546100"/>
            <a:chOff x="624" y="2968"/>
            <a:chExt cx="1331" cy="920"/>
          </a:xfrm>
        </p:grpSpPr>
        <p:sp>
          <p:nvSpPr>
            <p:cNvPr id="9319" name="Freeform 115"/>
            <p:cNvSpPr>
              <a:spLocks/>
            </p:cNvSpPr>
            <p:nvPr/>
          </p:nvSpPr>
          <p:spPr bwMode="auto">
            <a:xfrm>
              <a:off x="1238" y="2968"/>
              <a:ext cx="713" cy="770"/>
            </a:xfrm>
            <a:custGeom>
              <a:avLst/>
              <a:gdLst>
                <a:gd name="T0" fmla="*/ 31 w 1426"/>
                <a:gd name="T1" fmla="*/ 9 h 2309"/>
                <a:gd name="T2" fmla="*/ 31 w 1426"/>
                <a:gd name="T3" fmla="*/ 10 h 2309"/>
                <a:gd name="T4" fmla="*/ 0 w 1426"/>
                <a:gd name="T5" fmla="*/ 6 h 2309"/>
                <a:gd name="T6" fmla="*/ 11 w 1426"/>
                <a:gd name="T7" fmla="*/ 0 h 2309"/>
                <a:gd name="T8" fmla="*/ 12 w 1426"/>
                <a:gd name="T9" fmla="*/ 0 h 2309"/>
                <a:gd name="T10" fmla="*/ 13 w 1426"/>
                <a:gd name="T11" fmla="*/ 0 h 2309"/>
                <a:gd name="T12" fmla="*/ 15 w 1426"/>
                <a:gd name="T13" fmla="*/ 0 h 2309"/>
                <a:gd name="T14" fmla="*/ 44 w 1426"/>
                <a:gd name="T15" fmla="*/ 2 h 2309"/>
                <a:gd name="T16" fmla="*/ 45 w 1426"/>
                <a:gd name="T17" fmla="*/ 2 h 2309"/>
                <a:gd name="T18" fmla="*/ 45 w 1426"/>
                <a:gd name="T19" fmla="*/ 2 h 2309"/>
                <a:gd name="T20" fmla="*/ 45 w 1426"/>
                <a:gd name="T21" fmla="*/ 2 h 2309"/>
                <a:gd name="T22" fmla="*/ 32 w 1426"/>
                <a:gd name="T23" fmla="*/ 9 h 2309"/>
                <a:gd name="T24" fmla="*/ 31 w 1426"/>
                <a:gd name="T25" fmla="*/ 9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0" name="Freeform 116"/>
            <p:cNvSpPr>
              <a:spLocks/>
            </p:cNvSpPr>
            <p:nvPr/>
          </p:nvSpPr>
          <p:spPr bwMode="auto">
            <a:xfrm>
              <a:off x="1668" y="3087"/>
              <a:ext cx="286" cy="660"/>
            </a:xfrm>
            <a:custGeom>
              <a:avLst/>
              <a:gdLst>
                <a:gd name="T0" fmla="*/ 17 w 573"/>
                <a:gd name="T1" fmla="*/ 0 h 1980"/>
                <a:gd name="T2" fmla="*/ 17 w 573"/>
                <a:gd name="T3" fmla="*/ 1 h 1980"/>
                <a:gd name="T4" fmla="*/ 4 w 573"/>
                <a:gd name="T5" fmla="*/ 8 h 1980"/>
                <a:gd name="T6" fmla="*/ 4 w 573"/>
                <a:gd name="T7" fmla="*/ 8 h 1980"/>
                <a:gd name="T8" fmla="*/ 4 w 573"/>
                <a:gd name="T9" fmla="*/ 8 h 1980"/>
                <a:gd name="T10" fmla="*/ 3 w 573"/>
                <a:gd name="T11" fmla="*/ 8 h 1980"/>
                <a:gd name="T12" fmla="*/ 3 w 573"/>
                <a:gd name="T13" fmla="*/ 8 h 1980"/>
                <a:gd name="T14" fmla="*/ 2 w 573"/>
                <a:gd name="T15" fmla="*/ 8 h 1980"/>
                <a:gd name="T16" fmla="*/ 0 w 573"/>
                <a:gd name="T17" fmla="*/ 8 h 1980"/>
                <a:gd name="T18" fmla="*/ 13 w 573"/>
                <a:gd name="T19" fmla="*/ 0 h 1980"/>
                <a:gd name="T20" fmla="*/ 13 w 573"/>
                <a:gd name="T21" fmla="*/ 0 h 1980"/>
                <a:gd name="T22" fmla="*/ 12 w 573"/>
                <a:gd name="T23" fmla="*/ 0 h 1980"/>
                <a:gd name="T24" fmla="*/ 13 w 573"/>
                <a:gd name="T25" fmla="*/ 0 h 1980"/>
                <a:gd name="T26" fmla="*/ 16 w 573"/>
                <a:gd name="T27" fmla="*/ 0 h 1980"/>
                <a:gd name="T28" fmla="*/ 17 w 573"/>
                <a:gd name="T29" fmla="*/ 0 h 1980"/>
                <a:gd name="T30" fmla="*/ 17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9321" name="Freeform 117"/>
            <p:cNvSpPr>
              <a:spLocks/>
            </p:cNvSpPr>
            <p:nvPr/>
          </p:nvSpPr>
          <p:spPr bwMode="auto">
            <a:xfrm>
              <a:off x="1432" y="2970"/>
              <a:ext cx="523" cy="147"/>
            </a:xfrm>
            <a:custGeom>
              <a:avLst/>
              <a:gdLst>
                <a:gd name="T0" fmla="*/ 0 w 1045"/>
                <a:gd name="T1" fmla="*/ 0 h 441"/>
                <a:gd name="T2" fmla="*/ 1 w 1045"/>
                <a:gd name="T3" fmla="*/ 0 h 441"/>
                <a:gd name="T4" fmla="*/ 2 w 1045"/>
                <a:gd name="T5" fmla="*/ 0 h 441"/>
                <a:gd name="T6" fmla="*/ 32 w 1045"/>
                <a:gd name="T7" fmla="*/ 2 h 441"/>
                <a:gd name="T8" fmla="*/ 33 w 1045"/>
                <a:gd name="T9" fmla="*/ 2 h 441"/>
                <a:gd name="T10" fmla="*/ 33 w 1045"/>
                <a:gd name="T11" fmla="*/ 2 h 441"/>
                <a:gd name="T12" fmla="*/ 0 w 1045"/>
                <a:gd name="T13" fmla="*/ 0 h 4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9322" name="Freeform 118"/>
            <p:cNvSpPr>
              <a:spLocks/>
            </p:cNvSpPr>
            <p:nvPr/>
          </p:nvSpPr>
          <p:spPr bwMode="auto">
            <a:xfrm>
              <a:off x="1315" y="3056"/>
              <a:ext cx="478" cy="573"/>
            </a:xfrm>
            <a:custGeom>
              <a:avLst/>
              <a:gdLst>
                <a:gd name="T0" fmla="*/ 20 w 955"/>
                <a:gd name="T1" fmla="*/ 7 h 1719"/>
                <a:gd name="T2" fmla="*/ 0 w 955"/>
                <a:gd name="T3" fmla="*/ 5 h 1719"/>
                <a:gd name="T4" fmla="*/ 10 w 955"/>
                <a:gd name="T5" fmla="*/ 0 h 1719"/>
                <a:gd name="T6" fmla="*/ 30 w 955"/>
                <a:gd name="T7" fmla="*/ 1 h 1719"/>
                <a:gd name="T8" fmla="*/ 20 w 955"/>
                <a:gd name="T9" fmla="*/ 7 h 17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a:p>
          </p:txBody>
        </p:sp>
        <p:sp>
          <p:nvSpPr>
            <p:cNvPr id="9323" name="Freeform 119"/>
            <p:cNvSpPr>
              <a:spLocks/>
            </p:cNvSpPr>
            <p:nvPr/>
          </p:nvSpPr>
          <p:spPr bwMode="auto">
            <a:xfrm>
              <a:off x="1337" y="3076"/>
              <a:ext cx="431" cy="529"/>
            </a:xfrm>
            <a:custGeom>
              <a:avLst/>
              <a:gdLst>
                <a:gd name="T0" fmla="*/ 18 w 862"/>
                <a:gd name="T1" fmla="*/ 7 h 1587"/>
                <a:gd name="T2" fmla="*/ 0 w 862"/>
                <a:gd name="T3" fmla="*/ 5 h 1587"/>
                <a:gd name="T4" fmla="*/ 9 w 862"/>
                <a:gd name="T5" fmla="*/ 0 h 1587"/>
                <a:gd name="T6" fmla="*/ 27 w 862"/>
                <a:gd name="T7" fmla="*/ 1 h 1587"/>
                <a:gd name="T8" fmla="*/ 18 w 862"/>
                <a:gd name="T9" fmla="*/ 7 h 1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a:p>
          </p:txBody>
        </p:sp>
        <p:sp>
          <p:nvSpPr>
            <p:cNvPr id="9324" name="Freeform 120"/>
            <p:cNvSpPr>
              <a:spLocks/>
            </p:cNvSpPr>
            <p:nvPr/>
          </p:nvSpPr>
          <p:spPr bwMode="auto">
            <a:xfrm>
              <a:off x="1233" y="2968"/>
              <a:ext cx="203" cy="494"/>
            </a:xfrm>
            <a:custGeom>
              <a:avLst/>
              <a:gdLst>
                <a:gd name="T0" fmla="*/ 12 w 408"/>
                <a:gd name="T1" fmla="*/ 0 h 1480"/>
                <a:gd name="T2" fmla="*/ 11 w 408"/>
                <a:gd name="T3" fmla="*/ 0 h 1480"/>
                <a:gd name="T4" fmla="*/ 11 w 408"/>
                <a:gd name="T5" fmla="*/ 0 h 1480"/>
                <a:gd name="T6" fmla="*/ 10 w 408"/>
                <a:gd name="T7" fmla="*/ 0 h 1480"/>
                <a:gd name="T8" fmla="*/ 10 w 408"/>
                <a:gd name="T9" fmla="*/ 0 h 1480"/>
                <a:gd name="T10" fmla="*/ 9 w 408"/>
                <a:gd name="T11" fmla="*/ 0 h 1480"/>
                <a:gd name="T12" fmla="*/ 0 w 408"/>
                <a:gd name="T13" fmla="*/ 6 h 1480"/>
                <a:gd name="T14" fmla="*/ 0 w 408"/>
                <a:gd name="T15" fmla="*/ 6 h 1480"/>
                <a:gd name="T16" fmla="*/ 10 w 408"/>
                <a:gd name="T17" fmla="*/ 0 h 1480"/>
                <a:gd name="T18" fmla="*/ 10 w 408"/>
                <a:gd name="T19" fmla="*/ 0 h 1480"/>
                <a:gd name="T20" fmla="*/ 11 w 408"/>
                <a:gd name="T21" fmla="*/ 0 h 1480"/>
                <a:gd name="T22" fmla="*/ 11 w 408"/>
                <a:gd name="T23" fmla="*/ 0 h 1480"/>
                <a:gd name="T24" fmla="*/ 11 w 408"/>
                <a:gd name="T25" fmla="*/ 0 h 1480"/>
                <a:gd name="T26" fmla="*/ 12 w 408"/>
                <a:gd name="T27" fmla="*/ 0 h 1480"/>
                <a:gd name="T28" fmla="*/ 12 w 408"/>
                <a:gd name="T29" fmla="*/ 0 h 1480"/>
                <a:gd name="T30" fmla="*/ 12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 name="Freeform 121"/>
            <p:cNvSpPr>
              <a:spLocks/>
            </p:cNvSpPr>
            <p:nvPr/>
          </p:nvSpPr>
          <p:spPr bwMode="auto">
            <a:xfrm>
              <a:off x="1204" y="3479"/>
              <a:ext cx="532" cy="321"/>
            </a:xfrm>
            <a:custGeom>
              <a:avLst/>
              <a:gdLst>
                <a:gd name="T0" fmla="*/ 33 w 1065"/>
                <a:gd name="T1" fmla="*/ 4 h 963"/>
                <a:gd name="T2" fmla="*/ 32 w 1065"/>
                <a:gd name="T3" fmla="*/ 3 h 963"/>
                <a:gd name="T4" fmla="*/ 31 w 1065"/>
                <a:gd name="T5" fmla="*/ 3 h 963"/>
                <a:gd name="T6" fmla="*/ 4 w 1065"/>
                <a:gd name="T7" fmla="*/ 0 h 963"/>
                <a:gd name="T8" fmla="*/ 3 w 1065"/>
                <a:gd name="T9" fmla="*/ 0 h 963"/>
                <a:gd name="T10" fmla="*/ 1 w 1065"/>
                <a:gd name="T11" fmla="*/ 0 h 963"/>
                <a:gd name="T12" fmla="*/ 1 w 1065"/>
                <a:gd name="T13" fmla="*/ 0 h 963"/>
                <a:gd name="T14" fmla="*/ 0 w 1065"/>
                <a:gd name="T15" fmla="*/ 1 h 963"/>
                <a:gd name="T16" fmla="*/ 27 w 1065"/>
                <a:gd name="T17" fmla="*/ 4 h 963"/>
                <a:gd name="T18" fmla="*/ 33 w 1065"/>
                <a:gd name="T19" fmla="*/ 4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6" name="Freeform 122"/>
            <p:cNvSpPr>
              <a:spLocks/>
            </p:cNvSpPr>
            <p:nvPr/>
          </p:nvSpPr>
          <p:spPr bwMode="auto">
            <a:xfrm>
              <a:off x="642" y="3519"/>
              <a:ext cx="985" cy="288"/>
            </a:xfrm>
            <a:custGeom>
              <a:avLst/>
              <a:gdLst>
                <a:gd name="T0" fmla="*/ 0 w 1969"/>
                <a:gd name="T1" fmla="*/ 0 h 862"/>
                <a:gd name="T2" fmla="*/ 36 w 1969"/>
                <a:gd name="T3" fmla="*/ 0 h 862"/>
                <a:gd name="T4" fmla="*/ 62 w 1969"/>
                <a:gd name="T5" fmla="*/ 3 h 862"/>
                <a:gd name="T6" fmla="*/ 15 w 1969"/>
                <a:gd name="T7" fmla="*/ 4 h 862"/>
                <a:gd name="T8" fmla="*/ 0 w 1969"/>
                <a:gd name="T9" fmla="*/ 0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7" name="Freeform 123"/>
            <p:cNvSpPr>
              <a:spLocks/>
            </p:cNvSpPr>
            <p:nvPr/>
          </p:nvSpPr>
          <p:spPr bwMode="auto">
            <a:xfrm>
              <a:off x="852" y="3789"/>
              <a:ext cx="889" cy="99"/>
            </a:xfrm>
            <a:custGeom>
              <a:avLst/>
              <a:gdLst>
                <a:gd name="T0" fmla="*/ 2 w 1777"/>
                <a:gd name="T1" fmla="*/ 0 h 297"/>
                <a:gd name="T2" fmla="*/ 0 w 1777"/>
                <a:gd name="T3" fmla="*/ 1 h 297"/>
                <a:gd name="T4" fmla="*/ 55 w 1777"/>
                <a:gd name="T5" fmla="*/ 1 h 297"/>
                <a:gd name="T6" fmla="*/ 56 w 1777"/>
                <a:gd name="T7" fmla="*/ 1 h 297"/>
                <a:gd name="T8" fmla="*/ 56 w 1777"/>
                <a:gd name="T9" fmla="*/ 0 h 297"/>
                <a:gd name="T10" fmla="*/ 56 w 1777"/>
                <a:gd name="T11" fmla="*/ 0 h 297"/>
                <a:gd name="T12" fmla="*/ 2 w 1777"/>
                <a:gd name="T13" fmla="*/ 0 h 2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8" name="Freeform 124"/>
            <p:cNvSpPr>
              <a:spLocks/>
            </p:cNvSpPr>
            <p:nvPr/>
          </p:nvSpPr>
          <p:spPr bwMode="auto">
            <a:xfrm>
              <a:off x="624" y="3519"/>
              <a:ext cx="256" cy="369"/>
            </a:xfrm>
            <a:custGeom>
              <a:avLst/>
              <a:gdLst>
                <a:gd name="T0" fmla="*/ 1 w 513"/>
                <a:gd name="T1" fmla="*/ 0 h 1106"/>
                <a:gd name="T2" fmla="*/ 0 w 513"/>
                <a:gd name="T3" fmla="*/ 1 h 1106"/>
                <a:gd name="T4" fmla="*/ 14 w 513"/>
                <a:gd name="T5" fmla="*/ 5 h 1106"/>
                <a:gd name="T6" fmla="*/ 16 w 513"/>
                <a:gd name="T7" fmla="*/ 4 h 1106"/>
                <a:gd name="T8" fmla="*/ 1 w 513"/>
                <a:gd name="T9" fmla="*/ 0 h 1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9" name="Freeform 125"/>
            <p:cNvSpPr>
              <a:spLocks/>
            </p:cNvSpPr>
            <p:nvPr/>
          </p:nvSpPr>
          <p:spPr bwMode="auto">
            <a:xfrm>
              <a:off x="1206" y="3791"/>
              <a:ext cx="132" cy="8"/>
            </a:xfrm>
            <a:custGeom>
              <a:avLst/>
              <a:gdLst>
                <a:gd name="T0" fmla="*/ 1 w 262"/>
                <a:gd name="T1" fmla="*/ 0 h 25"/>
                <a:gd name="T2" fmla="*/ 0 w 262"/>
                <a:gd name="T3" fmla="*/ 0 h 25"/>
                <a:gd name="T4" fmla="*/ 8 w 262"/>
                <a:gd name="T5" fmla="*/ 0 h 25"/>
                <a:gd name="T6" fmla="*/ 9 w 262"/>
                <a:gd name="T7" fmla="*/ 0 h 25"/>
                <a:gd name="T8" fmla="*/ 1 w 262"/>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30" name="Freeform 126"/>
            <p:cNvSpPr>
              <a:spLocks/>
            </p:cNvSpPr>
            <p:nvPr/>
          </p:nvSpPr>
          <p:spPr bwMode="auto">
            <a:xfrm>
              <a:off x="927" y="3521"/>
              <a:ext cx="281" cy="279"/>
            </a:xfrm>
            <a:custGeom>
              <a:avLst/>
              <a:gdLst>
                <a:gd name="T0" fmla="*/ 18 w 561"/>
                <a:gd name="T1" fmla="*/ 3 h 836"/>
                <a:gd name="T2" fmla="*/ 0 w 561"/>
                <a:gd name="T3" fmla="*/ 0 h 836"/>
                <a:gd name="T4" fmla="*/ 18 w 561"/>
                <a:gd name="T5" fmla="*/ 3 h 836"/>
                <a:gd name="T6" fmla="*/ 18 w 561"/>
                <a:gd name="T7" fmla="*/ 3 h 8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331" name="Group 127"/>
            <p:cNvGrpSpPr>
              <a:grpSpLocks/>
            </p:cNvGrpSpPr>
            <p:nvPr/>
          </p:nvGrpSpPr>
          <p:grpSpPr bwMode="auto">
            <a:xfrm>
              <a:off x="700" y="3526"/>
              <a:ext cx="515" cy="270"/>
              <a:chOff x="700" y="3526"/>
              <a:chExt cx="515" cy="270"/>
            </a:xfrm>
          </p:grpSpPr>
          <p:grpSp>
            <p:nvGrpSpPr>
              <p:cNvPr id="9357" name="Group 128"/>
              <p:cNvGrpSpPr>
                <a:grpSpLocks/>
              </p:cNvGrpSpPr>
              <p:nvPr/>
            </p:nvGrpSpPr>
            <p:grpSpPr bwMode="auto">
              <a:xfrm>
                <a:off x="737" y="3534"/>
                <a:ext cx="49" cy="23"/>
                <a:chOff x="737" y="3534"/>
                <a:chExt cx="49" cy="23"/>
              </a:xfrm>
            </p:grpSpPr>
            <p:sp>
              <p:nvSpPr>
                <p:cNvPr id="9768" name="Freeform 129"/>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69" name="Freeform 130"/>
                <p:cNvSpPr>
                  <a:spLocks/>
                </p:cNvSpPr>
                <p:nvPr/>
              </p:nvSpPr>
              <p:spPr bwMode="auto">
                <a:xfrm>
                  <a:off x="742" y="3535"/>
                  <a:ext cx="36" cy="9"/>
                </a:xfrm>
                <a:custGeom>
                  <a:avLst/>
                  <a:gdLst>
                    <a:gd name="T0" fmla="*/ 0 w 73"/>
                    <a:gd name="T1" fmla="*/ 0 h 29"/>
                    <a:gd name="T2" fmla="*/ 1 w 73"/>
                    <a:gd name="T3" fmla="*/ 0 h 29"/>
                    <a:gd name="T4" fmla="*/ 1 w 73"/>
                    <a:gd name="T5" fmla="*/ 0 h 29"/>
                    <a:gd name="T6" fmla="*/ 1 w 73"/>
                    <a:gd name="T7" fmla="*/ 0 h 29"/>
                    <a:gd name="T8" fmla="*/ 2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70" name="Freeform 131"/>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3 w 82"/>
                    <a:gd name="T9" fmla="*/ 0 h 35"/>
                    <a:gd name="T10" fmla="*/ 3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58" name="Group 132"/>
              <p:cNvGrpSpPr>
                <a:grpSpLocks/>
              </p:cNvGrpSpPr>
              <p:nvPr/>
            </p:nvGrpSpPr>
            <p:grpSpPr bwMode="auto">
              <a:xfrm>
                <a:off x="748" y="3547"/>
                <a:ext cx="50" cy="23"/>
                <a:chOff x="748" y="3547"/>
                <a:chExt cx="50" cy="23"/>
              </a:xfrm>
            </p:grpSpPr>
            <p:sp>
              <p:nvSpPr>
                <p:cNvPr id="9765" name="Freeform 133"/>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66" name="Freeform 134"/>
                <p:cNvSpPr>
                  <a:spLocks/>
                </p:cNvSpPr>
                <p:nvPr/>
              </p:nvSpPr>
              <p:spPr bwMode="auto">
                <a:xfrm>
                  <a:off x="753" y="3548"/>
                  <a:ext cx="37" cy="10"/>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67" name="Freeform 135"/>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359" name="Freeform 136"/>
              <p:cNvSpPr>
                <a:spLocks/>
              </p:cNvSpPr>
              <p:nvPr/>
            </p:nvSpPr>
            <p:spPr bwMode="auto">
              <a:xfrm>
                <a:off x="952" y="3538"/>
                <a:ext cx="39" cy="12"/>
              </a:xfrm>
              <a:custGeom>
                <a:avLst/>
                <a:gdLst>
                  <a:gd name="T0" fmla="*/ 0 w 79"/>
                  <a:gd name="T1" fmla="*/ 0 h 36"/>
                  <a:gd name="T2" fmla="*/ 0 w 79"/>
                  <a:gd name="T3" fmla="*/ 0 h 36"/>
                  <a:gd name="T4" fmla="*/ 2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60" name="Freeform 137"/>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61" name="Freeform 138"/>
              <p:cNvSpPr>
                <a:spLocks/>
              </p:cNvSpPr>
              <p:nvPr/>
            </p:nvSpPr>
            <p:spPr bwMode="auto">
              <a:xfrm>
                <a:off x="867" y="3535"/>
                <a:ext cx="34" cy="10"/>
              </a:xfrm>
              <a:custGeom>
                <a:avLst/>
                <a:gdLst>
                  <a:gd name="T0" fmla="*/ 0 w 70"/>
                  <a:gd name="T1" fmla="*/ 0 h 30"/>
                  <a:gd name="T2" fmla="*/ 1 w 70"/>
                  <a:gd name="T3" fmla="*/ 0 h 30"/>
                  <a:gd name="T4" fmla="*/ 1 w 70"/>
                  <a:gd name="T5" fmla="*/ 0 h 30"/>
                  <a:gd name="T6" fmla="*/ 1 w 70"/>
                  <a:gd name="T7" fmla="*/ 0 h 30"/>
                  <a:gd name="T8" fmla="*/ 2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62" name="Freeform 139"/>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363" name="Group 140"/>
              <p:cNvGrpSpPr>
                <a:grpSpLocks/>
              </p:cNvGrpSpPr>
              <p:nvPr/>
            </p:nvGrpSpPr>
            <p:grpSpPr bwMode="auto">
              <a:xfrm>
                <a:off x="872" y="3547"/>
                <a:ext cx="50" cy="23"/>
                <a:chOff x="872" y="3547"/>
                <a:chExt cx="50" cy="23"/>
              </a:xfrm>
            </p:grpSpPr>
            <p:sp>
              <p:nvSpPr>
                <p:cNvPr id="9762" name="Freeform 141"/>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63" name="Freeform 142"/>
                <p:cNvSpPr>
                  <a:spLocks/>
                </p:cNvSpPr>
                <p:nvPr/>
              </p:nvSpPr>
              <p:spPr bwMode="auto">
                <a:xfrm>
                  <a:off x="878" y="3547"/>
                  <a:ext cx="36" cy="10"/>
                </a:xfrm>
                <a:custGeom>
                  <a:avLst/>
                  <a:gdLst>
                    <a:gd name="T0" fmla="*/ 0 w 73"/>
                    <a:gd name="T1" fmla="*/ 0 h 30"/>
                    <a:gd name="T2" fmla="*/ 1 w 73"/>
                    <a:gd name="T3" fmla="*/ 0 h 30"/>
                    <a:gd name="T4" fmla="*/ 1 w 73"/>
                    <a:gd name="T5" fmla="*/ 0 h 30"/>
                    <a:gd name="T6" fmla="*/ 1 w 73"/>
                    <a:gd name="T7" fmla="*/ 0 h 30"/>
                    <a:gd name="T8" fmla="*/ 2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64" name="Freeform 143"/>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64" name="Group 144"/>
              <p:cNvGrpSpPr>
                <a:grpSpLocks/>
              </p:cNvGrpSpPr>
              <p:nvPr/>
            </p:nvGrpSpPr>
            <p:grpSpPr bwMode="auto">
              <a:xfrm>
                <a:off x="885" y="3559"/>
                <a:ext cx="50" cy="23"/>
                <a:chOff x="885" y="3559"/>
                <a:chExt cx="50" cy="23"/>
              </a:xfrm>
            </p:grpSpPr>
            <p:sp>
              <p:nvSpPr>
                <p:cNvPr id="9759" name="Freeform 145"/>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60" name="Freeform 146"/>
                <p:cNvSpPr>
                  <a:spLocks/>
                </p:cNvSpPr>
                <p:nvPr/>
              </p:nvSpPr>
              <p:spPr bwMode="auto">
                <a:xfrm>
                  <a:off x="890" y="3560"/>
                  <a:ext cx="37" cy="10"/>
                </a:xfrm>
                <a:custGeom>
                  <a:avLst/>
                  <a:gdLst>
                    <a:gd name="T0" fmla="*/ 1 w 74"/>
                    <a:gd name="T1" fmla="*/ 0 h 30"/>
                    <a:gd name="T2" fmla="*/ 2 w 74"/>
                    <a:gd name="T3" fmla="*/ 0 h 30"/>
                    <a:gd name="T4" fmla="*/ 2 w 74"/>
                    <a:gd name="T5" fmla="*/ 0 h 30"/>
                    <a:gd name="T6" fmla="*/ 2 w 74"/>
                    <a:gd name="T7" fmla="*/ 0 h 30"/>
                    <a:gd name="T8" fmla="*/ 3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61" name="Freeform 147"/>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65" name="Group 148"/>
              <p:cNvGrpSpPr>
                <a:grpSpLocks/>
              </p:cNvGrpSpPr>
              <p:nvPr/>
            </p:nvGrpSpPr>
            <p:grpSpPr bwMode="auto">
              <a:xfrm>
                <a:off x="898" y="3571"/>
                <a:ext cx="49" cy="23"/>
                <a:chOff x="898" y="3571"/>
                <a:chExt cx="49" cy="23"/>
              </a:xfrm>
            </p:grpSpPr>
            <p:sp>
              <p:nvSpPr>
                <p:cNvPr id="9756" name="Freeform 149"/>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57" name="Freeform 150"/>
                <p:cNvSpPr>
                  <a:spLocks/>
                </p:cNvSpPr>
                <p:nvPr/>
              </p:nvSpPr>
              <p:spPr bwMode="auto">
                <a:xfrm>
                  <a:off x="903" y="3572"/>
                  <a:ext cx="37" cy="10"/>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58" name="Freeform 151"/>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66" name="Group 152"/>
              <p:cNvGrpSpPr>
                <a:grpSpLocks/>
              </p:cNvGrpSpPr>
              <p:nvPr/>
            </p:nvGrpSpPr>
            <p:grpSpPr bwMode="auto">
              <a:xfrm>
                <a:off x="911" y="3585"/>
                <a:ext cx="49" cy="23"/>
                <a:chOff x="911" y="3585"/>
                <a:chExt cx="49" cy="23"/>
              </a:xfrm>
            </p:grpSpPr>
            <p:sp>
              <p:nvSpPr>
                <p:cNvPr id="9753" name="Freeform 153"/>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54" name="Freeform 154"/>
                <p:cNvSpPr>
                  <a:spLocks/>
                </p:cNvSpPr>
                <p:nvPr/>
              </p:nvSpPr>
              <p:spPr bwMode="auto">
                <a:xfrm>
                  <a:off x="915" y="3585"/>
                  <a:ext cx="38" cy="10"/>
                </a:xfrm>
                <a:custGeom>
                  <a:avLst/>
                  <a:gdLst>
                    <a:gd name="T0" fmla="*/ 1 w 75"/>
                    <a:gd name="T1" fmla="*/ 0 h 30"/>
                    <a:gd name="T2" fmla="*/ 2 w 75"/>
                    <a:gd name="T3" fmla="*/ 0 h 30"/>
                    <a:gd name="T4" fmla="*/ 2 w 75"/>
                    <a:gd name="T5" fmla="*/ 0 h 30"/>
                    <a:gd name="T6" fmla="*/ 2 w 75"/>
                    <a:gd name="T7" fmla="*/ 0 h 30"/>
                    <a:gd name="T8" fmla="*/ 3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55" name="Freeform 155"/>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67" name="Group 156"/>
              <p:cNvGrpSpPr>
                <a:grpSpLocks/>
              </p:cNvGrpSpPr>
              <p:nvPr/>
            </p:nvGrpSpPr>
            <p:grpSpPr bwMode="auto">
              <a:xfrm>
                <a:off x="923" y="3600"/>
                <a:ext cx="99" cy="73"/>
                <a:chOff x="923" y="3600"/>
                <a:chExt cx="99" cy="73"/>
              </a:xfrm>
            </p:grpSpPr>
            <p:grpSp>
              <p:nvGrpSpPr>
                <p:cNvPr id="9733" name="Group 157"/>
                <p:cNvGrpSpPr>
                  <a:grpSpLocks/>
                </p:cNvGrpSpPr>
                <p:nvPr/>
              </p:nvGrpSpPr>
              <p:grpSpPr bwMode="auto">
                <a:xfrm>
                  <a:off x="923" y="3600"/>
                  <a:ext cx="49" cy="23"/>
                  <a:chOff x="923" y="3600"/>
                  <a:chExt cx="49" cy="23"/>
                </a:xfrm>
              </p:grpSpPr>
              <p:sp>
                <p:nvSpPr>
                  <p:cNvPr id="9750" name="Freeform 158"/>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51" name="Freeform 159"/>
                  <p:cNvSpPr>
                    <a:spLocks/>
                  </p:cNvSpPr>
                  <p:nvPr/>
                </p:nvSpPr>
                <p:spPr bwMode="auto">
                  <a:xfrm>
                    <a:off x="928" y="3600"/>
                    <a:ext cx="37" cy="10"/>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52" name="Freeform 160"/>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3 w 82"/>
                      <a:gd name="T9" fmla="*/ 0 h 37"/>
                      <a:gd name="T10" fmla="*/ 3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734" name="Group 161"/>
                <p:cNvGrpSpPr>
                  <a:grpSpLocks/>
                </p:cNvGrpSpPr>
                <p:nvPr/>
              </p:nvGrpSpPr>
              <p:grpSpPr bwMode="auto">
                <a:xfrm>
                  <a:off x="935" y="3612"/>
                  <a:ext cx="48" cy="23"/>
                  <a:chOff x="935" y="3612"/>
                  <a:chExt cx="48" cy="23"/>
                </a:xfrm>
              </p:grpSpPr>
              <p:sp>
                <p:nvSpPr>
                  <p:cNvPr id="9747" name="Freeform 162"/>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48" name="Freeform 163"/>
                  <p:cNvSpPr>
                    <a:spLocks/>
                  </p:cNvSpPr>
                  <p:nvPr/>
                </p:nvSpPr>
                <p:spPr bwMode="auto">
                  <a:xfrm>
                    <a:off x="939" y="3612"/>
                    <a:ext cx="38" cy="11"/>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49" name="Freeform 164"/>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735" name="Group 165"/>
                <p:cNvGrpSpPr>
                  <a:grpSpLocks/>
                </p:cNvGrpSpPr>
                <p:nvPr/>
              </p:nvGrpSpPr>
              <p:grpSpPr bwMode="auto">
                <a:xfrm>
                  <a:off x="947" y="3625"/>
                  <a:ext cx="50" cy="22"/>
                  <a:chOff x="947" y="3625"/>
                  <a:chExt cx="50" cy="22"/>
                </a:xfrm>
              </p:grpSpPr>
              <p:sp>
                <p:nvSpPr>
                  <p:cNvPr id="9744" name="Freeform 166"/>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45" name="Freeform 167"/>
                  <p:cNvSpPr>
                    <a:spLocks/>
                  </p:cNvSpPr>
                  <p:nvPr/>
                </p:nvSpPr>
                <p:spPr bwMode="auto">
                  <a:xfrm>
                    <a:off x="953" y="3625"/>
                    <a:ext cx="36" cy="10"/>
                  </a:xfrm>
                  <a:custGeom>
                    <a:avLst/>
                    <a:gdLst>
                      <a:gd name="T0" fmla="*/ 0 w 73"/>
                      <a:gd name="T1" fmla="*/ 0 h 29"/>
                      <a:gd name="T2" fmla="*/ 1 w 73"/>
                      <a:gd name="T3" fmla="*/ 0 h 29"/>
                      <a:gd name="T4" fmla="*/ 1 w 73"/>
                      <a:gd name="T5" fmla="*/ 0 h 29"/>
                      <a:gd name="T6" fmla="*/ 1 w 73"/>
                      <a:gd name="T7" fmla="*/ 0 h 29"/>
                      <a:gd name="T8" fmla="*/ 2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46" name="Freeform 168"/>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736" name="Group 169"/>
                <p:cNvGrpSpPr>
                  <a:grpSpLocks/>
                </p:cNvGrpSpPr>
                <p:nvPr/>
              </p:nvGrpSpPr>
              <p:grpSpPr bwMode="auto">
                <a:xfrm>
                  <a:off x="960" y="3637"/>
                  <a:ext cx="50" cy="23"/>
                  <a:chOff x="960" y="3637"/>
                  <a:chExt cx="50" cy="23"/>
                </a:xfrm>
              </p:grpSpPr>
              <p:sp>
                <p:nvSpPr>
                  <p:cNvPr id="9741" name="Freeform 170"/>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42" name="Freeform 171"/>
                  <p:cNvSpPr>
                    <a:spLocks/>
                  </p:cNvSpPr>
                  <p:nvPr/>
                </p:nvSpPr>
                <p:spPr bwMode="auto">
                  <a:xfrm>
                    <a:off x="965" y="3638"/>
                    <a:ext cx="37" cy="9"/>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43" name="Freeform 172"/>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3 w 83"/>
                      <a:gd name="T9" fmla="*/ 0 h 35"/>
                      <a:gd name="T10" fmla="*/ 3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737" name="Group 173"/>
                <p:cNvGrpSpPr>
                  <a:grpSpLocks/>
                </p:cNvGrpSpPr>
                <p:nvPr/>
              </p:nvGrpSpPr>
              <p:grpSpPr bwMode="auto">
                <a:xfrm>
                  <a:off x="973" y="3650"/>
                  <a:ext cx="49" cy="23"/>
                  <a:chOff x="973" y="3650"/>
                  <a:chExt cx="49" cy="23"/>
                </a:xfrm>
              </p:grpSpPr>
              <p:sp>
                <p:nvSpPr>
                  <p:cNvPr id="9738" name="Freeform 174"/>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39" name="Freeform 175"/>
                  <p:cNvSpPr>
                    <a:spLocks/>
                  </p:cNvSpPr>
                  <p:nvPr/>
                </p:nvSpPr>
                <p:spPr bwMode="auto">
                  <a:xfrm>
                    <a:off x="978" y="3651"/>
                    <a:ext cx="37" cy="10"/>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40" name="Freeform 176"/>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9368" name="Group 177"/>
              <p:cNvGrpSpPr>
                <a:grpSpLocks/>
              </p:cNvGrpSpPr>
              <p:nvPr/>
            </p:nvGrpSpPr>
            <p:grpSpPr bwMode="auto">
              <a:xfrm>
                <a:off x="985" y="3665"/>
                <a:ext cx="100" cy="73"/>
                <a:chOff x="985" y="3665"/>
                <a:chExt cx="100" cy="73"/>
              </a:xfrm>
            </p:grpSpPr>
            <p:grpSp>
              <p:nvGrpSpPr>
                <p:cNvPr id="9713" name="Group 178"/>
                <p:cNvGrpSpPr>
                  <a:grpSpLocks/>
                </p:cNvGrpSpPr>
                <p:nvPr/>
              </p:nvGrpSpPr>
              <p:grpSpPr bwMode="auto">
                <a:xfrm>
                  <a:off x="985" y="3665"/>
                  <a:ext cx="50" cy="23"/>
                  <a:chOff x="985" y="3665"/>
                  <a:chExt cx="50" cy="23"/>
                </a:xfrm>
              </p:grpSpPr>
              <p:sp>
                <p:nvSpPr>
                  <p:cNvPr id="9730" name="Freeform 179"/>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31" name="Freeform 180"/>
                  <p:cNvSpPr>
                    <a:spLocks/>
                  </p:cNvSpPr>
                  <p:nvPr/>
                </p:nvSpPr>
                <p:spPr bwMode="auto">
                  <a:xfrm>
                    <a:off x="989" y="3665"/>
                    <a:ext cx="38" cy="11"/>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32" name="Freeform 181"/>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714" name="Group 182"/>
                <p:cNvGrpSpPr>
                  <a:grpSpLocks/>
                </p:cNvGrpSpPr>
                <p:nvPr/>
              </p:nvGrpSpPr>
              <p:grpSpPr bwMode="auto">
                <a:xfrm>
                  <a:off x="997" y="3677"/>
                  <a:ext cx="49" cy="23"/>
                  <a:chOff x="997" y="3677"/>
                  <a:chExt cx="49" cy="23"/>
                </a:xfrm>
              </p:grpSpPr>
              <p:sp>
                <p:nvSpPr>
                  <p:cNvPr id="9727" name="Freeform 183"/>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28" name="Freeform 184"/>
                  <p:cNvSpPr>
                    <a:spLocks/>
                  </p:cNvSpPr>
                  <p:nvPr/>
                </p:nvSpPr>
                <p:spPr bwMode="auto">
                  <a:xfrm>
                    <a:off x="1002" y="3678"/>
                    <a:ext cx="37" cy="10"/>
                  </a:xfrm>
                  <a:custGeom>
                    <a:avLst/>
                    <a:gdLst>
                      <a:gd name="T0" fmla="*/ 1 w 73"/>
                      <a:gd name="T1" fmla="*/ 0 h 30"/>
                      <a:gd name="T2" fmla="*/ 2 w 73"/>
                      <a:gd name="T3" fmla="*/ 0 h 30"/>
                      <a:gd name="T4" fmla="*/ 2 w 73"/>
                      <a:gd name="T5" fmla="*/ 0 h 30"/>
                      <a:gd name="T6" fmla="*/ 2 w 73"/>
                      <a:gd name="T7" fmla="*/ 0 h 30"/>
                      <a:gd name="T8" fmla="*/ 3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29" name="Freeform 185"/>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2 w 83"/>
                      <a:gd name="T9" fmla="*/ 0 h 37"/>
                      <a:gd name="T10" fmla="*/ 2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715" name="Group 186"/>
                <p:cNvGrpSpPr>
                  <a:grpSpLocks/>
                </p:cNvGrpSpPr>
                <p:nvPr/>
              </p:nvGrpSpPr>
              <p:grpSpPr bwMode="auto">
                <a:xfrm>
                  <a:off x="1010" y="3690"/>
                  <a:ext cx="48" cy="23"/>
                  <a:chOff x="1010" y="3690"/>
                  <a:chExt cx="48" cy="23"/>
                </a:xfrm>
              </p:grpSpPr>
              <p:sp>
                <p:nvSpPr>
                  <p:cNvPr id="9724" name="Freeform 187"/>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25" name="Freeform 188"/>
                  <p:cNvSpPr>
                    <a:spLocks/>
                  </p:cNvSpPr>
                  <p:nvPr/>
                </p:nvSpPr>
                <p:spPr bwMode="auto">
                  <a:xfrm>
                    <a:off x="1014" y="3690"/>
                    <a:ext cx="38" cy="10"/>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26" name="Freeform 189"/>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2 w 82"/>
                      <a:gd name="T9" fmla="*/ 0 h 35"/>
                      <a:gd name="T10" fmla="*/ 2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716" name="Group 190"/>
                <p:cNvGrpSpPr>
                  <a:grpSpLocks/>
                </p:cNvGrpSpPr>
                <p:nvPr/>
              </p:nvGrpSpPr>
              <p:grpSpPr bwMode="auto">
                <a:xfrm>
                  <a:off x="1023" y="3703"/>
                  <a:ext cx="49" cy="22"/>
                  <a:chOff x="1023" y="3703"/>
                  <a:chExt cx="49" cy="22"/>
                </a:xfrm>
              </p:grpSpPr>
              <p:sp>
                <p:nvSpPr>
                  <p:cNvPr id="9721" name="Freeform 191"/>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22" name="Freeform 192"/>
                  <p:cNvSpPr>
                    <a:spLocks/>
                  </p:cNvSpPr>
                  <p:nvPr/>
                </p:nvSpPr>
                <p:spPr bwMode="auto">
                  <a:xfrm>
                    <a:off x="1028" y="3703"/>
                    <a:ext cx="37" cy="10"/>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23" name="Freeform 193"/>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717" name="Group 194"/>
                <p:cNvGrpSpPr>
                  <a:grpSpLocks/>
                </p:cNvGrpSpPr>
                <p:nvPr/>
              </p:nvGrpSpPr>
              <p:grpSpPr bwMode="auto">
                <a:xfrm>
                  <a:off x="1036" y="3716"/>
                  <a:ext cx="49" cy="22"/>
                  <a:chOff x="1036" y="3716"/>
                  <a:chExt cx="49" cy="22"/>
                </a:xfrm>
              </p:grpSpPr>
              <p:sp>
                <p:nvSpPr>
                  <p:cNvPr id="9718" name="Freeform 195"/>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19" name="Freeform 196"/>
                  <p:cNvSpPr>
                    <a:spLocks/>
                  </p:cNvSpPr>
                  <p:nvPr/>
                </p:nvSpPr>
                <p:spPr bwMode="auto">
                  <a:xfrm>
                    <a:off x="1040" y="3716"/>
                    <a:ext cx="37" cy="10"/>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20" name="Freeform 197"/>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9369" name="Group 198"/>
              <p:cNvGrpSpPr>
                <a:grpSpLocks/>
              </p:cNvGrpSpPr>
              <p:nvPr/>
            </p:nvGrpSpPr>
            <p:grpSpPr bwMode="auto">
              <a:xfrm>
                <a:off x="1046" y="3727"/>
                <a:ext cx="49" cy="23"/>
                <a:chOff x="1046" y="3727"/>
                <a:chExt cx="49" cy="23"/>
              </a:xfrm>
            </p:grpSpPr>
            <p:sp>
              <p:nvSpPr>
                <p:cNvPr id="9710" name="Freeform 199"/>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11" name="Freeform 200"/>
                <p:cNvSpPr>
                  <a:spLocks/>
                </p:cNvSpPr>
                <p:nvPr/>
              </p:nvSpPr>
              <p:spPr bwMode="auto">
                <a:xfrm>
                  <a:off x="1051" y="3727"/>
                  <a:ext cx="36" cy="11"/>
                </a:xfrm>
                <a:custGeom>
                  <a:avLst/>
                  <a:gdLst>
                    <a:gd name="T0" fmla="*/ 0 w 73"/>
                    <a:gd name="T1" fmla="*/ 0 h 31"/>
                    <a:gd name="T2" fmla="*/ 1 w 73"/>
                    <a:gd name="T3" fmla="*/ 0 h 31"/>
                    <a:gd name="T4" fmla="*/ 1 w 73"/>
                    <a:gd name="T5" fmla="*/ 0 h 31"/>
                    <a:gd name="T6" fmla="*/ 1 w 73"/>
                    <a:gd name="T7" fmla="*/ 0 h 31"/>
                    <a:gd name="T8" fmla="*/ 2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12" name="Freeform 201"/>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3 w 82"/>
                    <a:gd name="T9" fmla="*/ 0 h 35"/>
                    <a:gd name="T10" fmla="*/ 3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70" name="Group 202"/>
              <p:cNvGrpSpPr>
                <a:grpSpLocks/>
              </p:cNvGrpSpPr>
              <p:nvPr/>
            </p:nvGrpSpPr>
            <p:grpSpPr bwMode="auto">
              <a:xfrm>
                <a:off x="1058" y="3739"/>
                <a:ext cx="50" cy="23"/>
                <a:chOff x="1058" y="3739"/>
                <a:chExt cx="50" cy="23"/>
              </a:xfrm>
            </p:grpSpPr>
            <p:sp>
              <p:nvSpPr>
                <p:cNvPr id="9707" name="Freeform 203"/>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08" name="Freeform 204"/>
                <p:cNvSpPr>
                  <a:spLocks/>
                </p:cNvSpPr>
                <p:nvPr/>
              </p:nvSpPr>
              <p:spPr bwMode="auto">
                <a:xfrm>
                  <a:off x="1063" y="3740"/>
                  <a:ext cx="37" cy="10"/>
                </a:xfrm>
                <a:custGeom>
                  <a:avLst/>
                  <a:gdLst>
                    <a:gd name="T0" fmla="*/ 0 w 75"/>
                    <a:gd name="T1" fmla="*/ 0 h 30"/>
                    <a:gd name="T2" fmla="*/ 1 w 75"/>
                    <a:gd name="T3" fmla="*/ 0 h 30"/>
                    <a:gd name="T4" fmla="*/ 1 w 75"/>
                    <a:gd name="T5" fmla="*/ 0 h 30"/>
                    <a:gd name="T6" fmla="*/ 1 w 75"/>
                    <a:gd name="T7" fmla="*/ 0 h 30"/>
                    <a:gd name="T8" fmla="*/ 2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09" name="Freeform 205"/>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71" name="Group 206"/>
              <p:cNvGrpSpPr>
                <a:grpSpLocks/>
              </p:cNvGrpSpPr>
              <p:nvPr/>
            </p:nvGrpSpPr>
            <p:grpSpPr bwMode="auto">
              <a:xfrm>
                <a:off x="1072" y="3753"/>
                <a:ext cx="48" cy="22"/>
                <a:chOff x="1072" y="3753"/>
                <a:chExt cx="48" cy="22"/>
              </a:xfrm>
            </p:grpSpPr>
            <p:sp>
              <p:nvSpPr>
                <p:cNvPr id="9704" name="Freeform 207"/>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05" name="Freeform 208"/>
                <p:cNvSpPr>
                  <a:spLocks/>
                </p:cNvSpPr>
                <p:nvPr/>
              </p:nvSpPr>
              <p:spPr bwMode="auto">
                <a:xfrm>
                  <a:off x="1076" y="3753"/>
                  <a:ext cx="37" cy="10"/>
                </a:xfrm>
                <a:custGeom>
                  <a:avLst/>
                  <a:gdLst>
                    <a:gd name="T0" fmla="*/ 1 w 74"/>
                    <a:gd name="T1" fmla="*/ 0 h 31"/>
                    <a:gd name="T2" fmla="*/ 2 w 74"/>
                    <a:gd name="T3" fmla="*/ 0 h 31"/>
                    <a:gd name="T4" fmla="*/ 2 w 74"/>
                    <a:gd name="T5" fmla="*/ 0 h 31"/>
                    <a:gd name="T6" fmla="*/ 2 w 74"/>
                    <a:gd name="T7" fmla="*/ 0 h 31"/>
                    <a:gd name="T8" fmla="*/ 3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06" name="Freeform 209"/>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372" name="Freeform 210"/>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73" name="Freeform 211"/>
              <p:cNvSpPr>
                <a:spLocks/>
              </p:cNvSpPr>
              <p:nvPr/>
            </p:nvSpPr>
            <p:spPr bwMode="auto">
              <a:xfrm>
                <a:off x="825" y="3535"/>
                <a:ext cx="36" cy="9"/>
              </a:xfrm>
              <a:custGeom>
                <a:avLst/>
                <a:gdLst>
                  <a:gd name="T0" fmla="*/ 0 w 71"/>
                  <a:gd name="T1" fmla="*/ 0 h 27"/>
                  <a:gd name="T2" fmla="*/ 2 w 71"/>
                  <a:gd name="T3" fmla="*/ 0 h 27"/>
                  <a:gd name="T4" fmla="*/ 2 w 71"/>
                  <a:gd name="T5" fmla="*/ 0 h 27"/>
                  <a:gd name="T6" fmla="*/ 2 w 71"/>
                  <a:gd name="T7" fmla="*/ 0 h 27"/>
                  <a:gd name="T8" fmla="*/ 3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74" name="Freeform 212"/>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375" name="Group 213"/>
              <p:cNvGrpSpPr>
                <a:grpSpLocks/>
              </p:cNvGrpSpPr>
              <p:nvPr/>
            </p:nvGrpSpPr>
            <p:grpSpPr bwMode="auto">
              <a:xfrm>
                <a:off x="832" y="3547"/>
                <a:ext cx="49" cy="23"/>
                <a:chOff x="832" y="3547"/>
                <a:chExt cx="49" cy="23"/>
              </a:xfrm>
            </p:grpSpPr>
            <p:sp>
              <p:nvSpPr>
                <p:cNvPr id="9701" name="Freeform 214"/>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02" name="Freeform 215"/>
                <p:cNvSpPr>
                  <a:spLocks/>
                </p:cNvSpPr>
                <p:nvPr/>
              </p:nvSpPr>
              <p:spPr bwMode="auto">
                <a:xfrm>
                  <a:off x="837" y="3548"/>
                  <a:ext cx="36" cy="10"/>
                </a:xfrm>
                <a:custGeom>
                  <a:avLst/>
                  <a:gdLst>
                    <a:gd name="T0" fmla="*/ 1 w 72"/>
                    <a:gd name="T1" fmla="*/ 0 h 29"/>
                    <a:gd name="T2" fmla="*/ 2 w 72"/>
                    <a:gd name="T3" fmla="*/ 0 h 29"/>
                    <a:gd name="T4" fmla="*/ 2 w 72"/>
                    <a:gd name="T5" fmla="*/ 0 h 29"/>
                    <a:gd name="T6" fmla="*/ 2 w 72"/>
                    <a:gd name="T7" fmla="*/ 0 h 29"/>
                    <a:gd name="T8" fmla="*/ 3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03" name="Freeform 216"/>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76" name="Group 217"/>
              <p:cNvGrpSpPr>
                <a:grpSpLocks/>
              </p:cNvGrpSpPr>
              <p:nvPr/>
            </p:nvGrpSpPr>
            <p:grpSpPr bwMode="auto">
              <a:xfrm>
                <a:off x="844" y="3560"/>
                <a:ext cx="49" cy="22"/>
                <a:chOff x="844" y="3560"/>
                <a:chExt cx="49" cy="22"/>
              </a:xfrm>
            </p:grpSpPr>
            <p:sp>
              <p:nvSpPr>
                <p:cNvPr id="9698" name="Freeform 218"/>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99" name="Freeform 219"/>
                <p:cNvSpPr>
                  <a:spLocks/>
                </p:cNvSpPr>
                <p:nvPr/>
              </p:nvSpPr>
              <p:spPr bwMode="auto">
                <a:xfrm>
                  <a:off x="849" y="3560"/>
                  <a:ext cx="37" cy="10"/>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00" name="Freeform 220"/>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2 w 82"/>
                    <a:gd name="T9" fmla="*/ 0 h 35"/>
                    <a:gd name="T10" fmla="*/ 2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77" name="Group 221"/>
              <p:cNvGrpSpPr>
                <a:grpSpLocks/>
              </p:cNvGrpSpPr>
              <p:nvPr/>
            </p:nvGrpSpPr>
            <p:grpSpPr bwMode="auto">
              <a:xfrm>
                <a:off x="857" y="3572"/>
                <a:ext cx="50" cy="23"/>
                <a:chOff x="857" y="3572"/>
                <a:chExt cx="50" cy="23"/>
              </a:xfrm>
            </p:grpSpPr>
            <p:sp>
              <p:nvSpPr>
                <p:cNvPr id="9695" name="Freeform 222"/>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96" name="Freeform 223"/>
                <p:cNvSpPr>
                  <a:spLocks/>
                </p:cNvSpPr>
                <p:nvPr/>
              </p:nvSpPr>
              <p:spPr bwMode="auto">
                <a:xfrm>
                  <a:off x="862" y="3573"/>
                  <a:ext cx="37" cy="9"/>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97" name="Freeform 224"/>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78" name="Group 225"/>
              <p:cNvGrpSpPr>
                <a:grpSpLocks/>
              </p:cNvGrpSpPr>
              <p:nvPr/>
            </p:nvGrpSpPr>
            <p:grpSpPr bwMode="auto">
              <a:xfrm>
                <a:off x="870" y="3585"/>
                <a:ext cx="48" cy="23"/>
                <a:chOff x="870" y="3585"/>
                <a:chExt cx="48" cy="23"/>
              </a:xfrm>
            </p:grpSpPr>
            <p:sp>
              <p:nvSpPr>
                <p:cNvPr id="9692" name="Freeform 226"/>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93" name="Freeform 227"/>
                <p:cNvSpPr>
                  <a:spLocks/>
                </p:cNvSpPr>
                <p:nvPr/>
              </p:nvSpPr>
              <p:spPr bwMode="auto">
                <a:xfrm>
                  <a:off x="874" y="3586"/>
                  <a:ext cx="38" cy="10"/>
                </a:xfrm>
                <a:custGeom>
                  <a:avLst/>
                  <a:gdLst>
                    <a:gd name="T0" fmla="*/ 1 w 75"/>
                    <a:gd name="T1" fmla="*/ 0 h 29"/>
                    <a:gd name="T2" fmla="*/ 2 w 75"/>
                    <a:gd name="T3" fmla="*/ 0 h 29"/>
                    <a:gd name="T4" fmla="*/ 2 w 75"/>
                    <a:gd name="T5" fmla="*/ 0 h 29"/>
                    <a:gd name="T6" fmla="*/ 2 w 75"/>
                    <a:gd name="T7" fmla="*/ 0 h 29"/>
                    <a:gd name="T8" fmla="*/ 3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94" name="Freeform 228"/>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3 w 80"/>
                    <a:gd name="T9" fmla="*/ 0 h 36"/>
                    <a:gd name="T10" fmla="*/ 3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79" name="Group 229"/>
              <p:cNvGrpSpPr>
                <a:grpSpLocks/>
              </p:cNvGrpSpPr>
              <p:nvPr/>
            </p:nvGrpSpPr>
            <p:grpSpPr bwMode="auto">
              <a:xfrm>
                <a:off x="882" y="3600"/>
                <a:ext cx="100" cy="73"/>
                <a:chOff x="882" y="3600"/>
                <a:chExt cx="100" cy="73"/>
              </a:xfrm>
            </p:grpSpPr>
            <p:grpSp>
              <p:nvGrpSpPr>
                <p:cNvPr id="9672" name="Group 230"/>
                <p:cNvGrpSpPr>
                  <a:grpSpLocks/>
                </p:cNvGrpSpPr>
                <p:nvPr/>
              </p:nvGrpSpPr>
              <p:grpSpPr bwMode="auto">
                <a:xfrm>
                  <a:off x="882" y="3600"/>
                  <a:ext cx="49" cy="23"/>
                  <a:chOff x="882" y="3600"/>
                  <a:chExt cx="49" cy="23"/>
                </a:xfrm>
              </p:grpSpPr>
              <p:sp>
                <p:nvSpPr>
                  <p:cNvPr id="9689" name="Freeform 231"/>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90" name="Freeform 232"/>
                  <p:cNvSpPr>
                    <a:spLocks/>
                  </p:cNvSpPr>
                  <p:nvPr/>
                </p:nvSpPr>
                <p:spPr bwMode="auto">
                  <a:xfrm>
                    <a:off x="887" y="3600"/>
                    <a:ext cx="37" cy="11"/>
                  </a:xfrm>
                  <a:custGeom>
                    <a:avLst/>
                    <a:gdLst>
                      <a:gd name="T0" fmla="*/ 1 w 73"/>
                      <a:gd name="T1" fmla="*/ 0 h 31"/>
                      <a:gd name="T2" fmla="*/ 2 w 73"/>
                      <a:gd name="T3" fmla="*/ 0 h 31"/>
                      <a:gd name="T4" fmla="*/ 2 w 73"/>
                      <a:gd name="T5" fmla="*/ 0 h 31"/>
                      <a:gd name="T6" fmla="*/ 2 w 73"/>
                      <a:gd name="T7" fmla="*/ 0 h 31"/>
                      <a:gd name="T8" fmla="*/ 3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91" name="Freeform 233"/>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2 w 83"/>
                      <a:gd name="T9" fmla="*/ 0 h 38"/>
                      <a:gd name="T10" fmla="*/ 2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73" name="Group 234"/>
                <p:cNvGrpSpPr>
                  <a:grpSpLocks/>
                </p:cNvGrpSpPr>
                <p:nvPr/>
              </p:nvGrpSpPr>
              <p:grpSpPr bwMode="auto">
                <a:xfrm>
                  <a:off x="894" y="3612"/>
                  <a:ext cx="49" cy="23"/>
                  <a:chOff x="894" y="3612"/>
                  <a:chExt cx="49" cy="23"/>
                </a:xfrm>
              </p:grpSpPr>
              <p:sp>
                <p:nvSpPr>
                  <p:cNvPr id="9686" name="Freeform 235"/>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87" name="Freeform 236"/>
                  <p:cNvSpPr>
                    <a:spLocks/>
                  </p:cNvSpPr>
                  <p:nvPr/>
                </p:nvSpPr>
                <p:spPr bwMode="auto">
                  <a:xfrm>
                    <a:off x="899" y="3613"/>
                    <a:ext cx="37" cy="10"/>
                  </a:xfrm>
                  <a:custGeom>
                    <a:avLst/>
                    <a:gdLst>
                      <a:gd name="T0" fmla="*/ 0 w 75"/>
                      <a:gd name="T1" fmla="*/ 0 h 32"/>
                      <a:gd name="T2" fmla="*/ 1 w 75"/>
                      <a:gd name="T3" fmla="*/ 0 h 32"/>
                      <a:gd name="T4" fmla="*/ 1 w 75"/>
                      <a:gd name="T5" fmla="*/ 0 h 32"/>
                      <a:gd name="T6" fmla="*/ 1 w 75"/>
                      <a:gd name="T7" fmla="*/ 0 h 32"/>
                      <a:gd name="T8" fmla="*/ 2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88" name="Freeform 237"/>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74" name="Group 238"/>
                <p:cNvGrpSpPr>
                  <a:grpSpLocks/>
                </p:cNvGrpSpPr>
                <p:nvPr/>
              </p:nvGrpSpPr>
              <p:grpSpPr bwMode="auto">
                <a:xfrm>
                  <a:off x="907" y="3625"/>
                  <a:ext cx="49" cy="23"/>
                  <a:chOff x="907" y="3625"/>
                  <a:chExt cx="49" cy="23"/>
                </a:xfrm>
              </p:grpSpPr>
              <p:sp>
                <p:nvSpPr>
                  <p:cNvPr id="9683" name="Freeform 239"/>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84" name="Freeform 240"/>
                  <p:cNvSpPr>
                    <a:spLocks/>
                  </p:cNvSpPr>
                  <p:nvPr/>
                </p:nvSpPr>
                <p:spPr bwMode="auto">
                  <a:xfrm>
                    <a:off x="912" y="3626"/>
                    <a:ext cx="36" cy="9"/>
                  </a:xfrm>
                  <a:custGeom>
                    <a:avLst/>
                    <a:gdLst>
                      <a:gd name="T0" fmla="*/ 1 w 72"/>
                      <a:gd name="T1" fmla="*/ 0 h 29"/>
                      <a:gd name="T2" fmla="*/ 2 w 72"/>
                      <a:gd name="T3" fmla="*/ 0 h 29"/>
                      <a:gd name="T4" fmla="*/ 2 w 72"/>
                      <a:gd name="T5" fmla="*/ 0 h 29"/>
                      <a:gd name="T6" fmla="*/ 2 w 72"/>
                      <a:gd name="T7" fmla="*/ 0 h 29"/>
                      <a:gd name="T8" fmla="*/ 3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85" name="Freeform 241"/>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75" name="Group 242"/>
                <p:cNvGrpSpPr>
                  <a:grpSpLocks/>
                </p:cNvGrpSpPr>
                <p:nvPr/>
              </p:nvGrpSpPr>
              <p:grpSpPr bwMode="auto">
                <a:xfrm>
                  <a:off x="919" y="3638"/>
                  <a:ext cx="49" cy="22"/>
                  <a:chOff x="919" y="3638"/>
                  <a:chExt cx="49" cy="22"/>
                </a:xfrm>
              </p:grpSpPr>
              <p:sp>
                <p:nvSpPr>
                  <p:cNvPr id="9680" name="Freeform 243"/>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81" name="Freeform 244"/>
                  <p:cNvSpPr>
                    <a:spLocks/>
                  </p:cNvSpPr>
                  <p:nvPr/>
                </p:nvSpPr>
                <p:spPr bwMode="auto">
                  <a:xfrm>
                    <a:off x="924" y="3638"/>
                    <a:ext cx="37" cy="10"/>
                  </a:xfrm>
                  <a:custGeom>
                    <a:avLst/>
                    <a:gdLst>
                      <a:gd name="T0" fmla="*/ 1 w 73"/>
                      <a:gd name="T1" fmla="*/ 0 h 30"/>
                      <a:gd name="T2" fmla="*/ 2 w 73"/>
                      <a:gd name="T3" fmla="*/ 0 h 30"/>
                      <a:gd name="T4" fmla="*/ 2 w 73"/>
                      <a:gd name="T5" fmla="*/ 0 h 30"/>
                      <a:gd name="T6" fmla="*/ 2 w 73"/>
                      <a:gd name="T7" fmla="*/ 0 h 30"/>
                      <a:gd name="T8" fmla="*/ 3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82" name="Freeform 245"/>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76" name="Group 246"/>
                <p:cNvGrpSpPr>
                  <a:grpSpLocks/>
                </p:cNvGrpSpPr>
                <p:nvPr/>
              </p:nvGrpSpPr>
              <p:grpSpPr bwMode="auto">
                <a:xfrm>
                  <a:off x="932" y="3651"/>
                  <a:ext cx="50" cy="22"/>
                  <a:chOff x="932" y="3651"/>
                  <a:chExt cx="50" cy="22"/>
                </a:xfrm>
              </p:grpSpPr>
              <p:sp>
                <p:nvSpPr>
                  <p:cNvPr id="9677" name="Freeform 247"/>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78" name="Freeform 248"/>
                  <p:cNvSpPr>
                    <a:spLocks/>
                  </p:cNvSpPr>
                  <p:nvPr/>
                </p:nvSpPr>
                <p:spPr bwMode="auto">
                  <a:xfrm>
                    <a:off x="937" y="3651"/>
                    <a:ext cx="37" cy="10"/>
                  </a:xfrm>
                  <a:custGeom>
                    <a:avLst/>
                    <a:gdLst>
                      <a:gd name="T0" fmla="*/ 1 w 72"/>
                      <a:gd name="T1" fmla="*/ 0 h 29"/>
                      <a:gd name="T2" fmla="*/ 2 w 72"/>
                      <a:gd name="T3" fmla="*/ 0 h 29"/>
                      <a:gd name="T4" fmla="*/ 2 w 72"/>
                      <a:gd name="T5" fmla="*/ 0 h 29"/>
                      <a:gd name="T6" fmla="*/ 2 w 72"/>
                      <a:gd name="T7" fmla="*/ 0 h 29"/>
                      <a:gd name="T8" fmla="*/ 3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79" name="Freeform 249"/>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3 w 83"/>
                      <a:gd name="T9" fmla="*/ 0 h 35"/>
                      <a:gd name="T10" fmla="*/ 3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9380" name="Group 250"/>
              <p:cNvGrpSpPr>
                <a:grpSpLocks/>
              </p:cNvGrpSpPr>
              <p:nvPr/>
            </p:nvGrpSpPr>
            <p:grpSpPr bwMode="auto">
              <a:xfrm>
                <a:off x="944" y="3665"/>
                <a:ext cx="99" cy="74"/>
                <a:chOff x="944" y="3665"/>
                <a:chExt cx="99" cy="74"/>
              </a:xfrm>
            </p:grpSpPr>
            <p:grpSp>
              <p:nvGrpSpPr>
                <p:cNvPr id="9652" name="Group 251"/>
                <p:cNvGrpSpPr>
                  <a:grpSpLocks/>
                </p:cNvGrpSpPr>
                <p:nvPr/>
              </p:nvGrpSpPr>
              <p:grpSpPr bwMode="auto">
                <a:xfrm>
                  <a:off x="944" y="3665"/>
                  <a:ext cx="49" cy="23"/>
                  <a:chOff x="944" y="3665"/>
                  <a:chExt cx="49" cy="23"/>
                </a:xfrm>
              </p:grpSpPr>
              <p:sp>
                <p:nvSpPr>
                  <p:cNvPr id="9669" name="Freeform 252"/>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70" name="Freeform 253"/>
                  <p:cNvSpPr>
                    <a:spLocks/>
                  </p:cNvSpPr>
                  <p:nvPr/>
                </p:nvSpPr>
                <p:spPr bwMode="auto">
                  <a:xfrm>
                    <a:off x="949" y="3666"/>
                    <a:ext cx="37" cy="10"/>
                  </a:xfrm>
                  <a:custGeom>
                    <a:avLst/>
                    <a:gdLst>
                      <a:gd name="T0" fmla="*/ 0 w 75"/>
                      <a:gd name="T1" fmla="*/ 0 h 31"/>
                      <a:gd name="T2" fmla="*/ 1 w 75"/>
                      <a:gd name="T3" fmla="*/ 0 h 31"/>
                      <a:gd name="T4" fmla="*/ 1 w 75"/>
                      <a:gd name="T5" fmla="*/ 0 h 31"/>
                      <a:gd name="T6" fmla="*/ 1 w 75"/>
                      <a:gd name="T7" fmla="*/ 0 h 31"/>
                      <a:gd name="T8" fmla="*/ 2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71" name="Freeform 254"/>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53" name="Group 255"/>
                <p:cNvGrpSpPr>
                  <a:grpSpLocks/>
                </p:cNvGrpSpPr>
                <p:nvPr/>
              </p:nvGrpSpPr>
              <p:grpSpPr bwMode="auto">
                <a:xfrm>
                  <a:off x="957" y="3678"/>
                  <a:ext cx="48" cy="23"/>
                  <a:chOff x="957" y="3678"/>
                  <a:chExt cx="48" cy="23"/>
                </a:xfrm>
              </p:grpSpPr>
              <p:sp>
                <p:nvSpPr>
                  <p:cNvPr id="9666" name="Freeform 256"/>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67" name="Freeform 257"/>
                  <p:cNvSpPr>
                    <a:spLocks/>
                  </p:cNvSpPr>
                  <p:nvPr/>
                </p:nvSpPr>
                <p:spPr bwMode="auto">
                  <a:xfrm>
                    <a:off x="961" y="3678"/>
                    <a:ext cx="37" cy="10"/>
                  </a:xfrm>
                  <a:custGeom>
                    <a:avLst/>
                    <a:gdLst>
                      <a:gd name="T0" fmla="*/ 1 w 74"/>
                      <a:gd name="T1" fmla="*/ 0 h 30"/>
                      <a:gd name="T2" fmla="*/ 2 w 74"/>
                      <a:gd name="T3" fmla="*/ 0 h 30"/>
                      <a:gd name="T4" fmla="*/ 2 w 74"/>
                      <a:gd name="T5" fmla="*/ 0 h 30"/>
                      <a:gd name="T6" fmla="*/ 2 w 74"/>
                      <a:gd name="T7" fmla="*/ 0 h 30"/>
                      <a:gd name="T8" fmla="*/ 3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68" name="Freeform 258"/>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3 w 82"/>
                      <a:gd name="T9" fmla="*/ 0 h 38"/>
                      <a:gd name="T10" fmla="*/ 3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54" name="Group 259"/>
                <p:cNvGrpSpPr>
                  <a:grpSpLocks/>
                </p:cNvGrpSpPr>
                <p:nvPr/>
              </p:nvGrpSpPr>
              <p:grpSpPr bwMode="auto">
                <a:xfrm>
                  <a:off x="969" y="3690"/>
                  <a:ext cx="49" cy="23"/>
                  <a:chOff x="969" y="3690"/>
                  <a:chExt cx="49" cy="23"/>
                </a:xfrm>
              </p:grpSpPr>
              <p:sp>
                <p:nvSpPr>
                  <p:cNvPr id="9663" name="Freeform 260"/>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64" name="Freeform 261"/>
                  <p:cNvSpPr>
                    <a:spLocks/>
                  </p:cNvSpPr>
                  <p:nvPr/>
                </p:nvSpPr>
                <p:spPr bwMode="auto">
                  <a:xfrm>
                    <a:off x="974" y="3691"/>
                    <a:ext cx="37" cy="10"/>
                  </a:xfrm>
                  <a:custGeom>
                    <a:avLst/>
                    <a:gdLst>
                      <a:gd name="T0" fmla="*/ 0 w 75"/>
                      <a:gd name="T1" fmla="*/ 0 h 31"/>
                      <a:gd name="T2" fmla="*/ 1 w 75"/>
                      <a:gd name="T3" fmla="*/ 0 h 31"/>
                      <a:gd name="T4" fmla="*/ 1 w 75"/>
                      <a:gd name="T5" fmla="*/ 0 h 31"/>
                      <a:gd name="T6" fmla="*/ 1 w 75"/>
                      <a:gd name="T7" fmla="*/ 0 h 31"/>
                      <a:gd name="T8" fmla="*/ 2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65" name="Freeform 262"/>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55" name="Group 263"/>
                <p:cNvGrpSpPr>
                  <a:grpSpLocks/>
                </p:cNvGrpSpPr>
                <p:nvPr/>
              </p:nvGrpSpPr>
              <p:grpSpPr bwMode="auto">
                <a:xfrm>
                  <a:off x="982" y="3703"/>
                  <a:ext cx="49" cy="23"/>
                  <a:chOff x="982" y="3703"/>
                  <a:chExt cx="49" cy="23"/>
                </a:xfrm>
              </p:grpSpPr>
              <p:sp>
                <p:nvSpPr>
                  <p:cNvPr id="9660" name="Freeform 264"/>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61" name="Freeform 265"/>
                  <p:cNvSpPr>
                    <a:spLocks/>
                  </p:cNvSpPr>
                  <p:nvPr/>
                </p:nvSpPr>
                <p:spPr bwMode="auto">
                  <a:xfrm>
                    <a:off x="987" y="3703"/>
                    <a:ext cx="37" cy="10"/>
                  </a:xfrm>
                  <a:custGeom>
                    <a:avLst/>
                    <a:gdLst>
                      <a:gd name="T0" fmla="*/ 1 w 73"/>
                      <a:gd name="T1" fmla="*/ 0 h 30"/>
                      <a:gd name="T2" fmla="*/ 2 w 73"/>
                      <a:gd name="T3" fmla="*/ 0 h 30"/>
                      <a:gd name="T4" fmla="*/ 2 w 73"/>
                      <a:gd name="T5" fmla="*/ 0 h 30"/>
                      <a:gd name="T6" fmla="*/ 2 w 73"/>
                      <a:gd name="T7" fmla="*/ 0 h 30"/>
                      <a:gd name="T8" fmla="*/ 3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62" name="Freeform 266"/>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56" name="Group 267"/>
                <p:cNvGrpSpPr>
                  <a:grpSpLocks/>
                </p:cNvGrpSpPr>
                <p:nvPr/>
              </p:nvGrpSpPr>
              <p:grpSpPr bwMode="auto">
                <a:xfrm>
                  <a:off x="995" y="3716"/>
                  <a:ext cx="48" cy="23"/>
                  <a:chOff x="995" y="3716"/>
                  <a:chExt cx="48" cy="23"/>
                </a:xfrm>
              </p:grpSpPr>
              <p:sp>
                <p:nvSpPr>
                  <p:cNvPr id="9657" name="Freeform 268"/>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58" name="Freeform 269"/>
                  <p:cNvSpPr>
                    <a:spLocks/>
                  </p:cNvSpPr>
                  <p:nvPr/>
                </p:nvSpPr>
                <p:spPr bwMode="auto">
                  <a:xfrm>
                    <a:off x="999" y="3717"/>
                    <a:ext cx="38" cy="9"/>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59" name="Freeform 270"/>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9381" name="Group 271"/>
              <p:cNvGrpSpPr>
                <a:grpSpLocks/>
              </p:cNvGrpSpPr>
              <p:nvPr/>
            </p:nvGrpSpPr>
            <p:grpSpPr bwMode="auto">
              <a:xfrm>
                <a:off x="1005" y="3727"/>
                <a:ext cx="49" cy="23"/>
                <a:chOff x="1005" y="3727"/>
                <a:chExt cx="49" cy="23"/>
              </a:xfrm>
            </p:grpSpPr>
            <p:sp>
              <p:nvSpPr>
                <p:cNvPr id="9649" name="Freeform 272"/>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50" name="Freeform 273"/>
                <p:cNvSpPr>
                  <a:spLocks/>
                </p:cNvSpPr>
                <p:nvPr/>
              </p:nvSpPr>
              <p:spPr bwMode="auto">
                <a:xfrm>
                  <a:off x="1010" y="3728"/>
                  <a:ext cx="37" cy="10"/>
                </a:xfrm>
                <a:custGeom>
                  <a:avLst/>
                  <a:gdLst>
                    <a:gd name="T0" fmla="*/ 1 w 73"/>
                    <a:gd name="T1" fmla="*/ 0 h 31"/>
                    <a:gd name="T2" fmla="*/ 2 w 73"/>
                    <a:gd name="T3" fmla="*/ 0 h 31"/>
                    <a:gd name="T4" fmla="*/ 2 w 73"/>
                    <a:gd name="T5" fmla="*/ 0 h 31"/>
                    <a:gd name="T6" fmla="*/ 2 w 73"/>
                    <a:gd name="T7" fmla="*/ 0 h 31"/>
                    <a:gd name="T8" fmla="*/ 3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51" name="Freeform 274"/>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82" name="Group 275"/>
              <p:cNvGrpSpPr>
                <a:grpSpLocks/>
              </p:cNvGrpSpPr>
              <p:nvPr/>
            </p:nvGrpSpPr>
            <p:grpSpPr bwMode="auto">
              <a:xfrm>
                <a:off x="1018" y="3740"/>
                <a:ext cx="49" cy="22"/>
                <a:chOff x="1018" y="3740"/>
                <a:chExt cx="49" cy="22"/>
              </a:xfrm>
            </p:grpSpPr>
            <p:sp>
              <p:nvSpPr>
                <p:cNvPr id="9646" name="Freeform 276"/>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47" name="Freeform 277"/>
                <p:cNvSpPr>
                  <a:spLocks/>
                </p:cNvSpPr>
                <p:nvPr/>
              </p:nvSpPr>
              <p:spPr bwMode="auto">
                <a:xfrm>
                  <a:off x="1022" y="3740"/>
                  <a:ext cx="38" cy="10"/>
                </a:xfrm>
                <a:custGeom>
                  <a:avLst/>
                  <a:gdLst>
                    <a:gd name="T0" fmla="*/ 1 w 74"/>
                    <a:gd name="T1" fmla="*/ 0 h 31"/>
                    <a:gd name="T2" fmla="*/ 2 w 74"/>
                    <a:gd name="T3" fmla="*/ 0 h 31"/>
                    <a:gd name="T4" fmla="*/ 2 w 74"/>
                    <a:gd name="T5" fmla="*/ 0 h 31"/>
                    <a:gd name="T6" fmla="*/ 2 w 74"/>
                    <a:gd name="T7" fmla="*/ 0 h 31"/>
                    <a:gd name="T8" fmla="*/ 3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48" name="Freeform 278"/>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83" name="Group 279"/>
              <p:cNvGrpSpPr>
                <a:grpSpLocks/>
              </p:cNvGrpSpPr>
              <p:nvPr/>
            </p:nvGrpSpPr>
            <p:grpSpPr bwMode="auto">
              <a:xfrm>
                <a:off x="1030" y="3753"/>
                <a:ext cx="49" cy="23"/>
                <a:chOff x="1030" y="3753"/>
                <a:chExt cx="49" cy="23"/>
              </a:xfrm>
            </p:grpSpPr>
            <p:sp>
              <p:nvSpPr>
                <p:cNvPr id="9643" name="Freeform 280"/>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44" name="Freeform 281"/>
                <p:cNvSpPr>
                  <a:spLocks/>
                </p:cNvSpPr>
                <p:nvPr/>
              </p:nvSpPr>
              <p:spPr bwMode="auto">
                <a:xfrm>
                  <a:off x="1035" y="3753"/>
                  <a:ext cx="37" cy="11"/>
                </a:xfrm>
                <a:custGeom>
                  <a:avLst/>
                  <a:gdLst>
                    <a:gd name="T0" fmla="*/ 1 w 74"/>
                    <a:gd name="T1" fmla="*/ 0 h 31"/>
                    <a:gd name="T2" fmla="*/ 2 w 74"/>
                    <a:gd name="T3" fmla="*/ 0 h 31"/>
                    <a:gd name="T4" fmla="*/ 2 w 74"/>
                    <a:gd name="T5" fmla="*/ 0 h 31"/>
                    <a:gd name="T6" fmla="*/ 2 w 74"/>
                    <a:gd name="T7" fmla="*/ 0 h 31"/>
                    <a:gd name="T8" fmla="*/ 3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45" name="Freeform 282"/>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2 w 82"/>
                    <a:gd name="T9" fmla="*/ 0 h 35"/>
                    <a:gd name="T10" fmla="*/ 2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384" name="Freeform 283"/>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85" name="Freeform 284"/>
              <p:cNvSpPr>
                <a:spLocks/>
              </p:cNvSpPr>
              <p:nvPr/>
            </p:nvSpPr>
            <p:spPr bwMode="auto">
              <a:xfrm>
                <a:off x="783" y="3535"/>
                <a:ext cx="36" cy="11"/>
              </a:xfrm>
              <a:custGeom>
                <a:avLst/>
                <a:gdLst>
                  <a:gd name="T0" fmla="*/ 1 w 72"/>
                  <a:gd name="T1" fmla="*/ 0 h 31"/>
                  <a:gd name="T2" fmla="*/ 2 w 72"/>
                  <a:gd name="T3" fmla="*/ 0 h 31"/>
                  <a:gd name="T4" fmla="*/ 2 w 72"/>
                  <a:gd name="T5" fmla="*/ 0 h 31"/>
                  <a:gd name="T6" fmla="*/ 2 w 72"/>
                  <a:gd name="T7" fmla="*/ 0 h 31"/>
                  <a:gd name="T8" fmla="*/ 3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86" name="Freeform 285"/>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387" name="Group 286"/>
              <p:cNvGrpSpPr>
                <a:grpSpLocks/>
              </p:cNvGrpSpPr>
              <p:nvPr/>
            </p:nvGrpSpPr>
            <p:grpSpPr bwMode="auto">
              <a:xfrm>
                <a:off x="790" y="3547"/>
                <a:ext cx="49" cy="23"/>
                <a:chOff x="790" y="3547"/>
                <a:chExt cx="49" cy="23"/>
              </a:xfrm>
            </p:grpSpPr>
            <p:sp>
              <p:nvSpPr>
                <p:cNvPr id="9640" name="Freeform 287"/>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41" name="Freeform 288"/>
                <p:cNvSpPr>
                  <a:spLocks/>
                </p:cNvSpPr>
                <p:nvPr/>
              </p:nvSpPr>
              <p:spPr bwMode="auto">
                <a:xfrm>
                  <a:off x="795" y="3548"/>
                  <a:ext cx="37" cy="10"/>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42" name="Freeform 289"/>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88" name="Group 290"/>
              <p:cNvGrpSpPr>
                <a:grpSpLocks/>
              </p:cNvGrpSpPr>
              <p:nvPr/>
            </p:nvGrpSpPr>
            <p:grpSpPr bwMode="auto">
              <a:xfrm>
                <a:off x="803" y="3560"/>
                <a:ext cx="49" cy="22"/>
                <a:chOff x="803" y="3560"/>
                <a:chExt cx="49" cy="22"/>
              </a:xfrm>
            </p:grpSpPr>
            <p:sp>
              <p:nvSpPr>
                <p:cNvPr id="9637" name="Freeform 291"/>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8" name="Freeform 292"/>
                <p:cNvSpPr>
                  <a:spLocks/>
                </p:cNvSpPr>
                <p:nvPr/>
              </p:nvSpPr>
              <p:spPr bwMode="auto">
                <a:xfrm>
                  <a:off x="808" y="3560"/>
                  <a:ext cx="36" cy="10"/>
                </a:xfrm>
                <a:custGeom>
                  <a:avLst/>
                  <a:gdLst>
                    <a:gd name="T0" fmla="*/ 1 w 72"/>
                    <a:gd name="T1" fmla="*/ 0 h 29"/>
                    <a:gd name="T2" fmla="*/ 2 w 72"/>
                    <a:gd name="T3" fmla="*/ 0 h 29"/>
                    <a:gd name="T4" fmla="*/ 2 w 72"/>
                    <a:gd name="T5" fmla="*/ 0 h 29"/>
                    <a:gd name="T6" fmla="*/ 2 w 72"/>
                    <a:gd name="T7" fmla="*/ 0 h 29"/>
                    <a:gd name="T8" fmla="*/ 3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9" name="Freeform 293"/>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2 w 83"/>
                    <a:gd name="T9" fmla="*/ 0 h 35"/>
                    <a:gd name="T10" fmla="*/ 2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89" name="Group 294"/>
              <p:cNvGrpSpPr>
                <a:grpSpLocks/>
              </p:cNvGrpSpPr>
              <p:nvPr/>
            </p:nvGrpSpPr>
            <p:grpSpPr bwMode="auto">
              <a:xfrm>
                <a:off x="815" y="3572"/>
                <a:ext cx="50" cy="23"/>
                <a:chOff x="815" y="3572"/>
                <a:chExt cx="50" cy="23"/>
              </a:xfrm>
            </p:grpSpPr>
            <p:sp>
              <p:nvSpPr>
                <p:cNvPr id="9634" name="Freeform 295"/>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5" name="Freeform 296"/>
                <p:cNvSpPr>
                  <a:spLocks/>
                </p:cNvSpPr>
                <p:nvPr/>
              </p:nvSpPr>
              <p:spPr bwMode="auto">
                <a:xfrm>
                  <a:off x="820" y="3573"/>
                  <a:ext cx="37" cy="9"/>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6" name="Freeform 297"/>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90" name="Group 298"/>
              <p:cNvGrpSpPr>
                <a:grpSpLocks/>
              </p:cNvGrpSpPr>
              <p:nvPr/>
            </p:nvGrpSpPr>
            <p:grpSpPr bwMode="auto">
              <a:xfrm>
                <a:off x="828" y="3585"/>
                <a:ext cx="49" cy="23"/>
                <a:chOff x="828" y="3585"/>
                <a:chExt cx="49" cy="23"/>
              </a:xfrm>
            </p:grpSpPr>
            <p:sp>
              <p:nvSpPr>
                <p:cNvPr id="9631" name="Freeform 299"/>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 name="Freeform 300"/>
                <p:cNvSpPr>
                  <a:spLocks/>
                </p:cNvSpPr>
                <p:nvPr/>
              </p:nvSpPr>
              <p:spPr bwMode="auto">
                <a:xfrm>
                  <a:off x="833" y="3586"/>
                  <a:ext cx="37" cy="10"/>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 name="Freeform 301"/>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3 w 80"/>
                    <a:gd name="T9" fmla="*/ 0 h 36"/>
                    <a:gd name="T10" fmla="*/ 3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91" name="Group 302"/>
              <p:cNvGrpSpPr>
                <a:grpSpLocks/>
              </p:cNvGrpSpPr>
              <p:nvPr/>
            </p:nvGrpSpPr>
            <p:grpSpPr bwMode="auto">
              <a:xfrm>
                <a:off x="840" y="3600"/>
                <a:ext cx="100" cy="73"/>
                <a:chOff x="840" y="3600"/>
                <a:chExt cx="100" cy="73"/>
              </a:xfrm>
            </p:grpSpPr>
            <p:grpSp>
              <p:nvGrpSpPr>
                <p:cNvPr id="9611" name="Group 303"/>
                <p:cNvGrpSpPr>
                  <a:grpSpLocks/>
                </p:cNvGrpSpPr>
                <p:nvPr/>
              </p:nvGrpSpPr>
              <p:grpSpPr bwMode="auto">
                <a:xfrm>
                  <a:off x="840" y="3600"/>
                  <a:ext cx="49" cy="23"/>
                  <a:chOff x="840" y="3600"/>
                  <a:chExt cx="49" cy="23"/>
                </a:xfrm>
              </p:grpSpPr>
              <p:sp>
                <p:nvSpPr>
                  <p:cNvPr id="9628" name="Freeform 304"/>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29" name="Freeform 305"/>
                  <p:cNvSpPr>
                    <a:spLocks/>
                  </p:cNvSpPr>
                  <p:nvPr/>
                </p:nvSpPr>
                <p:spPr bwMode="auto">
                  <a:xfrm>
                    <a:off x="845" y="3600"/>
                    <a:ext cx="37" cy="11"/>
                  </a:xfrm>
                  <a:custGeom>
                    <a:avLst/>
                    <a:gdLst>
                      <a:gd name="T0" fmla="*/ 0 w 75"/>
                      <a:gd name="T1" fmla="*/ 0 h 31"/>
                      <a:gd name="T2" fmla="*/ 1 w 75"/>
                      <a:gd name="T3" fmla="*/ 0 h 31"/>
                      <a:gd name="T4" fmla="*/ 1 w 75"/>
                      <a:gd name="T5" fmla="*/ 0 h 31"/>
                      <a:gd name="T6" fmla="*/ 1 w 75"/>
                      <a:gd name="T7" fmla="*/ 0 h 31"/>
                      <a:gd name="T8" fmla="*/ 2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0" name="Freeform 306"/>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3 w 82"/>
                      <a:gd name="T9" fmla="*/ 0 h 38"/>
                      <a:gd name="T10" fmla="*/ 3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12" name="Group 307"/>
                <p:cNvGrpSpPr>
                  <a:grpSpLocks/>
                </p:cNvGrpSpPr>
                <p:nvPr/>
              </p:nvGrpSpPr>
              <p:grpSpPr bwMode="auto">
                <a:xfrm>
                  <a:off x="853" y="3612"/>
                  <a:ext cx="48" cy="23"/>
                  <a:chOff x="853" y="3612"/>
                  <a:chExt cx="48" cy="23"/>
                </a:xfrm>
              </p:grpSpPr>
              <p:sp>
                <p:nvSpPr>
                  <p:cNvPr id="9625" name="Freeform 308"/>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26" name="Freeform 309"/>
                  <p:cNvSpPr>
                    <a:spLocks/>
                  </p:cNvSpPr>
                  <p:nvPr/>
                </p:nvSpPr>
                <p:spPr bwMode="auto">
                  <a:xfrm>
                    <a:off x="857" y="3613"/>
                    <a:ext cx="37" cy="10"/>
                  </a:xfrm>
                  <a:custGeom>
                    <a:avLst/>
                    <a:gdLst>
                      <a:gd name="T0" fmla="*/ 1 w 73"/>
                      <a:gd name="T1" fmla="*/ 0 h 32"/>
                      <a:gd name="T2" fmla="*/ 2 w 73"/>
                      <a:gd name="T3" fmla="*/ 0 h 32"/>
                      <a:gd name="T4" fmla="*/ 2 w 73"/>
                      <a:gd name="T5" fmla="*/ 0 h 32"/>
                      <a:gd name="T6" fmla="*/ 2 w 73"/>
                      <a:gd name="T7" fmla="*/ 0 h 32"/>
                      <a:gd name="T8" fmla="*/ 3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27" name="Freeform 310"/>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13" name="Group 311"/>
                <p:cNvGrpSpPr>
                  <a:grpSpLocks/>
                </p:cNvGrpSpPr>
                <p:nvPr/>
              </p:nvGrpSpPr>
              <p:grpSpPr bwMode="auto">
                <a:xfrm>
                  <a:off x="865" y="3625"/>
                  <a:ext cx="49" cy="23"/>
                  <a:chOff x="865" y="3625"/>
                  <a:chExt cx="49" cy="23"/>
                </a:xfrm>
              </p:grpSpPr>
              <p:sp>
                <p:nvSpPr>
                  <p:cNvPr id="9622" name="Freeform 312"/>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23" name="Freeform 313"/>
                  <p:cNvSpPr>
                    <a:spLocks/>
                  </p:cNvSpPr>
                  <p:nvPr/>
                </p:nvSpPr>
                <p:spPr bwMode="auto">
                  <a:xfrm>
                    <a:off x="870" y="3626"/>
                    <a:ext cx="37" cy="9"/>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24" name="Freeform 314"/>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14" name="Group 315"/>
                <p:cNvGrpSpPr>
                  <a:grpSpLocks/>
                </p:cNvGrpSpPr>
                <p:nvPr/>
              </p:nvGrpSpPr>
              <p:grpSpPr bwMode="auto">
                <a:xfrm>
                  <a:off x="878" y="3638"/>
                  <a:ext cx="49" cy="22"/>
                  <a:chOff x="878" y="3638"/>
                  <a:chExt cx="49" cy="22"/>
                </a:xfrm>
              </p:grpSpPr>
              <p:sp>
                <p:nvSpPr>
                  <p:cNvPr id="9619" name="Freeform 316"/>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20" name="Freeform 317"/>
                  <p:cNvSpPr>
                    <a:spLocks/>
                  </p:cNvSpPr>
                  <p:nvPr/>
                </p:nvSpPr>
                <p:spPr bwMode="auto">
                  <a:xfrm>
                    <a:off x="883" y="3638"/>
                    <a:ext cx="36" cy="10"/>
                  </a:xfrm>
                  <a:custGeom>
                    <a:avLst/>
                    <a:gdLst>
                      <a:gd name="T0" fmla="*/ 1 w 72"/>
                      <a:gd name="T1" fmla="*/ 0 h 30"/>
                      <a:gd name="T2" fmla="*/ 2 w 72"/>
                      <a:gd name="T3" fmla="*/ 0 h 30"/>
                      <a:gd name="T4" fmla="*/ 2 w 72"/>
                      <a:gd name="T5" fmla="*/ 0 h 30"/>
                      <a:gd name="T6" fmla="*/ 2 w 72"/>
                      <a:gd name="T7" fmla="*/ 0 h 30"/>
                      <a:gd name="T8" fmla="*/ 3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21" name="Freeform 318"/>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615" name="Group 319"/>
                <p:cNvGrpSpPr>
                  <a:grpSpLocks/>
                </p:cNvGrpSpPr>
                <p:nvPr/>
              </p:nvGrpSpPr>
              <p:grpSpPr bwMode="auto">
                <a:xfrm>
                  <a:off x="890" y="3651"/>
                  <a:ext cx="50" cy="22"/>
                  <a:chOff x="890" y="3651"/>
                  <a:chExt cx="50" cy="22"/>
                </a:xfrm>
              </p:grpSpPr>
              <p:sp>
                <p:nvSpPr>
                  <p:cNvPr id="9616" name="Freeform 320"/>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17" name="Freeform 321"/>
                  <p:cNvSpPr>
                    <a:spLocks/>
                  </p:cNvSpPr>
                  <p:nvPr/>
                </p:nvSpPr>
                <p:spPr bwMode="auto">
                  <a:xfrm>
                    <a:off x="895" y="3651"/>
                    <a:ext cx="37" cy="10"/>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18" name="Freeform 322"/>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2 w 83"/>
                      <a:gd name="T9" fmla="*/ 0 h 35"/>
                      <a:gd name="T10" fmla="*/ 2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9392" name="Group 323"/>
              <p:cNvGrpSpPr>
                <a:grpSpLocks/>
              </p:cNvGrpSpPr>
              <p:nvPr/>
            </p:nvGrpSpPr>
            <p:grpSpPr bwMode="auto">
              <a:xfrm>
                <a:off x="903" y="3665"/>
                <a:ext cx="99" cy="74"/>
                <a:chOff x="903" y="3665"/>
                <a:chExt cx="99" cy="74"/>
              </a:xfrm>
            </p:grpSpPr>
            <p:grpSp>
              <p:nvGrpSpPr>
                <p:cNvPr id="9591" name="Group 324"/>
                <p:cNvGrpSpPr>
                  <a:grpSpLocks/>
                </p:cNvGrpSpPr>
                <p:nvPr/>
              </p:nvGrpSpPr>
              <p:grpSpPr bwMode="auto">
                <a:xfrm>
                  <a:off x="903" y="3665"/>
                  <a:ext cx="49" cy="23"/>
                  <a:chOff x="903" y="3665"/>
                  <a:chExt cx="49" cy="23"/>
                </a:xfrm>
              </p:grpSpPr>
              <p:sp>
                <p:nvSpPr>
                  <p:cNvPr id="9608" name="Freeform 325"/>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09" name="Freeform 326"/>
                  <p:cNvSpPr>
                    <a:spLocks/>
                  </p:cNvSpPr>
                  <p:nvPr/>
                </p:nvSpPr>
                <p:spPr bwMode="auto">
                  <a:xfrm>
                    <a:off x="907" y="3666"/>
                    <a:ext cx="37" cy="10"/>
                  </a:xfrm>
                  <a:custGeom>
                    <a:avLst/>
                    <a:gdLst>
                      <a:gd name="T0" fmla="*/ 1 w 73"/>
                      <a:gd name="T1" fmla="*/ 0 h 31"/>
                      <a:gd name="T2" fmla="*/ 2 w 73"/>
                      <a:gd name="T3" fmla="*/ 0 h 31"/>
                      <a:gd name="T4" fmla="*/ 2 w 73"/>
                      <a:gd name="T5" fmla="*/ 0 h 31"/>
                      <a:gd name="T6" fmla="*/ 2 w 73"/>
                      <a:gd name="T7" fmla="*/ 0 h 31"/>
                      <a:gd name="T8" fmla="*/ 3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10" name="Freeform 327"/>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92" name="Group 328"/>
                <p:cNvGrpSpPr>
                  <a:grpSpLocks/>
                </p:cNvGrpSpPr>
                <p:nvPr/>
              </p:nvGrpSpPr>
              <p:grpSpPr bwMode="auto">
                <a:xfrm>
                  <a:off x="914" y="3678"/>
                  <a:ext cx="49" cy="23"/>
                  <a:chOff x="914" y="3678"/>
                  <a:chExt cx="49" cy="23"/>
                </a:xfrm>
              </p:grpSpPr>
              <p:sp>
                <p:nvSpPr>
                  <p:cNvPr id="9605" name="Freeform 329"/>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06" name="Freeform 330"/>
                  <p:cNvSpPr>
                    <a:spLocks/>
                  </p:cNvSpPr>
                  <p:nvPr/>
                </p:nvSpPr>
                <p:spPr bwMode="auto">
                  <a:xfrm>
                    <a:off x="919" y="3678"/>
                    <a:ext cx="38" cy="10"/>
                  </a:xfrm>
                  <a:custGeom>
                    <a:avLst/>
                    <a:gdLst>
                      <a:gd name="T0" fmla="*/ 1 w 75"/>
                      <a:gd name="T1" fmla="*/ 0 h 30"/>
                      <a:gd name="T2" fmla="*/ 2 w 75"/>
                      <a:gd name="T3" fmla="*/ 0 h 30"/>
                      <a:gd name="T4" fmla="*/ 2 w 75"/>
                      <a:gd name="T5" fmla="*/ 0 h 30"/>
                      <a:gd name="T6" fmla="*/ 2 w 75"/>
                      <a:gd name="T7" fmla="*/ 0 h 30"/>
                      <a:gd name="T8" fmla="*/ 3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07" name="Freeform 331"/>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3 w 81"/>
                      <a:gd name="T9" fmla="*/ 0 h 38"/>
                      <a:gd name="T10" fmla="*/ 3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93" name="Group 332"/>
                <p:cNvGrpSpPr>
                  <a:grpSpLocks/>
                </p:cNvGrpSpPr>
                <p:nvPr/>
              </p:nvGrpSpPr>
              <p:grpSpPr bwMode="auto">
                <a:xfrm>
                  <a:off x="928" y="3690"/>
                  <a:ext cx="48" cy="23"/>
                  <a:chOff x="928" y="3690"/>
                  <a:chExt cx="48" cy="23"/>
                </a:xfrm>
              </p:grpSpPr>
              <p:sp>
                <p:nvSpPr>
                  <p:cNvPr id="9602" name="Freeform 333"/>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03" name="Freeform 334"/>
                  <p:cNvSpPr>
                    <a:spLocks/>
                  </p:cNvSpPr>
                  <p:nvPr/>
                </p:nvSpPr>
                <p:spPr bwMode="auto">
                  <a:xfrm>
                    <a:off x="932" y="3691"/>
                    <a:ext cx="38" cy="10"/>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04" name="Freeform 335"/>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94" name="Group 336"/>
                <p:cNvGrpSpPr>
                  <a:grpSpLocks/>
                </p:cNvGrpSpPr>
                <p:nvPr/>
              </p:nvGrpSpPr>
              <p:grpSpPr bwMode="auto">
                <a:xfrm>
                  <a:off x="940" y="3703"/>
                  <a:ext cx="49" cy="23"/>
                  <a:chOff x="940" y="3703"/>
                  <a:chExt cx="49" cy="23"/>
                </a:xfrm>
              </p:grpSpPr>
              <p:sp>
                <p:nvSpPr>
                  <p:cNvPr id="9599" name="Freeform 337"/>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00" name="Freeform 338"/>
                  <p:cNvSpPr>
                    <a:spLocks/>
                  </p:cNvSpPr>
                  <p:nvPr/>
                </p:nvSpPr>
                <p:spPr bwMode="auto">
                  <a:xfrm>
                    <a:off x="945" y="3703"/>
                    <a:ext cx="37" cy="10"/>
                  </a:xfrm>
                  <a:custGeom>
                    <a:avLst/>
                    <a:gdLst>
                      <a:gd name="T0" fmla="*/ 0 w 75"/>
                      <a:gd name="T1" fmla="*/ 0 h 30"/>
                      <a:gd name="T2" fmla="*/ 1 w 75"/>
                      <a:gd name="T3" fmla="*/ 0 h 30"/>
                      <a:gd name="T4" fmla="*/ 1 w 75"/>
                      <a:gd name="T5" fmla="*/ 0 h 30"/>
                      <a:gd name="T6" fmla="*/ 1 w 75"/>
                      <a:gd name="T7" fmla="*/ 0 h 30"/>
                      <a:gd name="T8" fmla="*/ 2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01" name="Freeform 339"/>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95" name="Group 340"/>
                <p:cNvGrpSpPr>
                  <a:grpSpLocks/>
                </p:cNvGrpSpPr>
                <p:nvPr/>
              </p:nvGrpSpPr>
              <p:grpSpPr bwMode="auto">
                <a:xfrm>
                  <a:off x="953" y="3716"/>
                  <a:ext cx="49" cy="23"/>
                  <a:chOff x="953" y="3716"/>
                  <a:chExt cx="49" cy="23"/>
                </a:xfrm>
              </p:grpSpPr>
              <p:sp>
                <p:nvSpPr>
                  <p:cNvPr id="9596" name="Freeform 341"/>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97" name="Freeform 342"/>
                  <p:cNvSpPr>
                    <a:spLocks/>
                  </p:cNvSpPr>
                  <p:nvPr/>
                </p:nvSpPr>
                <p:spPr bwMode="auto">
                  <a:xfrm>
                    <a:off x="958" y="3717"/>
                    <a:ext cx="37" cy="9"/>
                  </a:xfrm>
                  <a:custGeom>
                    <a:avLst/>
                    <a:gdLst>
                      <a:gd name="T0" fmla="*/ 0 w 75"/>
                      <a:gd name="T1" fmla="*/ 0 h 29"/>
                      <a:gd name="T2" fmla="*/ 1 w 75"/>
                      <a:gd name="T3" fmla="*/ 0 h 29"/>
                      <a:gd name="T4" fmla="*/ 1 w 75"/>
                      <a:gd name="T5" fmla="*/ 0 h 29"/>
                      <a:gd name="T6" fmla="*/ 1 w 75"/>
                      <a:gd name="T7" fmla="*/ 0 h 29"/>
                      <a:gd name="T8" fmla="*/ 2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98" name="Freeform 343"/>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9393" name="Group 344"/>
              <p:cNvGrpSpPr>
                <a:grpSpLocks/>
              </p:cNvGrpSpPr>
              <p:nvPr/>
            </p:nvGrpSpPr>
            <p:grpSpPr bwMode="auto">
              <a:xfrm>
                <a:off x="963" y="3727"/>
                <a:ext cx="49" cy="23"/>
                <a:chOff x="963" y="3727"/>
                <a:chExt cx="49" cy="23"/>
              </a:xfrm>
            </p:grpSpPr>
            <p:sp>
              <p:nvSpPr>
                <p:cNvPr id="9588" name="Freeform 345"/>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89" name="Freeform 346"/>
                <p:cNvSpPr>
                  <a:spLocks/>
                </p:cNvSpPr>
                <p:nvPr/>
              </p:nvSpPr>
              <p:spPr bwMode="auto">
                <a:xfrm>
                  <a:off x="968" y="3728"/>
                  <a:ext cx="37" cy="10"/>
                </a:xfrm>
                <a:custGeom>
                  <a:avLst/>
                  <a:gdLst>
                    <a:gd name="T0" fmla="*/ 1 w 73"/>
                    <a:gd name="T1" fmla="*/ 0 h 31"/>
                    <a:gd name="T2" fmla="*/ 2 w 73"/>
                    <a:gd name="T3" fmla="*/ 0 h 31"/>
                    <a:gd name="T4" fmla="*/ 2 w 73"/>
                    <a:gd name="T5" fmla="*/ 0 h 31"/>
                    <a:gd name="T6" fmla="*/ 2 w 73"/>
                    <a:gd name="T7" fmla="*/ 0 h 31"/>
                    <a:gd name="T8" fmla="*/ 3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90" name="Freeform 347"/>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94" name="Group 348"/>
              <p:cNvGrpSpPr>
                <a:grpSpLocks/>
              </p:cNvGrpSpPr>
              <p:nvPr/>
            </p:nvGrpSpPr>
            <p:grpSpPr bwMode="auto">
              <a:xfrm>
                <a:off x="976" y="3740"/>
                <a:ext cx="50" cy="22"/>
                <a:chOff x="976" y="3740"/>
                <a:chExt cx="50" cy="22"/>
              </a:xfrm>
            </p:grpSpPr>
            <p:sp>
              <p:nvSpPr>
                <p:cNvPr id="9585" name="Freeform 349"/>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86" name="Freeform 350"/>
                <p:cNvSpPr>
                  <a:spLocks/>
                </p:cNvSpPr>
                <p:nvPr/>
              </p:nvSpPr>
              <p:spPr bwMode="auto">
                <a:xfrm>
                  <a:off x="980" y="3740"/>
                  <a:ext cx="38" cy="10"/>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87" name="Freeform 351"/>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95" name="Group 352"/>
              <p:cNvGrpSpPr>
                <a:grpSpLocks/>
              </p:cNvGrpSpPr>
              <p:nvPr/>
            </p:nvGrpSpPr>
            <p:grpSpPr bwMode="auto">
              <a:xfrm>
                <a:off x="761" y="3560"/>
                <a:ext cx="50" cy="22"/>
                <a:chOff x="761" y="3560"/>
                <a:chExt cx="50" cy="22"/>
              </a:xfrm>
            </p:grpSpPr>
            <p:sp>
              <p:nvSpPr>
                <p:cNvPr id="9582" name="Freeform 353"/>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83" name="Freeform 354"/>
                <p:cNvSpPr>
                  <a:spLocks/>
                </p:cNvSpPr>
                <p:nvPr/>
              </p:nvSpPr>
              <p:spPr bwMode="auto">
                <a:xfrm>
                  <a:off x="767" y="3560"/>
                  <a:ext cx="36" cy="10"/>
                </a:xfrm>
                <a:custGeom>
                  <a:avLst/>
                  <a:gdLst>
                    <a:gd name="T0" fmla="*/ 0 w 73"/>
                    <a:gd name="T1" fmla="*/ 0 h 29"/>
                    <a:gd name="T2" fmla="*/ 1 w 73"/>
                    <a:gd name="T3" fmla="*/ 0 h 29"/>
                    <a:gd name="T4" fmla="*/ 1 w 73"/>
                    <a:gd name="T5" fmla="*/ 0 h 29"/>
                    <a:gd name="T6" fmla="*/ 1 w 73"/>
                    <a:gd name="T7" fmla="*/ 0 h 29"/>
                    <a:gd name="T8" fmla="*/ 2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84" name="Freeform 355"/>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3 w 83"/>
                    <a:gd name="T9" fmla="*/ 0 h 35"/>
                    <a:gd name="T10" fmla="*/ 3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96" name="Group 356"/>
              <p:cNvGrpSpPr>
                <a:grpSpLocks/>
              </p:cNvGrpSpPr>
              <p:nvPr/>
            </p:nvGrpSpPr>
            <p:grpSpPr bwMode="auto">
              <a:xfrm>
                <a:off x="774" y="3572"/>
                <a:ext cx="49" cy="23"/>
                <a:chOff x="774" y="3572"/>
                <a:chExt cx="49" cy="23"/>
              </a:xfrm>
            </p:grpSpPr>
            <p:sp>
              <p:nvSpPr>
                <p:cNvPr id="9579" name="Freeform 357"/>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80" name="Freeform 358"/>
                <p:cNvSpPr>
                  <a:spLocks/>
                </p:cNvSpPr>
                <p:nvPr/>
              </p:nvSpPr>
              <p:spPr bwMode="auto">
                <a:xfrm>
                  <a:off x="778" y="3573"/>
                  <a:ext cx="38" cy="9"/>
                </a:xfrm>
                <a:custGeom>
                  <a:avLst/>
                  <a:gdLst>
                    <a:gd name="T0" fmla="*/ 1 w 75"/>
                    <a:gd name="T1" fmla="*/ 0 h 29"/>
                    <a:gd name="T2" fmla="*/ 2 w 75"/>
                    <a:gd name="T3" fmla="*/ 0 h 29"/>
                    <a:gd name="T4" fmla="*/ 2 w 75"/>
                    <a:gd name="T5" fmla="*/ 0 h 29"/>
                    <a:gd name="T6" fmla="*/ 2 w 75"/>
                    <a:gd name="T7" fmla="*/ 0 h 29"/>
                    <a:gd name="T8" fmla="*/ 3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81" name="Freeform 359"/>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97" name="Group 360"/>
              <p:cNvGrpSpPr>
                <a:grpSpLocks/>
              </p:cNvGrpSpPr>
              <p:nvPr/>
            </p:nvGrpSpPr>
            <p:grpSpPr bwMode="auto">
              <a:xfrm>
                <a:off x="787" y="3585"/>
                <a:ext cx="49" cy="23"/>
                <a:chOff x="787" y="3585"/>
                <a:chExt cx="49" cy="23"/>
              </a:xfrm>
            </p:grpSpPr>
            <p:sp>
              <p:nvSpPr>
                <p:cNvPr id="9576" name="Freeform 361"/>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77" name="Freeform 362"/>
                <p:cNvSpPr>
                  <a:spLocks/>
                </p:cNvSpPr>
                <p:nvPr/>
              </p:nvSpPr>
              <p:spPr bwMode="auto">
                <a:xfrm>
                  <a:off x="792" y="3586"/>
                  <a:ext cx="36" cy="10"/>
                </a:xfrm>
                <a:custGeom>
                  <a:avLst/>
                  <a:gdLst>
                    <a:gd name="T0" fmla="*/ 0 w 74"/>
                    <a:gd name="T1" fmla="*/ 0 h 29"/>
                    <a:gd name="T2" fmla="*/ 1 w 74"/>
                    <a:gd name="T3" fmla="*/ 0 h 29"/>
                    <a:gd name="T4" fmla="*/ 1 w 74"/>
                    <a:gd name="T5" fmla="*/ 0 h 29"/>
                    <a:gd name="T6" fmla="*/ 1 w 74"/>
                    <a:gd name="T7" fmla="*/ 0 h 29"/>
                    <a:gd name="T8" fmla="*/ 2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78" name="Freeform 363"/>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98" name="Group 364"/>
              <p:cNvGrpSpPr>
                <a:grpSpLocks/>
              </p:cNvGrpSpPr>
              <p:nvPr/>
            </p:nvGrpSpPr>
            <p:grpSpPr bwMode="auto">
              <a:xfrm>
                <a:off x="799" y="3600"/>
                <a:ext cx="99" cy="73"/>
                <a:chOff x="799" y="3600"/>
                <a:chExt cx="99" cy="73"/>
              </a:xfrm>
            </p:grpSpPr>
            <p:grpSp>
              <p:nvGrpSpPr>
                <p:cNvPr id="9556" name="Group 365"/>
                <p:cNvGrpSpPr>
                  <a:grpSpLocks/>
                </p:cNvGrpSpPr>
                <p:nvPr/>
              </p:nvGrpSpPr>
              <p:grpSpPr bwMode="auto">
                <a:xfrm>
                  <a:off x="799" y="3600"/>
                  <a:ext cx="48" cy="23"/>
                  <a:chOff x="799" y="3600"/>
                  <a:chExt cx="48" cy="23"/>
                </a:xfrm>
              </p:grpSpPr>
              <p:sp>
                <p:nvSpPr>
                  <p:cNvPr id="9573" name="Freeform 366"/>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74" name="Freeform 367"/>
                  <p:cNvSpPr>
                    <a:spLocks/>
                  </p:cNvSpPr>
                  <p:nvPr/>
                </p:nvSpPr>
                <p:spPr bwMode="auto">
                  <a:xfrm>
                    <a:off x="803" y="3600"/>
                    <a:ext cx="38" cy="11"/>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75" name="Freeform 368"/>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2 w 82"/>
                      <a:gd name="T9" fmla="*/ 0 h 38"/>
                      <a:gd name="T10" fmla="*/ 2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57" name="Group 369"/>
                <p:cNvGrpSpPr>
                  <a:grpSpLocks/>
                </p:cNvGrpSpPr>
                <p:nvPr/>
              </p:nvGrpSpPr>
              <p:grpSpPr bwMode="auto">
                <a:xfrm>
                  <a:off x="811" y="3612"/>
                  <a:ext cx="48" cy="23"/>
                  <a:chOff x="811" y="3612"/>
                  <a:chExt cx="48" cy="23"/>
                </a:xfrm>
              </p:grpSpPr>
              <p:sp>
                <p:nvSpPr>
                  <p:cNvPr id="9570" name="Freeform 370"/>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71" name="Freeform 371"/>
                  <p:cNvSpPr>
                    <a:spLocks/>
                  </p:cNvSpPr>
                  <p:nvPr/>
                </p:nvSpPr>
                <p:spPr bwMode="auto">
                  <a:xfrm>
                    <a:off x="815" y="3613"/>
                    <a:ext cx="38" cy="10"/>
                  </a:xfrm>
                  <a:custGeom>
                    <a:avLst/>
                    <a:gdLst>
                      <a:gd name="T0" fmla="*/ 1 w 75"/>
                      <a:gd name="T1" fmla="*/ 0 h 32"/>
                      <a:gd name="T2" fmla="*/ 2 w 75"/>
                      <a:gd name="T3" fmla="*/ 0 h 32"/>
                      <a:gd name="T4" fmla="*/ 2 w 75"/>
                      <a:gd name="T5" fmla="*/ 0 h 32"/>
                      <a:gd name="T6" fmla="*/ 2 w 75"/>
                      <a:gd name="T7" fmla="*/ 0 h 32"/>
                      <a:gd name="T8" fmla="*/ 3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72" name="Freeform 372"/>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58" name="Group 373"/>
                <p:cNvGrpSpPr>
                  <a:grpSpLocks/>
                </p:cNvGrpSpPr>
                <p:nvPr/>
              </p:nvGrpSpPr>
              <p:grpSpPr bwMode="auto">
                <a:xfrm>
                  <a:off x="823" y="3625"/>
                  <a:ext cx="49" cy="23"/>
                  <a:chOff x="823" y="3625"/>
                  <a:chExt cx="49" cy="23"/>
                </a:xfrm>
              </p:grpSpPr>
              <p:sp>
                <p:nvSpPr>
                  <p:cNvPr id="9567" name="Freeform 374"/>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68" name="Freeform 375"/>
                  <p:cNvSpPr>
                    <a:spLocks/>
                  </p:cNvSpPr>
                  <p:nvPr/>
                </p:nvSpPr>
                <p:spPr bwMode="auto">
                  <a:xfrm>
                    <a:off x="828" y="3626"/>
                    <a:ext cx="37" cy="9"/>
                  </a:xfrm>
                  <a:custGeom>
                    <a:avLst/>
                    <a:gdLst>
                      <a:gd name="T0" fmla="*/ 1 w 73"/>
                      <a:gd name="T1" fmla="*/ 0 h 29"/>
                      <a:gd name="T2" fmla="*/ 2 w 73"/>
                      <a:gd name="T3" fmla="*/ 0 h 29"/>
                      <a:gd name="T4" fmla="*/ 2 w 73"/>
                      <a:gd name="T5" fmla="*/ 0 h 29"/>
                      <a:gd name="T6" fmla="*/ 2 w 73"/>
                      <a:gd name="T7" fmla="*/ 0 h 29"/>
                      <a:gd name="T8" fmla="*/ 3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69" name="Freeform 376"/>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59" name="Group 377"/>
                <p:cNvGrpSpPr>
                  <a:grpSpLocks/>
                </p:cNvGrpSpPr>
                <p:nvPr/>
              </p:nvGrpSpPr>
              <p:grpSpPr bwMode="auto">
                <a:xfrm>
                  <a:off x="836" y="3638"/>
                  <a:ext cx="50" cy="22"/>
                  <a:chOff x="836" y="3638"/>
                  <a:chExt cx="50" cy="22"/>
                </a:xfrm>
              </p:grpSpPr>
              <p:sp>
                <p:nvSpPr>
                  <p:cNvPr id="9564" name="Freeform 378"/>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65" name="Freeform 379"/>
                  <p:cNvSpPr>
                    <a:spLocks/>
                  </p:cNvSpPr>
                  <p:nvPr/>
                </p:nvSpPr>
                <p:spPr bwMode="auto">
                  <a:xfrm>
                    <a:off x="842" y="3638"/>
                    <a:ext cx="36" cy="10"/>
                  </a:xfrm>
                  <a:custGeom>
                    <a:avLst/>
                    <a:gdLst>
                      <a:gd name="T0" fmla="*/ 1 w 72"/>
                      <a:gd name="T1" fmla="*/ 0 h 30"/>
                      <a:gd name="T2" fmla="*/ 2 w 72"/>
                      <a:gd name="T3" fmla="*/ 0 h 30"/>
                      <a:gd name="T4" fmla="*/ 2 w 72"/>
                      <a:gd name="T5" fmla="*/ 0 h 30"/>
                      <a:gd name="T6" fmla="*/ 2 w 72"/>
                      <a:gd name="T7" fmla="*/ 0 h 30"/>
                      <a:gd name="T8" fmla="*/ 3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66" name="Freeform 380"/>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60" name="Group 381"/>
                <p:cNvGrpSpPr>
                  <a:grpSpLocks/>
                </p:cNvGrpSpPr>
                <p:nvPr/>
              </p:nvGrpSpPr>
              <p:grpSpPr bwMode="auto">
                <a:xfrm>
                  <a:off x="849" y="3651"/>
                  <a:ext cx="49" cy="22"/>
                  <a:chOff x="849" y="3651"/>
                  <a:chExt cx="49" cy="22"/>
                </a:xfrm>
              </p:grpSpPr>
              <p:sp>
                <p:nvSpPr>
                  <p:cNvPr id="9561" name="Freeform 382"/>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62" name="Freeform 383"/>
                  <p:cNvSpPr>
                    <a:spLocks/>
                  </p:cNvSpPr>
                  <p:nvPr/>
                </p:nvSpPr>
                <p:spPr bwMode="auto">
                  <a:xfrm>
                    <a:off x="854" y="3651"/>
                    <a:ext cx="37" cy="10"/>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63" name="Freeform 384"/>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3 w 81"/>
                      <a:gd name="T9" fmla="*/ 0 h 35"/>
                      <a:gd name="T10" fmla="*/ 3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9399" name="Group 385"/>
              <p:cNvGrpSpPr>
                <a:grpSpLocks/>
              </p:cNvGrpSpPr>
              <p:nvPr/>
            </p:nvGrpSpPr>
            <p:grpSpPr bwMode="auto">
              <a:xfrm>
                <a:off x="861" y="3665"/>
                <a:ext cx="99" cy="74"/>
                <a:chOff x="861" y="3665"/>
                <a:chExt cx="99" cy="74"/>
              </a:xfrm>
            </p:grpSpPr>
            <p:grpSp>
              <p:nvGrpSpPr>
                <p:cNvPr id="9536" name="Group 386"/>
                <p:cNvGrpSpPr>
                  <a:grpSpLocks/>
                </p:cNvGrpSpPr>
                <p:nvPr/>
              </p:nvGrpSpPr>
              <p:grpSpPr bwMode="auto">
                <a:xfrm>
                  <a:off x="861" y="3665"/>
                  <a:ext cx="50" cy="23"/>
                  <a:chOff x="861" y="3665"/>
                  <a:chExt cx="50" cy="23"/>
                </a:xfrm>
              </p:grpSpPr>
              <p:sp>
                <p:nvSpPr>
                  <p:cNvPr id="9553" name="Freeform 387"/>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54" name="Freeform 388"/>
                  <p:cNvSpPr>
                    <a:spLocks/>
                  </p:cNvSpPr>
                  <p:nvPr/>
                </p:nvSpPr>
                <p:spPr bwMode="auto">
                  <a:xfrm>
                    <a:off x="865" y="3666"/>
                    <a:ext cx="38" cy="10"/>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55" name="Freeform 389"/>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37" name="Group 390"/>
                <p:cNvGrpSpPr>
                  <a:grpSpLocks/>
                </p:cNvGrpSpPr>
                <p:nvPr/>
              </p:nvGrpSpPr>
              <p:grpSpPr bwMode="auto">
                <a:xfrm>
                  <a:off x="873" y="3678"/>
                  <a:ext cx="49" cy="23"/>
                  <a:chOff x="873" y="3678"/>
                  <a:chExt cx="49" cy="23"/>
                </a:xfrm>
              </p:grpSpPr>
              <p:sp>
                <p:nvSpPr>
                  <p:cNvPr id="9550" name="Freeform 391"/>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51" name="Freeform 392"/>
                  <p:cNvSpPr>
                    <a:spLocks/>
                  </p:cNvSpPr>
                  <p:nvPr/>
                </p:nvSpPr>
                <p:spPr bwMode="auto">
                  <a:xfrm>
                    <a:off x="878" y="3678"/>
                    <a:ext cx="37" cy="10"/>
                  </a:xfrm>
                  <a:custGeom>
                    <a:avLst/>
                    <a:gdLst>
                      <a:gd name="T0" fmla="*/ 0 w 75"/>
                      <a:gd name="T1" fmla="*/ 0 h 30"/>
                      <a:gd name="T2" fmla="*/ 1 w 75"/>
                      <a:gd name="T3" fmla="*/ 0 h 30"/>
                      <a:gd name="T4" fmla="*/ 1 w 75"/>
                      <a:gd name="T5" fmla="*/ 0 h 30"/>
                      <a:gd name="T6" fmla="*/ 1 w 75"/>
                      <a:gd name="T7" fmla="*/ 0 h 30"/>
                      <a:gd name="T8" fmla="*/ 2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52" name="Freeform 393"/>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3 w 82"/>
                      <a:gd name="T9" fmla="*/ 0 h 38"/>
                      <a:gd name="T10" fmla="*/ 3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38" name="Group 394"/>
                <p:cNvGrpSpPr>
                  <a:grpSpLocks/>
                </p:cNvGrpSpPr>
                <p:nvPr/>
              </p:nvGrpSpPr>
              <p:grpSpPr bwMode="auto">
                <a:xfrm>
                  <a:off x="886" y="3690"/>
                  <a:ext cx="49" cy="23"/>
                  <a:chOff x="886" y="3690"/>
                  <a:chExt cx="49" cy="23"/>
                </a:xfrm>
              </p:grpSpPr>
              <p:sp>
                <p:nvSpPr>
                  <p:cNvPr id="9547" name="Freeform 395"/>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48" name="Freeform 396"/>
                  <p:cNvSpPr>
                    <a:spLocks/>
                  </p:cNvSpPr>
                  <p:nvPr/>
                </p:nvSpPr>
                <p:spPr bwMode="auto">
                  <a:xfrm>
                    <a:off x="890" y="3691"/>
                    <a:ext cx="38" cy="10"/>
                  </a:xfrm>
                  <a:custGeom>
                    <a:avLst/>
                    <a:gdLst>
                      <a:gd name="T0" fmla="*/ 1 w 75"/>
                      <a:gd name="T1" fmla="*/ 0 h 31"/>
                      <a:gd name="T2" fmla="*/ 2 w 75"/>
                      <a:gd name="T3" fmla="*/ 0 h 31"/>
                      <a:gd name="T4" fmla="*/ 2 w 75"/>
                      <a:gd name="T5" fmla="*/ 0 h 31"/>
                      <a:gd name="T6" fmla="*/ 2 w 75"/>
                      <a:gd name="T7" fmla="*/ 0 h 31"/>
                      <a:gd name="T8" fmla="*/ 3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49" name="Freeform 397"/>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39" name="Group 398"/>
                <p:cNvGrpSpPr>
                  <a:grpSpLocks/>
                </p:cNvGrpSpPr>
                <p:nvPr/>
              </p:nvGrpSpPr>
              <p:grpSpPr bwMode="auto">
                <a:xfrm>
                  <a:off x="899" y="3703"/>
                  <a:ext cx="48" cy="23"/>
                  <a:chOff x="899" y="3703"/>
                  <a:chExt cx="48" cy="23"/>
                </a:xfrm>
              </p:grpSpPr>
              <p:sp>
                <p:nvSpPr>
                  <p:cNvPr id="9544" name="Freeform 399"/>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45" name="Freeform 400"/>
                  <p:cNvSpPr>
                    <a:spLocks/>
                  </p:cNvSpPr>
                  <p:nvPr/>
                </p:nvSpPr>
                <p:spPr bwMode="auto">
                  <a:xfrm>
                    <a:off x="903" y="3703"/>
                    <a:ext cx="38" cy="10"/>
                  </a:xfrm>
                  <a:custGeom>
                    <a:avLst/>
                    <a:gdLst>
                      <a:gd name="T0" fmla="*/ 1 w 75"/>
                      <a:gd name="T1" fmla="*/ 0 h 30"/>
                      <a:gd name="T2" fmla="*/ 2 w 75"/>
                      <a:gd name="T3" fmla="*/ 0 h 30"/>
                      <a:gd name="T4" fmla="*/ 2 w 75"/>
                      <a:gd name="T5" fmla="*/ 0 h 30"/>
                      <a:gd name="T6" fmla="*/ 2 w 75"/>
                      <a:gd name="T7" fmla="*/ 0 h 30"/>
                      <a:gd name="T8" fmla="*/ 3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46" name="Freeform 401"/>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2 w 82"/>
                      <a:gd name="T9" fmla="*/ 0 h 36"/>
                      <a:gd name="T10" fmla="*/ 2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40" name="Group 402"/>
                <p:cNvGrpSpPr>
                  <a:grpSpLocks/>
                </p:cNvGrpSpPr>
                <p:nvPr/>
              </p:nvGrpSpPr>
              <p:grpSpPr bwMode="auto">
                <a:xfrm>
                  <a:off x="912" y="3716"/>
                  <a:ext cx="48" cy="23"/>
                  <a:chOff x="912" y="3716"/>
                  <a:chExt cx="48" cy="23"/>
                </a:xfrm>
              </p:grpSpPr>
              <p:sp>
                <p:nvSpPr>
                  <p:cNvPr id="9541" name="Freeform 403"/>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42" name="Freeform 404"/>
                  <p:cNvSpPr>
                    <a:spLocks/>
                  </p:cNvSpPr>
                  <p:nvPr/>
                </p:nvSpPr>
                <p:spPr bwMode="auto">
                  <a:xfrm>
                    <a:off x="916" y="3717"/>
                    <a:ext cx="37" cy="9"/>
                  </a:xfrm>
                  <a:custGeom>
                    <a:avLst/>
                    <a:gdLst>
                      <a:gd name="T0" fmla="*/ 1 w 74"/>
                      <a:gd name="T1" fmla="*/ 0 h 29"/>
                      <a:gd name="T2" fmla="*/ 2 w 74"/>
                      <a:gd name="T3" fmla="*/ 0 h 29"/>
                      <a:gd name="T4" fmla="*/ 2 w 74"/>
                      <a:gd name="T5" fmla="*/ 0 h 29"/>
                      <a:gd name="T6" fmla="*/ 2 w 74"/>
                      <a:gd name="T7" fmla="*/ 0 h 29"/>
                      <a:gd name="T8" fmla="*/ 3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43" name="Freeform 405"/>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9400" name="Group 406"/>
              <p:cNvGrpSpPr>
                <a:grpSpLocks/>
              </p:cNvGrpSpPr>
              <p:nvPr/>
            </p:nvGrpSpPr>
            <p:grpSpPr bwMode="auto">
              <a:xfrm>
                <a:off x="922" y="3727"/>
                <a:ext cx="49" cy="23"/>
                <a:chOff x="922" y="3727"/>
                <a:chExt cx="49" cy="23"/>
              </a:xfrm>
            </p:grpSpPr>
            <p:sp>
              <p:nvSpPr>
                <p:cNvPr id="9533" name="Freeform 407"/>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34" name="Freeform 408"/>
                <p:cNvSpPr>
                  <a:spLocks/>
                </p:cNvSpPr>
                <p:nvPr/>
              </p:nvSpPr>
              <p:spPr bwMode="auto">
                <a:xfrm>
                  <a:off x="927" y="3728"/>
                  <a:ext cx="36" cy="10"/>
                </a:xfrm>
                <a:custGeom>
                  <a:avLst/>
                  <a:gdLst>
                    <a:gd name="T0" fmla="*/ 1 w 72"/>
                    <a:gd name="T1" fmla="*/ 0 h 31"/>
                    <a:gd name="T2" fmla="*/ 2 w 72"/>
                    <a:gd name="T3" fmla="*/ 0 h 31"/>
                    <a:gd name="T4" fmla="*/ 2 w 72"/>
                    <a:gd name="T5" fmla="*/ 0 h 31"/>
                    <a:gd name="T6" fmla="*/ 2 w 72"/>
                    <a:gd name="T7" fmla="*/ 0 h 31"/>
                    <a:gd name="T8" fmla="*/ 3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35" name="Freeform 409"/>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01" name="Group 410"/>
              <p:cNvGrpSpPr>
                <a:grpSpLocks/>
              </p:cNvGrpSpPr>
              <p:nvPr/>
            </p:nvGrpSpPr>
            <p:grpSpPr bwMode="auto">
              <a:xfrm>
                <a:off x="895" y="3526"/>
                <a:ext cx="44" cy="23"/>
                <a:chOff x="895" y="3526"/>
                <a:chExt cx="44" cy="23"/>
              </a:xfrm>
            </p:grpSpPr>
            <p:sp>
              <p:nvSpPr>
                <p:cNvPr id="9530" name="Freeform 411"/>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2 w 38"/>
                    <a:gd name="T7" fmla="*/ 0 h 69"/>
                    <a:gd name="T8" fmla="*/ 1 w 38"/>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31" name="Freeform 412"/>
                <p:cNvSpPr>
                  <a:spLocks/>
                </p:cNvSpPr>
                <p:nvPr/>
              </p:nvSpPr>
              <p:spPr bwMode="auto">
                <a:xfrm>
                  <a:off x="901" y="3526"/>
                  <a:ext cx="33" cy="12"/>
                </a:xfrm>
                <a:custGeom>
                  <a:avLst/>
                  <a:gdLst>
                    <a:gd name="T0" fmla="*/ 0 w 64"/>
                    <a:gd name="T1" fmla="*/ 0 h 35"/>
                    <a:gd name="T2" fmla="*/ 2 w 64"/>
                    <a:gd name="T3" fmla="*/ 0 h 35"/>
                    <a:gd name="T4" fmla="*/ 3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32" name="Freeform 413"/>
                <p:cNvSpPr>
                  <a:spLocks/>
                </p:cNvSpPr>
                <p:nvPr/>
              </p:nvSpPr>
              <p:spPr bwMode="auto">
                <a:xfrm>
                  <a:off x="907" y="3538"/>
                  <a:ext cx="32" cy="11"/>
                </a:xfrm>
                <a:custGeom>
                  <a:avLst/>
                  <a:gdLst>
                    <a:gd name="T0" fmla="*/ 0 w 65"/>
                    <a:gd name="T1" fmla="*/ 0 h 31"/>
                    <a:gd name="T2" fmla="*/ 0 w 65"/>
                    <a:gd name="T3" fmla="*/ 0 h 31"/>
                    <a:gd name="T4" fmla="*/ 1 w 65"/>
                    <a:gd name="T5" fmla="*/ 0 h 31"/>
                    <a:gd name="T6" fmla="*/ 2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02" name="Group 414"/>
              <p:cNvGrpSpPr>
                <a:grpSpLocks/>
              </p:cNvGrpSpPr>
              <p:nvPr/>
            </p:nvGrpSpPr>
            <p:grpSpPr bwMode="auto">
              <a:xfrm>
                <a:off x="907" y="3540"/>
                <a:ext cx="45" cy="22"/>
                <a:chOff x="907" y="3540"/>
                <a:chExt cx="45" cy="22"/>
              </a:xfrm>
            </p:grpSpPr>
            <p:sp>
              <p:nvSpPr>
                <p:cNvPr id="9527" name="Freeform 415"/>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2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8" name="Freeform 416"/>
                <p:cNvSpPr>
                  <a:spLocks/>
                </p:cNvSpPr>
                <p:nvPr/>
              </p:nvSpPr>
              <p:spPr bwMode="auto">
                <a:xfrm>
                  <a:off x="914" y="3540"/>
                  <a:ext cx="32" cy="11"/>
                </a:xfrm>
                <a:custGeom>
                  <a:avLst/>
                  <a:gdLst>
                    <a:gd name="T0" fmla="*/ 0 w 64"/>
                    <a:gd name="T1" fmla="*/ 0 h 34"/>
                    <a:gd name="T2" fmla="*/ 2 w 64"/>
                    <a:gd name="T3" fmla="*/ 0 h 34"/>
                    <a:gd name="T4" fmla="*/ 2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9" name="Freeform 417"/>
                <p:cNvSpPr>
                  <a:spLocks/>
                </p:cNvSpPr>
                <p:nvPr/>
              </p:nvSpPr>
              <p:spPr bwMode="auto">
                <a:xfrm>
                  <a:off x="919" y="3552"/>
                  <a:ext cx="33" cy="10"/>
                </a:xfrm>
                <a:custGeom>
                  <a:avLst/>
                  <a:gdLst>
                    <a:gd name="T0" fmla="*/ 0 w 66"/>
                    <a:gd name="T1" fmla="*/ 0 h 30"/>
                    <a:gd name="T2" fmla="*/ 1 w 66"/>
                    <a:gd name="T3" fmla="*/ 0 h 30"/>
                    <a:gd name="T4" fmla="*/ 2 w 66"/>
                    <a:gd name="T5" fmla="*/ 0 h 30"/>
                    <a:gd name="T6" fmla="*/ 3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03" name="Group 418"/>
              <p:cNvGrpSpPr>
                <a:grpSpLocks/>
              </p:cNvGrpSpPr>
              <p:nvPr/>
            </p:nvGrpSpPr>
            <p:grpSpPr bwMode="auto">
              <a:xfrm>
                <a:off x="920" y="3553"/>
                <a:ext cx="45" cy="23"/>
                <a:chOff x="920" y="3553"/>
                <a:chExt cx="45" cy="23"/>
              </a:xfrm>
            </p:grpSpPr>
            <p:sp>
              <p:nvSpPr>
                <p:cNvPr id="9524" name="Freeform 419"/>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1 w 41"/>
                    <a:gd name="T7" fmla="*/ 0 h 68"/>
                    <a:gd name="T8" fmla="*/ 0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5" name="Freeform 420"/>
                <p:cNvSpPr>
                  <a:spLocks/>
                </p:cNvSpPr>
                <p:nvPr/>
              </p:nvSpPr>
              <p:spPr bwMode="auto">
                <a:xfrm>
                  <a:off x="927" y="3554"/>
                  <a:ext cx="32" cy="11"/>
                </a:xfrm>
                <a:custGeom>
                  <a:avLst/>
                  <a:gdLst>
                    <a:gd name="T0" fmla="*/ 0 w 63"/>
                    <a:gd name="T1" fmla="*/ 0 h 33"/>
                    <a:gd name="T2" fmla="*/ 2 w 63"/>
                    <a:gd name="T3" fmla="*/ 0 h 33"/>
                    <a:gd name="T4" fmla="*/ 2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6" name="Freeform 421"/>
                <p:cNvSpPr>
                  <a:spLocks/>
                </p:cNvSpPr>
                <p:nvPr/>
              </p:nvSpPr>
              <p:spPr bwMode="auto">
                <a:xfrm>
                  <a:off x="932" y="3566"/>
                  <a:ext cx="33" cy="10"/>
                </a:xfrm>
                <a:custGeom>
                  <a:avLst/>
                  <a:gdLst>
                    <a:gd name="T0" fmla="*/ 0 w 66"/>
                    <a:gd name="T1" fmla="*/ 0 h 30"/>
                    <a:gd name="T2" fmla="*/ 1 w 66"/>
                    <a:gd name="T3" fmla="*/ 0 h 30"/>
                    <a:gd name="T4" fmla="*/ 2 w 66"/>
                    <a:gd name="T5" fmla="*/ 0 h 30"/>
                    <a:gd name="T6" fmla="*/ 3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04" name="Group 422"/>
              <p:cNvGrpSpPr>
                <a:grpSpLocks/>
              </p:cNvGrpSpPr>
              <p:nvPr/>
            </p:nvGrpSpPr>
            <p:grpSpPr bwMode="auto">
              <a:xfrm>
                <a:off x="934" y="3566"/>
                <a:ext cx="44" cy="23"/>
                <a:chOff x="934" y="3566"/>
                <a:chExt cx="44" cy="23"/>
              </a:xfrm>
            </p:grpSpPr>
            <p:sp>
              <p:nvSpPr>
                <p:cNvPr id="9521" name="Freeform 423"/>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1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2" name="Freeform 424"/>
                <p:cNvSpPr>
                  <a:spLocks/>
                </p:cNvSpPr>
                <p:nvPr/>
              </p:nvSpPr>
              <p:spPr bwMode="auto">
                <a:xfrm>
                  <a:off x="940" y="3567"/>
                  <a:ext cx="32" cy="11"/>
                </a:xfrm>
                <a:custGeom>
                  <a:avLst/>
                  <a:gdLst>
                    <a:gd name="T0" fmla="*/ 0 w 65"/>
                    <a:gd name="T1" fmla="*/ 0 h 35"/>
                    <a:gd name="T2" fmla="*/ 1 w 65"/>
                    <a:gd name="T3" fmla="*/ 0 h 35"/>
                    <a:gd name="T4" fmla="*/ 2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3" name="Freeform 425"/>
                <p:cNvSpPr>
                  <a:spLocks/>
                </p:cNvSpPr>
                <p:nvPr/>
              </p:nvSpPr>
              <p:spPr bwMode="auto">
                <a:xfrm>
                  <a:off x="945" y="3579"/>
                  <a:ext cx="33" cy="9"/>
                </a:xfrm>
                <a:custGeom>
                  <a:avLst/>
                  <a:gdLst>
                    <a:gd name="T0" fmla="*/ 0 w 65"/>
                    <a:gd name="T1" fmla="*/ 0 h 28"/>
                    <a:gd name="T2" fmla="*/ 1 w 65"/>
                    <a:gd name="T3" fmla="*/ 0 h 28"/>
                    <a:gd name="T4" fmla="*/ 2 w 65"/>
                    <a:gd name="T5" fmla="*/ 0 h 28"/>
                    <a:gd name="T6" fmla="*/ 3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05" name="Group 426"/>
              <p:cNvGrpSpPr>
                <a:grpSpLocks/>
              </p:cNvGrpSpPr>
              <p:nvPr/>
            </p:nvGrpSpPr>
            <p:grpSpPr bwMode="auto">
              <a:xfrm>
                <a:off x="949" y="3579"/>
                <a:ext cx="83" cy="63"/>
                <a:chOff x="949" y="3579"/>
                <a:chExt cx="83" cy="63"/>
              </a:xfrm>
            </p:grpSpPr>
            <p:grpSp>
              <p:nvGrpSpPr>
                <p:cNvPr id="9505" name="Group 427"/>
                <p:cNvGrpSpPr>
                  <a:grpSpLocks/>
                </p:cNvGrpSpPr>
                <p:nvPr/>
              </p:nvGrpSpPr>
              <p:grpSpPr bwMode="auto">
                <a:xfrm>
                  <a:off x="949" y="3579"/>
                  <a:ext cx="44" cy="23"/>
                  <a:chOff x="949" y="3579"/>
                  <a:chExt cx="44" cy="23"/>
                </a:xfrm>
              </p:grpSpPr>
              <p:sp>
                <p:nvSpPr>
                  <p:cNvPr id="9518" name="Freeform 428"/>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2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19" name="Freeform 429"/>
                  <p:cNvSpPr>
                    <a:spLocks/>
                  </p:cNvSpPr>
                  <p:nvPr/>
                </p:nvSpPr>
                <p:spPr bwMode="auto">
                  <a:xfrm>
                    <a:off x="955" y="3579"/>
                    <a:ext cx="32" cy="11"/>
                  </a:xfrm>
                  <a:custGeom>
                    <a:avLst/>
                    <a:gdLst>
                      <a:gd name="T0" fmla="*/ 0 w 66"/>
                      <a:gd name="T1" fmla="*/ 0 h 32"/>
                      <a:gd name="T2" fmla="*/ 1 w 66"/>
                      <a:gd name="T3" fmla="*/ 0 h 32"/>
                      <a:gd name="T4" fmla="*/ 2 w 66"/>
                      <a:gd name="T5" fmla="*/ 0 h 32"/>
                      <a:gd name="T6" fmla="*/ 0 w 66"/>
                      <a:gd name="T7" fmla="*/ 0 h 32"/>
                      <a:gd name="T8" fmla="*/ 0 w 6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0" name="Freeform 430"/>
                  <p:cNvSpPr>
                    <a:spLocks/>
                  </p:cNvSpPr>
                  <p:nvPr/>
                </p:nvSpPr>
                <p:spPr bwMode="auto">
                  <a:xfrm>
                    <a:off x="960" y="3591"/>
                    <a:ext cx="33" cy="10"/>
                  </a:xfrm>
                  <a:custGeom>
                    <a:avLst/>
                    <a:gdLst>
                      <a:gd name="T0" fmla="*/ 0 w 65"/>
                      <a:gd name="T1" fmla="*/ 0 h 31"/>
                      <a:gd name="T2" fmla="*/ 1 w 65"/>
                      <a:gd name="T3" fmla="*/ 0 h 31"/>
                      <a:gd name="T4" fmla="*/ 2 w 65"/>
                      <a:gd name="T5" fmla="*/ 0 h 31"/>
                      <a:gd name="T6" fmla="*/ 3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06" name="Group 431"/>
                <p:cNvGrpSpPr>
                  <a:grpSpLocks/>
                </p:cNvGrpSpPr>
                <p:nvPr/>
              </p:nvGrpSpPr>
              <p:grpSpPr bwMode="auto">
                <a:xfrm>
                  <a:off x="961" y="3592"/>
                  <a:ext cx="45" cy="23"/>
                  <a:chOff x="961" y="3592"/>
                  <a:chExt cx="45" cy="23"/>
                </a:xfrm>
              </p:grpSpPr>
              <p:sp>
                <p:nvSpPr>
                  <p:cNvPr id="9515" name="Freeform 432"/>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2 w 40"/>
                      <a:gd name="T7" fmla="*/ 0 h 69"/>
                      <a:gd name="T8" fmla="*/ 1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16" name="Freeform 433"/>
                  <p:cNvSpPr>
                    <a:spLocks/>
                  </p:cNvSpPr>
                  <p:nvPr/>
                </p:nvSpPr>
                <p:spPr bwMode="auto">
                  <a:xfrm>
                    <a:off x="968" y="3593"/>
                    <a:ext cx="33" cy="11"/>
                  </a:xfrm>
                  <a:custGeom>
                    <a:avLst/>
                    <a:gdLst>
                      <a:gd name="T0" fmla="*/ 0 w 66"/>
                      <a:gd name="T1" fmla="*/ 0 h 35"/>
                      <a:gd name="T2" fmla="*/ 2 w 66"/>
                      <a:gd name="T3" fmla="*/ 0 h 35"/>
                      <a:gd name="T4" fmla="*/ 3 w 66"/>
                      <a:gd name="T5" fmla="*/ 0 h 35"/>
                      <a:gd name="T6" fmla="*/ 1 w 66"/>
                      <a:gd name="T7" fmla="*/ 0 h 35"/>
                      <a:gd name="T8" fmla="*/ 0 w 66"/>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17" name="Freeform 434"/>
                  <p:cNvSpPr>
                    <a:spLocks/>
                  </p:cNvSpPr>
                  <p:nvPr/>
                </p:nvSpPr>
                <p:spPr bwMode="auto">
                  <a:xfrm>
                    <a:off x="973" y="3605"/>
                    <a:ext cx="33" cy="10"/>
                  </a:xfrm>
                  <a:custGeom>
                    <a:avLst/>
                    <a:gdLst>
                      <a:gd name="T0" fmla="*/ 0 w 66"/>
                      <a:gd name="T1" fmla="*/ 0 h 30"/>
                      <a:gd name="T2" fmla="*/ 1 w 66"/>
                      <a:gd name="T3" fmla="*/ 0 h 30"/>
                      <a:gd name="T4" fmla="*/ 2 w 66"/>
                      <a:gd name="T5" fmla="*/ 0 h 30"/>
                      <a:gd name="T6" fmla="*/ 3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07" name="Group 435"/>
                <p:cNvGrpSpPr>
                  <a:grpSpLocks/>
                </p:cNvGrpSpPr>
                <p:nvPr/>
              </p:nvGrpSpPr>
              <p:grpSpPr bwMode="auto">
                <a:xfrm>
                  <a:off x="974" y="3606"/>
                  <a:ext cx="44" cy="23"/>
                  <a:chOff x="974" y="3606"/>
                  <a:chExt cx="44" cy="23"/>
                </a:xfrm>
              </p:grpSpPr>
              <p:sp>
                <p:nvSpPr>
                  <p:cNvPr id="9512" name="Freeform 436"/>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1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13" name="Freeform 437"/>
                  <p:cNvSpPr>
                    <a:spLocks/>
                  </p:cNvSpPr>
                  <p:nvPr/>
                </p:nvSpPr>
                <p:spPr bwMode="auto">
                  <a:xfrm>
                    <a:off x="980" y="3606"/>
                    <a:ext cx="32" cy="12"/>
                  </a:xfrm>
                  <a:custGeom>
                    <a:avLst/>
                    <a:gdLst>
                      <a:gd name="T0" fmla="*/ 0 w 65"/>
                      <a:gd name="T1" fmla="*/ 0 h 35"/>
                      <a:gd name="T2" fmla="*/ 1 w 65"/>
                      <a:gd name="T3" fmla="*/ 0 h 35"/>
                      <a:gd name="T4" fmla="*/ 2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14" name="Freeform 438"/>
                  <p:cNvSpPr>
                    <a:spLocks/>
                  </p:cNvSpPr>
                  <p:nvPr/>
                </p:nvSpPr>
                <p:spPr bwMode="auto">
                  <a:xfrm>
                    <a:off x="986" y="3619"/>
                    <a:ext cx="32" cy="9"/>
                  </a:xfrm>
                  <a:custGeom>
                    <a:avLst/>
                    <a:gdLst>
                      <a:gd name="T0" fmla="*/ 0 w 65"/>
                      <a:gd name="T1" fmla="*/ 0 h 29"/>
                      <a:gd name="T2" fmla="*/ 0 w 65"/>
                      <a:gd name="T3" fmla="*/ 0 h 29"/>
                      <a:gd name="T4" fmla="*/ 1 w 65"/>
                      <a:gd name="T5" fmla="*/ 0 h 29"/>
                      <a:gd name="T6" fmla="*/ 2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508" name="Group 439"/>
                <p:cNvGrpSpPr>
                  <a:grpSpLocks/>
                </p:cNvGrpSpPr>
                <p:nvPr/>
              </p:nvGrpSpPr>
              <p:grpSpPr bwMode="auto">
                <a:xfrm>
                  <a:off x="987" y="3619"/>
                  <a:ext cx="45" cy="23"/>
                  <a:chOff x="987" y="3619"/>
                  <a:chExt cx="45" cy="23"/>
                </a:xfrm>
              </p:grpSpPr>
              <p:sp>
                <p:nvSpPr>
                  <p:cNvPr id="9509" name="Freeform 440"/>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2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10" name="Freeform 441"/>
                  <p:cNvSpPr>
                    <a:spLocks/>
                  </p:cNvSpPr>
                  <p:nvPr/>
                </p:nvSpPr>
                <p:spPr bwMode="auto">
                  <a:xfrm>
                    <a:off x="994" y="3620"/>
                    <a:ext cx="32" cy="11"/>
                  </a:xfrm>
                  <a:custGeom>
                    <a:avLst/>
                    <a:gdLst>
                      <a:gd name="T0" fmla="*/ 0 w 64"/>
                      <a:gd name="T1" fmla="*/ 0 h 33"/>
                      <a:gd name="T2" fmla="*/ 2 w 64"/>
                      <a:gd name="T3" fmla="*/ 0 h 33"/>
                      <a:gd name="T4" fmla="*/ 2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11" name="Freeform 442"/>
                  <p:cNvSpPr>
                    <a:spLocks/>
                  </p:cNvSpPr>
                  <p:nvPr/>
                </p:nvSpPr>
                <p:spPr bwMode="auto">
                  <a:xfrm>
                    <a:off x="999" y="3632"/>
                    <a:ext cx="33" cy="9"/>
                  </a:xfrm>
                  <a:custGeom>
                    <a:avLst/>
                    <a:gdLst>
                      <a:gd name="T0" fmla="*/ 0 w 65"/>
                      <a:gd name="T1" fmla="*/ 0 h 29"/>
                      <a:gd name="T2" fmla="*/ 1 w 65"/>
                      <a:gd name="T3" fmla="*/ 0 h 29"/>
                      <a:gd name="T4" fmla="*/ 2 w 65"/>
                      <a:gd name="T5" fmla="*/ 0 h 29"/>
                      <a:gd name="T6" fmla="*/ 3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9406" name="Group 443"/>
              <p:cNvGrpSpPr>
                <a:grpSpLocks/>
              </p:cNvGrpSpPr>
              <p:nvPr/>
            </p:nvGrpSpPr>
            <p:grpSpPr bwMode="auto">
              <a:xfrm>
                <a:off x="1002" y="3632"/>
                <a:ext cx="83" cy="63"/>
                <a:chOff x="1002" y="3632"/>
                <a:chExt cx="83" cy="63"/>
              </a:xfrm>
            </p:grpSpPr>
            <p:grpSp>
              <p:nvGrpSpPr>
                <p:cNvPr id="9489" name="Group 444"/>
                <p:cNvGrpSpPr>
                  <a:grpSpLocks/>
                </p:cNvGrpSpPr>
                <p:nvPr/>
              </p:nvGrpSpPr>
              <p:grpSpPr bwMode="auto">
                <a:xfrm>
                  <a:off x="1002" y="3632"/>
                  <a:ext cx="44" cy="22"/>
                  <a:chOff x="1002" y="3632"/>
                  <a:chExt cx="44" cy="22"/>
                </a:xfrm>
              </p:grpSpPr>
              <p:sp>
                <p:nvSpPr>
                  <p:cNvPr id="9502" name="Freeform 445"/>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2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03" name="Freeform 446"/>
                  <p:cNvSpPr>
                    <a:spLocks/>
                  </p:cNvSpPr>
                  <p:nvPr/>
                </p:nvSpPr>
                <p:spPr bwMode="auto">
                  <a:xfrm>
                    <a:off x="1008" y="3632"/>
                    <a:ext cx="33" cy="12"/>
                  </a:xfrm>
                  <a:custGeom>
                    <a:avLst/>
                    <a:gdLst>
                      <a:gd name="T0" fmla="*/ 0 w 65"/>
                      <a:gd name="T1" fmla="*/ 0 h 35"/>
                      <a:gd name="T2" fmla="*/ 2 w 65"/>
                      <a:gd name="T3" fmla="*/ 0 h 35"/>
                      <a:gd name="T4" fmla="*/ 3 w 65"/>
                      <a:gd name="T5" fmla="*/ 0 h 35"/>
                      <a:gd name="T6" fmla="*/ 1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04" name="Freeform 447"/>
                  <p:cNvSpPr>
                    <a:spLocks/>
                  </p:cNvSpPr>
                  <p:nvPr/>
                </p:nvSpPr>
                <p:spPr bwMode="auto">
                  <a:xfrm>
                    <a:off x="1013" y="3644"/>
                    <a:ext cx="33" cy="10"/>
                  </a:xfrm>
                  <a:custGeom>
                    <a:avLst/>
                    <a:gdLst>
                      <a:gd name="T0" fmla="*/ 0 w 66"/>
                      <a:gd name="T1" fmla="*/ 0 h 28"/>
                      <a:gd name="T2" fmla="*/ 1 w 66"/>
                      <a:gd name="T3" fmla="*/ 0 h 28"/>
                      <a:gd name="T4" fmla="*/ 2 w 66"/>
                      <a:gd name="T5" fmla="*/ 0 h 28"/>
                      <a:gd name="T6" fmla="*/ 3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90" name="Group 448"/>
                <p:cNvGrpSpPr>
                  <a:grpSpLocks/>
                </p:cNvGrpSpPr>
                <p:nvPr/>
              </p:nvGrpSpPr>
              <p:grpSpPr bwMode="auto">
                <a:xfrm>
                  <a:off x="1014" y="3645"/>
                  <a:ext cx="44" cy="23"/>
                  <a:chOff x="1014" y="3645"/>
                  <a:chExt cx="44" cy="23"/>
                </a:xfrm>
              </p:grpSpPr>
              <p:sp>
                <p:nvSpPr>
                  <p:cNvPr id="9499" name="Freeform 449"/>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1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00" name="Freeform 450"/>
                  <p:cNvSpPr>
                    <a:spLocks/>
                  </p:cNvSpPr>
                  <p:nvPr/>
                </p:nvSpPr>
                <p:spPr bwMode="auto">
                  <a:xfrm>
                    <a:off x="1021" y="3646"/>
                    <a:ext cx="32" cy="11"/>
                  </a:xfrm>
                  <a:custGeom>
                    <a:avLst/>
                    <a:gdLst>
                      <a:gd name="T0" fmla="*/ 0 w 63"/>
                      <a:gd name="T1" fmla="*/ 0 h 33"/>
                      <a:gd name="T2" fmla="*/ 2 w 63"/>
                      <a:gd name="T3" fmla="*/ 0 h 33"/>
                      <a:gd name="T4" fmla="*/ 2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01" name="Freeform 451"/>
                  <p:cNvSpPr>
                    <a:spLocks/>
                  </p:cNvSpPr>
                  <p:nvPr/>
                </p:nvSpPr>
                <p:spPr bwMode="auto">
                  <a:xfrm>
                    <a:off x="1026" y="3658"/>
                    <a:ext cx="32" cy="10"/>
                  </a:xfrm>
                  <a:custGeom>
                    <a:avLst/>
                    <a:gdLst>
                      <a:gd name="T0" fmla="*/ 0 w 65"/>
                      <a:gd name="T1" fmla="*/ 0 h 30"/>
                      <a:gd name="T2" fmla="*/ 0 w 65"/>
                      <a:gd name="T3" fmla="*/ 0 h 30"/>
                      <a:gd name="T4" fmla="*/ 1 w 65"/>
                      <a:gd name="T5" fmla="*/ 0 h 30"/>
                      <a:gd name="T6" fmla="*/ 2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91" name="Group 452"/>
                <p:cNvGrpSpPr>
                  <a:grpSpLocks/>
                </p:cNvGrpSpPr>
                <p:nvPr/>
              </p:nvGrpSpPr>
              <p:grpSpPr bwMode="auto">
                <a:xfrm>
                  <a:off x="1027" y="3659"/>
                  <a:ext cx="45" cy="23"/>
                  <a:chOff x="1027" y="3659"/>
                  <a:chExt cx="45" cy="23"/>
                </a:xfrm>
              </p:grpSpPr>
              <p:sp>
                <p:nvSpPr>
                  <p:cNvPr id="9496" name="Freeform 453"/>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2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97" name="Freeform 454"/>
                  <p:cNvSpPr>
                    <a:spLocks/>
                  </p:cNvSpPr>
                  <p:nvPr/>
                </p:nvSpPr>
                <p:spPr bwMode="auto">
                  <a:xfrm>
                    <a:off x="1033" y="3659"/>
                    <a:ext cx="33" cy="11"/>
                  </a:xfrm>
                  <a:custGeom>
                    <a:avLst/>
                    <a:gdLst>
                      <a:gd name="T0" fmla="*/ 0 w 64"/>
                      <a:gd name="T1" fmla="*/ 0 h 34"/>
                      <a:gd name="T2" fmla="*/ 2 w 64"/>
                      <a:gd name="T3" fmla="*/ 0 h 34"/>
                      <a:gd name="T4" fmla="*/ 3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98" name="Freeform 455"/>
                  <p:cNvSpPr>
                    <a:spLocks/>
                  </p:cNvSpPr>
                  <p:nvPr/>
                </p:nvSpPr>
                <p:spPr bwMode="auto">
                  <a:xfrm>
                    <a:off x="1039" y="3671"/>
                    <a:ext cx="33" cy="10"/>
                  </a:xfrm>
                  <a:custGeom>
                    <a:avLst/>
                    <a:gdLst>
                      <a:gd name="T0" fmla="*/ 0 w 66"/>
                      <a:gd name="T1" fmla="*/ 0 h 30"/>
                      <a:gd name="T2" fmla="*/ 1 w 66"/>
                      <a:gd name="T3" fmla="*/ 0 h 30"/>
                      <a:gd name="T4" fmla="*/ 2 w 66"/>
                      <a:gd name="T5" fmla="*/ 0 h 30"/>
                      <a:gd name="T6" fmla="*/ 3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92" name="Group 456"/>
                <p:cNvGrpSpPr>
                  <a:grpSpLocks/>
                </p:cNvGrpSpPr>
                <p:nvPr/>
              </p:nvGrpSpPr>
              <p:grpSpPr bwMode="auto">
                <a:xfrm>
                  <a:off x="1040" y="3672"/>
                  <a:ext cx="45" cy="23"/>
                  <a:chOff x="1040" y="3672"/>
                  <a:chExt cx="45" cy="23"/>
                </a:xfrm>
              </p:grpSpPr>
              <p:sp>
                <p:nvSpPr>
                  <p:cNvPr id="9493" name="Freeform 457"/>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1 w 41"/>
                      <a:gd name="T7" fmla="*/ 0 h 70"/>
                      <a:gd name="T8" fmla="*/ 0 w 41"/>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94" name="Freeform 458"/>
                  <p:cNvSpPr>
                    <a:spLocks/>
                  </p:cNvSpPr>
                  <p:nvPr/>
                </p:nvSpPr>
                <p:spPr bwMode="auto">
                  <a:xfrm>
                    <a:off x="1047" y="3672"/>
                    <a:ext cx="32" cy="12"/>
                  </a:xfrm>
                  <a:custGeom>
                    <a:avLst/>
                    <a:gdLst>
                      <a:gd name="T0" fmla="*/ 0 w 65"/>
                      <a:gd name="T1" fmla="*/ 0 h 34"/>
                      <a:gd name="T2" fmla="*/ 1 w 65"/>
                      <a:gd name="T3" fmla="*/ 0 h 34"/>
                      <a:gd name="T4" fmla="*/ 2 w 65"/>
                      <a:gd name="T5" fmla="*/ 0 h 34"/>
                      <a:gd name="T6" fmla="*/ 0 w 65"/>
                      <a:gd name="T7" fmla="*/ 0 h 34"/>
                      <a:gd name="T8" fmla="*/ 0 w 6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95" name="Freeform 459"/>
                  <p:cNvSpPr>
                    <a:spLocks/>
                  </p:cNvSpPr>
                  <p:nvPr/>
                </p:nvSpPr>
                <p:spPr bwMode="auto">
                  <a:xfrm>
                    <a:off x="1053" y="3685"/>
                    <a:ext cx="32" cy="9"/>
                  </a:xfrm>
                  <a:custGeom>
                    <a:avLst/>
                    <a:gdLst>
                      <a:gd name="T0" fmla="*/ 0 w 66"/>
                      <a:gd name="T1" fmla="*/ 0 h 28"/>
                      <a:gd name="T2" fmla="*/ 0 w 66"/>
                      <a:gd name="T3" fmla="*/ 0 h 28"/>
                      <a:gd name="T4" fmla="*/ 1 w 66"/>
                      <a:gd name="T5" fmla="*/ 0 h 28"/>
                      <a:gd name="T6" fmla="*/ 2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9407" name="Group 460"/>
              <p:cNvGrpSpPr>
                <a:grpSpLocks/>
              </p:cNvGrpSpPr>
              <p:nvPr/>
            </p:nvGrpSpPr>
            <p:grpSpPr bwMode="auto">
              <a:xfrm>
                <a:off x="1054" y="3685"/>
                <a:ext cx="45" cy="23"/>
                <a:chOff x="1054" y="3685"/>
                <a:chExt cx="45" cy="23"/>
              </a:xfrm>
            </p:grpSpPr>
            <p:sp>
              <p:nvSpPr>
                <p:cNvPr id="9486" name="Freeform 461"/>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2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87" name="Freeform 462"/>
                <p:cNvSpPr>
                  <a:spLocks/>
                </p:cNvSpPr>
                <p:nvPr/>
              </p:nvSpPr>
              <p:spPr bwMode="auto">
                <a:xfrm>
                  <a:off x="1061" y="3685"/>
                  <a:ext cx="32" cy="12"/>
                </a:xfrm>
                <a:custGeom>
                  <a:avLst/>
                  <a:gdLst>
                    <a:gd name="T0" fmla="*/ 0 w 63"/>
                    <a:gd name="T1" fmla="*/ 0 h 35"/>
                    <a:gd name="T2" fmla="*/ 2 w 63"/>
                    <a:gd name="T3" fmla="*/ 0 h 35"/>
                    <a:gd name="T4" fmla="*/ 2 w 63"/>
                    <a:gd name="T5" fmla="*/ 0 h 35"/>
                    <a:gd name="T6" fmla="*/ 1 w 63"/>
                    <a:gd name="T7" fmla="*/ 0 h 35"/>
                    <a:gd name="T8" fmla="*/ 0 w 63"/>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88" name="Freeform 463"/>
                <p:cNvSpPr>
                  <a:spLocks/>
                </p:cNvSpPr>
                <p:nvPr/>
              </p:nvSpPr>
              <p:spPr bwMode="auto">
                <a:xfrm>
                  <a:off x="1066" y="3697"/>
                  <a:ext cx="33" cy="10"/>
                </a:xfrm>
                <a:custGeom>
                  <a:avLst/>
                  <a:gdLst>
                    <a:gd name="T0" fmla="*/ 0 w 64"/>
                    <a:gd name="T1" fmla="*/ 0 h 30"/>
                    <a:gd name="T2" fmla="*/ 1 w 64"/>
                    <a:gd name="T3" fmla="*/ 0 h 30"/>
                    <a:gd name="T4" fmla="*/ 2 w 64"/>
                    <a:gd name="T5" fmla="*/ 0 h 30"/>
                    <a:gd name="T6" fmla="*/ 3 w 64"/>
                    <a:gd name="T7" fmla="*/ 0 h 30"/>
                    <a:gd name="T8" fmla="*/ 0 w 64"/>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08" name="Group 464"/>
              <p:cNvGrpSpPr>
                <a:grpSpLocks/>
              </p:cNvGrpSpPr>
              <p:nvPr/>
            </p:nvGrpSpPr>
            <p:grpSpPr bwMode="auto">
              <a:xfrm>
                <a:off x="1067" y="3698"/>
                <a:ext cx="45" cy="23"/>
                <a:chOff x="1067" y="3698"/>
                <a:chExt cx="45" cy="23"/>
              </a:xfrm>
            </p:grpSpPr>
            <p:sp>
              <p:nvSpPr>
                <p:cNvPr id="9483" name="Freeform 465"/>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2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84" name="Freeform 466"/>
                <p:cNvSpPr>
                  <a:spLocks/>
                </p:cNvSpPr>
                <p:nvPr/>
              </p:nvSpPr>
              <p:spPr bwMode="auto">
                <a:xfrm>
                  <a:off x="1074" y="3699"/>
                  <a:ext cx="32" cy="11"/>
                </a:xfrm>
                <a:custGeom>
                  <a:avLst/>
                  <a:gdLst>
                    <a:gd name="T0" fmla="*/ 0 w 64"/>
                    <a:gd name="T1" fmla="*/ 0 h 34"/>
                    <a:gd name="T2" fmla="*/ 2 w 64"/>
                    <a:gd name="T3" fmla="*/ 0 h 34"/>
                    <a:gd name="T4" fmla="*/ 2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85" name="Freeform 467"/>
                <p:cNvSpPr>
                  <a:spLocks/>
                </p:cNvSpPr>
                <p:nvPr/>
              </p:nvSpPr>
              <p:spPr bwMode="auto">
                <a:xfrm>
                  <a:off x="1079" y="3711"/>
                  <a:ext cx="33" cy="10"/>
                </a:xfrm>
                <a:custGeom>
                  <a:avLst/>
                  <a:gdLst>
                    <a:gd name="T0" fmla="*/ 0 w 65"/>
                    <a:gd name="T1" fmla="*/ 0 h 30"/>
                    <a:gd name="T2" fmla="*/ 1 w 65"/>
                    <a:gd name="T3" fmla="*/ 0 h 30"/>
                    <a:gd name="T4" fmla="*/ 2 w 65"/>
                    <a:gd name="T5" fmla="*/ 0 h 30"/>
                    <a:gd name="T6" fmla="*/ 3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09" name="Group 468"/>
              <p:cNvGrpSpPr>
                <a:grpSpLocks/>
              </p:cNvGrpSpPr>
              <p:nvPr/>
            </p:nvGrpSpPr>
            <p:grpSpPr bwMode="auto">
              <a:xfrm>
                <a:off x="1079" y="3712"/>
                <a:ext cx="44" cy="23"/>
                <a:chOff x="1079" y="3712"/>
                <a:chExt cx="44" cy="23"/>
              </a:xfrm>
            </p:grpSpPr>
            <p:sp>
              <p:nvSpPr>
                <p:cNvPr id="9480" name="Freeform 469"/>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2 w 41"/>
                    <a:gd name="T7" fmla="*/ 0 h 68"/>
                    <a:gd name="T8" fmla="*/ 1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81" name="Freeform 470"/>
                <p:cNvSpPr>
                  <a:spLocks/>
                </p:cNvSpPr>
                <p:nvPr/>
              </p:nvSpPr>
              <p:spPr bwMode="auto">
                <a:xfrm>
                  <a:off x="1087" y="3713"/>
                  <a:ext cx="31" cy="10"/>
                </a:xfrm>
                <a:custGeom>
                  <a:avLst/>
                  <a:gdLst>
                    <a:gd name="T0" fmla="*/ 0 w 63"/>
                    <a:gd name="T1" fmla="*/ 0 h 32"/>
                    <a:gd name="T2" fmla="*/ 1 w 63"/>
                    <a:gd name="T3" fmla="*/ 0 h 32"/>
                    <a:gd name="T4" fmla="*/ 1 w 63"/>
                    <a:gd name="T5" fmla="*/ 0 h 32"/>
                    <a:gd name="T6" fmla="*/ 0 w 63"/>
                    <a:gd name="T7" fmla="*/ 0 h 32"/>
                    <a:gd name="T8" fmla="*/ 0 w 6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82" name="Freeform 471"/>
                <p:cNvSpPr>
                  <a:spLocks/>
                </p:cNvSpPr>
                <p:nvPr/>
              </p:nvSpPr>
              <p:spPr bwMode="auto">
                <a:xfrm>
                  <a:off x="1092" y="3724"/>
                  <a:ext cx="31" cy="11"/>
                </a:xfrm>
                <a:custGeom>
                  <a:avLst/>
                  <a:gdLst>
                    <a:gd name="T0" fmla="*/ 0 w 63"/>
                    <a:gd name="T1" fmla="*/ 0 h 31"/>
                    <a:gd name="T2" fmla="*/ 0 w 63"/>
                    <a:gd name="T3" fmla="*/ 0 h 31"/>
                    <a:gd name="T4" fmla="*/ 1 w 63"/>
                    <a:gd name="T5" fmla="*/ 0 h 31"/>
                    <a:gd name="T6" fmla="*/ 1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10" name="Group 472"/>
              <p:cNvGrpSpPr>
                <a:grpSpLocks/>
              </p:cNvGrpSpPr>
              <p:nvPr/>
            </p:nvGrpSpPr>
            <p:grpSpPr bwMode="auto">
              <a:xfrm>
                <a:off x="1093" y="3725"/>
                <a:ext cx="45" cy="23"/>
                <a:chOff x="1093" y="3725"/>
                <a:chExt cx="45" cy="23"/>
              </a:xfrm>
            </p:grpSpPr>
            <p:sp>
              <p:nvSpPr>
                <p:cNvPr id="9477" name="Freeform 473"/>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2 w 40"/>
                    <a:gd name="T7" fmla="*/ 0 h 68"/>
                    <a:gd name="T8" fmla="*/ 1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78" name="Freeform 474"/>
                <p:cNvSpPr>
                  <a:spLocks/>
                </p:cNvSpPr>
                <p:nvPr/>
              </p:nvSpPr>
              <p:spPr bwMode="auto">
                <a:xfrm>
                  <a:off x="1100" y="3726"/>
                  <a:ext cx="32" cy="11"/>
                </a:xfrm>
                <a:custGeom>
                  <a:avLst/>
                  <a:gdLst>
                    <a:gd name="T0" fmla="*/ 0 w 64"/>
                    <a:gd name="T1" fmla="*/ 0 h 34"/>
                    <a:gd name="T2" fmla="*/ 2 w 64"/>
                    <a:gd name="T3" fmla="*/ 0 h 34"/>
                    <a:gd name="T4" fmla="*/ 2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79" name="Freeform 475"/>
                <p:cNvSpPr>
                  <a:spLocks/>
                </p:cNvSpPr>
                <p:nvPr/>
              </p:nvSpPr>
              <p:spPr bwMode="auto">
                <a:xfrm>
                  <a:off x="1106" y="3738"/>
                  <a:ext cx="32" cy="9"/>
                </a:xfrm>
                <a:custGeom>
                  <a:avLst/>
                  <a:gdLst>
                    <a:gd name="T0" fmla="*/ 0 w 65"/>
                    <a:gd name="T1" fmla="*/ 0 h 28"/>
                    <a:gd name="T2" fmla="*/ 0 w 65"/>
                    <a:gd name="T3" fmla="*/ 0 h 28"/>
                    <a:gd name="T4" fmla="*/ 1 w 65"/>
                    <a:gd name="T5" fmla="*/ 0 h 28"/>
                    <a:gd name="T6" fmla="*/ 2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11" name="Group 476"/>
              <p:cNvGrpSpPr>
                <a:grpSpLocks/>
              </p:cNvGrpSpPr>
              <p:nvPr/>
            </p:nvGrpSpPr>
            <p:grpSpPr bwMode="auto">
              <a:xfrm>
                <a:off x="1108" y="3739"/>
                <a:ext cx="44" cy="23"/>
                <a:chOff x="1108" y="3739"/>
                <a:chExt cx="44" cy="23"/>
              </a:xfrm>
            </p:grpSpPr>
            <p:sp>
              <p:nvSpPr>
                <p:cNvPr id="9474" name="Freeform 477"/>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1 w 40"/>
                    <a:gd name="T7" fmla="*/ 0 h 69"/>
                    <a:gd name="T8" fmla="*/ 0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75" name="Freeform 478"/>
                <p:cNvSpPr>
                  <a:spLocks/>
                </p:cNvSpPr>
                <p:nvPr/>
              </p:nvSpPr>
              <p:spPr bwMode="auto">
                <a:xfrm>
                  <a:off x="1114" y="3740"/>
                  <a:ext cx="32" cy="11"/>
                </a:xfrm>
                <a:custGeom>
                  <a:avLst/>
                  <a:gdLst>
                    <a:gd name="T0" fmla="*/ 0 w 64"/>
                    <a:gd name="T1" fmla="*/ 0 h 35"/>
                    <a:gd name="T2" fmla="*/ 2 w 64"/>
                    <a:gd name="T3" fmla="*/ 0 h 35"/>
                    <a:gd name="T4" fmla="*/ 2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76" name="Freeform 479"/>
                <p:cNvSpPr>
                  <a:spLocks/>
                </p:cNvSpPr>
                <p:nvPr/>
              </p:nvSpPr>
              <p:spPr bwMode="auto">
                <a:xfrm>
                  <a:off x="1120" y="3752"/>
                  <a:ext cx="32" cy="10"/>
                </a:xfrm>
                <a:custGeom>
                  <a:avLst/>
                  <a:gdLst>
                    <a:gd name="T0" fmla="*/ 0 w 66"/>
                    <a:gd name="T1" fmla="*/ 0 h 30"/>
                    <a:gd name="T2" fmla="*/ 0 w 66"/>
                    <a:gd name="T3" fmla="*/ 0 h 30"/>
                    <a:gd name="T4" fmla="*/ 1 w 66"/>
                    <a:gd name="T5" fmla="*/ 0 h 30"/>
                    <a:gd name="T6" fmla="*/ 2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12" name="Group 480"/>
              <p:cNvGrpSpPr>
                <a:grpSpLocks/>
              </p:cNvGrpSpPr>
              <p:nvPr/>
            </p:nvGrpSpPr>
            <p:grpSpPr bwMode="auto">
              <a:xfrm>
                <a:off x="1121" y="3753"/>
                <a:ext cx="45" cy="23"/>
                <a:chOff x="1121" y="3753"/>
                <a:chExt cx="45" cy="23"/>
              </a:xfrm>
            </p:grpSpPr>
            <p:sp>
              <p:nvSpPr>
                <p:cNvPr id="9471" name="Freeform 481"/>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2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72" name="Freeform 482"/>
                <p:cNvSpPr>
                  <a:spLocks/>
                </p:cNvSpPr>
                <p:nvPr/>
              </p:nvSpPr>
              <p:spPr bwMode="auto">
                <a:xfrm>
                  <a:off x="1127" y="3753"/>
                  <a:ext cx="33" cy="12"/>
                </a:xfrm>
                <a:custGeom>
                  <a:avLst/>
                  <a:gdLst>
                    <a:gd name="T0" fmla="*/ 0 w 64"/>
                    <a:gd name="T1" fmla="*/ 0 h 35"/>
                    <a:gd name="T2" fmla="*/ 2 w 64"/>
                    <a:gd name="T3" fmla="*/ 0 h 35"/>
                    <a:gd name="T4" fmla="*/ 3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73" name="Freeform 483"/>
                <p:cNvSpPr>
                  <a:spLocks/>
                </p:cNvSpPr>
                <p:nvPr/>
              </p:nvSpPr>
              <p:spPr bwMode="auto">
                <a:xfrm>
                  <a:off x="1133" y="3766"/>
                  <a:ext cx="33" cy="9"/>
                </a:xfrm>
                <a:custGeom>
                  <a:avLst/>
                  <a:gdLst>
                    <a:gd name="T0" fmla="*/ 0 w 66"/>
                    <a:gd name="T1" fmla="*/ 0 h 29"/>
                    <a:gd name="T2" fmla="*/ 1 w 66"/>
                    <a:gd name="T3" fmla="*/ 0 h 29"/>
                    <a:gd name="T4" fmla="*/ 2 w 66"/>
                    <a:gd name="T5" fmla="*/ 0 h 29"/>
                    <a:gd name="T6" fmla="*/ 3 w 66"/>
                    <a:gd name="T7" fmla="*/ 0 h 29"/>
                    <a:gd name="T8" fmla="*/ 0 w 66"/>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13" name="Group 484"/>
              <p:cNvGrpSpPr>
                <a:grpSpLocks/>
              </p:cNvGrpSpPr>
              <p:nvPr/>
            </p:nvGrpSpPr>
            <p:grpSpPr bwMode="auto">
              <a:xfrm>
                <a:off x="1133" y="3767"/>
                <a:ext cx="44" cy="23"/>
                <a:chOff x="1133" y="3767"/>
                <a:chExt cx="44" cy="23"/>
              </a:xfrm>
            </p:grpSpPr>
            <p:sp>
              <p:nvSpPr>
                <p:cNvPr id="9468" name="Freeform 485"/>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2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69" name="Freeform 486"/>
                <p:cNvSpPr>
                  <a:spLocks/>
                </p:cNvSpPr>
                <p:nvPr/>
              </p:nvSpPr>
              <p:spPr bwMode="auto">
                <a:xfrm>
                  <a:off x="1140" y="3767"/>
                  <a:ext cx="32" cy="11"/>
                </a:xfrm>
                <a:custGeom>
                  <a:avLst/>
                  <a:gdLst>
                    <a:gd name="T0" fmla="*/ 0 w 64"/>
                    <a:gd name="T1" fmla="*/ 0 h 33"/>
                    <a:gd name="T2" fmla="*/ 2 w 64"/>
                    <a:gd name="T3" fmla="*/ 0 h 33"/>
                    <a:gd name="T4" fmla="*/ 2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70" name="Freeform 487"/>
                <p:cNvSpPr>
                  <a:spLocks/>
                </p:cNvSpPr>
                <p:nvPr/>
              </p:nvSpPr>
              <p:spPr bwMode="auto">
                <a:xfrm>
                  <a:off x="1146" y="3779"/>
                  <a:ext cx="31" cy="10"/>
                </a:xfrm>
                <a:custGeom>
                  <a:avLst/>
                  <a:gdLst>
                    <a:gd name="T0" fmla="*/ 0 w 63"/>
                    <a:gd name="T1" fmla="*/ 0 h 31"/>
                    <a:gd name="T2" fmla="*/ 0 w 63"/>
                    <a:gd name="T3" fmla="*/ 0 h 31"/>
                    <a:gd name="T4" fmla="*/ 1 w 63"/>
                    <a:gd name="T5" fmla="*/ 0 h 31"/>
                    <a:gd name="T6" fmla="*/ 1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414" name="Freeform 488"/>
              <p:cNvSpPr>
                <a:spLocks/>
              </p:cNvSpPr>
              <p:nvPr/>
            </p:nvSpPr>
            <p:spPr bwMode="auto">
              <a:xfrm>
                <a:off x="972" y="3556"/>
                <a:ext cx="40" cy="12"/>
              </a:xfrm>
              <a:custGeom>
                <a:avLst/>
                <a:gdLst>
                  <a:gd name="T0" fmla="*/ 0 w 79"/>
                  <a:gd name="T1" fmla="*/ 0 h 36"/>
                  <a:gd name="T2" fmla="*/ 1 w 79"/>
                  <a:gd name="T3" fmla="*/ 0 h 36"/>
                  <a:gd name="T4" fmla="*/ 3 w 79"/>
                  <a:gd name="T5" fmla="*/ 0 h 36"/>
                  <a:gd name="T6" fmla="*/ 2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15" name="Freeform 489"/>
              <p:cNvSpPr>
                <a:spLocks/>
              </p:cNvSpPr>
              <p:nvPr/>
            </p:nvSpPr>
            <p:spPr bwMode="auto">
              <a:xfrm>
                <a:off x="993" y="3576"/>
                <a:ext cx="39" cy="12"/>
              </a:xfrm>
              <a:custGeom>
                <a:avLst/>
                <a:gdLst>
                  <a:gd name="T0" fmla="*/ 0 w 79"/>
                  <a:gd name="T1" fmla="*/ 0 h 36"/>
                  <a:gd name="T2" fmla="*/ 0 w 79"/>
                  <a:gd name="T3" fmla="*/ 0 h 36"/>
                  <a:gd name="T4" fmla="*/ 2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16" name="Freeform 490"/>
              <p:cNvSpPr>
                <a:spLocks/>
              </p:cNvSpPr>
              <p:nvPr/>
            </p:nvSpPr>
            <p:spPr bwMode="auto">
              <a:xfrm>
                <a:off x="1012" y="3594"/>
                <a:ext cx="39" cy="12"/>
              </a:xfrm>
              <a:custGeom>
                <a:avLst/>
                <a:gdLst>
                  <a:gd name="T0" fmla="*/ 0 w 78"/>
                  <a:gd name="T1" fmla="*/ 0 h 36"/>
                  <a:gd name="T2" fmla="*/ 1 w 78"/>
                  <a:gd name="T3" fmla="*/ 0 h 36"/>
                  <a:gd name="T4" fmla="*/ 3 w 78"/>
                  <a:gd name="T5" fmla="*/ 0 h 36"/>
                  <a:gd name="T6" fmla="*/ 2 w 78"/>
                  <a:gd name="T7" fmla="*/ 0 h 36"/>
                  <a:gd name="T8" fmla="*/ 0 w 7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17" name="Freeform 491"/>
              <p:cNvSpPr>
                <a:spLocks/>
              </p:cNvSpPr>
              <p:nvPr/>
            </p:nvSpPr>
            <p:spPr bwMode="auto">
              <a:xfrm>
                <a:off x="1032" y="3613"/>
                <a:ext cx="40" cy="12"/>
              </a:xfrm>
              <a:custGeom>
                <a:avLst/>
                <a:gdLst>
                  <a:gd name="T0" fmla="*/ 0 w 79"/>
                  <a:gd name="T1" fmla="*/ 0 h 36"/>
                  <a:gd name="T2" fmla="*/ 1 w 79"/>
                  <a:gd name="T3" fmla="*/ 0 h 36"/>
                  <a:gd name="T4" fmla="*/ 3 w 79"/>
                  <a:gd name="T5" fmla="*/ 0 h 36"/>
                  <a:gd name="T6" fmla="*/ 2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18" name="Freeform 492"/>
              <p:cNvSpPr>
                <a:spLocks/>
              </p:cNvSpPr>
              <p:nvPr/>
            </p:nvSpPr>
            <p:spPr bwMode="auto">
              <a:xfrm>
                <a:off x="1053" y="3632"/>
                <a:ext cx="39" cy="12"/>
              </a:xfrm>
              <a:custGeom>
                <a:avLst/>
                <a:gdLst>
                  <a:gd name="T0" fmla="*/ 0 w 79"/>
                  <a:gd name="T1" fmla="*/ 0 h 36"/>
                  <a:gd name="T2" fmla="*/ 0 w 79"/>
                  <a:gd name="T3" fmla="*/ 0 h 36"/>
                  <a:gd name="T4" fmla="*/ 2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19" name="Freeform 493"/>
              <p:cNvSpPr>
                <a:spLocks/>
              </p:cNvSpPr>
              <p:nvPr/>
            </p:nvSpPr>
            <p:spPr bwMode="auto">
              <a:xfrm>
                <a:off x="1074" y="3651"/>
                <a:ext cx="40" cy="12"/>
              </a:xfrm>
              <a:custGeom>
                <a:avLst/>
                <a:gdLst>
                  <a:gd name="T0" fmla="*/ 0 w 79"/>
                  <a:gd name="T1" fmla="*/ 0 h 35"/>
                  <a:gd name="T2" fmla="*/ 1 w 79"/>
                  <a:gd name="T3" fmla="*/ 0 h 35"/>
                  <a:gd name="T4" fmla="*/ 3 w 79"/>
                  <a:gd name="T5" fmla="*/ 0 h 35"/>
                  <a:gd name="T6" fmla="*/ 2 w 79"/>
                  <a:gd name="T7" fmla="*/ 0 h 35"/>
                  <a:gd name="T8" fmla="*/ 0 w 7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20" name="Freeform 494"/>
              <p:cNvSpPr>
                <a:spLocks/>
              </p:cNvSpPr>
              <p:nvPr/>
            </p:nvSpPr>
            <p:spPr bwMode="auto">
              <a:xfrm>
                <a:off x="1095" y="3669"/>
                <a:ext cx="40" cy="12"/>
              </a:xfrm>
              <a:custGeom>
                <a:avLst/>
                <a:gdLst>
                  <a:gd name="T0" fmla="*/ 0 w 80"/>
                  <a:gd name="T1" fmla="*/ 0 h 36"/>
                  <a:gd name="T2" fmla="*/ 1 w 80"/>
                  <a:gd name="T3" fmla="*/ 0 h 36"/>
                  <a:gd name="T4" fmla="*/ 3 w 80"/>
                  <a:gd name="T5" fmla="*/ 0 h 36"/>
                  <a:gd name="T6" fmla="*/ 2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21" name="Freeform 495"/>
              <p:cNvSpPr>
                <a:spLocks/>
              </p:cNvSpPr>
              <p:nvPr/>
            </p:nvSpPr>
            <p:spPr bwMode="auto">
              <a:xfrm>
                <a:off x="1115" y="3688"/>
                <a:ext cx="40" cy="12"/>
              </a:xfrm>
              <a:custGeom>
                <a:avLst/>
                <a:gdLst>
                  <a:gd name="T0" fmla="*/ 0 w 80"/>
                  <a:gd name="T1" fmla="*/ 0 h 36"/>
                  <a:gd name="T2" fmla="*/ 1 w 80"/>
                  <a:gd name="T3" fmla="*/ 0 h 36"/>
                  <a:gd name="T4" fmla="*/ 3 w 80"/>
                  <a:gd name="T5" fmla="*/ 0 h 36"/>
                  <a:gd name="T6" fmla="*/ 2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22" name="Freeform 496"/>
              <p:cNvSpPr>
                <a:spLocks/>
              </p:cNvSpPr>
              <p:nvPr/>
            </p:nvSpPr>
            <p:spPr bwMode="auto">
              <a:xfrm>
                <a:off x="1134" y="3707"/>
                <a:ext cx="39" cy="12"/>
              </a:xfrm>
              <a:custGeom>
                <a:avLst/>
                <a:gdLst>
                  <a:gd name="T0" fmla="*/ 0 w 79"/>
                  <a:gd name="T1" fmla="*/ 0 h 36"/>
                  <a:gd name="T2" fmla="*/ 0 w 79"/>
                  <a:gd name="T3" fmla="*/ 0 h 36"/>
                  <a:gd name="T4" fmla="*/ 2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23" name="Freeform 497"/>
              <p:cNvSpPr>
                <a:spLocks/>
              </p:cNvSpPr>
              <p:nvPr/>
            </p:nvSpPr>
            <p:spPr bwMode="auto">
              <a:xfrm>
                <a:off x="1154" y="3726"/>
                <a:ext cx="40" cy="12"/>
              </a:xfrm>
              <a:custGeom>
                <a:avLst/>
                <a:gdLst>
                  <a:gd name="T0" fmla="*/ 0 w 80"/>
                  <a:gd name="T1" fmla="*/ 0 h 36"/>
                  <a:gd name="T2" fmla="*/ 1 w 80"/>
                  <a:gd name="T3" fmla="*/ 0 h 36"/>
                  <a:gd name="T4" fmla="*/ 3 w 80"/>
                  <a:gd name="T5" fmla="*/ 0 h 36"/>
                  <a:gd name="T6" fmla="*/ 2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24" name="Freeform 498"/>
              <p:cNvSpPr>
                <a:spLocks/>
              </p:cNvSpPr>
              <p:nvPr/>
            </p:nvSpPr>
            <p:spPr bwMode="auto">
              <a:xfrm>
                <a:off x="1175" y="3745"/>
                <a:ext cx="40" cy="12"/>
              </a:xfrm>
              <a:custGeom>
                <a:avLst/>
                <a:gdLst>
                  <a:gd name="T0" fmla="*/ 0 w 81"/>
                  <a:gd name="T1" fmla="*/ 0 h 36"/>
                  <a:gd name="T2" fmla="*/ 0 w 81"/>
                  <a:gd name="T3" fmla="*/ 0 h 36"/>
                  <a:gd name="T4" fmla="*/ 2 w 81"/>
                  <a:gd name="T5" fmla="*/ 0 h 36"/>
                  <a:gd name="T6" fmla="*/ 1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425" name="Group 499"/>
              <p:cNvGrpSpPr>
                <a:grpSpLocks/>
              </p:cNvGrpSpPr>
              <p:nvPr/>
            </p:nvGrpSpPr>
            <p:grpSpPr bwMode="auto">
              <a:xfrm>
                <a:off x="700" y="3535"/>
                <a:ext cx="49" cy="24"/>
                <a:chOff x="700" y="3535"/>
                <a:chExt cx="49" cy="24"/>
              </a:xfrm>
            </p:grpSpPr>
            <p:sp>
              <p:nvSpPr>
                <p:cNvPr id="9465" name="Freeform 500"/>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66" name="Freeform 501"/>
                <p:cNvSpPr>
                  <a:spLocks/>
                </p:cNvSpPr>
                <p:nvPr/>
              </p:nvSpPr>
              <p:spPr bwMode="auto">
                <a:xfrm>
                  <a:off x="705" y="3536"/>
                  <a:ext cx="37" cy="10"/>
                </a:xfrm>
                <a:custGeom>
                  <a:avLst/>
                  <a:gdLst>
                    <a:gd name="T0" fmla="*/ 1 w 73"/>
                    <a:gd name="T1" fmla="*/ 0 h 30"/>
                    <a:gd name="T2" fmla="*/ 2 w 73"/>
                    <a:gd name="T3" fmla="*/ 0 h 30"/>
                    <a:gd name="T4" fmla="*/ 2 w 73"/>
                    <a:gd name="T5" fmla="*/ 0 h 30"/>
                    <a:gd name="T6" fmla="*/ 2 w 73"/>
                    <a:gd name="T7" fmla="*/ 0 h 30"/>
                    <a:gd name="T8" fmla="*/ 3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67" name="Freeform 502"/>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3 w 82"/>
                    <a:gd name="T9" fmla="*/ 0 h 36"/>
                    <a:gd name="T10" fmla="*/ 3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26" name="Group 503"/>
              <p:cNvGrpSpPr>
                <a:grpSpLocks/>
              </p:cNvGrpSpPr>
              <p:nvPr/>
            </p:nvGrpSpPr>
            <p:grpSpPr bwMode="auto">
              <a:xfrm>
                <a:off x="714" y="3551"/>
                <a:ext cx="49" cy="22"/>
                <a:chOff x="714" y="3551"/>
                <a:chExt cx="49" cy="22"/>
              </a:xfrm>
            </p:grpSpPr>
            <p:sp>
              <p:nvSpPr>
                <p:cNvPr id="9462" name="Freeform 504"/>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63" name="Freeform 505"/>
                <p:cNvSpPr>
                  <a:spLocks/>
                </p:cNvSpPr>
                <p:nvPr/>
              </p:nvSpPr>
              <p:spPr bwMode="auto">
                <a:xfrm>
                  <a:off x="719" y="3551"/>
                  <a:ext cx="36" cy="10"/>
                </a:xfrm>
                <a:custGeom>
                  <a:avLst/>
                  <a:gdLst>
                    <a:gd name="T0" fmla="*/ 0 w 74"/>
                    <a:gd name="T1" fmla="*/ 0 h 29"/>
                    <a:gd name="T2" fmla="*/ 1 w 74"/>
                    <a:gd name="T3" fmla="*/ 0 h 29"/>
                    <a:gd name="T4" fmla="*/ 1 w 74"/>
                    <a:gd name="T5" fmla="*/ 0 h 29"/>
                    <a:gd name="T6" fmla="*/ 1 w 74"/>
                    <a:gd name="T7" fmla="*/ 0 h 29"/>
                    <a:gd name="T8" fmla="*/ 2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64" name="Freeform 506"/>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3 w 81"/>
                    <a:gd name="T9" fmla="*/ 0 h 35"/>
                    <a:gd name="T10" fmla="*/ 3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27" name="Group 507"/>
              <p:cNvGrpSpPr>
                <a:grpSpLocks/>
              </p:cNvGrpSpPr>
              <p:nvPr/>
            </p:nvGrpSpPr>
            <p:grpSpPr bwMode="auto">
              <a:xfrm>
                <a:off x="728" y="3564"/>
                <a:ext cx="48" cy="23"/>
                <a:chOff x="728" y="3564"/>
                <a:chExt cx="48" cy="23"/>
              </a:xfrm>
            </p:grpSpPr>
            <p:sp>
              <p:nvSpPr>
                <p:cNvPr id="9459" name="Freeform 508"/>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60" name="Freeform 509"/>
                <p:cNvSpPr>
                  <a:spLocks/>
                </p:cNvSpPr>
                <p:nvPr/>
              </p:nvSpPr>
              <p:spPr bwMode="auto">
                <a:xfrm>
                  <a:off x="732" y="3565"/>
                  <a:ext cx="37" cy="10"/>
                </a:xfrm>
                <a:custGeom>
                  <a:avLst/>
                  <a:gdLst>
                    <a:gd name="T0" fmla="*/ 1 w 72"/>
                    <a:gd name="T1" fmla="*/ 0 h 30"/>
                    <a:gd name="T2" fmla="*/ 2 w 72"/>
                    <a:gd name="T3" fmla="*/ 0 h 30"/>
                    <a:gd name="T4" fmla="*/ 2 w 72"/>
                    <a:gd name="T5" fmla="*/ 0 h 30"/>
                    <a:gd name="T6" fmla="*/ 2 w 72"/>
                    <a:gd name="T7" fmla="*/ 0 h 30"/>
                    <a:gd name="T8" fmla="*/ 3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61" name="Freeform 510"/>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28" name="Group 511"/>
              <p:cNvGrpSpPr>
                <a:grpSpLocks/>
              </p:cNvGrpSpPr>
              <p:nvPr/>
            </p:nvGrpSpPr>
            <p:grpSpPr bwMode="auto">
              <a:xfrm>
                <a:off x="742" y="3582"/>
                <a:ext cx="49" cy="23"/>
                <a:chOff x="742" y="3582"/>
                <a:chExt cx="49" cy="23"/>
              </a:xfrm>
            </p:grpSpPr>
            <p:sp>
              <p:nvSpPr>
                <p:cNvPr id="9456" name="Freeform 512"/>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57" name="Freeform 513"/>
                <p:cNvSpPr>
                  <a:spLocks/>
                </p:cNvSpPr>
                <p:nvPr/>
              </p:nvSpPr>
              <p:spPr bwMode="auto">
                <a:xfrm>
                  <a:off x="747" y="3582"/>
                  <a:ext cx="36" cy="10"/>
                </a:xfrm>
                <a:custGeom>
                  <a:avLst/>
                  <a:gdLst>
                    <a:gd name="T0" fmla="*/ 1 w 72"/>
                    <a:gd name="T1" fmla="*/ 0 h 30"/>
                    <a:gd name="T2" fmla="*/ 2 w 72"/>
                    <a:gd name="T3" fmla="*/ 0 h 30"/>
                    <a:gd name="T4" fmla="*/ 2 w 72"/>
                    <a:gd name="T5" fmla="*/ 0 h 30"/>
                    <a:gd name="T6" fmla="*/ 2 w 72"/>
                    <a:gd name="T7" fmla="*/ 0 h 30"/>
                    <a:gd name="T8" fmla="*/ 3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58" name="Freeform 514"/>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29" name="Group 515"/>
              <p:cNvGrpSpPr>
                <a:grpSpLocks/>
              </p:cNvGrpSpPr>
              <p:nvPr/>
            </p:nvGrpSpPr>
            <p:grpSpPr bwMode="auto">
              <a:xfrm>
                <a:off x="752" y="3597"/>
                <a:ext cx="133" cy="106"/>
                <a:chOff x="752" y="3597"/>
                <a:chExt cx="133" cy="106"/>
              </a:xfrm>
            </p:grpSpPr>
            <p:sp>
              <p:nvSpPr>
                <p:cNvPr id="9453" name="Freeform 516"/>
                <p:cNvSpPr>
                  <a:spLocks/>
                </p:cNvSpPr>
                <p:nvPr/>
              </p:nvSpPr>
              <p:spPr bwMode="auto">
                <a:xfrm>
                  <a:off x="752" y="3598"/>
                  <a:ext cx="91" cy="105"/>
                </a:xfrm>
                <a:custGeom>
                  <a:avLst/>
                  <a:gdLst>
                    <a:gd name="T0" fmla="*/ 6 w 182"/>
                    <a:gd name="T1" fmla="*/ 1 h 314"/>
                    <a:gd name="T2" fmla="*/ 0 w 182"/>
                    <a:gd name="T3" fmla="*/ 0 h 314"/>
                    <a:gd name="T4" fmla="*/ 1 w 182"/>
                    <a:gd name="T5" fmla="*/ 0 h 314"/>
                    <a:gd name="T6" fmla="*/ 6 w 182"/>
                    <a:gd name="T7" fmla="*/ 1 h 314"/>
                    <a:gd name="T8" fmla="*/ 6 w 182"/>
                    <a:gd name="T9" fmla="*/ 1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54" name="Freeform 517"/>
                <p:cNvSpPr>
                  <a:spLocks/>
                </p:cNvSpPr>
                <p:nvPr/>
              </p:nvSpPr>
              <p:spPr bwMode="auto">
                <a:xfrm>
                  <a:off x="759" y="3597"/>
                  <a:ext cx="118" cy="94"/>
                </a:xfrm>
                <a:custGeom>
                  <a:avLst/>
                  <a:gdLst>
                    <a:gd name="T0" fmla="*/ 1 w 235"/>
                    <a:gd name="T1" fmla="*/ 0 h 281"/>
                    <a:gd name="T2" fmla="*/ 2 w 235"/>
                    <a:gd name="T3" fmla="*/ 0 h 281"/>
                    <a:gd name="T4" fmla="*/ 2 w 235"/>
                    <a:gd name="T5" fmla="*/ 0 h 281"/>
                    <a:gd name="T6" fmla="*/ 3 w 235"/>
                    <a:gd name="T7" fmla="*/ 0 h 281"/>
                    <a:gd name="T8" fmla="*/ 8 w 235"/>
                    <a:gd name="T9" fmla="*/ 1 h 281"/>
                    <a:gd name="T10" fmla="*/ 6 w 235"/>
                    <a:gd name="T11" fmla="*/ 1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55" name="Freeform 518"/>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2 w 95"/>
                    <a:gd name="T9" fmla="*/ 0 h 36"/>
                    <a:gd name="T10" fmla="*/ 2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30" name="Group 519"/>
              <p:cNvGrpSpPr>
                <a:grpSpLocks/>
              </p:cNvGrpSpPr>
              <p:nvPr/>
            </p:nvGrpSpPr>
            <p:grpSpPr bwMode="auto">
              <a:xfrm>
                <a:off x="844" y="3694"/>
                <a:ext cx="48" cy="23"/>
                <a:chOff x="844" y="3694"/>
                <a:chExt cx="48" cy="23"/>
              </a:xfrm>
            </p:grpSpPr>
            <p:sp>
              <p:nvSpPr>
                <p:cNvPr id="9450" name="Freeform 520"/>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51" name="Freeform 521"/>
                <p:cNvSpPr>
                  <a:spLocks/>
                </p:cNvSpPr>
                <p:nvPr/>
              </p:nvSpPr>
              <p:spPr bwMode="auto">
                <a:xfrm>
                  <a:off x="848" y="3695"/>
                  <a:ext cx="37" cy="10"/>
                </a:xfrm>
                <a:custGeom>
                  <a:avLst/>
                  <a:gdLst>
                    <a:gd name="T0" fmla="*/ 1 w 74"/>
                    <a:gd name="T1" fmla="*/ 0 h 30"/>
                    <a:gd name="T2" fmla="*/ 2 w 74"/>
                    <a:gd name="T3" fmla="*/ 0 h 30"/>
                    <a:gd name="T4" fmla="*/ 2 w 74"/>
                    <a:gd name="T5" fmla="*/ 0 h 30"/>
                    <a:gd name="T6" fmla="*/ 2 w 74"/>
                    <a:gd name="T7" fmla="*/ 0 h 30"/>
                    <a:gd name="T8" fmla="*/ 3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52" name="Freeform 522"/>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3 w 81"/>
                    <a:gd name="T9" fmla="*/ 0 h 34"/>
                    <a:gd name="T10" fmla="*/ 3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31" name="Group 523"/>
              <p:cNvGrpSpPr>
                <a:grpSpLocks/>
              </p:cNvGrpSpPr>
              <p:nvPr/>
            </p:nvGrpSpPr>
            <p:grpSpPr bwMode="auto">
              <a:xfrm>
                <a:off x="857" y="3710"/>
                <a:ext cx="49" cy="22"/>
                <a:chOff x="857" y="3710"/>
                <a:chExt cx="49" cy="22"/>
              </a:xfrm>
            </p:grpSpPr>
            <p:sp>
              <p:nvSpPr>
                <p:cNvPr id="9447" name="Freeform 524"/>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48" name="Freeform 525"/>
                <p:cNvSpPr>
                  <a:spLocks/>
                </p:cNvSpPr>
                <p:nvPr/>
              </p:nvSpPr>
              <p:spPr bwMode="auto">
                <a:xfrm>
                  <a:off x="862" y="3710"/>
                  <a:ext cx="36" cy="10"/>
                </a:xfrm>
                <a:custGeom>
                  <a:avLst/>
                  <a:gdLst>
                    <a:gd name="T0" fmla="*/ 1 w 72"/>
                    <a:gd name="T1" fmla="*/ 0 h 29"/>
                    <a:gd name="T2" fmla="*/ 2 w 72"/>
                    <a:gd name="T3" fmla="*/ 0 h 29"/>
                    <a:gd name="T4" fmla="*/ 2 w 72"/>
                    <a:gd name="T5" fmla="*/ 0 h 29"/>
                    <a:gd name="T6" fmla="*/ 2 w 72"/>
                    <a:gd name="T7" fmla="*/ 0 h 29"/>
                    <a:gd name="T8" fmla="*/ 3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49" name="Freeform 526"/>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2 w 83"/>
                    <a:gd name="T9" fmla="*/ 0 h 36"/>
                    <a:gd name="T10" fmla="*/ 2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32" name="Group 527"/>
              <p:cNvGrpSpPr>
                <a:grpSpLocks/>
              </p:cNvGrpSpPr>
              <p:nvPr/>
            </p:nvGrpSpPr>
            <p:grpSpPr bwMode="auto">
              <a:xfrm>
                <a:off x="1086" y="3766"/>
                <a:ext cx="49" cy="23"/>
                <a:chOff x="1086" y="3766"/>
                <a:chExt cx="49" cy="23"/>
              </a:xfrm>
            </p:grpSpPr>
            <p:sp>
              <p:nvSpPr>
                <p:cNvPr id="9444" name="Freeform 528"/>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45" name="Freeform 529"/>
                <p:cNvSpPr>
                  <a:spLocks/>
                </p:cNvSpPr>
                <p:nvPr/>
              </p:nvSpPr>
              <p:spPr bwMode="auto">
                <a:xfrm>
                  <a:off x="1090" y="3767"/>
                  <a:ext cx="37" cy="10"/>
                </a:xfrm>
                <a:custGeom>
                  <a:avLst/>
                  <a:gdLst>
                    <a:gd name="T0" fmla="*/ 1 w 74"/>
                    <a:gd name="T1" fmla="*/ 0 h 31"/>
                    <a:gd name="T2" fmla="*/ 2 w 74"/>
                    <a:gd name="T3" fmla="*/ 0 h 31"/>
                    <a:gd name="T4" fmla="*/ 2 w 74"/>
                    <a:gd name="T5" fmla="*/ 0 h 31"/>
                    <a:gd name="T6" fmla="*/ 2 w 74"/>
                    <a:gd name="T7" fmla="*/ 0 h 31"/>
                    <a:gd name="T8" fmla="*/ 3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46" name="Freeform 530"/>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3 w 83"/>
                    <a:gd name="T9" fmla="*/ 0 h 36"/>
                    <a:gd name="T10" fmla="*/ 3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33" name="Group 531"/>
              <p:cNvGrpSpPr>
                <a:grpSpLocks/>
              </p:cNvGrpSpPr>
              <p:nvPr/>
            </p:nvGrpSpPr>
            <p:grpSpPr bwMode="auto">
              <a:xfrm>
                <a:off x="934" y="3740"/>
                <a:ext cx="48" cy="23"/>
                <a:chOff x="934" y="3740"/>
                <a:chExt cx="48" cy="23"/>
              </a:xfrm>
            </p:grpSpPr>
            <p:sp>
              <p:nvSpPr>
                <p:cNvPr id="9441" name="Freeform 532"/>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42" name="Freeform 533"/>
                <p:cNvSpPr>
                  <a:spLocks/>
                </p:cNvSpPr>
                <p:nvPr/>
              </p:nvSpPr>
              <p:spPr bwMode="auto">
                <a:xfrm>
                  <a:off x="938" y="3741"/>
                  <a:ext cx="37" cy="10"/>
                </a:xfrm>
                <a:custGeom>
                  <a:avLst/>
                  <a:gdLst>
                    <a:gd name="T0" fmla="*/ 1 w 74"/>
                    <a:gd name="T1" fmla="*/ 0 h 30"/>
                    <a:gd name="T2" fmla="*/ 2 w 74"/>
                    <a:gd name="T3" fmla="*/ 0 h 30"/>
                    <a:gd name="T4" fmla="*/ 2 w 74"/>
                    <a:gd name="T5" fmla="*/ 0 h 30"/>
                    <a:gd name="T6" fmla="*/ 2 w 74"/>
                    <a:gd name="T7" fmla="*/ 0 h 30"/>
                    <a:gd name="T8" fmla="*/ 3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43" name="Freeform 534"/>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434" name="Group 535"/>
              <p:cNvGrpSpPr>
                <a:grpSpLocks/>
              </p:cNvGrpSpPr>
              <p:nvPr/>
            </p:nvGrpSpPr>
            <p:grpSpPr bwMode="auto">
              <a:xfrm>
                <a:off x="943" y="3754"/>
                <a:ext cx="49" cy="23"/>
                <a:chOff x="943" y="3754"/>
                <a:chExt cx="49" cy="23"/>
              </a:xfrm>
            </p:grpSpPr>
            <p:sp>
              <p:nvSpPr>
                <p:cNvPr id="9438" name="Freeform 536"/>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39" name="Freeform 537"/>
                <p:cNvSpPr>
                  <a:spLocks/>
                </p:cNvSpPr>
                <p:nvPr/>
              </p:nvSpPr>
              <p:spPr bwMode="auto">
                <a:xfrm>
                  <a:off x="948" y="3755"/>
                  <a:ext cx="37" cy="10"/>
                </a:xfrm>
                <a:custGeom>
                  <a:avLst/>
                  <a:gdLst>
                    <a:gd name="T0" fmla="*/ 1 w 74"/>
                    <a:gd name="T1" fmla="*/ 0 h 30"/>
                    <a:gd name="T2" fmla="*/ 2 w 74"/>
                    <a:gd name="T3" fmla="*/ 0 h 30"/>
                    <a:gd name="T4" fmla="*/ 2 w 74"/>
                    <a:gd name="T5" fmla="*/ 0 h 30"/>
                    <a:gd name="T6" fmla="*/ 2 w 74"/>
                    <a:gd name="T7" fmla="*/ 0 h 30"/>
                    <a:gd name="T8" fmla="*/ 3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40" name="Freeform 538"/>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3 w 81"/>
                    <a:gd name="T9" fmla="*/ 0 h 36"/>
                    <a:gd name="T10" fmla="*/ 3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435" name="Freeform 539"/>
              <p:cNvSpPr>
                <a:spLocks/>
              </p:cNvSpPr>
              <p:nvPr/>
            </p:nvSpPr>
            <p:spPr bwMode="auto">
              <a:xfrm>
                <a:off x="987" y="3753"/>
                <a:ext cx="25" cy="43"/>
              </a:xfrm>
              <a:custGeom>
                <a:avLst/>
                <a:gdLst>
                  <a:gd name="T0" fmla="*/ 1 w 51"/>
                  <a:gd name="T1" fmla="*/ 1 h 128"/>
                  <a:gd name="T2" fmla="*/ 0 w 51"/>
                  <a:gd name="T3" fmla="*/ 0 h 128"/>
                  <a:gd name="T4" fmla="*/ 0 w 51"/>
                  <a:gd name="T5" fmla="*/ 0 h 128"/>
                  <a:gd name="T6" fmla="*/ 0 w 51"/>
                  <a:gd name="T7" fmla="*/ 0 h 128"/>
                  <a:gd name="T8" fmla="*/ 0 w 51"/>
                  <a:gd name="T9" fmla="*/ 0 h 128"/>
                  <a:gd name="T10" fmla="*/ 1 w 51"/>
                  <a:gd name="T11" fmla="*/ 0 h 128"/>
                  <a:gd name="T12" fmla="*/ 1 w 51"/>
                  <a:gd name="T13" fmla="*/ 1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36" name="Freeform 540"/>
              <p:cNvSpPr>
                <a:spLocks/>
              </p:cNvSpPr>
              <p:nvPr/>
            </p:nvSpPr>
            <p:spPr bwMode="auto">
              <a:xfrm>
                <a:off x="992" y="3753"/>
                <a:ext cx="91" cy="29"/>
              </a:xfrm>
              <a:custGeom>
                <a:avLst/>
                <a:gdLst>
                  <a:gd name="T0" fmla="*/ 0 w 183"/>
                  <a:gd name="T1" fmla="*/ 0 h 85"/>
                  <a:gd name="T2" fmla="*/ 2 w 183"/>
                  <a:gd name="T3" fmla="*/ 0 h 85"/>
                  <a:gd name="T4" fmla="*/ 2 w 183"/>
                  <a:gd name="T5" fmla="*/ 0 h 85"/>
                  <a:gd name="T6" fmla="*/ 2 w 183"/>
                  <a:gd name="T7" fmla="*/ 0 h 85"/>
                  <a:gd name="T8" fmla="*/ 2 w 183"/>
                  <a:gd name="T9" fmla="*/ 0 h 85"/>
                  <a:gd name="T10" fmla="*/ 4 w 183"/>
                  <a:gd name="T11" fmla="*/ 0 h 85"/>
                  <a:gd name="T12" fmla="*/ 5 w 183"/>
                  <a:gd name="T13" fmla="*/ 0 h 85"/>
                  <a:gd name="T14" fmla="*/ 5 w 183"/>
                  <a:gd name="T15" fmla="*/ 0 h 85"/>
                  <a:gd name="T16" fmla="*/ 5 w 183"/>
                  <a:gd name="T17" fmla="*/ 0 h 85"/>
                  <a:gd name="T18" fmla="*/ 2 w 183"/>
                  <a:gd name="T19" fmla="*/ 0 h 85"/>
                  <a:gd name="T20" fmla="*/ 1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37" name="Freeform 541"/>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5 w 160"/>
                  <a:gd name="T9" fmla="*/ 0 h 36"/>
                  <a:gd name="T10" fmla="*/ 6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332" name="Group 542"/>
            <p:cNvGrpSpPr>
              <a:grpSpLocks/>
            </p:cNvGrpSpPr>
            <p:nvPr/>
          </p:nvGrpSpPr>
          <p:grpSpPr bwMode="auto">
            <a:xfrm>
              <a:off x="920" y="3821"/>
              <a:ext cx="413" cy="50"/>
              <a:chOff x="920" y="3821"/>
              <a:chExt cx="413" cy="50"/>
            </a:xfrm>
          </p:grpSpPr>
          <p:sp>
            <p:nvSpPr>
              <p:cNvPr id="9353" name="Freeform 543"/>
              <p:cNvSpPr>
                <a:spLocks/>
              </p:cNvSpPr>
              <p:nvPr/>
            </p:nvSpPr>
            <p:spPr bwMode="auto">
              <a:xfrm>
                <a:off x="920" y="3821"/>
                <a:ext cx="413" cy="50"/>
              </a:xfrm>
              <a:custGeom>
                <a:avLst/>
                <a:gdLst>
                  <a:gd name="T0" fmla="*/ 2 w 825"/>
                  <a:gd name="T1" fmla="*/ 0 h 151"/>
                  <a:gd name="T2" fmla="*/ 1 w 825"/>
                  <a:gd name="T3" fmla="*/ 0 h 151"/>
                  <a:gd name="T4" fmla="*/ 1 w 825"/>
                  <a:gd name="T5" fmla="*/ 0 h 151"/>
                  <a:gd name="T6" fmla="*/ 0 w 825"/>
                  <a:gd name="T7" fmla="*/ 0 h 151"/>
                  <a:gd name="T8" fmla="*/ 1 w 825"/>
                  <a:gd name="T9" fmla="*/ 1 h 151"/>
                  <a:gd name="T10" fmla="*/ 1 w 825"/>
                  <a:gd name="T11" fmla="*/ 1 h 151"/>
                  <a:gd name="T12" fmla="*/ 1 w 825"/>
                  <a:gd name="T13" fmla="*/ 1 h 151"/>
                  <a:gd name="T14" fmla="*/ 25 w 825"/>
                  <a:gd name="T15" fmla="*/ 1 h 151"/>
                  <a:gd name="T16" fmla="*/ 26 w 825"/>
                  <a:gd name="T17" fmla="*/ 1 h 151"/>
                  <a:gd name="T18" fmla="*/ 26 w 825"/>
                  <a:gd name="T19" fmla="*/ 0 h 151"/>
                  <a:gd name="T20" fmla="*/ 26 w 825"/>
                  <a:gd name="T21" fmla="*/ 0 h 151"/>
                  <a:gd name="T22" fmla="*/ 26 w 825"/>
                  <a:gd name="T23" fmla="*/ 0 h 151"/>
                  <a:gd name="T24" fmla="*/ 26 w 825"/>
                  <a:gd name="T25" fmla="*/ 0 h 151"/>
                  <a:gd name="T26" fmla="*/ 25 w 825"/>
                  <a:gd name="T27" fmla="*/ 0 h 151"/>
                  <a:gd name="T28" fmla="*/ 2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a:p>
            </p:txBody>
          </p:sp>
          <p:sp>
            <p:nvSpPr>
              <p:cNvPr id="9354" name="Freeform 544"/>
              <p:cNvSpPr>
                <a:spLocks/>
              </p:cNvSpPr>
              <p:nvPr/>
            </p:nvSpPr>
            <p:spPr bwMode="auto">
              <a:xfrm>
                <a:off x="972" y="3833"/>
                <a:ext cx="330" cy="27"/>
              </a:xfrm>
              <a:custGeom>
                <a:avLst/>
                <a:gdLst>
                  <a:gd name="T0" fmla="*/ 1 w 658"/>
                  <a:gd name="T1" fmla="*/ 0 h 79"/>
                  <a:gd name="T2" fmla="*/ 0 w 658"/>
                  <a:gd name="T3" fmla="*/ 0 h 79"/>
                  <a:gd name="T4" fmla="*/ 5 w 658"/>
                  <a:gd name="T5" fmla="*/ 0 h 79"/>
                  <a:gd name="T6" fmla="*/ 5 w 658"/>
                  <a:gd name="T7" fmla="*/ 0 h 79"/>
                  <a:gd name="T8" fmla="*/ 16 w 658"/>
                  <a:gd name="T9" fmla="*/ 0 h 79"/>
                  <a:gd name="T10" fmla="*/ 16 w 658"/>
                  <a:gd name="T11" fmla="*/ 0 h 79"/>
                  <a:gd name="T12" fmla="*/ 21 w 658"/>
                  <a:gd name="T13" fmla="*/ 0 h 79"/>
                  <a:gd name="T14" fmla="*/ 21 w 658"/>
                  <a:gd name="T15" fmla="*/ 0 h 79"/>
                  <a:gd name="T16" fmla="*/ 16 w 658"/>
                  <a:gd name="T17" fmla="*/ 0 h 79"/>
                  <a:gd name="T18" fmla="*/ 16 w 658"/>
                  <a:gd name="T19" fmla="*/ 0 h 79"/>
                  <a:gd name="T20" fmla="*/ 5 w 658"/>
                  <a:gd name="T21" fmla="*/ 0 h 79"/>
                  <a:gd name="T22" fmla="*/ 5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55" name="Rectangle 545"/>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356" name="Rectangle 546"/>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endParaRPr lang="zh-CN" altLang="en-US"/>
              </a:p>
            </p:txBody>
          </p:sp>
        </p:grpSp>
        <p:grpSp>
          <p:nvGrpSpPr>
            <p:cNvPr id="9333" name="Group 547"/>
            <p:cNvGrpSpPr>
              <a:grpSpLocks/>
            </p:cNvGrpSpPr>
            <p:nvPr/>
          </p:nvGrpSpPr>
          <p:grpSpPr bwMode="auto">
            <a:xfrm>
              <a:off x="1227" y="3477"/>
              <a:ext cx="508" cy="321"/>
              <a:chOff x="1227" y="3477"/>
              <a:chExt cx="508" cy="321"/>
            </a:xfrm>
          </p:grpSpPr>
          <p:sp>
            <p:nvSpPr>
              <p:cNvPr id="9334" name="Freeform 548"/>
              <p:cNvSpPr>
                <a:spLocks/>
              </p:cNvSpPr>
              <p:nvPr/>
            </p:nvSpPr>
            <p:spPr bwMode="auto">
              <a:xfrm>
                <a:off x="1640" y="3731"/>
                <a:ext cx="95" cy="66"/>
              </a:xfrm>
              <a:custGeom>
                <a:avLst/>
                <a:gdLst>
                  <a:gd name="T0" fmla="*/ 3 w 191"/>
                  <a:gd name="T1" fmla="*/ 0 h 200"/>
                  <a:gd name="T2" fmla="*/ 2 w 191"/>
                  <a:gd name="T3" fmla="*/ 0 h 200"/>
                  <a:gd name="T4" fmla="*/ 1 w 191"/>
                  <a:gd name="T5" fmla="*/ 0 h 200"/>
                  <a:gd name="T6" fmla="*/ 1 w 191"/>
                  <a:gd name="T7" fmla="*/ 0 h 200"/>
                  <a:gd name="T8" fmla="*/ 0 w 191"/>
                  <a:gd name="T9" fmla="*/ 0 h 200"/>
                  <a:gd name="T10" fmla="*/ 0 w 191"/>
                  <a:gd name="T11" fmla="*/ 0 h 200"/>
                  <a:gd name="T12" fmla="*/ 0 w 191"/>
                  <a:gd name="T13" fmla="*/ 1 h 200"/>
                  <a:gd name="T14" fmla="*/ 0 w 191"/>
                  <a:gd name="T15" fmla="*/ 1 h 200"/>
                  <a:gd name="T16" fmla="*/ 5 w 191"/>
                  <a:gd name="T17" fmla="*/ 1 h 200"/>
                  <a:gd name="T18" fmla="*/ 5 w 191"/>
                  <a:gd name="T19" fmla="*/ 0 h 200"/>
                  <a:gd name="T20" fmla="*/ 4 w 191"/>
                  <a:gd name="T21" fmla="*/ 0 h 200"/>
                  <a:gd name="T22" fmla="*/ 3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a:p>
            </p:txBody>
          </p:sp>
          <p:sp>
            <p:nvSpPr>
              <p:cNvPr id="9335" name="Freeform 549"/>
              <p:cNvSpPr>
                <a:spLocks/>
              </p:cNvSpPr>
              <p:nvPr/>
            </p:nvSpPr>
            <p:spPr bwMode="auto">
              <a:xfrm>
                <a:off x="1227" y="3477"/>
                <a:ext cx="429" cy="264"/>
              </a:xfrm>
              <a:custGeom>
                <a:avLst/>
                <a:gdLst>
                  <a:gd name="T0" fmla="*/ 0 w 860"/>
                  <a:gd name="T1" fmla="*/ 0 h 791"/>
                  <a:gd name="T2" fmla="*/ 26 w 860"/>
                  <a:gd name="T3" fmla="*/ 3 h 791"/>
                  <a:gd name="T4" fmla="*/ 26 w 860"/>
                  <a:gd name="T5" fmla="*/ 3 h 791"/>
                  <a:gd name="T6" fmla="*/ 26 w 860"/>
                  <a:gd name="T7" fmla="*/ 3 h 791"/>
                  <a:gd name="T8" fmla="*/ 0 w 860"/>
                  <a:gd name="T9" fmla="*/ 0 h 7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36" name="Freeform 550"/>
              <p:cNvSpPr>
                <a:spLocks/>
              </p:cNvSpPr>
              <p:nvPr/>
            </p:nvSpPr>
            <p:spPr bwMode="auto">
              <a:xfrm>
                <a:off x="1521" y="3650"/>
                <a:ext cx="141" cy="122"/>
              </a:xfrm>
              <a:custGeom>
                <a:avLst/>
                <a:gdLst>
                  <a:gd name="T0" fmla="*/ 1 w 281"/>
                  <a:gd name="T1" fmla="*/ 0 h 366"/>
                  <a:gd name="T2" fmla="*/ 1 w 281"/>
                  <a:gd name="T3" fmla="*/ 0 h 366"/>
                  <a:gd name="T4" fmla="*/ 2 w 281"/>
                  <a:gd name="T5" fmla="*/ 0 h 366"/>
                  <a:gd name="T6" fmla="*/ 3 w 281"/>
                  <a:gd name="T7" fmla="*/ 0 h 366"/>
                  <a:gd name="T8" fmla="*/ 4 w 281"/>
                  <a:gd name="T9" fmla="*/ 0 h 366"/>
                  <a:gd name="T10" fmla="*/ 5 w 281"/>
                  <a:gd name="T11" fmla="*/ 0 h 366"/>
                  <a:gd name="T12" fmla="*/ 9 w 281"/>
                  <a:gd name="T13" fmla="*/ 1 h 366"/>
                  <a:gd name="T14" fmla="*/ 9 w 281"/>
                  <a:gd name="T15" fmla="*/ 1 h 366"/>
                  <a:gd name="T16" fmla="*/ 8 w 281"/>
                  <a:gd name="T17" fmla="*/ 1 h 366"/>
                  <a:gd name="T18" fmla="*/ 6 w 281"/>
                  <a:gd name="T19" fmla="*/ 1 h 366"/>
                  <a:gd name="T20" fmla="*/ 5 w 281"/>
                  <a:gd name="T21" fmla="*/ 1 h 366"/>
                  <a:gd name="T22" fmla="*/ 5 w 281"/>
                  <a:gd name="T23" fmla="*/ 1 h 366"/>
                  <a:gd name="T24" fmla="*/ 5 w 281"/>
                  <a:gd name="T25" fmla="*/ 1 h 366"/>
                  <a:gd name="T26" fmla="*/ 5 w 281"/>
                  <a:gd name="T27" fmla="*/ 1 h 366"/>
                  <a:gd name="T28" fmla="*/ 5 w 281"/>
                  <a:gd name="T29" fmla="*/ 2 h 366"/>
                  <a:gd name="T30" fmla="*/ 0 w 281"/>
                  <a:gd name="T31" fmla="*/ 1 h 366"/>
                  <a:gd name="T32" fmla="*/ 0 w 281"/>
                  <a:gd name="T33" fmla="*/ 1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9337" name="Line 551"/>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38" name="Freeform 552"/>
              <p:cNvSpPr>
                <a:spLocks/>
              </p:cNvSpPr>
              <p:nvPr/>
            </p:nvSpPr>
            <p:spPr bwMode="auto">
              <a:xfrm>
                <a:off x="1242" y="3486"/>
                <a:ext cx="111" cy="96"/>
              </a:xfrm>
              <a:custGeom>
                <a:avLst/>
                <a:gdLst>
                  <a:gd name="T0" fmla="*/ 1 w 222"/>
                  <a:gd name="T1" fmla="*/ 0 h 289"/>
                  <a:gd name="T2" fmla="*/ 1 w 222"/>
                  <a:gd name="T3" fmla="*/ 0 h 289"/>
                  <a:gd name="T4" fmla="*/ 2 w 222"/>
                  <a:gd name="T5" fmla="*/ 0 h 289"/>
                  <a:gd name="T6" fmla="*/ 3 w 222"/>
                  <a:gd name="T7" fmla="*/ 0 h 289"/>
                  <a:gd name="T8" fmla="*/ 5 w 222"/>
                  <a:gd name="T9" fmla="*/ 0 h 289"/>
                  <a:gd name="T10" fmla="*/ 5 w 222"/>
                  <a:gd name="T11" fmla="*/ 0 h 289"/>
                  <a:gd name="T12" fmla="*/ 7 w 222"/>
                  <a:gd name="T13" fmla="*/ 0 h 289"/>
                  <a:gd name="T14" fmla="*/ 7 w 222"/>
                  <a:gd name="T15" fmla="*/ 0 h 289"/>
                  <a:gd name="T16" fmla="*/ 6 w 222"/>
                  <a:gd name="T17" fmla="*/ 0 h 289"/>
                  <a:gd name="T18" fmla="*/ 6 w 222"/>
                  <a:gd name="T19" fmla="*/ 0 h 289"/>
                  <a:gd name="T20" fmla="*/ 5 w 222"/>
                  <a:gd name="T21" fmla="*/ 1 h 289"/>
                  <a:gd name="T22" fmla="*/ 4 w 222"/>
                  <a:gd name="T23" fmla="*/ 1 h 289"/>
                  <a:gd name="T24" fmla="*/ 4 w 222"/>
                  <a:gd name="T25" fmla="*/ 1 h 289"/>
                  <a:gd name="T26" fmla="*/ 4 w 222"/>
                  <a:gd name="T27" fmla="*/ 1 h 289"/>
                  <a:gd name="T28" fmla="*/ 3 w 222"/>
                  <a:gd name="T29" fmla="*/ 1 h 289"/>
                  <a:gd name="T30" fmla="*/ 0 w 222"/>
                  <a:gd name="T31" fmla="*/ 1 h 289"/>
                  <a:gd name="T32" fmla="*/ 1 w 222"/>
                  <a:gd name="T33" fmla="*/ 1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9339" name="Freeform 553"/>
              <p:cNvSpPr>
                <a:spLocks/>
              </p:cNvSpPr>
              <p:nvPr/>
            </p:nvSpPr>
            <p:spPr bwMode="auto">
              <a:xfrm>
                <a:off x="1456" y="3626"/>
                <a:ext cx="64" cy="62"/>
              </a:xfrm>
              <a:custGeom>
                <a:avLst/>
                <a:gdLst>
                  <a:gd name="T0" fmla="*/ 4 w 128"/>
                  <a:gd name="T1" fmla="*/ 0 h 186"/>
                  <a:gd name="T2" fmla="*/ 2 w 128"/>
                  <a:gd name="T3" fmla="*/ 0 h 186"/>
                  <a:gd name="T4" fmla="*/ 1 w 128"/>
                  <a:gd name="T5" fmla="*/ 0 h 186"/>
                  <a:gd name="T6" fmla="*/ 1 w 128"/>
                  <a:gd name="T7" fmla="*/ 0 h 186"/>
                  <a:gd name="T8" fmla="*/ 0 w 128"/>
                  <a:gd name="T9" fmla="*/ 0 h 186"/>
                  <a:gd name="T10" fmla="*/ 0 w 128"/>
                  <a:gd name="T11" fmla="*/ 1 h 186"/>
                  <a:gd name="T12" fmla="*/ 0 w 128"/>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9340" name="Freeform 554"/>
              <p:cNvSpPr>
                <a:spLocks/>
              </p:cNvSpPr>
              <p:nvPr/>
            </p:nvSpPr>
            <p:spPr bwMode="auto">
              <a:xfrm>
                <a:off x="1440" y="3615"/>
                <a:ext cx="63" cy="61"/>
              </a:xfrm>
              <a:custGeom>
                <a:avLst/>
                <a:gdLst>
                  <a:gd name="T0" fmla="*/ 4 w 126"/>
                  <a:gd name="T1" fmla="*/ 0 h 185"/>
                  <a:gd name="T2" fmla="*/ 2 w 126"/>
                  <a:gd name="T3" fmla="*/ 0 h 185"/>
                  <a:gd name="T4" fmla="*/ 1 w 126"/>
                  <a:gd name="T5" fmla="*/ 0 h 185"/>
                  <a:gd name="T6" fmla="*/ 1 w 126"/>
                  <a:gd name="T7" fmla="*/ 0 h 185"/>
                  <a:gd name="T8" fmla="*/ 0 w 126"/>
                  <a:gd name="T9" fmla="*/ 0 h 185"/>
                  <a:gd name="T10" fmla="*/ 0 w 126"/>
                  <a:gd name="T11" fmla="*/ 1 h 185"/>
                  <a:gd name="T12" fmla="*/ 0 w 126"/>
                  <a:gd name="T13" fmla="*/ 1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9341" name="Freeform 555"/>
              <p:cNvSpPr>
                <a:spLocks/>
              </p:cNvSpPr>
              <p:nvPr/>
            </p:nvSpPr>
            <p:spPr bwMode="auto">
              <a:xfrm>
                <a:off x="1422" y="3604"/>
                <a:ext cx="64" cy="62"/>
              </a:xfrm>
              <a:custGeom>
                <a:avLst/>
                <a:gdLst>
                  <a:gd name="T0" fmla="*/ 4 w 127"/>
                  <a:gd name="T1" fmla="*/ 0 h 185"/>
                  <a:gd name="T2" fmla="*/ 2 w 127"/>
                  <a:gd name="T3" fmla="*/ 0 h 185"/>
                  <a:gd name="T4" fmla="*/ 1 w 127"/>
                  <a:gd name="T5" fmla="*/ 0 h 185"/>
                  <a:gd name="T6" fmla="*/ 1 w 127"/>
                  <a:gd name="T7" fmla="*/ 0 h 185"/>
                  <a:gd name="T8" fmla="*/ 0 w 127"/>
                  <a:gd name="T9" fmla="*/ 0 h 185"/>
                  <a:gd name="T10" fmla="*/ 0 w 127"/>
                  <a:gd name="T11" fmla="*/ 1 h 185"/>
                  <a:gd name="T12" fmla="*/ 0 w 127"/>
                  <a:gd name="T13" fmla="*/ 1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9342" name="Freeform 556"/>
              <p:cNvSpPr>
                <a:spLocks/>
              </p:cNvSpPr>
              <p:nvPr/>
            </p:nvSpPr>
            <p:spPr bwMode="auto">
              <a:xfrm>
                <a:off x="1401" y="3594"/>
                <a:ext cx="64" cy="62"/>
              </a:xfrm>
              <a:custGeom>
                <a:avLst/>
                <a:gdLst>
                  <a:gd name="T0" fmla="*/ 4 w 127"/>
                  <a:gd name="T1" fmla="*/ 0 h 186"/>
                  <a:gd name="T2" fmla="*/ 2 w 127"/>
                  <a:gd name="T3" fmla="*/ 0 h 186"/>
                  <a:gd name="T4" fmla="*/ 1 w 127"/>
                  <a:gd name="T5" fmla="*/ 0 h 186"/>
                  <a:gd name="T6" fmla="*/ 1 w 127"/>
                  <a:gd name="T7" fmla="*/ 0 h 186"/>
                  <a:gd name="T8" fmla="*/ 0 w 127"/>
                  <a:gd name="T9" fmla="*/ 0 h 186"/>
                  <a:gd name="T10" fmla="*/ 0 w 127"/>
                  <a:gd name="T11" fmla="*/ 1 h 186"/>
                  <a:gd name="T12" fmla="*/ 0 w 127"/>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9343" name="Freeform 557"/>
              <p:cNvSpPr>
                <a:spLocks/>
              </p:cNvSpPr>
              <p:nvPr/>
            </p:nvSpPr>
            <p:spPr bwMode="auto">
              <a:xfrm>
                <a:off x="1383" y="3583"/>
                <a:ext cx="64" cy="62"/>
              </a:xfrm>
              <a:custGeom>
                <a:avLst/>
                <a:gdLst>
                  <a:gd name="T0" fmla="*/ 4 w 128"/>
                  <a:gd name="T1" fmla="*/ 0 h 186"/>
                  <a:gd name="T2" fmla="*/ 2 w 128"/>
                  <a:gd name="T3" fmla="*/ 0 h 186"/>
                  <a:gd name="T4" fmla="*/ 1 w 128"/>
                  <a:gd name="T5" fmla="*/ 0 h 186"/>
                  <a:gd name="T6" fmla="*/ 1 w 128"/>
                  <a:gd name="T7" fmla="*/ 0 h 186"/>
                  <a:gd name="T8" fmla="*/ 0 w 128"/>
                  <a:gd name="T9" fmla="*/ 0 h 186"/>
                  <a:gd name="T10" fmla="*/ 0 w 128"/>
                  <a:gd name="T11" fmla="*/ 1 h 186"/>
                  <a:gd name="T12" fmla="*/ 0 w 128"/>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9344" name="Freeform 558"/>
              <p:cNvSpPr>
                <a:spLocks/>
              </p:cNvSpPr>
              <p:nvPr/>
            </p:nvSpPr>
            <p:spPr bwMode="auto">
              <a:xfrm>
                <a:off x="1365" y="3570"/>
                <a:ext cx="63" cy="62"/>
              </a:xfrm>
              <a:custGeom>
                <a:avLst/>
                <a:gdLst>
                  <a:gd name="T0" fmla="*/ 4 w 126"/>
                  <a:gd name="T1" fmla="*/ 0 h 186"/>
                  <a:gd name="T2" fmla="*/ 2 w 126"/>
                  <a:gd name="T3" fmla="*/ 0 h 186"/>
                  <a:gd name="T4" fmla="*/ 1 w 126"/>
                  <a:gd name="T5" fmla="*/ 0 h 186"/>
                  <a:gd name="T6" fmla="*/ 1 w 126"/>
                  <a:gd name="T7" fmla="*/ 0 h 186"/>
                  <a:gd name="T8" fmla="*/ 0 w 126"/>
                  <a:gd name="T9" fmla="*/ 0 h 186"/>
                  <a:gd name="T10" fmla="*/ 0 w 126"/>
                  <a:gd name="T11" fmla="*/ 1 h 186"/>
                  <a:gd name="T12" fmla="*/ 0 w 126"/>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9345" name="Freeform 559"/>
              <p:cNvSpPr>
                <a:spLocks/>
              </p:cNvSpPr>
              <p:nvPr/>
            </p:nvSpPr>
            <p:spPr bwMode="auto">
              <a:xfrm>
                <a:off x="1349" y="3558"/>
                <a:ext cx="64" cy="62"/>
              </a:xfrm>
              <a:custGeom>
                <a:avLst/>
                <a:gdLst>
                  <a:gd name="T0" fmla="*/ 4 w 127"/>
                  <a:gd name="T1" fmla="*/ 0 h 186"/>
                  <a:gd name="T2" fmla="*/ 2 w 127"/>
                  <a:gd name="T3" fmla="*/ 0 h 186"/>
                  <a:gd name="T4" fmla="*/ 2 w 127"/>
                  <a:gd name="T5" fmla="*/ 0 h 186"/>
                  <a:gd name="T6" fmla="*/ 1 w 127"/>
                  <a:gd name="T7" fmla="*/ 0 h 186"/>
                  <a:gd name="T8" fmla="*/ 0 w 127"/>
                  <a:gd name="T9" fmla="*/ 0 h 186"/>
                  <a:gd name="T10" fmla="*/ 0 w 127"/>
                  <a:gd name="T11" fmla="*/ 1 h 186"/>
                  <a:gd name="T12" fmla="*/ 0 w 127"/>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9346" name="Freeform 560"/>
              <p:cNvSpPr>
                <a:spLocks/>
              </p:cNvSpPr>
              <p:nvPr/>
            </p:nvSpPr>
            <p:spPr bwMode="auto">
              <a:xfrm>
                <a:off x="1331" y="3550"/>
                <a:ext cx="63" cy="62"/>
              </a:xfrm>
              <a:custGeom>
                <a:avLst/>
                <a:gdLst>
                  <a:gd name="T0" fmla="*/ 3 w 127"/>
                  <a:gd name="T1" fmla="*/ 0 h 186"/>
                  <a:gd name="T2" fmla="*/ 1 w 127"/>
                  <a:gd name="T3" fmla="*/ 0 h 186"/>
                  <a:gd name="T4" fmla="*/ 1 w 127"/>
                  <a:gd name="T5" fmla="*/ 0 h 186"/>
                  <a:gd name="T6" fmla="*/ 0 w 127"/>
                  <a:gd name="T7" fmla="*/ 0 h 186"/>
                  <a:gd name="T8" fmla="*/ 0 w 127"/>
                  <a:gd name="T9" fmla="*/ 0 h 186"/>
                  <a:gd name="T10" fmla="*/ 0 w 127"/>
                  <a:gd name="T11" fmla="*/ 1 h 186"/>
                  <a:gd name="T12" fmla="*/ 0 w 127"/>
                  <a:gd name="T13" fmla="*/ 1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9347" name="Freeform 561"/>
              <p:cNvSpPr>
                <a:spLocks/>
              </p:cNvSpPr>
              <p:nvPr/>
            </p:nvSpPr>
            <p:spPr bwMode="auto">
              <a:xfrm>
                <a:off x="1308" y="3501"/>
                <a:ext cx="47" cy="25"/>
              </a:xfrm>
              <a:custGeom>
                <a:avLst/>
                <a:gdLst>
                  <a:gd name="T0" fmla="*/ 0 w 96"/>
                  <a:gd name="T1" fmla="*/ 0 h 74"/>
                  <a:gd name="T2" fmla="*/ 2 w 96"/>
                  <a:gd name="T3" fmla="*/ 0 h 74"/>
                  <a:gd name="T4" fmla="*/ 2 w 96"/>
                  <a:gd name="T5" fmla="*/ 0 h 74"/>
                  <a:gd name="T6" fmla="*/ 2 w 96"/>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a:p>
            </p:txBody>
          </p:sp>
          <p:sp>
            <p:nvSpPr>
              <p:cNvPr id="9348" name="Oval 562"/>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49" name="Oval 563"/>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50" name="Freeform 564"/>
              <p:cNvSpPr>
                <a:spLocks/>
              </p:cNvSpPr>
              <p:nvPr/>
            </p:nvSpPr>
            <p:spPr bwMode="auto">
              <a:xfrm>
                <a:off x="1511" y="3785"/>
                <a:ext cx="94" cy="8"/>
              </a:xfrm>
              <a:custGeom>
                <a:avLst/>
                <a:gdLst>
                  <a:gd name="T0" fmla="*/ 0 w 188"/>
                  <a:gd name="T1" fmla="*/ 0 h 25"/>
                  <a:gd name="T2" fmla="*/ 1 w 188"/>
                  <a:gd name="T3" fmla="*/ 0 h 25"/>
                  <a:gd name="T4" fmla="*/ 6 w 188"/>
                  <a:gd name="T5" fmla="*/ 0 h 25"/>
                  <a:gd name="T6" fmla="*/ 6 w 188"/>
                  <a:gd name="T7" fmla="*/ 0 h 25"/>
                  <a:gd name="T8" fmla="*/ 0 w 188"/>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51" name="Oval 565"/>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52" name="Oval 566"/>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9242" name="Group 567"/>
          <p:cNvGrpSpPr>
            <a:grpSpLocks/>
          </p:cNvGrpSpPr>
          <p:nvPr/>
        </p:nvGrpSpPr>
        <p:grpSpPr bwMode="auto">
          <a:xfrm>
            <a:off x="6997700" y="3008313"/>
            <a:ext cx="1128713" cy="781050"/>
            <a:chOff x="1680" y="240"/>
            <a:chExt cx="2529" cy="1270"/>
          </a:xfrm>
        </p:grpSpPr>
        <p:sp>
          <p:nvSpPr>
            <p:cNvPr id="9310" name="Oval 568"/>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311" name="Oval 569"/>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312" name="Oval 570"/>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313" name="Oval 571"/>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314" name="Oval 572"/>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315" name="Oval 573"/>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316" name="Oval 574"/>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317" name="Oval 575"/>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318" name="Oval 576"/>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9243" name="Text Box 577"/>
          <p:cNvSpPr txBox="1">
            <a:spLocks noChangeArrowheads="1"/>
          </p:cNvSpPr>
          <p:nvPr/>
        </p:nvSpPr>
        <p:spPr bwMode="auto">
          <a:xfrm>
            <a:off x="7226300" y="319722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局域网</a:t>
            </a:r>
          </a:p>
        </p:txBody>
      </p:sp>
      <p:sp>
        <p:nvSpPr>
          <p:cNvPr id="9244" name="Line 578"/>
          <p:cNvSpPr>
            <a:spLocks noChangeShapeType="1"/>
          </p:cNvSpPr>
          <p:nvPr/>
        </p:nvSpPr>
        <p:spPr bwMode="auto">
          <a:xfrm flipV="1">
            <a:off x="1039813" y="3074988"/>
            <a:ext cx="1223962" cy="360362"/>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5" name="Line 579"/>
          <p:cNvSpPr>
            <a:spLocks noChangeShapeType="1"/>
          </p:cNvSpPr>
          <p:nvPr/>
        </p:nvSpPr>
        <p:spPr bwMode="auto">
          <a:xfrm flipV="1">
            <a:off x="4970463" y="3087688"/>
            <a:ext cx="1406525" cy="115887"/>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6" name="Line 580"/>
          <p:cNvSpPr>
            <a:spLocks noChangeShapeType="1"/>
          </p:cNvSpPr>
          <p:nvPr/>
        </p:nvSpPr>
        <p:spPr bwMode="auto">
          <a:xfrm>
            <a:off x="6977063" y="3133725"/>
            <a:ext cx="1587500" cy="261938"/>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7" name="Line 581"/>
          <p:cNvSpPr>
            <a:spLocks noChangeShapeType="1"/>
          </p:cNvSpPr>
          <p:nvPr/>
        </p:nvSpPr>
        <p:spPr bwMode="auto">
          <a:xfrm>
            <a:off x="2906713" y="3044825"/>
            <a:ext cx="1543050" cy="142875"/>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8" name="Text Box 583"/>
          <p:cNvSpPr txBox="1">
            <a:spLocks noChangeArrowheads="1"/>
          </p:cNvSpPr>
          <p:nvPr/>
        </p:nvSpPr>
        <p:spPr bwMode="auto">
          <a:xfrm>
            <a:off x="2493963" y="1844675"/>
            <a:ext cx="4165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3200">
                <a:solidFill>
                  <a:srgbClr val="333399"/>
                </a:solidFill>
                <a:latin typeface="Arial" pitchFamily="34" charset="0"/>
                <a:ea typeface="黑体" pitchFamily="49" charset="-122"/>
              </a:rPr>
              <a:t>主机</a:t>
            </a:r>
            <a:r>
              <a:rPr kumimoji="1" lang="zh-CN" altLang="en-US" sz="1800">
                <a:solidFill>
                  <a:srgbClr val="333399"/>
                </a:solidFill>
                <a:latin typeface="Arial" pitchFamily="34" charset="0"/>
                <a:ea typeface="黑体" pitchFamily="49" charset="-122"/>
              </a:rPr>
              <a:t> </a:t>
            </a:r>
            <a:r>
              <a:rPr kumimoji="1" lang="en-US" altLang="zh-CN" sz="3200">
                <a:solidFill>
                  <a:srgbClr val="333399"/>
                </a:solidFill>
                <a:latin typeface="Arial" pitchFamily="34" charset="0"/>
                <a:ea typeface="黑体" pitchFamily="49" charset="-122"/>
              </a:rPr>
              <a:t>H</a:t>
            </a:r>
            <a:r>
              <a:rPr kumimoji="1" lang="en-US" altLang="zh-CN" sz="3200" baseline="-25000">
                <a:solidFill>
                  <a:srgbClr val="333399"/>
                </a:solidFill>
                <a:latin typeface="Arial" pitchFamily="34" charset="0"/>
                <a:ea typeface="黑体" pitchFamily="49" charset="-122"/>
              </a:rPr>
              <a:t>1</a:t>
            </a:r>
            <a:r>
              <a:rPr kumimoji="1" lang="en-US" altLang="zh-CN" sz="1800">
                <a:solidFill>
                  <a:srgbClr val="333399"/>
                </a:solidFill>
                <a:latin typeface="Arial" pitchFamily="34" charset="0"/>
                <a:ea typeface="黑体" pitchFamily="49" charset="-122"/>
              </a:rPr>
              <a:t> </a:t>
            </a:r>
            <a:r>
              <a:rPr kumimoji="1" lang="zh-CN" altLang="en-US" sz="3200">
                <a:solidFill>
                  <a:srgbClr val="333399"/>
                </a:solidFill>
                <a:latin typeface="Arial" pitchFamily="34" charset="0"/>
                <a:ea typeface="黑体" pitchFamily="49" charset="-122"/>
              </a:rPr>
              <a:t>向</a:t>
            </a:r>
            <a:r>
              <a:rPr kumimoji="1" lang="zh-CN" altLang="en-US" sz="1800">
                <a:solidFill>
                  <a:srgbClr val="333399"/>
                </a:solidFill>
                <a:latin typeface="Arial" pitchFamily="34" charset="0"/>
                <a:ea typeface="黑体" pitchFamily="49" charset="-122"/>
              </a:rPr>
              <a:t> </a:t>
            </a:r>
            <a:r>
              <a:rPr kumimoji="1" lang="en-US" altLang="zh-CN" sz="3200">
                <a:solidFill>
                  <a:srgbClr val="333399"/>
                </a:solidFill>
                <a:latin typeface="Arial" pitchFamily="34" charset="0"/>
                <a:ea typeface="黑体" pitchFamily="49" charset="-122"/>
              </a:rPr>
              <a:t>H</a:t>
            </a:r>
            <a:r>
              <a:rPr kumimoji="1" lang="en-US" altLang="zh-CN" sz="3200" baseline="-25000">
                <a:solidFill>
                  <a:srgbClr val="333399"/>
                </a:solidFill>
                <a:latin typeface="Arial" pitchFamily="34" charset="0"/>
                <a:ea typeface="黑体" pitchFamily="49" charset="-122"/>
              </a:rPr>
              <a:t>2</a:t>
            </a:r>
            <a:r>
              <a:rPr kumimoji="1" lang="en-US" altLang="zh-CN" sz="1800">
                <a:solidFill>
                  <a:srgbClr val="333399"/>
                </a:solidFill>
                <a:latin typeface="Arial" pitchFamily="34" charset="0"/>
                <a:ea typeface="黑体" pitchFamily="49" charset="-122"/>
              </a:rPr>
              <a:t> </a:t>
            </a:r>
            <a:r>
              <a:rPr kumimoji="1" lang="zh-CN" altLang="en-US" sz="3200">
                <a:solidFill>
                  <a:srgbClr val="333399"/>
                </a:solidFill>
                <a:latin typeface="Arial" pitchFamily="34" charset="0"/>
                <a:ea typeface="黑体" pitchFamily="49" charset="-122"/>
              </a:rPr>
              <a:t>发送数据</a:t>
            </a:r>
            <a:endParaRPr kumimoji="1" lang="zh-CN" altLang="en-US" sz="3200" baseline="-25000">
              <a:solidFill>
                <a:srgbClr val="333399"/>
              </a:solidFill>
              <a:latin typeface="Arial" pitchFamily="34" charset="0"/>
              <a:ea typeface="黑体" pitchFamily="49" charset="-122"/>
            </a:endParaRPr>
          </a:p>
        </p:txBody>
      </p:sp>
      <p:grpSp>
        <p:nvGrpSpPr>
          <p:cNvPr id="9249" name="Group 585"/>
          <p:cNvGrpSpPr>
            <a:grpSpLocks/>
          </p:cNvGrpSpPr>
          <p:nvPr/>
        </p:nvGrpSpPr>
        <p:grpSpPr bwMode="auto">
          <a:xfrm>
            <a:off x="250825" y="4179888"/>
            <a:ext cx="895350" cy="1816100"/>
            <a:chOff x="292" y="2832"/>
            <a:chExt cx="620" cy="1200"/>
          </a:xfrm>
        </p:grpSpPr>
        <p:sp>
          <p:nvSpPr>
            <p:cNvPr id="9305" name="AutoShape 586"/>
            <p:cNvSpPr>
              <a:spLocks noChangeArrowheads="1"/>
            </p:cNvSpPr>
            <p:nvPr/>
          </p:nvSpPr>
          <p:spPr bwMode="auto">
            <a:xfrm>
              <a:off x="292" y="2832"/>
              <a:ext cx="620" cy="1200"/>
            </a:xfrm>
            <a:prstGeom prst="cube">
              <a:avLst>
                <a:gd name="adj" fmla="val 925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6" name="Freeform 587"/>
            <p:cNvSpPr>
              <a:spLocks/>
            </p:cNvSpPr>
            <p:nvPr/>
          </p:nvSpPr>
          <p:spPr bwMode="auto">
            <a:xfrm>
              <a:off x="292" y="3732"/>
              <a:ext cx="620" cy="79"/>
            </a:xfrm>
            <a:custGeom>
              <a:avLst/>
              <a:gdLst>
                <a:gd name="T0" fmla="*/ 0 w 1200"/>
                <a:gd name="T1" fmla="*/ 14 h 120"/>
                <a:gd name="T2" fmla="*/ 40 w 1200"/>
                <a:gd name="T3" fmla="*/ 14 h 120"/>
                <a:gd name="T4" fmla="*/ 44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7" name="Freeform 588"/>
            <p:cNvSpPr>
              <a:spLocks/>
            </p:cNvSpPr>
            <p:nvPr/>
          </p:nvSpPr>
          <p:spPr bwMode="auto">
            <a:xfrm>
              <a:off x="292" y="3503"/>
              <a:ext cx="620" cy="79"/>
            </a:xfrm>
            <a:custGeom>
              <a:avLst/>
              <a:gdLst>
                <a:gd name="T0" fmla="*/ 0 w 1200"/>
                <a:gd name="T1" fmla="*/ 14 h 120"/>
                <a:gd name="T2" fmla="*/ 40 w 1200"/>
                <a:gd name="T3" fmla="*/ 14 h 120"/>
                <a:gd name="T4" fmla="*/ 44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8" name="Freeform 589"/>
            <p:cNvSpPr>
              <a:spLocks/>
            </p:cNvSpPr>
            <p:nvPr/>
          </p:nvSpPr>
          <p:spPr bwMode="auto">
            <a:xfrm>
              <a:off x="292" y="3278"/>
              <a:ext cx="620" cy="79"/>
            </a:xfrm>
            <a:custGeom>
              <a:avLst/>
              <a:gdLst>
                <a:gd name="T0" fmla="*/ 0 w 1200"/>
                <a:gd name="T1" fmla="*/ 14 h 120"/>
                <a:gd name="T2" fmla="*/ 40 w 1200"/>
                <a:gd name="T3" fmla="*/ 14 h 120"/>
                <a:gd name="T4" fmla="*/ 44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9" name="Freeform 590"/>
            <p:cNvSpPr>
              <a:spLocks/>
            </p:cNvSpPr>
            <p:nvPr/>
          </p:nvSpPr>
          <p:spPr bwMode="auto">
            <a:xfrm>
              <a:off x="292" y="3053"/>
              <a:ext cx="620" cy="79"/>
            </a:xfrm>
            <a:custGeom>
              <a:avLst/>
              <a:gdLst>
                <a:gd name="T0" fmla="*/ 0 w 1200"/>
                <a:gd name="T1" fmla="*/ 14 h 120"/>
                <a:gd name="T2" fmla="*/ 40 w 1200"/>
                <a:gd name="T3" fmla="*/ 14 h 120"/>
                <a:gd name="T4" fmla="*/ 44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50" name="Rectangle 591"/>
          <p:cNvSpPr>
            <a:spLocks noChangeArrowheads="1"/>
          </p:cNvSpPr>
          <p:nvPr/>
        </p:nvSpPr>
        <p:spPr bwMode="auto">
          <a:xfrm>
            <a:off x="269875" y="5322888"/>
            <a:ext cx="771525" cy="32385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1" name="Text Box 592"/>
          <p:cNvSpPr txBox="1">
            <a:spLocks noChangeArrowheads="1"/>
          </p:cNvSpPr>
          <p:nvPr/>
        </p:nvSpPr>
        <p:spPr bwMode="auto">
          <a:xfrm>
            <a:off x="263525" y="528637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链路层</a:t>
            </a:r>
          </a:p>
        </p:txBody>
      </p:sp>
      <p:sp>
        <p:nvSpPr>
          <p:cNvPr id="9252" name="Text Box 593"/>
          <p:cNvSpPr txBox="1">
            <a:spLocks noChangeArrowheads="1"/>
          </p:cNvSpPr>
          <p:nvPr/>
        </p:nvSpPr>
        <p:spPr bwMode="auto">
          <a:xfrm>
            <a:off x="266700" y="4249738"/>
            <a:ext cx="86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应用层</a:t>
            </a:r>
          </a:p>
        </p:txBody>
      </p:sp>
      <p:sp>
        <p:nvSpPr>
          <p:cNvPr id="9253" name="Text Box 594"/>
          <p:cNvSpPr txBox="1">
            <a:spLocks noChangeArrowheads="1"/>
          </p:cNvSpPr>
          <p:nvPr/>
        </p:nvSpPr>
        <p:spPr bwMode="auto">
          <a:xfrm>
            <a:off x="263525" y="459422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运输层</a:t>
            </a:r>
          </a:p>
        </p:txBody>
      </p:sp>
      <p:sp>
        <p:nvSpPr>
          <p:cNvPr id="9254" name="Text Box 595"/>
          <p:cNvSpPr txBox="1">
            <a:spLocks noChangeArrowheads="1"/>
          </p:cNvSpPr>
          <p:nvPr/>
        </p:nvSpPr>
        <p:spPr bwMode="auto">
          <a:xfrm>
            <a:off x="263525" y="494030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网络层</a:t>
            </a:r>
          </a:p>
        </p:txBody>
      </p:sp>
      <p:sp>
        <p:nvSpPr>
          <p:cNvPr id="9255" name="Text Box 596"/>
          <p:cNvSpPr txBox="1">
            <a:spLocks noChangeArrowheads="1"/>
          </p:cNvSpPr>
          <p:nvPr/>
        </p:nvSpPr>
        <p:spPr bwMode="auto">
          <a:xfrm>
            <a:off x="263525" y="563245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物理层</a:t>
            </a:r>
          </a:p>
        </p:txBody>
      </p:sp>
      <p:grpSp>
        <p:nvGrpSpPr>
          <p:cNvPr id="9256" name="Group 597"/>
          <p:cNvGrpSpPr>
            <a:grpSpLocks/>
          </p:cNvGrpSpPr>
          <p:nvPr/>
        </p:nvGrpSpPr>
        <p:grpSpPr bwMode="auto">
          <a:xfrm>
            <a:off x="8083550" y="4179888"/>
            <a:ext cx="895350" cy="1816100"/>
            <a:chOff x="292" y="2832"/>
            <a:chExt cx="620" cy="1200"/>
          </a:xfrm>
        </p:grpSpPr>
        <p:sp>
          <p:nvSpPr>
            <p:cNvPr id="9300" name="AutoShape 598"/>
            <p:cNvSpPr>
              <a:spLocks noChangeArrowheads="1"/>
            </p:cNvSpPr>
            <p:nvPr/>
          </p:nvSpPr>
          <p:spPr bwMode="auto">
            <a:xfrm>
              <a:off x="292" y="2832"/>
              <a:ext cx="620" cy="1200"/>
            </a:xfrm>
            <a:prstGeom prst="cube">
              <a:avLst>
                <a:gd name="adj" fmla="val 925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1" name="Freeform 599"/>
            <p:cNvSpPr>
              <a:spLocks/>
            </p:cNvSpPr>
            <p:nvPr/>
          </p:nvSpPr>
          <p:spPr bwMode="auto">
            <a:xfrm>
              <a:off x="292" y="3732"/>
              <a:ext cx="620" cy="79"/>
            </a:xfrm>
            <a:custGeom>
              <a:avLst/>
              <a:gdLst>
                <a:gd name="T0" fmla="*/ 0 w 1200"/>
                <a:gd name="T1" fmla="*/ 14 h 120"/>
                <a:gd name="T2" fmla="*/ 40 w 1200"/>
                <a:gd name="T3" fmla="*/ 14 h 120"/>
                <a:gd name="T4" fmla="*/ 44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2" name="Freeform 600"/>
            <p:cNvSpPr>
              <a:spLocks/>
            </p:cNvSpPr>
            <p:nvPr/>
          </p:nvSpPr>
          <p:spPr bwMode="auto">
            <a:xfrm>
              <a:off x="292" y="3503"/>
              <a:ext cx="620" cy="79"/>
            </a:xfrm>
            <a:custGeom>
              <a:avLst/>
              <a:gdLst>
                <a:gd name="T0" fmla="*/ 0 w 1200"/>
                <a:gd name="T1" fmla="*/ 14 h 120"/>
                <a:gd name="T2" fmla="*/ 40 w 1200"/>
                <a:gd name="T3" fmla="*/ 14 h 120"/>
                <a:gd name="T4" fmla="*/ 44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3" name="Freeform 601"/>
            <p:cNvSpPr>
              <a:spLocks/>
            </p:cNvSpPr>
            <p:nvPr/>
          </p:nvSpPr>
          <p:spPr bwMode="auto">
            <a:xfrm>
              <a:off x="292" y="3278"/>
              <a:ext cx="620" cy="79"/>
            </a:xfrm>
            <a:custGeom>
              <a:avLst/>
              <a:gdLst>
                <a:gd name="T0" fmla="*/ 0 w 1200"/>
                <a:gd name="T1" fmla="*/ 14 h 120"/>
                <a:gd name="T2" fmla="*/ 40 w 1200"/>
                <a:gd name="T3" fmla="*/ 14 h 120"/>
                <a:gd name="T4" fmla="*/ 44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4" name="Freeform 602"/>
            <p:cNvSpPr>
              <a:spLocks/>
            </p:cNvSpPr>
            <p:nvPr/>
          </p:nvSpPr>
          <p:spPr bwMode="auto">
            <a:xfrm>
              <a:off x="292" y="3053"/>
              <a:ext cx="620" cy="79"/>
            </a:xfrm>
            <a:custGeom>
              <a:avLst/>
              <a:gdLst>
                <a:gd name="T0" fmla="*/ 0 w 1200"/>
                <a:gd name="T1" fmla="*/ 14 h 120"/>
                <a:gd name="T2" fmla="*/ 40 w 1200"/>
                <a:gd name="T3" fmla="*/ 14 h 120"/>
                <a:gd name="T4" fmla="*/ 44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57" name="Rectangle 603"/>
          <p:cNvSpPr>
            <a:spLocks noChangeArrowheads="1"/>
          </p:cNvSpPr>
          <p:nvPr/>
        </p:nvSpPr>
        <p:spPr bwMode="auto">
          <a:xfrm>
            <a:off x="8102600" y="5322888"/>
            <a:ext cx="771525" cy="32385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8" name="Text Box 604"/>
          <p:cNvSpPr txBox="1">
            <a:spLocks noChangeArrowheads="1"/>
          </p:cNvSpPr>
          <p:nvPr/>
        </p:nvSpPr>
        <p:spPr bwMode="auto">
          <a:xfrm>
            <a:off x="8096250" y="528637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链路层</a:t>
            </a:r>
          </a:p>
        </p:txBody>
      </p:sp>
      <p:sp>
        <p:nvSpPr>
          <p:cNvPr id="9259" name="Text Box 605"/>
          <p:cNvSpPr txBox="1">
            <a:spLocks noChangeArrowheads="1"/>
          </p:cNvSpPr>
          <p:nvPr/>
        </p:nvSpPr>
        <p:spPr bwMode="auto">
          <a:xfrm>
            <a:off x="8099425" y="4249738"/>
            <a:ext cx="86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应用层</a:t>
            </a:r>
          </a:p>
        </p:txBody>
      </p:sp>
      <p:sp>
        <p:nvSpPr>
          <p:cNvPr id="9260" name="Text Box 606"/>
          <p:cNvSpPr txBox="1">
            <a:spLocks noChangeArrowheads="1"/>
          </p:cNvSpPr>
          <p:nvPr/>
        </p:nvSpPr>
        <p:spPr bwMode="auto">
          <a:xfrm>
            <a:off x="8096250" y="459422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运输层</a:t>
            </a:r>
          </a:p>
        </p:txBody>
      </p:sp>
      <p:sp>
        <p:nvSpPr>
          <p:cNvPr id="9261" name="Text Box 607"/>
          <p:cNvSpPr txBox="1">
            <a:spLocks noChangeArrowheads="1"/>
          </p:cNvSpPr>
          <p:nvPr/>
        </p:nvSpPr>
        <p:spPr bwMode="auto">
          <a:xfrm>
            <a:off x="8096250" y="494030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网络层</a:t>
            </a:r>
          </a:p>
        </p:txBody>
      </p:sp>
      <p:sp>
        <p:nvSpPr>
          <p:cNvPr id="9262" name="Text Box 608"/>
          <p:cNvSpPr txBox="1">
            <a:spLocks noChangeArrowheads="1"/>
          </p:cNvSpPr>
          <p:nvPr/>
        </p:nvSpPr>
        <p:spPr bwMode="auto">
          <a:xfrm>
            <a:off x="8096250" y="563245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物理层</a:t>
            </a:r>
          </a:p>
        </p:txBody>
      </p:sp>
      <p:sp>
        <p:nvSpPr>
          <p:cNvPr id="9263" name="AutoShape 609"/>
          <p:cNvSpPr>
            <a:spLocks noChangeArrowheads="1"/>
          </p:cNvSpPr>
          <p:nvPr/>
        </p:nvSpPr>
        <p:spPr bwMode="auto">
          <a:xfrm>
            <a:off x="2195513" y="4891088"/>
            <a:ext cx="895350" cy="1104900"/>
          </a:xfrm>
          <a:prstGeom prst="cube">
            <a:avLst>
              <a:gd name="adj" fmla="val 925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4" name="Freeform 610"/>
          <p:cNvSpPr>
            <a:spLocks/>
          </p:cNvSpPr>
          <p:nvPr/>
        </p:nvSpPr>
        <p:spPr bwMode="auto">
          <a:xfrm>
            <a:off x="2195513" y="5541963"/>
            <a:ext cx="895350" cy="119062"/>
          </a:xfrm>
          <a:custGeom>
            <a:avLst/>
            <a:gdLst>
              <a:gd name="T0" fmla="*/ 0 w 1200"/>
              <a:gd name="T1" fmla="*/ 2147483647 h 120"/>
              <a:gd name="T2" fmla="*/ 2147483647 w 1200"/>
              <a:gd name="T3" fmla="*/ 2147483647 h 120"/>
              <a:gd name="T4" fmla="*/ 2147483647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5" name="Rectangle 611"/>
          <p:cNvSpPr>
            <a:spLocks noChangeArrowheads="1"/>
          </p:cNvSpPr>
          <p:nvPr/>
        </p:nvSpPr>
        <p:spPr bwMode="auto">
          <a:xfrm>
            <a:off x="2200275" y="5322888"/>
            <a:ext cx="790575" cy="32385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6" name="Freeform 612"/>
          <p:cNvSpPr>
            <a:spLocks/>
          </p:cNvSpPr>
          <p:nvPr/>
        </p:nvSpPr>
        <p:spPr bwMode="auto">
          <a:xfrm>
            <a:off x="2195513" y="5195888"/>
            <a:ext cx="895350" cy="119062"/>
          </a:xfrm>
          <a:custGeom>
            <a:avLst/>
            <a:gdLst>
              <a:gd name="T0" fmla="*/ 0 w 1200"/>
              <a:gd name="T1" fmla="*/ 2147483647 h 120"/>
              <a:gd name="T2" fmla="*/ 2147483647 w 1200"/>
              <a:gd name="T3" fmla="*/ 2147483647 h 120"/>
              <a:gd name="T4" fmla="*/ 2147483647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7" name="Text Box 613"/>
          <p:cNvSpPr txBox="1">
            <a:spLocks noChangeArrowheads="1"/>
          </p:cNvSpPr>
          <p:nvPr/>
        </p:nvSpPr>
        <p:spPr bwMode="auto">
          <a:xfrm>
            <a:off x="2220913" y="528637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链路层</a:t>
            </a:r>
          </a:p>
        </p:txBody>
      </p:sp>
      <p:sp>
        <p:nvSpPr>
          <p:cNvPr id="9268" name="Text Box 614"/>
          <p:cNvSpPr txBox="1">
            <a:spLocks noChangeArrowheads="1"/>
          </p:cNvSpPr>
          <p:nvPr/>
        </p:nvSpPr>
        <p:spPr bwMode="auto">
          <a:xfrm>
            <a:off x="2220913" y="494030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网络层</a:t>
            </a:r>
          </a:p>
        </p:txBody>
      </p:sp>
      <p:sp>
        <p:nvSpPr>
          <p:cNvPr id="9269" name="Text Box 615"/>
          <p:cNvSpPr txBox="1">
            <a:spLocks noChangeArrowheads="1"/>
          </p:cNvSpPr>
          <p:nvPr/>
        </p:nvSpPr>
        <p:spPr bwMode="auto">
          <a:xfrm>
            <a:off x="2220913" y="563245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物理层</a:t>
            </a:r>
          </a:p>
        </p:txBody>
      </p:sp>
      <p:sp>
        <p:nvSpPr>
          <p:cNvPr id="9270" name="AutoShape 616"/>
          <p:cNvSpPr>
            <a:spLocks noChangeArrowheads="1"/>
          </p:cNvSpPr>
          <p:nvPr/>
        </p:nvSpPr>
        <p:spPr bwMode="auto">
          <a:xfrm>
            <a:off x="4302125" y="4891088"/>
            <a:ext cx="895350" cy="1104900"/>
          </a:xfrm>
          <a:prstGeom prst="cube">
            <a:avLst>
              <a:gd name="adj" fmla="val 925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1" name="Freeform 617"/>
          <p:cNvSpPr>
            <a:spLocks/>
          </p:cNvSpPr>
          <p:nvPr/>
        </p:nvSpPr>
        <p:spPr bwMode="auto">
          <a:xfrm>
            <a:off x="4302125" y="5541963"/>
            <a:ext cx="895350" cy="119062"/>
          </a:xfrm>
          <a:custGeom>
            <a:avLst/>
            <a:gdLst>
              <a:gd name="T0" fmla="*/ 0 w 1200"/>
              <a:gd name="T1" fmla="*/ 2147483647 h 120"/>
              <a:gd name="T2" fmla="*/ 2147483647 w 1200"/>
              <a:gd name="T3" fmla="*/ 2147483647 h 120"/>
              <a:gd name="T4" fmla="*/ 2147483647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2" name="Rectangle 618"/>
          <p:cNvSpPr>
            <a:spLocks noChangeArrowheads="1"/>
          </p:cNvSpPr>
          <p:nvPr/>
        </p:nvSpPr>
        <p:spPr bwMode="auto">
          <a:xfrm>
            <a:off x="4321175" y="5322888"/>
            <a:ext cx="781050" cy="32385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3" name="Freeform 619"/>
          <p:cNvSpPr>
            <a:spLocks/>
          </p:cNvSpPr>
          <p:nvPr/>
        </p:nvSpPr>
        <p:spPr bwMode="auto">
          <a:xfrm>
            <a:off x="4302125" y="5195888"/>
            <a:ext cx="895350" cy="119062"/>
          </a:xfrm>
          <a:custGeom>
            <a:avLst/>
            <a:gdLst>
              <a:gd name="T0" fmla="*/ 0 w 1200"/>
              <a:gd name="T1" fmla="*/ 2147483647 h 120"/>
              <a:gd name="T2" fmla="*/ 2147483647 w 1200"/>
              <a:gd name="T3" fmla="*/ 2147483647 h 120"/>
              <a:gd name="T4" fmla="*/ 2147483647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4" name="Text Box 620"/>
          <p:cNvSpPr txBox="1">
            <a:spLocks noChangeArrowheads="1"/>
          </p:cNvSpPr>
          <p:nvPr/>
        </p:nvSpPr>
        <p:spPr bwMode="auto">
          <a:xfrm>
            <a:off x="4327525" y="528637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链路层</a:t>
            </a:r>
          </a:p>
        </p:txBody>
      </p:sp>
      <p:sp>
        <p:nvSpPr>
          <p:cNvPr id="9275" name="Text Box 621"/>
          <p:cNvSpPr txBox="1">
            <a:spLocks noChangeArrowheads="1"/>
          </p:cNvSpPr>
          <p:nvPr/>
        </p:nvSpPr>
        <p:spPr bwMode="auto">
          <a:xfrm>
            <a:off x="4327525" y="494030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网络层</a:t>
            </a:r>
          </a:p>
        </p:txBody>
      </p:sp>
      <p:sp>
        <p:nvSpPr>
          <p:cNvPr id="9276" name="Text Box 622"/>
          <p:cNvSpPr txBox="1">
            <a:spLocks noChangeArrowheads="1"/>
          </p:cNvSpPr>
          <p:nvPr/>
        </p:nvSpPr>
        <p:spPr bwMode="auto">
          <a:xfrm>
            <a:off x="4327525" y="563245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物理层</a:t>
            </a:r>
          </a:p>
        </p:txBody>
      </p:sp>
      <p:sp>
        <p:nvSpPr>
          <p:cNvPr id="9277" name="AutoShape 623"/>
          <p:cNvSpPr>
            <a:spLocks noChangeArrowheads="1"/>
          </p:cNvSpPr>
          <p:nvPr/>
        </p:nvSpPr>
        <p:spPr bwMode="auto">
          <a:xfrm>
            <a:off x="6192838" y="4891088"/>
            <a:ext cx="895350" cy="1104900"/>
          </a:xfrm>
          <a:prstGeom prst="cube">
            <a:avLst>
              <a:gd name="adj" fmla="val 925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8" name="Freeform 624"/>
          <p:cNvSpPr>
            <a:spLocks/>
          </p:cNvSpPr>
          <p:nvPr/>
        </p:nvSpPr>
        <p:spPr bwMode="auto">
          <a:xfrm>
            <a:off x="6192838" y="5541963"/>
            <a:ext cx="895350" cy="119062"/>
          </a:xfrm>
          <a:custGeom>
            <a:avLst/>
            <a:gdLst>
              <a:gd name="T0" fmla="*/ 0 w 1200"/>
              <a:gd name="T1" fmla="*/ 2147483647 h 120"/>
              <a:gd name="T2" fmla="*/ 2147483647 w 1200"/>
              <a:gd name="T3" fmla="*/ 2147483647 h 120"/>
              <a:gd name="T4" fmla="*/ 2147483647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9" name="Rectangle 625"/>
          <p:cNvSpPr>
            <a:spLocks noChangeArrowheads="1"/>
          </p:cNvSpPr>
          <p:nvPr/>
        </p:nvSpPr>
        <p:spPr bwMode="auto">
          <a:xfrm>
            <a:off x="6207125" y="5322888"/>
            <a:ext cx="790575" cy="32385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0" name="Freeform 626"/>
          <p:cNvSpPr>
            <a:spLocks/>
          </p:cNvSpPr>
          <p:nvPr/>
        </p:nvSpPr>
        <p:spPr bwMode="auto">
          <a:xfrm>
            <a:off x="6192838" y="5195888"/>
            <a:ext cx="895350" cy="119062"/>
          </a:xfrm>
          <a:custGeom>
            <a:avLst/>
            <a:gdLst>
              <a:gd name="T0" fmla="*/ 0 w 1200"/>
              <a:gd name="T1" fmla="*/ 2147483647 h 120"/>
              <a:gd name="T2" fmla="*/ 2147483647 w 1200"/>
              <a:gd name="T3" fmla="*/ 2147483647 h 120"/>
              <a:gd name="T4" fmla="*/ 2147483647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1" name="Text Box 627"/>
          <p:cNvSpPr txBox="1">
            <a:spLocks noChangeArrowheads="1"/>
          </p:cNvSpPr>
          <p:nvPr/>
        </p:nvSpPr>
        <p:spPr bwMode="auto">
          <a:xfrm>
            <a:off x="6218238" y="528637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链路层</a:t>
            </a:r>
          </a:p>
        </p:txBody>
      </p:sp>
      <p:sp>
        <p:nvSpPr>
          <p:cNvPr id="9282" name="Text Box 628"/>
          <p:cNvSpPr txBox="1">
            <a:spLocks noChangeArrowheads="1"/>
          </p:cNvSpPr>
          <p:nvPr/>
        </p:nvSpPr>
        <p:spPr bwMode="auto">
          <a:xfrm>
            <a:off x="6218238" y="494030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网络层</a:t>
            </a:r>
          </a:p>
        </p:txBody>
      </p:sp>
      <p:sp>
        <p:nvSpPr>
          <p:cNvPr id="9283" name="Text Box 629"/>
          <p:cNvSpPr txBox="1">
            <a:spLocks noChangeArrowheads="1"/>
          </p:cNvSpPr>
          <p:nvPr/>
        </p:nvSpPr>
        <p:spPr bwMode="auto">
          <a:xfrm>
            <a:off x="6218238" y="563245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rgbClr val="333399"/>
                </a:solidFill>
                <a:latin typeface="黑体" pitchFamily="49" charset="-122"/>
                <a:ea typeface="黑体" pitchFamily="49" charset="-122"/>
              </a:rPr>
              <a:t>物理层</a:t>
            </a:r>
          </a:p>
        </p:txBody>
      </p:sp>
      <p:sp>
        <p:nvSpPr>
          <p:cNvPr id="119414" name="Line 630"/>
          <p:cNvSpPr>
            <a:spLocks noChangeShapeType="1"/>
          </p:cNvSpPr>
          <p:nvPr/>
        </p:nvSpPr>
        <p:spPr bwMode="auto">
          <a:xfrm>
            <a:off x="1244600" y="5513388"/>
            <a:ext cx="1219200" cy="0"/>
          </a:xfrm>
          <a:prstGeom prst="line">
            <a:avLst/>
          </a:prstGeom>
          <a:noFill/>
          <a:ln w="76200">
            <a:solidFill>
              <a:srgbClr val="00CC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415" name="Line 631"/>
          <p:cNvSpPr>
            <a:spLocks noChangeShapeType="1"/>
          </p:cNvSpPr>
          <p:nvPr/>
        </p:nvSpPr>
        <p:spPr bwMode="auto">
          <a:xfrm>
            <a:off x="3187700" y="5513388"/>
            <a:ext cx="1219200" cy="0"/>
          </a:xfrm>
          <a:prstGeom prst="line">
            <a:avLst/>
          </a:prstGeom>
          <a:noFill/>
          <a:ln w="76200">
            <a:solidFill>
              <a:srgbClr val="00CC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416" name="Line 632"/>
          <p:cNvSpPr>
            <a:spLocks noChangeShapeType="1"/>
          </p:cNvSpPr>
          <p:nvPr/>
        </p:nvSpPr>
        <p:spPr bwMode="auto">
          <a:xfrm>
            <a:off x="5092700" y="5513388"/>
            <a:ext cx="1219200" cy="0"/>
          </a:xfrm>
          <a:prstGeom prst="line">
            <a:avLst/>
          </a:prstGeom>
          <a:noFill/>
          <a:ln w="76200">
            <a:solidFill>
              <a:srgbClr val="00CC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417" name="Line 633"/>
          <p:cNvSpPr>
            <a:spLocks noChangeShapeType="1"/>
          </p:cNvSpPr>
          <p:nvPr/>
        </p:nvSpPr>
        <p:spPr bwMode="auto">
          <a:xfrm>
            <a:off x="6997700" y="5513388"/>
            <a:ext cx="1219200" cy="0"/>
          </a:xfrm>
          <a:prstGeom prst="line">
            <a:avLst/>
          </a:prstGeom>
          <a:noFill/>
          <a:ln w="76200">
            <a:solidFill>
              <a:srgbClr val="00CC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88" name="Freeform 634"/>
          <p:cNvSpPr>
            <a:spLocks/>
          </p:cNvSpPr>
          <p:nvPr/>
        </p:nvSpPr>
        <p:spPr bwMode="auto">
          <a:xfrm>
            <a:off x="901700" y="5995988"/>
            <a:ext cx="1701800" cy="241300"/>
          </a:xfrm>
          <a:custGeom>
            <a:avLst/>
            <a:gdLst>
              <a:gd name="T0" fmla="*/ 0 w 1072"/>
              <a:gd name="T1" fmla="*/ 0 h 152"/>
              <a:gd name="T2" fmla="*/ 0 w 1072"/>
              <a:gd name="T3" fmla="*/ 2147483647 h 152"/>
              <a:gd name="T4" fmla="*/ 2147483647 w 1072"/>
              <a:gd name="T5" fmla="*/ 2147483647 h 152"/>
              <a:gd name="T6" fmla="*/ 2147483647 w 1072"/>
              <a:gd name="T7" fmla="*/ 2147483647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89" name="Freeform 635"/>
          <p:cNvSpPr>
            <a:spLocks/>
          </p:cNvSpPr>
          <p:nvPr/>
        </p:nvSpPr>
        <p:spPr bwMode="auto">
          <a:xfrm>
            <a:off x="6769100" y="5995988"/>
            <a:ext cx="1701800" cy="241300"/>
          </a:xfrm>
          <a:custGeom>
            <a:avLst/>
            <a:gdLst>
              <a:gd name="T0" fmla="*/ 0 w 1072"/>
              <a:gd name="T1" fmla="*/ 0 h 152"/>
              <a:gd name="T2" fmla="*/ 0 w 1072"/>
              <a:gd name="T3" fmla="*/ 2147483647 h 152"/>
              <a:gd name="T4" fmla="*/ 2147483647 w 1072"/>
              <a:gd name="T5" fmla="*/ 2147483647 h 152"/>
              <a:gd name="T6" fmla="*/ 2147483647 w 1072"/>
              <a:gd name="T7" fmla="*/ 2147483647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90" name="Freeform 636"/>
          <p:cNvSpPr>
            <a:spLocks/>
          </p:cNvSpPr>
          <p:nvPr/>
        </p:nvSpPr>
        <p:spPr bwMode="auto">
          <a:xfrm>
            <a:off x="3009900" y="5983288"/>
            <a:ext cx="1460500" cy="254000"/>
          </a:xfrm>
          <a:custGeom>
            <a:avLst/>
            <a:gdLst>
              <a:gd name="T0" fmla="*/ 0 w 1072"/>
              <a:gd name="T1" fmla="*/ 0 h 152"/>
              <a:gd name="T2" fmla="*/ 0 w 1072"/>
              <a:gd name="T3" fmla="*/ 2147483647 h 152"/>
              <a:gd name="T4" fmla="*/ 2147483647 w 1072"/>
              <a:gd name="T5" fmla="*/ 2147483647 h 152"/>
              <a:gd name="T6" fmla="*/ 2147483647 w 1072"/>
              <a:gd name="T7" fmla="*/ 2147483647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91" name="Freeform 637"/>
          <p:cNvSpPr>
            <a:spLocks/>
          </p:cNvSpPr>
          <p:nvPr/>
        </p:nvSpPr>
        <p:spPr bwMode="auto">
          <a:xfrm>
            <a:off x="4940300" y="5995988"/>
            <a:ext cx="1473200" cy="241300"/>
          </a:xfrm>
          <a:custGeom>
            <a:avLst/>
            <a:gdLst>
              <a:gd name="T0" fmla="*/ 0 w 1072"/>
              <a:gd name="T1" fmla="*/ 0 h 152"/>
              <a:gd name="T2" fmla="*/ 0 w 1072"/>
              <a:gd name="T3" fmla="*/ 2147483647 h 152"/>
              <a:gd name="T4" fmla="*/ 2147483647 w 1072"/>
              <a:gd name="T5" fmla="*/ 2147483647 h 152"/>
              <a:gd name="T6" fmla="*/ 2147483647 w 1072"/>
              <a:gd name="T7" fmla="*/ 2147483647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92" name="Text Box 639"/>
          <p:cNvSpPr txBox="1">
            <a:spLocks noChangeArrowheads="1"/>
          </p:cNvSpPr>
          <p:nvPr/>
        </p:nvSpPr>
        <p:spPr bwMode="auto">
          <a:xfrm>
            <a:off x="2430463" y="4503738"/>
            <a:ext cx="4333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1</a:t>
            </a:r>
          </a:p>
        </p:txBody>
      </p:sp>
      <p:sp>
        <p:nvSpPr>
          <p:cNvPr id="9293" name="Text Box 640"/>
          <p:cNvSpPr txBox="1">
            <a:spLocks noChangeArrowheads="1"/>
          </p:cNvSpPr>
          <p:nvPr/>
        </p:nvSpPr>
        <p:spPr bwMode="auto">
          <a:xfrm>
            <a:off x="4559300" y="4503738"/>
            <a:ext cx="433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2</a:t>
            </a:r>
          </a:p>
        </p:txBody>
      </p:sp>
      <p:sp>
        <p:nvSpPr>
          <p:cNvPr id="9294" name="Text Box 641"/>
          <p:cNvSpPr txBox="1">
            <a:spLocks noChangeArrowheads="1"/>
          </p:cNvSpPr>
          <p:nvPr/>
        </p:nvSpPr>
        <p:spPr bwMode="auto">
          <a:xfrm>
            <a:off x="6456363" y="4503738"/>
            <a:ext cx="4333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rgbClr val="333399"/>
                </a:solidFill>
                <a:latin typeface="Arial" pitchFamily="34" charset="0"/>
                <a:ea typeface="黑体" pitchFamily="49" charset="-122"/>
              </a:rPr>
              <a:t>R</a:t>
            </a:r>
            <a:r>
              <a:rPr kumimoji="1" lang="en-US" altLang="zh-CN" sz="1800" b="1" baseline="-25000">
                <a:solidFill>
                  <a:srgbClr val="333399"/>
                </a:solidFill>
                <a:latin typeface="Arial" pitchFamily="34" charset="0"/>
                <a:ea typeface="黑体" pitchFamily="49" charset="-122"/>
              </a:rPr>
              <a:t>3</a:t>
            </a:r>
          </a:p>
        </p:txBody>
      </p:sp>
      <p:sp>
        <p:nvSpPr>
          <p:cNvPr id="9295" name="Text Box 642"/>
          <p:cNvSpPr txBox="1">
            <a:spLocks noChangeArrowheads="1"/>
          </p:cNvSpPr>
          <p:nvPr/>
        </p:nvSpPr>
        <p:spPr bwMode="auto">
          <a:xfrm>
            <a:off x="517525" y="3817938"/>
            <a:ext cx="433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rgbClr val="333399"/>
                </a:solidFill>
                <a:latin typeface="Arial" pitchFamily="34" charset="0"/>
                <a:ea typeface="黑体" pitchFamily="49" charset="-122"/>
              </a:rPr>
              <a:t>H</a:t>
            </a:r>
            <a:r>
              <a:rPr kumimoji="1" lang="en-US" altLang="zh-CN" sz="1800" b="1" baseline="-25000">
                <a:solidFill>
                  <a:srgbClr val="333399"/>
                </a:solidFill>
                <a:latin typeface="Arial" pitchFamily="34" charset="0"/>
                <a:ea typeface="黑体" pitchFamily="49" charset="-122"/>
              </a:rPr>
              <a:t>1</a:t>
            </a:r>
          </a:p>
        </p:txBody>
      </p:sp>
      <p:sp>
        <p:nvSpPr>
          <p:cNvPr id="9296" name="Text Box 643"/>
          <p:cNvSpPr txBox="1">
            <a:spLocks noChangeArrowheads="1"/>
          </p:cNvSpPr>
          <p:nvPr/>
        </p:nvSpPr>
        <p:spPr bwMode="auto">
          <a:xfrm>
            <a:off x="8369300" y="3817938"/>
            <a:ext cx="433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rgbClr val="333399"/>
                </a:solidFill>
                <a:latin typeface="Arial" pitchFamily="34" charset="0"/>
                <a:ea typeface="黑体" pitchFamily="49" charset="-122"/>
              </a:rPr>
              <a:t>H</a:t>
            </a:r>
            <a:r>
              <a:rPr kumimoji="1" lang="en-US" altLang="zh-CN" sz="1800" b="1" baseline="-25000">
                <a:solidFill>
                  <a:srgbClr val="333399"/>
                </a:solidFill>
                <a:latin typeface="Arial" pitchFamily="34" charset="0"/>
                <a:ea typeface="黑体" pitchFamily="49" charset="-122"/>
              </a:rPr>
              <a:t>2</a:t>
            </a:r>
          </a:p>
        </p:txBody>
      </p:sp>
      <p:sp>
        <p:nvSpPr>
          <p:cNvPr id="119429" name="Text Box 645"/>
          <p:cNvSpPr txBox="1">
            <a:spLocks noChangeArrowheads="1"/>
          </p:cNvSpPr>
          <p:nvPr/>
        </p:nvSpPr>
        <p:spPr bwMode="auto">
          <a:xfrm>
            <a:off x="2268538" y="3756025"/>
            <a:ext cx="4806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800">
                <a:solidFill>
                  <a:srgbClr val="333399"/>
                </a:solidFill>
                <a:ea typeface="黑体" pitchFamily="49" charset="-122"/>
              </a:rPr>
              <a:t>仅从数据链路层观察帧的流动</a:t>
            </a:r>
          </a:p>
        </p:txBody>
      </p:sp>
      <p:sp>
        <p:nvSpPr>
          <p:cNvPr id="9298" name="Freeform 638"/>
          <p:cNvSpPr>
            <a:spLocks/>
          </p:cNvSpPr>
          <p:nvPr/>
        </p:nvSpPr>
        <p:spPr bwMode="auto">
          <a:xfrm>
            <a:off x="1225550" y="4329113"/>
            <a:ext cx="6978650" cy="1871662"/>
          </a:xfrm>
          <a:custGeom>
            <a:avLst/>
            <a:gdLst>
              <a:gd name="T0" fmla="*/ 2147483647 w 4396"/>
              <a:gd name="T1" fmla="*/ 2147483647 h 1179"/>
              <a:gd name="T2" fmla="*/ 2147483647 w 4396"/>
              <a:gd name="T3" fmla="*/ 2147483647 h 1179"/>
              <a:gd name="T4" fmla="*/ 2147483647 w 4396"/>
              <a:gd name="T5" fmla="*/ 2147483647 h 1179"/>
              <a:gd name="T6" fmla="*/ 2147483647 w 4396"/>
              <a:gd name="T7" fmla="*/ 2147483647 h 1179"/>
              <a:gd name="T8" fmla="*/ 2147483647 w 4396"/>
              <a:gd name="T9" fmla="*/ 2147483647 h 1179"/>
              <a:gd name="T10" fmla="*/ 2147483647 w 4396"/>
              <a:gd name="T11" fmla="*/ 2147483647 h 1179"/>
              <a:gd name="T12" fmla="*/ 2147483647 w 4396"/>
              <a:gd name="T13" fmla="*/ 2147483647 h 1179"/>
              <a:gd name="T14" fmla="*/ 2147483647 w 4396"/>
              <a:gd name="T15" fmla="*/ 2147483647 h 1179"/>
              <a:gd name="T16" fmla="*/ 2147483647 w 4396"/>
              <a:gd name="T17" fmla="*/ 2147483647 h 1179"/>
              <a:gd name="T18" fmla="*/ 2147483647 w 4396"/>
              <a:gd name="T19" fmla="*/ 2147483647 h 1179"/>
              <a:gd name="T20" fmla="*/ 2147483647 w 4396"/>
              <a:gd name="T21" fmla="*/ 2147483647 h 1179"/>
              <a:gd name="T22" fmla="*/ 2147483647 w 4396"/>
              <a:gd name="T23" fmla="*/ 2147483647 h 1179"/>
              <a:gd name="T24" fmla="*/ 2147483647 w 4396"/>
              <a:gd name="T25" fmla="*/ 2147483647 h 1179"/>
              <a:gd name="T26" fmla="*/ 2147483647 w 4396"/>
              <a:gd name="T27" fmla="*/ 2147483647 h 1179"/>
              <a:gd name="T28" fmla="*/ 2147483647 w 4396"/>
              <a:gd name="T29" fmla="*/ 2147483647 h 1179"/>
              <a:gd name="T30" fmla="*/ 2147483647 w 4396"/>
              <a:gd name="T31" fmla="*/ 2147483647 h 1179"/>
              <a:gd name="T32" fmla="*/ 2147483647 w 4396"/>
              <a:gd name="T33" fmla="*/ 2147483647 h 1179"/>
              <a:gd name="T34" fmla="*/ 2147483647 w 4396"/>
              <a:gd name="T35" fmla="*/ 2147483647 h 1179"/>
              <a:gd name="T36" fmla="*/ 2147483647 w 4396"/>
              <a:gd name="T37" fmla="*/ 2147483647 h 1179"/>
              <a:gd name="T38" fmla="*/ 2147483647 w 4396"/>
              <a:gd name="T39" fmla="*/ 2147483647 h 1179"/>
              <a:gd name="T40" fmla="*/ 2147483647 w 4396"/>
              <a:gd name="T41" fmla="*/ 2147483647 h 1179"/>
              <a:gd name="T42" fmla="*/ 2147483647 w 4396"/>
              <a:gd name="T43" fmla="*/ 2147483647 h 1179"/>
              <a:gd name="T44" fmla="*/ 2147483647 w 4396"/>
              <a:gd name="T45" fmla="*/ 2147483647 h 1179"/>
              <a:gd name="T46" fmla="*/ 2147483647 w 4396"/>
              <a:gd name="T47" fmla="*/ 2147483647 h 1179"/>
              <a:gd name="T48" fmla="*/ 2147483647 w 4396"/>
              <a:gd name="T49" fmla="*/ 2147483647 h 1179"/>
              <a:gd name="T50" fmla="*/ 2147483647 w 4396"/>
              <a:gd name="T51" fmla="*/ 2147483647 h 1179"/>
              <a:gd name="T52" fmla="*/ 2147483647 w 4396"/>
              <a:gd name="T53" fmla="*/ 2147483647 h 1179"/>
              <a:gd name="T54" fmla="*/ 2147483647 w 4396"/>
              <a:gd name="T55" fmla="*/ 2147483647 h 1179"/>
              <a:gd name="T56" fmla="*/ 2147483647 w 4396"/>
              <a:gd name="T57" fmla="*/ 2147483647 h 1179"/>
              <a:gd name="T58" fmla="*/ 2147483647 w 4396"/>
              <a:gd name="T59" fmla="*/ 2147483647 h 1179"/>
              <a:gd name="T60" fmla="*/ 2147483647 w 4396"/>
              <a:gd name="T61" fmla="*/ 2147483647 h 1179"/>
              <a:gd name="T62" fmla="*/ 2147483647 w 4396"/>
              <a:gd name="T63" fmla="*/ 2147483647 h 1179"/>
              <a:gd name="T64" fmla="*/ 2147483647 w 4396"/>
              <a:gd name="T65" fmla="*/ 2147483647 h 1179"/>
              <a:gd name="T66" fmla="*/ 2147483647 w 4396"/>
              <a:gd name="T67" fmla="*/ 2147483647 h 1179"/>
              <a:gd name="T68" fmla="*/ 2147483647 w 4396"/>
              <a:gd name="T69" fmla="*/ 2147483647 h 1179"/>
              <a:gd name="T70" fmla="*/ 2147483647 w 4396"/>
              <a:gd name="T71" fmla="*/ 0 h 11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cmpd="sng">
            <a:solidFill>
              <a:srgbClr val="FF0000"/>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428" name="Rectangle 644"/>
          <p:cNvSpPr>
            <a:spLocks noChangeArrowheads="1"/>
          </p:cNvSpPr>
          <p:nvPr/>
        </p:nvSpPr>
        <p:spPr bwMode="auto">
          <a:xfrm>
            <a:off x="250825" y="5329238"/>
            <a:ext cx="8640763" cy="323850"/>
          </a:xfrm>
          <a:prstGeom prst="rect">
            <a:avLst/>
          </a:prstGeom>
          <a:solidFill>
            <a:srgbClr val="C0C0C0">
              <a:alpha val="39999"/>
            </a:srgbClr>
          </a:solidFill>
          <a:ln w="9525">
            <a:solidFill>
              <a:srgbClr val="5F5F5F"/>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942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119428"/>
                                        </p:tgtEl>
                                        <p:attrNameLst>
                                          <p:attrName>style.visibility</p:attrName>
                                        </p:attrNameLst>
                                      </p:cBhvr>
                                      <p:to>
                                        <p:strVal val="visible"/>
                                      </p:to>
                                    </p:set>
                                  </p:childTnLst>
                                </p:cTn>
                              </p:par>
                            </p:childTnLst>
                          </p:cTn>
                        </p:par>
                        <p:par>
                          <p:cTn id="10" fill="hold" nodeType="afterGroup">
                            <p:stCondLst>
                              <p:cond delay="500"/>
                            </p:stCondLst>
                            <p:childTnLst>
                              <p:par>
                                <p:cTn id="11" presetID="22" presetClass="entr" presetSubtype="8" fill="hold" grpId="0" nodeType="afterEffect">
                                  <p:stCondLst>
                                    <p:cond delay="500"/>
                                  </p:stCondLst>
                                  <p:childTnLst>
                                    <p:set>
                                      <p:cBhvr>
                                        <p:cTn id="12" dur="1" fill="hold">
                                          <p:stCondLst>
                                            <p:cond delay="0"/>
                                          </p:stCondLst>
                                        </p:cTn>
                                        <p:tgtEl>
                                          <p:spTgt spid="119414"/>
                                        </p:tgtEl>
                                        <p:attrNameLst>
                                          <p:attrName>style.visibility</p:attrName>
                                        </p:attrNameLst>
                                      </p:cBhvr>
                                      <p:to>
                                        <p:strVal val="visible"/>
                                      </p:to>
                                    </p:set>
                                    <p:animEffect transition="in" filter="wipe(left)">
                                      <p:cBhvr>
                                        <p:cTn id="13" dur="500"/>
                                        <p:tgtEl>
                                          <p:spTgt spid="119414"/>
                                        </p:tgtEl>
                                      </p:cBhvr>
                                    </p:animEffect>
                                  </p:childTnLst>
                                </p:cTn>
                              </p:par>
                            </p:childTnLst>
                          </p:cTn>
                        </p:par>
                        <p:par>
                          <p:cTn id="14" fill="hold" nodeType="afterGroup">
                            <p:stCondLst>
                              <p:cond delay="1500"/>
                            </p:stCondLst>
                            <p:childTnLst>
                              <p:par>
                                <p:cTn id="15" presetID="22" presetClass="entr" presetSubtype="8" fill="hold" grpId="0" nodeType="afterEffect">
                                  <p:stCondLst>
                                    <p:cond delay="500"/>
                                  </p:stCondLst>
                                  <p:childTnLst>
                                    <p:set>
                                      <p:cBhvr>
                                        <p:cTn id="16" dur="1" fill="hold">
                                          <p:stCondLst>
                                            <p:cond delay="0"/>
                                          </p:stCondLst>
                                        </p:cTn>
                                        <p:tgtEl>
                                          <p:spTgt spid="119415"/>
                                        </p:tgtEl>
                                        <p:attrNameLst>
                                          <p:attrName>style.visibility</p:attrName>
                                        </p:attrNameLst>
                                      </p:cBhvr>
                                      <p:to>
                                        <p:strVal val="visible"/>
                                      </p:to>
                                    </p:set>
                                    <p:animEffect transition="in" filter="wipe(left)">
                                      <p:cBhvr>
                                        <p:cTn id="17" dur="500"/>
                                        <p:tgtEl>
                                          <p:spTgt spid="119415"/>
                                        </p:tgtEl>
                                      </p:cBhvr>
                                    </p:animEffect>
                                  </p:childTnLst>
                                </p:cTn>
                              </p:par>
                            </p:childTnLst>
                          </p:cTn>
                        </p:par>
                        <p:par>
                          <p:cTn id="18" fill="hold" nodeType="afterGroup">
                            <p:stCondLst>
                              <p:cond delay="2500"/>
                            </p:stCondLst>
                            <p:childTnLst>
                              <p:par>
                                <p:cTn id="19" presetID="22" presetClass="entr" presetSubtype="8" fill="hold" grpId="0" nodeType="afterEffect">
                                  <p:stCondLst>
                                    <p:cond delay="500"/>
                                  </p:stCondLst>
                                  <p:childTnLst>
                                    <p:set>
                                      <p:cBhvr>
                                        <p:cTn id="20" dur="1" fill="hold">
                                          <p:stCondLst>
                                            <p:cond delay="0"/>
                                          </p:stCondLst>
                                        </p:cTn>
                                        <p:tgtEl>
                                          <p:spTgt spid="119416"/>
                                        </p:tgtEl>
                                        <p:attrNameLst>
                                          <p:attrName>style.visibility</p:attrName>
                                        </p:attrNameLst>
                                      </p:cBhvr>
                                      <p:to>
                                        <p:strVal val="visible"/>
                                      </p:to>
                                    </p:set>
                                    <p:animEffect transition="in" filter="wipe(left)">
                                      <p:cBhvr>
                                        <p:cTn id="21" dur="500"/>
                                        <p:tgtEl>
                                          <p:spTgt spid="119416"/>
                                        </p:tgtEl>
                                      </p:cBhvr>
                                    </p:animEffect>
                                  </p:childTnLst>
                                </p:cTn>
                              </p:par>
                            </p:childTnLst>
                          </p:cTn>
                        </p:par>
                        <p:par>
                          <p:cTn id="22" fill="hold" nodeType="afterGroup">
                            <p:stCondLst>
                              <p:cond delay="3500"/>
                            </p:stCondLst>
                            <p:childTnLst>
                              <p:par>
                                <p:cTn id="23" presetID="22" presetClass="entr" presetSubtype="8" fill="hold" grpId="0" nodeType="afterEffect">
                                  <p:stCondLst>
                                    <p:cond delay="500"/>
                                  </p:stCondLst>
                                  <p:childTnLst>
                                    <p:set>
                                      <p:cBhvr>
                                        <p:cTn id="24" dur="1" fill="hold">
                                          <p:stCondLst>
                                            <p:cond delay="0"/>
                                          </p:stCondLst>
                                        </p:cTn>
                                        <p:tgtEl>
                                          <p:spTgt spid="119417"/>
                                        </p:tgtEl>
                                        <p:attrNameLst>
                                          <p:attrName>style.visibility</p:attrName>
                                        </p:attrNameLst>
                                      </p:cBhvr>
                                      <p:to>
                                        <p:strVal val="visible"/>
                                      </p:to>
                                    </p:set>
                                    <p:animEffect transition="in" filter="wipe(left)">
                                      <p:cBhvr>
                                        <p:cTn id="25" dur="500"/>
                                        <p:tgtEl>
                                          <p:spTgt spid="119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414" grpId="0" animBg="1"/>
      <p:bldP spid="119415" grpId="0" animBg="1"/>
      <p:bldP spid="119416" grpId="0" animBg="1"/>
      <p:bldP spid="119417" grpId="0" animBg="1"/>
      <p:bldP spid="119429" grpId="0"/>
      <p:bldP spid="1194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931863"/>
            <a:ext cx="8675688" cy="768350"/>
          </a:xfrm>
        </p:spPr>
        <p:txBody>
          <a:bodyPr/>
          <a:lstStyle/>
          <a:p>
            <a:pPr algn="ctr" eaLnBrk="1" hangingPunct="1"/>
            <a:r>
              <a:rPr lang="en-US" altLang="zh-CN" sz="4000" smtClean="0"/>
              <a:t>3.1 </a:t>
            </a:r>
            <a:r>
              <a:rPr lang="zh-CN" altLang="en-US" sz="4000" smtClean="0"/>
              <a:t>使用点对点信道的数据链路层</a:t>
            </a:r>
            <a:br>
              <a:rPr lang="zh-CN" altLang="en-US" sz="4000" smtClean="0"/>
            </a:br>
            <a:r>
              <a:rPr lang="en-US" altLang="zh-CN" sz="3600" smtClean="0"/>
              <a:t>3.1.1  </a:t>
            </a:r>
            <a:r>
              <a:rPr lang="zh-CN" altLang="en-US" sz="3600" smtClean="0"/>
              <a:t>数据链路和帧</a:t>
            </a:r>
            <a:r>
              <a:rPr lang="zh-CN" altLang="en-US" sz="4000" smtClean="0"/>
              <a:t>  </a:t>
            </a:r>
          </a:p>
        </p:txBody>
      </p:sp>
      <p:sp>
        <p:nvSpPr>
          <p:cNvPr id="123907" name="Rectangle 3"/>
          <p:cNvSpPr>
            <a:spLocks noGrp="1" noChangeArrowheads="1"/>
          </p:cNvSpPr>
          <p:nvPr>
            <p:ph type="body" idx="1"/>
          </p:nvPr>
        </p:nvSpPr>
        <p:spPr>
          <a:xfrm>
            <a:off x="1182688" y="1844675"/>
            <a:ext cx="7772400" cy="4840288"/>
          </a:xfrm>
        </p:spPr>
        <p:txBody>
          <a:bodyPr/>
          <a:lstStyle/>
          <a:p>
            <a:pPr eaLnBrk="1" hangingPunct="1">
              <a:lnSpc>
                <a:spcPct val="90000"/>
              </a:lnSpc>
            </a:pPr>
            <a:r>
              <a:rPr lang="zh-CN" altLang="en-US" smtClean="0">
                <a:solidFill>
                  <a:schemeClr val="hlink"/>
                </a:solidFill>
              </a:rPr>
              <a:t>链路</a:t>
            </a:r>
            <a:r>
              <a:rPr lang="en-US" altLang="zh-CN" smtClean="0"/>
              <a:t>(link)</a:t>
            </a:r>
            <a:r>
              <a:rPr lang="zh-CN" altLang="en-US" smtClean="0"/>
              <a:t>是一条无源的点到点的物理线路段，中间没有任何其他的交换结点。</a:t>
            </a:r>
          </a:p>
          <a:p>
            <a:pPr lvl="1" eaLnBrk="1" hangingPunct="1">
              <a:lnSpc>
                <a:spcPct val="90000"/>
              </a:lnSpc>
            </a:pPr>
            <a:r>
              <a:rPr lang="zh-CN" altLang="en-US" sz="2400" smtClean="0">
                <a:solidFill>
                  <a:srgbClr val="333399"/>
                </a:solidFill>
                <a:ea typeface="黑体" pitchFamily="49" charset="-122"/>
              </a:rPr>
              <a:t>一条链路只是一条通路的一个组成部分。</a:t>
            </a:r>
          </a:p>
          <a:p>
            <a:pPr eaLnBrk="1" hangingPunct="1">
              <a:lnSpc>
                <a:spcPct val="90000"/>
              </a:lnSpc>
            </a:pPr>
            <a:r>
              <a:rPr lang="zh-CN" altLang="en-US" sz="2800" smtClean="0">
                <a:solidFill>
                  <a:schemeClr val="hlink"/>
                </a:solidFill>
              </a:rPr>
              <a:t>数据链路</a:t>
            </a:r>
            <a:r>
              <a:rPr lang="en-US" altLang="zh-CN" sz="2800" smtClean="0"/>
              <a:t>(data link) </a:t>
            </a:r>
            <a:r>
              <a:rPr lang="zh-CN" altLang="en-US" sz="2800" smtClean="0"/>
              <a:t>除了物理线路外，还必须有通信协议来控制这些数据的传输。若把实现这些协议的硬件和软件加到链路上，就构成了数据链路。</a:t>
            </a:r>
          </a:p>
          <a:p>
            <a:pPr lvl="1" eaLnBrk="1" hangingPunct="1">
              <a:lnSpc>
                <a:spcPct val="90000"/>
              </a:lnSpc>
            </a:pPr>
            <a:r>
              <a:rPr lang="zh-CN" altLang="en-US" sz="2400" smtClean="0">
                <a:solidFill>
                  <a:srgbClr val="333399"/>
                </a:solidFill>
                <a:ea typeface="黑体" pitchFamily="49" charset="-122"/>
              </a:rPr>
              <a:t>现在最常用的方法是使用适配器（即网卡）来实现这些协议的硬件和软件。</a:t>
            </a:r>
          </a:p>
          <a:p>
            <a:pPr lvl="1" eaLnBrk="1" hangingPunct="1">
              <a:lnSpc>
                <a:spcPct val="90000"/>
              </a:lnSpc>
            </a:pPr>
            <a:r>
              <a:rPr lang="zh-CN" altLang="en-US" sz="2400" smtClean="0">
                <a:solidFill>
                  <a:srgbClr val="333399"/>
                </a:solidFill>
                <a:ea typeface="黑体" pitchFamily="49" charset="-122"/>
              </a:rPr>
              <a:t>一般的适配器都包括了数据链路层和物理层这两层的功能。</a:t>
            </a:r>
            <a:r>
              <a:rPr lang="zh-CN" altLang="en-US" sz="2400" smtClean="0"/>
              <a:t>  </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907">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9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4"/>
          <p:cNvSpPr>
            <a:spLocks noChangeArrowheads="1"/>
          </p:cNvSpPr>
          <p:nvPr/>
        </p:nvSpPr>
        <p:spPr bwMode="auto">
          <a:xfrm>
            <a:off x="6980238" y="1570038"/>
            <a:ext cx="2011362" cy="1828800"/>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endParaRPr lang="zh-CN" altLang="en-US"/>
          </a:p>
        </p:txBody>
      </p:sp>
      <p:sp>
        <p:nvSpPr>
          <p:cNvPr id="11267" name="Rectangle 5"/>
          <p:cNvSpPr>
            <a:spLocks noChangeArrowheads="1"/>
          </p:cNvSpPr>
          <p:nvPr/>
        </p:nvSpPr>
        <p:spPr bwMode="auto">
          <a:xfrm>
            <a:off x="6999288" y="2179638"/>
            <a:ext cx="1981200" cy="6096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 name="Line 6"/>
          <p:cNvSpPr>
            <a:spLocks noChangeShapeType="1"/>
          </p:cNvSpPr>
          <p:nvPr/>
        </p:nvSpPr>
        <p:spPr bwMode="auto">
          <a:xfrm>
            <a:off x="6980238" y="2178050"/>
            <a:ext cx="2008187"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9" name="Rectangle 7"/>
          <p:cNvSpPr>
            <a:spLocks noChangeArrowheads="1"/>
          </p:cNvSpPr>
          <p:nvPr/>
        </p:nvSpPr>
        <p:spPr bwMode="auto">
          <a:xfrm>
            <a:off x="7286625" y="2332038"/>
            <a:ext cx="1390650"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a:solidFill>
                <a:schemeClr val="folHlink"/>
              </a:solidFill>
              <a:latin typeface="Arial" pitchFamily="34" charset="0"/>
              <a:ea typeface="黑体" pitchFamily="49" charset="-122"/>
            </a:endParaRPr>
          </a:p>
        </p:txBody>
      </p:sp>
      <p:sp>
        <p:nvSpPr>
          <p:cNvPr id="11270" name="Line 8"/>
          <p:cNvSpPr>
            <a:spLocks noChangeShapeType="1"/>
          </p:cNvSpPr>
          <p:nvPr/>
        </p:nvSpPr>
        <p:spPr bwMode="auto">
          <a:xfrm>
            <a:off x="6980238" y="2787650"/>
            <a:ext cx="2008187"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1" name="Rectangle 9"/>
          <p:cNvSpPr>
            <a:spLocks noChangeArrowheads="1"/>
          </p:cNvSpPr>
          <p:nvPr/>
        </p:nvSpPr>
        <p:spPr bwMode="auto">
          <a:xfrm>
            <a:off x="7491413" y="1722438"/>
            <a:ext cx="990600" cy="304800"/>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1800">
                <a:solidFill>
                  <a:schemeClr val="folHlink"/>
                </a:solidFill>
                <a:latin typeface="Arial" pitchFamily="34" charset="0"/>
                <a:ea typeface="黑体" pitchFamily="49" charset="-122"/>
              </a:rPr>
              <a:t>IP </a:t>
            </a:r>
            <a:r>
              <a:rPr kumimoji="1" lang="zh-CN" altLang="en-US" sz="1800">
                <a:solidFill>
                  <a:schemeClr val="folHlink"/>
                </a:solidFill>
                <a:latin typeface="Arial" pitchFamily="34" charset="0"/>
                <a:ea typeface="黑体" pitchFamily="49" charset="-122"/>
              </a:rPr>
              <a:t>数据报</a:t>
            </a:r>
          </a:p>
        </p:txBody>
      </p:sp>
      <p:sp>
        <p:nvSpPr>
          <p:cNvPr id="11272" name="Rectangle 10"/>
          <p:cNvSpPr>
            <a:spLocks noChangeArrowheads="1"/>
          </p:cNvSpPr>
          <p:nvPr/>
        </p:nvSpPr>
        <p:spPr bwMode="auto">
          <a:xfrm>
            <a:off x="7280275" y="2941638"/>
            <a:ext cx="1403350"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a:solidFill>
                <a:schemeClr val="folHlink"/>
              </a:solidFill>
              <a:latin typeface="Arial" pitchFamily="34" charset="0"/>
              <a:ea typeface="黑体" pitchFamily="49" charset="-122"/>
            </a:endParaRPr>
          </a:p>
        </p:txBody>
      </p:sp>
      <p:sp>
        <p:nvSpPr>
          <p:cNvPr id="11273" name="Rectangle 11"/>
          <p:cNvSpPr>
            <a:spLocks noChangeArrowheads="1"/>
          </p:cNvSpPr>
          <p:nvPr/>
        </p:nvSpPr>
        <p:spPr bwMode="auto">
          <a:xfrm>
            <a:off x="7216775" y="2954338"/>
            <a:ext cx="1603375" cy="29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en-US" altLang="zh-CN" sz="1600">
                <a:solidFill>
                  <a:schemeClr val="folHlink"/>
                </a:solidFill>
                <a:latin typeface="Arial" pitchFamily="34" charset="0"/>
                <a:ea typeface="黑体" pitchFamily="49" charset="-122"/>
              </a:rPr>
              <a:t>1010…  …0110</a:t>
            </a:r>
          </a:p>
        </p:txBody>
      </p:sp>
      <p:sp>
        <p:nvSpPr>
          <p:cNvPr id="11274" name="AutoShape 12"/>
          <p:cNvSpPr>
            <a:spLocks noChangeArrowheads="1"/>
          </p:cNvSpPr>
          <p:nvPr/>
        </p:nvSpPr>
        <p:spPr bwMode="auto">
          <a:xfrm flipV="1">
            <a:off x="7851775" y="2684463"/>
            <a:ext cx="304800" cy="334962"/>
          </a:xfrm>
          <a:prstGeom prst="downArrow">
            <a:avLst>
              <a:gd name="adj1" fmla="val 50000"/>
              <a:gd name="adj2" fmla="val 43231"/>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275" name="Rectangle 13"/>
          <p:cNvSpPr>
            <a:spLocks noChangeArrowheads="1"/>
          </p:cNvSpPr>
          <p:nvPr/>
        </p:nvSpPr>
        <p:spPr bwMode="auto">
          <a:xfrm>
            <a:off x="7485063" y="2341563"/>
            <a:ext cx="990600" cy="280987"/>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6" name="AutoShape 14"/>
          <p:cNvSpPr>
            <a:spLocks noChangeArrowheads="1"/>
          </p:cNvSpPr>
          <p:nvPr/>
        </p:nvSpPr>
        <p:spPr bwMode="auto">
          <a:xfrm flipV="1">
            <a:off x="7481888" y="1973263"/>
            <a:ext cx="990600" cy="369887"/>
          </a:xfrm>
          <a:prstGeom prst="downArrow">
            <a:avLst>
              <a:gd name="adj1" fmla="val 65389"/>
              <a:gd name="adj2" fmla="val 39394"/>
            </a:avLst>
          </a:prstGeom>
          <a:solidFill>
            <a:schemeClr val="accent2"/>
          </a:solidFill>
          <a:ln w="12700">
            <a:solidFill>
              <a:schemeClr val="tx1"/>
            </a:solidFill>
            <a:miter lim="800000"/>
            <a:headEnd/>
            <a:tailEnd/>
          </a:ln>
          <a:effectLst>
            <a:outerShdw dist="35921" dir="2700000" algn="ctr" rotWithShape="0">
              <a:schemeClr val="bg2"/>
            </a:outerShdw>
          </a:effectLst>
        </p:spPr>
        <p:txBody>
          <a:bodyPr vert="eaVert" wrap="none" anchor="ctr"/>
          <a:lstStyle/>
          <a:p>
            <a:endParaRPr lang="zh-CN" altLang="en-US"/>
          </a:p>
        </p:txBody>
      </p:sp>
      <p:sp>
        <p:nvSpPr>
          <p:cNvPr id="11277" name="Text Box 15"/>
          <p:cNvSpPr txBox="1">
            <a:spLocks noChangeArrowheads="1"/>
          </p:cNvSpPr>
          <p:nvPr/>
        </p:nvSpPr>
        <p:spPr bwMode="auto">
          <a:xfrm>
            <a:off x="6948488" y="2286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zh-CN" altLang="en-US" sz="1800">
                <a:solidFill>
                  <a:schemeClr val="folHlink"/>
                </a:solidFill>
                <a:latin typeface="Arial" pitchFamily="34" charset="0"/>
                <a:ea typeface="黑体" pitchFamily="49" charset="-122"/>
              </a:rPr>
              <a:t>帧</a:t>
            </a:r>
          </a:p>
        </p:txBody>
      </p:sp>
      <p:sp>
        <p:nvSpPr>
          <p:cNvPr id="11278" name="Rectangle 16"/>
          <p:cNvSpPr>
            <a:spLocks noChangeArrowheads="1"/>
          </p:cNvSpPr>
          <p:nvPr/>
        </p:nvSpPr>
        <p:spPr bwMode="auto">
          <a:xfrm>
            <a:off x="7691438" y="2000250"/>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Arial" pitchFamily="34" charset="0"/>
                <a:ea typeface="黑体" pitchFamily="49" charset="-122"/>
              </a:rPr>
              <a:t>取出</a:t>
            </a:r>
          </a:p>
        </p:txBody>
      </p:sp>
      <p:sp>
        <p:nvSpPr>
          <p:cNvPr id="11279" name="Line 17"/>
          <p:cNvSpPr>
            <a:spLocks noChangeShapeType="1"/>
          </p:cNvSpPr>
          <p:nvPr/>
        </p:nvSpPr>
        <p:spPr bwMode="auto">
          <a:xfrm>
            <a:off x="7480300" y="2336800"/>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0" name="Line 18"/>
          <p:cNvSpPr>
            <a:spLocks noChangeShapeType="1"/>
          </p:cNvSpPr>
          <p:nvPr/>
        </p:nvSpPr>
        <p:spPr bwMode="auto">
          <a:xfrm>
            <a:off x="8470900" y="2338388"/>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1" name="Freeform 19"/>
          <p:cNvSpPr>
            <a:spLocks/>
          </p:cNvSpPr>
          <p:nvPr/>
        </p:nvSpPr>
        <p:spPr bwMode="auto">
          <a:xfrm>
            <a:off x="3132138" y="5702300"/>
            <a:ext cx="4765675" cy="4763"/>
          </a:xfrm>
          <a:custGeom>
            <a:avLst/>
            <a:gdLst>
              <a:gd name="T0" fmla="*/ 0 w 3002"/>
              <a:gd name="T1" fmla="*/ 0 h 3"/>
              <a:gd name="T2" fmla="*/ 2147483647 w 3002"/>
              <a:gd name="T3" fmla="*/ 2147483647 h 3"/>
              <a:gd name="T4" fmla="*/ 0 60000 65536"/>
              <a:gd name="T5" fmla="*/ 0 60000 65536"/>
            </a:gdLst>
            <a:ahLst/>
            <a:cxnLst>
              <a:cxn ang="T4">
                <a:pos x="T0" y="T1"/>
              </a:cxn>
              <a:cxn ang="T5">
                <a:pos x="T2" y="T3"/>
              </a:cxn>
            </a:cxnLst>
            <a:rect l="0" t="0" r="r" b="b"/>
            <a:pathLst>
              <a:path w="3002" h="3">
                <a:moveTo>
                  <a:pt x="0" y="0"/>
                </a:moveTo>
                <a:lnTo>
                  <a:pt x="3002" y="3"/>
                </a:lnTo>
              </a:path>
            </a:pathLst>
          </a:custGeom>
          <a:noFill/>
          <a:ln w="28575"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2" name="Rectangle 20"/>
          <p:cNvSpPr>
            <a:spLocks noChangeArrowheads="1"/>
          </p:cNvSpPr>
          <p:nvPr/>
        </p:nvSpPr>
        <p:spPr bwMode="auto">
          <a:xfrm>
            <a:off x="6953250" y="5087938"/>
            <a:ext cx="2011363" cy="758825"/>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endParaRPr lang="zh-CN" altLang="en-US"/>
          </a:p>
        </p:txBody>
      </p:sp>
      <p:sp>
        <p:nvSpPr>
          <p:cNvPr id="11283" name="Freeform 21"/>
          <p:cNvSpPr>
            <a:spLocks/>
          </p:cNvSpPr>
          <p:nvPr/>
        </p:nvSpPr>
        <p:spPr bwMode="auto">
          <a:xfrm>
            <a:off x="2209800" y="3230563"/>
            <a:ext cx="5791200" cy="609600"/>
          </a:xfrm>
          <a:custGeom>
            <a:avLst/>
            <a:gdLst>
              <a:gd name="T0" fmla="*/ 0 w 2736"/>
              <a:gd name="T1" fmla="*/ 0 h 480"/>
              <a:gd name="T2" fmla="*/ 0 w 2736"/>
              <a:gd name="T3" fmla="*/ 2147483647 h 480"/>
              <a:gd name="T4" fmla="*/ 2147483647 w 2736"/>
              <a:gd name="T5" fmla="*/ 2147483647 h 480"/>
              <a:gd name="T6" fmla="*/ 2147483647 w 2736"/>
              <a:gd name="T7" fmla="*/ 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36" h="480">
                <a:moveTo>
                  <a:pt x="0" y="0"/>
                </a:moveTo>
                <a:lnTo>
                  <a:pt x="0" y="480"/>
                </a:lnTo>
                <a:lnTo>
                  <a:pt x="2736" y="480"/>
                </a:lnTo>
                <a:lnTo>
                  <a:pt x="2736" y="0"/>
                </a:lnTo>
              </a:path>
            </a:pathLst>
          </a:custGeom>
          <a:noFill/>
          <a:ln w="28575"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4" name="Rectangle 22"/>
          <p:cNvSpPr>
            <a:spLocks noChangeArrowheads="1"/>
          </p:cNvSpPr>
          <p:nvPr/>
        </p:nvSpPr>
        <p:spPr bwMode="auto">
          <a:xfrm>
            <a:off x="176213" y="2101850"/>
            <a:ext cx="8667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800">
                <a:solidFill>
                  <a:schemeClr val="folHlink"/>
                </a:solidFill>
                <a:latin typeface="Arial" pitchFamily="34" charset="0"/>
                <a:ea typeface="黑体" pitchFamily="49" charset="-122"/>
              </a:rPr>
              <a:t>数据</a:t>
            </a:r>
          </a:p>
          <a:p>
            <a:pPr algn="ctr" defTabSz="762000" eaLnBrk="0" hangingPunct="0"/>
            <a:r>
              <a:rPr kumimoji="1" lang="zh-CN" altLang="en-US" sz="1800">
                <a:solidFill>
                  <a:schemeClr val="folHlink"/>
                </a:solidFill>
                <a:latin typeface="Arial" pitchFamily="34" charset="0"/>
                <a:ea typeface="黑体" pitchFamily="49" charset="-122"/>
              </a:rPr>
              <a:t>链路层</a:t>
            </a:r>
          </a:p>
        </p:txBody>
      </p:sp>
      <p:sp>
        <p:nvSpPr>
          <p:cNvPr id="11285" name="Rectangle 23"/>
          <p:cNvSpPr>
            <a:spLocks noChangeArrowheads="1"/>
          </p:cNvSpPr>
          <p:nvPr/>
        </p:nvSpPr>
        <p:spPr bwMode="auto">
          <a:xfrm>
            <a:off x="163513" y="1706563"/>
            <a:ext cx="866775"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zh-CN" altLang="en-US" sz="1800">
                <a:solidFill>
                  <a:schemeClr val="folHlink"/>
                </a:solidFill>
                <a:latin typeface="Arial" pitchFamily="34" charset="0"/>
                <a:ea typeface="黑体" pitchFamily="49" charset="-122"/>
              </a:rPr>
              <a:t>网络层</a:t>
            </a:r>
          </a:p>
        </p:txBody>
      </p:sp>
      <p:sp>
        <p:nvSpPr>
          <p:cNvPr id="11286" name="Rectangle 24"/>
          <p:cNvSpPr>
            <a:spLocks noChangeArrowheads="1"/>
          </p:cNvSpPr>
          <p:nvPr/>
        </p:nvSpPr>
        <p:spPr bwMode="auto">
          <a:xfrm>
            <a:off x="4724400" y="3840163"/>
            <a:ext cx="6381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Arial" pitchFamily="34" charset="0"/>
                <a:ea typeface="黑体" pitchFamily="49" charset="-122"/>
              </a:rPr>
              <a:t>链路</a:t>
            </a:r>
          </a:p>
        </p:txBody>
      </p:sp>
      <p:sp>
        <p:nvSpPr>
          <p:cNvPr id="11287" name="Rectangle 25"/>
          <p:cNvSpPr>
            <a:spLocks noChangeArrowheads="1"/>
          </p:cNvSpPr>
          <p:nvPr/>
        </p:nvSpPr>
        <p:spPr bwMode="auto">
          <a:xfrm>
            <a:off x="1828800" y="1220788"/>
            <a:ext cx="854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Arial" pitchFamily="34" charset="0"/>
                <a:ea typeface="黑体" pitchFamily="49" charset="-122"/>
              </a:rPr>
              <a:t>结点 </a:t>
            </a:r>
            <a:r>
              <a:rPr kumimoji="1" lang="en-US" altLang="zh-CN" sz="1800">
                <a:solidFill>
                  <a:schemeClr val="folHlink"/>
                </a:solidFill>
                <a:latin typeface="Arial" pitchFamily="34" charset="0"/>
                <a:ea typeface="黑体" pitchFamily="49" charset="-122"/>
              </a:rPr>
              <a:t>A</a:t>
            </a:r>
          </a:p>
        </p:txBody>
      </p:sp>
      <p:sp>
        <p:nvSpPr>
          <p:cNvPr id="11288" name="Rectangle 26"/>
          <p:cNvSpPr>
            <a:spLocks noChangeArrowheads="1"/>
          </p:cNvSpPr>
          <p:nvPr/>
        </p:nvSpPr>
        <p:spPr bwMode="auto">
          <a:xfrm>
            <a:off x="7607300" y="1220788"/>
            <a:ext cx="854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Arial" pitchFamily="34" charset="0"/>
                <a:ea typeface="黑体" pitchFamily="49" charset="-122"/>
              </a:rPr>
              <a:t>结点 </a:t>
            </a:r>
            <a:r>
              <a:rPr kumimoji="1" lang="en-US" altLang="zh-CN" sz="1800">
                <a:solidFill>
                  <a:schemeClr val="folHlink"/>
                </a:solidFill>
                <a:latin typeface="Arial" pitchFamily="34" charset="0"/>
                <a:ea typeface="黑体" pitchFamily="49" charset="-122"/>
              </a:rPr>
              <a:t>B</a:t>
            </a:r>
          </a:p>
        </p:txBody>
      </p:sp>
      <p:sp>
        <p:nvSpPr>
          <p:cNvPr id="11289" name="Rectangle 27"/>
          <p:cNvSpPr>
            <a:spLocks noChangeArrowheads="1"/>
          </p:cNvSpPr>
          <p:nvPr/>
        </p:nvSpPr>
        <p:spPr bwMode="auto">
          <a:xfrm>
            <a:off x="163513" y="2925763"/>
            <a:ext cx="866775"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zh-CN" altLang="en-US" sz="1800">
                <a:solidFill>
                  <a:schemeClr val="folHlink"/>
                </a:solidFill>
                <a:latin typeface="Arial" pitchFamily="34" charset="0"/>
                <a:ea typeface="黑体" pitchFamily="49" charset="-122"/>
              </a:rPr>
              <a:t>物理层</a:t>
            </a:r>
          </a:p>
        </p:txBody>
      </p:sp>
      <p:sp>
        <p:nvSpPr>
          <p:cNvPr id="11290" name="Rectangle 28"/>
          <p:cNvSpPr>
            <a:spLocks noChangeArrowheads="1"/>
          </p:cNvSpPr>
          <p:nvPr/>
        </p:nvSpPr>
        <p:spPr bwMode="auto">
          <a:xfrm>
            <a:off x="2286000" y="3611563"/>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1" name="Rectangle 29"/>
          <p:cNvSpPr>
            <a:spLocks noChangeArrowheads="1"/>
          </p:cNvSpPr>
          <p:nvPr/>
        </p:nvSpPr>
        <p:spPr bwMode="auto">
          <a:xfrm>
            <a:off x="2438400" y="3611563"/>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2" name="Rectangle 30"/>
          <p:cNvSpPr>
            <a:spLocks noChangeArrowheads="1"/>
          </p:cNvSpPr>
          <p:nvPr/>
        </p:nvSpPr>
        <p:spPr bwMode="auto">
          <a:xfrm>
            <a:off x="3810000" y="3611563"/>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3" name="Rectangle 31"/>
          <p:cNvSpPr>
            <a:spLocks noChangeArrowheads="1"/>
          </p:cNvSpPr>
          <p:nvPr/>
        </p:nvSpPr>
        <p:spPr bwMode="auto">
          <a:xfrm>
            <a:off x="3962400" y="3611563"/>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4" name="Rectangle 32"/>
          <p:cNvSpPr>
            <a:spLocks noChangeArrowheads="1"/>
          </p:cNvSpPr>
          <p:nvPr/>
        </p:nvSpPr>
        <p:spPr bwMode="auto">
          <a:xfrm>
            <a:off x="5715000" y="3611563"/>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5" name="Rectangle 33"/>
          <p:cNvSpPr>
            <a:spLocks noChangeArrowheads="1"/>
          </p:cNvSpPr>
          <p:nvPr/>
        </p:nvSpPr>
        <p:spPr bwMode="auto">
          <a:xfrm>
            <a:off x="5867400" y="3611563"/>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6" name="Rectangle 34"/>
          <p:cNvSpPr>
            <a:spLocks noChangeArrowheads="1"/>
          </p:cNvSpPr>
          <p:nvPr/>
        </p:nvSpPr>
        <p:spPr bwMode="auto">
          <a:xfrm>
            <a:off x="7391400" y="3611563"/>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7" name="Rectangle 35"/>
          <p:cNvSpPr>
            <a:spLocks noChangeArrowheads="1"/>
          </p:cNvSpPr>
          <p:nvPr/>
        </p:nvSpPr>
        <p:spPr bwMode="auto">
          <a:xfrm>
            <a:off x="7543800" y="3611563"/>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8" name="Rectangle 36"/>
          <p:cNvSpPr>
            <a:spLocks noChangeArrowheads="1"/>
          </p:cNvSpPr>
          <p:nvPr/>
        </p:nvSpPr>
        <p:spPr bwMode="auto">
          <a:xfrm>
            <a:off x="7696200" y="3611563"/>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9" name="Rectangle 37"/>
          <p:cNvSpPr>
            <a:spLocks noChangeArrowheads="1"/>
          </p:cNvSpPr>
          <p:nvPr/>
        </p:nvSpPr>
        <p:spPr bwMode="auto">
          <a:xfrm>
            <a:off x="7848600" y="3611563"/>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0" name="Line 38"/>
          <p:cNvSpPr>
            <a:spLocks noChangeShapeType="1"/>
          </p:cNvSpPr>
          <p:nvPr/>
        </p:nvSpPr>
        <p:spPr bwMode="auto">
          <a:xfrm>
            <a:off x="4114800" y="3687763"/>
            <a:ext cx="304800"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1" name="Line 39"/>
          <p:cNvSpPr>
            <a:spLocks noChangeShapeType="1"/>
          </p:cNvSpPr>
          <p:nvPr/>
        </p:nvSpPr>
        <p:spPr bwMode="auto">
          <a:xfrm rot="5400000">
            <a:off x="2171700" y="3421063"/>
            <a:ext cx="304800"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2" name="Line 40"/>
          <p:cNvSpPr>
            <a:spLocks noChangeShapeType="1"/>
          </p:cNvSpPr>
          <p:nvPr/>
        </p:nvSpPr>
        <p:spPr bwMode="auto">
          <a:xfrm rot="16200000" flipV="1">
            <a:off x="7734300" y="3459163"/>
            <a:ext cx="304800"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303" name="Group 41"/>
          <p:cNvGrpSpPr>
            <a:grpSpLocks/>
          </p:cNvGrpSpPr>
          <p:nvPr/>
        </p:nvGrpSpPr>
        <p:grpSpPr bwMode="auto">
          <a:xfrm>
            <a:off x="2590800" y="3611563"/>
            <a:ext cx="1066800" cy="152400"/>
            <a:chOff x="1344" y="912"/>
            <a:chExt cx="672" cy="96"/>
          </a:xfrm>
        </p:grpSpPr>
        <p:sp>
          <p:nvSpPr>
            <p:cNvPr id="11342" name="Line 42"/>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3" name="Freeform 43"/>
            <p:cNvSpPr>
              <a:spLocks/>
            </p:cNvSpPr>
            <p:nvPr/>
          </p:nvSpPr>
          <p:spPr bwMode="auto">
            <a:xfrm>
              <a:off x="1392" y="912"/>
              <a:ext cx="576" cy="96"/>
            </a:xfrm>
            <a:custGeom>
              <a:avLst/>
              <a:gdLst>
                <a:gd name="T0" fmla="*/ 0 w 576"/>
                <a:gd name="T1" fmla="*/ 3 h 192"/>
                <a:gd name="T2" fmla="*/ 0 w 576"/>
                <a:gd name="T3" fmla="*/ 0 h 192"/>
                <a:gd name="T4" fmla="*/ 192 w 576"/>
                <a:gd name="T5" fmla="*/ 0 h 192"/>
                <a:gd name="T6" fmla="*/ 192 w 576"/>
                <a:gd name="T7" fmla="*/ 6 h 192"/>
                <a:gd name="T8" fmla="*/ 288 w 576"/>
                <a:gd name="T9" fmla="*/ 6 h 192"/>
                <a:gd name="T10" fmla="*/ 288 w 576"/>
                <a:gd name="T11" fmla="*/ 0 h 192"/>
                <a:gd name="T12" fmla="*/ 336 w 576"/>
                <a:gd name="T13" fmla="*/ 0 h 192"/>
                <a:gd name="T14" fmla="*/ 336 w 576"/>
                <a:gd name="T15" fmla="*/ 6 h 192"/>
                <a:gd name="T16" fmla="*/ 480 w 576"/>
                <a:gd name="T17" fmla="*/ 6 h 192"/>
                <a:gd name="T18" fmla="*/ 480 w 576"/>
                <a:gd name="T19" fmla="*/ 0 h 192"/>
                <a:gd name="T20" fmla="*/ 576 w 576"/>
                <a:gd name="T21" fmla="*/ 0 h 192"/>
                <a:gd name="T22" fmla="*/ 576 w 576"/>
                <a:gd name="T23" fmla="*/ 3 h 192"/>
                <a:gd name="T24" fmla="*/ 0 w 576"/>
                <a:gd name="T25" fmla="*/ 3 h 1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808080"/>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304" name="Group 44"/>
          <p:cNvGrpSpPr>
            <a:grpSpLocks/>
          </p:cNvGrpSpPr>
          <p:nvPr/>
        </p:nvGrpSpPr>
        <p:grpSpPr bwMode="auto">
          <a:xfrm>
            <a:off x="6096000" y="3611563"/>
            <a:ext cx="1066800" cy="157162"/>
            <a:chOff x="4080" y="3676"/>
            <a:chExt cx="672" cy="99"/>
          </a:xfrm>
        </p:grpSpPr>
        <p:sp>
          <p:nvSpPr>
            <p:cNvPr id="11340" name="Line 45"/>
            <p:cNvSpPr>
              <a:spLocks noChangeShapeType="1"/>
            </p:cNvSpPr>
            <p:nvPr/>
          </p:nvSpPr>
          <p:spPr bwMode="auto">
            <a:xfrm>
              <a:off x="4080" y="3727"/>
              <a:ext cx="672" cy="0"/>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1" name="Freeform 46"/>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808080"/>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305" name="Rectangle 47"/>
          <p:cNvSpPr>
            <a:spLocks noChangeArrowheads="1"/>
          </p:cNvSpPr>
          <p:nvPr/>
        </p:nvSpPr>
        <p:spPr bwMode="auto">
          <a:xfrm>
            <a:off x="176213" y="5064125"/>
            <a:ext cx="866775"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800">
                <a:solidFill>
                  <a:schemeClr val="folHlink"/>
                </a:solidFill>
                <a:latin typeface="Arial" pitchFamily="34" charset="0"/>
                <a:ea typeface="黑体" pitchFamily="49" charset="-122"/>
              </a:rPr>
              <a:t>数据</a:t>
            </a:r>
          </a:p>
          <a:p>
            <a:pPr algn="ctr" defTabSz="762000" eaLnBrk="0" hangingPunct="0"/>
            <a:r>
              <a:rPr kumimoji="1" lang="zh-CN" altLang="en-US" sz="1800">
                <a:solidFill>
                  <a:schemeClr val="folHlink"/>
                </a:solidFill>
                <a:latin typeface="Arial" pitchFamily="34" charset="0"/>
                <a:ea typeface="黑体" pitchFamily="49" charset="-122"/>
              </a:rPr>
              <a:t>链路层</a:t>
            </a:r>
          </a:p>
        </p:txBody>
      </p:sp>
      <p:sp>
        <p:nvSpPr>
          <p:cNvPr id="11306" name="Rectangle 48"/>
          <p:cNvSpPr>
            <a:spLocks noChangeArrowheads="1"/>
          </p:cNvSpPr>
          <p:nvPr/>
        </p:nvSpPr>
        <p:spPr bwMode="auto">
          <a:xfrm>
            <a:off x="1219200" y="5087938"/>
            <a:ext cx="2011363" cy="758825"/>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endParaRPr lang="zh-CN" altLang="en-US"/>
          </a:p>
        </p:txBody>
      </p:sp>
      <p:sp>
        <p:nvSpPr>
          <p:cNvPr id="11307" name="Rectangle 49"/>
          <p:cNvSpPr>
            <a:spLocks noChangeArrowheads="1"/>
          </p:cNvSpPr>
          <p:nvPr/>
        </p:nvSpPr>
        <p:spPr bwMode="auto">
          <a:xfrm>
            <a:off x="1828800" y="4721225"/>
            <a:ext cx="8540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Arial" pitchFamily="34" charset="0"/>
                <a:ea typeface="黑体" pitchFamily="49" charset="-122"/>
              </a:rPr>
              <a:t>结点 </a:t>
            </a:r>
            <a:r>
              <a:rPr kumimoji="1" lang="en-US" altLang="zh-CN" sz="1800">
                <a:solidFill>
                  <a:schemeClr val="folHlink"/>
                </a:solidFill>
                <a:latin typeface="Arial" pitchFamily="34" charset="0"/>
                <a:ea typeface="黑体" pitchFamily="49" charset="-122"/>
              </a:rPr>
              <a:t>A</a:t>
            </a:r>
          </a:p>
        </p:txBody>
      </p:sp>
      <p:sp>
        <p:nvSpPr>
          <p:cNvPr id="11308" name="Rectangle 50"/>
          <p:cNvSpPr>
            <a:spLocks noChangeArrowheads="1"/>
          </p:cNvSpPr>
          <p:nvPr/>
        </p:nvSpPr>
        <p:spPr bwMode="auto">
          <a:xfrm>
            <a:off x="7607300" y="4721225"/>
            <a:ext cx="8540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Arial" pitchFamily="34" charset="0"/>
                <a:ea typeface="黑体" pitchFamily="49" charset="-122"/>
              </a:rPr>
              <a:t>结点 </a:t>
            </a:r>
            <a:r>
              <a:rPr kumimoji="1" lang="en-US" altLang="zh-CN" sz="1800">
                <a:solidFill>
                  <a:schemeClr val="folHlink"/>
                </a:solidFill>
                <a:latin typeface="Arial" pitchFamily="34" charset="0"/>
                <a:ea typeface="黑体" pitchFamily="49" charset="-122"/>
              </a:rPr>
              <a:t>B</a:t>
            </a:r>
          </a:p>
        </p:txBody>
      </p:sp>
      <p:grpSp>
        <p:nvGrpSpPr>
          <p:cNvPr id="11309" name="Group 51"/>
          <p:cNvGrpSpPr>
            <a:grpSpLocks/>
          </p:cNvGrpSpPr>
          <p:nvPr/>
        </p:nvGrpSpPr>
        <p:grpSpPr bwMode="auto">
          <a:xfrm>
            <a:off x="2700338" y="5281613"/>
            <a:ext cx="977900" cy="366712"/>
            <a:chOff x="1701" y="2666"/>
            <a:chExt cx="616" cy="231"/>
          </a:xfrm>
        </p:grpSpPr>
        <p:grpSp>
          <p:nvGrpSpPr>
            <p:cNvPr id="11336" name="Group 52"/>
            <p:cNvGrpSpPr>
              <a:grpSpLocks/>
            </p:cNvGrpSpPr>
            <p:nvPr/>
          </p:nvGrpSpPr>
          <p:grpSpPr bwMode="auto">
            <a:xfrm>
              <a:off x="1701" y="2694"/>
              <a:ext cx="616" cy="192"/>
              <a:chOff x="1701" y="2694"/>
              <a:chExt cx="616" cy="192"/>
            </a:xfrm>
          </p:grpSpPr>
          <p:sp>
            <p:nvSpPr>
              <p:cNvPr id="11338" name="AutoShape 53"/>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9" name="Rectangle 54"/>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a:solidFill>
                    <a:schemeClr val="folHlink"/>
                  </a:solidFill>
                  <a:latin typeface="Arial" pitchFamily="34" charset="0"/>
                  <a:ea typeface="黑体" pitchFamily="49" charset="-122"/>
                </a:endParaRPr>
              </a:p>
            </p:txBody>
          </p:sp>
        </p:grpSp>
        <p:sp>
          <p:nvSpPr>
            <p:cNvPr id="11337" name="Text Box 55"/>
            <p:cNvSpPr txBox="1">
              <a:spLocks noChangeArrowheads="1"/>
            </p:cNvSpPr>
            <p:nvPr/>
          </p:nvSpPr>
          <p:spPr bwMode="auto">
            <a:xfrm>
              <a:off x="1784" y="2666"/>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zh-CN" altLang="en-US" sz="1800">
                  <a:solidFill>
                    <a:schemeClr val="folHlink"/>
                  </a:solidFill>
                  <a:latin typeface="Arial" pitchFamily="34" charset="0"/>
                  <a:ea typeface="黑体" pitchFamily="49" charset="-122"/>
                </a:rPr>
                <a:t>帧</a:t>
              </a:r>
            </a:p>
          </p:txBody>
        </p:sp>
      </p:grpSp>
      <p:sp>
        <p:nvSpPr>
          <p:cNvPr id="11310" name="Rectangle 56"/>
          <p:cNvSpPr>
            <a:spLocks noChangeArrowheads="1"/>
          </p:cNvSpPr>
          <p:nvPr/>
        </p:nvSpPr>
        <p:spPr bwMode="auto">
          <a:xfrm>
            <a:off x="4849813" y="4249738"/>
            <a:ext cx="460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(a)</a:t>
            </a:r>
          </a:p>
        </p:txBody>
      </p:sp>
      <p:sp>
        <p:nvSpPr>
          <p:cNvPr id="11311" name="Rectangle 57"/>
          <p:cNvSpPr>
            <a:spLocks noChangeArrowheads="1"/>
          </p:cNvSpPr>
          <p:nvPr/>
        </p:nvSpPr>
        <p:spPr bwMode="auto">
          <a:xfrm>
            <a:off x="4849813" y="6161088"/>
            <a:ext cx="460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(b)</a:t>
            </a:r>
          </a:p>
        </p:txBody>
      </p:sp>
      <p:sp>
        <p:nvSpPr>
          <p:cNvPr id="11312" name="Rectangle 58"/>
          <p:cNvSpPr>
            <a:spLocks noChangeArrowheads="1"/>
          </p:cNvSpPr>
          <p:nvPr/>
        </p:nvSpPr>
        <p:spPr bwMode="auto">
          <a:xfrm>
            <a:off x="3276600" y="4983163"/>
            <a:ext cx="6381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Arial" pitchFamily="34" charset="0"/>
                <a:ea typeface="黑体" pitchFamily="49" charset="-122"/>
              </a:rPr>
              <a:t>发送</a:t>
            </a:r>
          </a:p>
        </p:txBody>
      </p:sp>
      <p:grpSp>
        <p:nvGrpSpPr>
          <p:cNvPr id="11313" name="Group 59"/>
          <p:cNvGrpSpPr>
            <a:grpSpLocks/>
          </p:cNvGrpSpPr>
          <p:nvPr/>
        </p:nvGrpSpPr>
        <p:grpSpPr bwMode="auto">
          <a:xfrm>
            <a:off x="6546850" y="5281613"/>
            <a:ext cx="977900" cy="366712"/>
            <a:chOff x="1701" y="2666"/>
            <a:chExt cx="616" cy="231"/>
          </a:xfrm>
        </p:grpSpPr>
        <p:grpSp>
          <p:nvGrpSpPr>
            <p:cNvPr id="11332" name="Group 60"/>
            <p:cNvGrpSpPr>
              <a:grpSpLocks/>
            </p:cNvGrpSpPr>
            <p:nvPr/>
          </p:nvGrpSpPr>
          <p:grpSpPr bwMode="auto">
            <a:xfrm>
              <a:off x="1701" y="2694"/>
              <a:ext cx="616" cy="192"/>
              <a:chOff x="1701" y="2694"/>
              <a:chExt cx="616" cy="192"/>
            </a:xfrm>
          </p:grpSpPr>
          <p:sp>
            <p:nvSpPr>
              <p:cNvPr id="11334" name="AutoShape 61"/>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5" name="Rectangle 62"/>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a:solidFill>
                    <a:schemeClr val="folHlink"/>
                  </a:solidFill>
                  <a:latin typeface="Arial" pitchFamily="34" charset="0"/>
                  <a:ea typeface="黑体" pitchFamily="49" charset="-122"/>
                </a:endParaRPr>
              </a:p>
            </p:txBody>
          </p:sp>
        </p:grpSp>
        <p:sp>
          <p:nvSpPr>
            <p:cNvPr id="11333" name="Text Box 63"/>
            <p:cNvSpPr txBox="1">
              <a:spLocks noChangeArrowheads="1"/>
            </p:cNvSpPr>
            <p:nvPr/>
          </p:nvSpPr>
          <p:spPr bwMode="auto">
            <a:xfrm>
              <a:off x="1784" y="2666"/>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zh-CN" altLang="en-US" sz="1800">
                  <a:solidFill>
                    <a:schemeClr val="folHlink"/>
                  </a:solidFill>
                  <a:latin typeface="Arial" pitchFamily="34" charset="0"/>
                  <a:ea typeface="黑体" pitchFamily="49" charset="-122"/>
                </a:rPr>
                <a:t>帧</a:t>
              </a:r>
            </a:p>
          </p:txBody>
        </p:sp>
      </p:grpSp>
      <p:sp>
        <p:nvSpPr>
          <p:cNvPr id="11314" name="Rectangle 64"/>
          <p:cNvSpPr>
            <a:spLocks noChangeArrowheads="1"/>
          </p:cNvSpPr>
          <p:nvPr/>
        </p:nvSpPr>
        <p:spPr bwMode="auto">
          <a:xfrm>
            <a:off x="6289675" y="4983163"/>
            <a:ext cx="6381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Arial" pitchFamily="34" charset="0"/>
                <a:ea typeface="黑体" pitchFamily="49" charset="-122"/>
              </a:rPr>
              <a:t>接收</a:t>
            </a:r>
          </a:p>
        </p:txBody>
      </p:sp>
      <p:sp>
        <p:nvSpPr>
          <p:cNvPr id="11315" name="Rectangle 65"/>
          <p:cNvSpPr>
            <a:spLocks noChangeArrowheads="1"/>
          </p:cNvSpPr>
          <p:nvPr/>
        </p:nvSpPr>
        <p:spPr bwMode="auto">
          <a:xfrm>
            <a:off x="4787900" y="5702300"/>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Arial" pitchFamily="34" charset="0"/>
                <a:ea typeface="黑体" pitchFamily="49" charset="-122"/>
              </a:rPr>
              <a:t>链路</a:t>
            </a:r>
          </a:p>
        </p:txBody>
      </p:sp>
      <p:sp>
        <p:nvSpPr>
          <p:cNvPr id="11316" name="Rectangle 67"/>
          <p:cNvSpPr>
            <a:spLocks noChangeArrowheads="1"/>
          </p:cNvSpPr>
          <p:nvPr/>
        </p:nvSpPr>
        <p:spPr bwMode="auto">
          <a:xfrm>
            <a:off x="1219200" y="1554163"/>
            <a:ext cx="2011363" cy="1828800"/>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endParaRPr lang="zh-CN" altLang="en-US"/>
          </a:p>
        </p:txBody>
      </p:sp>
      <p:sp>
        <p:nvSpPr>
          <p:cNvPr id="11317" name="Rectangle 68"/>
          <p:cNvSpPr>
            <a:spLocks noChangeArrowheads="1"/>
          </p:cNvSpPr>
          <p:nvPr/>
        </p:nvSpPr>
        <p:spPr bwMode="auto">
          <a:xfrm>
            <a:off x="1238250" y="2163763"/>
            <a:ext cx="1981200" cy="6096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8" name="Line 69"/>
          <p:cNvSpPr>
            <a:spLocks noChangeShapeType="1"/>
          </p:cNvSpPr>
          <p:nvPr/>
        </p:nvSpPr>
        <p:spPr bwMode="auto">
          <a:xfrm>
            <a:off x="1219200" y="2162175"/>
            <a:ext cx="2008188"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9" name="Rectangle 70"/>
          <p:cNvSpPr>
            <a:spLocks noChangeArrowheads="1"/>
          </p:cNvSpPr>
          <p:nvPr/>
        </p:nvSpPr>
        <p:spPr bwMode="auto">
          <a:xfrm>
            <a:off x="1525588" y="2316163"/>
            <a:ext cx="1390650"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a:solidFill>
                <a:schemeClr val="folHlink"/>
              </a:solidFill>
              <a:latin typeface="Arial" pitchFamily="34" charset="0"/>
              <a:ea typeface="黑体" pitchFamily="49" charset="-122"/>
            </a:endParaRPr>
          </a:p>
        </p:txBody>
      </p:sp>
      <p:sp>
        <p:nvSpPr>
          <p:cNvPr id="11320" name="Line 71"/>
          <p:cNvSpPr>
            <a:spLocks noChangeShapeType="1"/>
          </p:cNvSpPr>
          <p:nvPr/>
        </p:nvSpPr>
        <p:spPr bwMode="auto">
          <a:xfrm>
            <a:off x="1219200" y="2771775"/>
            <a:ext cx="2008188"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1" name="Rectangle 72"/>
          <p:cNvSpPr>
            <a:spLocks noChangeArrowheads="1"/>
          </p:cNvSpPr>
          <p:nvPr/>
        </p:nvSpPr>
        <p:spPr bwMode="auto">
          <a:xfrm>
            <a:off x="1730375" y="1706563"/>
            <a:ext cx="990600" cy="304800"/>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1800">
                <a:solidFill>
                  <a:schemeClr val="folHlink"/>
                </a:solidFill>
                <a:latin typeface="Arial" pitchFamily="34" charset="0"/>
                <a:ea typeface="黑体" pitchFamily="49" charset="-122"/>
              </a:rPr>
              <a:t>IP </a:t>
            </a:r>
            <a:r>
              <a:rPr kumimoji="1" lang="zh-CN" altLang="en-US" sz="1800">
                <a:solidFill>
                  <a:schemeClr val="folHlink"/>
                </a:solidFill>
                <a:latin typeface="Arial" pitchFamily="34" charset="0"/>
                <a:ea typeface="黑体" pitchFamily="49" charset="-122"/>
              </a:rPr>
              <a:t>数据报</a:t>
            </a:r>
          </a:p>
        </p:txBody>
      </p:sp>
      <p:sp>
        <p:nvSpPr>
          <p:cNvPr id="11322" name="Rectangle 73"/>
          <p:cNvSpPr>
            <a:spLocks noChangeArrowheads="1"/>
          </p:cNvSpPr>
          <p:nvPr/>
        </p:nvSpPr>
        <p:spPr bwMode="auto">
          <a:xfrm>
            <a:off x="1519238" y="2925763"/>
            <a:ext cx="1403350"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a:solidFill>
                <a:schemeClr val="folHlink"/>
              </a:solidFill>
              <a:latin typeface="Arial" pitchFamily="34" charset="0"/>
              <a:ea typeface="黑体" pitchFamily="49" charset="-122"/>
            </a:endParaRPr>
          </a:p>
        </p:txBody>
      </p:sp>
      <p:sp>
        <p:nvSpPr>
          <p:cNvPr id="11323" name="Rectangle 74"/>
          <p:cNvSpPr>
            <a:spLocks noChangeArrowheads="1"/>
          </p:cNvSpPr>
          <p:nvPr/>
        </p:nvSpPr>
        <p:spPr bwMode="auto">
          <a:xfrm>
            <a:off x="1455738" y="2938463"/>
            <a:ext cx="1603375" cy="29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en-US" altLang="zh-CN" sz="1600">
                <a:solidFill>
                  <a:schemeClr val="folHlink"/>
                </a:solidFill>
                <a:latin typeface="Arial" pitchFamily="34" charset="0"/>
                <a:ea typeface="黑体" pitchFamily="49" charset="-122"/>
              </a:rPr>
              <a:t>1010…  …0110</a:t>
            </a:r>
          </a:p>
        </p:txBody>
      </p:sp>
      <p:sp>
        <p:nvSpPr>
          <p:cNvPr id="11324" name="AutoShape 75"/>
          <p:cNvSpPr>
            <a:spLocks noChangeArrowheads="1"/>
          </p:cNvSpPr>
          <p:nvPr/>
        </p:nvSpPr>
        <p:spPr bwMode="auto">
          <a:xfrm>
            <a:off x="2071688" y="2773363"/>
            <a:ext cx="304800" cy="334962"/>
          </a:xfrm>
          <a:prstGeom prst="downArrow">
            <a:avLst>
              <a:gd name="adj1" fmla="val 50000"/>
              <a:gd name="adj2" fmla="val 43231"/>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325" name="Rectangle 76"/>
          <p:cNvSpPr>
            <a:spLocks noChangeArrowheads="1"/>
          </p:cNvSpPr>
          <p:nvPr/>
        </p:nvSpPr>
        <p:spPr bwMode="auto">
          <a:xfrm>
            <a:off x="1724025" y="2325688"/>
            <a:ext cx="990600" cy="280987"/>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6" name="AutoShape 77"/>
          <p:cNvSpPr>
            <a:spLocks noChangeArrowheads="1"/>
          </p:cNvSpPr>
          <p:nvPr/>
        </p:nvSpPr>
        <p:spPr bwMode="auto">
          <a:xfrm>
            <a:off x="1730375" y="2020888"/>
            <a:ext cx="990600" cy="369887"/>
          </a:xfrm>
          <a:prstGeom prst="downArrow">
            <a:avLst>
              <a:gd name="adj1" fmla="val 65389"/>
              <a:gd name="adj2" fmla="val 39394"/>
            </a:avLst>
          </a:prstGeom>
          <a:solidFill>
            <a:schemeClr val="accent2"/>
          </a:solidFill>
          <a:ln w="12700">
            <a:solidFill>
              <a:schemeClr val="tx1"/>
            </a:solidFill>
            <a:miter lim="800000"/>
            <a:headEnd/>
            <a:tailEnd/>
          </a:ln>
          <a:effectLst>
            <a:outerShdw dist="35921" dir="2700000" algn="ctr" rotWithShape="0">
              <a:schemeClr val="bg2"/>
            </a:outerShdw>
          </a:effectLst>
        </p:spPr>
        <p:txBody>
          <a:bodyPr vert="eaVert" wrap="none" anchor="ctr"/>
          <a:lstStyle/>
          <a:p>
            <a:endParaRPr lang="zh-CN" altLang="en-US"/>
          </a:p>
        </p:txBody>
      </p:sp>
      <p:sp>
        <p:nvSpPr>
          <p:cNvPr id="11327" name="Text Box 78"/>
          <p:cNvSpPr txBox="1">
            <a:spLocks noChangeArrowheads="1"/>
          </p:cNvSpPr>
          <p:nvPr/>
        </p:nvSpPr>
        <p:spPr bwMode="auto">
          <a:xfrm>
            <a:off x="1187450" y="22701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zh-CN" altLang="en-US" sz="1800">
                <a:solidFill>
                  <a:schemeClr val="folHlink"/>
                </a:solidFill>
                <a:latin typeface="Arial" pitchFamily="34" charset="0"/>
                <a:ea typeface="黑体" pitchFamily="49" charset="-122"/>
              </a:rPr>
              <a:t>帧</a:t>
            </a:r>
          </a:p>
        </p:txBody>
      </p:sp>
      <p:sp>
        <p:nvSpPr>
          <p:cNvPr id="11328" name="Rectangle 79"/>
          <p:cNvSpPr>
            <a:spLocks noChangeArrowheads="1"/>
          </p:cNvSpPr>
          <p:nvPr/>
        </p:nvSpPr>
        <p:spPr bwMode="auto">
          <a:xfrm>
            <a:off x="1930400" y="1984375"/>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Arial" pitchFamily="34" charset="0"/>
                <a:ea typeface="黑体" pitchFamily="49" charset="-122"/>
              </a:rPr>
              <a:t>装入</a:t>
            </a:r>
          </a:p>
        </p:txBody>
      </p:sp>
      <p:sp>
        <p:nvSpPr>
          <p:cNvPr id="11329" name="Line 80"/>
          <p:cNvSpPr>
            <a:spLocks noChangeShapeType="1"/>
          </p:cNvSpPr>
          <p:nvPr/>
        </p:nvSpPr>
        <p:spPr bwMode="auto">
          <a:xfrm>
            <a:off x="1719263" y="2320925"/>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30" name="Line 81"/>
          <p:cNvSpPr>
            <a:spLocks noChangeShapeType="1"/>
          </p:cNvSpPr>
          <p:nvPr/>
        </p:nvSpPr>
        <p:spPr bwMode="auto">
          <a:xfrm>
            <a:off x="2709863" y="2322513"/>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31" name="Text Box 82"/>
          <p:cNvSpPr txBox="1">
            <a:spLocks noChangeArrowheads="1"/>
          </p:cNvSpPr>
          <p:nvPr/>
        </p:nvSpPr>
        <p:spPr bwMode="auto">
          <a:xfrm>
            <a:off x="1971675" y="206375"/>
            <a:ext cx="5273675" cy="711200"/>
          </a:xfrm>
          <a:prstGeom prst="rect">
            <a:avLst/>
          </a:prstGeom>
          <a:solidFill>
            <a:schemeClr val="accent2"/>
          </a:solidFill>
          <a:ln w="9525">
            <a:solidFill>
              <a:schemeClr val="tx2"/>
            </a:solidFill>
            <a:miter lim="800000"/>
            <a:headEnd/>
            <a:tailEnd/>
          </a:ln>
          <a:effectLst>
            <a:outerShdw dist="35921" dir="2700000" algn="ctr" rotWithShape="0">
              <a:schemeClr val="bg2"/>
            </a:outerShdw>
          </a:effec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4000">
                <a:solidFill>
                  <a:schemeClr val="folHlink"/>
                </a:solidFill>
                <a:ea typeface="黑体" pitchFamily="49" charset="-122"/>
              </a:rPr>
              <a:t>数据链路层传送的是</a:t>
            </a:r>
            <a:r>
              <a:rPr lang="zh-CN" altLang="en-US" sz="4000">
                <a:solidFill>
                  <a:schemeClr val="hlink"/>
                </a:solidFill>
                <a:ea typeface="黑体" pitchFamily="49" charset="-122"/>
              </a:rPr>
              <a:t>帧</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00138" y="931863"/>
            <a:ext cx="6856412" cy="768350"/>
          </a:xfrm>
        </p:spPr>
        <p:txBody>
          <a:bodyPr/>
          <a:lstStyle/>
          <a:p>
            <a:pPr algn="ctr" eaLnBrk="1" hangingPunct="1"/>
            <a:r>
              <a:rPr lang="zh-CN" altLang="en-US" smtClean="0"/>
              <a:t>数据链路层像个数字管道 </a:t>
            </a:r>
          </a:p>
        </p:txBody>
      </p:sp>
      <p:sp>
        <p:nvSpPr>
          <p:cNvPr id="126979" name="Rectangle 3"/>
          <p:cNvSpPr>
            <a:spLocks noGrp="1" noChangeArrowheads="1"/>
          </p:cNvSpPr>
          <p:nvPr>
            <p:ph type="body" idx="1"/>
          </p:nvPr>
        </p:nvSpPr>
        <p:spPr>
          <a:xfrm>
            <a:off x="1182688" y="1844675"/>
            <a:ext cx="7772400" cy="4840288"/>
          </a:xfrm>
        </p:spPr>
        <p:txBody>
          <a:bodyPr/>
          <a:lstStyle/>
          <a:p>
            <a:pPr eaLnBrk="1" hangingPunct="1">
              <a:lnSpc>
                <a:spcPct val="90000"/>
              </a:lnSpc>
            </a:pPr>
            <a:r>
              <a:rPr lang="zh-CN" altLang="en-US" smtClean="0"/>
              <a:t>常常在两个对等的数据链路层之间画出一个数字管道，而在这条数字管道上传输的数据单位是</a:t>
            </a:r>
            <a:r>
              <a:rPr lang="zh-CN" altLang="en-US" smtClean="0">
                <a:solidFill>
                  <a:schemeClr val="hlink"/>
                </a:solidFill>
              </a:rPr>
              <a:t>帧</a:t>
            </a:r>
            <a:r>
              <a:rPr lang="zh-CN" altLang="en-US" smtClean="0"/>
              <a:t>。</a:t>
            </a:r>
          </a:p>
          <a:p>
            <a:pPr eaLnBrk="1" hangingPunct="1">
              <a:lnSpc>
                <a:spcPct val="90000"/>
              </a:lnSpc>
            </a:pPr>
            <a:endParaRPr lang="zh-CN" altLang="en-US" smtClean="0"/>
          </a:p>
          <a:p>
            <a:pPr eaLnBrk="1" hangingPunct="1">
              <a:lnSpc>
                <a:spcPct val="90000"/>
              </a:lnSpc>
            </a:pPr>
            <a:endParaRPr lang="zh-CN" altLang="en-US" smtClean="0"/>
          </a:p>
          <a:p>
            <a:pPr eaLnBrk="1" hangingPunct="1">
              <a:lnSpc>
                <a:spcPct val="90000"/>
              </a:lnSpc>
            </a:pPr>
            <a:endParaRPr lang="zh-CN" altLang="en-US" smtClean="0"/>
          </a:p>
          <a:p>
            <a:pPr eaLnBrk="1" hangingPunct="1">
              <a:lnSpc>
                <a:spcPct val="90000"/>
              </a:lnSpc>
            </a:pPr>
            <a:r>
              <a:rPr lang="zh-CN" altLang="en-US" smtClean="0"/>
              <a:t>早期的数据通信协议曾叫作</a:t>
            </a:r>
            <a:r>
              <a:rPr lang="zh-CN" altLang="en-US" smtClean="0">
                <a:solidFill>
                  <a:schemeClr val="hlink"/>
                </a:solidFill>
              </a:rPr>
              <a:t>通信规程</a:t>
            </a:r>
            <a:r>
              <a:rPr lang="en-US" altLang="zh-CN" smtClean="0"/>
              <a:t>(procedure)</a:t>
            </a:r>
            <a:r>
              <a:rPr lang="zh-CN" altLang="en-US" smtClean="0"/>
              <a:t>。因此在数据链路层，规程和协议是同义语。   </a:t>
            </a:r>
          </a:p>
        </p:txBody>
      </p:sp>
      <p:grpSp>
        <p:nvGrpSpPr>
          <p:cNvPr id="126991" name="Group 15"/>
          <p:cNvGrpSpPr>
            <a:grpSpLocks/>
          </p:cNvGrpSpPr>
          <p:nvPr/>
        </p:nvGrpSpPr>
        <p:grpSpPr bwMode="auto">
          <a:xfrm>
            <a:off x="900113" y="3573463"/>
            <a:ext cx="7632700" cy="863600"/>
            <a:chOff x="567" y="2251"/>
            <a:chExt cx="4808" cy="544"/>
          </a:xfrm>
        </p:grpSpPr>
        <p:sp>
          <p:nvSpPr>
            <p:cNvPr id="12293" name="Oval 4"/>
            <p:cNvSpPr>
              <a:spLocks noChangeArrowheads="1"/>
            </p:cNvSpPr>
            <p:nvPr/>
          </p:nvSpPr>
          <p:spPr bwMode="auto">
            <a:xfrm>
              <a:off x="567" y="2251"/>
              <a:ext cx="499" cy="499"/>
            </a:xfrm>
            <a:prstGeom prst="ellipse">
              <a:avLst/>
            </a:prstGeom>
            <a:solidFill>
              <a:srgbClr val="FFFF99"/>
            </a:solidFill>
            <a:ln w="952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solidFill>
                    <a:srgbClr val="333399"/>
                  </a:solidFill>
                  <a:ea typeface="黑体" pitchFamily="49" charset="-122"/>
                </a:rPr>
                <a:t>结点</a:t>
              </a:r>
            </a:p>
          </p:txBody>
        </p:sp>
        <p:sp>
          <p:nvSpPr>
            <p:cNvPr id="12294" name="Oval 6"/>
            <p:cNvSpPr>
              <a:spLocks noChangeArrowheads="1"/>
            </p:cNvSpPr>
            <p:nvPr/>
          </p:nvSpPr>
          <p:spPr bwMode="auto">
            <a:xfrm>
              <a:off x="4876" y="2251"/>
              <a:ext cx="499" cy="499"/>
            </a:xfrm>
            <a:prstGeom prst="ellipse">
              <a:avLst/>
            </a:prstGeom>
            <a:solidFill>
              <a:srgbClr val="FFFF99"/>
            </a:solidFill>
            <a:ln w="952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solidFill>
                    <a:srgbClr val="333399"/>
                  </a:solidFill>
                  <a:ea typeface="黑体" pitchFamily="49" charset="-122"/>
                </a:rPr>
                <a:t>结点</a:t>
              </a:r>
            </a:p>
          </p:txBody>
        </p:sp>
        <p:sp>
          <p:nvSpPr>
            <p:cNvPr id="12295" name="Line 8"/>
            <p:cNvSpPr>
              <a:spLocks noChangeShapeType="1"/>
            </p:cNvSpPr>
            <p:nvPr/>
          </p:nvSpPr>
          <p:spPr bwMode="auto">
            <a:xfrm>
              <a:off x="1066" y="2523"/>
              <a:ext cx="381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6" name="AutoShape 7"/>
            <p:cNvSpPr>
              <a:spLocks noChangeArrowheads="1"/>
            </p:cNvSpPr>
            <p:nvPr/>
          </p:nvSpPr>
          <p:spPr bwMode="auto">
            <a:xfrm rot="-5400000">
              <a:off x="2676" y="686"/>
              <a:ext cx="544" cy="3674"/>
            </a:xfrm>
            <a:prstGeom prst="can">
              <a:avLst>
                <a:gd name="adj" fmla="val 22418"/>
              </a:avLst>
            </a:prstGeom>
            <a:gradFill rotWithShape="1">
              <a:gsLst>
                <a:gs pos="0">
                  <a:srgbClr val="5E6D76"/>
                </a:gs>
                <a:gs pos="50000">
                  <a:srgbClr val="CCECFF"/>
                </a:gs>
                <a:gs pos="100000">
                  <a:srgbClr val="5E6D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7" name="Rectangle 9"/>
            <p:cNvSpPr>
              <a:spLocks noChangeArrowheads="1"/>
            </p:cNvSpPr>
            <p:nvPr/>
          </p:nvSpPr>
          <p:spPr bwMode="auto">
            <a:xfrm>
              <a:off x="1383" y="2387"/>
              <a:ext cx="1043"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solidFill>
                    <a:srgbClr val="333399"/>
                  </a:solidFill>
                  <a:ea typeface="黑体" pitchFamily="49" charset="-122"/>
                </a:rPr>
                <a:t>帧</a:t>
              </a:r>
            </a:p>
          </p:txBody>
        </p:sp>
        <p:sp>
          <p:nvSpPr>
            <p:cNvPr id="12298" name="Line 10"/>
            <p:cNvSpPr>
              <a:spLocks noChangeShapeType="1"/>
            </p:cNvSpPr>
            <p:nvPr/>
          </p:nvSpPr>
          <p:spPr bwMode="auto">
            <a:xfrm>
              <a:off x="1066" y="2523"/>
              <a:ext cx="117"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9" name="Rectangle 12"/>
            <p:cNvSpPr>
              <a:spLocks noChangeArrowheads="1"/>
            </p:cNvSpPr>
            <p:nvPr/>
          </p:nvSpPr>
          <p:spPr bwMode="auto">
            <a:xfrm>
              <a:off x="3243" y="2387"/>
              <a:ext cx="1043"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solidFill>
                    <a:srgbClr val="333399"/>
                  </a:solidFill>
                  <a:ea typeface="黑体" pitchFamily="49" charset="-122"/>
                </a:rPr>
                <a:t>帧</a:t>
              </a:r>
            </a:p>
          </p:txBody>
        </p:sp>
        <p:sp>
          <p:nvSpPr>
            <p:cNvPr id="12300" name="Line 13"/>
            <p:cNvSpPr>
              <a:spLocks noChangeShapeType="1"/>
            </p:cNvSpPr>
            <p:nvPr/>
          </p:nvSpPr>
          <p:spPr bwMode="auto">
            <a:xfrm>
              <a:off x="2426" y="2523"/>
              <a:ext cx="273" cy="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1" name="Line 14"/>
            <p:cNvSpPr>
              <a:spLocks noChangeShapeType="1"/>
            </p:cNvSpPr>
            <p:nvPr/>
          </p:nvSpPr>
          <p:spPr bwMode="auto">
            <a:xfrm>
              <a:off x="4285" y="2523"/>
              <a:ext cx="273" cy="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9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9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00138" y="931863"/>
            <a:ext cx="6856412" cy="768350"/>
          </a:xfrm>
        </p:spPr>
        <p:txBody>
          <a:bodyPr/>
          <a:lstStyle/>
          <a:p>
            <a:pPr algn="ctr" eaLnBrk="1" hangingPunct="1"/>
            <a:r>
              <a:rPr lang="en-US" altLang="zh-CN" smtClean="0"/>
              <a:t>3.1.2  </a:t>
            </a:r>
            <a:r>
              <a:rPr lang="zh-CN" altLang="en-US" smtClean="0"/>
              <a:t>三个基本问题 </a:t>
            </a:r>
          </a:p>
        </p:txBody>
      </p:sp>
      <p:sp>
        <p:nvSpPr>
          <p:cNvPr id="130051" name="Rectangle 3"/>
          <p:cNvSpPr>
            <a:spLocks noGrp="1" noChangeArrowheads="1"/>
          </p:cNvSpPr>
          <p:nvPr>
            <p:ph type="body" idx="1"/>
          </p:nvPr>
        </p:nvSpPr>
        <p:spPr>
          <a:xfrm>
            <a:off x="1552575" y="1844675"/>
            <a:ext cx="4748213" cy="4248150"/>
          </a:xfrm>
        </p:spPr>
        <p:txBody>
          <a:bodyPr/>
          <a:lstStyle/>
          <a:p>
            <a:pPr eaLnBrk="1" hangingPunct="1">
              <a:buFont typeface="Wingdings" pitchFamily="2" charset="2"/>
              <a:buNone/>
            </a:pPr>
            <a:r>
              <a:rPr lang="en-US" altLang="zh-CN" smtClean="0"/>
              <a:t>(1) </a:t>
            </a:r>
            <a:r>
              <a:rPr lang="zh-CN" altLang="en-US" smtClean="0"/>
              <a:t>封装成帧</a:t>
            </a:r>
          </a:p>
          <a:p>
            <a:pPr eaLnBrk="1" hangingPunct="1">
              <a:buFont typeface="Wingdings" pitchFamily="2" charset="2"/>
              <a:buNone/>
            </a:pPr>
            <a:r>
              <a:rPr lang="en-US" altLang="zh-CN" smtClean="0"/>
              <a:t>(2) </a:t>
            </a:r>
            <a:r>
              <a:rPr lang="zh-CN" altLang="en-US" smtClean="0"/>
              <a:t>透明传输</a:t>
            </a:r>
          </a:p>
          <a:p>
            <a:pPr eaLnBrk="1" hangingPunct="1">
              <a:buFont typeface="Wingdings" pitchFamily="2" charset="2"/>
              <a:buNone/>
            </a:pPr>
            <a:r>
              <a:rPr lang="en-US" altLang="zh-CN" smtClean="0"/>
              <a:t>(3) </a:t>
            </a:r>
            <a:r>
              <a:rPr lang="zh-CN" altLang="en-US" smtClean="0"/>
              <a:t>差错控制 </a:t>
            </a:r>
          </a:p>
          <a:p>
            <a:pPr eaLnBrk="1" hangingPunct="1">
              <a:buFont typeface="Wingdings" pitchFamily="2" charset="2"/>
              <a:buNone/>
            </a:pPr>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0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0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150938" y="214313"/>
            <a:ext cx="6950075" cy="1462087"/>
          </a:xfrm>
        </p:spPr>
        <p:txBody>
          <a:bodyPr/>
          <a:lstStyle/>
          <a:p>
            <a:pPr algn="ctr" eaLnBrk="1" hangingPunct="1"/>
            <a:r>
              <a:rPr lang="en-US" altLang="zh-CN" smtClean="0"/>
              <a:t>1.  </a:t>
            </a:r>
            <a:r>
              <a:rPr lang="zh-CN" altLang="en-US" smtClean="0"/>
              <a:t>封装成帧</a:t>
            </a:r>
          </a:p>
        </p:txBody>
      </p:sp>
      <p:sp>
        <p:nvSpPr>
          <p:cNvPr id="14339" name="Rectangle 3"/>
          <p:cNvSpPr>
            <a:spLocks noGrp="1" noChangeArrowheads="1"/>
          </p:cNvSpPr>
          <p:nvPr>
            <p:ph type="body" idx="1"/>
          </p:nvPr>
        </p:nvSpPr>
        <p:spPr/>
        <p:txBody>
          <a:bodyPr/>
          <a:lstStyle/>
          <a:p>
            <a:pPr eaLnBrk="1" hangingPunct="1"/>
            <a:r>
              <a:rPr lang="zh-CN" altLang="en-US" sz="2800" smtClean="0"/>
              <a:t>封装成帧</a:t>
            </a:r>
            <a:r>
              <a:rPr lang="en-US" altLang="zh-CN" sz="2800" smtClean="0"/>
              <a:t>(framing)</a:t>
            </a:r>
            <a:r>
              <a:rPr lang="zh-CN" altLang="en-US" sz="2800" smtClean="0"/>
              <a:t>就是在一段数据的前后分别添加首部和尾部，然后就构成了一个帧。确定帧的界限。</a:t>
            </a:r>
          </a:p>
          <a:p>
            <a:pPr eaLnBrk="1" hangingPunct="1"/>
            <a:r>
              <a:rPr lang="zh-CN" altLang="en-US" sz="2800" smtClean="0"/>
              <a:t>首部和尾部的一个重要作用就是进行</a:t>
            </a:r>
            <a:r>
              <a:rPr lang="zh-CN" altLang="en-US" sz="2800" smtClean="0">
                <a:solidFill>
                  <a:schemeClr val="hlink"/>
                </a:solidFill>
              </a:rPr>
              <a:t>帧定界</a:t>
            </a:r>
            <a:r>
              <a:rPr lang="zh-CN" altLang="en-US" sz="2800" smtClean="0"/>
              <a:t>。</a:t>
            </a:r>
            <a:r>
              <a:rPr lang="zh-CN" altLang="en-US" smtClean="0"/>
              <a:t>  </a:t>
            </a:r>
          </a:p>
        </p:txBody>
      </p:sp>
      <p:sp>
        <p:nvSpPr>
          <p:cNvPr id="14340" name="Text Box 4"/>
          <p:cNvSpPr txBox="1">
            <a:spLocks noChangeArrowheads="1"/>
          </p:cNvSpPr>
          <p:nvPr/>
        </p:nvSpPr>
        <p:spPr bwMode="auto">
          <a:xfrm>
            <a:off x="7585075" y="4011613"/>
            <a:ext cx="10985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帧结束</a:t>
            </a:r>
          </a:p>
        </p:txBody>
      </p:sp>
      <p:sp>
        <p:nvSpPr>
          <p:cNvPr id="14341" name="Rectangle 5"/>
          <p:cNvSpPr>
            <a:spLocks noChangeArrowheads="1"/>
          </p:cNvSpPr>
          <p:nvPr/>
        </p:nvSpPr>
        <p:spPr bwMode="auto">
          <a:xfrm>
            <a:off x="1463675" y="4960938"/>
            <a:ext cx="1193800" cy="5969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400">
                <a:solidFill>
                  <a:schemeClr val="folHlink"/>
                </a:solidFill>
                <a:latin typeface="Arial" pitchFamily="34" charset="0"/>
                <a:ea typeface="黑体" pitchFamily="49" charset="-122"/>
              </a:rPr>
              <a:t>帧首部</a:t>
            </a:r>
          </a:p>
        </p:txBody>
      </p:sp>
      <p:sp>
        <p:nvSpPr>
          <p:cNvPr id="14342" name="Rectangle 6"/>
          <p:cNvSpPr>
            <a:spLocks noChangeArrowheads="1"/>
          </p:cNvSpPr>
          <p:nvPr/>
        </p:nvSpPr>
        <p:spPr bwMode="auto">
          <a:xfrm>
            <a:off x="2657475" y="3887788"/>
            <a:ext cx="4278313" cy="596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2400">
                <a:solidFill>
                  <a:schemeClr val="folHlink"/>
                </a:solidFill>
                <a:latin typeface="Arial" pitchFamily="34" charset="0"/>
                <a:ea typeface="黑体" pitchFamily="49" charset="-122"/>
              </a:rPr>
              <a:t>IP </a:t>
            </a:r>
            <a:r>
              <a:rPr kumimoji="1" lang="zh-CN" altLang="en-US" sz="2400">
                <a:solidFill>
                  <a:schemeClr val="folHlink"/>
                </a:solidFill>
                <a:latin typeface="Arial" pitchFamily="34" charset="0"/>
                <a:ea typeface="黑体" pitchFamily="49" charset="-122"/>
              </a:rPr>
              <a:t>数据报</a:t>
            </a:r>
          </a:p>
        </p:txBody>
      </p:sp>
      <p:sp>
        <p:nvSpPr>
          <p:cNvPr id="14343" name="Rectangle 7"/>
          <p:cNvSpPr>
            <a:spLocks noChangeArrowheads="1"/>
          </p:cNvSpPr>
          <p:nvPr/>
        </p:nvSpPr>
        <p:spPr bwMode="auto">
          <a:xfrm>
            <a:off x="2657475" y="4960938"/>
            <a:ext cx="4278313" cy="596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400">
                <a:solidFill>
                  <a:schemeClr val="folHlink"/>
                </a:solidFill>
                <a:latin typeface="Arial" pitchFamily="34" charset="0"/>
                <a:ea typeface="黑体" pitchFamily="49" charset="-122"/>
              </a:rPr>
              <a:t>帧的数据部分</a:t>
            </a:r>
          </a:p>
        </p:txBody>
      </p:sp>
      <p:sp>
        <p:nvSpPr>
          <p:cNvPr id="14344" name="Rectangle 8"/>
          <p:cNvSpPr>
            <a:spLocks noChangeArrowheads="1"/>
          </p:cNvSpPr>
          <p:nvPr/>
        </p:nvSpPr>
        <p:spPr bwMode="auto">
          <a:xfrm>
            <a:off x="6935788" y="4960938"/>
            <a:ext cx="1193800" cy="5969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400">
                <a:solidFill>
                  <a:schemeClr val="folHlink"/>
                </a:solidFill>
                <a:latin typeface="Arial" pitchFamily="34" charset="0"/>
                <a:ea typeface="黑体" pitchFamily="49" charset="-122"/>
              </a:rPr>
              <a:t>帧尾部</a:t>
            </a:r>
          </a:p>
        </p:txBody>
      </p:sp>
      <p:sp>
        <p:nvSpPr>
          <p:cNvPr id="14345" name="Line 9"/>
          <p:cNvSpPr>
            <a:spLocks noChangeShapeType="1"/>
          </p:cNvSpPr>
          <p:nvPr/>
        </p:nvSpPr>
        <p:spPr bwMode="auto">
          <a:xfrm>
            <a:off x="2657475" y="5915025"/>
            <a:ext cx="4278313"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6" name="Line 10"/>
          <p:cNvSpPr>
            <a:spLocks noChangeShapeType="1"/>
          </p:cNvSpPr>
          <p:nvPr/>
        </p:nvSpPr>
        <p:spPr bwMode="auto">
          <a:xfrm>
            <a:off x="1463675" y="6392863"/>
            <a:ext cx="6665913"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7" name="Line 11"/>
          <p:cNvSpPr>
            <a:spLocks noChangeShapeType="1"/>
          </p:cNvSpPr>
          <p:nvPr/>
        </p:nvSpPr>
        <p:spPr bwMode="auto">
          <a:xfrm>
            <a:off x="1463675" y="5676900"/>
            <a:ext cx="0" cy="1073150"/>
          </a:xfrm>
          <a:prstGeom prst="line">
            <a:avLst/>
          </a:prstGeom>
          <a:noFill/>
          <a:ln w="57150">
            <a:solidFill>
              <a:schemeClr val="folHlink"/>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8" name="Line 12"/>
          <p:cNvSpPr>
            <a:spLocks noChangeShapeType="1"/>
          </p:cNvSpPr>
          <p:nvPr/>
        </p:nvSpPr>
        <p:spPr bwMode="auto">
          <a:xfrm>
            <a:off x="8129588" y="5676900"/>
            <a:ext cx="0" cy="10731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9" name="Line 13"/>
          <p:cNvSpPr>
            <a:spLocks noChangeShapeType="1"/>
          </p:cNvSpPr>
          <p:nvPr/>
        </p:nvSpPr>
        <p:spPr bwMode="auto">
          <a:xfrm>
            <a:off x="2657475" y="5676900"/>
            <a:ext cx="0" cy="4778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0" name="Line 14"/>
          <p:cNvSpPr>
            <a:spLocks noChangeShapeType="1"/>
          </p:cNvSpPr>
          <p:nvPr/>
        </p:nvSpPr>
        <p:spPr bwMode="auto">
          <a:xfrm>
            <a:off x="6935788" y="5676900"/>
            <a:ext cx="0" cy="4778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1" name="Text Box 15"/>
          <p:cNvSpPr txBox="1">
            <a:spLocks noChangeArrowheads="1"/>
          </p:cNvSpPr>
          <p:nvPr/>
        </p:nvSpPr>
        <p:spPr bwMode="auto">
          <a:xfrm>
            <a:off x="4249738" y="5668963"/>
            <a:ext cx="1096962"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sym typeface="Symbol" pitchFamily="18" charset="2"/>
              </a:rPr>
              <a:t> </a:t>
            </a:r>
            <a:r>
              <a:rPr kumimoji="1" lang="en-US" altLang="zh-CN" sz="2400">
                <a:solidFill>
                  <a:schemeClr val="folHlink"/>
                </a:solidFill>
                <a:latin typeface="Arial" pitchFamily="34" charset="0"/>
                <a:ea typeface="黑体" pitchFamily="49" charset="-122"/>
              </a:rPr>
              <a:t>MTU</a:t>
            </a:r>
          </a:p>
        </p:txBody>
      </p:sp>
      <p:sp>
        <p:nvSpPr>
          <p:cNvPr id="14352" name="Text Box 16"/>
          <p:cNvSpPr txBox="1">
            <a:spLocks noChangeArrowheads="1"/>
          </p:cNvSpPr>
          <p:nvPr/>
        </p:nvSpPr>
        <p:spPr bwMode="auto">
          <a:xfrm>
            <a:off x="3614738" y="6172200"/>
            <a:ext cx="26225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数据链路层的帧长</a:t>
            </a:r>
          </a:p>
        </p:txBody>
      </p:sp>
      <p:sp>
        <p:nvSpPr>
          <p:cNvPr id="14353" name="AutoShape 17"/>
          <p:cNvSpPr>
            <a:spLocks noChangeArrowheads="1"/>
          </p:cNvSpPr>
          <p:nvPr/>
        </p:nvSpPr>
        <p:spPr bwMode="auto">
          <a:xfrm>
            <a:off x="4448175" y="4484688"/>
            <a:ext cx="696913" cy="595312"/>
          </a:xfrm>
          <a:prstGeom prst="downArrow">
            <a:avLst>
              <a:gd name="adj1" fmla="val 50000"/>
              <a:gd name="adj2" fmla="val 25000"/>
            </a:avLst>
          </a:prstGeom>
          <a:solidFill>
            <a:srgbClr val="66FF33"/>
          </a:solidFill>
          <a:ln w="9525">
            <a:solidFill>
              <a:schemeClr val="tx1"/>
            </a:solidFill>
            <a:miter lim="800000"/>
            <a:headEnd/>
            <a:tailEnd/>
          </a:ln>
          <a:effectLst>
            <a:outerShdw dist="35921" dir="2700000" algn="ctr" rotWithShape="0">
              <a:schemeClr val="bg2"/>
            </a:outerShdw>
          </a:effectLst>
        </p:spPr>
        <p:txBody>
          <a:bodyPr vert="eaVert" wrap="none" anchor="ctr"/>
          <a:lstStyle/>
          <a:p>
            <a:endParaRPr lang="zh-CN" altLang="en-US"/>
          </a:p>
        </p:txBody>
      </p:sp>
      <p:sp>
        <p:nvSpPr>
          <p:cNvPr id="14354" name="Text Box 18"/>
          <p:cNvSpPr txBox="1">
            <a:spLocks noChangeArrowheads="1"/>
          </p:cNvSpPr>
          <p:nvPr/>
        </p:nvSpPr>
        <p:spPr bwMode="auto">
          <a:xfrm>
            <a:off x="611188" y="4797425"/>
            <a:ext cx="793750" cy="8223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开始</a:t>
            </a:r>
          </a:p>
          <a:p>
            <a:pPr eaLnBrk="1" hangingPunct="1"/>
            <a:r>
              <a:rPr kumimoji="1" lang="zh-CN" altLang="en-US" sz="2400">
                <a:solidFill>
                  <a:schemeClr val="folHlink"/>
                </a:solidFill>
                <a:latin typeface="Arial" pitchFamily="34" charset="0"/>
                <a:ea typeface="黑体" pitchFamily="49" charset="-122"/>
              </a:rPr>
              <a:t>发送</a:t>
            </a:r>
          </a:p>
        </p:txBody>
      </p:sp>
      <p:sp>
        <p:nvSpPr>
          <p:cNvPr id="14355" name="Line 19"/>
          <p:cNvSpPr>
            <a:spLocks noChangeShapeType="1"/>
          </p:cNvSpPr>
          <p:nvPr/>
        </p:nvSpPr>
        <p:spPr bwMode="auto">
          <a:xfrm flipV="1">
            <a:off x="1471613" y="4503738"/>
            <a:ext cx="0" cy="396875"/>
          </a:xfrm>
          <a:prstGeom prst="line">
            <a:avLst/>
          </a:prstGeom>
          <a:noFill/>
          <a:ln w="38100">
            <a:solidFill>
              <a:schemeClr va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6" name="Line 20"/>
          <p:cNvSpPr>
            <a:spLocks noChangeShapeType="1"/>
          </p:cNvSpPr>
          <p:nvPr/>
        </p:nvSpPr>
        <p:spPr bwMode="auto">
          <a:xfrm flipV="1">
            <a:off x="8123238" y="4503738"/>
            <a:ext cx="0" cy="396875"/>
          </a:xfrm>
          <a:prstGeom prst="line">
            <a:avLst/>
          </a:prstGeom>
          <a:noFill/>
          <a:ln w="38100">
            <a:solidFill>
              <a:schemeClr va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7" name="Text Box 21"/>
          <p:cNvSpPr txBox="1">
            <a:spLocks noChangeArrowheads="1"/>
          </p:cNvSpPr>
          <p:nvPr/>
        </p:nvSpPr>
        <p:spPr bwMode="auto">
          <a:xfrm>
            <a:off x="985838" y="4011613"/>
            <a:ext cx="1100137"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帧开始</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lgn="ctr" eaLnBrk="1" hangingPunct="1"/>
            <a:r>
              <a:rPr lang="zh-CN" altLang="en-US" sz="3600" smtClean="0"/>
              <a:t>用控制字符进行帧定界的方法举例 </a:t>
            </a:r>
          </a:p>
        </p:txBody>
      </p:sp>
      <p:sp>
        <p:nvSpPr>
          <p:cNvPr id="15363" name="Rectangle 4"/>
          <p:cNvSpPr>
            <a:spLocks noChangeArrowheads="1"/>
          </p:cNvSpPr>
          <p:nvPr/>
        </p:nvSpPr>
        <p:spPr bwMode="auto">
          <a:xfrm>
            <a:off x="955675" y="2867025"/>
            <a:ext cx="495300" cy="5492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a:solidFill>
                  <a:schemeClr val="folHlink"/>
                </a:solidFill>
                <a:latin typeface="Arial" pitchFamily="34" charset="0"/>
                <a:ea typeface="黑体" pitchFamily="49" charset="-122"/>
              </a:rPr>
              <a:t>SOH</a:t>
            </a:r>
          </a:p>
        </p:txBody>
      </p:sp>
      <p:sp>
        <p:nvSpPr>
          <p:cNvPr id="15364" name="Rectangle 5"/>
          <p:cNvSpPr>
            <a:spLocks noChangeArrowheads="1"/>
          </p:cNvSpPr>
          <p:nvPr/>
        </p:nvSpPr>
        <p:spPr bwMode="auto">
          <a:xfrm>
            <a:off x="1450975" y="2867025"/>
            <a:ext cx="6527800" cy="54927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400">
                <a:solidFill>
                  <a:schemeClr val="folHlink"/>
                </a:solidFill>
                <a:latin typeface="Arial" pitchFamily="34" charset="0"/>
                <a:ea typeface="黑体" pitchFamily="49" charset="-122"/>
              </a:rPr>
              <a:t>装在帧中的数据部分</a:t>
            </a:r>
          </a:p>
        </p:txBody>
      </p:sp>
      <p:sp>
        <p:nvSpPr>
          <p:cNvPr id="15365" name="Line 6"/>
          <p:cNvSpPr>
            <a:spLocks noChangeShapeType="1"/>
          </p:cNvSpPr>
          <p:nvPr/>
        </p:nvSpPr>
        <p:spPr bwMode="auto">
          <a:xfrm>
            <a:off x="955675" y="3783013"/>
            <a:ext cx="751998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66" name="Text Box 7"/>
          <p:cNvSpPr txBox="1">
            <a:spLocks noChangeArrowheads="1"/>
          </p:cNvSpPr>
          <p:nvPr/>
        </p:nvSpPr>
        <p:spPr bwMode="auto">
          <a:xfrm>
            <a:off x="4508500" y="3548063"/>
            <a:ext cx="4889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帧</a:t>
            </a:r>
          </a:p>
        </p:txBody>
      </p:sp>
      <p:sp>
        <p:nvSpPr>
          <p:cNvPr id="15367" name="Line 8"/>
          <p:cNvSpPr>
            <a:spLocks noChangeShapeType="1"/>
          </p:cNvSpPr>
          <p:nvPr/>
        </p:nvSpPr>
        <p:spPr bwMode="auto">
          <a:xfrm>
            <a:off x="1203325" y="2501900"/>
            <a:ext cx="0" cy="365125"/>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68" name="Text Box 9"/>
          <p:cNvSpPr txBox="1">
            <a:spLocks noChangeArrowheads="1"/>
          </p:cNvSpPr>
          <p:nvPr/>
        </p:nvSpPr>
        <p:spPr bwMode="auto">
          <a:xfrm>
            <a:off x="704850" y="2030413"/>
            <a:ext cx="1403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帧开始符</a:t>
            </a:r>
          </a:p>
        </p:txBody>
      </p:sp>
      <p:sp>
        <p:nvSpPr>
          <p:cNvPr id="15369" name="Text Box 10"/>
          <p:cNvSpPr txBox="1">
            <a:spLocks noChangeArrowheads="1"/>
          </p:cNvSpPr>
          <p:nvPr/>
        </p:nvSpPr>
        <p:spPr bwMode="auto">
          <a:xfrm>
            <a:off x="7667625" y="2030413"/>
            <a:ext cx="1403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帧结束符</a:t>
            </a:r>
          </a:p>
        </p:txBody>
      </p:sp>
      <p:sp>
        <p:nvSpPr>
          <p:cNvPr id="15370" name="Line 11"/>
          <p:cNvSpPr>
            <a:spLocks noChangeShapeType="1"/>
          </p:cNvSpPr>
          <p:nvPr/>
        </p:nvSpPr>
        <p:spPr bwMode="auto">
          <a:xfrm>
            <a:off x="8228013" y="2501900"/>
            <a:ext cx="0" cy="365125"/>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1" name="Line 12"/>
          <p:cNvSpPr>
            <a:spLocks noChangeShapeType="1"/>
          </p:cNvSpPr>
          <p:nvPr/>
        </p:nvSpPr>
        <p:spPr bwMode="auto">
          <a:xfrm flipV="1">
            <a:off x="955675" y="3416300"/>
            <a:ext cx="0" cy="549275"/>
          </a:xfrm>
          <a:prstGeom prst="line">
            <a:avLst/>
          </a:prstGeom>
          <a:noFill/>
          <a:ln w="38100">
            <a:solidFill>
              <a:srgbClr val="8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2" name="Text Box 13"/>
          <p:cNvSpPr txBox="1">
            <a:spLocks noChangeArrowheads="1"/>
          </p:cNvSpPr>
          <p:nvPr/>
        </p:nvSpPr>
        <p:spPr bwMode="auto">
          <a:xfrm>
            <a:off x="250825" y="3908425"/>
            <a:ext cx="1403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发送在前</a:t>
            </a:r>
          </a:p>
        </p:txBody>
      </p:sp>
      <p:sp>
        <p:nvSpPr>
          <p:cNvPr id="15373" name="Rectangle 14"/>
          <p:cNvSpPr>
            <a:spLocks noChangeArrowheads="1"/>
          </p:cNvSpPr>
          <p:nvPr/>
        </p:nvSpPr>
        <p:spPr bwMode="auto">
          <a:xfrm>
            <a:off x="7956550" y="2867025"/>
            <a:ext cx="496888" cy="5492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a:solidFill>
                  <a:schemeClr val="folHlink"/>
                </a:solidFill>
                <a:latin typeface="Arial" pitchFamily="34" charset="0"/>
                <a:ea typeface="黑体" pitchFamily="49" charset="-122"/>
              </a:rPr>
              <a:t>EOT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Line 22"/>
          <p:cNvSpPr>
            <a:spLocks noChangeShapeType="1"/>
          </p:cNvSpPr>
          <p:nvPr/>
        </p:nvSpPr>
        <p:spPr bwMode="auto">
          <a:xfrm rot="16200000" flipV="1">
            <a:off x="719138" y="3500437"/>
            <a:ext cx="14288" cy="1065213"/>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7" name="Rectangle 2"/>
          <p:cNvSpPr>
            <a:spLocks noGrp="1" noChangeArrowheads="1"/>
          </p:cNvSpPr>
          <p:nvPr>
            <p:ph type="title"/>
          </p:nvPr>
        </p:nvSpPr>
        <p:spPr>
          <a:xfrm>
            <a:off x="1150938" y="214313"/>
            <a:ext cx="6734175" cy="1462087"/>
          </a:xfrm>
        </p:spPr>
        <p:txBody>
          <a:bodyPr/>
          <a:lstStyle/>
          <a:p>
            <a:pPr algn="ctr" eaLnBrk="1" hangingPunct="1"/>
            <a:r>
              <a:rPr lang="en-US" altLang="zh-CN" smtClean="0"/>
              <a:t>2.  </a:t>
            </a:r>
            <a:r>
              <a:rPr lang="zh-CN" altLang="en-US" smtClean="0"/>
              <a:t>透明传输</a:t>
            </a:r>
          </a:p>
        </p:txBody>
      </p:sp>
      <p:sp>
        <p:nvSpPr>
          <p:cNvPr id="16388" name="Rectangle 4"/>
          <p:cNvSpPr>
            <a:spLocks noChangeArrowheads="1"/>
          </p:cNvSpPr>
          <p:nvPr/>
        </p:nvSpPr>
        <p:spPr bwMode="auto">
          <a:xfrm>
            <a:off x="968375" y="3705225"/>
            <a:ext cx="577850" cy="611188"/>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a:solidFill>
                  <a:schemeClr val="folHlink"/>
                </a:solidFill>
                <a:latin typeface="Arial" pitchFamily="34" charset="0"/>
                <a:ea typeface="黑体" pitchFamily="49" charset="-122"/>
              </a:rPr>
              <a:t>SOH</a:t>
            </a:r>
          </a:p>
        </p:txBody>
      </p:sp>
      <p:sp>
        <p:nvSpPr>
          <p:cNvPr id="16389" name="Rectangle 5"/>
          <p:cNvSpPr>
            <a:spLocks noChangeArrowheads="1"/>
          </p:cNvSpPr>
          <p:nvPr/>
        </p:nvSpPr>
        <p:spPr bwMode="auto">
          <a:xfrm>
            <a:off x="1531938" y="3705225"/>
            <a:ext cx="6948487" cy="6111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6390" name="Rectangle 6"/>
          <p:cNvSpPr>
            <a:spLocks noChangeArrowheads="1"/>
          </p:cNvSpPr>
          <p:nvPr/>
        </p:nvSpPr>
        <p:spPr bwMode="auto">
          <a:xfrm>
            <a:off x="3168650" y="3705225"/>
            <a:ext cx="523875" cy="611188"/>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folHlink"/>
                </a:solidFill>
                <a:latin typeface="Arial" pitchFamily="34" charset="0"/>
                <a:ea typeface="黑体" pitchFamily="49" charset="-122"/>
              </a:rPr>
              <a:t>EOT</a:t>
            </a:r>
          </a:p>
        </p:txBody>
      </p:sp>
      <p:sp>
        <p:nvSpPr>
          <p:cNvPr id="16391" name="Line 7"/>
          <p:cNvSpPr>
            <a:spLocks noChangeShapeType="1"/>
          </p:cNvSpPr>
          <p:nvPr/>
        </p:nvSpPr>
        <p:spPr bwMode="auto">
          <a:xfrm>
            <a:off x="3195638" y="2673350"/>
            <a:ext cx="234950" cy="1031875"/>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92" name="Text Box 8"/>
          <p:cNvSpPr txBox="1">
            <a:spLocks noChangeArrowheads="1"/>
          </p:cNvSpPr>
          <p:nvPr/>
        </p:nvSpPr>
        <p:spPr bwMode="auto">
          <a:xfrm>
            <a:off x="2206625" y="2249488"/>
            <a:ext cx="1927225"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kumimoji="1" lang="zh-CN" altLang="en-US" sz="2400">
                <a:solidFill>
                  <a:schemeClr val="folHlink"/>
                </a:solidFill>
                <a:latin typeface="Arial" pitchFamily="34" charset="0"/>
                <a:ea typeface="黑体" pitchFamily="49" charset="-122"/>
              </a:rPr>
              <a:t>出现了“</a:t>
            </a:r>
            <a:r>
              <a:rPr kumimoji="1" lang="en-US" altLang="zh-CN" sz="2400">
                <a:solidFill>
                  <a:schemeClr val="folHlink"/>
                </a:solidFill>
                <a:latin typeface="Arial" pitchFamily="34" charset="0"/>
                <a:ea typeface="黑体" pitchFamily="49" charset="-122"/>
              </a:rPr>
              <a:t>EOT”</a:t>
            </a:r>
          </a:p>
        </p:txBody>
      </p:sp>
      <p:sp>
        <p:nvSpPr>
          <p:cNvPr id="16393" name="AutoShape 9"/>
          <p:cNvSpPr>
            <a:spLocks/>
          </p:cNvSpPr>
          <p:nvPr/>
        </p:nvSpPr>
        <p:spPr bwMode="auto">
          <a:xfrm rot="-5400000">
            <a:off x="6142037" y="1974851"/>
            <a:ext cx="327025" cy="5175250"/>
          </a:xfrm>
          <a:prstGeom prst="leftBrace">
            <a:avLst>
              <a:gd name="adj1" fmla="val 13187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Text Box 10"/>
          <p:cNvSpPr txBox="1">
            <a:spLocks noChangeArrowheads="1"/>
          </p:cNvSpPr>
          <p:nvPr/>
        </p:nvSpPr>
        <p:spPr bwMode="auto">
          <a:xfrm>
            <a:off x="4716463" y="4629150"/>
            <a:ext cx="384175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just" eaLnBrk="1" hangingPunct="1"/>
            <a:r>
              <a:rPr kumimoji="1" lang="zh-CN" altLang="en-US" sz="2400">
                <a:solidFill>
                  <a:schemeClr val="folHlink"/>
                </a:solidFill>
                <a:latin typeface="Arial" pitchFamily="34" charset="0"/>
                <a:ea typeface="黑体" pitchFamily="49" charset="-122"/>
              </a:rPr>
              <a:t>被接收端当作无效帧而丢弃</a:t>
            </a:r>
          </a:p>
        </p:txBody>
      </p:sp>
      <p:sp>
        <p:nvSpPr>
          <p:cNvPr id="16395" name="AutoShape 11"/>
          <p:cNvSpPr>
            <a:spLocks/>
          </p:cNvSpPr>
          <p:nvPr/>
        </p:nvSpPr>
        <p:spPr bwMode="auto">
          <a:xfrm rot="-5400000">
            <a:off x="2175669" y="3188494"/>
            <a:ext cx="304800" cy="2687638"/>
          </a:xfrm>
          <a:prstGeom prst="leftBrace">
            <a:avLst>
              <a:gd name="adj1" fmla="val 7348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6" name="Text Box 12"/>
          <p:cNvSpPr txBox="1">
            <a:spLocks noChangeArrowheads="1"/>
          </p:cNvSpPr>
          <p:nvPr/>
        </p:nvSpPr>
        <p:spPr bwMode="auto">
          <a:xfrm>
            <a:off x="1187450" y="4622800"/>
            <a:ext cx="23177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kumimoji="1" lang="zh-CN" altLang="en-US" sz="2400">
                <a:solidFill>
                  <a:schemeClr val="hlink"/>
                </a:solidFill>
                <a:latin typeface="Arial" pitchFamily="34" charset="0"/>
                <a:ea typeface="黑体" pitchFamily="49" charset="-122"/>
              </a:rPr>
              <a:t>被接收端</a:t>
            </a:r>
          </a:p>
          <a:p>
            <a:pPr algn="ctr" eaLnBrk="1" hangingPunct="1"/>
            <a:r>
              <a:rPr kumimoji="1" lang="zh-CN" altLang="en-US" sz="2400">
                <a:solidFill>
                  <a:schemeClr val="hlink"/>
                </a:solidFill>
                <a:latin typeface="Arial" pitchFamily="34" charset="0"/>
                <a:ea typeface="黑体" pitchFamily="49" charset="-122"/>
              </a:rPr>
              <a:t>误认为是一个帧</a:t>
            </a:r>
          </a:p>
        </p:txBody>
      </p:sp>
      <p:sp>
        <p:nvSpPr>
          <p:cNvPr id="16397" name="Line 13"/>
          <p:cNvSpPr>
            <a:spLocks noChangeShapeType="1"/>
          </p:cNvSpPr>
          <p:nvPr/>
        </p:nvSpPr>
        <p:spPr bwMode="auto">
          <a:xfrm>
            <a:off x="1546225" y="3443288"/>
            <a:ext cx="677068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98" name="Text Box 14"/>
          <p:cNvSpPr txBox="1">
            <a:spLocks noChangeArrowheads="1"/>
          </p:cNvSpPr>
          <p:nvPr/>
        </p:nvSpPr>
        <p:spPr bwMode="auto">
          <a:xfrm>
            <a:off x="4262438" y="3186113"/>
            <a:ext cx="1403350" cy="4587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kumimoji="1" lang="zh-CN" altLang="en-US" sz="2400">
                <a:solidFill>
                  <a:schemeClr val="folHlink"/>
                </a:solidFill>
                <a:latin typeface="Arial" pitchFamily="34" charset="0"/>
                <a:ea typeface="黑体" pitchFamily="49" charset="-122"/>
              </a:rPr>
              <a:t>数据部分</a:t>
            </a:r>
          </a:p>
        </p:txBody>
      </p:sp>
      <p:sp>
        <p:nvSpPr>
          <p:cNvPr id="16399" name="Rectangle 15"/>
          <p:cNvSpPr>
            <a:spLocks noChangeArrowheads="1"/>
          </p:cNvSpPr>
          <p:nvPr/>
        </p:nvSpPr>
        <p:spPr bwMode="auto">
          <a:xfrm>
            <a:off x="8316913" y="3705225"/>
            <a:ext cx="576262" cy="611188"/>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a:solidFill>
                  <a:schemeClr val="folHlink"/>
                </a:solidFill>
                <a:latin typeface="Arial" pitchFamily="34" charset="0"/>
                <a:ea typeface="黑体" pitchFamily="49" charset="-122"/>
              </a:rPr>
              <a:t>EOT</a:t>
            </a:r>
          </a:p>
        </p:txBody>
      </p:sp>
      <p:sp>
        <p:nvSpPr>
          <p:cNvPr id="16400" name="Line 16"/>
          <p:cNvSpPr>
            <a:spLocks noChangeShapeType="1"/>
          </p:cNvSpPr>
          <p:nvPr/>
        </p:nvSpPr>
        <p:spPr bwMode="auto">
          <a:xfrm>
            <a:off x="968375" y="2960688"/>
            <a:ext cx="792480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1" name="Text Box 17"/>
          <p:cNvSpPr txBox="1">
            <a:spLocks noChangeArrowheads="1"/>
          </p:cNvSpPr>
          <p:nvPr/>
        </p:nvSpPr>
        <p:spPr bwMode="auto">
          <a:xfrm>
            <a:off x="3894138" y="2682875"/>
            <a:ext cx="1401762" cy="4587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kumimoji="1" lang="zh-CN" altLang="en-US" sz="2400">
                <a:solidFill>
                  <a:schemeClr val="folHlink"/>
                </a:solidFill>
                <a:latin typeface="Arial" pitchFamily="34" charset="0"/>
                <a:ea typeface="黑体" pitchFamily="49" charset="-122"/>
              </a:rPr>
              <a:t>完整的帧</a:t>
            </a:r>
          </a:p>
        </p:txBody>
      </p:sp>
      <p:sp>
        <p:nvSpPr>
          <p:cNvPr id="16402" name="Line 18"/>
          <p:cNvSpPr>
            <a:spLocks noChangeShapeType="1"/>
          </p:cNvSpPr>
          <p:nvPr/>
        </p:nvSpPr>
        <p:spPr bwMode="auto">
          <a:xfrm>
            <a:off x="968375" y="2863850"/>
            <a:ext cx="0" cy="7699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3" name="Line 19"/>
          <p:cNvSpPr>
            <a:spLocks noChangeShapeType="1"/>
          </p:cNvSpPr>
          <p:nvPr/>
        </p:nvSpPr>
        <p:spPr bwMode="auto">
          <a:xfrm>
            <a:off x="8893175" y="2863850"/>
            <a:ext cx="0" cy="7699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4" name="Line 20"/>
          <p:cNvSpPr>
            <a:spLocks noChangeShapeType="1"/>
          </p:cNvSpPr>
          <p:nvPr/>
        </p:nvSpPr>
        <p:spPr bwMode="auto">
          <a:xfrm>
            <a:off x="1546225" y="3249613"/>
            <a:ext cx="0" cy="384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5" name="Line 21"/>
          <p:cNvSpPr>
            <a:spLocks noChangeShapeType="1"/>
          </p:cNvSpPr>
          <p:nvPr/>
        </p:nvSpPr>
        <p:spPr bwMode="auto">
          <a:xfrm>
            <a:off x="8316913" y="3249613"/>
            <a:ext cx="0" cy="384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6" name="Text Box 23"/>
          <p:cNvSpPr txBox="1">
            <a:spLocks noChangeArrowheads="1"/>
          </p:cNvSpPr>
          <p:nvPr/>
        </p:nvSpPr>
        <p:spPr bwMode="auto">
          <a:xfrm>
            <a:off x="144463" y="3205163"/>
            <a:ext cx="793750" cy="822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发送</a:t>
            </a:r>
          </a:p>
          <a:p>
            <a:pPr eaLnBrk="1" hangingPunct="1"/>
            <a:r>
              <a:rPr kumimoji="1" lang="zh-CN" altLang="en-US" sz="2400">
                <a:solidFill>
                  <a:schemeClr val="folHlink"/>
                </a:solidFill>
                <a:latin typeface="Arial" pitchFamily="34" charset="0"/>
                <a:ea typeface="黑体" pitchFamily="49" charset="-122"/>
              </a:rPr>
              <a:t>在前</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150938" y="214313"/>
            <a:ext cx="6950075" cy="1462087"/>
          </a:xfrm>
        </p:spPr>
        <p:txBody>
          <a:bodyPr/>
          <a:lstStyle/>
          <a:p>
            <a:pPr algn="ctr" eaLnBrk="1" hangingPunct="1"/>
            <a:r>
              <a:rPr lang="zh-CN" altLang="en-US" sz="4000" smtClean="0"/>
              <a:t>解决透明传输问题</a:t>
            </a:r>
          </a:p>
        </p:txBody>
      </p:sp>
      <p:sp>
        <p:nvSpPr>
          <p:cNvPr id="17411" name="Rectangle 3"/>
          <p:cNvSpPr>
            <a:spLocks noGrp="1" noChangeArrowheads="1"/>
          </p:cNvSpPr>
          <p:nvPr>
            <p:ph type="body" idx="1"/>
          </p:nvPr>
        </p:nvSpPr>
        <p:spPr>
          <a:xfrm>
            <a:off x="688975" y="1917700"/>
            <a:ext cx="8347075" cy="4751388"/>
          </a:xfrm>
        </p:spPr>
        <p:txBody>
          <a:bodyPr/>
          <a:lstStyle/>
          <a:p>
            <a:pPr eaLnBrk="1" hangingPunct="1"/>
            <a:r>
              <a:rPr lang="zh-CN" altLang="en-US" sz="2800" smtClean="0"/>
              <a:t>发送端的数据链路层在数据中出现控制字符“</a:t>
            </a:r>
            <a:r>
              <a:rPr lang="en-US" altLang="zh-CN" sz="2800" smtClean="0"/>
              <a:t>SOH”</a:t>
            </a:r>
            <a:r>
              <a:rPr lang="zh-CN" altLang="en-US" sz="2800" smtClean="0"/>
              <a:t>或“</a:t>
            </a:r>
            <a:r>
              <a:rPr lang="en-US" altLang="zh-CN" sz="2800" smtClean="0"/>
              <a:t>EOT”</a:t>
            </a:r>
            <a:r>
              <a:rPr lang="zh-CN" altLang="en-US" sz="2800" smtClean="0"/>
              <a:t>的前面插入一个转义字符“</a:t>
            </a:r>
            <a:r>
              <a:rPr lang="en-US" altLang="zh-CN" sz="2800" smtClean="0"/>
              <a:t>ESC”(</a:t>
            </a:r>
            <a:r>
              <a:rPr lang="zh-CN" altLang="en-US" sz="2800" smtClean="0"/>
              <a:t>其十六进制编码是 </a:t>
            </a:r>
            <a:r>
              <a:rPr lang="en-US" altLang="zh-CN" sz="2800" smtClean="0"/>
              <a:t>1B)</a:t>
            </a:r>
            <a:r>
              <a:rPr lang="zh-CN" altLang="en-US" sz="2800" smtClean="0"/>
              <a:t>。</a:t>
            </a:r>
          </a:p>
          <a:p>
            <a:pPr eaLnBrk="1" hangingPunct="1"/>
            <a:r>
              <a:rPr lang="zh-CN" altLang="en-US" sz="2800" smtClean="0">
                <a:solidFill>
                  <a:schemeClr val="hlink"/>
                </a:solidFill>
              </a:rPr>
              <a:t>字节填充</a:t>
            </a:r>
            <a:r>
              <a:rPr lang="en-US" altLang="zh-CN" sz="2800" smtClean="0"/>
              <a:t>(byte stuffing)</a:t>
            </a:r>
            <a:r>
              <a:rPr lang="zh-CN" altLang="en-US" sz="2800" smtClean="0"/>
              <a:t>或</a:t>
            </a:r>
            <a:r>
              <a:rPr lang="zh-CN" altLang="en-US" sz="2800" smtClean="0">
                <a:solidFill>
                  <a:schemeClr val="hlink"/>
                </a:solidFill>
              </a:rPr>
              <a:t>字符填充</a:t>
            </a:r>
            <a:r>
              <a:rPr lang="en-US" altLang="zh-CN" sz="2800" smtClean="0"/>
              <a:t>(character stuffing)——</a:t>
            </a:r>
            <a:r>
              <a:rPr lang="zh-CN" altLang="en-US" sz="2800" smtClean="0"/>
              <a:t>接收端的数据链路层在将数据送往网络层之前删除插入的转义字符。</a:t>
            </a:r>
          </a:p>
          <a:p>
            <a:pPr eaLnBrk="1" hangingPunct="1"/>
            <a:r>
              <a:rPr lang="zh-CN" altLang="en-US" sz="2800" smtClean="0"/>
              <a:t>如果转义字符也出现数据当中，那么应在转义字符前面插入一个转义字符。当接收端收到连续的两个转义字符时，就删除其中前面的一个。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273050" y="4183063"/>
            <a:ext cx="4572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a:solidFill>
                  <a:schemeClr val="folHlink"/>
                </a:solidFill>
                <a:latin typeface="Arial" pitchFamily="34" charset="0"/>
                <a:ea typeface="黑体" pitchFamily="49" charset="-122"/>
              </a:rPr>
              <a:t>SOH</a:t>
            </a:r>
          </a:p>
        </p:txBody>
      </p:sp>
      <p:sp>
        <p:nvSpPr>
          <p:cNvPr id="18435" name="Freeform 5"/>
          <p:cNvSpPr>
            <a:spLocks/>
          </p:cNvSpPr>
          <p:nvPr/>
        </p:nvSpPr>
        <p:spPr bwMode="auto">
          <a:xfrm>
            <a:off x="6369050" y="3192463"/>
            <a:ext cx="1524000" cy="990600"/>
          </a:xfrm>
          <a:custGeom>
            <a:avLst/>
            <a:gdLst>
              <a:gd name="T0" fmla="*/ 2147483647 w 960"/>
              <a:gd name="T1" fmla="*/ 2147483647 h 624"/>
              <a:gd name="T2" fmla="*/ 2147483647 w 960"/>
              <a:gd name="T3" fmla="*/ 2147483647 h 624"/>
              <a:gd name="T4" fmla="*/ 2147483647 w 960"/>
              <a:gd name="T5" fmla="*/ 0 h 624"/>
              <a:gd name="T6" fmla="*/ 0 w 960"/>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0" h="624">
                <a:moveTo>
                  <a:pt x="671" y="624"/>
                </a:moveTo>
                <a:lnTo>
                  <a:pt x="960" y="624"/>
                </a:lnTo>
                <a:lnTo>
                  <a:pt x="288" y="0"/>
                </a:lnTo>
                <a:lnTo>
                  <a:pt x="0" y="0"/>
                </a:lnTo>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6" name="Freeform 6"/>
          <p:cNvSpPr>
            <a:spLocks/>
          </p:cNvSpPr>
          <p:nvPr/>
        </p:nvSpPr>
        <p:spPr bwMode="auto">
          <a:xfrm>
            <a:off x="5064125" y="3192463"/>
            <a:ext cx="1076325" cy="1000125"/>
          </a:xfrm>
          <a:custGeom>
            <a:avLst/>
            <a:gdLst>
              <a:gd name="T0" fmla="*/ 2147483647 w 678"/>
              <a:gd name="T1" fmla="*/ 2147483647 h 630"/>
              <a:gd name="T2" fmla="*/ 2147483647 w 678"/>
              <a:gd name="T3" fmla="*/ 2147483647 h 630"/>
              <a:gd name="T4" fmla="*/ 2147483647 w 678"/>
              <a:gd name="T5" fmla="*/ 0 h 630"/>
              <a:gd name="T6" fmla="*/ 0 w 678"/>
              <a:gd name="T7" fmla="*/ 0 h 6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8" h="630">
                <a:moveTo>
                  <a:pt x="386" y="621"/>
                </a:moveTo>
                <a:lnTo>
                  <a:pt x="678" y="630"/>
                </a:lnTo>
                <a:lnTo>
                  <a:pt x="288" y="0"/>
                </a:lnTo>
                <a:lnTo>
                  <a:pt x="0" y="0"/>
                </a:lnTo>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7" name="Freeform 7"/>
          <p:cNvSpPr>
            <a:spLocks/>
          </p:cNvSpPr>
          <p:nvPr/>
        </p:nvSpPr>
        <p:spPr bwMode="auto">
          <a:xfrm>
            <a:off x="3549650" y="3192463"/>
            <a:ext cx="600075" cy="990600"/>
          </a:xfrm>
          <a:custGeom>
            <a:avLst/>
            <a:gdLst>
              <a:gd name="T0" fmla="*/ 2147483647 w 378"/>
              <a:gd name="T1" fmla="*/ 2147483647 h 624"/>
              <a:gd name="T2" fmla="*/ 2147483647 w 378"/>
              <a:gd name="T3" fmla="*/ 2147483647 h 624"/>
              <a:gd name="T4" fmla="*/ 2147483647 w 378"/>
              <a:gd name="T5" fmla="*/ 0 h 624"/>
              <a:gd name="T6" fmla="*/ 0 w 378"/>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8" h="624">
                <a:moveTo>
                  <a:pt x="92" y="624"/>
                </a:moveTo>
                <a:lnTo>
                  <a:pt x="378" y="624"/>
                </a:lnTo>
                <a:lnTo>
                  <a:pt x="288" y="0"/>
                </a:lnTo>
                <a:lnTo>
                  <a:pt x="0" y="0"/>
                </a:lnTo>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8" name="Freeform 8"/>
          <p:cNvSpPr>
            <a:spLocks/>
          </p:cNvSpPr>
          <p:nvPr/>
        </p:nvSpPr>
        <p:spPr bwMode="auto">
          <a:xfrm>
            <a:off x="1871663" y="3192463"/>
            <a:ext cx="763587" cy="990600"/>
          </a:xfrm>
          <a:custGeom>
            <a:avLst/>
            <a:gdLst>
              <a:gd name="T0" fmla="*/ 0 w 481"/>
              <a:gd name="T1" fmla="*/ 2147483647 h 624"/>
              <a:gd name="T2" fmla="*/ 2147483647 w 481"/>
              <a:gd name="T3" fmla="*/ 2147483647 h 624"/>
              <a:gd name="T4" fmla="*/ 2147483647 w 481"/>
              <a:gd name="T5" fmla="*/ 0 h 624"/>
              <a:gd name="T6" fmla="*/ 2147483647 w 481"/>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1" h="624">
                <a:moveTo>
                  <a:pt x="0" y="621"/>
                </a:moveTo>
                <a:lnTo>
                  <a:pt x="289" y="624"/>
                </a:lnTo>
                <a:lnTo>
                  <a:pt x="481" y="0"/>
                </a:lnTo>
                <a:lnTo>
                  <a:pt x="193" y="0"/>
                </a:lnTo>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9" name="Rectangle 9"/>
          <p:cNvSpPr>
            <a:spLocks noChangeArrowheads="1"/>
          </p:cNvSpPr>
          <p:nvPr/>
        </p:nvSpPr>
        <p:spPr bwMode="auto">
          <a:xfrm>
            <a:off x="1035050" y="2735263"/>
            <a:ext cx="4572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a:solidFill>
                  <a:schemeClr val="folHlink"/>
                </a:solidFill>
                <a:latin typeface="Arial" pitchFamily="34" charset="0"/>
                <a:ea typeface="黑体" pitchFamily="49" charset="-122"/>
              </a:rPr>
              <a:t>SOH</a:t>
            </a:r>
          </a:p>
        </p:txBody>
      </p:sp>
      <p:sp>
        <p:nvSpPr>
          <p:cNvPr id="18440" name="Rectangle 10"/>
          <p:cNvSpPr>
            <a:spLocks noChangeArrowheads="1"/>
          </p:cNvSpPr>
          <p:nvPr/>
        </p:nvSpPr>
        <p:spPr bwMode="auto">
          <a:xfrm>
            <a:off x="1492250" y="2735263"/>
            <a:ext cx="6019800" cy="4572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8441" name="Rectangle 11"/>
          <p:cNvSpPr>
            <a:spLocks noChangeArrowheads="1"/>
          </p:cNvSpPr>
          <p:nvPr/>
        </p:nvSpPr>
        <p:spPr bwMode="auto">
          <a:xfrm>
            <a:off x="2178050" y="2735263"/>
            <a:ext cx="457200" cy="457200"/>
          </a:xfrm>
          <a:prstGeom prst="rect">
            <a:avLst/>
          </a:prstGeom>
          <a:solidFill>
            <a:srgbClr val="99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EOT</a:t>
            </a:r>
          </a:p>
        </p:txBody>
      </p:sp>
      <p:sp>
        <p:nvSpPr>
          <p:cNvPr id="18442" name="Rectangle 12"/>
          <p:cNvSpPr>
            <a:spLocks noChangeArrowheads="1"/>
          </p:cNvSpPr>
          <p:nvPr/>
        </p:nvSpPr>
        <p:spPr bwMode="auto">
          <a:xfrm>
            <a:off x="6369050" y="2735263"/>
            <a:ext cx="457200" cy="457200"/>
          </a:xfrm>
          <a:prstGeom prst="rect">
            <a:avLst/>
          </a:prstGeom>
          <a:solidFill>
            <a:srgbClr val="FFCCFF"/>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a:solidFill>
                  <a:schemeClr val="folHlink"/>
                </a:solidFill>
                <a:latin typeface="Arial" pitchFamily="34" charset="0"/>
                <a:ea typeface="黑体" pitchFamily="49" charset="-122"/>
              </a:rPr>
              <a:t>SOH</a:t>
            </a:r>
          </a:p>
        </p:txBody>
      </p:sp>
      <p:sp>
        <p:nvSpPr>
          <p:cNvPr id="18443" name="Rectangle 14"/>
          <p:cNvSpPr>
            <a:spLocks noChangeArrowheads="1"/>
          </p:cNvSpPr>
          <p:nvPr/>
        </p:nvSpPr>
        <p:spPr bwMode="auto">
          <a:xfrm>
            <a:off x="5073650" y="2735263"/>
            <a:ext cx="4572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ESC</a:t>
            </a:r>
          </a:p>
        </p:txBody>
      </p:sp>
      <p:sp>
        <p:nvSpPr>
          <p:cNvPr id="18444" name="Rectangle 15"/>
          <p:cNvSpPr>
            <a:spLocks noChangeArrowheads="1"/>
          </p:cNvSpPr>
          <p:nvPr/>
        </p:nvSpPr>
        <p:spPr bwMode="auto">
          <a:xfrm>
            <a:off x="730250" y="4183063"/>
            <a:ext cx="7848600" cy="4572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8445" name="Rectangle 16"/>
          <p:cNvSpPr>
            <a:spLocks noChangeArrowheads="1"/>
          </p:cNvSpPr>
          <p:nvPr/>
        </p:nvSpPr>
        <p:spPr bwMode="auto">
          <a:xfrm>
            <a:off x="1416050" y="4183063"/>
            <a:ext cx="4572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ESC</a:t>
            </a:r>
          </a:p>
        </p:txBody>
      </p:sp>
      <p:sp>
        <p:nvSpPr>
          <p:cNvPr id="18446" name="Rectangle 17"/>
          <p:cNvSpPr>
            <a:spLocks noChangeArrowheads="1"/>
          </p:cNvSpPr>
          <p:nvPr/>
        </p:nvSpPr>
        <p:spPr bwMode="auto">
          <a:xfrm>
            <a:off x="1873250" y="4183063"/>
            <a:ext cx="457200" cy="457200"/>
          </a:xfrm>
          <a:prstGeom prst="rect">
            <a:avLst/>
          </a:prstGeom>
          <a:solidFill>
            <a:srgbClr val="99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EOT</a:t>
            </a:r>
          </a:p>
        </p:txBody>
      </p:sp>
      <p:sp>
        <p:nvSpPr>
          <p:cNvPr id="18447" name="Rectangle 18"/>
          <p:cNvSpPr>
            <a:spLocks noChangeArrowheads="1"/>
          </p:cNvSpPr>
          <p:nvPr/>
        </p:nvSpPr>
        <p:spPr bwMode="auto">
          <a:xfrm>
            <a:off x="3244850" y="4183063"/>
            <a:ext cx="4572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ESC</a:t>
            </a:r>
          </a:p>
        </p:txBody>
      </p:sp>
      <p:sp>
        <p:nvSpPr>
          <p:cNvPr id="18448" name="Rectangle 19"/>
          <p:cNvSpPr>
            <a:spLocks noChangeArrowheads="1"/>
          </p:cNvSpPr>
          <p:nvPr/>
        </p:nvSpPr>
        <p:spPr bwMode="auto">
          <a:xfrm>
            <a:off x="3702050" y="4183063"/>
            <a:ext cx="457200" cy="457200"/>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SOH</a:t>
            </a:r>
          </a:p>
        </p:txBody>
      </p:sp>
      <p:sp>
        <p:nvSpPr>
          <p:cNvPr id="18449" name="Rectangle 20"/>
          <p:cNvSpPr>
            <a:spLocks noChangeArrowheads="1"/>
          </p:cNvSpPr>
          <p:nvPr/>
        </p:nvSpPr>
        <p:spPr bwMode="auto">
          <a:xfrm>
            <a:off x="5226050" y="4183063"/>
            <a:ext cx="4572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ESC</a:t>
            </a:r>
          </a:p>
        </p:txBody>
      </p:sp>
      <p:sp>
        <p:nvSpPr>
          <p:cNvPr id="18450" name="Rectangle 21"/>
          <p:cNvSpPr>
            <a:spLocks noChangeArrowheads="1"/>
          </p:cNvSpPr>
          <p:nvPr/>
        </p:nvSpPr>
        <p:spPr bwMode="auto">
          <a:xfrm>
            <a:off x="5683250" y="4183063"/>
            <a:ext cx="4572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ESC</a:t>
            </a:r>
          </a:p>
        </p:txBody>
      </p:sp>
      <p:sp>
        <p:nvSpPr>
          <p:cNvPr id="18451" name="Rectangle 22"/>
          <p:cNvSpPr>
            <a:spLocks noChangeArrowheads="1"/>
          </p:cNvSpPr>
          <p:nvPr/>
        </p:nvSpPr>
        <p:spPr bwMode="auto">
          <a:xfrm>
            <a:off x="6978650" y="4183063"/>
            <a:ext cx="4572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ESC</a:t>
            </a:r>
          </a:p>
        </p:txBody>
      </p:sp>
      <p:sp>
        <p:nvSpPr>
          <p:cNvPr id="18452" name="Rectangle 23"/>
          <p:cNvSpPr>
            <a:spLocks noChangeArrowheads="1"/>
          </p:cNvSpPr>
          <p:nvPr/>
        </p:nvSpPr>
        <p:spPr bwMode="auto">
          <a:xfrm>
            <a:off x="7435850" y="4183063"/>
            <a:ext cx="457200" cy="457200"/>
          </a:xfrm>
          <a:prstGeom prst="rect">
            <a:avLst/>
          </a:prstGeom>
          <a:solidFill>
            <a:srgbClr val="FFCCFF"/>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a:solidFill>
                  <a:schemeClr val="folHlink"/>
                </a:solidFill>
                <a:latin typeface="Arial" pitchFamily="34" charset="0"/>
                <a:ea typeface="黑体" pitchFamily="49" charset="-122"/>
              </a:rPr>
              <a:t>SOH</a:t>
            </a:r>
          </a:p>
        </p:txBody>
      </p:sp>
      <p:sp>
        <p:nvSpPr>
          <p:cNvPr id="18453" name="Freeform 24"/>
          <p:cNvSpPr>
            <a:spLocks/>
          </p:cNvSpPr>
          <p:nvPr/>
        </p:nvSpPr>
        <p:spPr bwMode="auto">
          <a:xfrm>
            <a:off x="1871663" y="3192463"/>
            <a:ext cx="306387" cy="995362"/>
          </a:xfrm>
          <a:custGeom>
            <a:avLst/>
            <a:gdLst>
              <a:gd name="T0" fmla="*/ 2147483647 w 193"/>
              <a:gd name="T1" fmla="*/ 0 h 627"/>
              <a:gd name="T2" fmla="*/ 0 w 193"/>
              <a:gd name="T3" fmla="*/ 2147483647 h 627"/>
              <a:gd name="T4" fmla="*/ 0 60000 65536"/>
              <a:gd name="T5" fmla="*/ 0 60000 65536"/>
            </a:gdLst>
            <a:ahLst/>
            <a:cxnLst>
              <a:cxn ang="T4">
                <a:pos x="T0" y="T1"/>
              </a:cxn>
              <a:cxn ang="T5">
                <a:pos x="T2" y="T3"/>
              </a:cxn>
            </a:cxnLst>
            <a:rect l="0" t="0" r="r" b="b"/>
            <a:pathLst>
              <a:path w="193" h="627">
                <a:moveTo>
                  <a:pt x="193" y="0"/>
                </a:moveTo>
                <a:lnTo>
                  <a:pt x="0" y="627"/>
                </a:lnTo>
              </a:path>
            </a:pathLst>
          </a:custGeom>
          <a:noFill/>
          <a:ln w="9525">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54" name="Line 25"/>
          <p:cNvSpPr>
            <a:spLocks noChangeShapeType="1"/>
          </p:cNvSpPr>
          <p:nvPr/>
        </p:nvSpPr>
        <p:spPr bwMode="auto">
          <a:xfrm flipH="1">
            <a:off x="2330450" y="3192463"/>
            <a:ext cx="304800" cy="990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55" name="Line 26"/>
          <p:cNvSpPr>
            <a:spLocks noChangeShapeType="1"/>
          </p:cNvSpPr>
          <p:nvPr/>
        </p:nvSpPr>
        <p:spPr bwMode="auto">
          <a:xfrm>
            <a:off x="3549650" y="3192463"/>
            <a:ext cx="142875" cy="990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56" name="Line 27"/>
          <p:cNvSpPr>
            <a:spLocks noChangeShapeType="1"/>
          </p:cNvSpPr>
          <p:nvPr/>
        </p:nvSpPr>
        <p:spPr bwMode="auto">
          <a:xfrm>
            <a:off x="4006850" y="3192463"/>
            <a:ext cx="152400" cy="990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57" name="Freeform 28"/>
          <p:cNvSpPr>
            <a:spLocks/>
          </p:cNvSpPr>
          <p:nvPr/>
        </p:nvSpPr>
        <p:spPr bwMode="auto">
          <a:xfrm>
            <a:off x="5073650" y="3192463"/>
            <a:ext cx="603250" cy="995362"/>
          </a:xfrm>
          <a:custGeom>
            <a:avLst/>
            <a:gdLst>
              <a:gd name="T0" fmla="*/ 0 w 380"/>
              <a:gd name="T1" fmla="*/ 0 h 627"/>
              <a:gd name="T2" fmla="*/ 2147483647 w 380"/>
              <a:gd name="T3" fmla="*/ 2147483647 h 627"/>
              <a:gd name="T4" fmla="*/ 0 60000 65536"/>
              <a:gd name="T5" fmla="*/ 0 60000 65536"/>
            </a:gdLst>
            <a:ahLst/>
            <a:cxnLst>
              <a:cxn ang="T4">
                <a:pos x="T0" y="T1"/>
              </a:cxn>
              <a:cxn ang="T5">
                <a:pos x="T2" y="T3"/>
              </a:cxn>
            </a:cxnLst>
            <a:rect l="0" t="0" r="r" b="b"/>
            <a:pathLst>
              <a:path w="380" h="627">
                <a:moveTo>
                  <a:pt x="0" y="0"/>
                </a:moveTo>
                <a:lnTo>
                  <a:pt x="380" y="627"/>
                </a:lnTo>
              </a:path>
            </a:pathLst>
          </a:custGeom>
          <a:noFill/>
          <a:ln w="9525">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58" name="Line 29"/>
          <p:cNvSpPr>
            <a:spLocks noChangeShapeType="1"/>
          </p:cNvSpPr>
          <p:nvPr/>
        </p:nvSpPr>
        <p:spPr bwMode="auto">
          <a:xfrm>
            <a:off x="5530850" y="3192463"/>
            <a:ext cx="609600" cy="990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59" name="Freeform 30"/>
          <p:cNvSpPr>
            <a:spLocks/>
          </p:cNvSpPr>
          <p:nvPr/>
        </p:nvSpPr>
        <p:spPr bwMode="auto">
          <a:xfrm>
            <a:off x="6369050" y="3192463"/>
            <a:ext cx="1060450" cy="985837"/>
          </a:xfrm>
          <a:custGeom>
            <a:avLst/>
            <a:gdLst>
              <a:gd name="T0" fmla="*/ 0 w 668"/>
              <a:gd name="T1" fmla="*/ 0 h 621"/>
              <a:gd name="T2" fmla="*/ 2147483647 w 668"/>
              <a:gd name="T3" fmla="*/ 2147483647 h 621"/>
              <a:gd name="T4" fmla="*/ 0 60000 65536"/>
              <a:gd name="T5" fmla="*/ 0 60000 65536"/>
            </a:gdLst>
            <a:ahLst/>
            <a:cxnLst>
              <a:cxn ang="T4">
                <a:pos x="T0" y="T1"/>
              </a:cxn>
              <a:cxn ang="T5">
                <a:pos x="T2" y="T3"/>
              </a:cxn>
            </a:cxnLst>
            <a:rect l="0" t="0" r="r" b="b"/>
            <a:pathLst>
              <a:path w="668" h="621">
                <a:moveTo>
                  <a:pt x="0" y="0"/>
                </a:moveTo>
                <a:lnTo>
                  <a:pt x="668" y="621"/>
                </a:lnTo>
              </a:path>
            </a:pathLst>
          </a:custGeom>
          <a:noFill/>
          <a:ln w="9525">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60" name="Line 31"/>
          <p:cNvSpPr>
            <a:spLocks noChangeShapeType="1"/>
          </p:cNvSpPr>
          <p:nvPr/>
        </p:nvSpPr>
        <p:spPr bwMode="auto">
          <a:xfrm>
            <a:off x="6826250" y="3192463"/>
            <a:ext cx="1066800" cy="990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61" name="Line 32"/>
          <p:cNvSpPr>
            <a:spLocks noChangeShapeType="1"/>
          </p:cNvSpPr>
          <p:nvPr/>
        </p:nvSpPr>
        <p:spPr bwMode="auto">
          <a:xfrm>
            <a:off x="1492250" y="2506663"/>
            <a:ext cx="601980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62" name="Text Box 33"/>
          <p:cNvSpPr txBox="1">
            <a:spLocks noChangeArrowheads="1"/>
          </p:cNvSpPr>
          <p:nvPr/>
        </p:nvSpPr>
        <p:spPr bwMode="auto">
          <a:xfrm>
            <a:off x="3854450" y="2273300"/>
            <a:ext cx="1200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chemeClr val="folHlink"/>
                </a:solidFill>
                <a:latin typeface="Arial" pitchFamily="34" charset="0"/>
                <a:ea typeface="黑体" pitchFamily="49" charset="-122"/>
              </a:rPr>
              <a:t>原始数据</a:t>
            </a:r>
          </a:p>
        </p:txBody>
      </p:sp>
      <p:sp>
        <p:nvSpPr>
          <p:cNvPr id="18463" name="Line 34"/>
          <p:cNvSpPr>
            <a:spLocks noChangeShapeType="1"/>
          </p:cNvSpPr>
          <p:nvPr/>
        </p:nvSpPr>
        <p:spPr bwMode="auto">
          <a:xfrm>
            <a:off x="730250" y="4945063"/>
            <a:ext cx="784860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64" name="Rectangle 35"/>
          <p:cNvSpPr>
            <a:spLocks noChangeArrowheads="1"/>
          </p:cNvSpPr>
          <p:nvPr/>
        </p:nvSpPr>
        <p:spPr bwMode="auto">
          <a:xfrm>
            <a:off x="8578850" y="4183063"/>
            <a:ext cx="4572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a:solidFill>
                  <a:schemeClr val="folHlink"/>
                </a:solidFill>
                <a:latin typeface="Arial" pitchFamily="34" charset="0"/>
                <a:ea typeface="黑体" pitchFamily="49" charset="-122"/>
              </a:rPr>
              <a:t>EOT</a:t>
            </a:r>
          </a:p>
        </p:txBody>
      </p:sp>
      <p:sp>
        <p:nvSpPr>
          <p:cNvPr id="18465" name="Rectangle 36"/>
          <p:cNvSpPr>
            <a:spLocks noChangeArrowheads="1"/>
          </p:cNvSpPr>
          <p:nvPr/>
        </p:nvSpPr>
        <p:spPr bwMode="auto">
          <a:xfrm>
            <a:off x="7512050" y="2735263"/>
            <a:ext cx="4572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a:solidFill>
                  <a:schemeClr val="folHlink"/>
                </a:solidFill>
                <a:latin typeface="Arial" pitchFamily="34" charset="0"/>
                <a:ea typeface="黑体" pitchFamily="49" charset="-122"/>
              </a:rPr>
              <a:t>EOT</a:t>
            </a:r>
          </a:p>
        </p:txBody>
      </p:sp>
      <p:sp>
        <p:nvSpPr>
          <p:cNvPr id="18466" name="Text Box 37"/>
          <p:cNvSpPr txBox="1">
            <a:spLocks noChangeArrowheads="1"/>
          </p:cNvSpPr>
          <p:nvPr/>
        </p:nvSpPr>
        <p:spPr bwMode="auto">
          <a:xfrm>
            <a:off x="3324225" y="4708525"/>
            <a:ext cx="3232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chemeClr val="folHlink"/>
                </a:solidFill>
                <a:latin typeface="Arial" pitchFamily="34" charset="0"/>
                <a:ea typeface="黑体" pitchFamily="49" charset="-122"/>
              </a:rPr>
              <a:t>经过字节填充后发送的数据</a:t>
            </a:r>
          </a:p>
        </p:txBody>
      </p:sp>
      <p:sp>
        <p:nvSpPr>
          <p:cNvPr id="18467" name="Text Box 38"/>
          <p:cNvSpPr txBox="1">
            <a:spLocks noChangeArrowheads="1"/>
          </p:cNvSpPr>
          <p:nvPr/>
        </p:nvSpPr>
        <p:spPr bwMode="auto">
          <a:xfrm>
            <a:off x="6743700" y="3449638"/>
            <a:ext cx="120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chemeClr val="folHlink"/>
                </a:solidFill>
                <a:latin typeface="Arial" pitchFamily="34" charset="0"/>
                <a:ea typeface="黑体" pitchFamily="49" charset="-122"/>
              </a:rPr>
              <a:t>字节填充</a:t>
            </a:r>
          </a:p>
        </p:txBody>
      </p:sp>
      <p:sp>
        <p:nvSpPr>
          <p:cNvPr id="18468" name="Text Box 39"/>
          <p:cNvSpPr txBox="1">
            <a:spLocks noChangeArrowheads="1"/>
          </p:cNvSpPr>
          <p:nvPr/>
        </p:nvSpPr>
        <p:spPr bwMode="auto">
          <a:xfrm>
            <a:off x="4859338" y="3449638"/>
            <a:ext cx="120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chemeClr val="folHlink"/>
                </a:solidFill>
                <a:latin typeface="Arial" pitchFamily="34" charset="0"/>
                <a:ea typeface="黑体" pitchFamily="49" charset="-122"/>
              </a:rPr>
              <a:t>字节填充</a:t>
            </a:r>
          </a:p>
        </p:txBody>
      </p:sp>
      <p:sp>
        <p:nvSpPr>
          <p:cNvPr id="18469" name="Text Box 40"/>
          <p:cNvSpPr txBox="1">
            <a:spLocks noChangeArrowheads="1"/>
          </p:cNvSpPr>
          <p:nvPr/>
        </p:nvSpPr>
        <p:spPr bwMode="auto">
          <a:xfrm>
            <a:off x="2916238" y="3449638"/>
            <a:ext cx="120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chemeClr val="folHlink"/>
                </a:solidFill>
                <a:latin typeface="Arial" pitchFamily="34" charset="0"/>
                <a:ea typeface="黑体" pitchFamily="49" charset="-122"/>
              </a:rPr>
              <a:t>字节填充</a:t>
            </a:r>
          </a:p>
        </p:txBody>
      </p:sp>
      <p:sp>
        <p:nvSpPr>
          <p:cNvPr id="18470" name="Text Box 41"/>
          <p:cNvSpPr txBox="1">
            <a:spLocks noChangeArrowheads="1"/>
          </p:cNvSpPr>
          <p:nvPr/>
        </p:nvSpPr>
        <p:spPr bwMode="auto">
          <a:xfrm>
            <a:off x="1187450" y="3449638"/>
            <a:ext cx="120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chemeClr val="folHlink"/>
                </a:solidFill>
                <a:latin typeface="Arial" pitchFamily="34" charset="0"/>
                <a:ea typeface="黑体" pitchFamily="49" charset="-122"/>
              </a:rPr>
              <a:t>字节填充</a:t>
            </a:r>
          </a:p>
        </p:txBody>
      </p:sp>
      <p:sp>
        <p:nvSpPr>
          <p:cNvPr id="18471" name="Line 42"/>
          <p:cNvSpPr>
            <a:spLocks noChangeShapeType="1"/>
          </p:cNvSpPr>
          <p:nvPr/>
        </p:nvSpPr>
        <p:spPr bwMode="auto">
          <a:xfrm flipV="1">
            <a:off x="300038" y="4652963"/>
            <a:ext cx="0" cy="355600"/>
          </a:xfrm>
          <a:prstGeom prst="line">
            <a:avLst/>
          </a:prstGeom>
          <a:noFill/>
          <a:ln w="38100">
            <a:solidFill>
              <a:srgbClr val="8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72" name="Text Box 43"/>
          <p:cNvSpPr txBox="1">
            <a:spLocks noChangeArrowheads="1"/>
          </p:cNvSpPr>
          <p:nvPr/>
        </p:nvSpPr>
        <p:spPr bwMode="auto">
          <a:xfrm>
            <a:off x="-36513" y="4959350"/>
            <a:ext cx="692151"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chemeClr val="folHlink"/>
                </a:solidFill>
                <a:latin typeface="Arial" pitchFamily="34" charset="0"/>
                <a:ea typeface="黑体" pitchFamily="49" charset="-122"/>
              </a:rPr>
              <a:t>发送</a:t>
            </a:r>
          </a:p>
          <a:p>
            <a:pPr eaLnBrk="1" hangingPunct="1"/>
            <a:r>
              <a:rPr kumimoji="1" lang="zh-CN" altLang="en-US">
                <a:solidFill>
                  <a:schemeClr val="folHlink"/>
                </a:solidFill>
                <a:latin typeface="Arial" pitchFamily="34" charset="0"/>
                <a:ea typeface="黑体" pitchFamily="49" charset="-122"/>
              </a:rPr>
              <a:t>在前</a:t>
            </a:r>
          </a:p>
        </p:txBody>
      </p:sp>
      <p:sp>
        <p:nvSpPr>
          <p:cNvPr id="18473" name="Line 44"/>
          <p:cNvSpPr>
            <a:spLocks noChangeShapeType="1"/>
          </p:cNvSpPr>
          <p:nvPr/>
        </p:nvSpPr>
        <p:spPr bwMode="auto">
          <a:xfrm>
            <a:off x="1285875" y="2405063"/>
            <a:ext cx="0" cy="3048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74" name="Text Box 45"/>
          <p:cNvSpPr txBox="1">
            <a:spLocks noChangeArrowheads="1"/>
          </p:cNvSpPr>
          <p:nvPr/>
        </p:nvSpPr>
        <p:spPr bwMode="auto">
          <a:xfrm>
            <a:off x="827088" y="2047875"/>
            <a:ext cx="120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chemeClr val="folHlink"/>
                </a:solidFill>
                <a:latin typeface="Arial" pitchFamily="34" charset="0"/>
                <a:ea typeface="黑体" pitchFamily="49" charset="-122"/>
              </a:rPr>
              <a:t>帧开始符</a:t>
            </a:r>
          </a:p>
        </p:txBody>
      </p:sp>
      <p:sp>
        <p:nvSpPr>
          <p:cNvPr id="18475" name="Text Box 46"/>
          <p:cNvSpPr txBox="1">
            <a:spLocks noChangeArrowheads="1"/>
          </p:cNvSpPr>
          <p:nvPr/>
        </p:nvSpPr>
        <p:spPr bwMode="auto">
          <a:xfrm>
            <a:off x="7246938" y="2047875"/>
            <a:ext cx="120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chemeClr val="folHlink"/>
                </a:solidFill>
                <a:latin typeface="Arial" pitchFamily="34" charset="0"/>
                <a:ea typeface="黑体" pitchFamily="49" charset="-122"/>
              </a:rPr>
              <a:t>帧结束符</a:t>
            </a:r>
          </a:p>
        </p:txBody>
      </p:sp>
      <p:sp>
        <p:nvSpPr>
          <p:cNvPr id="18476" name="Line 47"/>
          <p:cNvSpPr>
            <a:spLocks noChangeShapeType="1"/>
          </p:cNvSpPr>
          <p:nvPr/>
        </p:nvSpPr>
        <p:spPr bwMode="auto">
          <a:xfrm>
            <a:off x="7762875" y="2405063"/>
            <a:ext cx="0" cy="3048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77" name="AutoShape 48"/>
          <p:cNvSpPr>
            <a:spLocks noChangeArrowheads="1"/>
          </p:cNvSpPr>
          <p:nvPr/>
        </p:nvSpPr>
        <p:spPr bwMode="auto">
          <a:xfrm>
            <a:off x="1547813" y="3860800"/>
            <a:ext cx="225425" cy="431800"/>
          </a:xfrm>
          <a:prstGeom prst="downArrow">
            <a:avLst>
              <a:gd name="adj1" fmla="val 39435"/>
              <a:gd name="adj2" fmla="val 90143"/>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8" name="AutoShape 49"/>
          <p:cNvSpPr>
            <a:spLocks noChangeArrowheads="1"/>
          </p:cNvSpPr>
          <p:nvPr/>
        </p:nvSpPr>
        <p:spPr bwMode="auto">
          <a:xfrm>
            <a:off x="3338513" y="3860800"/>
            <a:ext cx="225425" cy="431800"/>
          </a:xfrm>
          <a:prstGeom prst="downArrow">
            <a:avLst>
              <a:gd name="adj1" fmla="val 39435"/>
              <a:gd name="adj2" fmla="val 90143"/>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9" name="AutoShape 50"/>
          <p:cNvSpPr>
            <a:spLocks noChangeArrowheads="1"/>
          </p:cNvSpPr>
          <p:nvPr/>
        </p:nvSpPr>
        <p:spPr bwMode="auto">
          <a:xfrm>
            <a:off x="5354638" y="3860800"/>
            <a:ext cx="225425" cy="431800"/>
          </a:xfrm>
          <a:prstGeom prst="downArrow">
            <a:avLst>
              <a:gd name="adj1" fmla="val 39435"/>
              <a:gd name="adj2" fmla="val 90143"/>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0" name="AutoShape 51"/>
          <p:cNvSpPr>
            <a:spLocks noChangeArrowheads="1"/>
          </p:cNvSpPr>
          <p:nvPr/>
        </p:nvSpPr>
        <p:spPr bwMode="auto">
          <a:xfrm>
            <a:off x="7092950" y="3860800"/>
            <a:ext cx="225425" cy="431800"/>
          </a:xfrm>
          <a:prstGeom prst="downArrow">
            <a:avLst>
              <a:gd name="adj1" fmla="val 39435"/>
              <a:gd name="adj2" fmla="val 90143"/>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1" name="Rectangle 55"/>
          <p:cNvSpPr>
            <a:spLocks noGrp="1" noChangeArrowheads="1"/>
          </p:cNvSpPr>
          <p:nvPr>
            <p:ph type="title"/>
          </p:nvPr>
        </p:nvSpPr>
        <p:spPr>
          <a:xfrm>
            <a:off x="1150938" y="214313"/>
            <a:ext cx="7308850" cy="1462087"/>
          </a:xfrm>
        </p:spPr>
        <p:txBody>
          <a:bodyPr/>
          <a:lstStyle/>
          <a:p>
            <a:pPr algn="ctr" eaLnBrk="1" hangingPunct="1"/>
            <a:r>
              <a:rPr lang="zh-CN" altLang="en-US" sz="3600" smtClean="0"/>
              <a:t>用字节填充法解决透明传输的问题 </a:t>
            </a:r>
          </a:p>
        </p:txBody>
      </p:sp>
      <p:sp>
        <p:nvSpPr>
          <p:cNvPr id="18482" name="Rectangle 13"/>
          <p:cNvSpPr>
            <a:spLocks noChangeArrowheads="1"/>
          </p:cNvSpPr>
          <p:nvPr/>
        </p:nvSpPr>
        <p:spPr bwMode="auto">
          <a:xfrm>
            <a:off x="3549650" y="2735263"/>
            <a:ext cx="457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Arial" pitchFamily="34" charset="0"/>
                <a:ea typeface="黑体" pitchFamily="49" charset="-122"/>
              </a:rPr>
              <a:t>SOH</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150938" y="214313"/>
            <a:ext cx="6229350" cy="1462087"/>
          </a:xfrm>
        </p:spPr>
        <p:txBody>
          <a:bodyPr/>
          <a:lstStyle/>
          <a:p>
            <a:pPr algn="ctr" eaLnBrk="1" hangingPunct="1"/>
            <a:r>
              <a:rPr lang="en-US" altLang="zh-CN" smtClean="0"/>
              <a:t>3.  </a:t>
            </a:r>
            <a:r>
              <a:rPr lang="zh-CN" altLang="en-US" smtClean="0"/>
              <a:t>差错检测</a:t>
            </a:r>
          </a:p>
        </p:txBody>
      </p:sp>
      <p:sp>
        <p:nvSpPr>
          <p:cNvPr id="19459" name="Rectangle 3"/>
          <p:cNvSpPr>
            <a:spLocks noGrp="1" noChangeArrowheads="1"/>
          </p:cNvSpPr>
          <p:nvPr>
            <p:ph type="body" idx="1"/>
          </p:nvPr>
        </p:nvSpPr>
        <p:spPr>
          <a:xfrm>
            <a:off x="1042988" y="1835150"/>
            <a:ext cx="7772400" cy="4114800"/>
          </a:xfrm>
        </p:spPr>
        <p:txBody>
          <a:bodyPr/>
          <a:lstStyle/>
          <a:p>
            <a:pPr eaLnBrk="1" hangingPunct="1"/>
            <a:r>
              <a:rPr lang="zh-CN" altLang="en-US" sz="2800" smtClean="0"/>
              <a:t>在传输过程中可能会产生</a:t>
            </a:r>
            <a:r>
              <a:rPr lang="zh-CN" altLang="en-US" sz="2800" smtClean="0">
                <a:solidFill>
                  <a:schemeClr val="hlink"/>
                </a:solidFill>
              </a:rPr>
              <a:t>比特差错</a:t>
            </a:r>
            <a:r>
              <a:rPr lang="zh-CN" altLang="en-US" sz="2800" smtClean="0"/>
              <a:t>：</a:t>
            </a:r>
            <a:r>
              <a:rPr lang="en-US" altLang="zh-CN" sz="2800" smtClean="0"/>
              <a:t>1 </a:t>
            </a:r>
            <a:r>
              <a:rPr lang="zh-CN" altLang="en-US" sz="2800" smtClean="0"/>
              <a:t>可能会变成 </a:t>
            </a:r>
            <a:r>
              <a:rPr lang="en-US" altLang="zh-CN" sz="2800" smtClean="0"/>
              <a:t>0 </a:t>
            </a:r>
            <a:r>
              <a:rPr lang="zh-CN" altLang="en-US" sz="2800" smtClean="0"/>
              <a:t>而 </a:t>
            </a:r>
            <a:r>
              <a:rPr lang="en-US" altLang="zh-CN" sz="2800" smtClean="0"/>
              <a:t>0 </a:t>
            </a:r>
            <a:r>
              <a:rPr lang="zh-CN" altLang="en-US" sz="2800" smtClean="0"/>
              <a:t>也可能变成 </a:t>
            </a:r>
            <a:r>
              <a:rPr lang="en-US" altLang="zh-CN" sz="2800" smtClean="0"/>
              <a:t>1</a:t>
            </a:r>
            <a:r>
              <a:rPr lang="zh-CN" altLang="en-US" sz="2800" smtClean="0"/>
              <a:t>。</a:t>
            </a:r>
          </a:p>
          <a:p>
            <a:pPr eaLnBrk="1" hangingPunct="1"/>
            <a:r>
              <a:rPr lang="zh-CN" altLang="en-US" sz="2800" smtClean="0"/>
              <a:t>在一段时间内，传输错误的比特占所传输比特总数的比率称为</a:t>
            </a:r>
            <a:r>
              <a:rPr lang="zh-CN" altLang="en-US" sz="2800" smtClean="0">
                <a:solidFill>
                  <a:schemeClr val="hlink"/>
                </a:solidFill>
              </a:rPr>
              <a:t>误码率</a:t>
            </a:r>
            <a:r>
              <a:rPr lang="zh-CN" altLang="en-US" sz="2800" smtClean="0"/>
              <a:t> </a:t>
            </a:r>
            <a:r>
              <a:rPr lang="en-US" altLang="zh-CN" sz="2800" smtClean="0"/>
              <a:t>BER (Bit Error Rate)</a:t>
            </a:r>
            <a:r>
              <a:rPr lang="zh-CN" altLang="en-US" sz="2800" smtClean="0"/>
              <a:t>。</a:t>
            </a:r>
          </a:p>
          <a:p>
            <a:pPr eaLnBrk="1" hangingPunct="1"/>
            <a:r>
              <a:rPr lang="zh-CN" altLang="en-US" sz="2800" smtClean="0"/>
              <a:t>误码率与信噪比有很大的关系。</a:t>
            </a:r>
          </a:p>
          <a:p>
            <a:pPr eaLnBrk="1" hangingPunct="1"/>
            <a:r>
              <a:rPr lang="zh-CN" altLang="en-US" sz="2800" smtClean="0"/>
              <a:t>为了保证数据传输的可靠性，在计算机网络传输数据时，必须采用各种差错检测措施。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ctr" eaLnBrk="1" hangingPunct="1"/>
            <a:r>
              <a:rPr lang="zh-CN" altLang="en-US" smtClean="0"/>
              <a:t>循环冗余检验的原理 </a:t>
            </a:r>
          </a:p>
        </p:txBody>
      </p:sp>
      <p:sp>
        <p:nvSpPr>
          <p:cNvPr id="144387" name="Rectangle 3"/>
          <p:cNvSpPr>
            <a:spLocks noGrp="1" noChangeArrowheads="1"/>
          </p:cNvSpPr>
          <p:nvPr>
            <p:ph type="body" idx="1"/>
          </p:nvPr>
        </p:nvSpPr>
        <p:spPr>
          <a:xfrm>
            <a:off x="755650" y="1835150"/>
            <a:ext cx="8221663" cy="4114800"/>
          </a:xfrm>
        </p:spPr>
        <p:txBody>
          <a:bodyPr/>
          <a:lstStyle/>
          <a:p>
            <a:pPr eaLnBrk="1" hangingPunct="1"/>
            <a:r>
              <a:rPr lang="zh-CN" altLang="en-US" smtClean="0"/>
              <a:t>在数据链路层传送的帧中，广泛使用了</a:t>
            </a:r>
            <a:r>
              <a:rPr lang="zh-CN" altLang="en-US" smtClean="0">
                <a:solidFill>
                  <a:schemeClr val="hlink"/>
                </a:solidFill>
              </a:rPr>
              <a:t>循环冗余检验 </a:t>
            </a:r>
            <a:r>
              <a:rPr lang="en-US" altLang="zh-CN" smtClean="0"/>
              <a:t>CRC </a:t>
            </a:r>
            <a:r>
              <a:rPr lang="zh-CN" altLang="en-US" smtClean="0"/>
              <a:t>的检错技术。</a:t>
            </a:r>
          </a:p>
          <a:p>
            <a:pPr eaLnBrk="1" hangingPunct="1"/>
            <a:r>
              <a:rPr lang="zh-CN" altLang="en-US" smtClean="0"/>
              <a:t>在发送端，先把数据划分为组。假定每组 </a:t>
            </a:r>
            <a:r>
              <a:rPr lang="en-US" altLang="zh-CN" i="1" smtClean="0"/>
              <a:t>k </a:t>
            </a:r>
            <a:r>
              <a:rPr lang="zh-CN" altLang="en-US" smtClean="0"/>
              <a:t>个比特。 </a:t>
            </a:r>
          </a:p>
          <a:p>
            <a:pPr eaLnBrk="1" hangingPunct="1"/>
            <a:r>
              <a:rPr lang="zh-CN" altLang="en-US" smtClean="0"/>
              <a:t>假设待传送的一组数据 </a:t>
            </a:r>
            <a:r>
              <a:rPr lang="en-US" altLang="zh-CN" i="1" smtClean="0"/>
              <a:t>M</a:t>
            </a:r>
            <a:r>
              <a:rPr lang="en-US" altLang="zh-CN" smtClean="0"/>
              <a:t> = 101001</a:t>
            </a:r>
            <a:r>
              <a:rPr lang="zh-CN" altLang="en-US" smtClean="0"/>
              <a:t>（现在 </a:t>
            </a:r>
            <a:r>
              <a:rPr lang="en-US" altLang="zh-CN" i="1" smtClean="0"/>
              <a:t>k</a:t>
            </a:r>
            <a:r>
              <a:rPr lang="en-US" altLang="zh-CN" smtClean="0"/>
              <a:t> = 6</a:t>
            </a:r>
            <a:r>
              <a:rPr lang="zh-CN" altLang="en-US" smtClean="0"/>
              <a:t>）。我们在 </a:t>
            </a:r>
            <a:r>
              <a:rPr lang="en-US" altLang="zh-CN" i="1" smtClean="0"/>
              <a:t>M </a:t>
            </a:r>
            <a:r>
              <a:rPr lang="zh-CN" altLang="en-US" smtClean="0"/>
              <a:t>的后面再添加供差错检测用的 </a:t>
            </a:r>
            <a:r>
              <a:rPr lang="en-US" altLang="zh-CN" i="1" smtClean="0"/>
              <a:t>n</a:t>
            </a:r>
            <a:r>
              <a:rPr lang="en-US" altLang="zh-CN" smtClean="0"/>
              <a:t> </a:t>
            </a:r>
            <a:r>
              <a:rPr lang="zh-CN" altLang="en-US" smtClean="0"/>
              <a:t>位</a:t>
            </a:r>
            <a:r>
              <a:rPr lang="zh-CN" altLang="en-US" smtClean="0">
                <a:solidFill>
                  <a:schemeClr val="hlink"/>
                </a:solidFill>
              </a:rPr>
              <a:t>冗余码</a:t>
            </a:r>
            <a:r>
              <a:rPr lang="zh-CN" altLang="en-US" smtClean="0"/>
              <a:t>一起发送。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3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ctr" eaLnBrk="1" hangingPunct="1"/>
            <a:r>
              <a:rPr lang="zh-CN" altLang="en-US" smtClean="0"/>
              <a:t>冗余码的计算 </a:t>
            </a:r>
          </a:p>
        </p:txBody>
      </p:sp>
      <p:sp>
        <p:nvSpPr>
          <p:cNvPr id="146435" name="Rectangle 3"/>
          <p:cNvSpPr>
            <a:spLocks noGrp="1" noChangeArrowheads="1"/>
          </p:cNvSpPr>
          <p:nvPr>
            <p:ph type="body" idx="1"/>
          </p:nvPr>
        </p:nvSpPr>
        <p:spPr>
          <a:xfrm>
            <a:off x="900113" y="1773238"/>
            <a:ext cx="7993062" cy="4464050"/>
          </a:xfrm>
        </p:spPr>
        <p:txBody>
          <a:bodyPr/>
          <a:lstStyle/>
          <a:p>
            <a:pPr eaLnBrk="1" hangingPunct="1"/>
            <a:r>
              <a:rPr lang="zh-CN" altLang="en-US" sz="1800" smtClean="0"/>
              <a:t>用二进制的模 </a:t>
            </a:r>
            <a:r>
              <a:rPr lang="en-US" altLang="zh-CN" sz="1800" smtClean="0"/>
              <a:t>2 </a:t>
            </a:r>
            <a:r>
              <a:rPr lang="zh-CN" altLang="en-US" sz="1800" smtClean="0"/>
              <a:t>运算进行 </a:t>
            </a:r>
            <a:r>
              <a:rPr lang="en-US" altLang="zh-CN" sz="1800" smtClean="0"/>
              <a:t>2</a:t>
            </a:r>
            <a:r>
              <a:rPr lang="en-US" altLang="zh-CN" sz="1800" i="1" baseline="30000" smtClean="0"/>
              <a:t>n </a:t>
            </a:r>
            <a:r>
              <a:rPr lang="zh-CN" altLang="en-US" sz="1800" smtClean="0"/>
              <a:t>乘 </a:t>
            </a:r>
            <a:r>
              <a:rPr lang="en-US" altLang="zh-CN" sz="1800" i="1" smtClean="0"/>
              <a:t>M </a:t>
            </a:r>
            <a:r>
              <a:rPr lang="zh-CN" altLang="en-US" sz="1800" smtClean="0"/>
              <a:t>的运算，这相当于在 </a:t>
            </a:r>
            <a:r>
              <a:rPr lang="en-US" altLang="zh-CN" sz="1800" i="1" smtClean="0"/>
              <a:t>M </a:t>
            </a:r>
            <a:r>
              <a:rPr lang="zh-CN" altLang="en-US" sz="1800" smtClean="0"/>
              <a:t>后面添加 </a:t>
            </a:r>
            <a:r>
              <a:rPr lang="en-US" altLang="zh-CN" sz="1800" i="1" smtClean="0"/>
              <a:t>n </a:t>
            </a:r>
            <a:r>
              <a:rPr lang="zh-CN" altLang="en-US" sz="1800" smtClean="0"/>
              <a:t>个 </a:t>
            </a:r>
            <a:r>
              <a:rPr lang="en-US" altLang="zh-CN" sz="1800" smtClean="0"/>
              <a:t>0</a:t>
            </a:r>
            <a:r>
              <a:rPr lang="zh-CN" altLang="en-US" sz="1800" smtClean="0"/>
              <a:t>。</a:t>
            </a:r>
          </a:p>
          <a:p>
            <a:pPr eaLnBrk="1" hangingPunct="1"/>
            <a:r>
              <a:rPr lang="zh-CN" altLang="en-US" sz="1800" smtClean="0"/>
              <a:t>得到的 </a:t>
            </a:r>
            <a:r>
              <a:rPr lang="en-US" altLang="zh-CN" sz="1800" smtClean="0"/>
              <a:t>(</a:t>
            </a:r>
            <a:r>
              <a:rPr lang="en-US" altLang="zh-CN" sz="1800" i="1" smtClean="0"/>
              <a:t>k</a:t>
            </a:r>
            <a:r>
              <a:rPr lang="en-US" altLang="zh-CN" sz="1800" smtClean="0"/>
              <a:t> + </a:t>
            </a:r>
            <a:r>
              <a:rPr lang="en-US" altLang="zh-CN" sz="1800" i="1" smtClean="0"/>
              <a:t>n</a:t>
            </a:r>
            <a:r>
              <a:rPr lang="en-US" altLang="zh-CN" sz="1800" smtClean="0"/>
              <a:t>) </a:t>
            </a:r>
            <a:r>
              <a:rPr lang="zh-CN" altLang="en-US" sz="1800" smtClean="0"/>
              <a:t>位的数除以事先选定好的长度为 </a:t>
            </a:r>
            <a:r>
              <a:rPr lang="en-US" altLang="zh-CN" sz="1800" smtClean="0"/>
              <a:t>(</a:t>
            </a:r>
            <a:r>
              <a:rPr lang="en-US" altLang="zh-CN" sz="1800" i="1" smtClean="0"/>
              <a:t>n</a:t>
            </a:r>
            <a:r>
              <a:rPr lang="en-US" altLang="zh-CN" sz="1800" smtClean="0"/>
              <a:t> + 1) </a:t>
            </a:r>
            <a:r>
              <a:rPr lang="zh-CN" altLang="en-US" sz="1800" smtClean="0"/>
              <a:t>位的</a:t>
            </a:r>
            <a:r>
              <a:rPr lang="zh-CN" altLang="en-US" sz="1800" smtClean="0">
                <a:solidFill>
                  <a:schemeClr val="hlink"/>
                </a:solidFill>
              </a:rPr>
              <a:t>除数</a:t>
            </a:r>
            <a:r>
              <a:rPr lang="zh-CN" altLang="en-US" sz="1800" smtClean="0"/>
              <a:t> </a:t>
            </a:r>
            <a:r>
              <a:rPr lang="en-US" altLang="zh-CN" sz="1800" i="1" smtClean="0"/>
              <a:t>P</a:t>
            </a:r>
            <a:r>
              <a:rPr lang="zh-CN" altLang="en-US" sz="1800" smtClean="0"/>
              <a:t>，得出</a:t>
            </a:r>
            <a:r>
              <a:rPr lang="zh-CN" altLang="en-US" sz="1800" smtClean="0">
                <a:solidFill>
                  <a:schemeClr val="hlink"/>
                </a:solidFill>
              </a:rPr>
              <a:t>商</a:t>
            </a:r>
            <a:r>
              <a:rPr lang="zh-CN" altLang="en-US" sz="1800" smtClean="0"/>
              <a:t>是 </a:t>
            </a:r>
            <a:r>
              <a:rPr lang="en-US" altLang="zh-CN" sz="1800" i="1" smtClean="0"/>
              <a:t>Q </a:t>
            </a:r>
            <a:r>
              <a:rPr lang="zh-CN" altLang="en-US" sz="1800" smtClean="0"/>
              <a:t>而</a:t>
            </a:r>
            <a:r>
              <a:rPr lang="zh-CN" altLang="en-US" sz="1800" smtClean="0">
                <a:solidFill>
                  <a:schemeClr val="hlink"/>
                </a:solidFill>
              </a:rPr>
              <a:t>余数</a:t>
            </a:r>
            <a:r>
              <a:rPr lang="zh-CN" altLang="en-US" sz="1800" smtClean="0"/>
              <a:t>是 </a:t>
            </a:r>
            <a:r>
              <a:rPr lang="en-US" altLang="zh-CN" sz="1800" i="1" smtClean="0"/>
              <a:t>R</a:t>
            </a:r>
            <a:r>
              <a:rPr lang="zh-CN" altLang="en-US" sz="1800" smtClean="0"/>
              <a:t>，余数 </a:t>
            </a:r>
            <a:r>
              <a:rPr lang="en-US" altLang="zh-CN" sz="1800" i="1" smtClean="0"/>
              <a:t>R </a:t>
            </a:r>
            <a:r>
              <a:rPr lang="zh-CN" altLang="en-US" sz="1800" smtClean="0"/>
              <a:t>比除数 </a:t>
            </a:r>
            <a:r>
              <a:rPr lang="en-US" altLang="zh-CN" sz="1800" i="1" smtClean="0"/>
              <a:t>P </a:t>
            </a:r>
            <a:r>
              <a:rPr lang="zh-CN" altLang="en-US" sz="1800" smtClean="0"/>
              <a:t>少</a:t>
            </a:r>
            <a:r>
              <a:rPr lang="en-US" altLang="zh-CN" sz="1800" smtClean="0"/>
              <a:t>1 </a:t>
            </a:r>
            <a:r>
              <a:rPr lang="zh-CN" altLang="en-US" sz="1800" smtClean="0"/>
              <a:t>位，即 </a:t>
            </a:r>
            <a:r>
              <a:rPr lang="en-US" altLang="zh-CN" sz="1800" i="1" smtClean="0"/>
              <a:t>R </a:t>
            </a:r>
            <a:r>
              <a:rPr lang="zh-CN" altLang="en-US" sz="1800" smtClean="0"/>
              <a:t>是 </a:t>
            </a:r>
            <a:r>
              <a:rPr lang="en-US" altLang="zh-CN" sz="1800" i="1" smtClean="0"/>
              <a:t>n</a:t>
            </a:r>
            <a:r>
              <a:rPr lang="en-US" altLang="zh-CN" sz="1800" smtClean="0"/>
              <a:t> </a:t>
            </a:r>
            <a:r>
              <a:rPr lang="zh-CN" altLang="en-US" sz="1800" smtClean="0"/>
              <a:t>位。 </a:t>
            </a:r>
          </a:p>
          <a:p>
            <a:pPr eaLnBrk="1" hangingPunct="1"/>
            <a:r>
              <a:rPr lang="en-US" altLang="zh-CN" sz="1800" smtClean="0"/>
              <a:t>(</a:t>
            </a:r>
            <a:r>
              <a:rPr lang="en-US" altLang="zh-CN" sz="1800" b="1" smtClean="0"/>
              <a:t>1)</a:t>
            </a:r>
            <a:r>
              <a:rPr lang="en-US" altLang="zh-CN" sz="1800" smtClean="0"/>
              <a:t>2</a:t>
            </a:r>
            <a:r>
              <a:rPr lang="en-US" altLang="zh-CN" sz="1800" i="1" baseline="30000" smtClean="0"/>
              <a:t>n </a:t>
            </a:r>
            <a:r>
              <a:rPr lang="zh-CN" altLang="en-US" sz="1800" smtClean="0"/>
              <a:t>乘 </a:t>
            </a:r>
            <a:r>
              <a:rPr lang="en-US" altLang="zh-CN" sz="1800" i="1" smtClean="0"/>
              <a:t>M  </a:t>
            </a:r>
          </a:p>
          <a:p>
            <a:pPr eaLnBrk="1" hangingPunct="1"/>
            <a:r>
              <a:rPr lang="en-US" altLang="zh-CN" sz="1800" b="1" i="1" smtClean="0"/>
              <a:t>(2)</a:t>
            </a:r>
            <a:r>
              <a:rPr lang="zh-CN" altLang="en-US" sz="1800" smtClean="0">
                <a:solidFill>
                  <a:schemeClr val="hlink"/>
                </a:solidFill>
              </a:rPr>
              <a:t>除以</a:t>
            </a:r>
            <a:r>
              <a:rPr lang="en-US" altLang="zh-CN" sz="1800" i="1" smtClean="0"/>
              <a:t>P  =</a:t>
            </a:r>
            <a:r>
              <a:rPr lang="en-US" altLang="zh-CN" sz="1800" smtClean="0"/>
              <a:t>(</a:t>
            </a:r>
            <a:r>
              <a:rPr lang="en-US" altLang="zh-CN" sz="1800" i="1" smtClean="0"/>
              <a:t>n</a:t>
            </a:r>
            <a:r>
              <a:rPr lang="en-US" altLang="zh-CN" sz="1800" smtClean="0"/>
              <a:t> + 1) </a:t>
            </a:r>
            <a:r>
              <a:rPr lang="zh-CN" altLang="en-US" sz="1800" smtClean="0"/>
              <a:t>位</a:t>
            </a:r>
            <a:endParaRPr lang="zh-CN" altLang="en-US" sz="1800" i="1" smtClean="0"/>
          </a:p>
          <a:p>
            <a:pPr eaLnBrk="1" hangingPunct="1"/>
            <a:r>
              <a:rPr lang="en-US" altLang="zh-CN" sz="1800" smtClean="0"/>
              <a:t>(3)</a:t>
            </a:r>
            <a:r>
              <a:rPr lang="zh-CN" altLang="en-US" sz="1800" smtClean="0"/>
              <a:t>得到</a:t>
            </a:r>
            <a:r>
              <a:rPr lang="zh-CN" altLang="en-US" sz="1800" smtClean="0">
                <a:solidFill>
                  <a:schemeClr val="hlink"/>
                </a:solidFill>
              </a:rPr>
              <a:t>余数</a:t>
            </a:r>
            <a:r>
              <a:rPr lang="en-US" altLang="zh-CN" sz="1800" i="1" smtClean="0"/>
              <a:t>R=FCS</a:t>
            </a:r>
          </a:p>
          <a:p>
            <a:pPr eaLnBrk="1" hangingPunct="1"/>
            <a:endParaRPr lang="en-US" altLang="zh-CN" sz="1800" i="1" smtClean="0"/>
          </a:p>
          <a:p>
            <a:pPr eaLnBrk="1" hangingPunct="1"/>
            <a:r>
              <a:rPr lang="en-US" altLang="zh-CN" sz="1800" smtClean="0"/>
              <a:t>2</a:t>
            </a:r>
            <a:r>
              <a:rPr lang="en-US" altLang="zh-CN" sz="1800" i="1" baseline="30000" smtClean="0"/>
              <a:t>n</a:t>
            </a:r>
            <a:r>
              <a:rPr lang="en-US" altLang="zh-CN" sz="1800" i="1" smtClean="0"/>
              <a:t> *M/P=Q</a:t>
            </a:r>
            <a:r>
              <a:rPr lang="zh-CN" altLang="en-US" sz="1800" i="1" smtClean="0"/>
              <a:t>余数</a:t>
            </a:r>
            <a:r>
              <a:rPr lang="en-US" altLang="zh-CN" sz="1800" i="1" smtClean="0"/>
              <a:t>R---------</a:t>
            </a:r>
            <a:r>
              <a:rPr lang="en-US" altLang="zh-CN" sz="1800" i="1" smtClean="0">
                <a:sym typeface="Wingdings" pitchFamily="2" charset="2"/>
              </a:rPr>
              <a:t>P*Q+R=</a:t>
            </a:r>
            <a:r>
              <a:rPr lang="en-US" altLang="zh-CN" sz="1800" smtClean="0"/>
              <a:t>2</a:t>
            </a:r>
            <a:r>
              <a:rPr lang="en-US" altLang="zh-CN" sz="1800" i="1" baseline="30000" smtClean="0"/>
              <a:t>n *</a:t>
            </a:r>
            <a:r>
              <a:rPr lang="en-US" altLang="zh-CN" sz="1800" i="1" smtClean="0"/>
              <a:t> M</a:t>
            </a:r>
          </a:p>
          <a:p>
            <a:pPr eaLnBrk="1" hangingPunct="1"/>
            <a:r>
              <a:rPr lang="zh-CN" altLang="en-US" sz="1800" i="1" smtClean="0"/>
              <a:t>发送时为 </a:t>
            </a:r>
            <a:r>
              <a:rPr lang="en-US" altLang="zh-CN" sz="1800" smtClean="0"/>
              <a:t>2</a:t>
            </a:r>
            <a:r>
              <a:rPr lang="en-US" altLang="zh-CN" sz="1800" i="1" baseline="30000" smtClean="0"/>
              <a:t>n *</a:t>
            </a:r>
            <a:r>
              <a:rPr lang="en-US" altLang="zh-CN" sz="1800" i="1" smtClean="0"/>
              <a:t> M+R ,</a:t>
            </a:r>
            <a:r>
              <a:rPr lang="zh-CN" altLang="en-US" sz="1800" i="1" smtClean="0"/>
              <a:t>假设接收到无差错则亦为</a:t>
            </a:r>
            <a:r>
              <a:rPr lang="en-US" altLang="zh-CN" sz="1800" smtClean="0"/>
              <a:t>2</a:t>
            </a:r>
            <a:r>
              <a:rPr lang="en-US" altLang="zh-CN" sz="1800" i="1" baseline="30000" smtClean="0"/>
              <a:t>n *</a:t>
            </a:r>
            <a:r>
              <a:rPr lang="en-US" altLang="zh-CN" sz="1800" i="1" smtClean="0"/>
              <a:t> M+R </a:t>
            </a:r>
          </a:p>
          <a:p>
            <a:pPr eaLnBrk="1" hangingPunct="1"/>
            <a:r>
              <a:rPr lang="zh-CN" altLang="en-US" sz="1800" i="1" smtClean="0"/>
              <a:t>将接收到的</a:t>
            </a:r>
            <a:r>
              <a:rPr lang="en-US" altLang="zh-CN" sz="1800" smtClean="0"/>
              <a:t>2</a:t>
            </a:r>
            <a:r>
              <a:rPr lang="en-US" altLang="zh-CN" sz="1800" i="1" baseline="30000" smtClean="0"/>
              <a:t>n *</a:t>
            </a:r>
            <a:r>
              <a:rPr lang="en-US" altLang="zh-CN" sz="1800" i="1" smtClean="0"/>
              <a:t> M+R </a:t>
            </a:r>
            <a:r>
              <a:rPr lang="zh-CN" altLang="en-US" sz="1800" i="1" smtClean="0"/>
              <a:t>除以</a:t>
            </a:r>
            <a:r>
              <a:rPr lang="en-US" altLang="zh-CN" sz="1800" i="1" smtClean="0"/>
              <a:t>P, </a:t>
            </a:r>
            <a:r>
              <a:rPr lang="zh-CN" altLang="en-US" sz="1800" i="1" smtClean="0"/>
              <a:t>则</a:t>
            </a:r>
            <a:r>
              <a:rPr lang="en-US" altLang="zh-CN" sz="1800" smtClean="0"/>
              <a:t>2</a:t>
            </a:r>
            <a:r>
              <a:rPr lang="en-US" altLang="zh-CN" sz="1800" i="1" baseline="30000" smtClean="0"/>
              <a:t>n *</a:t>
            </a:r>
            <a:r>
              <a:rPr lang="en-US" altLang="zh-CN" sz="1800" i="1" smtClean="0"/>
              <a:t> M+R</a:t>
            </a:r>
            <a:r>
              <a:rPr lang="en-US" altLang="zh-CN" sz="1800" i="1" smtClean="0">
                <a:sym typeface="Wingdings" pitchFamily="2" charset="2"/>
              </a:rPr>
              <a:t> = P*Q+R+R</a:t>
            </a:r>
            <a:r>
              <a:rPr lang="en-US" altLang="zh-CN" sz="1800" i="1" smtClean="0"/>
              <a:t> ,</a:t>
            </a:r>
            <a:r>
              <a:rPr lang="en-US" altLang="zh-CN" sz="1800" smtClean="0"/>
              <a:t> </a:t>
            </a:r>
            <a:r>
              <a:rPr lang="zh-CN" altLang="en-US" sz="1800" smtClean="0"/>
              <a:t>模</a:t>
            </a:r>
            <a:r>
              <a:rPr lang="en-US" altLang="zh-CN" sz="1800" smtClean="0"/>
              <a:t>2</a:t>
            </a:r>
            <a:r>
              <a:rPr lang="zh-CN" altLang="en-US" sz="1800" smtClean="0"/>
              <a:t>加法的运算规则即是异或运算</a:t>
            </a:r>
          </a:p>
          <a:p>
            <a:pPr eaLnBrk="1" hangingPunct="1"/>
            <a:r>
              <a:rPr lang="en-US" altLang="zh-CN" sz="1800" smtClean="0"/>
              <a:t>--</a:t>
            </a:r>
            <a:r>
              <a:rPr lang="en-US" altLang="zh-CN" sz="1800" smtClean="0">
                <a:sym typeface="Wingdings" pitchFamily="2" charset="2"/>
              </a:rPr>
              <a:t></a:t>
            </a:r>
            <a:r>
              <a:rPr lang="zh-CN" altLang="en-US" sz="1800" smtClean="0">
                <a:sym typeface="Wingdings" pitchFamily="2" charset="2"/>
              </a:rPr>
              <a:t>得到商为</a:t>
            </a:r>
            <a:r>
              <a:rPr lang="en-US" altLang="zh-CN" sz="1800" smtClean="0">
                <a:sym typeface="Wingdings" pitchFamily="2" charset="2"/>
              </a:rPr>
              <a:t>P,</a:t>
            </a:r>
            <a:r>
              <a:rPr lang="zh-CN" altLang="en-US" sz="1800" smtClean="0">
                <a:sym typeface="Wingdings" pitchFamily="2" charset="2"/>
              </a:rPr>
              <a:t>余数为</a:t>
            </a:r>
            <a:r>
              <a:rPr lang="en-US" altLang="zh-CN" sz="1800" smtClean="0">
                <a:sym typeface="Wingdings" pitchFamily="2" charset="2"/>
              </a:rPr>
              <a:t>0</a:t>
            </a:r>
            <a:r>
              <a:rPr lang="zh-CN" altLang="en-US" sz="1800" smtClean="0">
                <a:sym typeface="Wingdings" pitchFamily="2" charset="2"/>
              </a:rPr>
              <a:t>，无差错。不为</a:t>
            </a:r>
            <a:r>
              <a:rPr lang="en-US" altLang="zh-CN" sz="1800" smtClean="0">
                <a:sym typeface="Wingdings" pitchFamily="2" charset="2"/>
              </a:rPr>
              <a:t>0</a:t>
            </a:r>
            <a:r>
              <a:rPr lang="zh-CN" altLang="en-US" sz="1800" smtClean="0">
                <a:sym typeface="Wingdings" pitchFamily="2" charset="2"/>
              </a:rPr>
              <a:t>，有差错。</a:t>
            </a:r>
            <a:endParaRPr lang="zh-CN" altLang="en-US" sz="1800" smtClean="0"/>
          </a:p>
          <a:p>
            <a:pPr eaLnBrk="1" hangingPunct="1"/>
            <a:endParaRPr lang="zh-CN" altLang="en-US" sz="1800" i="1" smtClean="0"/>
          </a:p>
          <a:p>
            <a:pPr eaLnBrk="1" hangingPunct="1"/>
            <a:endParaRPr lang="en-US" altLang="zh-CN" sz="1400" i="1"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6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64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64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64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6435">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6435">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6435">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64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lgn="ctr" eaLnBrk="1" hangingPunct="1"/>
            <a:r>
              <a:rPr lang="zh-CN" altLang="en-US" smtClean="0"/>
              <a:t>冗余码的计算举例 </a:t>
            </a:r>
          </a:p>
        </p:txBody>
      </p:sp>
      <p:sp>
        <p:nvSpPr>
          <p:cNvPr id="145411" name="Rectangle 3"/>
          <p:cNvSpPr>
            <a:spLocks noGrp="1" noChangeArrowheads="1"/>
          </p:cNvSpPr>
          <p:nvPr>
            <p:ph type="body" idx="1"/>
          </p:nvPr>
        </p:nvSpPr>
        <p:spPr/>
        <p:txBody>
          <a:bodyPr/>
          <a:lstStyle/>
          <a:p>
            <a:pPr eaLnBrk="1" hangingPunct="1"/>
            <a:r>
              <a:rPr lang="zh-CN" altLang="en-US" sz="2800" smtClean="0"/>
              <a:t>现在</a:t>
            </a:r>
            <a:r>
              <a:rPr lang="zh-CN" altLang="en-US" sz="2800" i="1" smtClean="0"/>
              <a:t> </a:t>
            </a:r>
            <a:r>
              <a:rPr lang="en-US" altLang="zh-CN" sz="2800" i="1" smtClean="0"/>
              <a:t>k</a:t>
            </a:r>
            <a:r>
              <a:rPr lang="en-US" altLang="zh-CN" sz="2800" smtClean="0"/>
              <a:t> = 6, </a:t>
            </a:r>
            <a:r>
              <a:rPr lang="en-US" altLang="zh-CN" sz="2800" i="1" smtClean="0"/>
              <a:t>M</a:t>
            </a:r>
            <a:r>
              <a:rPr lang="en-US" altLang="zh-CN" sz="2800" smtClean="0"/>
              <a:t> = 101001</a:t>
            </a:r>
            <a:r>
              <a:rPr lang="zh-CN" altLang="en-US" sz="2800" smtClean="0"/>
              <a:t>。</a:t>
            </a:r>
          </a:p>
          <a:p>
            <a:pPr eaLnBrk="1" hangingPunct="1"/>
            <a:r>
              <a:rPr lang="zh-CN" altLang="en-US" sz="2800" smtClean="0"/>
              <a:t>设</a:t>
            </a:r>
            <a:r>
              <a:rPr lang="zh-CN" altLang="en-US" sz="2800" i="1" smtClean="0"/>
              <a:t> </a:t>
            </a:r>
            <a:r>
              <a:rPr lang="en-US" altLang="zh-CN" sz="2800" i="1" smtClean="0"/>
              <a:t>n</a:t>
            </a:r>
            <a:r>
              <a:rPr lang="en-US" altLang="zh-CN" sz="2800" smtClean="0"/>
              <a:t> = 3, </a:t>
            </a:r>
            <a:r>
              <a:rPr lang="zh-CN" altLang="en-US" sz="2800" smtClean="0">
                <a:solidFill>
                  <a:schemeClr val="hlink"/>
                </a:solidFill>
              </a:rPr>
              <a:t>除数</a:t>
            </a:r>
            <a:r>
              <a:rPr lang="zh-CN" altLang="en-US" sz="2800" smtClean="0"/>
              <a:t> </a:t>
            </a:r>
            <a:r>
              <a:rPr lang="en-US" altLang="zh-CN" sz="2800" i="1" smtClean="0"/>
              <a:t>P</a:t>
            </a:r>
            <a:r>
              <a:rPr lang="en-US" altLang="zh-CN" sz="2800" smtClean="0"/>
              <a:t> = 1101</a:t>
            </a:r>
            <a:r>
              <a:rPr lang="zh-CN" altLang="en-US" sz="2800" smtClean="0"/>
              <a:t>，</a:t>
            </a:r>
          </a:p>
          <a:p>
            <a:pPr eaLnBrk="1" hangingPunct="1"/>
            <a:r>
              <a:rPr lang="zh-CN" altLang="en-US" sz="2800" smtClean="0"/>
              <a:t>被除数是 </a:t>
            </a:r>
            <a:r>
              <a:rPr lang="en-US" altLang="zh-CN" sz="2800" smtClean="0"/>
              <a:t>2</a:t>
            </a:r>
            <a:r>
              <a:rPr lang="en-US" altLang="zh-CN" sz="2800" i="1" baseline="30000" smtClean="0"/>
              <a:t>n</a:t>
            </a:r>
            <a:r>
              <a:rPr lang="en-US" altLang="zh-CN" sz="2800" i="1" smtClean="0"/>
              <a:t>M</a:t>
            </a:r>
            <a:r>
              <a:rPr lang="en-US" altLang="zh-CN" sz="2800" smtClean="0"/>
              <a:t> = 101001000</a:t>
            </a:r>
            <a:r>
              <a:rPr lang="zh-CN" altLang="en-US" sz="2800" smtClean="0"/>
              <a:t>。 </a:t>
            </a:r>
          </a:p>
          <a:p>
            <a:pPr eaLnBrk="1" hangingPunct="1"/>
            <a:r>
              <a:rPr lang="zh-CN" altLang="en-US" sz="2800" smtClean="0"/>
              <a:t>模 </a:t>
            </a:r>
            <a:r>
              <a:rPr lang="en-US" altLang="zh-CN" sz="2800" smtClean="0"/>
              <a:t>2 </a:t>
            </a:r>
            <a:r>
              <a:rPr lang="zh-CN" altLang="en-US" sz="2800" smtClean="0"/>
              <a:t>运算的结果是：</a:t>
            </a:r>
            <a:r>
              <a:rPr lang="zh-CN" altLang="en-US" sz="2800" smtClean="0">
                <a:solidFill>
                  <a:schemeClr val="hlink"/>
                </a:solidFill>
              </a:rPr>
              <a:t>商</a:t>
            </a:r>
            <a:r>
              <a:rPr lang="zh-CN" altLang="en-US" sz="2800" smtClean="0"/>
              <a:t> </a:t>
            </a:r>
            <a:r>
              <a:rPr lang="en-US" altLang="zh-CN" sz="2800" i="1" smtClean="0"/>
              <a:t>Q</a:t>
            </a:r>
            <a:r>
              <a:rPr lang="en-US" altLang="zh-CN" sz="2800" smtClean="0"/>
              <a:t> = 110101</a:t>
            </a:r>
            <a:r>
              <a:rPr lang="zh-CN" altLang="en-US" sz="2800" smtClean="0"/>
              <a:t>，</a:t>
            </a:r>
          </a:p>
          <a:p>
            <a:pPr eaLnBrk="1" hangingPunct="1">
              <a:buFont typeface="Wingdings" pitchFamily="2" charset="2"/>
              <a:buNone/>
            </a:pPr>
            <a:r>
              <a:rPr lang="zh-CN" altLang="en-US" sz="2800" smtClean="0"/>
              <a:t>           </a:t>
            </a:r>
            <a:r>
              <a:rPr lang="zh-CN" altLang="en-US" sz="2800" smtClean="0">
                <a:solidFill>
                  <a:schemeClr val="hlink"/>
                </a:solidFill>
              </a:rPr>
              <a:t>余数</a:t>
            </a:r>
            <a:r>
              <a:rPr lang="zh-CN" altLang="en-US" sz="2800" smtClean="0"/>
              <a:t> </a:t>
            </a:r>
            <a:r>
              <a:rPr lang="en-US" altLang="zh-CN" sz="2800" i="1" smtClean="0"/>
              <a:t>R</a:t>
            </a:r>
            <a:r>
              <a:rPr lang="en-US" altLang="zh-CN" sz="2800" smtClean="0"/>
              <a:t> = 001</a:t>
            </a:r>
            <a:r>
              <a:rPr lang="zh-CN" altLang="en-US" sz="2800" smtClean="0"/>
              <a:t>。</a:t>
            </a:r>
          </a:p>
          <a:p>
            <a:pPr eaLnBrk="1" hangingPunct="1"/>
            <a:r>
              <a:rPr lang="zh-CN" altLang="en-US" sz="2800" smtClean="0"/>
              <a:t>把余数 </a:t>
            </a:r>
            <a:r>
              <a:rPr lang="en-US" altLang="zh-CN" sz="2800" i="1" smtClean="0"/>
              <a:t>R </a:t>
            </a:r>
            <a:r>
              <a:rPr lang="zh-CN" altLang="en-US" sz="2800" smtClean="0"/>
              <a:t>作为</a:t>
            </a:r>
            <a:r>
              <a:rPr lang="zh-CN" altLang="en-US" sz="2800" smtClean="0">
                <a:solidFill>
                  <a:schemeClr val="hlink"/>
                </a:solidFill>
              </a:rPr>
              <a:t>冗余码</a:t>
            </a:r>
            <a:r>
              <a:rPr lang="zh-CN" altLang="en-US" sz="2800" smtClean="0"/>
              <a:t>添加在数据 </a:t>
            </a:r>
            <a:r>
              <a:rPr lang="en-US" altLang="zh-CN" sz="2800" i="1" smtClean="0"/>
              <a:t>M </a:t>
            </a:r>
            <a:r>
              <a:rPr lang="zh-CN" altLang="en-US" sz="2800" smtClean="0"/>
              <a:t>的后面发送出去。发送的数据是：</a:t>
            </a:r>
            <a:r>
              <a:rPr lang="en-US" altLang="zh-CN" sz="2800" smtClean="0"/>
              <a:t>2</a:t>
            </a:r>
            <a:r>
              <a:rPr lang="en-US" altLang="zh-CN" sz="2800" i="1" baseline="30000" smtClean="0"/>
              <a:t>n</a:t>
            </a:r>
            <a:r>
              <a:rPr lang="en-US" altLang="zh-CN" sz="2800" i="1" smtClean="0"/>
              <a:t>M</a:t>
            </a:r>
            <a:r>
              <a:rPr lang="en-US" altLang="zh-CN" sz="2800" smtClean="0"/>
              <a:t> + </a:t>
            </a:r>
            <a:r>
              <a:rPr lang="en-US" altLang="zh-CN" sz="2800" i="1" smtClean="0"/>
              <a:t>R</a:t>
            </a:r>
            <a:r>
              <a:rPr lang="en-US" altLang="zh-CN" sz="2800" smtClean="0"/>
              <a:t> </a:t>
            </a:r>
          </a:p>
          <a:p>
            <a:pPr eaLnBrk="1" hangingPunct="1">
              <a:buFont typeface="Wingdings" pitchFamily="2" charset="2"/>
              <a:buNone/>
            </a:pPr>
            <a:r>
              <a:rPr lang="en-US" altLang="zh-CN" sz="2800" smtClean="0"/>
              <a:t>   </a:t>
            </a:r>
            <a:r>
              <a:rPr lang="zh-CN" altLang="en-US" sz="2800" smtClean="0"/>
              <a:t>即：</a:t>
            </a:r>
            <a:r>
              <a:rPr lang="en-US" altLang="zh-CN" sz="2800" smtClean="0"/>
              <a:t>101001001</a:t>
            </a:r>
            <a:r>
              <a:rPr lang="zh-CN" altLang="en-US" sz="2800" smtClean="0"/>
              <a:t>，共 </a:t>
            </a:r>
            <a:r>
              <a:rPr lang="en-US" altLang="zh-CN" sz="2800" smtClean="0"/>
              <a:t>(</a:t>
            </a:r>
            <a:r>
              <a:rPr lang="en-US" altLang="zh-CN" sz="2800" i="1" smtClean="0"/>
              <a:t>k</a:t>
            </a:r>
            <a:r>
              <a:rPr lang="en-US" altLang="zh-CN" sz="2800" smtClean="0"/>
              <a:t> + </a:t>
            </a:r>
            <a:r>
              <a:rPr lang="en-US" altLang="zh-CN" sz="2800" i="1" smtClean="0"/>
              <a:t>n</a:t>
            </a:r>
            <a:r>
              <a:rPr lang="en-US" altLang="zh-CN" sz="2800" smtClean="0"/>
              <a:t>) </a:t>
            </a:r>
            <a:r>
              <a:rPr lang="zh-CN" altLang="en-US" sz="2800" smtClean="0"/>
              <a:t>位。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5411">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54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8"/>
          <p:cNvSpPr txBox="1">
            <a:spLocks noChangeArrowheads="1"/>
          </p:cNvSpPr>
          <p:nvPr/>
        </p:nvSpPr>
        <p:spPr bwMode="auto">
          <a:xfrm>
            <a:off x="1143000" y="1838325"/>
            <a:ext cx="7842250"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b="1">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110101</a:t>
            </a:r>
            <a:r>
              <a:rPr kumimoji="1" lang="en-US" altLang="zh-CN" sz="10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a:t>
            </a:r>
            <a:r>
              <a:rPr kumimoji="1" lang="en-US" altLang="zh-CN" sz="1000">
                <a:solidFill>
                  <a:schemeClr val="folHlink"/>
                </a:solidFill>
                <a:latin typeface="Arial" pitchFamily="34" charset="0"/>
                <a:ea typeface="黑体" pitchFamily="49" charset="-122"/>
              </a:rPr>
              <a:t> </a:t>
            </a:r>
            <a:r>
              <a:rPr kumimoji="1" lang="en-US" altLang="zh-CN" i="1">
                <a:solidFill>
                  <a:schemeClr val="folHlink"/>
                </a:solidFill>
                <a:latin typeface="Arial" pitchFamily="34" charset="0"/>
                <a:ea typeface="黑体" pitchFamily="49" charset="-122"/>
              </a:rPr>
              <a:t>Q</a:t>
            </a:r>
            <a:r>
              <a:rPr kumimoji="1" lang="en-US" altLang="zh-CN" b="1">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a:t>
            </a:r>
            <a:r>
              <a:rPr kumimoji="1" lang="zh-CN" altLang="en-US">
                <a:solidFill>
                  <a:schemeClr val="folHlink"/>
                </a:solidFill>
                <a:latin typeface="Arial" pitchFamily="34" charset="0"/>
                <a:ea typeface="黑体" pitchFamily="49" charset="-122"/>
              </a:rPr>
              <a:t>商</a:t>
            </a:r>
            <a:r>
              <a:rPr kumimoji="1" lang="en-US" altLang="zh-CN">
                <a:solidFill>
                  <a:schemeClr val="folHlink"/>
                </a:solidFill>
                <a:latin typeface="Arial" pitchFamily="34" charset="0"/>
                <a:ea typeface="黑体" pitchFamily="49" charset="-122"/>
              </a:rPr>
              <a:t>)</a:t>
            </a:r>
            <a:endParaRPr kumimoji="1" lang="en-US" altLang="zh-CN" b="1">
              <a:solidFill>
                <a:schemeClr val="folHlink"/>
              </a:solidFill>
              <a:latin typeface="Arial" pitchFamily="34" charset="0"/>
              <a:ea typeface="黑体" pitchFamily="49" charset="-122"/>
            </a:endParaRPr>
          </a:p>
          <a:p>
            <a:pPr eaLnBrk="1" hangingPunct="1"/>
            <a:r>
              <a:rPr kumimoji="1" lang="en-US" altLang="zh-CN" i="1">
                <a:solidFill>
                  <a:schemeClr val="folHlink"/>
                </a:solidFill>
                <a:latin typeface="Arial" pitchFamily="34" charset="0"/>
                <a:ea typeface="黑体" pitchFamily="49" charset="-122"/>
              </a:rPr>
              <a:t>    P </a:t>
            </a:r>
            <a:r>
              <a:rPr kumimoji="1" lang="en-US" altLang="zh-CN">
                <a:solidFill>
                  <a:schemeClr val="folHlink"/>
                </a:solidFill>
                <a:latin typeface="Arial" pitchFamily="34" charset="0"/>
                <a:ea typeface="黑体" pitchFamily="49" charset="-122"/>
              </a:rPr>
              <a:t>(</a:t>
            </a:r>
            <a:r>
              <a:rPr kumimoji="1" lang="zh-CN" altLang="zh-CN">
                <a:solidFill>
                  <a:schemeClr val="folHlink"/>
                </a:solidFill>
                <a:latin typeface="Arial" pitchFamily="34" charset="0"/>
                <a:ea typeface="黑体" pitchFamily="49" charset="-122"/>
              </a:rPr>
              <a:t>除数</a:t>
            </a:r>
            <a:r>
              <a:rPr kumimoji="1" lang="en-US" altLang="zh-CN">
                <a:solidFill>
                  <a:schemeClr val="folHlink"/>
                </a:solidFill>
                <a:latin typeface="Arial" pitchFamily="34" charset="0"/>
                <a:ea typeface="黑体" pitchFamily="49" charset="-122"/>
              </a:rPr>
              <a:t>) </a:t>
            </a:r>
            <a:r>
              <a:rPr kumimoji="1" lang="en-US" altLang="zh-CN" b="1">
                <a:solidFill>
                  <a:schemeClr val="folHlink"/>
                </a:solidFill>
                <a:latin typeface="Arial" pitchFamily="34" charset="0"/>
                <a:ea typeface="黑体" pitchFamily="49" charset="-122"/>
              </a:rPr>
              <a:t>→</a:t>
            </a:r>
            <a:r>
              <a:rPr kumimoji="1" lang="en-US" altLang="zh-CN" sz="1000" b="1">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1101 101001000</a:t>
            </a:r>
            <a:r>
              <a:rPr kumimoji="1" lang="en-US" altLang="zh-CN" sz="10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a:t>
            </a:r>
            <a:r>
              <a:rPr kumimoji="1" lang="en-US" altLang="zh-CN" sz="10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2</a:t>
            </a:r>
            <a:r>
              <a:rPr kumimoji="1" lang="en-US" altLang="zh-CN" i="1" baseline="30000">
                <a:solidFill>
                  <a:schemeClr val="folHlink"/>
                </a:solidFill>
                <a:latin typeface="Arial" pitchFamily="34" charset="0"/>
                <a:ea typeface="黑体" pitchFamily="49" charset="-122"/>
              </a:rPr>
              <a:t>n</a:t>
            </a:r>
            <a:r>
              <a:rPr kumimoji="1" lang="en-US" altLang="zh-CN" i="1">
                <a:solidFill>
                  <a:schemeClr val="folHlink"/>
                </a:solidFill>
                <a:latin typeface="Arial" pitchFamily="34" charset="0"/>
                <a:ea typeface="黑体" pitchFamily="49" charset="-122"/>
              </a:rPr>
              <a:t>M </a:t>
            </a:r>
            <a:r>
              <a:rPr kumimoji="1" lang="en-US" altLang="zh-CN">
                <a:solidFill>
                  <a:schemeClr val="folHlink"/>
                </a:solidFill>
                <a:latin typeface="Arial" pitchFamily="34" charset="0"/>
                <a:ea typeface="黑体" pitchFamily="49" charset="-122"/>
              </a:rPr>
              <a:t>(</a:t>
            </a:r>
            <a:r>
              <a:rPr kumimoji="1" lang="zh-CN" altLang="en-US">
                <a:solidFill>
                  <a:schemeClr val="folHlink"/>
                </a:solidFill>
                <a:latin typeface="Arial" pitchFamily="34" charset="0"/>
                <a:ea typeface="黑体" pitchFamily="49" charset="-122"/>
              </a:rPr>
              <a:t>被除数</a:t>
            </a:r>
            <a:r>
              <a:rPr kumimoji="1" lang="en-US" altLang="zh-CN">
                <a:solidFill>
                  <a:schemeClr val="folHlink"/>
                </a:solidFill>
                <a:latin typeface="Arial" pitchFamily="34" charset="0"/>
                <a:ea typeface="黑体" pitchFamily="49" charset="-122"/>
              </a:rPr>
              <a:t>)</a:t>
            </a:r>
            <a:endParaRPr kumimoji="1" lang="en-US" altLang="zh-CN" b="1">
              <a:solidFill>
                <a:schemeClr val="folHlink"/>
              </a:solidFill>
              <a:latin typeface="Arial" pitchFamily="34" charset="0"/>
              <a:ea typeface="黑体" pitchFamily="49" charset="-122"/>
            </a:endParaRPr>
          </a:p>
          <a:p>
            <a:pPr eaLnBrk="1" hangingPunct="1"/>
            <a:r>
              <a:rPr kumimoji="1" lang="en-US" altLang="zh-CN" sz="1000" b="1">
                <a:solidFill>
                  <a:schemeClr val="folHlink"/>
                </a:solidFill>
                <a:latin typeface="Arial" pitchFamily="34" charset="0"/>
                <a:ea typeface="黑体" pitchFamily="49" charset="-122"/>
              </a:rPr>
              <a:t>                             </a:t>
            </a:r>
            <a:r>
              <a:rPr kumimoji="1" lang="en-US" altLang="zh-CN" b="1">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1101</a:t>
            </a:r>
          </a:p>
          <a:p>
            <a:pPr eaLnBrk="1" hangingPunct="1"/>
            <a:r>
              <a:rPr kumimoji="1" lang="en-US" altLang="zh-CN" sz="10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               1110</a:t>
            </a:r>
            <a:r>
              <a:rPr kumimoji="1" lang="en-US" altLang="zh-CN" sz="1000">
                <a:solidFill>
                  <a:schemeClr val="folHlink"/>
                </a:solidFill>
                <a:latin typeface="Arial" pitchFamily="34" charset="0"/>
                <a:ea typeface="黑体" pitchFamily="49" charset="-122"/>
              </a:rPr>
              <a:t> </a:t>
            </a:r>
            <a:endParaRPr kumimoji="1" lang="en-US" altLang="zh-CN">
              <a:solidFill>
                <a:schemeClr val="folHlink"/>
              </a:solidFill>
              <a:latin typeface="Arial" pitchFamily="34" charset="0"/>
              <a:ea typeface="黑体" pitchFamily="49" charset="-122"/>
            </a:endParaRPr>
          </a:p>
          <a:p>
            <a:pPr eaLnBrk="1" hangingPunct="1"/>
            <a:r>
              <a:rPr kumimoji="1" lang="en-US" altLang="zh-CN" sz="10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               1101</a:t>
            </a:r>
          </a:p>
          <a:p>
            <a:pPr eaLnBrk="1" hangingPunct="1"/>
            <a:r>
              <a:rPr kumimoji="1" lang="en-US" altLang="zh-CN" sz="8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                 0111</a:t>
            </a:r>
          </a:p>
          <a:p>
            <a:pPr eaLnBrk="1" hangingPunct="1"/>
            <a:r>
              <a:rPr kumimoji="1" lang="en-US" altLang="zh-CN" sz="8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                 0000</a:t>
            </a:r>
          </a:p>
          <a:p>
            <a:pPr eaLnBrk="1" hangingPunct="1"/>
            <a:r>
              <a:rPr kumimoji="1" lang="en-US" altLang="zh-CN" sz="10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                 1110</a:t>
            </a:r>
          </a:p>
          <a:p>
            <a:pPr eaLnBrk="1" hangingPunct="1"/>
            <a:r>
              <a:rPr kumimoji="1" lang="en-US" altLang="zh-CN" sz="10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                 1101</a:t>
            </a:r>
          </a:p>
          <a:p>
            <a:pPr eaLnBrk="1" hangingPunct="1"/>
            <a:r>
              <a:rPr kumimoji="1" lang="en-US" altLang="zh-CN" sz="8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                   0110</a:t>
            </a:r>
          </a:p>
          <a:p>
            <a:pPr eaLnBrk="1" hangingPunct="1"/>
            <a:r>
              <a:rPr kumimoji="1" lang="en-US" altLang="zh-CN" sz="8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                   0000</a:t>
            </a:r>
          </a:p>
          <a:p>
            <a:pPr eaLnBrk="1" hangingPunct="1"/>
            <a:r>
              <a:rPr kumimoji="1" lang="en-US" altLang="zh-CN" sz="800">
                <a:solidFill>
                  <a:schemeClr val="folHlink"/>
                </a:solidFill>
                <a:latin typeface="Arial" pitchFamily="34" charset="0"/>
                <a:ea typeface="黑体" pitchFamily="49" charset="-122"/>
              </a:rPr>
              <a:t>                                                     </a:t>
            </a:r>
            <a:r>
              <a:rPr kumimoji="1" lang="en-US" altLang="zh-CN" sz="10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                   1100</a:t>
            </a:r>
          </a:p>
          <a:p>
            <a:pPr eaLnBrk="1" hangingPunct="1"/>
            <a:r>
              <a:rPr kumimoji="1" lang="en-US" altLang="zh-CN" sz="800">
                <a:solidFill>
                  <a:schemeClr val="folHlink"/>
                </a:solidFill>
                <a:latin typeface="Arial" pitchFamily="34" charset="0"/>
                <a:ea typeface="黑体" pitchFamily="49" charset="-122"/>
              </a:rPr>
              <a:t>                                                     </a:t>
            </a:r>
            <a:r>
              <a:rPr kumimoji="1" lang="en-US" altLang="zh-CN" sz="10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                   1101</a:t>
            </a:r>
          </a:p>
          <a:p>
            <a:pPr eaLnBrk="1" hangingPunct="1"/>
            <a:r>
              <a:rPr kumimoji="1" lang="en-US" altLang="zh-CN" sz="800">
                <a:solidFill>
                  <a:schemeClr val="folHlink"/>
                </a:solidFill>
                <a:latin typeface="Arial" pitchFamily="34" charset="0"/>
                <a:ea typeface="黑体" pitchFamily="49" charset="-122"/>
              </a:rPr>
              <a:t>                                                        </a:t>
            </a:r>
            <a:r>
              <a:rPr kumimoji="1" lang="en-US" altLang="zh-CN">
                <a:solidFill>
                  <a:schemeClr val="folHlink"/>
                </a:solidFill>
                <a:latin typeface="Arial" pitchFamily="34" charset="0"/>
                <a:ea typeface="黑体" pitchFamily="49" charset="-122"/>
              </a:rPr>
              <a:t>                     001 ← </a:t>
            </a:r>
            <a:r>
              <a:rPr kumimoji="1" lang="en-US" altLang="zh-CN" i="1">
                <a:solidFill>
                  <a:schemeClr val="folHlink"/>
                </a:solidFill>
                <a:latin typeface="Arial" pitchFamily="34" charset="0"/>
                <a:ea typeface="黑体" pitchFamily="49" charset="-122"/>
              </a:rPr>
              <a:t>R</a:t>
            </a:r>
            <a:r>
              <a:rPr kumimoji="1" lang="en-US" altLang="zh-CN">
                <a:solidFill>
                  <a:schemeClr val="folHlink"/>
                </a:solidFill>
                <a:latin typeface="Arial" pitchFamily="34" charset="0"/>
                <a:ea typeface="黑体" pitchFamily="49" charset="-122"/>
              </a:rPr>
              <a:t> (</a:t>
            </a:r>
            <a:r>
              <a:rPr kumimoji="1" lang="zh-CN" altLang="en-US">
                <a:solidFill>
                  <a:schemeClr val="folHlink"/>
                </a:solidFill>
                <a:latin typeface="Arial" pitchFamily="34" charset="0"/>
                <a:ea typeface="黑体" pitchFamily="49" charset="-122"/>
              </a:rPr>
              <a:t>余数</a:t>
            </a:r>
            <a:r>
              <a:rPr kumimoji="1" lang="en-US" altLang="zh-CN">
                <a:solidFill>
                  <a:schemeClr val="folHlink"/>
                </a:solidFill>
                <a:latin typeface="Arial" pitchFamily="34" charset="0"/>
                <a:ea typeface="黑体" pitchFamily="49" charset="-122"/>
              </a:rPr>
              <a:t>)</a:t>
            </a:r>
            <a:r>
              <a:rPr kumimoji="1" lang="zh-CN" altLang="en-US">
                <a:solidFill>
                  <a:schemeClr val="folHlink"/>
                </a:solidFill>
                <a:latin typeface="Arial" pitchFamily="34" charset="0"/>
                <a:ea typeface="黑体" pitchFamily="49" charset="-122"/>
              </a:rPr>
              <a:t>，作为 </a:t>
            </a:r>
            <a:r>
              <a:rPr kumimoji="1" lang="en-US" altLang="zh-CN">
                <a:solidFill>
                  <a:schemeClr val="folHlink"/>
                </a:solidFill>
                <a:latin typeface="Arial" pitchFamily="34" charset="0"/>
                <a:ea typeface="黑体" pitchFamily="49" charset="-122"/>
              </a:rPr>
              <a:t>FCS</a:t>
            </a:r>
            <a:r>
              <a:rPr kumimoji="1" lang="en-US" altLang="zh-CN" sz="1000" b="1">
                <a:solidFill>
                  <a:schemeClr val="folHlink"/>
                </a:solidFill>
                <a:latin typeface="Arial" pitchFamily="34" charset="0"/>
                <a:ea typeface="黑体" pitchFamily="49" charset="-122"/>
              </a:rPr>
              <a:t> </a:t>
            </a:r>
            <a:r>
              <a:rPr kumimoji="1" lang="en-US" altLang="zh-CN" b="1">
                <a:solidFill>
                  <a:schemeClr val="folHlink"/>
                </a:solidFill>
                <a:latin typeface="Arial" pitchFamily="34" charset="0"/>
                <a:ea typeface="黑体" pitchFamily="49" charset="-122"/>
              </a:rPr>
              <a:t>                     </a:t>
            </a:r>
          </a:p>
        </p:txBody>
      </p:sp>
      <p:sp>
        <p:nvSpPr>
          <p:cNvPr id="23555" name="Rectangle 2"/>
          <p:cNvSpPr>
            <a:spLocks noGrp="1" noChangeArrowheads="1"/>
          </p:cNvSpPr>
          <p:nvPr>
            <p:ph type="title"/>
          </p:nvPr>
        </p:nvSpPr>
        <p:spPr/>
        <p:txBody>
          <a:bodyPr/>
          <a:lstStyle/>
          <a:p>
            <a:pPr algn="ctr" eaLnBrk="1" hangingPunct="1"/>
            <a:r>
              <a:rPr lang="zh-CN" altLang="en-US" smtClean="0"/>
              <a:t>循环冗余检验的原理说明 </a:t>
            </a:r>
          </a:p>
        </p:txBody>
      </p:sp>
      <p:sp>
        <p:nvSpPr>
          <p:cNvPr id="23556" name="Freeform 29"/>
          <p:cNvSpPr>
            <a:spLocks/>
          </p:cNvSpPr>
          <p:nvPr/>
        </p:nvSpPr>
        <p:spPr bwMode="auto">
          <a:xfrm>
            <a:off x="3394075" y="2205038"/>
            <a:ext cx="2489200" cy="266700"/>
          </a:xfrm>
          <a:custGeom>
            <a:avLst/>
            <a:gdLst>
              <a:gd name="T0" fmla="*/ 0 w 1332"/>
              <a:gd name="T1" fmla="*/ 2147483647 h 156"/>
              <a:gd name="T2" fmla="*/ 0 w 1332"/>
              <a:gd name="T3" fmla="*/ 0 h 156"/>
              <a:gd name="T4" fmla="*/ 2147483647 w 1332"/>
              <a:gd name="T5" fmla="*/ 2147483647 h 156"/>
              <a:gd name="T6" fmla="*/ 0 60000 65536"/>
              <a:gd name="T7" fmla="*/ 0 60000 65536"/>
              <a:gd name="T8" fmla="*/ 0 60000 65536"/>
            </a:gdLst>
            <a:ahLst/>
            <a:cxnLst>
              <a:cxn ang="T6">
                <a:pos x="T0" y="T1"/>
              </a:cxn>
              <a:cxn ang="T7">
                <a:pos x="T2" y="T3"/>
              </a:cxn>
              <a:cxn ang="T8">
                <a:pos x="T4" y="T5"/>
              </a:cxn>
            </a:cxnLst>
            <a:rect l="0" t="0" r="r" b="b"/>
            <a:pathLst>
              <a:path w="1332" h="156">
                <a:moveTo>
                  <a:pt x="0" y="156"/>
                </a:moveTo>
                <a:lnTo>
                  <a:pt x="0" y="0"/>
                </a:lnTo>
                <a:lnTo>
                  <a:pt x="1332" y="1"/>
                </a:lnTo>
              </a:path>
            </a:pathLst>
          </a:custGeom>
          <a:noFill/>
          <a:ln w="28575" cmpd="sng">
            <a:solidFill>
              <a:schemeClr val="folHlink"/>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57" name="Freeform 30"/>
          <p:cNvSpPr>
            <a:spLocks/>
          </p:cNvSpPr>
          <p:nvPr/>
        </p:nvSpPr>
        <p:spPr bwMode="auto">
          <a:xfrm>
            <a:off x="4076700" y="2466975"/>
            <a:ext cx="1588" cy="369888"/>
          </a:xfrm>
          <a:custGeom>
            <a:avLst/>
            <a:gdLst>
              <a:gd name="T0" fmla="*/ 0 w 1"/>
              <a:gd name="T1" fmla="*/ 0 h 233"/>
              <a:gd name="T2" fmla="*/ 0 w 1"/>
              <a:gd name="T3" fmla="*/ 2147483647 h 233"/>
              <a:gd name="T4" fmla="*/ 0 60000 65536"/>
              <a:gd name="T5" fmla="*/ 0 60000 65536"/>
            </a:gdLst>
            <a:ahLst/>
            <a:cxnLst>
              <a:cxn ang="T4">
                <a:pos x="T0" y="T1"/>
              </a:cxn>
              <a:cxn ang="T5">
                <a:pos x="T2" y="T3"/>
              </a:cxn>
            </a:cxnLst>
            <a:rect l="0" t="0" r="r" b="b"/>
            <a:pathLst>
              <a:path w="1" h="233">
                <a:moveTo>
                  <a:pt x="0" y="0"/>
                </a:moveTo>
                <a:lnTo>
                  <a:pt x="0" y="233"/>
                </a:lnTo>
              </a:path>
            </a:pathLst>
          </a:custGeom>
          <a:noFill/>
          <a:ln w="28575" cap="rnd" cmpd="sng">
            <a:solidFill>
              <a:schemeClr val="hlink"/>
            </a:solidFill>
            <a:prstDash val="sysDot"/>
            <a:round/>
            <a:headE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58" name="Freeform 31"/>
          <p:cNvSpPr>
            <a:spLocks/>
          </p:cNvSpPr>
          <p:nvPr/>
        </p:nvSpPr>
        <p:spPr bwMode="auto">
          <a:xfrm>
            <a:off x="4210050" y="2466975"/>
            <a:ext cx="9525" cy="971550"/>
          </a:xfrm>
          <a:custGeom>
            <a:avLst/>
            <a:gdLst>
              <a:gd name="T0" fmla="*/ 0 w 6"/>
              <a:gd name="T1" fmla="*/ 0 h 612"/>
              <a:gd name="T2" fmla="*/ 2147483647 w 6"/>
              <a:gd name="T3" fmla="*/ 2147483647 h 612"/>
              <a:gd name="T4" fmla="*/ 0 60000 65536"/>
              <a:gd name="T5" fmla="*/ 0 60000 65536"/>
            </a:gdLst>
            <a:ahLst/>
            <a:cxnLst>
              <a:cxn ang="T4">
                <a:pos x="T0" y="T1"/>
              </a:cxn>
              <a:cxn ang="T5">
                <a:pos x="T2" y="T3"/>
              </a:cxn>
            </a:cxnLst>
            <a:rect l="0" t="0" r="r" b="b"/>
            <a:pathLst>
              <a:path w="6" h="612">
                <a:moveTo>
                  <a:pt x="0" y="0"/>
                </a:moveTo>
                <a:lnTo>
                  <a:pt x="6" y="612"/>
                </a:lnTo>
              </a:path>
            </a:pathLst>
          </a:custGeom>
          <a:noFill/>
          <a:ln w="28575" cap="rnd" cmpd="sng">
            <a:solidFill>
              <a:schemeClr val="hlink"/>
            </a:solidFill>
            <a:prstDash val="sysDot"/>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59" name="Freeform 32"/>
          <p:cNvSpPr>
            <a:spLocks/>
          </p:cNvSpPr>
          <p:nvPr/>
        </p:nvSpPr>
        <p:spPr bwMode="auto">
          <a:xfrm>
            <a:off x="4354513" y="2462213"/>
            <a:ext cx="17462" cy="1538287"/>
          </a:xfrm>
          <a:custGeom>
            <a:avLst/>
            <a:gdLst>
              <a:gd name="T0" fmla="*/ 0 w 11"/>
              <a:gd name="T1" fmla="*/ 0 h 969"/>
              <a:gd name="T2" fmla="*/ 2147483647 w 11"/>
              <a:gd name="T3" fmla="*/ 2147483647 h 969"/>
              <a:gd name="T4" fmla="*/ 0 60000 65536"/>
              <a:gd name="T5" fmla="*/ 0 60000 65536"/>
            </a:gdLst>
            <a:ahLst/>
            <a:cxnLst>
              <a:cxn ang="T4">
                <a:pos x="T0" y="T1"/>
              </a:cxn>
              <a:cxn ang="T5">
                <a:pos x="T2" y="T3"/>
              </a:cxn>
            </a:cxnLst>
            <a:rect l="0" t="0" r="r" b="b"/>
            <a:pathLst>
              <a:path w="11" h="969">
                <a:moveTo>
                  <a:pt x="0" y="0"/>
                </a:moveTo>
                <a:lnTo>
                  <a:pt x="11" y="969"/>
                </a:lnTo>
              </a:path>
            </a:pathLst>
          </a:custGeom>
          <a:noFill/>
          <a:ln w="28575" cap="rnd" cmpd="sng">
            <a:solidFill>
              <a:schemeClr val="hlink"/>
            </a:solidFill>
            <a:prstDash val="sysDot"/>
            <a:round/>
            <a:headE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0" name="Freeform 33"/>
          <p:cNvSpPr>
            <a:spLocks/>
          </p:cNvSpPr>
          <p:nvPr/>
        </p:nvSpPr>
        <p:spPr bwMode="auto">
          <a:xfrm>
            <a:off x="4502150" y="2482850"/>
            <a:ext cx="3175" cy="2155825"/>
          </a:xfrm>
          <a:custGeom>
            <a:avLst/>
            <a:gdLst>
              <a:gd name="T0" fmla="*/ 0 w 2"/>
              <a:gd name="T1" fmla="*/ 0 h 1358"/>
              <a:gd name="T2" fmla="*/ 2147483647 w 2"/>
              <a:gd name="T3" fmla="*/ 2147483647 h 1358"/>
              <a:gd name="T4" fmla="*/ 0 60000 65536"/>
              <a:gd name="T5" fmla="*/ 0 60000 65536"/>
            </a:gdLst>
            <a:ahLst/>
            <a:cxnLst>
              <a:cxn ang="T4">
                <a:pos x="T0" y="T1"/>
              </a:cxn>
              <a:cxn ang="T5">
                <a:pos x="T2" y="T3"/>
              </a:cxn>
            </a:cxnLst>
            <a:rect l="0" t="0" r="r" b="b"/>
            <a:pathLst>
              <a:path w="2" h="1358">
                <a:moveTo>
                  <a:pt x="0" y="0"/>
                </a:moveTo>
                <a:lnTo>
                  <a:pt x="2" y="1358"/>
                </a:lnTo>
              </a:path>
            </a:pathLst>
          </a:custGeom>
          <a:noFill/>
          <a:ln w="28575" cap="rnd" cmpd="sng">
            <a:solidFill>
              <a:schemeClr val="hlink"/>
            </a:solidFill>
            <a:prstDash val="sysDot"/>
            <a:round/>
            <a:headE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1" name="Freeform 34"/>
          <p:cNvSpPr>
            <a:spLocks/>
          </p:cNvSpPr>
          <p:nvPr/>
        </p:nvSpPr>
        <p:spPr bwMode="auto">
          <a:xfrm>
            <a:off x="4649788" y="2482850"/>
            <a:ext cx="17462" cy="2755900"/>
          </a:xfrm>
          <a:custGeom>
            <a:avLst/>
            <a:gdLst>
              <a:gd name="T0" fmla="*/ 0 w 11"/>
              <a:gd name="T1" fmla="*/ 0 h 1736"/>
              <a:gd name="T2" fmla="*/ 2147483647 w 11"/>
              <a:gd name="T3" fmla="*/ 2147483647 h 1736"/>
              <a:gd name="T4" fmla="*/ 0 60000 65536"/>
              <a:gd name="T5" fmla="*/ 0 60000 65536"/>
            </a:gdLst>
            <a:ahLst/>
            <a:cxnLst>
              <a:cxn ang="T4">
                <a:pos x="T0" y="T1"/>
              </a:cxn>
              <a:cxn ang="T5">
                <a:pos x="T2" y="T3"/>
              </a:cxn>
            </a:cxnLst>
            <a:rect l="0" t="0" r="r" b="b"/>
            <a:pathLst>
              <a:path w="11" h="1736">
                <a:moveTo>
                  <a:pt x="0" y="0"/>
                </a:moveTo>
                <a:lnTo>
                  <a:pt x="11" y="1736"/>
                </a:lnTo>
              </a:path>
            </a:pathLst>
          </a:custGeom>
          <a:noFill/>
          <a:ln w="28575" cap="rnd" cmpd="sng">
            <a:solidFill>
              <a:schemeClr val="hlink"/>
            </a:solidFill>
            <a:prstDash val="sysDot"/>
            <a:round/>
            <a:headE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2" name="Line 35"/>
          <p:cNvSpPr>
            <a:spLocks noChangeShapeType="1"/>
          </p:cNvSpPr>
          <p:nvPr/>
        </p:nvSpPr>
        <p:spPr bwMode="auto">
          <a:xfrm flipV="1">
            <a:off x="4214813" y="5875338"/>
            <a:ext cx="498475" cy="1587"/>
          </a:xfrm>
          <a:prstGeom prst="line">
            <a:avLst/>
          </a:prstGeom>
          <a:noFill/>
          <a:ln w="190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3" name="Line 36"/>
          <p:cNvSpPr>
            <a:spLocks noChangeShapeType="1"/>
          </p:cNvSpPr>
          <p:nvPr/>
        </p:nvSpPr>
        <p:spPr bwMode="auto">
          <a:xfrm flipV="1">
            <a:off x="4081463" y="5253038"/>
            <a:ext cx="487362" cy="1587"/>
          </a:xfrm>
          <a:prstGeom prst="line">
            <a:avLst/>
          </a:prstGeom>
          <a:noFill/>
          <a:ln w="190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4" name="Line 37"/>
          <p:cNvSpPr>
            <a:spLocks noChangeShapeType="1"/>
          </p:cNvSpPr>
          <p:nvPr/>
        </p:nvSpPr>
        <p:spPr bwMode="auto">
          <a:xfrm>
            <a:off x="3921125" y="4641850"/>
            <a:ext cx="512763" cy="1588"/>
          </a:xfrm>
          <a:prstGeom prst="line">
            <a:avLst/>
          </a:prstGeom>
          <a:noFill/>
          <a:ln w="190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5" name="Line 38"/>
          <p:cNvSpPr>
            <a:spLocks noChangeShapeType="1"/>
          </p:cNvSpPr>
          <p:nvPr/>
        </p:nvSpPr>
        <p:spPr bwMode="auto">
          <a:xfrm>
            <a:off x="3813175" y="4000500"/>
            <a:ext cx="487363" cy="0"/>
          </a:xfrm>
          <a:prstGeom prst="line">
            <a:avLst/>
          </a:prstGeom>
          <a:noFill/>
          <a:ln w="190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6" name="Line 39"/>
          <p:cNvSpPr>
            <a:spLocks noChangeShapeType="1"/>
          </p:cNvSpPr>
          <p:nvPr/>
        </p:nvSpPr>
        <p:spPr bwMode="auto">
          <a:xfrm>
            <a:off x="3589338" y="3390900"/>
            <a:ext cx="550862" cy="0"/>
          </a:xfrm>
          <a:prstGeom prst="line">
            <a:avLst/>
          </a:prstGeom>
          <a:noFill/>
          <a:ln w="190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7" name="Line 40"/>
          <p:cNvSpPr>
            <a:spLocks noChangeShapeType="1"/>
          </p:cNvSpPr>
          <p:nvPr/>
        </p:nvSpPr>
        <p:spPr bwMode="auto">
          <a:xfrm>
            <a:off x="3492500" y="2768600"/>
            <a:ext cx="528638" cy="0"/>
          </a:xfrm>
          <a:prstGeom prst="line">
            <a:avLst/>
          </a:prstGeom>
          <a:noFill/>
          <a:ln w="190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algn="ctr" eaLnBrk="1" hangingPunct="1"/>
            <a:r>
              <a:rPr lang="zh-CN" altLang="en-US" smtClean="0"/>
              <a:t>模二运算规则</a:t>
            </a:r>
          </a:p>
        </p:txBody>
      </p:sp>
      <p:sp>
        <p:nvSpPr>
          <p:cNvPr id="24579" name="Rectangle 3"/>
          <p:cNvSpPr>
            <a:spLocks noGrp="1" noChangeArrowheads="1"/>
          </p:cNvSpPr>
          <p:nvPr>
            <p:ph type="body" idx="1"/>
          </p:nvPr>
        </p:nvSpPr>
        <p:spPr>
          <a:xfrm>
            <a:off x="1042988" y="1773238"/>
            <a:ext cx="7777162" cy="4464050"/>
          </a:xfrm>
        </p:spPr>
        <p:txBody>
          <a:bodyPr/>
          <a:lstStyle/>
          <a:p>
            <a:pPr eaLnBrk="1" hangingPunct="1">
              <a:lnSpc>
                <a:spcPct val="90000"/>
              </a:lnSpc>
            </a:pPr>
            <a:r>
              <a:rPr lang="zh-CN" altLang="en-US" sz="2800" smtClean="0"/>
              <a:t>多项式中的“</a:t>
            </a:r>
            <a:r>
              <a:rPr lang="en-US" altLang="zh-CN" sz="2800" smtClean="0"/>
              <a:t>+”</a:t>
            </a:r>
            <a:r>
              <a:rPr lang="zh-CN" altLang="en-US" sz="2800" smtClean="0"/>
              <a:t>都是模</a:t>
            </a:r>
            <a:r>
              <a:rPr lang="en-US" altLang="zh-CN" sz="2800" smtClean="0"/>
              <a:t>2</a:t>
            </a:r>
            <a:r>
              <a:rPr lang="zh-CN" altLang="en-US" sz="2800" smtClean="0"/>
              <a:t>加</a:t>
            </a:r>
            <a:r>
              <a:rPr lang="en-US" altLang="zh-CN" sz="2800" smtClean="0"/>
              <a:t>(</a:t>
            </a:r>
            <a:r>
              <a:rPr lang="zh-CN" altLang="en-US" sz="2800" smtClean="0"/>
              <a:t>也即异或运算</a:t>
            </a:r>
            <a:r>
              <a:rPr lang="en-US" altLang="zh-CN" sz="2800" smtClean="0"/>
              <a:t>);</a:t>
            </a:r>
            <a:r>
              <a:rPr lang="zh-CN" altLang="en-US" sz="2800" smtClean="0"/>
              <a:t>此外</a:t>
            </a:r>
            <a:r>
              <a:rPr lang="en-US" altLang="zh-CN" sz="2800" smtClean="0"/>
              <a:t>,</a:t>
            </a:r>
            <a:r>
              <a:rPr lang="zh-CN" altLang="en-US" sz="2800" smtClean="0"/>
              <a:t>这里的除法用的也是模</a:t>
            </a:r>
            <a:r>
              <a:rPr lang="en-US" altLang="zh-CN" sz="2800" smtClean="0"/>
              <a:t>2</a:t>
            </a:r>
            <a:r>
              <a:rPr lang="zh-CN" altLang="en-US" sz="2800" smtClean="0"/>
              <a:t>除法</a:t>
            </a:r>
            <a:r>
              <a:rPr lang="en-US" altLang="zh-CN" sz="2800" smtClean="0"/>
              <a:t>,</a:t>
            </a:r>
            <a:r>
              <a:rPr lang="zh-CN" altLang="en-US" sz="2800" smtClean="0"/>
              <a:t>即除法过程中用到的减法是模</a:t>
            </a:r>
            <a:r>
              <a:rPr lang="en-US" altLang="zh-CN" sz="2800" smtClean="0"/>
              <a:t>2</a:t>
            </a:r>
            <a:r>
              <a:rPr lang="zh-CN" altLang="en-US" sz="2800" smtClean="0"/>
              <a:t>减法</a:t>
            </a:r>
            <a:r>
              <a:rPr lang="en-US" altLang="zh-CN" sz="2800" smtClean="0"/>
              <a:t>,</a:t>
            </a:r>
            <a:r>
              <a:rPr lang="zh-CN" altLang="en-US" sz="2800" smtClean="0"/>
              <a:t>它和模</a:t>
            </a:r>
            <a:r>
              <a:rPr lang="en-US" altLang="zh-CN" sz="2800" smtClean="0"/>
              <a:t>2</a:t>
            </a:r>
            <a:r>
              <a:rPr lang="zh-CN" altLang="en-US" sz="2800" smtClean="0"/>
              <a:t>加法的运算规则一样</a:t>
            </a:r>
            <a:r>
              <a:rPr lang="en-US" altLang="zh-CN" sz="2800" smtClean="0"/>
              <a:t>,</a:t>
            </a:r>
            <a:r>
              <a:rPr lang="zh-CN" altLang="en-US" sz="2800" smtClean="0"/>
              <a:t>都是</a:t>
            </a:r>
            <a:r>
              <a:rPr lang="zh-CN" altLang="en-US" sz="2800" smtClean="0">
                <a:solidFill>
                  <a:schemeClr val="hlink"/>
                </a:solidFill>
              </a:rPr>
              <a:t>异或运算</a:t>
            </a:r>
            <a:r>
              <a:rPr lang="en-US" altLang="zh-CN" sz="2800" smtClean="0"/>
              <a:t>,</a:t>
            </a:r>
            <a:r>
              <a:rPr lang="zh-CN" altLang="en-US" sz="2800" smtClean="0"/>
              <a:t>这是一种不考虑加法进位和减法借位的运算</a:t>
            </a:r>
          </a:p>
          <a:p>
            <a:pPr eaLnBrk="1" hangingPunct="1">
              <a:lnSpc>
                <a:spcPct val="90000"/>
              </a:lnSpc>
            </a:pPr>
            <a:r>
              <a:rPr lang="zh-CN" altLang="en-US" sz="2800" smtClean="0"/>
              <a:t>在进行基于模</a:t>
            </a:r>
            <a:r>
              <a:rPr lang="en-US" altLang="zh-CN" sz="2800" smtClean="0"/>
              <a:t>2</a:t>
            </a:r>
            <a:r>
              <a:rPr lang="zh-CN" altLang="en-US" sz="2800" smtClean="0"/>
              <a:t>运算的多项式除法时</a:t>
            </a:r>
            <a:r>
              <a:rPr lang="en-US" altLang="zh-CN" sz="2800" smtClean="0"/>
              <a:t>,</a:t>
            </a:r>
            <a:r>
              <a:rPr lang="zh-CN" altLang="en-US" sz="2800" smtClean="0"/>
              <a:t>只要余数</a:t>
            </a:r>
            <a:r>
              <a:rPr lang="zh-CN" altLang="en-US" sz="2800" smtClean="0">
                <a:solidFill>
                  <a:schemeClr val="hlink"/>
                </a:solidFill>
              </a:rPr>
              <a:t>首位为</a:t>
            </a:r>
            <a:r>
              <a:rPr lang="en-US" altLang="zh-CN" sz="2800" smtClean="0">
                <a:solidFill>
                  <a:schemeClr val="hlink"/>
                </a:solidFill>
              </a:rPr>
              <a:t>1</a:t>
            </a:r>
            <a:r>
              <a:rPr lang="en-US" altLang="zh-CN" sz="2800" smtClean="0"/>
              <a:t>,</a:t>
            </a:r>
            <a:r>
              <a:rPr lang="zh-CN" altLang="en-US" sz="2800" smtClean="0"/>
              <a:t>便可上商</a:t>
            </a:r>
            <a:r>
              <a:rPr lang="en-US" altLang="zh-CN" sz="2800" smtClean="0"/>
              <a:t>1,</a:t>
            </a:r>
            <a:r>
              <a:rPr lang="zh-CN" altLang="en-US" sz="2800" smtClean="0"/>
              <a:t>否则上商</a:t>
            </a:r>
            <a:r>
              <a:rPr lang="en-US" altLang="zh-CN" sz="2800" smtClean="0"/>
              <a:t>0</a:t>
            </a:r>
            <a:r>
              <a:rPr lang="zh-CN" altLang="en-US" sz="2800" smtClean="0"/>
              <a:t>。然后按模</a:t>
            </a:r>
            <a:r>
              <a:rPr lang="en-US" altLang="zh-CN" sz="2800" smtClean="0"/>
              <a:t>2</a:t>
            </a:r>
            <a:r>
              <a:rPr lang="zh-CN" altLang="en-US" sz="2800" smtClean="0"/>
              <a:t>减法求得余数</a:t>
            </a:r>
            <a:r>
              <a:rPr lang="en-US" altLang="zh-CN" sz="2800" smtClean="0"/>
              <a:t>,</a:t>
            </a:r>
            <a:r>
              <a:rPr lang="zh-CN" altLang="en-US" sz="2800" smtClean="0"/>
              <a:t>该余数</a:t>
            </a:r>
            <a:r>
              <a:rPr lang="zh-CN" altLang="en-US" sz="2800" smtClean="0">
                <a:solidFill>
                  <a:schemeClr val="hlink"/>
                </a:solidFill>
              </a:rPr>
              <a:t>不计最高位</a:t>
            </a:r>
            <a:r>
              <a:rPr lang="zh-CN" altLang="en-US" sz="2800" smtClean="0"/>
              <a:t>。当被除数逐位除完时</a:t>
            </a:r>
            <a:r>
              <a:rPr lang="en-US" altLang="zh-CN" sz="2800" smtClean="0"/>
              <a:t>,</a:t>
            </a:r>
            <a:r>
              <a:rPr lang="zh-CN" altLang="en-US" sz="2800" smtClean="0"/>
              <a:t>最后得到比除数</a:t>
            </a:r>
            <a:r>
              <a:rPr lang="zh-CN" altLang="en-US" sz="2800" smtClean="0">
                <a:solidFill>
                  <a:schemeClr val="hlink"/>
                </a:solidFill>
              </a:rPr>
              <a:t>少一位的余数</a:t>
            </a:r>
            <a:r>
              <a:rPr lang="zh-CN" altLang="en-US" sz="2800" smtClean="0"/>
              <a:t>。此余数即为冗余位</a:t>
            </a:r>
            <a:r>
              <a:rPr lang="en-US" altLang="zh-CN" sz="2800" smtClean="0"/>
              <a:t>,</a:t>
            </a:r>
            <a:r>
              <a:rPr lang="zh-CN" altLang="en-US" sz="2800" smtClean="0"/>
              <a:t>将其添加在信息位后便构成</a:t>
            </a:r>
            <a:r>
              <a:rPr lang="en-US" altLang="zh-CN" sz="2800" smtClean="0"/>
              <a:t>CRC</a:t>
            </a:r>
            <a:r>
              <a:rPr lang="zh-CN" altLang="en-US" sz="2800" smtClean="0"/>
              <a:t>码字            </a:t>
            </a:r>
            <a:r>
              <a:rPr lang="en-US" altLang="zh-CN" sz="2800" smtClean="0"/>
              <a:t>P105   3-08</a:t>
            </a:r>
          </a:p>
          <a:p>
            <a:pPr eaLnBrk="1" hangingPunct="1">
              <a:lnSpc>
                <a:spcPct val="90000"/>
              </a:lnSpc>
            </a:pPr>
            <a:endParaRPr lang="en-US" altLang="zh-CN" sz="280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00113" y="214313"/>
            <a:ext cx="8243887" cy="1462087"/>
          </a:xfrm>
        </p:spPr>
        <p:txBody>
          <a:bodyPr/>
          <a:lstStyle/>
          <a:p>
            <a:pPr algn="ctr" eaLnBrk="1" hangingPunct="1"/>
            <a:r>
              <a:rPr lang="zh-CN" altLang="en-US" smtClean="0"/>
              <a:t>帧检验序列 </a:t>
            </a:r>
            <a:r>
              <a:rPr lang="en-US" altLang="zh-CN" smtClean="0"/>
              <a:t>FCS </a:t>
            </a:r>
          </a:p>
        </p:txBody>
      </p:sp>
      <p:sp>
        <p:nvSpPr>
          <p:cNvPr id="47107" name="Rectangle 3"/>
          <p:cNvSpPr>
            <a:spLocks noGrp="1" noChangeArrowheads="1"/>
          </p:cNvSpPr>
          <p:nvPr>
            <p:ph type="body" idx="1"/>
          </p:nvPr>
        </p:nvSpPr>
        <p:spPr>
          <a:xfrm>
            <a:off x="971550" y="1989138"/>
            <a:ext cx="7772400" cy="4392612"/>
          </a:xfrm>
        </p:spPr>
        <p:txBody>
          <a:bodyPr/>
          <a:lstStyle/>
          <a:p>
            <a:pPr eaLnBrk="1" hangingPunct="1"/>
            <a:r>
              <a:rPr lang="zh-CN" altLang="en-US" smtClean="0"/>
              <a:t>在数据后面添加上的冗余码称为</a:t>
            </a:r>
            <a:r>
              <a:rPr lang="zh-CN" altLang="en-US" smtClean="0">
                <a:solidFill>
                  <a:schemeClr val="hlink"/>
                </a:solidFill>
              </a:rPr>
              <a:t>帧检验序列</a:t>
            </a:r>
            <a:r>
              <a:rPr lang="zh-CN" altLang="en-US" smtClean="0"/>
              <a:t> </a:t>
            </a:r>
            <a:r>
              <a:rPr lang="en-US" altLang="zh-CN" smtClean="0"/>
              <a:t>FCS (Frame Check Sequence)</a:t>
            </a:r>
            <a:r>
              <a:rPr lang="zh-CN" altLang="en-US" smtClean="0"/>
              <a:t>。</a:t>
            </a:r>
          </a:p>
          <a:p>
            <a:pPr eaLnBrk="1" hangingPunct="1"/>
            <a:r>
              <a:rPr lang="zh-CN" altLang="en-US" smtClean="0"/>
              <a:t>循环冗余检验 </a:t>
            </a:r>
            <a:r>
              <a:rPr lang="en-US" altLang="zh-CN" smtClean="0"/>
              <a:t>CRC </a:t>
            </a:r>
            <a:r>
              <a:rPr lang="zh-CN" altLang="en-US" smtClean="0"/>
              <a:t>和帧检验序列 </a:t>
            </a:r>
            <a:r>
              <a:rPr lang="en-US" altLang="zh-CN" smtClean="0"/>
              <a:t>FCS</a:t>
            </a:r>
            <a:r>
              <a:rPr lang="zh-CN" altLang="en-US" smtClean="0"/>
              <a:t>并不等同。</a:t>
            </a:r>
          </a:p>
          <a:p>
            <a:pPr lvl="1" eaLnBrk="1" hangingPunct="1"/>
            <a:r>
              <a:rPr lang="en-US" altLang="zh-CN" smtClean="0">
                <a:solidFill>
                  <a:srgbClr val="333399"/>
                </a:solidFill>
                <a:latin typeface="Arial" pitchFamily="34" charset="0"/>
                <a:ea typeface="黑体" pitchFamily="49" charset="-122"/>
              </a:rPr>
              <a:t>CRC </a:t>
            </a:r>
            <a:r>
              <a:rPr lang="zh-CN" altLang="en-US" smtClean="0">
                <a:solidFill>
                  <a:srgbClr val="333399"/>
                </a:solidFill>
                <a:latin typeface="Arial" pitchFamily="34" charset="0"/>
                <a:ea typeface="黑体" pitchFamily="49" charset="-122"/>
              </a:rPr>
              <a:t>是一种常用的</a:t>
            </a:r>
            <a:r>
              <a:rPr lang="zh-CN" altLang="en-US" smtClean="0">
                <a:solidFill>
                  <a:srgbClr val="FF0000"/>
                </a:solidFill>
                <a:latin typeface="Arial" pitchFamily="34" charset="0"/>
                <a:ea typeface="黑体" pitchFamily="49" charset="-122"/>
              </a:rPr>
              <a:t>检错方法</a:t>
            </a:r>
            <a:r>
              <a:rPr lang="zh-CN" altLang="en-US" smtClean="0">
                <a:solidFill>
                  <a:srgbClr val="333399"/>
                </a:solidFill>
                <a:latin typeface="Arial" pitchFamily="34" charset="0"/>
                <a:ea typeface="黑体" pitchFamily="49" charset="-122"/>
              </a:rPr>
              <a:t>，而 </a:t>
            </a:r>
            <a:r>
              <a:rPr lang="en-US" altLang="zh-CN" smtClean="0">
                <a:solidFill>
                  <a:srgbClr val="333399"/>
                </a:solidFill>
                <a:latin typeface="Arial" pitchFamily="34" charset="0"/>
                <a:ea typeface="黑体" pitchFamily="49" charset="-122"/>
              </a:rPr>
              <a:t>FCS </a:t>
            </a:r>
            <a:r>
              <a:rPr lang="zh-CN" altLang="en-US" smtClean="0">
                <a:solidFill>
                  <a:srgbClr val="333399"/>
                </a:solidFill>
                <a:latin typeface="Arial" pitchFamily="34" charset="0"/>
                <a:ea typeface="黑体" pitchFamily="49" charset="-122"/>
              </a:rPr>
              <a:t>是添加在数据后面的</a:t>
            </a:r>
            <a:r>
              <a:rPr lang="zh-CN" altLang="en-US" smtClean="0">
                <a:solidFill>
                  <a:srgbClr val="FF0000"/>
                </a:solidFill>
                <a:latin typeface="Arial" pitchFamily="34" charset="0"/>
                <a:ea typeface="黑体" pitchFamily="49" charset="-122"/>
              </a:rPr>
              <a:t>冗余码</a:t>
            </a:r>
            <a:r>
              <a:rPr lang="zh-CN" altLang="en-US" smtClean="0">
                <a:solidFill>
                  <a:srgbClr val="333399"/>
                </a:solidFill>
                <a:latin typeface="Arial" pitchFamily="34" charset="0"/>
                <a:ea typeface="黑体" pitchFamily="49" charset="-122"/>
              </a:rPr>
              <a:t>。</a:t>
            </a:r>
          </a:p>
          <a:p>
            <a:pPr lvl="1" eaLnBrk="1" hangingPunct="1"/>
            <a:r>
              <a:rPr lang="en-US" altLang="zh-CN" smtClean="0">
                <a:solidFill>
                  <a:srgbClr val="333399"/>
                </a:solidFill>
                <a:latin typeface="Arial" pitchFamily="34" charset="0"/>
                <a:ea typeface="黑体" pitchFamily="49" charset="-122"/>
              </a:rPr>
              <a:t>FCS </a:t>
            </a:r>
            <a:r>
              <a:rPr lang="zh-CN" altLang="en-US" smtClean="0">
                <a:solidFill>
                  <a:srgbClr val="333399"/>
                </a:solidFill>
                <a:latin typeface="Arial" pitchFamily="34" charset="0"/>
                <a:ea typeface="黑体" pitchFamily="49" charset="-122"/>
              </a:rPr>
              <a:t>可以用 </a:t>
            </a:r>
            <a:r>
              <a:rPr lang="en-US" altLang="zh-CN" smtClean="0">
                <a:solidFill>
                  <a:srgbClr val="333399"/>
                </a:solidFill>
                <a:latin typeface="Arial" pitchFamily="34" charset="0"/>
                <a:ea typeface="黑体" pitchFamily="49" charset="-122"/>
              </a:rPr>
              <a:t>CRC </a:t>
            </a:r>
            <a:r>
              <a:rPr lang="zh-CN" altLang="en-US" smtClean="0">
                <a:solidFill>
                  <a:srgbClr val="333399"/>
                </a:solidFill>
                <a:latin typeface="Arial" pitchFamily="34" charset="0"/>
                <a:ea typeface="黑体" pitchFamily="49" charset="-122"/>
              </a:rPr>
              <a:t>这种方法得出，但 </a:t>
            </a:r>
            <a:r>
              <a:rPr lang="en-US" altLang="zh-CN" smtClean="0">
                <a:solidFill>
                  <a:srgbClr val="333399"/>
                </a:solidFill>
                <a:latin typeface="Arial" pitchFamily="34" charset="0"/>
                <a:ea typeface="黑体" pitchFamily="49" charset="-122"/>
              </a:rPr>
              <a:t>CRC </a:t>
            </a:r>
            <a:r>
              <a:rPr lang="zh-CN" altLang="en-US" smtClean="0">
                <a:solidFill>
                  <a:srgbClr val="333399"/>
                </a:solidFill>
                <a:latin typeface="Arial" pitchFamily="34" charset="0"/>
                <a:ea typeface="黑体" pitchFamily="49" charset="-122"/>
              </a:rPr>
              <a:t>并非用来获得 </a:t>
            </a:r>
            <a:r>
              <a:rPr lang="en-US" altLang="zh-CN" smtClean="0">
                <a:solidFill>
                  <a:srgbClr val="333399"/>
                </a:solidFill>
                <a:latin typeface="Arial" pitchFamily="34" charset="0"/>
                <a:ea typeface="黑体" pitchFamily="49" charset="-122"/>
              </a:rPr>
              <a:t>FCS </a:t>
            </a:r>
            <a:r>
              <a:rPr lang="zh-CN" altLang="en-US" smtClean="0">
                <a:solidFill>
                  <a:srgbClr val="333399"/>
                </a:solidFill>
                <a:latin typeface="Arial" pitchFamily="34" charset="0"/>
                <a:ea typeface="黑体" pitchFamily="49" charset="-122"/>
              </a:rPr>
              <a:t>的唯一方法。</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10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900113" y="214313"/>
            <a:ext cx="8243887" cy="1462087"/>
          </a:xfrm>
        </p:spPr>
        <p:txBody>
          <a:bodyPr/>
          <a:lstStyle/>
          <a:p>
            <a:pPr algn="ctr" eaLnBrk="1" hangingPunct="1"/>
            <a:r>
              <a:rPr lang="zh-CN" altLang="en-US" sz="3600" smtClean="0"/>
              <a:t>接收端对收到的每一帧进行 </a:t>
            </a:r>
            <a:r>
              <a:rPr lang="en-US" altLang="zh-CN" sz="3600" smtClean="0"/>
              <a:t>CRC </a:t>
            </a:r>
            <a:r>
              <a:rPr lang="zh-CN" altLang="en-US" sz="3600" smtClean="0"/>
              <a:t>检验 </a:t>
            </a:r>
          </a:p>
        </p:txBody>
      </p:sp>
      <p:sp>
        <p:nvSpPr>
          <p:cNvPr id="150531" name="Rectangle 3"/>
          <p:cNvSpPr>
            <a:spLocks noGrp="1" noChangeArrowheads="1"/>
          </p:cNvSpPr>
          <p:nvPr>
            <p:ph type="body" idx="1"/>
          </p:nvPr>
        </p:nvSpPr>
        <p:spPr>
          <a:xfrm>
            <a:off x="971550" y="1989138"/>
            <a:ext cx="7772400" cy="4392612"/>
          </a:xfrm>
        </p:spPr>
        <p:txBody>
          <a:bodyPr/>
          <a:lstStyle/>
          <a:p>
            <a:pPr algn="just" eaLnBrk="1" hangingPunct="1">
              <a:buFont typeface="Wingdings" pitchFamily="2" charset="2"/>
              <a:buNone/>
            </a:pPr>
            <a:r>
              <a:rPr lang="zh-CN" altLang="en-US" sz="2800" smtClean="0"/>
              <a:t>将收到的每帧除于</a:t>
            </a:r>
            <a:r>
              <a:rPr lang="en-US" altLang="zh-CN" sz="2800" smtClean="0"/>
              <a:t>P</a:t>
            </a:r>
            <a:r>
              <a:rPr lang="zh-CN" altLang="en-US" sz="2800" smtClean="0"/>
              <a:t>得到余数</a:t>
            </a:r>
            <a:r>
              <a:rPr lang="en-US" altLang="zh-CN" sz="2800" smtClean="0"/>
              <a:t>R.</a:t>
            </a:r>
            <a:r>
              <a:rPr lang="zh-CN" altLang="en-US" sz="2800" smtClean="0"/>
              <a:t>如果：</a:t>
            </a:r>
          </a:p>
          <a:p>
            <a:pPr algn="just" eaLnBrk="1" hangingPunct="1"/>
            <a:r>
              <a:rPr lang="en-US" altLang="zh-CN" sz="2800" smtClean="0"/>
              <a:t>(1) </a:t>
            </a:r>
            <a:r>
              <a:rPr lang="zh-CN" altLang="en-US" sz="2800" smtClean="0"/>
              <a:t>若得出的余数 </a:t>
            </a:r>
            <a:r>
              <a:rPr lang="en-US" altLang="zh-CN" sz="2800" i="1" smtClean="0"/>
              <a:t>R</a:t>
            </a:r>
            <a:r>
              <a:rPr lang="en-US" altLang="zh-CN" sz="2800" smtClean="0"/>
              <a:t> = 0</a:t>
            </a:r>
            <a:r>
              <a:rPr lang="zh-CN" altLang="en-US" sz="2800" smtClean="0"/>
              <a:t>，则判定这个帧没有差错，就</a:t>
            </a:r>
            <a:r>
              <a:rPr lang="zh-CN" altLang="en-US" sz="2800" smtClean="0">
                <a:solidFill>
                  <a:schemeClr val="hlink"/>
                </a:solidFill>
              </a:rPr>
              <a:t>接受</a:t>
            </a:r>
            <a:r>
              <a:rPr lang="en-US" altLang="zh-CN" sz="2800" smtClean="0"/>
              <a:t>(accept)</a:t>
            </a:r>
            <a:r>
              <a:rPr lang="zh-CN" altLang="en-US" sz="2800" smtClean="0"/>
              <a:t>。</a:t>
            </a:r>
          </a:p>
          <a:p>
            <a:pPr algn="just" eaLnBrk="1" hangingPunct="1"/>
            <a:r>
              <a:rPr lang="en-US" altLang="zh-CN" sz="2800" smtClean="0"/>
              <a:t>(2) </a:t>
            </a:r>
            <a:r>
              <a:rPr lang="zh-CN" altLang="en-US" sz="2800" smtClean="0"/>
              <a:t>若余数 </a:t>
            </a:r>
            <a:r>
              <a:rPr lang="en-US" altLang="zh-CN" sz="2800" i="1" smtClean="0"/>
              <a:t>R</a:t>
            </a:r>
            <a:r>
              <a:rPr lang="en-US" altLang="zh-CN" sz="2800" smtClean="0"/>
              <a:t> </a:t>
            </a:r>
            <a:r>
              <a:rPr lang="en-US" altLang="zh-CN" sz="2800" smtClean="0">
                <a:sym typeface="Symbol" pitchFamily="18" charset="2"/>
              </a:rPr>
              <a:t></a:t>
            </a:r>
            <a:r>
              <a:rPr lang="en-US" altLang="zh-CN" sz="2800" smtClean="0"/>
              <a:t> 0</a:t>
            </a:r>
            <a:r>
              <a:rPr lang="zh-CN" altLang="en-US" sz="2800" smtClean="0"/>
              <a:t>，则判定这个帧有差错，就</a:t>
            </a:r>
            <a:r>
              <a:rPr lang="zh-CN" altLang="en-US" sz="2800" smtClean="0">
                <a:solidFill>
                  <a:schemeClr val="hlink"/>
                </a:solidFill>
              </a:rPr>
              <a:t>丢弃</a:t>
            </a:r>
            <a:r>
              <a:rPr lang="zh-CN" altLang="en-US" sz="2800" smtClean="0"/>
              <a:t>。</a:t>
            </a:r>
          </a:p>
          <a:p>
            <a:pPr algn="just" eaLnBrk="1" hangingPunct="1"/>
            <a:r>
              <a:rPr lang="zh-CN" altLang="en-US" sz="2800" smtClean="0"/>
              <a:t>但这种检测方法并不能确定究竟是哪一个或哪几个比特出现了差错。</a:t>
            </a:r>
          </a:p>
          <a:p>
            <a:pPr algn="just" eaLnBrk="1" hangingPunct="1"/>
            <a:r>
              <a:rPr lang="zh-CN" altLang="en-US" sz="2800" smtClean="0"/>
              <a:t>只要经过严格的挑选，并使用位数足够多的除数</a:t>
            </a:r>
            <a:r>
              <a:rPr lang="zh-CN" altLang="en-US" sz="900" smtClean="0"/>
              <a:t> </a:t>
            </a:r>
            <a:r>
              <a:rPr lang="en-US" altLang="zh-CN" sz="2800" i="1" smtClean="0"/>
              <a:t>P</a:t>
            </a:r>
            <a:r>
              <a:rPr lang="zh-CN" altLang="en-US" sz="2800" smtClean="0"/>
              <a:t>，那么出现检测不到的差错的概率就很小很小。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1">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05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900113" y="214313"/>
            <a:ext cx="8243887" cy="1462087"/>
          </a:xfrm>
        </p:spPr>
        <p:txBody>
          <a:bodyPr/>
          <a:lstStyle/>
          <a:p>
            <a:pPr algn="ctr" eaLnBrk="1" hangingPunct="1"/>
            <a:r>
              <a:rPr lang="zh-CN" altLang="en-US" smtClean="0"/>
              <a:t>应当注意 </a:t>
            </a:r>
          </a:p>
        </p:txBody>
      </p:sp>
      <p:sp>
        <p:nvSpPr>
          <p:cNvPr id="149507" name="Rectangle 3"/>
          <p:cNvSpPr>
            <a:spLocks noGrp="1" noChangeArrowheads="1"/>
          </p:cNvSpPr>
          <p:nvPr>
            <p:ph type="body" idx="1"/>
          </p:nvPr>
        </p:nvSpPr>
        <p:spPr>
          <a:xfrm>
            <a:off x="971550" y="1989138"/>
            <a:ext cx="7772400" cy="4392612"/>
          </a:xfrm>
        </p:spPr>
        <p:txBody>
          <a:bodyPr/>
          <a:lstStyle/>
          <a:p>
            <a:pPr algn="just" eaLnBrk="1" hangingPunct="1">
              <a:lnSpc>
                <a:spcPct val="90000"/>
              </a:lnSpc>
            </a:pPr>
            <a:r>
              <a:rPr lang="zh-CN" altLang="en-US" sz="2800" smtClean="0"/>
              <a:t>仅用循环冗余检验 </a:t>
            </a:r>
            <a:r>
              <a:rPr lang="en-US" altLang="zh-CN" sz="2800" smtClean="0"/>
              <a:t>CRC </a:t>
            </a:r>
            <a:r>
              <a:rPr lang="zh-CN" altLang="en-US" sz="2800" smtClean="0"/>
              <a:t>差错检测技术只能做到无差错</a:t>
            </a:r>
            <a:r>
              <a:rPr lang="zh-CN" altLang="en-US" sz="2800" smtClean="0">
                <a:solidFill>
                  <a:schemeClr val="hlink"/>
                </a:solidFill>
              </a:rPr>
              <a:t>接受</a:t>
            </a:r>
            <a:r>
              <a:rPr lang="en-US" altLang="zh-CN" sz="2800" smtClean="0"/>
              <a:t>(accept)</a:t>
            </a:r>
            <a:r>
              <a:rPr lang="zh-CN" altLang="en-US" sz="2800" smtClean="0"/>
              <a:t>。</a:t>
            </a:r>
          </a:p>
          <a:p>
            <a:pPr algn="just" eaLnBrk="1" hangingPunct="1">
              <a:lnSpc>
                <a:spcPct val="90000"/>
              </a:lnSpc>
            </a:pPr>
            <a:r>
              <a:rPr lang="zh-CN" altLang="en-US" sz="2800" smtClean="0"/>
              <a:t>“无差错接受”是指：“凡是接受的帧（即</a:t>
            </a:r>
            <a:r>
              <a:rPr lang="zh-CN" altLang="en-US" sz="2800" smtClean="0">
                <a:solidFill>
                  <a:schemeClr val="hlink"/>
                </a:solidFill>
              </a:rPr>
              <a:t>不包括丢弃的帧</a:t>
            </a:r>
            <a:r>
              <a:rPr lang="zh-CN" altLang="en-US" sz="2800" smtClean="0"/>
              <a:t>），我们都能以非常接近于</a:t>
            </a:r>
            <a:r>
              <a:rPr lang="zh-CN" altLang="en-US" sz="1800" smtClean="0"/>
              <a:t> </a:t>
            </a:r>
            <a:r>
              <a:rPr lang="en-US" altLang="zh-CN" sz="2800" smtClean="0"/>
              <a:t>1</a:t>
            </a:r>
            <a:r>
              <a:rPr lang="en-US" altLang="zh-CN" sz="1800" smtClean="0"/>
              <a:t> </a:t>
            </a:r>
            <a:r>
              <a:rPr lang="zh-CN" altLang="en-US" sz="2800" smtClean="0"/>
              <a:t>的概率认为这些帧在传输过程中没有产生差错”。</a:t>
            </a:r>
          </a:p>
          <a:p>
            <a:pPr algn="just" eaLnBrk="1" hangingPunct="1">
              <a:lnSpc>
                <a:spcPct val="90000"/>
              </a:lnSpc>
            </a:pPr>
            <a:r>
              <a:rPr lang="zh-CN" altLang="en-US" sz="2800" smtClean="0"/>
              <a:t>也就是说：“凡是接收端数据链路层接受的帧都没有传输差错”（有差错的帧就丢弃而不接受）。</a:t>
            </a:r>
          </a:p>
          <a:p>
            <a:pPr algn="just" eaLnBrk="1" hangingPunct="1">
              <a:lnSpc>
                <a:spcPct val="90000"/>
              </a:lnSpc>
            </a:pPr>
            <a:r>
              <a:rPr lang="zh-CN" altLang="en-US" sz="2800" smtClean="0"/>
              <a:t>要做到“</a:t>
            </a:r>
            <a:r>
              <a:rPr lang="zh-CN" altLang="en-US" sz="2800" smtClean="0">
                <a:solidFill>
                  <a:schemeClr val="hlink"/>
                </a:solidFill>
              </a:rPr>
              <a:t>可靠传输</a:t>
            </a:r>
            <a:r>
              <a:rPr lang="zh-CN" altLang="en-US" sz="2800" smtClean="0"/>
              <a:t>”（即发送什么就收到什么）就必须再加上</a:t>
            </a:r>
            <a:r>
              <a:rPr lang="zh-CN" altLang="en-US" sz="2800" smtClean="0">
                <a:solidFill>
                  <a:schemeClr val="hlink"/>
                </a:solidFill>
              </a:rPr>
              <a:t>确认</a:t>
            </a:r>
            <a:r>
              <a:rPr lang="zh-CN" altLang="en-US" sz="2800" smtClean="0"/>
              <a:t>和</a:t>
            </a:r>
            <a:r>
              <a:rPr lang="zh-CN" altLang="en-US" sz="2800" smtClean="0">
                <a:solidFill>
                  <a:schemeClr val="hlink"/>
                </a:solidFill>
              </a:rPr>
              <a:t>重传</a:t>
            </a:r>
            <a:r>
              <a:rPr lang="zh-CN" altLang="en-US" sz="2800" smtClean="0"/>
              <a:t>机制。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9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9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00113" y="214313"/>
            <a:ext cx="8243887" cy="1462087"/>
          </a:xfrm>
        </p:spPr>
        <p:txBody>
          <a:bodyPr/>
          <a:lstStyle/>
          <a:p>
            <a:pPr algn="ctr" eaLnBrk="1" hangingPunct="1"/>
            <a:r>
              <a:rPr lang="en-US" altLang="zh-CN" smtClean="0"/>
              <a:t>3.2  </a:t>
            </a:r>
            <a:r>
              <a:rPr lang="zh-CN" altLang="en-US" smtClean="0"/>
              <a:t>点对点协议 </a:t>
            </a:r>
            <a:r>
              <a:rPr lang="en-US" altLang="zh-CN" smtClean="0"/>
              <a:t>PPP </a:t>
            </a:r>
            <a:br>
              <a:rPr lang="en-US" altLang="zh-CN" smtClean="0"/>
            </a:br>
            <a:r>
              <a:rPr lang="en-US" altLang="zh-CN" sz="4000" smtClean="0"/>
              <a:t>3.2.1 PPP </a:t>
            </a:r>
            <a:r>
              <a:rPr lang="zh-CN" altLang="en-US" sz="4000" smtClean="0"/>
              <a:t>协议的特点 </a:t>
            </a:r>
          </a:p>
        </p:txBody>
      </p:sp>
      <p:sp>
        <p:nvSpPr>
          <p:cNvPr id="190467" name="Rectangle 3"/>
          <p:cNvSpPr>
            <a:spLocks noGrp="1" noChangeArrowheads="1"/>
          </p:cNvSpPr>
          <p:nvPr>
            <p:ph type="body" idx="1"/>
          </p:nvPr>
        </p:nvSpPr>
        <p:spPr>
          <a:xfrm>
            <a:off x="971550" y="1989138"/>
            <a:ext cx="7772400" cy="4535487"/>
          </a:xfrm>
        </p:spPr>
        <p:txBody>
          <a:bodyPr/>
          <a:lstStyle/>
          <a:p>
            <a:pPr eaLnBrk="1" hangingPunct="1"/>
            <a:r>
              <a:rPr lang="zh-CN" altLang="en-US" smtClean="0"/>
              <a:t>现在全世界使用得最多的数据链路层协议是</a:t>
            </a:r>
            <a:r>
              <a:rPr lang="zh-CN" altLang="en-US" smtClean="0">
                <a:solidFill>
                  <a:schemeClr val="hlink"/>
                </a:solidFill>
              </a:rPr>
              <a:t>点对点协议</a:t>
            </a:r>
            <a:r>
              <a:rPr lang="zh-CN" altLang="en-US" smtClean="0"/>
              <a:t> </a:t>
            </a:r>
            <a:r>
              <a:rPr lang="en-US" altLang="zh-CN" smtClean="0"/>
              <a:t>PPP (Point-to-Point Protocol)</a:t>
            </a:r>
            <a:r>
              <a:rPr lang="zh-CN" altLang="en-US" smtClean="0"/>
              <a:t>。</a:t>
            </a:r>
          </a:p>
          <a:p>
            <a:pPr eaLnBrk="1" hangingPunct="1"/>
            <a:r>
              <a:rPr lang="zh-CN" altLang="en-US" smtClean="0"/>
              <a:t>用户使用拨号电话线接入因特网时，一般都是使用 </a:t>
            </a:r>
            <a:r>
              <a:rPr lang="en-US" altLang="zh-CN" smtClean="0"/>
              <a:t>PPP </a:t>
            </a:r>
            <a:r>
              <a:rPr lang="zh-CN" altLang="en-US" smtClean="0"/>
              <a:t>协议。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4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900113" y="214313"/>
            <a:ext cx="8243887" cy="1462087"/>
          </a:xfrm>
        </p:spPr>
        <p:txBody>
          <a:bodyPr/>
          <a:lstStyle/>
          <a:p>
            <a:pPr algn="ctr" eaLnBrk="1" hangingPunct="1"/>
            <a:r>
              <a:rPr lang="zh-CN" altLang="en-US" sz="3600" smtClean="0"/>
              <a:t>用户到 </a:t>
            </a:r>
            <a:r>
              <a:rPr lang="en-US" altLang="zh-CN" sz="3600" smtClean="0"/>
              <a:t>ISP </a:t>
            </a:r>
            <a:r>
              <a:rPr lang="zh-CN" altLang="en-US" sz="3600" smtClean="0"/>
              <a:t>的链路使用 </a:t>
            </a:r>
            <a:r>
              <a:rPr lang="en-US" altLang="zh-CN" sz="3600" smtClean="0"/>
              <a:t>PPP </a:t>
            </a:r>
            <a:r>
              <a:rPr lang="zh-CN" altLang="en-US" sz="3600" smtClean="0"/>
              <a:t>协议 </a:t>
            </a:r>
          </a:p>
        </p:txBody>
      </p:sp>
      <p:sp>
        <p:nvSpPr>
          <p:cNvPr id="29699" name="Line 53"/>
          <p:cNvSpPr>
            <a:spLocks noChangeShapeType="1"/>
          </p:cNvSpPr>
          <p:nvPr/>
        </p:nvSpPr>
        <p:spPr bwMode="auto">
          <a:xfrm>
            <a:off x="971550" y="5000625"/>
            <a:ext cx="4032250" cy="0"/>
          </a:xfrm>
          <a:prstGeom prst="line">
            <a:avLst/>
          </a:prstGeom>
          <a:noFill/>
          <a:ln w="9525">
            <a:solidFill>
              <a:schemeClr val="fo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0" name="Oval 54"/>
          <p:cNvSpPr>
            <a:spLocks noChangeArrowheads="1"/>
          </p:cNvSpPr>
          <p:nvPr/>
        </p:nvSpPr>
        <p:spPr bwMode="auto">
          <a:xfrm>
            <a:off x="2484438" y="2192338"/>
            <a:ext cx="936625" cy="2520950"/>
          </a:xfrm>
          <a:prstGeom prst="ellipse">
            <a:avLst/>
          </a:prstGeom>
          <a:solidFill>
            <a:srgbClr val="CCFFFF">
              <a:alpha val="50195"/>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01" name="Text Box 55"/>
          <p:cNvSpPr txBox="1">
            <a:spLocks noChangeArrowheads="1"/>
          </p:cNvSpPr>
          <p:nvPr/>
        </p:nvSpPr>
        <p:spPr bwMode="auto">
          <a:xfrm>
            <a:off x="179388" y="3068638"/>
            <a:ext cx="41275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用</a:t>
            </a:r>
          </a:p>
          <a:p>
            <a:pPr eaLnBrk="1" hangingPunct="1"/>
            <a:endParaRPr kumimoji="1" lang="zh-CN" altLang="en-US" sz="1800">
              <a:solidFill>
                <a:schemeClr val="folHlink"/>
              </a:solidFill>
              <a:latin typeface="Arial" pitchFamily="34" charset="0"/>
              <a:ea typeface="黑体" pitchFamily="49" charset="-122"/>
            </a:endParaRPr>
          </a:p>
          <a:p>
            <a:pPr eaLnBrk="1" hangingPunct="1"/>
            <a:r>
              <a:rPr kumimoji="1" lang="zh-CN" altLang="en-US" sz="1800">
                <a:solidFill>
                  <a:schemeClr val="folHlink"/>
                </a:solidFill>
                <a:latin typeface="Arial" pitchFamily="34" charset="0"/>
                <a:ea typeface="黑体" pitchFamily="49" charset="-122"/>
              </a:rPr>
              <a:t>户</a:t>
            </a:r>
          </a:p>
        </p:txBody>
      </p:sp>
      <p:sp>
        <p:nvSpPr>
          <p:cNvPr id="29702" name="Text Box 56"/>
          <p:cNvSpPr txBox="1">
            <a:spLocks noChangeArrowheads="1"/>
          </p:cNvSpPr>
          <p:nvPr/>
        </p:nvSpPr>
        <p:spPr bwMode="auto">
          <a:xfrm>
            <a:off x="7751763" y="3173413"/>
            <a:ext cx="10985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至因特网</a:t>
            </a:r>
          </a:p>
        </p:txBody>
      </p:sp>
      <p:pic>
        <p:nvPicPr>
          <p:cNvPr id="29703"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213" y="2336800"/>
            <a:ext cx="376237"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704" name="Rectangle 58"/>
          <p:cNvSpPr>
            <a:spLocks noChangeArrowheads="1"/>
          </p:cNvSpPr>
          <p:nvPr/>
        </p:nvSpPr>
        <p:spPr bwMode="auto">
          <a:xfrm>
            <a:off x="5033963" y="2409825"/>
            <a:ext cx="2201862" cy="2232025"/>
          </a:xfrm>
          <a:prstGeom prst="rect">
            <a:avLst/>
          </a:prstGeom>
          <a:solidFill>
            <a:srgbClr val="FFCCFF"/>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29705" name="Text Box 59"/>
          <p:cNvSpPr txBox="1">
            <a:spLocks noChangeArrowheads="1"/>
          </p:cNvSpPr>
          <p:nvPr/>
        </p:nvSpPr>
        <p:spPr bwMode="auto">
          <a:xfrm>
            <a:off x="5037138" y="2449513"/>
            <a:ext cx="224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已向因特网管理机构</a:t>
            </a:r>
          </a:p>
          <a:p>
            <a:pPr algn="ctr" eaLnBrk="1" hangingPunct="1"/>
            <a:r>
              <a:rPr kumimoji="1" lang="zh-CN" altLang="en-US" sz="1800">
                <a:solidFill>
                  <a:schemeClr val="folHlink"/>
                </a:solidFill>
                <a:latin typeface="Arial" pitchFamily="34" charset="0"/>
                <a:ea typeface="黑体" pitchFamily="49" charset="-122"/>
              </a:rPr>
              <a:t>申请到一批</a:t>
            </a:r>
            <a:r>
              <a:rPr kumimoji="1" lang="zh-CN" altLang="en-US" sz="1800" b="1">
                <a:solidFill>
                  <a:schemeClr val="folHlink"/>
                </a:solidFill>
                <a:latin typeface="Arial" pitchFamily="34" charset="0"/>
                <a:ea typeface="黑体" pitchFamily="49" charset="-122"/>
              </a:rPr>
              <a:t> </a:t>
            </a:r>
            <a:r>
              <a:rPr kumimoji="1" lang="en-US" altLang="zh-CN" sz="1800" b="1">
                <a:solidFill>
                  <a:schemeClr val="folHlink"/>
                </a:solidFill>
                <a:latin typeface="Arial" pitchFamily="34" charset="0"/>
                <a:ea typeface="黑体" pitchFamily="49" charset="-122"/>
              </a:rPr>
              <a:t>IP </a:t>
            </a:r>
            <a:r>
              <a:rPr kumimoji="1" lang="zh-CN" altLang="en-US" sz="1800">
                <a:solidFill>
                  <a:schemeClr val="folHlink"/>
                </a:solidFill>
                <a:latin typeface="Arial" pitchFamily="34" charset="0"/>
                <a:ea typeface="黑体" pitchFamily="49" charset="-122"/>
              </a:rPr>
              <a:t>地址</a:t>
            </a:r>
          </a:p>
        </p:txBody>
      </p:sp>
      <p:sp>
        <p:nvSpPr>
          <p:cNvPr id="29706" name="Text Box 60"/>
          <p:cNvSpPr txBox="1">
            <a:spLocks noChangeArrowheads="1"/>
          </p:cNvSpPr>
          <p:nvPr/>
        </p:nvSpPr>
        <p:spPr bwMode="auto">
          <a:xfrm>
            <a:off x="5895975" y="3332163"/>
            <a:ext cx="552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chemeClr val="folHlink"/>
                </a:solidFill>
                <a:latin typeface="Arial" pitchFamily="34" charset="0"/>
                <a:ea typeface="黑体" pitchFamily="49" charset="-122"/>
              </a:rPr>
              <a:t>ISP</a:t>
            </a:r>
          </a:p>
        </p:txBody>
      </p:sp>
      <p:sp>
        <p:nvSpPr>
          <p:cNvPr id="29707" name="Freeform 61"/>
          <p:cNvSpPr>
            <a:spLocks/>
          </p:cNvSpPr>
          <p:nvPr/>
        </p:nvSpPr>
        <p:spPr bwMode="auto">
          <a:xfrm>
            <a:off x="7242175" y="3560763"/>
            <a:ext cx="1506538" cy="114300"/>
          </a:xfrm>
          <a:custGeom>
            <a:avLst/>
            <a:gdLst>
              <a:gd name="T0" fmla="*/ 0 w 949"/>
              <a:gd name="T1" fmla="*/ 0 h 72"/>
              <a:gd name="T2" fmla="*/ 2147483647 w 949"/>
              <a:gd name="T3" fmla="*/ 0 h 72"/>
              <a:gd name="T4" fmla="*/ 2147483647 w 949"/>
              <a:gd name="T5" fmla="*/ 2147483647 h 72"/>
              <a:gd name="T6" fmla="*/ 2147483647 w 949"/>
              <a:gd name="T7" fmla="*/ 2147483647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9" h="72">
                <a:moveTo>
                  <a:pt x="0" y="0"/>
                </a:moveTo>
                <a:lnTo>
                  <a:pt x="379" y="0"/>
                </a:lnTo>
                <a:lnTo>
                  <a:pt x="297" y="72"/>
                </a:lnTo>
                <a:lnTo>
                  <a:pt x="949" y="62"/>
                </a:lnTo>
              </a:path>
            </a:pathLst>
          </a:custGeom>
          <a:noFill/>
          <a:ln w="57150">
            <a:solidFill>
              <a:schemeClr val="folHlink"/>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9708"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213" y="2811463"/>
            <a:ext cx="376237"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9"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213" y="3287713"/>
            <a:ext cx="376237"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10" name="Picture 6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213" y="3763963"/>
            <a:ext cx="376237"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11" name="Picture 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213" y="4240213"/>
            <a:ext cx="376237"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712" name="Line 66"/>
          <p:cNvSpPr>
            <a:spLocks noChangeShapeType="1"/>
          </p:cNvSpPr>
          <p:nvPr/>
        </p:nvSpPr>
        <p:spPr bwMode="auto">
          <a:xfrm>
            <a:off x="971550" y="2552700"/>
            <a:ext cx="4032250" cy="2889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3" name="Text Box 67"/>
          <p:cNvSpPr txBox="1">
            <a:spLocks noChangeArrowheads="1"/>
          </p:cNvSpPr>
          <p:nvPr/>
        </p:nvSpPr>
        <p:spPr bwMode="auto">
          <a:xfrm>
            <a:off x="2555875" y="3173413"/>
            <a:ext cx="8699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接入网</a:t>
            </a:r>
          </a:p>
        </p:txBody>
      </p:sp>
      <p:sp>
        <p:nvSpPr>
          <p:cNvPr id="29714" name="Line 68"/>
          <p:cNvSpPr>
            <a:spLocks noChangeShapeType="1"/>
          </p:cNvSpPr>
          <p:nvPr/>
        </p:nvSpPr>
        <p:spPr bwMode="auto">
          <a:xfrm>
            <a:off x="971550" y="3057525"/>
            <a:ext cx="4032250" cy="1428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5" name="Line 69"/>
          <p:cNvSpPr>
            <a:spLocks noChangeShapeType="1"/>
          </p:cNvSpPr>
          <p:nvPr/>
        </p:nvSpPr>
        <p:spPr bwMode="auto">
          <a:xfrm>
            <a:off x="971550" y="3560763"/>
            <a:ext cx="403225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6" name="Line 70"/>
          <p:cNvSpPr>
            <a:spLocks noChangeShapeType="1"/>
          </p:cNvSpPr>
          <p:nvPr/>
        </p:nvSpPr>
        <p:spPr bwMode="auto">
          <a:xfrm flipV="1">
            <a:off x="971550" y="3852863"/>
            <a:ext cx="4049713" cy="1397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7" name="Line 71"/>
          <p:cNvSpPr>
            <a:spLocks noChangeShapeType="1"/>
          </p:cNvSpPr>
          <p:nvPr/>
        </p:nvSpPr>
        <p:spPr bwMode="auto">
          <a:xfrm flipV="1">
            <a:off x="971550" y="4208463"/>
            <a:ext cx="4032250" cy="2889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8" name="Text Box 72"/>
          <p:cNvSpPr txBox="1">
            <a:spLocks noChangeArrowheads="1"/>
          </p:cNvSpPr>
          <p:nvPr/>
        </p:nvSpPr>
        <p:spPr bwMode="auto">
          <a:xfrm>
            <a:off x="2484438" y="4795838"/>
            <a:ext cx="1162050" cy="3667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1800" b="1">
                <a:solidFill>
                  <a:schemeClr val="folHlink"/>
                </a:solidFill>
                <a:latin typeface="Arial" pitchFamily="34" charset="0"/>
                <a:ea typeface="黑体" pitchFamily="49" charset="-122"/>
              </a:rPr>
              <a:t>PPP</a:t>
            </a:r>
            <a:r>
              <a:rPr kumimoji="1" lang="en-US" altLang="zh-CN" sz="1800">
                <a:solidFill>
                  <a:schemeClr val="folHlink"/>
                </a:solidFill>
                <a:latin typeface="Arial" pitchFamily="34" charset="0"/>
                <a:ea typeface="黑体" pitchFamily="49" charset="-122"/>
              </a:rPr>
              <a:t> </a:t>
            </a:r>
            <a:r>
              <a:rPr kumimoji="1" lang="zh-CN" altLang="en-US" sz="1800">
                <a:solidFill>
                  <a:schemeClr val="folHlink"/>
                </a:solidFill>
                <a:latin typeface="Arial" pitchFamily="34" charset="0"/>
                <a:ea typeface="黑体" pitchFamily="49" charset="-122"/>
              </a:rPr>
              <a:t>协议</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900113" y="214313"/>
            <a:ext cx="8243887" cy="1462087"/>
          </a:xfrm>
        </p:spPr>
        <p:txBody>
          <a:bodyPr/>
          <a:lstStyle/>
          <a:p>
            <a:pPr algn="ctr" eaLnBrk="1" hangingPunct="1"/>
            <a:r>
              <a:rPr lang="en-US" altLang="zh-CN" smtClean="0"/>
              <a:t>3.  PPP </a:t>
            </a:r>
            <a:r>
              <a:rPr lang="zh-CN" altLang="en-US" smtClean="0"/>
              <a:t>协议的组成 </a:t>
            </a:r>
          </a:p>
        </p:txBody>
      </p:sp>
      <p:sp>
        <p:nvSpPr>
          <p:cNvPr id="193539" name="Rectangle 3"/>
          <p:cNvSpPr>
            <a:spLocks noGrp="1" noChangeArrowheads="1"/>
          </p:cNvSpPr>
          <p:nvPr>
            <p:ph type="body" idx="1"/>
          </p:nvPr>
        </p:nvSpPr>
        <p:spPr>
          <a:xfrm>
            <a:off x="971550" y="1989138"/>
            <a:ext cx="7772400" cy="4535487"/>
          </a:xfrm>
        </p:spPr>
        <p:txBody>
          <a:bodyPr/>
          <a:lstStyle/>
          <a:p>
            <a:pPr eaLnBrk="1" hangingPunct="1"/>
            <a:r>
              <a:rPr lang="en-US" altLang="zh-CN" smtClean="0"/>
              <a:t>1992 </a:t>
            </a:r>
            <a:r>
              <a:rPr lang="zh-CN" altLang="en-US" smtClean="0"/>
              <a:t>年制订了 </a:t>
            </a:r>
            <a:r>
              <a:rPr lang="en-US" altLang="zh-CN" smtClean="0"/>
              <a:t>PPP </a:t>
            </a:r>
            <a:r>
              <a:rPr lang="zh-CN" altLang="en-US" smtClean="0"/>
              <a:t>协议。经过 </a:t>
            </a:r>
            <a:r>
              <a:rPr lang="en-US" altLang="zh-CN" smtClean="0"/>
              <a:t>1993 </a:t>
            </a:r>
            <a:r>
              <a:rPr lang="zh-CN" altLang="en-US" smtClean="0"/>
              <a:t>年和 </a:t>
            </a:r>
            <a:r>
              <a:rPr lang="en-US" altLang="zh-CN" smtClean="0"/>
              <a:t>1994 </a:t>
            </a:r>
            <a:r>
              <a:rPr lang="zh-CN" altLang="en-US" smtClean="0"/>
              <a:t>年的修订，现在的 </a:t>
            </a:r>
            <a:r>
              <a:rPr lang="en-US" altLang="zh-CN" smtClean="0"/>
              <a:t>PPP </a:t>
            </a:r>
            <a:r>
              <a:rPr lang="zh-CN" altLang="en-US" smtClean="0"/>
              <a:t>协议已成为因特网的正式标准</a:t>
            </a:r>
            <a:r>
              <a:rPr lang="en-US" altLang="zh-CN" smtClean="0"/>
              <a:t>[RFC 1661]</a:t>
            </a:r>
            <a:r>
              <a:rPr lang="zh-CN" altLang="en-US" smtClean="0"/>
              <a:t>。 </a:t>
            </a:r>
            <a:endParaRPr lang="zh-CN" altLang="en-US" sz="3600" smtClean="0"/>
          </a:p>
          <a:p>
            <a:pPr eaLnBrk="1" hangingPunct="1"/>
            <a:r>
              <a:rPr lang="en-US" altLang="zh-CN" smtClean="0"/>
              <a:t>PPP </a:t>
            </a:r>
            <a:r>
              <a:rPr lang="zh-CN" altLang="en-US" smtClean="0"/>
              <a:t>协议有三个组成部分 </a:t>
            </a:r>
          </a:p>
          <a:p>
            <a:pPr lvl="1" eaLnBrk="1" hangingPunct="1"/>
            <a:r>
              <a:rPr lang="zh-CN" altLang="en-US" smtClean="0">
                <a:solidFill>
                  <a:srgbClr val="333399"/>
                </a:solidFill>
                <a:latin typeface="Arial" pitchFamily="34" charset="0"/>
                <a:ea typeface="黑体" pitchFamily="49" charset="-122"/>
              </a:rPr>
              <a:t>将 </a:t>
            </a:r>
            <a:r>
              <a:rPr lang="en-US" altLang="zh-CN" smtClean="0">
                <a:solidFill>
                  <a:srgbClr val="333399"/>
                </a:solidFill>
                <a:latin typeface="Arial" pitchFamily="34" charset="0"/>
                <a:ea typeface="黑体" pitchFamily="49" charset="-122"/>
              </a:rPr>
              <a:t>IP </a:t>
            </a:r>
            <a:r>
              <a:rPr lang="zh-CN" altLang="en-US" smtClean="0">
                <a:solidFill>
                  <a:srgbClr val="333399"/>
                </a:solidFill>
                <a:latin typeface="Arial" pitchFamily="34" charset="0"/>
                <a:ea typeface="黑体" pitchFamily="49" charset="-122"/>
              </a:rPr>
              <a:t>数据报封装成帧的方法。</a:t>
            </a:r>
          </a:p>
          <a:p>
            <a:pPr lvl="1" eaLnBrk="1" hangingPunct="1"/>
            <a:r>
              <a:rPr lang="zh-CN" altLang="en-US" smtClean="0">
                <a:solidFill>
                  <a:schemeClr val="hlink"/>
                </a:solidFill>
                <a:latin typeface="Arial" pitchFamily="34" charset="0"/>
                <a:ea typeface="黑体" pitchFamily="49" charset="-122"/>
              </a:rPr>
              <a:t>链路控制协议</a:t>
            </a:r>
            <a:r>
              <a:rPr lang="en-US" altLang="zh-CN" smtClean="0">
                <a:solidFill>
                  <a:schemeClr val="hlink"/>
                </a:solidFill>
                <a:latin typeface="Arial" pitchFamily="34" charset="0"/>
                <a:ea typeface="黑体" pitchFamily="49" charset="-122"/>
              </a:rPr>
              <a:t>(</a:t>
            </a:r>
            <a:r>
              <a:rPr lang="zh-CN" altLang="en-US" smtClean="0">
                <a:solidFill>
                  <a:schemeClr val="hlink"/>
                </a:solidFill>
                <a:latin typeface="Arial" pitchFamily="34" charset="0"/>
                <a:ea typeface="黑体" pitchFamily="49" charset="-122"/>
              </a:rPr>
              <a:t>帧长、鉴别类型等</a:t>
            </a:r>
            <a:r>
              <a:rPr lang="en-US" altLang="zh-CN" smtClean="0">
                <a:solidFill>
                  <a:schemeClr val="hlink"/>
                </a:solidFill>
                <a:latin typeface="Arial" pitchFamily="34" charset="0"/>
                <a:ea typeface="黑体" pitchFamily="49" charset="-122"/>
              </a:rPr>
              <a:t>)</a:t>
            </a:r>
            <a:r>
              <a:rPr lang="en-US" altLang="zh-CN" smtClean="0">
                <a:solidFill>
                  <a:srgbClr val="333399"/>
                </a:solidFill>
                <a:latin typeface="Arial" pitchFamily="34" charset="0"/>
                <a:ea typeface="黑体" pitchFamily="49" charset="-122"/>
              </a:rPr>
              <a:t> LCP (Link Control Protocol)</a:t>
            </a:r>
            <a:r>
              <a:rPr lang="zh-CN" altLang="en-US" smtClean="0">
                <a:solidFill>
                  <a:srgbClr val="333399"/>
                </a:solidFill>
                <a:latin typeface="Arial" pitchFamily="34" charset="0"/>
                <a:ea typeface="黑体" pitchFamily="49" charset="-122"/>
              </a:rPr>
              <a:t>。</a:t>
            </a:r>
          </a:p>
          <a:p>
            <a:pPr lvl="1" eaLnBrk="1" hangingPunct="1"/>
            <a:r>
              <a:rPr lang="zh-CN" altLang="en-US" smtClean="0">
                <a:solidFill>
                  <a:schemeClr val="hlink"/>
                </a:solidFill>
                <a:latin typeface="Arial" pitchFamily="34" charset="0"/>
                <a:ea typeface="黑体" pitchFamily="49" charset="-122"/>
              </a:rPr>
              <a:t>网络控制协议（网络参数</a:t>
            </a:r>
            <a:r>
              <a:rPr lang="en-US" altLang="zh-CN" smtClean="0">
                <a:solidFill>
                  <a:schemeClr val="hlink"/>
                </a:solidFill>
                <a:latin typeface="Arial" pitchFamily="34" charset="0"/>
                <a:ea typeface="黑体" pitchFamily="49" charset="-122"/>
              </a:rPr>
              <a:t>IP</a:t>
            </a:r>
            <a:r>
              <a:rPr lang="zh-CN" altLang="en-US" smtClean="0">
                <a:solidFill>
                  <a:schemeClr val="hlink"/>
                </a:solidFill>
                <a:latin typeface="Arial" pitchFamily="34" charset="0"/>
                <a:ea typeface="黑体" pitchFamily="49" charset="-122"/>
              </a:rPr>
              <a:t>、网关等）</a:t>
            </a:r>
            <a:r>
              <a:rPr lang="zh-CN" altLang="en-US" smtClean="0">
                <a:solidFill>
                  <a:srgbClr val="333399"/>
                </a:solidFill>
                <a:latin typeface="Arial" pitchFamily="34" charset="0"/>
                <a:ea typeface="黑体" pitchFamily="49" charset="-122"/>
              </a:rPr>
              <a:t> </a:t>
            </a:r>
            <a:r>
              <a:rPr lang="en-US" altLang="zh-CN" smtClean="0">
                <a:solidFill>
                  <a:srgbClr val="333399"/>
                </a:solidFill>
                <a:latin typeface="Arial" pitchFamily="34" charset="0"/>
                <a:ea typeface="黑体" pitchFamily="49" charset="-122"/>
              </a:rPr>
              <a:t>NCP (Network Control Protocol)</a:t>
            </a:r>
            <a:r>
              <a:rPr lang="zh-CN" altLang="en-US" smtClean="0">
                <a:solidFill>
                  <a:srgbClr val="333399"/>
                </a:solidFill>
                <a:latin typeface="Arial" pitchFamily="34" charset="0"/>
                <a:ea typeface="黑体" pitchFamily="49" charset="-122"/>
              </a:rPr>
              <a:t>。</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53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353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53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35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900113" y="214313"/>
            <a:ext cx="8243887" cy="1462087"/>
          </a:xfrm>
        </p:spPr>
        <p:txBody>
          <a:bodyPr/>
          <a:lstStyle/>
          <a:p>
            <a:pPr algn="ctr" eaLnBrk="1" hangingPunct="1"/>
            <a:r>
              <a:rPr lang="en-US" altLang="zh-CN" smtClean="0"/>
              <a:t>3.2.2   PPP </a:t>
            </a:r>
            <a:r>
              <a:rPr lang="zh-CN" altLang="en-US" smtClean="0"/>
              <a:t>协议的帧格式</a:t>
            </a:r>
          </a:p>
        </p:txBody>
      </p:sp>
      <p:sp>
        <p:nvSpPr>
          <p:cNvPr id="195587" name="Rectangle 3"/>
          <p:cNvSpPr>
            <a:spLocks noGrp="1" noChangeArrowheads="1"/>
          </p:cNvSpPr>
          <p:nvPr>
            <p:ph type="body" idx="1"/>
          </p:nvPr>
        </p:nvSpPr>
        <p:spPr>
          <a:xfrm>
            <a:off x="971550" y="1989138"/>
            <a:ext cx="7772400" cy="4535487"/>
          </a:xfrm>
        </p:spPr>
        <p:txBody>
          <a:bodyPr/>
          <a:lstStyle/>
          <a:p>
            <a:pPr eaLnBrk="1" hangingPunct="1"/>
            <a:r>
              <a:rPr lang="zh-CN" altLang="en-US" smtClean="0"/>
              <a:t>标志字段</a:t>
            </a:r>
            <a:r>
              <a:rPr lang="zh-CN" altLang="en-US" sz="2000" smtClean="0"/>
              <a:t> </a:t>
            </a:r>
            <a:r>
              <a:rPr lang="en-US" altLang="zh-CN" smtClean="0"/>
              <a:t>F</a:t>
            </a:r>
            <a:r>
              <a:rPr lang="en-US" altLang="zh-CN" sz="2000" smtClean="0"/>
              <a:t> </a:t>
            </a:r>
            <a:r>
              <a:rPr lang="en-US" altLang="zh-CN" smtClean="0"/>
              <a:t>= 0x7E </a:t>
            </a:r>
            <a:r>
              <a:rPr lang="zh-CN" altLang="en-US" smtClean="0"/>
              <a:t>（符号“</a:t>
            </a:r>
            <a:r>
              <a:rPr lang="en-US" altLang="zh-CN" smtClean="0"/>
              <a:t>0x”</a:t>
            </a:r>
            <a:r>
              <a:rPr lang="zh-CN" altLang="en-US" smtClean="0"/>
              <a:t>表示后面的字符是用十六进制表示。十六进制的</a:t>
            </a:r>
            <a:r>
              <a:rPr lang="zh-CN" altLang="en-US" sz="2000" smtClean="0"/>
              <a:t> </a:t>
            </a:r>
            <a:r>
              <a:rPr lang="en-US" altLang="zh-CN" smtClean="0"/>
              <a:t>7E</a:t>
            </a:r>
            <a:r>
              <a:rPr lang="en-US" altLang="zh-CN" sz="2000" smtClean="0"/>
              <a:t> </a:t>
            </a:r>
            <a:r>
              <a:rPr lang="zh-CN" altLang="en-US" smtClean="0"/>
              <a:t>的二进制表示是 </a:t>
            </a:r>
            <a:r>
              <a:rPr lang="en-US" altLang="zh-CN" smtClean="0"/>
              <a:t>01111110</a:t>
            </a:r>
            <a:r>
              <a:rPr lang="zh-CN" altLang="en-US" smtClean="0"/>
              <a:t>）。</a:t>
            </a:r>
          </a:p>
          <a:p>
            <a:pPr eaLnBrk="1" hangingPunct="1"/>
            <a:r>
              <a:rPr lang="zh-CN" altLang="en-US" smtClean="0"/>
              <a:t>地址字段</a:t>
            </a:r>
            <a:r>
              <a:rPr lang="zh-CN" altLang="en-US" sz="2000" smtClean="0"/>
              <a:t> </a:t>
            </a:r>
            <a:r>
              <a:rPr lang="en-US" altLang="zh-CN" smtClean="0"/>
              <a:t>A</a:t>
            </a:r>
            <a:r>
              <a:rPr lang="en-US" altLang="zh-CN" sz="2000" smtClean="0"/>
              <a:t> </a:t>
            </a:r>
            <a:r>
              <a:rPr lang="zh-CN" altLang="en-US" smtClean="0"/>
              <a:t>只置为 </a:t>
            </a:r>
            <a:r>
              <a:rPr lang="en-US" altLang="zh-CN" smtClean="0"/>
              <a:t>0xFF</a:t>
            </a:r>
            <a:r>
              <a:rPr lang="zh-CN" altLang="en-US" smtClean="0"/>
              <a:t>。地址字段实际上并不起作用。</a:t>
            </a:r>
          </a:p>
          <a:p>
            <a:pPr eaLnBrk="1" hangingPunct="1"/>
            <a:r>
              <a:rPr lang="zh-CN" altLang="en-US" smtClean="0"/>
              <a:t>控制字段</a:t>
            </a:r>
            <a:r>
              <a:rPr lang="zh-CN" altLang="en-US" sz="2000" smtClean="0"/>
              <a:t> </a:t>
            </a:r>
            <a:r>
              <a:rPr lang="en-US" altLang="zh-CN" smtClean="0"/>
              <a:t>C</a:t>
            </a:r>
            <a:r>
              <a:rPr lang="en-US" altLang="zh-CN" sz="2000" smtClean="0"/>
              <a:t> </a:t>
            </a:r>
            <a:r>
              <a:rPr lang="zh-CN" altLang="en-US" smtClean="0"/>
              <a:t>通常置为 </a:t>
            </a:r>
            <a:r>
              <a:rPr lang="en-US" altLang="zh-CN" smtClean="0"/>
              <a:t>0x03</a:t>
            </a:r>
            <a:r>
              <a:rPr lang="zh-CN" altLang="en-US" smtClean="0"/>
              <a:t>。</a:t>
            </a:r>
          </a:p>
          <a:p>
            <a:pPr eaLnBrk="1" hangingPunct="1"/>
            <a:r>
              <a:rPr lang="en-US" altLang="zh-CN" smtClean="0"/>
              <a:t>PPP </a:t>
            </a:r>
            <a:r>
              <a:rPr lang="zh-CN" altLang="en-US" smtClean="0"/>
              <a:t>是面向字节的，所有的 </a:t>
            </a:r>
            <a:r>
              <a:rPr lang="en-US" altLang="zh-CN" smtClean="0"/>
              <a:t>PPP</a:t>
            </a:r>
            <a:r>
              <a:rPr lang="en-US" altLang="zh-CN" b="1" smtClean="0"/>
              <a:t> </a:t>
            </a:r>
            <a:r>
              <a:rPr lang="zh-CN" altLang="en-US" smtClean="0"/>
              <a:t>帧的长度都是整数字节。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5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55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55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900113" y="214313"/>
            <a:ext cx="8243887" cy="1462087"/>
          </a:xfrm>
        </p:spPr>
        <p:txBody>
          <a:bodyPr/>
          <a:lstStyle/>
          <a:p>
            <a:pPr algn="ctr" eaLnBrk="1" hangingPunct="1"/>
            <a:r>
              <a:rPr lang="en-US" altLang="zh-CN" smtClean="0"/>
              <a:t>PPP </a:t>
            </a:r>
            <a:r>
              <a:rPr lang="zh-CN" altLang="en-US" smtClean="0"/>
              <a:t>协议的帧格式</a:t>
            </a:r>
          </a:p>
        </p:txBody>
      </p:sp>
      <p:sp>
        <p:nvSpPr>
          <p:cNvPr id="194563" name="Rectangle 3"/>
          <p:cNvSpPr>
            <a:spLocks noGrp="1" noChangeArrowheads="1"/>
          </p:cNvSpPr>
          <p:nvPr>
            <p:ph type="body" idx="1"/>
          </p:nvPr>
        </p:nvSpPr>
        <p:spPr>
          <a:xfrm>
            <a:off x="971550" y="4149725"/>
            <a:ext cx="7772400" cy="2232025"/>
          </a:xfrm>
          <a:ln>
            <a:solidFill>
              <a:srgbClr val="333399"/>
            </a:solidFill>
            <a:miter lim="800000"/>
            <a:headEnd/>
            <a:tailEnd/>
          </a:ln>
        </p:spPr>
        <p:txBody>
          <a:bodyPr/>
          <a:lstStyle/>
          <a:p>
            <a:pPr eaLnBrk="1" hangingPunct="1"/>
            <a:r>
              <a:rPr lang="en-US" altLang="zh-CN" sz="2800" smtClean="0"/>
              <a:t>PPP </a:t>
            </a:r>
            <a:r>
              <a:rPr lang="zh-CN" altLang="en-US" sz="2800" smtClean="0"/>
              <a:t>有一个 </a:t>
            </a:r>
            <a:r>
              <a:rPr lang="en-US" altLang="zh-CN" sz="2800" smtClean="0"/>
              <a:t>2 </a:t>
            </a:r>
            <a:r>
              <a:rPr lang="zh-CN" altLang="en-US" sz="2800" smtClean="0"/>
              <a:t>个字节的协议字段。</a:t>
            </a:r>
          </a:p>
          <a:p>
            <a:pPr lvl="1" eaLnBrk="1" hangingPunct="1"/>
            <a:r>
              <a:rPr lang="zh-CN" altLang="en-US" sz="2400" smtClean="0">
                <a:solidFill>
                  <a:srgbClr val="333399"/>
                </a:solidFill>
                <a:latin typeface="Arial" pitchFamily="34" charset="0"/>
                <a:ea typeface="黑体" pitchFamily="49" charset="-122"/>
              </a:rPr>
              <a:t>当协议字段为 </a:t>
            </a:r>
            <a:r>
              <a:rPr lang="en-US" altLang="zh-CN" sz="2400" smtClean="0">
                <a:solidFill>
                  <a:srgbClr val="333399"/>
                </a:solidFill>
                <a:latin typeface="Arial" pitchFamily="34" charset="0"/>
                <a:ea typeface="黑体" pitchFamily="49" charset="-122"/>
              </a:rPr>
              <a:t>0x0021 </a:t>
            </a:r>
            <a:r>
              <a:rPr lang="zh-CN" altLang="en-US" sz="2400" smtClean="0">
                <a:solidFill>
                  <a:srgbClr val="333399"/>
                </a:solidFill>
                <a:latin typeface="Arial" pitchFamily="34" charset="0"/>
                <a:ea typeface="黑体" pitchFamily="49" charset="-122"/>
              </a:rPr>
              <a:t>时，</a:t>
            </a:r>
            <a:r>
              <a:rPr lang="en-US" altLang="zh-CN" sz="2400" smtClean="0">
                <a:solidFill>
                  <a:srgbClr val="333399"/>
                </a:solidFill>
                <a:latin typeface="Arial" pitchFamily="34" charset="0"/>
                <a:ea typeface="黑体" pitchFamily="49" charset="-122"/>
              </a:rPr>
              <a:t>PPP </a:t>
            </a:r>
            <a:r>
              <a:rPr lang="zh-CN" altLang="en-US" sz="2400" smtClean="0">
                <a:solidFill>
                  <a:srgbClr val="333399"/>
                </a:solidFill>
                <a:latin typeface="Arial" pitchFamily="34" charset="0"/>
                <a:ea typeface="黑体" pitchFamily="49" charset="-122"/>
              </a:rPr>
              <a:t>帧的信息字段就是</a:t>
            </a:r>
            <a:r>
              <a:rPr lang="en-US" altLang="zh-CN" sz="2400" smtClean="0">
                <a:solidFill>
                  <a:srgbClr val="333399"/>
                </a:solidFill>
                <a:latin typeface="Arial" pitchFamily="34" charset="0"/>
                <a:ea typeface="黑体" pitchFamily="49" charset="-122"/>
              </a:rPr>
              <a:t>IP </a:t>
            </a:r>
            <a:r>
              <a:rPr lang="zh-CN" altLang="en-US" sz="2400" smtClean="0">
                <a:solidFill>
                  <a:srgbClr val="333399"/>
                </a:solidFill>
                <a:latin typeface="Arial" pitchFamily="34" charset="0"/>
                <a:ea typeface="黑体" pitchFamily="49" charset="-122"/>
              </a:rPr>
              <a:t>数据报。</a:t>
            </a:r>
          </a:p>
          <a:p>
            <a:pPr lvl="1" eaLnBrk="1" hangingPunct="1"/>
            <a:r>
              <a:rPr lang="zh-CN" altLang="en-US" sz="2400" smtClean="0">
                <a:solidFill>
                  <a:srgbClr val="333399"/>
                </a:solidFill>
                <a:latin typeface="Arial" pitchFamily="34" charset="0"/>
                <a:ea typeface="黑体" pitchFamily="49" charset="-122"/>
              </a:rPr>
              <a:t>若为 </a:t>
            </a:r>
            <a:r>
              <a:rPr lang="en-US" altLang="zh-CN" sz="2400" smtClean="0">
                <a:solidFill>
                  <a:srgbClr val="333399"/>
                </a:solidFill>
                <a:latin typeface="Arial" pitchFamily="34" charset="0"/>
                <a:ea typeface="黑体" pitchFamily="49" charset="-122"/>
              </a:rPr>
              <a:t>0xC021, </a:t>
            </a:r>
            <a:r>
              <a:rPr lang="zh-CN" altLang="en-US" sz="2400" smtClean="0">
                <a:solidFill>
                  <a:srgbClr val="333399"/>
                </a:solidFill>
                <a:latin typeface="Arial" pitchFamily="34" charset="0"/>
                <a:ea typeface="黑体" pitchFamily="49" charset="-122"/>
              </a:rPr>
              <a:t>则信息字段是 </a:t>
            </a:r>
            <a:r>
              <a:rPr lang="en-US" altLang="zh-CN" sz="2400" smtClean="0">
                <a:solidFill>
                  <a:srgbClr val="333399"/>
                </a:solidFill>
                <a:latin typeface="Arial" pitchFamily="34" charset="0"/>
                <a:ea typeface="黑体" pitchFamily="49" charset="-122"/>
              </a:rPr>
              <a:t>PPP </a:t>
            </a:r>
            <a:r>
              <a:rPr lang="zh-CN" altLang="en-US" sz="2400" smtClean="0">
                <a:solidFill>
                  <a:srgbClr val="333399"/>
                </a:solidFill>
                <a:latin typeface="Arial" pitchFamily="34" charset="0"/>
                <a:ea typeface="黑体" pitchFamily="49" charset="-122"/>
              </a:rPr>
              <a:t>链路控制数据。</a:t>
            </a:r>
          </a:p>
          <a:p>
            <a:pPr lvl="1" eaLnBrk="1" hangingPunct="1"/>
            <a:r>
              <a:rPr lang="zh-CN" altLang="en-US" sz="2400" smtClean="0">
                <a:solidFill>
                  <a:srgbClr val="333399"/>
                </a:solidFill>
                <a:latin typeface="Arial" pitchFamily="34" charset="0"/>
                <a:ea typeface="黑体" pitchFamily="49" charset="-122"/>
              </a:rPr>
              <a:t>若为 </a:t>
            </a:r>
            <a:r>
              <a:rPr lang="en-US" altLang="zh-CN" sz="2400" smtClean="0">
                <a:solidFill>
                  <a:srgbClr val="333399"/>
                </a:solidFill>
                <a:latin typeface="Arial" pitchFamily="34" charset="0"/>
                <a:ea typeface="黑体" pitchFamily="49" charset="-122"/>
              </a:rPr>
              <a:t>0x8021</a:t>
            </a:r>
            <a:r>
              <a:rPr lang="zh-CN" altLang="en-US" sz="2400" smtClean="0">
                <a:solidFill>
                  <a:srgbClr val="333399"/>
                </a:solidFill>
                <a:latin typeface="Arial" pitchFamily="34" charset="0"/>
                <a:ea typeface="黑体" pitchFamily="49" charset="-122"/>
              </a:rPr>
              <a:t>，则表示这是网络控制数据。</a:t>
            </a:r>
            <a:r>
              <a:rPr lang="zh-CN" altLang="en-US" sz="2400" smtClean="0"/>
              <a:t>  </a:t>
            </a:r>
          </a:p>
        </p:txBody>
      </p:sp>
      <p:sp>
        <p:nvSpPr>
          <p:cNvPr id="32772" name="Rectangle 4"/>
          <p:cNvSpPr>
            <a:spLocks noChangeArrowheads="1"/>
          </p:cNvSpPr>
          <p:nvPr/>
        </p:nvSpPr>
        <p:spPr bwMode="auto">
          <a:xfrm>
            <a:off x="3898900" y="1928813"/>
            <a:ext cx="2898775" cy="465137"/>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a:r>
              <a:rPr kumimoji="1" lang="en-US" altLang="zh-CN">
                <a:solidFill>
                  <a:srgbClr val="333399"/>
                </a:solidFill>
                <a:latin typeface="Arial" pitchFamily="34" charset="0"/>
                <a:ea typeface="黑体" pitchFamily="49" charset="-122"/>
              </a:rPr>
              <a:t>IP </a:t>
            </a:r>
            <a:r>
              <a:rPr kumimoji="1" lang="zh-CN" altLang="en-US">
                <a:solidFill>
                  <a:srgbClr val="333399"/>
                </a:solidFill>
                <a:latin typeface="Arial" pitchFamily="34" charset="0"/>
                <a:ea typeface="黑体" pitchFamily="49" charset="-122"/>
              </a:rPr>
              <a:t>数据报</a:t>
            </a:r>
          </a:p>
        </p:txBody>
      </p:sp>
      <p:sp>
        <p:nvSpPr>
          <p:cNvPr id="32773" name="Text Box 9"/>
          <p:cNvSpPr txBox="1">
            <a:spLocks noChangeArrowheads="1"/>
          </p:cNvSpPr>
          <p:nvPr/>
        </p:nvSpPr>
        <p:spPr bwMode="auto">
          <a:xfrm>
            <a:off x="1271588" y="3363913"/>
            <a:ext cx="325437"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1</a:t>
            </a:r>
          </a:p>
        </p:txBody>
      </p:sp>
      <p:sp>
        <p:nvSpPr>
          <p:cNvPr id="32774" name="Text Box 10"/>
          <p:cNvSpPr txBox="1">
            <a:spLocks noChangeArrowheads="1"/>
          </p:cNvSpPr>
          <p:nvPr/>
        </p:nvSpPr>
        <p:spPr bwMode="auto">
          <a:xfrm>
            <a:off x="3265488" y="3363913"/>
            <a:ext cx="325437"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2</a:t>
            </a:r>
          </a:p>
        </p:txBody>
      </p:sp>
      <p:sp>
        <p:nvSpPr>
          <p:cNvPr id="32775" name="Text Box 11"/>
          <p:cNvSpPr txBox="1">
            <a:spLocks noChangeArrowheads="1"/>
          </p:cNvSpPr>
          <p:nvPr/>
        </p:nvSpPr>
        <p:spPr bwMode="auto">
          <a:xfrm>
            <a:off x="1816100" y="3363913"/>
            <a:ext cx="325438"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1</a:t>
            </a:r>
          </a:p>
        </p:txBody>
      </p:sp>
      <p:sp>
        <p:nvSpPr>
          <p:cNvPr id="32776" name="Text Box 12"/>
          <p:cNvSpPr txBox="1">
            <a:spLocks noChangeArrowheads="1"/>
          </p:cNvSpPr>
          <p:nvPr/>
        </p:nvSpPr>
        <p:spPr bwMode="auto">
          <a:xfrm>
            <a:off x="8064500" y="3363913"/>
            <a:ext cx="325438"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1</a:t>
            </a:r>
          </a:p>
        </p:txBody>
      </p:sp>
      <p:sp>
        <p:nvSpPr>
          <p:cNvPr id="32777" name="Text Box 13"/>
          <p:cNvSpPr txBox="1">
            <a:spLocks noChangeArrowheads="1"/>
          </p:cNvSpPr>
          <p:nvPr/>
        </p:nvSpPr>
        <p:spPr bwMode="auto">
          <a:xfrm>
            <a:off x="457200" y="3363913"/>
            <a:ext cx="69215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字节</a:t>
            </a:r>
          </a:p>
        </p:txBody>
      </p:sp>
      <p:sp>
        <p:nvSpPr>
          <p:cNvPr id="32778" name="Text Box 18"/>
          <p:cNvSpPr txBox="1">
            <a:spLocks noChangeArrowheads="1"/>
          </p:cNvSpPr>
          <p:nvPr/>
        </p:nvSpPr>
        <p:spPr bwMode="auto">
          <a:xfrm>
            <a:off x="2359025" y="3363913"/>
            <a:ext cx="32385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1</a:t>
            </a:r>
          </a:p>
        </p:txBody>
      </p:sp>
      <p:sp>
        <p:nvSpPr>
          <p:cNvPr id="32779" name="Text Box 23"/>
          <p:cNvSpPr txBox="1">
            <a:spLocks noChangeArrowheads="1"/>
          </p:cNvSpPr>
          <p:nvPr/>
        </p:nvSpPr>
        <p:spPr bwMode="auto">
          <a:xfrm>
            <a:off x="7159625" y="3363913"/>
            <a:ext cx="325438"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2</a:t>
            </a:r>
          </a:p>
        </p:txBody>
      </p:sp>
      <p:sp>
        <p:nvSpPr>
          <p:cNvPr id="32780" name="Line 26"/>
          <p:cNvSpPr>
            <a:spLocks noChangeShapeType="1"/>
          </p:cNvSpPr>
          <p:nvPr/>
        </p:nvSpPr>
        <p:spPr bwMode="auto">
          <a:xfrm>
            <a:off x="3898900" y="1916113"/>
            <a:ext cx="17463" cy="9239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1" name="Line 27"/>
          <p:cNvSpPr>
            <a:spLocks noChangeShapeType="1"/>
          </p:cNvSpPr>
          <p:nvPr/>
        </p:nvSpPr>
        <p:spPr bwMode="auto">
          <a:xfrm>
            <a:off x="6797675" y="1916113"/>
            <a:ext cx="0" cy="889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2" name="Text Box 31"/>
          <p:cNvSpPr txBox="1">
            <a:spLocks noChangeArrowheads="1"/>
          </p:cNvSpPr>
          <p:nvPr/>
        </p:nvSpPr>
        <p:spPr bwMode="auto">
          <a:xfrm>
            <a:off x="4260850" y="3363913"/>
            <a:ext cx="215900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不超过 </a:t>
            </a:r>
            <a:r>
              <a:rPr kumimoji="1" lang="en-US" altLang="zh-CN">
                <a:solidFill>
                  <a:srgbClr val="333399"/>
                </a:solidFill>
                <a:latin typeface="Arial" pitchFamily="34" charset="0"/>
                <a:ea typeface="黑体" pitchFamily="49" charset="-122"/>
              </a:rPr>
              <a:t>1500 </a:t>
            </a:r>
            <a:r>
              <a:rPr kumimoji="1" lang="zh-CN" altLang="en-US">
                <a:solidFill>
                  <a:srgbClr val="333399"/>
                </a:solidFill>
                <a:latin typeface="Arial" pitchFamily="34" charset="0"/>
                <a:ea typeface="黑体" pitchFamily="49" charset="-122"/>
              </a:rPr>
              <a:t>字节</a:t>
            </a:r>
          </a:p>
        </p:txBody>
      </p:sp>
      <p:sp>
        <p:nvSpPr>
          <p:cNvPr id="32783" name="Line 32"/>
          <p:cNvSpPr>
            <a:spLocks noChangeShapeType="1"/>
          </p:cNvSpPr>
          <p:nvPr/>
        </p:nvSpPr>
        <p:spPr bwMode="auto">
          <a:xfrm>
            <a:off x="1196975" y="3913188"/>
            <a:ext cx="733583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4" name="Text Box 33"/>
          <p:cNvSpPr txBox="1">
            <a:spLocks noChangeArrowheads="1"/>
          </p:cNvSpPr>
          <p:nvPr/>
        </p:nvSpPr>
        <p:spPr bwMode="auto">
          <a:xfrm>
            <a:off x="4222750" y="3690938"/>
            <a:ext cx="1017588"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PPP </a:t>
            </a:r>
            <a:r>
              <a:rPr kumimoji="1" lang="zh-CN" altLang="en-US">
                <a:solidFill>
                  <a:srgbClr val="333399"/>
                </a:solidFill>
                <a:latin typeface="Arial" pitchFamily="34" charset="0"/>
                <a:ea typeface="黑体" pitchFamily="49" charset="-122"/>
              </a:rPr>
              <a:t>帧</a:t>
            </a:r>
          </a:p>
        </p:txBody>
      </p:sp>
      <p:sp>
        <p:nvSpPr>
          <p:cNvPr id="32785" name="Text Box 39"/>
          <p:cNvSpPr txBox="1">
            <a:spLocks noChangeArrowheads="1"/>
          </p:cNvSpPr>
          <p:nvPr/>
        </p:nvSpPr>
        <p:spPr bwMode="auto">
          <a:xfrm>
            <a:off x="250825" y="217805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先发送</a:t>
            </a:r>
          </a:p>
        </p:txBody>
      </p:sp>
      <p:sp>
        <p:nvSpPr>
          <p:cNvPr id="32786" name="Rectangle 5"/>
          <p:cNvSpPr>
            <a:spLocks noChangeArrowheads="1"/>
          </p:cNvSpPr>
          <p:nvPr/>
        </p:nvSpPr>
        <p:spPr bwMode="auto">
          <a:xfrm>
            <a:off x="1181100" y="2763838"/>
            <a:ext cx="7335838" cy="566737"/>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none" anchor="ctr"/>
          <a:lstStyle/>
          <a:p>
            <a:pPr algn="ctr"/>
            <a:endParaRPr kumimoji="1" lang="zh-CN" altLang="zh-CN">
              <a:solidFill>
                <a:srgbClr val="333399"/>
              </a:solidFill>
              <a:latin typeface="Arial" pitchFamily="34" charset="0"/>
              <a:ea typeface="黑体" pitchFamily="49" charset="-122"/>
            </a:endParaRPr>
          </a:p>
        </p:txBody>
      </p:sp>
      <p:sp>
        <p:nvSpPr>
          <p:cNvPr id="32787" name="Line 6"/>
          <p:cNvSpPr>
            <a:spLocks noChangeShapeType="1"/>
          </p:cNvSpPr>
          <p:nvPr/>
        </p:nvSpPr>
        <p:spPr bwMode="auto">
          <a:xfrm>
            <a:off x="1725613" y="2763838"/>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8" name="Line 7"/>
          <p:cNvSpPr>
            <a:spLocks noChangeShapeType="1"/>
          </p:cNvSpPr>
          <p:nvPr/>
        </p:nvSpPr>
        <p:spPr bwMode="auto">
          <a:xfrm>
            <a:off x="7883525" y="2774950"/>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9" name="Text Box 8"/>
          <p:cNvSpPr txBox="1">
            <a:spLocks noChangeArrowheads="1"/>
          </p:cNvSpPr>
          <p:nvPr/>
        </p:nvSpPr>
        <p:spPr bwMode="auto">
          <a:xfrm>
            <a:off x="1177925" y="2967038"/>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7E</a:t>
            </a:r>
          </a:p>
        </p:txBody>
      </p:sp>
      <p:sp>
        <p:nvSpPr>
          <p:cNvPr id="32790" name="Line 14"/>
          <p:cNvSpPr>
            <a:spLocks noChangeShapeType="1"/>
          </p:cNvSpPr>
          <p:nvPr/>
        </p:nvSpPr>
        <p:spPr bwMode="auto">
          <a:xfrm>
            <a:off x="2268538" y="2774950"/>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1" name="Line 15"/>
          <p:cNvSpPr>
            <a:spLocks noChangeShapeType="1"/>
          </p:cNvSpPr>
          <p:nvPr/>
        </p:nvSpPr>
        <p:spPr bwMode="auto">
          <a:xfrm>
            <a:off x="2811463" y="2763838"/>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2" name="Text Box 16"/>
          <p:cNvSpPr txBox="1">
            <a:spLocks noChangeArrowheads="1"/>
          </p:cNvSpPr>
          <p:nvPr/>
        </p:nvSpPr>
        <p:spPr bwMode="auto">
          <a:xfrm>
            <a:off x="1720850" y="2967038"/>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FF</a:t>
            </a:r>
          </a:p>
        </p:txBody>
      </p:sp>
      <p:sp>
        <p:nvSpPr>
          <p:cNvPr id="32793" name="Text Box 17"/>
          <p:cNvSpPr txBox="1">
            <a:spLocks noChangeArrowheads="1"/>
          </p:cNvSpPr>
          <p:nvPr/>
        </p:nvSpPr>
        <p:spPr bwMode="auto">
          <a:xfrm>
            <a:off x="2257425" y="2967038"/>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03</a:t>
            </a:r>
          </a:p>
        </p:txBody>
      </p:sp>
      <p:sp>
        <p:nvSpPr>
          <p:cNvPr id="32794" name="Text Box 19"/>
          <p:cNvSpPr txBox="1">
            <a:spLocks noChangeArrowheads="1"/>
          </p:cNvSpPr>
          <p:nvPr/>
        </p:nvSpPr>
        <p:spPr bwMode="auto">
          <a:xfrm>
            <a:off x="1254125" y="2730500"/>
            <a:ext cx="339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F</a:t>
            </a:r>
          </a:p>
        </p:txBody>
      </p:sp>
      <p:sp>
        <p:nvSpPr>
          <p:cNvPr id="32795" name="Text Box 20"/>
          <p:cNvSpPr txBox="1">
            <a:spLocks noChangeArrowheads="1"/>
          </p:cNvSpPr>
          <p:nvPr/>
        </p:nvSpPr>
        <p:spPr bwMode="auto">
          <a:xfrm>
            <a:off x="1762125" y="2728913"/>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p>
        </p:txBody>
      </p:sp>
      <p:sp>
        <p:nvSpPr>
          <p:cNvPr id="32796" name="Text Box 21"/>
          <p:cNvSpPr txBox="1">
            <a:spLocks noChangeArrowheads="1"/>
          </p:cNvSpPr>
          <p:nvPr/>
        </p:nvSpPr>
        <p:spPr bwMode="auto">
          <a:xfrm>
            <a:off x="2271713" y="2730500"/>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p>
        </p:txBody>
      </p:sp>
      <p:sp>
        <p:nvSpPr>
          <p:cNvPr id="32797" name="Text Box 22"/>
          <p:cNvSpPr txBox="1">
            <a:spLocks noChangeArrowheads="1"/>
          </p:cNvSpPr>
          <p:nvPr/>
        </p:nvSpPr>
        <p:spPr bwMode="auto">
          <a:xfrm>
            <a:off x="6997700" y="2828925"/>
            <a:ext cx="693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FCS</a:t>
            </a:r>
          </a:p>
        </p:txBody>
      </p:sp>
      <p:sp>
        <p:nvSpPr>
          <p:cNvPr id="32798" name="Text Box 24"/>
          <p:cNvSpPr txBox="1">
            <a:spLocks noChangeArrowheads="1"/>
          </p:cNvSpPr>
          <p:nvPr/>
        </p:nvSpPr>
        <p:spPr bwMode="auto">
          <a:xfrm>
            <a:off x="8001000" y="2751138"/>
            <a:ext cx="339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F</a:t>
            </a:r>
          </a:p>
        </p:txBody>
      </p:sp>
      <p:sp>
        <p:nvSpPr>
          <p:cNvPr id="32799" name="Text Box 25"/>
          <p:cNvSpPr txBox="1">
            <a:spLocks noChangeArrowheads="1"/>
          </p:cNvSpPr>
          <p:nvPr/>
        </p:nvSpPr>
        <p:spPr bwMode="auto">
          <a:xfrm>
            <a:off x="7940675" y="2967038"/>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b="1">
                <a:solidFill>
                  <a:srgbClr val="333399"/>
                </a:solidFill>
                <a:latin typeface="Arial" pitchFamily="34" charset="0"/>
                <a:ea typeface="黑体" pitchFamily="49" charset="-122"/>
              </a:rPr>
              <a:t>7E</a:t>
            </a:r>
          </a:p>
        </p:txBody>
      </p:sp>
      <p:sp>
        <p:nvSpPr>
          <p:cNvPr id="32800" name="Rectangle 28"/>
          <p:cNvSpPr>
            <a:spLocks noChangeArrowheads="1"/>
          </p:cNvSpPr>
          <p:nvPr/>
        </p:nvSpPr>
        <p:spPr bwMode="auto">
          <a:xfrm>
            <a:off x="3898900" y="2790825"/>
            <a:ext cx="2898775"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1" name="Text Box 29"/>
          <p:cNvSpPr txBox="1">
            <a:spLocks noChangeArrowheads="1"/>
          </p:cNvSpPr>
          <p:nvPr/>
        </p:nvSpPr>
        <p:spPr bwMode="auto">
          <a:xfrm>
            <a:off x="2959100" y="281305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协议</a:t>
            </a:r>
          </a:p>
        </p:txBody>
      </p:sp>
      <p:sp>
        <p:nvSpPr>
          <p:cNvPr id="32802" name="Text Box 30"/>
          <p:cNvSpPr txBox="1">
            <a:spLocks noChangeArrowheads="1"/>
          </p:cNvSpPr>
          <p:nvPr/>
        </p:nvSpPr>
        <p:spPr bwMode="auto">
          <a:xfrm>
            <a:off x="4260850" y="2836863"/>
            <a:ext cx="2038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信    息    部    分</a:t>
            </a:r>
          </a:p>
        </p:txBody>
      </p:sp>
      <p:sp>
        <p:nvSpPr>
          <p:cNvPr id="32803" name="AutoShape 34"/>
          <p:cNvSpPr>
            <a:spLocks/>
          </p:cNvSpPr>
          <p:nvPr/>
        </p:nvSpPr>
        <p:spPr bwMode="auto">
          <a:xfrm rot="5400000">
            <a:off x="2451893" y="1316832"/>
            <a:ext cx="176213" cy="2717800"/>
          </a:xfrm>
          <a:prstGeom prst="leftBrace">
            <a:avLst>
              <a:gd name="adj1" fmla="val 128528"/>
              <a:gd name="adj2" fmla="val 50069"/>
            </a:avLst>
          </a:prstGeom>
          <a:noFill/>
          <a:ln w="95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4" name="AutoShape 35"/>
          <p:cNvSpPr>
            <a:spLocks/>
          </p:cNvSpPr>
          <p:nvPr/>
        </p:nvSpPr>
        <p:spPr bwMode="auto">
          <a:xfrm rot="5400000">
            <a:off x="7576344" y="1823244"/>
            <a:ext cx="161925" cy="1719263"/>
          </a:xfrm>
          <a:prstGeom prst="leftBrace">
            <a:avLst>
              <a:gd name="adj1" fmla="val 8848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5" name="Text Box 36"/>
          <p:cNvSpPr txBox="1">
            <a:spLocks noChangeArrowheads="1"/>
          </p:cNvSpPr>
          <p:nvPr/>
        </p:nvSpPr>
        <p:spPr bwMode="auto">
          <a:xfrm>
            <a:off x="2178050" y="2259013"/>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首部</a:t>
            </a:r>
          </a:p>
        </p:txBody>
      </p:sp>
      <p:sp>
        <p:nvSpPr>
          <p:cNvPr id="32806" name="Text Box 37"/>
          <p:cNvSpPr txBox="1">
            <a:spLocks noChangeArrowheads="1"/>
          </p:cNvSpPr>
          <p:nvPr/>
        </p:nvSpPr>
        <p:spPr bwMode="auto">
          <a:xfrm>
            <a:off x="7302500" y="2259013"/>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尾部</a:t>
            </a:r>
          </a:p>
        </p:txBody>
      </p:sp>
      <p:sp>
        <p:nvSpPr>
          <p:cNvPr id="32807" name="Line 38"/>
          <p:cNvSpPr>
            <a:spLocks noChangeShapeType="1"/>
          </p:cNvSpPr>
          <p:nvPr/>
        </p:nvSpPr>
        <p:spPr bwMode="auto">
          <a:xfrm>
            <a:off x="1181100" y="2195513"/>
            <a:ext cx="0" cy="48577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8" name="Line 40"/>
          <p:cNvSpPr>
            <a:spLocks noChangeShapeType="1"/>
          </p:cNvSpPr>
          <p:nvPr/>
        </p:nvSpPr>
        <p:spPr bwMode="auto">
          <a:xfrm>
            <a:off x="6797675" y="2735263"/>
            <a:ext cx="0" cy="5953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9" name="Line 41"/>
          <p:cNvSpPr>
            <a:spLocks noChangeShapeType="1"/>
          </p:cNvSpPr>
          <p:nvPr/>
        </p:nvSpPr>
        <p:spPr bwMode="auto">
          <a:xfrm>
            <a:off x="3898900" y="2774950"/>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10" name="AutoShape 42"/>
          <p:cNvSpPr>
            <a:spLocks noChangeArrowheads="1"/>
          </p:cNvSpPr>
          <p:nvPr/>
        </p:nvSpPr>
        <p:spPr bwMode="auto">
          <a:xfrm>
            <a:off x="5167313" y="2332038"/>
            <a:ext cx="271462" cy="566737"/>
          </a:xfrm>
          <a:prstGeom prst="downArrow">
            <a:avLst>
              <a:gd name="adj1" fmla="val 50000"/>
              <a:gd name="adj2" fmla="val 78290"/>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63">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6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6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56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5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900113" y="214313"/>
            <a:ext cx="8243887" cy="1462087"/>
          </a:xfrm>
        </p:spPr>
        <p:txBody>
          <a:bodyPr/>
          <a:lstStyle/>
          <a:p>
            <a:pPr algn="ctr" eaLnBrk="1" hangingPunct="1"/>
            <a:r>
              <a:rPr lang="zh-CN" altLang="en-US" sz="4800" smtClean="0"/>
              <a:t>透明传输问题 </a:t>
            </a:r>
          </a:p>
        </p:txBody>
      </p:sp>
      <p:sp>
        <p:nvSpPr>
          <p:cNvPr id="33795" name="Rectangle 3"/>
          <p:cNvSpPr>
            <a:spLocks noGrp="1" noChangeArrowheads="1"/>
          </p:cNvSpPr>
          <p:nvPr>
            <p:ph type="body" idx="1"/>
          </p:nvPr>
        </p:nvSpPr>
        <p:spPr>
          <a:xfrm>
            <a:off x="827088" y="1989138"/>
            <a:ext cx="7772400" cy="4535487"/>
          </a:xfrm>
        </p:spPr>
        <p:txBody>
          <a:bodyPr/>
          <a:lstStyle/>
          <a:p>
            <a:pPr eaLnBrk="1" hangingPunct="1">
              <a:lnSpc>
                <a:spcPct val="90000"/>
              </a:lnSpc>
            </a:pPr>
            <a:r>
              <a:rPr lang="zh-CN" altLang="en-US" sz="2800" smtClean="0"/>
              <a:t>当 </a:t>
            </a:r>
            <a:r>
              <a:rPr lang="en-US" altLang="zh-CN" sz="2800" smtClean="0"/>
              <a:t>PPP </a:t>
            </a:r>
            <a:r>
              <a:rPr lang="zh-CN" altLang="en-US" sz="2800" smtClean="0"/>
              <a:t>用在同步传输链路时，协议规定采用硬件来完成比特填充</a:t>
            </a:r>
          </a:p>
          <a:p>
            <a:pPr eaLnBrk="1" hangingPunct="1">
              <a:lnSpc>
                <a:spcPct val="90000"/>
              </a:lnSpc>
            </a:pPr>
            <a:r>
              <a:rPr lang="zh-CN" altLang="en-US" sz="2800" smtClean="0"/>
              <a:t>当 </a:t>
            </a:r>
            <a:r>
              <a:rPr lang="en-US" altLang="zh-CN" sz="2800" smtClean="0"/>
              <a:t>PPP </a:t>
            </a:r>
            <a:r>
              <a:rPr lang="zh-CN" altLang="en-US" sz="2800" smtClean="0"/>
              <a:t>用在异步传输时，就使用一种特殊的</a:t>
            </a:r>
            <a:r>
              <a:rPr lang="zh-CN" altLang="en-US" sz="2800" smtClean="0">
                <a:solidFill>
                  <a:schemeClr val="hlink"/>
                </a:solidFill>
              </a:rPr>
              <a:t>字符填充法</a:t>
            </a:r>
            <a:r>
              <a:rPr lang="zh-CN" altLang="en-US" sz="2800" smtClean="0"/>
              <a:t>。 </a:t>
            </a:r>
          </a:p>
          <a:p>
            <a:pPr eaLnBrk="1" hangingPunct="1">
              <a:lnSpc>
                <a:spcPct val="90000"/>
              </a:lnSpc>
            </a:pPr>
            <a:r>
              <a:rPr lang="zh-CN" altLang="en-US" sz="2800" smtClean="0"/>
              <a:t>同步传输是指通信双方有共同的时钟参考，能够通过时钟参考准确收发数据，通常这个时钟参考是同步时钟线或同一个时钟源。 </a:t>
            </a:r>
          </a:p>
          <a:p>
            <a:pPr eaLnBrk="1" hangingPunct="1">
              <a:lnSpc>
                <a:spcPct val="90000"/>
              </a:lnSpc>
            </a:pPr>
            <a:r>
              <a:rPr lang="zh-CN" altLang="en-US" sz="2800" smtClean="0"/>
              <a:t>异步传输是指通信双方没有共同的时钟参考，通常每次收发数据时都需要有前导码进行速率同步。 </a:t>
            </a:r>
          </a:p>
          <a:p>
            <a:pPr eaLnBrk="1" hangingPunct="1">
              <a:lnSpc>
                <a:spcPct val="90000"/>
              </a:lnSpc>
            </a:pPr>
            <a:endParaRPr lang="en-US" altLang="zh-CN" sz="2800" smtClean="0"/>
          </a:p>
        </p:txBody>
      </p:sp>
      <p:sp>
        <p:nvSpPr>
          <p:cNvPr id="33796" name="Rectangle 4"/>
          <p:cNvSpPr>
            <a:spLocks noChangeArrowheads="1"/>
          </p:cNvSpPr>
          <p:nvPr/>
        </p:nvSpPr>
        <p:spPr bwMode="auto">
          <a:xfrm>
            <a:off x="-4449763" y="-7212013"/>
            <a:ext cx="18043526" cy="2128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21938688" anchor="ctr">
            <a:spAutoFit/>
          </a:bodyPr>
          <a:lstStyle/>
          <a:p>
            <a:r>
              <a:rPr lang="zh-CN" altLang="en-US"/>
              <a:t>同步传输是指通信双方有共同的时钟参考，能够通过时钟参考准确收发数据，通常这个时钟参考是同步时钟线或同一个时钟源。 异步传输是指通信双方没有共同的时钟参考，通常每次收发数据时都需要有前导码进行速率同步。 </a:t>
            </a:r>
          </a:p>
        </p:txBody>
      </p:sp>
      <p:sp>
        <p:nvSpPr>
          <p:cNvPr id="33797" name="Rectangle 5"/>
          <p:cNvSpPr>
            <a:spLocks noChangeArrowheads="1"/>
          </p:cNvSpPr>
          <p:nvPr/>
        </p:nvSpPr>
        <p:spPr bwMode="auto">
          <a:xfrm>
            <a:off x="-4449763" y="-7212013"/>
            <a:ext cx="18043526" cy="2128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21938688" anchor="ctr">
            <a:spAutoFit/>
          </a:bodyPr>
          <a:lstStyle/>
          <a:p>
            <a:r>
              <a:rPr lang="zh-CN" altLang="en-US"/>
              <a:t>同步传输是指通信双方有共同的时钟参考，能够通过时钟参考准确收发数据，通常这个时钟参考是同步时钟线或同一个时钟源。 异步传输是指通信双方没有共同的时钟参考，通常每次收发数据时都需要有前导码进行速率同步。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900113" y="214313"/>
            <a:ext cx="8243887" cy="1462087"/>
          </a:xfrm>
        </p:spPr>
        <p:txBody>
          <a:bodyPr/>
          <a:lstStyle/>
          <a:p>
            <a:pPr algn="ctr" eaLnBrk="1" hangingPunct="1"/>
            <a:r>
              <a:rPr lang="zh-CN" altLang="en-US" smtClean="0"/>
              <a:t>字符填充 （异步传输）</a:t>
            </a:r>
          </a:p>
        </p:txBody>
      </p:sp>
      <p:sp>
        <p:nvSpPr>
          <p:cNvPr id="197635" name="Rectangle 3"/>
          <p:cNvSpPr>
            <a:spLocks noGrp="1" noChangeArrowheads="1"/>
          </p:cNvSpPr>
          <p:nvPr>
            <p:ph type="body" idx="1"/>
          </p:nvPr>
        </p:nvSpPr>
        <p:spPr>
          <a:xfrm>
            <a:off x="684213" y="1989138"/>
            <a:ext cx="8059737" cy="4535487"/>
          </a:xfrm>
        </p:spPr>
        <p:txBody>
          <a:bodyPr/>
          <a:lstStyle/>
          <a:p>
            <a:pPr eaLnBrk="1" hangingPunct="1"/>
            <a:r>
              <a:rPr lang="zh-CN" altLang="en-US" sz="2800" smtClean="0"/>
              <a:t>将信息字段中出现的每一个 </a:t>
            </a:r>
            <a:r>
              <a:rPr lang="en-US" altLang="zh-CN" sz="2800" smtClean="0"/>
              <a:t>0x7E </a:t>
            </a:r>
            <a:r>
              <a:rPr lang="zh-CN" altLang="en-US" sz="2800" smtClean="0"/>
              <a:t>字节转变成为 </a:t>
            </a:r>
            <a:r>
              <a:rPr lang="en-US" altLang="zh-CN" sz="2800" smtClean="0"/>
              <a:t>2 </a:t>
            </a:r>
            <a:r>
              <a:rPr lang="zh-CN" altLang="en-US" sz="2800" smtClean="0"/>
              <a:t>字节序列</a:t>
            </a:r>
            <a:r>
              <a:rPr lang="en-US" altLang="zh-CN" sz="2800" smtClean="0"/>
              <a:t>(0x7D, 0x5E)</a:t>
            </a:r>
            <a:r>
              <a:rPr lang="zh-CN" altLang="en-US" sz="2800" smtClean="0"/>
              <a:t>。 </a:t>
            </a:r>
            <a:endParaRPr lang="zh-CN" altLang="en-US" smtClean="0"/>
          </a:p>
          <a:p>
            <a:pPr eaLnBrk="1" hangingPunct="1"/>
            <a:r>
              <a:rPr lang="zh-CN" altLang="en-US" sz="2800" smtClean="0"/>
              <a:t>若信息字段中出现一个 </a:t>
            </a:r>
            <a:r>
              <a:rPr lang="en-US" altLang="zh-CN" sz="2800" smtClean="0"/>
              <a:t>0x7D </a:t>
            </a:r>
            <a:r>
              <a:rPr lang="zh-CN" altLang="en-US" sz="2800" smtClean="0"/>
              <a:t>的字节</a:t>
            </a:r>
            <a:r>
              <a:rPr lang="en-US" altLang="zh-CN" sz="2800" smtClean="0"/>
              <a:t>, </a:t>
            </a:r>
            <a:r>
              <a:rPr lang="zh-CN" altLang="en-US" sz="2800" smtClean="0"/>
              <a:t>则将其转变成为 </a:t>
            </a:r>
            <a:r>
              <a:rPr lang="en-US" altLang="zh-CN" sz="2800" smtClean="0"/>
              <a:t>2 </a:t>
            </a:r>
            <a:r>
              <a:rPr lang="zh-CN" altLang="en-US" sz="2800" smtClean="0"/>
              <a:t>字节序列</a:t>
            </a:r>
            <a:r>
              <a:rPr lang="en-US" altLang="zh-CN" sz="2800" smtClean="0"/>
              <a:t>(0x7D, 0x5D)</a:t>
            </a:r>
            <a:r>
              <a:rPr lang="zh-CN" altLang="en-US" sz="2800" smtClean="0"/>
              <a:t>。</a:t>
            </a:r>
          </a:p>
          <a:p>
            <a:pPr eaLnBrk="1" hangingPunct="1"/>
            <a:r>
              <a:rPr lang="zh-CN" altLang="en-US" sz="2800" smtClean="0"/>
              <a:t>若信息字段中出现 </a:t>
            </a:r>
            <a:r>
              <a:rPr lang="en-US" altLang="zh-CN" sz="2800" smtClean="0"/>
              <a:t>ASCII </a:t>
            </a:r>
            <a:r>
              <a:rPr lang="zh-CN" altLang="en-US" sz="2800" smtClean="0"/>
              <a:t>码的控制字符（即数值小于 </a:t>
            </a:r>
            <a:r>
              <a:rPr lang="en-US" altLang="zh-CN" sz="2800" smtClean="0"/>
              <a:t>0x20 </a:t>
            </a:r>
            <a:r>
              <a:rPr lang="zh-CN" altLang="en-US" sz="2800" smtClean="0"/>
              <a:t>的字符），则在该字符前面要加入一个 </a:t>
            </a:r>
            <a:r>
              <a:rPr lang="en-US" altLang="zh-CN" sz="2800" smtClean="0"/>
              <a:t>0x7D </a:t>
            </a:r>
            <a:r>
              <a:rPr lang="zh-CN" altLang="en-US" sz="2800" smtClean="0"/>
              <a:t>字节，同时将该字符的编码加以改变。这样做的目的是防止这些表面上的</a:t>
            </a:r>
            <a:r>
              <a:rPr lang="en-US" altLang="zh-CN" sz="2800" b="1" smtClean="0"/>
              <a:t>ASCII</a:t>
            </a:r>
            <a:r>
              <a:rPr lang="zh-CN" altLang="en-US" sz="2800" smtClean="0"/>
              <a:t>码控制字符被错误地解释为控制字符</a:t>
            </a:r>
            <a:r>
              <a:rPr lang="en-US" altLang="zh-CN" sz="2800" smtClean="0"/>
              <a:t>.</a:t>
            </a:r>
            <a:br>
              <a:rPr lang="en-US" altLang="zh-CN" sz="2800" smtClean="0"/>
            </a:br>
            <a:r>
              <a:rPr lang="en-US" altLang="zh-CN" sz="2800" smtClean="0"/>
              <a:t>  </a:t>
            </a:r>
            <a:r>
              <a:rPr lang="en-US" altLang="zh-CN" sz="2800" smtClean="0">
                <a:solidFill>
                  <a:schemeClr val="hlink"/>
                </a:solidFill>
              </a:rPr>
              <a:t>P105 3-09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76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76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150938" y="214313"/>
            <a:ext cx="6516687" cy="1462087"/>
          </a:xfrm>
        </p:spPr>
        <p:txBody>
          <a:bodyPr/>
          <a:lstStyle/>
          <a:p>
            <a:pPr algn="ctr" eaLnBrk="1" hangingPunct="1"/>
            <a:r>
              <a:rPr lang="zh-CN" altLang="en-US" smtClean="0"/>
              <a:t>零比特填充 </a:t>
            </a:r>
          </a:p>
        </p:txBody>
      </p:sp>
      <p:sp>
        <p:nvSpPr>
          <p:cNvPr id="35843" name="Rectangle 3"/>
          <p:cNvSpPr>
            <a:spLocks noGrp="1" noChangeArrowheads="1"/>
          </p:cNvSpPr>
          <p:nvPr>
            <p:ph type="body" idx="1"/>
          </p:nvPr>
        </p:nvSpPr>
        <p:spPr>
          <a:xfrm>
            <a:off x="1042988" y="1773238"/>
            <a:ext cx="7772400" cy="4464050"/>
          </a:xfrm>
        </p:spPr>
        <p:txBody>
          <a:bodyPr/>
          <a:lstStyle/>
          <a:p>
            <a:pPr eaLnBrk="1" hangingPunct="1"/>
            <a:r>
              <a:rPr lang="en-US" altLang="zh-CN" smtClean="0"/>
              <a:t>PPP </a:t>
            </a:r>
            <a:r>
              <a:rPr lang="zh-CN" altLang="en-US" smtClean="0"/>
              <a:t>协议用在 </a:t>
            </a:r>
            <a:r>
              <a:rPr lang="en-US" altLang="zh-CN" smtClean="0"/>
              <a:t>SONET/SDH </a:t>
            </a:r>
            <a:r>
              <a:rPr lang="zh-CN" altLang="en-US" smtClean="0"/>
              <a:t>链路时，是使用同步传输（一连串的比特连续传送）。这时 </a:t>
            </a:r>
            <a:r>
              <a:rPr lang="en-US" altLang="zh-CN" smtClean="0"/>
              <a:t>PPP </a:t>
            </a:r>
            <a:r>
              <a:rPr lang="zh-CN" altLang="en-US" smtClean="0"/>
              <a:t>协议采用零比特填充方法来实现透明传输。</a:t>
            </a:r>
          </a:p>
          <a:p>
            <a:pPr eaLnBrk="1" hangingPunct="1"/>
            <a:r>
              <a:rPr lang="zh-CN" altLang="en-US" smtClean="0"/>
              <a:t>在发送端，只要发现有 </a:t>
            </a:r>
            <a:r>
              <a:rPr lang="en-US" altLang="zh-CN" smtClean="0"/>
              <a:t>5 </a:t>
            </a:r>
            <a:r>
              <a:rPr lang="zh-CN" altLang="en-US" smtClean="0"/>
              <a:t>个连续 </a:t>
            </a:r>
            <a:r>
              <a:rPr lang="en-US" altLang="zh-CN" smtClean="0"/>
              <a:t>1</a:t>
            </a:r>
            <a:r>
              <a:rPr lang="zh-CN" altLang="en-US" smtClean="0"/>
              <a:t>，则立即填入一个 </a:t>
            </a:r>
            <a:r>
              <a:rPr lang="en-US" altLang="zh-CN" smtClean="0"/>
              <a:t>0</a:t>
            </a:r>
            <a:r>
              <a:rPr lang="zh-CN" altLang="en-US" smtClean="0"/>
              <a:t>。接收端对帧中的比特流进行扫描。每当发现 </a:t>
            </a:r>
            <a:r>
              <a:rPr lang="en-US" altLang="zh-CN" smtClean="0"/>
              <a:t>5 </a:t>
            </a:r>
            <a:r>
              <a:rPr lang="zh-CN" altLang="en-US" smtClean="0"/>
              <a:t>个连续</a:t>
            </a:r>
            <a:r>
              <a:rPr lang="en-US" altLang="zh-CN" smtClean="0"/>
              <a:t>1</a:t>
            </a:r>
            <a:r>
              <a:rPr lang="zh-CN" altLang="en-US" smtClean="0"/>
              <a:t>时，就把这 </a:t>
            </a:r>
            <a:r>
              <a:rPr lang="en-US" altLang="zh-CN" smtClean="0"/>
              <a:t>5 </a:t>
            </a:r>
            <a:r>
              <a:rPr lang="zh-CN" altLang="en-US" smtClean="0"/>
              <a:t>个连续 </a:t>
            </a:r>
            <a:r>
              <a:rPr lang="en-US" altLang="zh-CN" smtClean="0"/>
              <a:t>1 </a:t>
            </a:r>
            <a:r>
              <a:rPr lang="zh-CN" altLang="en-US" smtClean="0"/>
              <a:t>后的一个 </a:t>
            </a:r>
            <a:r>
              <a:rPr lang="en-US" altLang="zh-CN" smtClean="0"/>
              <a:t>0 </a:t>
            </a:r>
            <a:r>
              <a:rPr lang="zh-CN" altLang="en-US" smtClean="0"/>
              <a:t>删除，</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AutoShape 20"/>
          <p:cNvSpPr>
            <a:spLocks noChangeArrowheads="1"/>
          </p:cNvSpPr>
          <p:nvPr/>
        </p:nvSpPr>
        <p:spPr bwMode="auto">
          <a:xfrm>
            <a:off x="4840288" y="4830763"/>
            <a:ext cx="2305050" cy="431800"/>
          </a:xfrm>
          <a:prstGeom prst="roundRect">
            <a:avLst>
              <a:gd name="adj" fmla="val 16667"/>
            </a:avLst>
          </a:prstGeom>
          <a:solidFill>
            <a:srgbClr val="CCFFFF"/>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7" name="AutoShape 5"/>
          <p:cNvSpPr>
            <a:spLocks noChangeArrowheads="1"/>
          </p:cNvSpPr>
          <p:nvPr/>
        </p:nvSpPr>
        <p:spPr bwMode="auto">
          <a:xfrm>
            <a:off x="6613525" y="4860925"/>
            <a:ext cx="242888" cy="350838"/>
          </a:xfrm>
          <a:prstGeom prst="roundRect">
            <a:avLst>
              <a:gd name="adj" fmla="val 16667"/>
            </a:avLst>
          </a:prstGeom>
          <a:solidFill>
            <a:schemeClr val="accent2"/>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 name="Rectangle 17"/>
          <p:cNvSpPr>
            <a:spLocks noChangeArrowheads="1"/>
          </p:cNvSpPr>
          <p:nvPr/>
        </p:nvSpPr>
        <p:spPr bwMode="auto">
          <a:xfrm>
            <a:off x="4284663" y="4797425"/>
            <a:ext cx="46688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0 1 0 0 1 1 1 1 1 0 1 0 0 0 1 0 1 0</a:t>
            </a:r>
          </a:p>
        </p:txBody>
      </p:sp>
      <p:sp>
        <p:nvSpPr>
          <p:cNvPr id="36869" name="AutoShape 19"/>
          <p:cNvSpPr>
            <a:spLocks noChangeArrowheads="1"/>
          </p:cNvSpPr>
          <p:nvPr/>
        </p:nvSpPr>
        <p:spPr bwMode="auto">
          <a:xfrm>
            <a:off x="5003800" y="3213100"/>
            <a:ext cx="2305050" cy="431800"/>
          </a:xfrm>
          <a:prstGeom prst="roundRect">
            <a:avLst>
              <a:gd name="adj" fmla="val 16667"/>
            </a:avLst>
          </a:prstGeom>
          <a:solidFill>
            <a:srgbClr val="CCFFFF"/>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 name="AutoShape 6"/>
          <p:cNvSpPr>
            <a:spLocks noChangeArrowheads="1"/>
          </p:cNvSpPr>
          <p:nvPr/>
        </p:nvSpPr>
        <p:spPr bwMode="auto">
          <a:xfrm>
            <a:off x="4976813" y="1557338"/>
            <a:ext cx="2043112" cy="431800"/>
          </a:xfrm>
          <a:prstGeom prst="roundRect">
            <a:avLst>
              <a:gd name="adj" fmla="val 16667"/>
            </a:avLst>
          </a:prstGeom>
          <a:solidFill>
            <a:srgbClr val="CCFFFF"/>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1" name="Rectangle 8"/>
          <p:cNvSpPr>
            <a:spLocks noChangeArrowheads="1"/>
          </p:cNvSpPr>
          <p:nvPr/>
        </p:nvSpPr>
        <p:spPr bwMode="auto">
          <a:xfrm>
            <a:off x="4189413" y="1557338"/>
            <a:ext cx="44148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0 1 0 0 1 1 1 1 1 1 0 0 0 1 0 1 0</a:t>
            </a:r>
          </a:p>
        </p:txBody>
      </p:sp>
      <p:sp>
        <p:nvSpPr>
          <p:cNvPr id="36872" name="AutoShape 4"/>
          <p:cNvSpPr>
            <a:spLocks noChangeArrowheads="1"/>
          </p:cNvSpPr>
          <p:nvPr/>
        </p:nvSpPr>
        <p:spPr bwMode="auto">
          <a:xfrm>
            <a:off x="6561138" y="3244850"/>
            <a:ext cx="242887" cy="371475"/>
          </a:xfrm>
          <a:prstGeom prst="roundRect">
            <a:avLst>
              <a:gd name="adj" fmla="val 16667"/>
            </a:avLst>
          </a:prstGeom>
          <a:solidFill>
            <a:schemeClr val="accent2"/>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3" name="Rectangle 16"/>
          <p:cNvSpPr>
            <a:spLocks noChangeArrowheads="1"/>
          </p:cNvSpPr>
          <p:nvPr/>
        </p:nvSpPr>
        <p:spPr bwMode="auto">
          <a:xfrm>
            <a:off x="4224338" y="3208338"/>
            <a:ext cx="46688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0 1 0 0 1 1 1 1 1 0 1 0 0 0 1 0 1 0</a:t>
            </a:r>
          </a:p>
        </p:txBody>
      </p:sp>
      <p:sp>
        <p:nvSpPr>
          <p:cNvPr id="36874" name="Rectangle 7"/>
          <p:cNvSpPr>
            <a:spLocks noChangeArrowheads="1"/>
          </p:cNvSpPr>
          <p:nvPr/>
        </p:nvSpPr>
        <p:spPr bwMode="auto">
          <a:xfrm>
            <a:off x="384175" y="1522413"/>
            <a:ext cx="2973388" cy="118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2400">
                <a:solidFill>
                  <a:schemeClr val="folHlink"/>
                </a:solidFill>
                <a:latin typeface="Arial" pitchFamily="34" charset="0"/>
                <a:ea typeface="黑体" pitchFamily="49" charset="-122"/>
              </a:rPr>
              <a:t>信息字段中出现了和</a:t>
            </a:r>
          </a:p>
          <a:p>
            <a:pPr algn="ctr" defTabSz="762000" eaLnBrk="0" hangingPunct="0"/>
            <a:r>
              <a:rPr kumimoji="1" lang="zh-CN" altLang="en-US" sz="2400">
                <a:solidFill>
                  <a:schemeClr val="folHlink"/>
                </a:solidFill>
                <a:latin typeface="Arial" pitchFamily="34" charset="0"/>
                <a:ea typeface="黑体" pitchFamily="49" charset="-122"/>
              </a:rPr>
              <a:t>标志字段 </a:t>
            </a:r>
            <a:r>
              <a:rPr kumimoji="1" lang="en-US" altLang="zh-CN" sz="2400">
                <a:solidFill>
                  <a:schemeClr val="folHlink"/>
                </a:solidFill>
                <a:latin typeface="Arial" pitchFamily="34" charset="0"/>
                <a:ea typeface="黑体" pitchFamily="49" charset="-122"/>
              </a:rPr>
              <a:t>F </a:t>
            </a:r>
            <a:r>
              <a:rPr kumimoji="1" lang="zh-CN" altLang="en-US" sz="2400">
                <a:solidFill>
                  <a:schemeClr val="folHlink"/>
                </a:solidFill>
                <a:latin typeface="Arial" pitchFamily="34" charset="0"/>
                <a:ea typeface="黑体" pitchFamily="49" charset="-122"/>
              </a:rPr>
              <a:t>完全一样</a:t>
            </a:r>
          </a:p>
          <a:p>
            <a:pPr algn="ctr" defTabSz="762000" eaLnBrk="0" hangingPunct="0"/>
            <a:r>
              <a:rPr kumimoji="1" lang="zh-CN" altLang="en-US" sz="2400">
                <a:solidFill>
                  <a:schemeClr val="folHlink"/>
                </a:solidFill>
                <a:latin typeface="Arial" pitchFamily="34" charset="0"/>
                <a:ea typeface="黑体" pitchFamily="49" charset="-122"/>
              </a:rPr>
              <a:t>的 </a:t>
            </a:r>
            <a:r>
              <a:rPr kumimoji="1" lang="en-US" altLang="zh-CN" sz="2400">
                <a:solidFill>
                  <a:schemeClr val="folHlink"/>
                </a:solidFill>
                <a:latin typeface="Arial" pitchFamily="34" charset="0"/>
                <a:ea typeface="黑体" pitchFamily="49" charset="-122"/>
              </a:rPr>
              <a:t>8 </a:t>
            </a:r>
            <a:r>
              <a:rPr kumimoji="1" lang="zh-CN" altLang="en-US" sz="2400">
                <a:solidFill>
                  <a:schemeClr val="folHlink"/>
                </a:solidFill>
                <a:latin typeface="Arial" pitchFamily="34" charset="0"/>
                <a:ea typeface="黑体" pitchFamily="49" charset="-122"/>
              </a:rPr>
              <a:t>比特组合</a:t>
            </a:r>
          </a:p>
        </p:txBody>
      </p:sp>
      <p:sp>
        <p:nvSpPr>
          <p:cNvPr id="36875" name="Rectangle 9"/>
          <p:cNvSpPr>
            <a:spLocks noChangeArrowheads="1"/>
          </p:cNvSpPr>
          <p:nvPr/>
        </p:nvSpPr>
        <p:spPr bwMode="auto">
          <a:xfrm>
            <a:off x="179388" y="3360738"/>
            <a:ext cx="3295650"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chemeClr val="folHlink"/>
                </a:solidFill>
                <a:latin typeface="Arial" pitchFamily="34" charset="0"/>
                <a:ea typeface="黑体" pitchFamily="49" charset="-122"/>
              </a:rPr>
              <a:t>发送端在 </a:t>
            </a:r>
            <a:r>
              <a:rPr kumimoji="1" lang="en-US" altLang="zh-CN" sz="2400">
                <a:solidFill>
                  <a:schemeClr val="folHlink"/>
                </a:solidFill>
                <a:latin typeface="Arial" pitchFamily="34" charset="0"/>
                <a:ea typeface="黑体" pitchFamily="49" charset="-122"/>
              </a:rPr>
              <a:t>5 </a:t>
            </a:r>
            <a:r>
              <a:rPr kumimoji="1" lang="zh-CN" altLang="en-US" sz="2400">
                <a:solidFill>
                  <a:schemeClr val="folHlink"/>
                </a:solidFill>
                <a:latin typeface="Arial" pitchFamily="34" charset="0"/>
                <a:ea typeface="黑体" pitchFamily="49" charset="-122"/>
              </a:rPr>
              <a:t>个连 </a:t>
            </a:r>
            <a:r>
              <a:rPr kumimoji="1" lang="en-US" altLang="zh-CN" sz="2400">
                <a:solidFill>
                  <a:schemeClr val="folHlink"/>
                </a:solidFill>
                <a:latin typeface="Arial" pitchFamily="34" charset="0"/>
                <a:ea typeface="黑体" pitchFamily="49" charset="-122"/>
              </a:rPr>
              <a:t>1 </a:t>
            </a:r>
            <a:r>
              <a:rPr kumimoji="1" lang="zh-CN" altLang="en-US" sz="2400">
                <a:solidFill>
                  <a:schemeClr val="folHlink"/>
                </a:solidFill>
                <a:latin typeface="Arial" pitchFamily="34" charset="0"/>
                <a:ea typeface="黑体" pitchFamily="49" charset="-122"/>
              </a:rPr>
              <a:t>之后</a:t>
            </a:r>
          </a:p>
          <a:p>
            <a:pPr defTabSz="762000" eaLnBrk="0" hangingPunct="0"/>
            <a:r>
              <a:rPr kumimoji="1" lang="zh-CN" altLang="en-US" sz="2400">
                <a:solidFill>
                  <a:schemeClr val="folHlink"/>
                </a:solidFill>
                <a:latin typeface="Arial" pitchFamily="34" charset="0"/>
                <a:ea typeface="黑体" pitchFamily="49" charset="-122"/>
              </a:rPr>
              <a:t>填入 </a:t>
            </a:r>
            <a:r>
              <a:rPr kumimoji="1" lang="en-US" altLang="zh-CN" sz="2400">
                <a:solidFill>
                  <a:schemeClr val="folHlink"/>
                </a:solidFill>
                <a:latin typeface="Arial" pitchFamily="34" charset="0"/>
                <a:ea typeface="黑体" pitchFamily="49" charset="-122"/>
              </a:rPr>
              <a:t>0 </a:t>
            </a:r>
            <a:r>
              <a:rPr kumimoji="1" lang="zh-CN" altLang="en-US" sz="2400">
                <a:solidFill>
                  <a:schemeClr val="folHlink"/>
                </a:solidFill>
                <a:latin typeface="Arial" pitchFamily="34" charset="0"/>
                <a:ea typeface="黑体" pitchFamily="49" charset="-122"/>
              </a:rPr>
              <a:t>比特再发送出去</a:t>
            </a:r>
          </a:p>
        </p:txBody>
      </p:sp>
      <p:sp>
        <p:nvSpPr>
          <p:cNvPr id="36876" name="Rectangle 10"/>
          <p:cNvSpPr>
            <a:spLocks noChangeArrowheads="1"/>
          </p:cNvSpPr>
          <p:nvPr/>
        </p:nvSpPr>
        <p:spPr bwMode="auto">
          <a:xfrm>
            <a:off x="414338" y="4943475"/>
            <a:ext cx="2906712"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2400">
                <a:solidFill>
                  <a:schemeClr val="folHlink"/>
                </a:solidFill>
                <a:latin typeface="Arial" pitchFamily="34" charset="0"/>
                <a:ea typeface="黑体" pitchFamily="49" charset="-122"/>
              </a:rPr>
              <a:t>在接收端把 </a:t>
            </a:r>
            <a:r>
              <a:rPr kumimoji="1" lang="en-US" altLang="zh-CN" sz="2400">
                <a:solidFill>
                  <a:schemeClr val="folHlink"/>
                </a:solidFill>
                <a:latin typeface="Arial" pitchFamily="34" charset="0"/>
                <a:ea typeface="黑体" pitchFamily="49" charset="-122"/>
              </a:rPr>
              <a:t>5 </a:t>
            </a:r>
            <a:r>
              <a:rPr kumimoji="1" lang="zh-CN" altLang="en-US" sz="2400">
                <a:solidFill>
                  <a:schemeClr val="folHlink"/>
                </a:solidFill>
                <a:latin typeface="Arial" pitchFamily="34" charset="0"/>
                <a:ea typeface="黑体" pitchFamily="49" charset="-122"/>
              </a:rPr>
              <a:t>个连 </a:t>
            </a:r>
            <a:r>
              <a:rPr kumimoji="1" lang="en-US" altLang="zh-CN" sz="2400">
                <a:solidFill>
                  <a:schemeClr val="folHlink"/>
                </a:solidFill>
                <a:latin typeface="Arial" pitchFamily="34" charset="0"/>
                <a:ea typeface="黑体" pitchFamily="49" charset="-122"/>
              </a:rPr>
              <a:t>1</a:t>
            </a:r>
          </a:p>
          <a:p>
            <a:pPr algn="ctr" defTabSz="762000" eaLnBrk="0" hangingPunct="0"/>
            <a:r>
              <a:rPr kumimoji="1" lang="zh-CN" altLang="en-US" sz="2400">
                <a:solidFill>
                  <a:schemeClr val="folHlink"/>
                </a:solidFill>
                <a:latin typeface="Arial" pitchFamily="34" charset="0"/>
                <a:ea typeface="黑体" pitchFamily="49" charset="-122"/>
              </a:rPr>
              <a:t>之后的 </a:t>
            </a:r>
            <a:r>
              <a:rPr kumimoji="1" lang="en-US" altLang="zh-CN" sz="2400">
                <a:solidFill>
                  <a:schemeClr val="folHlink"/>
                </a:solidFill>
                <a:latin typeface="Arial" pitchFamily="34" charset="0"/>
                <a:ea typeface="黑体" pitchFamily="49" charset="-122"/>
              </a:rPr>
              <a:t>0 </a:t>
            </a:r>
            <a:r>
              <a:rPr kumimoji="1" lang="zh-CN" altLang="en-US" sz="2400">
                <a:solidFill>
                  <a:schemeClr val="folHlink"/>
                </a:solidFill>
                <a:latin typeface="Arial" pitchFamily="34" charset="0"/>
                <a:ea typeface="黑体" pitchFamily="49" charset="-122"/>
              </a:rPr>
              <a:t>比特删除</a:t>
            </a:r>
          </a:p>
        </p:txBody>
      </p:sp>
      <p:sp>
        <p:nvSpPr>
          <p:cNvPr id="36877" name="Rectangle 11"/>
          <p:cNvSpPr>
            <a:spLocks noChangeArrowheads="1"/>
          </p:cNvSpPr>
          <p:nvPr/>
        </p:nvSpPr>
        <p:spPr bwMode="auto">
          <a:xfrm>
            <a:off x="4445000" y="2327275"/>
            <a:ext cx="358298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chemeClr val="folHlink"/>
                </a:solidFill>
                <a:latin typeface="Arial" pitchFamily="34" charset="0"/>
                <a:ea typeface="黑体" pitchFamily="49" charset="-122"/>
              </a:rPr>
              <a:t>会被误认为是标志字段 </a:t>
            </a:r>
            <a:r>
              <a:rPr kumimoji="1" lang="en-US" altLang="zh-CN" sz="2400">
                <a:solidFill>
                  <a:schemeClr val="folHlink"/>
                </a:solidFill>
                <a:latin typeface="Arial" pitchFamily="34" charset="0"/>
                <a:ea typeface="黑体" pitchFamily="49" charset="-122"/>
              </a:rPr>
              <a:t>F </a:t>
            </a:r>
          </a:p>
        </p:txBody>
      </p:sp>
      <p:sp>
        <p:nvSpPr>
          <p:cNvPr id="36878" name="AutoShape 12"/>
          <p:cNvSpPr>
            <a:spLocks noChangeArrowheads="1"/>
          </p:cNvSpPr>
          <p:nvPr/>
        </p:nvSpPr>
        <p:spPr bwMode="auto">
          <a:xfrm rot="-5400000">
            <a:off x="6491288" y="3692525"/>
            <a:ext cx="327025" cy="155575"/>
          </a:xfrm>
          <a:prstGeom prst="rightArrow">
            <a:avLst>
              <a:gd name="adj1" fmla="val 50000"/>
              <a:gd name="adj2" fmla="val 105112"/>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9" name="Rectangle 13"/>
          <p:cNvSpPr>
            <a:spLocks noChangeArrowheads="1"/>
          </p:cNvSpPr>
          <p:nvPr/>
        </p:nvSpPr>
        <p:spPr bwMode="auto">
          <a:xfrm>
            <a:off x="4799013" y="3911600"/>
            <a:ext cx="265271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chemeClr val="folHlink"/>
                </a:solidFill>
                <a:latin typeface="Arial" pitchFamily="34" charset="0"/>
                <a:ea typeface="黑体" pitchFamily="49" charset="-122"/>
              </a:rPr>
              <a:t>发送端填入 </a:t>
            </a:r>
            <a:r>
              <a:rPr kumimoji="1" lang="en-US" altLang="zh-CN" sz="2400">
                <a:solidFill>
                  <a:schemeClr val="folHlink"/>
                </a:solidFill>
                <a:latin typeface="Arial" pitchFamily="34" charset="0"/>
                <a:ea typeface="黑体" pitchFamily="49" charset="-122"/>
              </a:rPr>
              <a:t>0 </a:t>
            </a:r>
            <a:r>
              <a:rPr kumimoji="1" lang="zh-CN" altLang="en-US" sz="2400">
                <a:solidFill>
                  <a:schemeClr val="folHlink"/>
                </a:solidFill>
                <a:latin typeface="Arial" pitchFamily="34" charset="0"/>
                <a:ea typeface="黑体" pitchFamily="49" charset="-122"/>
              </a:rPr>
              <a:t>比特</a:t>
            </a:r>
          </a:p>
        </p:txBody>
      </p:sp>
      <p:sp>
        <p:nvSpPr>
          <p:cNvPr id="36880" name="AutoShape 14"/>
          <p:cNvSpPr>
            <a:spLocks noChangeArrowheads="1"/>
          </p:cNvSpPr>
          <p:nvPr/>
        </p:nvSpPr>
        <p:spPr bwMode="auto">
          <a:xfrm rot="5400000" flipV="1">
            <a:off x="6569075" y="5256213"/>
            <a:ext cx="365125" cy="155575"/>
          </a:xfrm>
          <a:prstGeom prst="rightArrow">
            <a:avLst>
              <a:gd name="adj1" fmla="val 50000"/>
              <a:gd name="adj2" fmla="val 117358"/>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1" name="Rectangle 15"/>
          <p:cNvSpPr>
            <a:spLocks noChangeArrowheads="1"/>
          </p:cNvSpPr>
          <p:nvPr/>
        </p:nvSpPr>
        <p:spPr bwMode="auto">
          <a:xfrm>
            <a:off x="4749800" y="5567363"/>
            <a:ext cx="35671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chemeClr val="folHlink"/>
                </a:solidFill>
                <a:latin typeface="Arial" pitchFamily="34" charset="0"/>
                <a:ea typeface="黑体" pitchFamily="49" charset="-122"/>
              </a:rPr>
              <a:t>接收端删除填入的 </a:t>
            </a:r>
            <a:r>
              <a:rPr kumimoji="1" lang="en-US" altLang="zh-CN" sz="2400">
                <a:solidFill>
                  <a:schemeClr val="folHlink"/>
                </a:solidFill>
                <a:latin typeface="Arial" pitchFamily="34" charset="0"/>
                <a:ea typeface="黑体" pitchFamily="49" charset="-122"/>
              </a:rPr>
              <a:t>0 </a:t>
            </a:r>
            <a:r>
              <a:rPr kumimoji="1" lang="zh-CN" altLang="en-US" sz="2400">
                <a:solidFill>
                  <a:schemeClr val="folHlink"/>
                </a:solidFill>
                <a:latin typeface="Arial" pitchFamily="34" charset="0"/>
                <a:ea typeface="黑体" pitchFamily="49" charset="-122"/>
              </a:rPr>
              <a:t>比特</a:t>
            </a:r>
          </a:p>
        </p:txBody>
      </p:sp>
      <p:sp>
        <p:nvSpPr>
          <p:cNvPr id="36882" name="AutoShape 18"/>
          <p:cNvSpPr>
            <a:spLocks/>
          </p:cNvSpPr>
          <p:nvPr/>
        </p:nvSpPr>
        <p:spPr bwMode="auto">
          <a:xfrm rot="-5400000">
            <a:off x="5827713" y="1155700"/>
            <a:ext cx="296862" cy="1944688"/>
          </a:xfrm>
          <a:prstGeom prst="leftBrace">
            <a:avLst>
              <a:gd name="adj1" fmla="val 5459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3" name="Text Box 21"/>
          <p:cNvSpPr txBox="1">
            <a:spLocks noChangeArrowheads="1"/>
          </p:cNvSpPr>
          <p:nvPr/>
        </p:nvSpPr>
        <p:spPr bwMode="auto">
          <a:xfrm>
            <a:off x="2987675" y="333375"/>
            <a:ext cx="272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4000">
                <a:solidFill>
                  <a:srgbClr val="333399"/>
                </a:solidFill>
                <a:ea typeface="黑体" pitchFamily="49" charset="-122"/>
              </a:rPr>
              <a:t>零比特填充</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00113" y="214313"/>
            <a:ext cx="8243887" cy="1462087"/>
          </a:xfrm>
        </p:spPr>
        <p:txBody>
          <a:bodyPr/>
          <a:lstStyle/>
          <a:p>
            <a:pPr algn="ctr" eaLnBrk="1" hangingPunct="1"/>
            <a:r>
              <a:rPr lang="en-US" altLang="zh-CN" smtClean="0"/>
              <a:t> </a:t>
            </a:r>
            <a:r>
              <a:rPr lang="zh-CN" altLang="en-US" smtClean="0"/>
              <a:t>不提供使用序号和确认</a:t>
            </a:r>
            <a:br>
              <a:rPr lang="zh-CN" altLang="en-US" smtClean="0"/>
            </a:br>
            <a:r>
              <a:rPr lang="zh-CN" altLang="en-US" smtClean="0"/>
              <a:t>的可靠传输 </a:t>
            </a:r>
          </a:p>
        </p:txBody>
      </p:sp>
      <p:sp>
        <p:nvSpPr>
          <p:cNvPr id="199683" name="Rectangle 3"/>
          <p:cNvSpPr>
            <a:spLocks noGrp="1" noChangeArrowheads="1"/>
          </p:cNvSpPr>
          <p:nvPr>
            <p:ph type="body" idx="1"/>
          </p:nvPr>
        </p:nvSpPr>
        <p:spPr>
          <a:xfrm>
            <a:off x="684213" y="1989138"/>
            <a:ext cx="8059737" cy="4535487"/>
          </a:xfrm>
        </p:spPr>
        <p:txBody>
          <a:bodyPr/>
          <a:lstStyle/>
          <a:p>
            <a:pPr eaLnBrk="1" hangingPunct="1">
              <a:lnSpc>
                <a:spcPct val="90000"/>
              </a:lnSpc>
            </a:pPr>
            <a:r>
              <a:rPr lang="en-US" altLang="zh-CN" sz="2800" smtClean="0"/>
              <a:t>PPP </a:t>
            </a:r>
            <a:r>
              <a:rPr lang="zh-CN" altLang="en-US" sz="2800" smtClean="0"/>
              <a:t>协议之所以不使用序号和确认机制是出于以下的考虑：</a:t>
            </a:r>
            <a:endParaRPr lang="zh-CN" altLang="en-US" smtClean="0"/>
          </a:p>
          <a:p>
            <a:pPr lvl="1" eaLnBrk="1" hangingPunct="1">
              <a:lnSpc>
                <a:spcPct val="90000"/>
              </a:lnSpc>
            </a:pPr>
            <a:r>
              <a:rPr lang="zh-CN" altLang="en-US" sz="2400" smtClean="0">
                <a:solidFill>
                  <a:srgbClr val="333399"/>
                </a:solidFill>
                <a:latin typeface="Arial" pitchFamily="34" charset="0"/>
                <a:ea typeface="黑体" pitchFamily="49" charset="-122"/>
              </a:rPr>
              <a:t>在数据链路层出现差错的概率不大时，使用比较简单的 </a:t>
            </a:r>
            <a:r>
              <a:rPr lang="en-US" altLang="zh-CN" sz="2400" smtClean="0">
                <a:solidFill>
                  <a:srgbClr val="333399"/>
                </a:solidFill>
                <a:latin typeface="Arial" pitchFamily="34" charset="0"/>
                <a:ea typeface="黑体" pitchFamily="49" charset="-122"/>
              </a:rPr>
              <a:t>PPP </a:t>
            </a:r>
            <a:r>
              <a:rPr lang="zh-CN" altLang="en-US" sz="2400" smtClean="0">
                <a:solidFill>
                  <a:srgbClr val="333399"/>
                </a:solidFill>
                <a:latin typeface="Arial" pitchFamily="34" charset="0"/>
                <a:ea typeface="黑体" pitchFamily="49" charset="-122"/>
              </a:rPr>
              <a:t>协议较为合理。</a:t>
            </a:r>
            <a:endParaRPr lang="zh-CN" altLang="en-US" sz="2400" smtClean="0"/>
          </a:p>
          <a:p>
            <a:pPr lvl="1" eaLnBrk="1" hangingPunct="1">
              <a:lnSpc>
                <a:spcPct val="90000"/>
              </a:lnSpc>
            </a:pPr>
            <a:r>
              <a:rPr lang="zh-CN" altLang="en-US" sz="2400" smtClean="0">
                <a:solidFill>
                  <a:srgbClr val="333399"/>
                </a:solidFill>
                <a:latin typeface="Arial" pitchFamily="34" charset="0"/>
                <a:ea typeface="黑体" pitchFamily="49" charset="-122"/>
              </a:rPr>
              <a:t>在因特网环境下，</a:t>
            </a:r>
            <a:r>
              <a:rPr lang="en-US" altLang="zh-CN" sz="2400" smtClean="0">
                <a:solidFill>
                  <a:srgbClr val="333399"/>
                </a:solidFill>
                <a:latin typeface="Arial" pitchFamily="34" charset="0"/>
                <a:ea typeface="黑体" pitchFamily="49" charset="-122"/>
              </a:rPr>
              <a:t>PPP </a:t>
            </a:r>
            <a:r>
              <a:rPr lang="zh-CN" altLang="en-US" sz="2400" smtClean="0">
                <a:solidFill>
                  <a:srgbClr val="333399"/>
                </a:solidFill>
                <a:latin typeface="Arial" pitchFamily="34" charset="0"/>
                <a:ea typeface="黑体" pitchFamily="49" charset="-122"/>
              </a:rPr>
              <a:t>的信息字段放入的数据是 </a:t>
            </a:r>
            <a:r>
              <a:rPr lang="en-US" altLang="zh-CN" sz="2400" smtClean="0">
                <a:solidFill>
                  <a:srgbClr val="333399"/>
                </a:solidFill>
                <a:latin typeface="Arial" pitchFamily="34" charset="0"/>
                <a:ea typeface="黑体" pitchFamily="49" charset="-122"/>
              </a:rPr>
              <a:t>IP </a:t>
            </a:r>
            <a:r>
              <a:rPr lang="zh-CN" altLang="en-US" sz="2400" smtClean="0">
                <a:solidFill>
                  <a:srgbClr val="333399"/>
                </a:solidFill>
                <a:latin typeface="Arial" pitchFamily="34" charset="0"/>
                <a:ea typeface="黑体" pitchFamily="49" charset="-122"/>
              </a:rPr>
              <a:t>数据报。</a:t>
            </a:r>
            <a:r>
              <a:rPr lang="zh-CN" altLang="en-US" sz="2400" smtClean="0">
                <a:solidFill>
                  <a:srgbClr val="333399"/>
                </a:solidFill>
                <a:ea typeface="黑体" pitchFamily="49" charset="-122"/>
              </a:rPr>
              <a:t>数据链路层的可靠传输并不能够保证网络层的传输也是可靠的。</a:t>
            </a:r>
          </a:p>
          <a:p>
            <a:pPr lvl="1" eaLnBrk="1" hangingPunct="1">
              <a:lnSpc>
                <a:spcPct val="90000"/>
              </a:lnSpc>
            </a:pPr>
            <a:r>
              <a:rPr lang="zh-CN" altLang="en-US" sz="2400" smtClean="0"/>
              <a:t>当数据帧在路由器中从数据链路层上升到网络层后</a:t>
            </a:r>
            <a:r>
              <a:rPr lang="en-US" altLang="zh-CN" sz="2400" smtClean="0"/>
              <a:t>,</a:t>
            </a:r>
            <a:r>
              <a:rPr lang="zh-CN" altLang="en-US" sz="2400" smtClean="0"/>
              <a:t>仍有可能因网络拥塞而被丢弃</a:t>
            </a:r>
            <a:r>
              <a:rPr lang="en-US" altLang="zh-CN" sz="2400" smtClean="0"/>
              <a:t>(IP</a:t>
            </a:r>
            <a:r>
              <a:rPr lang="zh-CN" altLang="en-US" sz="2400" smtClean="0"/>
              <a:t>层提供的是</a:t>
            </a:r>
            <a:r>
              <a:rPr lang="en-US" altLang="zh-CN" sz="2400" smtClean="0"/>
              <a:t>"</a:t>
            </a:r>
            <a:r>
              <a:rPr lang="zh-CN" altLang="en-US" sz="2400" smtClean="0"/>
              <a:t>尽最大努力</a:t>
            </a:r>
            <a:r>
              <a:rPr lang="en-US" altLang="zh-CN" sz="2400" smtClean="0"/>
              <a:t>"</a:t>
            </a:r>
            <a:r>
              <a:rPr lang="zh-CN" altLang="en-US" sz="2400" smtClean="0"/>
              <a:t>的交付</a:t>
            </a:r>
            <a:r>
              <a:rPr lang="en-US" altLang="zh-CN" sz="2400" smtClean="0"/>
              <a:t>).</a:t>
            </a:r>
            <a:r>
              <a:rPr lang="zh-CN" altLang="en-US" sz="2400" smtClean="0"/>
              <a:t>因此</a:t>
            </a:r>
            <a:r>
              <a:rPr lang="en-US" altLang="zh-CN" sz="2400" smtClean="0"/>
              <a:t>,</a:t>
            </a:r>
            <a:r>
              <a:rPr lang="zh-CN" altLang="en-US" sz="2400" b="1" smtClean="0"/>
              <a:t>数据链路层的可靠传输并不能够保证</a:t>
            </a:r>
            <a:r>
              <a:rPr lang="zh-CN" altLang="en-US" sz="2400" smtClean="0"/>
              <a:t>网络层的传输也是可靠的</a:t>
            </a:r>
            <a:r>
              <a:rPr lang="en-US" altLang="zh-CN" sz="2400" smtClean="0"/>
              <a:t>.</a:t>
            </a:r>
            <a:br>
              <a:rPr lang="en-US" altLang="zh-CN" sz="2400" smtClean="0"/>
            </a:br>
            <a:endParaRPr lang="en-US" altLang="zh-CN" sz="240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96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96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900113" y="214313"/>
            <a:ext cx="8243887" cy="1462087"/>
          </a:xfrm>
        </p:spPr>
        <p:txBody>
          <a:bodyPr/>
          <a:lstStyle/>
          <a:p>
            <a:pPr algn="ctr" eaLnBrk="1" hangingPunct="1"/>
            <a:r>
              <a:rPr lang="en-US" altLang="zh-CN" smtClean="0"/>
              <a:t> 3.2.3   PPP </a:t>
            </a:r>
            <a:r>
              <a:rPr lang="zh-CN" altLang="en-US" smtClean="0"/>
              <a:t>协议的工作状态 </a:t>
            </a:r>
          </a:p>
        </p:txBody>
      </p:sp>
      <p:sp>
        <p:nvSpPr>
          <p:cNvPr id="198659" name="Rectangle 3"/>
          <p:cNvSpPr>
            <a:spLocks noGrp="1" noChangeArrowheads="1"/>
          </p:cNvSpPr>
          <p:nvPr>
            <p:ph type="body" idx="1"/>
          </p:nvPr>
        </p:nvSpPr>
        <p:spPr>
          <a:xfrm>
            <a:off x="684213" y="1989138"/>
            <a:ext cx="8059737" cy="4535487"/>
          </a:xfrm>
        </p:spPr>
        <p:txBody>
          <a:bodyPr/>
          <a:lstStyle/>
          <a:p>
            <a:pPr eaLnBrk="1" hangingPunct="1">
              <a:lnSpc>
                <a:spcPct val="80000"/>
              </a:lnSpc>
            </a:pPr>
            <a:r>
              <a:rPr lang="zh-CN" altLang="en-US" sz="2800" smtClean="0"/>
              <a:t>当用户拨号接入 </a:t>
            </a:r>
            <a:r>
              <a:rPr lang="en-US" altLang="zh-CN" sz="2800" smtClean="0"/>
              <a:t>ISP </a:t>
            </a:r>
            <a:r>
              <a:rPr lang="zh-CN" altLang="en-US" sz="2800" smtClean="0"/>
              <a:t>时，路由器的调制解调器对拨号做出确认，并建立一条物理层连接。</a:t>
            </a:r>
          </a:p>
          <a:p>
            <a:pPr eaLnBrk="1" hangingPunct="1">
              <a:lnSpc>
                <a:spcPct val="80000"/>
              </a:lnSpc>
            </a:pPr>
            <a:r>
              <a:rPr lang="en-US" altLang="zh-CN" sz="2800" smtClean="0"/>
              <a:t>PC </a:t>
            </a:r>
            <a:r>
              <a:rPr lang="zh-CN" altLang="en-US" sz="2800" smtClean="0"/>
              <a:t>机向路由器发送一系列的 </a:t>
            </a:r>
            <a:r>
              <a:rPr lang="en-US" altLang="zh-CN" sz="2800" smtClean="0"/>
              <a:t>LCP </a:t>
            </a:r>
            <a:r>
              <a:rPr lang="zh-CN" altLang="en-US" sz="2800" smtClean="0"/>
              <a:t>分组（封装成多个 </a:t>
            </a:r>
            <a:r>
              <a:rPr lang="en-US" altLang="zh-CN" sz="2800" smtClean="0"/>
              <a:t>PPP </a:t>
            </a:r>
            <a:r>
              <a:rPr lang="zh-CN" altLang="en-US" sz="2800" smtClean="0"/>
              <a:t>帧）</a:t>
            </a:r>
            <a:r>
              <a:rPr lang="en-US" altLang="zh-CN" sz="2800" smtClean="0"/>
              <a:t>,</a:t>
            </a:r>
            <a:r>
              <a:rPr lang="zh-CN" altLang="en-US" sz="2800" smtClean="0"/>
              <a:t>这些分组及其响应选择一些 </a:t>
            </a:r>
            <a:r>
              <a:rPr lang="en-US" altLang="zh-CN" sz="2800" smtClean="0"/>
              <a:t>PPP </a:t>
            </a:r>
            <a:r>
              <a:rPr lang="zh-CN" altLang="en-US" sz="2800" smtClean="0"/>
              <a:t>参数。</a:t>
            </a:r>
          </a:p>
          <a:p>
            <a:pPr eaLnBrk="1" hangingPunct="1">
              <a:lnSpc>
                <a:spcPct val="80000"/>
              </a:lnSpc>
            </a:pPr>
            <a:r>
              <a:rPr lang="zh-CN" altLang="en-US" sz="2800" smtClean="0"/>
              <a:t>接着进行网络层配置，通过</a:t>
            </a:r>
            <a:r>
              <a:rPr lang="en-US" altLang="zh-CN" sz="2800" smtClean="0"/>
              <a:t>NCP</a:t>
            </a:r>
            <a:r>
              <a:rPr lang="zh-CN" altLang="en-US" sz="2800" smtClean="0"/>
              <a:t>协议分组给新接入的 </a:t>
            </a:r>
            <a:r>
              <a:rPr lang="en-US" altLang="zh-CN" sz="2800" smtClean="0"/>
              <a:t>PC</a:t>
            </a:r>
            <a:r>
              <a:rPr lang="zh-CN" altLang="en-US" sz="2800" smtClean="0"/>
              <a:t>机分配一个临时的 </a:t>
            </a:r>
            <a:r>
              <a:rPr lang="en-US" altLang="zh-CN" sz="2800" smtClean="0"/>
              <a:t>IP </a:t>
            </a:r>
            <a:r>
              <a:rPr lang="zh-CN" altLang="en-US" sz="2800" smtClean="0"/>
              <a:t>地址，使 </a:t>
            </a:r>
            <a:r>
              <a:rPr lang="en-US" altLang="zh-CN" sz="2800" smtClean="0"/>
              <a:t>PC </a:t>
            </a:r>
            <a:r>
              <a:rPr lang="zh-CN" altLang="en-US" sz="2800" smtClean="0"/>
              <a:t>机成为因特网上的一个主机。</a:t>
            </a:r>
          </a:p>
          <a:p>
            <a:pPr eaLnBrk="1" hangingPunct="1">
              <a:lnSpc>
                <a:spcPct val="80000"/>
              </a:lnSpc>
            </a:pPr>
            <a:r>
              <a:rPr lang="zh-CN" altLang="en-US" sz="2800" smtClean="0"/>
              <a:t>通信完毕时，</a:t>
            </a:r>
            <a:r>
              <a:rPr lang="en-US" altLang="zh-CN" sz="2800" smtClean="0"/>
              <a:t>NCP </a:t>
            </a:r>
            <a:r>
              <a:rPr lang="zh-CN" altLang="en-US" sz="2800" smtClean="0"/>
              <a:t>释放网络层连接，收回原来分配出去的 </a:t>
            </a:r>
            <a:r>
              <a:rPr lang="en-US" altLang="zh-CN" sz="2800" smtClean="0"/>
              <a:t>IP </a:t>
            </a:r>
            <a:r>
              <a:rPr lang="zh-CN" altLang="en-US" sz="2800" smtClean="0"/>
              <a:t>地址。接着，</a:t>
            </a:r>
            <a:r>
              <a:rPr lang="en-US" altLang="zh-CN" sz="2800" smtClean="0"/>
              <a:t>LCP </a:t>
            </a:r>
            <a:r>
              <a:rPr lang="zh-CN" altLang="en-US" sz="2800" smtClean="0"/>
              <a:t>释放数据链路层连接。最后释放的是物理层的连接。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86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86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10"/>
          <p:cNvSpPr>
            <a:spLocks noChangeArrowheads="1"/>
          </p:cNvSpPr>
          <p:nvPr/>
        </p:nvSpPr>
        <p:spPr bwMode="auto">
          <a:xfrm>
            <a:off x="6443663" y="476250"/>
            <a:ext cx="2232025" cy="469900"/>
          </a:xfrm>
          <a:prstGeom prst="rect">
            <a:avLst/>
          </a:prstGeom>
          <a:solidFill>
            <a:srgbClr val="FFFF66"/>
          </a:solidFill>
          <a:ln>
            <a:noFill/>
          </a:ln>
          <a:effectLst>
            <a:outerShdw dist="45791" dir="3378596"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zh-CN" altLang="en-US" sz="2400">
                <a:solidFill>
                  <a:schemeClr val="folHlink"/>
                </a:solidFill>
                <a:latin typeface="Arial" pitchFamily="34" charset="0"/>
                <a:ea typeface="黑体" pitchFamily="49" charset="-122"/>
              </a:rPr>
              <a:t>设备之间无链路</a:t>
            </a:r>
          </a:p>
        </p:txBody>
      </p:sp>
      <p:sp>
        <p:nvSpPr>
          <p:cNvPr id="39939" name="Rectangle 4"/>
          <p:cNvSpPr>
            <a:spLocks noChangeArrowheads="1"/>
          </p:cNvSpPr>
          <p:nvPr/>
        </p:nvSpPr>
        <p:spPr bwMode="auto">
          <a:xfrm>
            <a:off x="3995738" y="476250"/>
            <a:ext cx="1589087"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a:solidFill>
                  <a:schemeClr val="folHlink"/>
                </a:solidFill>
                <a:latin typeface="Arial" pitchFamily="34" charset="0"/>
                <a:ea typeface="黑体" pitchFamily="49" charset="-122"/>
              </a:rPr>
              <a:t>链路静止</a:t>
            </a:r>
          </a:p>
        </p:txBody>
      </p:sp>
      <p:sp>
        <p:nvSpPr>
          <p:cNvPr id="39940" name="Rectangle 5"/>
          <p:cNvSpPr>
            <a:spLocks noChangeArrowheads="1"/>
          </p:cNvSpPr>
          <p:nvPr/>
        </p:nvSpPr>
        <p:spPr bwMode="auto">
          <a:xfrm>
            <a:off x="3962400" y="1698625"/>
            <a:ext cx="1589088"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a:solidFill>
                  <a:schemeClr val="folHlink"/>
                </a:solidFill>
                <a:latin typeface="Arial" pitchFamily="34" charset="0"/>
                <a:ea typeface="黑体" pitchFamily="49" charset="-122"/>
              </a:rPr>
              <a:t>链路建立</a:t>
            </a:r>
          </a:p>
        </p:txBody>
      </p:sp>
      <p:sp>
        <p:nvSpPr>
          <p:cNvPr id="39941" name="Rectangle 6"/>
          <p:cNvSpPr>
            <a:spLocks noChangeArrowheads="1"/>
          </p:cNvSpPr>
          <p:nvPr/>
        </p:nvSpPr>
        <p:spPr bwMode="auto">
          <a:xfrm>
            <a:off x="3962400" y="2921000"/>
            <a:ext cx="1589088"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a:solidFill>
                  <a:schemeClr val="folHlink"/>
                </a:solidFill>
                <a:latin typeface="Arial" pitchFamily="34" charset="0"/>
                <a:ea typeface="黑体" pitchFamily="49" charset="-122"/>
              </a:rPr>
              <a:t>鉴别</a:t>
            </a:r>
          </a:p>
        </p:txBody>
      </p:sp>
      <p:sp>
        <p:nvSpPr>
          <p:cNvPr id="39942" name="Rectangle 7"/>
          <p:cNvSpPr>
            <a:spLocks noChangeArrowheads="1"/>
          </p:cNvSpPr>
          <p:nvPr/>
        </p:nvSpPr>
        <p:spPr bwMode="auto">
          <a:xfrm>
            <a:off x="3962400" y="4143375"/>
            <a:ext cx="1589088"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a:solidFill>
                  <a:schemeClr val="folHlink"/>
                </a:solidFill>
                <a:latin typeface="Arial" pitchFamily="34" charset="0"/>
                <a:ea typeface="黑体" pitchFamily="49" charset="-122"/>
              </a:rPr>
              <a:t>网络层协议</a:t>
            </a:r>
          </a:p>
        </p:txBody>
      </p:sp>
      <p:sp>
        <p:nvSpPr>
          <p:cNvPr id="39943" name="Rectangle 8"/>
          <p:cNvSpPr>
            <a:spLocks noChangeArrowheads="1"/>
          </p:cNvSpPr>
          <p:nvPr/>
        </p:nvSpPr>
        <p:spPr bwMode="auto">
          <a:xfrm>
            <a:off x="3962400" y="5367338"/>
            <a:ext cx="1589088"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a:solidFill>
                  <a:schemeClr val="folHlink"/>
                </a:solidFill>
                <a:latin typeface="Arial" pitchFamily="34" charset="0"/>
                <a:ea typeface="黑体" pitchFamily="49" charset="-122"/>
              </a:rPr>
              <a:t>链路打开</a:t>
            </a:r>
          </a:p>
        </p:txBody>
      </p:sp>
      <p:sp>
        <p:nvSpPr>
          <p:cNvPr id="39944" name="Rectangle 9"/>
          <p:cNvSpPr>
            <a:spLocks noChangeArrowheads="1"/>
          </p:cNvSpPr>
          <p:nvPr/>
        </p:nvSpPr>
        <p:spPr bwMode="auto">
          <a:xfrm>
            <a:off x="250825" y="2921000"/>
            <a:ext cx="1589088"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a:solidFill>
                  <a:schemeClr val="folHlink"/>
                </a:solidFill>
                <a:latin typeface="Arial" pitchFamily="34" charset="0"/>
                <a:ea typeface="黑体" pitchFamily="49" charset="-122"/>
              </a:rPr>
              <a:t>链路终止</a:t>
            </a:r>
          </a:p>
        </p:txBody>
      </p:sp>
      <p:sp>
        <p:nvSpPr>
          <p:cNvPr id="39945" name="Rectangle 11"/>
          <p:cNvSpPr>
            <a:spLocks noChangeArrowheads="1"/>
          </p:cNvSpPr>
          <p:nvPr/>
        </p:nvSpPr>
        <p:spPr bwMode="auto">
          <a:xfrm>
            <a:off x="6611938" y="1698625"/>
            <a:ext cx="1943100" cy="469900"/>
          </a:xfrm>
          <a:prstGeom prst="rect">
            <a:avLst/>
          </a:prstGeom>
          <a:solidFill>
            <a:srgbClr val="FFFF66"/>
          </a:solidFill>
          <a:ln>
            <a:noFill/>
          </a:ln>
          <a:effectLst>
            <a:outerShdw dist="53882"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zh-CN" altLang="en-US" sz="2400">
                <a:solidFill>
                  <a:schemeClr val="folHlink"/>
                </a:solidFill>
                <a:latin typeface="Arial" pitchFamily="34" charset="0"/>
                <a:ea typeface="黑体" pitchFamily="49" charset="-122"/>
              </a:rPr>
              <a:t>物理链路</a:t>
            </a:r>
          </a:p>
        </p:txBody>
      </p:sp>
      <p:sp>
        <p:nvSpPr>
          <p:cNvPr id="39946" name="Rectangle 12"/>
          <p:cNvSpPr>
            <a:spLocks noChangeArrowheads="1"/>
          </p:cNvSpPr>
          <p:nvPr/>
        </p:nvSpPr>
        <p:spPr bwMode="auto">
          <a:xfrm>
            <a:off x="6611938" y="2921000"/>
            <a:ext cx="1943100" cy="471488"/>
          </a:xfrm>
          <a:prstGeom prst="rect">
            <a:avLst/>
          </a:prstGeom>
          <a:solidFill>
            <a:srgbClr val="FFFF66"/>
          </a:solidFill>
          <a:ln>
            <a:noFill/>
          </a:ln>
          <a:effectLst>
            <a:outerShdw dist="53882"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zh-CN" sz="2400">
                <a:solidFill>
                  <a:schemeClr val="folHlink"/>
                </a:solidFill>
                <a:latin typeface="Arial" pitchFamily="34" charset="0"/>
                <a:ea typeface="黑体" pitchFamily="49" charset="-122"/>
              </a:rPr>
              <a:t>LCP </a:t>
            </a:r>
            <a:r>
              <a:rPr lang="zh-CN" altLang="en-US" sz="2400">
                <a:solidFill>
                  <a:schemeClr val="folHlink"/>
                </a:solidFill>
                <a:latin typeface="Arial" pitchFamily="34" charset="0"/>
                <a:ea typeface="黑体" pitchFamily="49" charset="-122"/>
              </a:rPr>
              <a:t>链路</a:t>
            </a:r>
          </a:p>
        </p:txBody>
      </p:sp>
      <p:sp>
        <p:nvSpPr>
          <p:cNvPr id="39947" name="Rectangle 13"/>
          <p:cNvSpPr>
            <a:spLocks noChangeArrowheads="1"/>
          </p:cNvSpPr>
          <p:nvPr/>
        </p:nvSpPr>
        <p:spPr bwMode="auto">
          <a:xfrm>
            <a:off x="6227763" y="4143375"/>
            <a:ext cx="2665412" cy="471488"/>
          </a:xfrm>
          <a:prstGeom prst="rect">
            <a:avLst/>
          </a:prstGeom>
          <a:solidFill>
            <a:srgbClr val="FFFF66"/>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zh-CN" altLang="en-US" sz="2400">
                <a:solidFill>
                  <a:schemeClr val="folHlink"/>
                </a:solidFill>
                <a:latin typeface="Arial" pitchFamily="34" charset="0"/>
                <a:ea typeface="黑体" pitchFamily="49" charset="-122"/>
              </a:rPr>
              <a:t>已鉴别的 </a:t>
            </a:r>
            <a:r>
              <a:rPr lang="en-US" altLang="zh-CN" sz="2400">
                <a:solidFill>
                  <a:schemeClr val="folHlink"/>
                </a:solidFill>
                <a:latin typeface="Arial" pitchFamily="34" charset="0"/>
                <a:ea typeface="黑体" pitchFamily="49" charset="-122"/>
              </a:rPr>
              <a:t>LCP </a:t>
            </a:r>
            <a:r>
              <a:rPr lang="zh-CN" altLang="en-US" sz="2400">
                <a:solidFill>
                  <a:schemeClr val="folHlink"/>
                </a:solidFill>
                <a:latin typeface="Arial" pitchFamily="34" charset="0"/>
                <a:ea typeface="黑体" pitchFamily="49" charset="-122"/>
              </a:rPr>
              <a:t>链路</a:t>
            </a:r>
          </a:p>
        </p:txBody>
      </p:sp>
      <p:sp>
        <p:nvSpPr>
          <p:cNvPr id="39948" name="Rectangle 14"/>
          <p:cNvSpPr>
            <a:spLocks noChangeArrowheads="1"/>
          </p:cNvSpPr>
          <p:nvPr/>
        </p:nvSpPr>
        <p:spPr bwMode="auto">
          <a:xfrm>
            <a:off x="6084888" y="5246688"/>
            <a:ext cx="2916237" cy="846137"/>
          </a:xfrm>
          <a:prstGeom prst="rect">
            <a:avLst/>
          </a:prstGeom>
          <a:solidFill>
            <a:srgbClr val="FFFF66"/>
          </a:solidFill>
          <a:ln>
            <a:noFill/>
          </a:ln>
          <a:effectLst>
            <a:outerShdw dist="45791" dir="2021404"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zh-CN" altLang="en-US" sz="2400">
                <a:solidFill>
                  <a:schemeClr val="folHlink"/>
                </a:solidFill>
                <a:latin typeface="Arial" pitchFamily="34" charset="0"/>
                <a:ea typeface="黑体" pitchFamily="49" charset="-122"/>
              </a:rPr>
              <a:t>已鉴别的 </a:t>
            </a:r>
            <a:r>
              <a:rPr lang="en-US" altLang="zh-CN" sz="2400">
                <a:solidFill>
                  <a:schemeClr val="folHlink"/>
                </a:solidFill>
                <a:latin typeface="Arial" pitchFamily="34" charset="0"/>
                <a:ea typeface="黑体" pitchFamily="49" charset="-122"/>
              </a:rPr>
              <a:t>LCP </a:t>
            </a:r>
            <a:r>
              <a:rPr lang="zh-CN" altLang="en-US" sz="2400">
                <a:solidFill>
                  <a:schemeClr val="folHlink"/>
                </a:solidFill>
                <a:latin typeface="Arial" pitchFamily="34" charset="0"/>
                <a:ea typeface="黑体" pitchFamily="49" charset="-122"/>
              </a:rPr>
              <a:t>链路</a:t>
            </a:r>
          </a:p>
          <a:p>
            <a:pPr algn="ctr"/>
            <a:r>
              <a:rPr lang="zh-CN" altLang="en-US" sz="2400">
                <a:solidFill>
                  <a:schemeClr val="folHlink"/>
                </a:solidFill>
                <a:latin typeface="Arial" pitchFamily="34" charset="0"/>
                <a:ea typeface="黑体" pitchFamily="49" charset="-122"/>
              </a:rPr>
              <a:t>和 </a:t>
            </a:r>
            <a:r>
              <a:rPr lang="en-US" altLang="zh-CN" sz="2400">
                <a:solidFill>
                  <a:schemeClr val="folHlink"/>
                </a:solidFill>
                <a:latin typeface="Arial" pitchFamily="34" charset="0"/>
                <a:ea typeface="黑体" pitchFamily="49" charset="-122"/>
              </a:rPr>
              <a:t>NCP </a:t>
            </a:r>
            <a:r>
              <a:rPr lang="zh-CN" altLang="en-US" sz="2400">
                <a:solidFill>
                  <a:schemeClr val="folHlink"/>
                </a:solidFill>
                <a:latin typeface="Arial" pitchFamily="34" charset="0"/>
                <a:ea typeface="黑体" pitchFamily="49" charset="-122"/>
              </a:rPr>
              <a:t>链路</a:t>
            </a:r>
          </a:p>
        </p:txBody>
      </p:sp>
      <p:sp>
        <p:nvSpPr>
          <p:cNvPr id="39949" name="Line 15"/>
          <p:cNvSpPr>
            <a:spLocks noChangeShapeType="1"/>
          </p:cNvSpPr>
          <p:nvPr/>
        </p:nvSpPr>
        <p:spPr bwMode="auto">
          <a:xfrm>
            <a:off x="7583488" y="946150"/>
            <a:ext cx="0" cy="752475"/>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0" name="Line 16"/>
          <p:cNvSpPr>
            <a:spLocks noChangeShapeType="1"/>
          </p:cNvSpPr>
          <p:nvPr/>
        </p:nvSpPr>
        <p:spPr bwMode="auto">
          <a:xfrm>
            <a:off x="7583488" y="2168525"/>
            <a:ext cx="0" cy="752475"/>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1" name="Line 17"/>
          <p:cNvSpPr>
            <a:spLocks noChangeShapeType="1"/>
          </p:cNvSpPr>
          <p:nvPr/>
        </p:nvSpPr>
        <p:spPr bwMode="auto">
          <a:xfrm>
            <a:off x="7583488" y="3392488"/>
            <a:ext cx="0" cy="750887"/>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2" name="Freeform 18"/>
          <p:cNvSpPr>
            <a:spLocks/>
          </p:cNvSpPr>
          <p:nvPr/>
        </p:nvSpPr>
        <p:spPr bwMode="auto">
          <a:xfrm>
            <a:off x="7581900" y="4614863"/>
            <a:ext cx="1588" cy="706437"/>
          </a:xfrm>
          <a:custGeom>
            <a:avLst/>
            <a:gdLst>
              <a:gd name="T0" fmla="*/ 2147483647 w 1"/>
              <a:gd name="T1" fmla="*/ 0 h 445"/>
              <a:gd name="T2" fmla="*/ 0 w 1"/>
              <a:gd name="T3" fmla="*/ 2147483647 h 445"/>
              <a:gd name="T4" fmla="*/ 0 60000 65536"/>
              <a:gd name="T5" fmla="*/ 0 60000 65536"/>
            </a:gdLst>
            <a:ahLst/>
            <a:cxnLst>
              <a:cxn ang="T4">
                <a:pos x="T0" y="T1"/>
              </a:cxn>
              <a:cxn ang="T5">
                <a:pos x="T2" y="T3"/>
              </a:cxn>
            </a:cxnLst>
            <a:rect l="0" t="0" r="r" b="b"/>
            <a:pathLst>
              <a:path w="1" h="445">
                <a:moveTo>
                  <a:pt x="1" y="0"/>
                </a:moveTo>
                <a:lnTo>
                  <a:pt x="0" y="445"/>
                </a:lnTo>
              </a:path>
            </a:pathLst>
          </a:custGeom>
          <a:noFill/>
          <a:ln w="28575" cmpd="sng">
            <a:solidFill>
              <a:schemeClr val="folHlink"/>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3" name="Line 19"/>
          <p:cNvSpPr>
            <a:spLocks noChangeShapeType="1"/>
          </p:cNvSpPr>
          <p:nvPr/>
        </p:nvSpPr>
        <p:spPr bwMode="auto">
          <a:xfrm>
            <a:off x="4757738" y="946150"/>
            <a:ext cx="0" cy="752475"/>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4" name="Line 20"/>
          <p:cNvSpPr>
            <a:spLocks noChangeShapeType="1"/>
          </p:cNvSpPr>
          <p:nvPr/>
        </p:nvSpPr>
        <p:spPr bwMode="auto">
          <a:xfrm>
            <a:off x="4757738" y="2168525"/>
            <a:ext cx="0" cy="752475"/>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5" name="Line 21"/>
          <p:cNvSpPr>
            <a:spLocks noChangeShapeType="1"/>
          </p:cNvSpPr>
          <p:nvPr/>
        </p:nvSpPr>
        <p:spPr bwMode="auto">
          <a:xfrm>
            <a:off x="4757738" y="3392488"/>
            <a:ext cx="0" cy="750887"/>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6" name="Line 22"/>
          <p:cNvSpPr>
            <a:spLocks noChangeShapeType="1"/>
          </p:cNvSpPr>
          <p:nvPr/>
        </p:nvSpPr>
        <p:spPr bwMode="auto">
          <a:xfrm>
            <a:off x="4757738" y="4614863"/>
            <a:ext cx="0" cy="752475"/>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7" name="Line 23"/>
          <p:cNvSpPr>
            <a:spLocks noChangeShapeType="1"/>
          </p:cNvSpPr>
          <p:nvPr/>
        </p:nvSpPr>
        <p:spPr bwMode="auto">
          <a:xfrm flipH="1">
            <a:off x="1841500" y="3155950"/>
            <a:ext cx="2120900" cy="1588"/>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8" name="Freeform 24"/>
          <p:cNvSpPr>
            <a:spLocks/>
          </p:cNvSpPr>
          <p:nvPr/>
        </p:nvSpPr>
        <p:spPr bwMode="auto">
          <a:xfrm>
            <a:off x="1047750" y="3402013"/>
            <a:ext cx="2914650" cy="2184400"/>
          </a:xfrm>
          <a:custGeom>
            <a:avLst/>
            <a:gdLst>
              <a:gd name="T0" fmla="*/ 2147483647 w 1497"/>
              <a:gd name="T1" fmla="*/ 2147483647 h 998"/>
              <a:gd name="T2" fmla="*/ 0 w 1497"/>
              <a:gd name="T3" fmla="*/ 2147483647 h 998"/>
              <a:gd name="T4" fmla="*/ 0 w 1497"/>
              <a:gd name="T5" fmla="*/ 0 h 998"/>
              <a:gd name="T6" fmla="*/ 0 60000 65536"/>
              <a:gd name="T7" fmla="*/ 0 60000 65536"/>
              <a:gd name="T8" fmla="*/ 0 60000 65536"/>
            </a:gdLst>
            <a:ahLst/>
            <a:cxnLst>
              <a:cxn ang="T6">
                <a:pos x="T0" y="T1"/>
              </a:cxn>
              <a:cxn ang="T7">
                <a:pos x="T2" y="T3"/>
              </a:cxn>
              <a:cxn ang="T8">
                <a:pos x="T4" y="T5"/>
              </a:cxn>
            </a:cxnLst>
            <a:rect l="0" t="0" r="r" b="b"/>
            <a:pathLst>
              <a:path w="1497" h="998">
                <a:moveTo>
                  <a:pt x="1497" y="998"/>
                </a:moveTo>
                <a:lnTo>
                  <a:pt x="0" y="998"/>
                </a:lnTo>
                <a:lnTo>
                  <a:pt x="0" y="0"/>
                </a:lnTo>
              </a:path>
            </a:pathLst>
          </a:custGeom>
          <a:noFill/>
          <a:ln w="28575" cmpd="sng">
            <a:solidFill>
              <a:schemeClr val="folHlink"/>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9" name="Freeform 25"/>
          <p:cNvSpPr>
            <a:spLocks/>
          </p:cNvSpPr>
          <p:nvPr/>
        </p:nvSpPr>
        <p:spPr bwMode="auto">
          <a:xfrm flipV="1">
            <a:off x="1047750" y="576263"/>
            <a:ext cx="2914650" cy="2365375"/>
          </a:xfrm>
          <a:custGeom>
            <a:avLst/>
            <a:gdLst>
              <a:gd name="T0" fmla="*/ 2147483647 w 1497"/>
              <a:gd name="T1" fmla="*/ 2147483647 h 998"/>
              <a:gd name="T2" fmla="*/ 0 w 1497"/>
              <a:gd name="T3" fmla="*/ 2147483647 h 998"/>
              <a:gd name="T4" fmla="*/ 0 w 1497"/>
              <a:gd name="T5" fmla="*/ 0 h 998"/>
              <a:gd name="T6" fmla="*/ 0 60000 65536"/>
              <a:gd name="T7" fmla="*/ 0 60000 65536"/>
              <a:gd name="T8" fmla="*/ 0 60000 65536"/>
            </a:gdLst>
            <a:ahLst/>
            <a:cxnLst>
              <a:cxn ang="T6">
                <a:pos x="T0" y="T1"/>
              </a:cxn>
              <a:cxn ang="T7">
                <a:pos x="T2" y="T3"/>
              </a:cxn>
              <a:cxn ang="T8">
                <a:pos x="T4" y="T5"/>
              </a:cxn>
            </a:cxnLst>
            <a:rect l="0" t="0" r="r" b="b"/>
            <a:pathLst>
              <a:path w="1497" h="998">
                <a:moveTo>
                  <a:pt x="1497" y="998"/>
                </a:moveTo>
                <a:lnTo>
                  <a:pt x="0" y="998"/>
                </a:lnTo>
                <a:lnTo>
                  <a:pt x="0" y="0"/>
                </a:lnTo>
              </a:path>
            </a:pathLst>
          </a:custGeom>
          <a:noFill/>
          <a:ln w="28575" cmpd="sng">
            <a:solidFill>
              <a:schemeClr val="folHlink"/>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60" name="Freeform 26"/>
          <p:cNvSpPr>
            <a:spLocks/>
          </p:cNvSpPr>
          <p:nvPr/>
        </p:nvSpPr>
        <p:spPr bwMode="auto">
          <a:xfrm>
            <a:off x="2459038" y="790575"/>
            <a:ext cx="1503362" cy="1157288"/>
          </a:xfrm>
          <a:custGeom>
            <a:avLst/>
            <a:gdLst>
              <a:gd name="T0" fmla="*/ 2147483647 w 772"/>
              <a:gd name="T1" fmla="*/ 2147483647 h 590"/>
              <a:gd name="T2" fmla="*/ 0 w 772"/>
              <a:gd name="T3" fmla="*/ 2147483647 h 590"/>
              <a:gd name="T4" fmla="*/ 0 w 772"/>
              <a:gd name="T5" fmla="*/ 0 h 590"/>
              <a:gd name="T6" fmla="*/ 2147483647 w 772"/>
              <a:gd name="T7" fmla="*/ 0 h 5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2" h="590">
                <a:moveTo>
                  <a:pt x="772" y="590"/>
                </a:moveTo>
                <a:lnTo>
                  <a:pt x="0" y="590"/>
                </a:lnTo>
                <a:lnTo>
                  <a:pt x="0" y="0"/>
                </a:lnTo>
                <a:lnTo>
                  <a:pt x="772" y="0"/>
                </a:lnTo>
              </a:path>
            </a:pathLst>
          </a:custGeom>
          <a:noFill/>
          <a:ln w="28575" cmpd="sng">
            <a:solidFill>
              <a:schemeClr val="folHlink"/>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61" name="Text Box 27"/>
          <p:cNvSpPr txBox="1">
            <a:spLocks noChangeArrowheads="1"/>
          </p:cNvSpPr>
          <p:nvPr/>
        </p:nvSpPr>
        <p:spPr bwMode="auto">
          <a:xfrm>
            <a:off x="4818063" y="1030288"/>
            <a:ext cx="23177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物理层连接建立</a:t>
            </a:r>
          </a:p>
        </p:txBody>
      </p:sp>
      <p:sp>
        <p:nvSpPr>
          <p:cNvPr id="39962" name="Text Box 28"/>
          <p:cNvSpPr txBox="1">
            <a:spLocks noChangeArrowheads="1"/>
          </p:cNvSpPr>
          <p:nvPr/>
        </p:nvSpPr>
        <p:spPr bwMode="auto">
          <a:xfrm>
            <a:off x="4818063" y="2273300"/>
            <a:ext cx="208121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LCP </a:t>
            </a:r>
            <a:r>
              <a:rPr lang="zh-CN" altLang="en-US" sz="2400">
                <a:solidFill>
                  <a:schemeClr val="folHlink"/>
                </a:solidFill>
                <a:latin typeface="Arial" pitchFamily="34" charset="0"/>
                <a:ea typeface="黑体" pitchFamily="49" charset="-122"/>
              </a:rPr>
              <a:t>配置协商</a:t>
            </a:r>
          </a:p>
        </p:txBody>
      </p:sp>
      <p:sp>
        <p:nvSpPr>
          <p:cNvPr id="39963" name="Text Box 29"/>
          <p:cNvSpPr txBox="1">
            <a:spLocks noChangeArrowheads="1"/>
          </p:cNvSpPr>
          <p:nvPr/>
        </p:nvSpPr>
        <p:spPr bwMode="auto">
          <a:xfrm>
            <a:off x="4716463" y="3457575"/>
            <a:ext cx="2927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鉴别成功或无需鉴别</a:t>
            </a:r>
          </a:p>
        </p:txBody>
      </p:sp>
      <p:sp>
        <p:nvSpPr>
          <p:cNvPr id="39964" name="Text Box 30"/>
          <p:cNvSpPr txBox="1">
            <a:spLocks noChangeArrowheads="1"/>
          </p:cNvSpPr>
          <p:nvPr/>
        </p:nvSpPr>
        <p:spPr bwMode="auto">
          <a:xfrm>
            <a:off x="4800600" y="4733925"/>
            <a:ext cx="2132013"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NCP </a:t>
            </a:r>
            <a:r>
              <a:rPr lang="zh-CN" altLang="en-US" sz="2400">
                <a:solidFill>
                  <a:schemeClr val="folHlink"/>
                </a:solidFill>
                <a:latin typeface="Arial" pitchFamily="34" charset="0"/>
                <a:ea typeface="黑体" pitchFamily="49" charset="-122"/>
              </a:rPr>
              <a:t>配置协商</a:t>
            </a:r>
          </a:p>
        </p:txBody>
      </p:sp>
      <p:sp>
        <p:nvSpPr>
          <p:cNvPr id="39965" name="Text Box 31"/>
          <p:cNvSpPr txBox="1">
            <a:spLocks noChangeArrowheads="1"/>
          </p:cNvSpPr>
          <p:nvPr/>
        </p:nvSpPr>
        <p:spPr bwMode="auto">
          <a:xfrm>
            <a:off x="163513" y="3943350"/>
            <a:ext cx="1708150" cy="8223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chemeClr val="folHlink"/>
                </a:solidFill>
                <a:latin typeface="Arial" pitchFamily="34" charset="0"/>
                <a:ea typeface="黑体" pitchFamily="49" charset="-122"/>
              </a:rPr>
              <a:t>链路故障或</a:t>
            </a:r>
          </a:p>
          <a:p>
            <a:pPr algn="ctr" eaLnBrk="1" hangingPunct="1"/>
            <a:r>
              <a:rPr lang="zh-CN" altLang="en-US" sz="2400">
                <a:solidFill>
                  <a:schemeClr val="folHlink"/>
                </a:solidFill>
                <a:latin typeface="Arial" pitchFamily="34" charset="0"/>
                <a:ea typeface="黑体" pitchFamily="49" charset="-122"/>
              </a:rPr>
              <a:t>关闭请求</a:t>
            </a:r>
          </a:p>
        </p:txBody>
      </p:sp>
      <p:sp>
        <p:nvSpPr>
          <p:cNvPr id="39966" name="Text Box 32"/>
          <p:cNvSpPr txBox="1">
            <a:spLocks noChangeArrowheads="1"/>
          </p:cNvSpPr>
          <p:nvPr/>
        </p:nvSpPr>
        <p:spPr bwMode="auto">
          <a:xfrm>
            <a:off x="307975" y="1377950"/>
            <a:ext cx="1471613" cy="6762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lnSpc>
                <a:spcPct val="80000"/>
              </a:lnSpc>
            </a:pPr>
            <a:r>
              <a:rPr lang="en-US" altLang="zh-CN" sz="2400">
                <a:solidFill>
                  <a:schemeClr val="folHlink"/>
                </a:solidFill>
                <a:latin typeface="Arial" pitchFamily="34" charset="0"/>
                <a:ea typeface="黑体" pitchFamily="49" charset="-122"/>
              </a:rPr>
              <a:t>LCP </a:t>
            </a:r>
            <a:r>
              <a:rPr lang="zh-CN" altLang="en-US" sz="2400">
                <a:solidFill>
                  <a:schemeClr val="folHlink"/>
                </a:solidFill>
                <a:latin typeface="Arial" pitchFamily="34" charset="0"/>
                <a:ea typeface="黑体" pitchFamily="49" charset="-122"/>
              </a:rPr>
              <a:t>链路</a:t>
            </a:r>
          </a:p>
          <a:p>
            <a:pPr algn="ctr" eaLnBrk="1" hangingPunct="1">
              <a:lnSpc>
                <a:spcPct val="80000"/>
              </a:lnSpc>
            </a:pPr>
            <a:r>
              <a:rPr lang="zh-CN" altLang="en-US" sz="2400">
                <a:solidFill>
                  <a:schemeClr val="folHlink"/>
                </a:solidFill>
                <a:latin typeface="Arial" pitchFamily="34" charset="0"/>
                <a:ea typeface="黑体" pitchFamily="49" charset="-122"/>
              </a:rPr>
              <a:t>终止</a:t>
            </a:r>
          </a:p>
        </p:txBody>
      </p:sp>
      <p:sp>
        <p:nvSpPr>
          <p:cNvPr id="39967" name="Text Box 33"/>
          <p:cNvSpPr txBox="1">
            <a:spLocks noChangeArrowheads="1"/>
          </p:cNvSpPr>
          <p:nvPr/>
        </p:nvSpPr>
        <p:spPr bwMode="auto">
          <a:xfrm>
            <a:off x="2268538" y="2682875"/>
            <a:ext cx="1401762" cy="4587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鉴别失败</a:t>
            </a:r>
          </a:p>
        </p:txBody>
      </p:sp>
      <p:sp>
        <p:nvSpPr>
          <p:cNvPr id="39968" name="Text Box 34"/>
          <p:cNvSpPr txBox="1">
            <a:spLocks noChangeArrowheads="1"/>
          </p:cNvSpPr>
          <p:nvPr/>
        </p:nvSpPr>
        <p:spPr bwMode="auto">
          <a:xfrm>
            <a:off x="1841500" y="1023938"/>
            <a:ext cx="1471613" cy="6762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lnSpc>
                <a:spcPct val="80000"/>
              </a:lnSpc>
            </a:pPr>
            <a:r>
              <a:rPr lang="en-US" altLang="zh-CN" sz="2400">
                <a:solidFill>
                  <a:schemeClr val="folHlink"/>
                </a:solidFill>
                <a:latin typeface="Arial" pitchFamily="34" charset="0"/>
                <a:ea typeface="黑体" pitchFamily="49" charset="-122"/>
              </a:rPr>
              <a:t>LCP </a:t>
            </a:r>
            <a:r>
              <a:rPr lang="zh-CN" altLang="en-US" sz="2400">
                <a:solidFill>
                  <a:schemeClr val="folHlink"/>
                </a:solidFill>
                <a:latin typeface="Arial" pitchFamily="34" charset="0"/>
                <a:ea typeface="黑体" pitchFamily="49" charset="-122"/>
              </a:rPr>
              <a:t>配置</a:t>
            </a:r>
          </a:p>
          <a:p>
            <a:pPr eaLnBrk="1" hangingPunct="1">
              <a:lnSpc>
                <a:spcPct val="80000"/>
              </a:lnSpc>
            </a:pPr>
            <a:r>
              <a:rPr lang="zh-CN" altLang="en-US" sz="2400">
                <a:solidFill>
                  <a:schemeClr val="folHlink"/>
                </a:solidFill>
                <a:latin typeface="Arial" pitchFamily="34" charset="0"/>
                <a:ea typeface="黑体" pitchFamily="49" charset="-122"/>
              </a:rPr>
              <a:t>协商失败</a:t>
            </a:r>
          </a:p>
        </p:txBody>
      </p:sp>
      <p:sp>
        <p:nvSpPr>
          <p:cNvPr id="39969" name="Text Box 36"/>
          <p:cNvSpPr txBox="1">
            <a:spLocks noChangeArrowheads="1"/>
          </p:cNvSpPr>
          <p:nvPr/>
        </p:nvSpPr>
        <p:spPr bwMode="auto">
          <a:xfrm>
            <a:off x="3492500" y="1268413"/>
            <a:ext cx="1006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en-US" altLang="zh-CN">
                <a:solidFill>
                  <a:schemeClr val="hlink"/>
                </a:solidFill>
              </a:rPr>
              <a:t>Page75</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900113" y="860425"/>
            <a:ext cx="8043862" cy="768350"/>
          </a:xfrm>
        </p:spPr>
        <p:txBody>
          <a:bodyPr/>
          <a:lstStyle/>
          <a:p>
            <a:pPr algn="ctr" eaLnBrk="1" hangingPunct="1"/>
            <a:r>
              <a:rPr lang="en-US" altLang="zh-CN" sz="3600" smtClean="0"/>
              <a:t>3.3  </a:t>
            </a:r>
            <a:r>
              <a:rPr lang="zh-CN" altLang="en-US" sz="3600" smtClean="0"/>
              <a:t>使用</a:t>
            </a:r>
            <a:r>
              <a:rPr lang="zh-CN" altLang="en-US" sz="3600" smtClean="0">
                <a:solidFill>
                  <a:schemeClr val="hlink"/>
                </a:solidFill>
              </a:rPr>
              <a:t>广播信道</a:t>
            </a:r>
            <a:r>
              <a:rPr lang="zh-CN" altLang="en-US" sz="3600" smtClean="0"/>
              <a:t>的数据链路层</a:t>
            </a:r>
            <a:br>
              <a:rPr lang="zh-CN" altLang="en-US" sz="3600" smtClean="0"/>
            </a:br>
            <a:r>
              <a:rPr lang="en-US" altLang="zh-CN" sz="3600" smtClean="0"/>
              <a:t>3.3.1  </a:t>
            </a:r>
            <a:r>
              <a:rPr lang="zh-CN" altLang="en-US" sz="3600" smtClean="0"/>
              <a:t>局域网的数据链路层</a:t>
            </a:r>
            <a:r>
              <a:rPr lang="zh-CN" altLang="en-US" sz="4000" smtClean="0"/>
              <a:t> </a:t>
            </a:r>
          </a:p>
        </p:txBody>
      </p:sp>
      <p:sp>
        <p:nvSpPr>
          <p:cNvPr id="40963" name="Rectangle 3"/>
          <p:cNvSpPr>
            <a:spLocks noGrp="1" noChangeArrowheads="1"/>
          </p:cNvSpPr>
          <p:nvPr>
            <p:ph type="body" idx="1"/>
          </p:nvPr>
        </p:nvSpPr>
        <p:spPr>
          <a:xfrm>
            <a:off x="1182688" y="1844675"/>
            <a:ext cx="7772400" cy="3240088"/>
          </a:xfrm>
        </p:spPr>
        <p:txBody>
          <a:bodyPr/>
          <a:lstStyle/>
          <a:p>
            <a:pPr eaLnBrk="1" hangingPunct="1"/>
            <a:r>
              <a:rPr lang="zh-CN" altLang="en-US" smtClean="0"/>
              <a:t>局域网最主要的特点是：网络为一个单位所拥有，且地理范围和站点数目均有限。 </a:t>
            </a:r>
            <a:r>
              <a:rPr lang="zh-CN" altLang="en-US" sz="2800" smtClean="0">
                <a:solidFill>
                  <a:schemeClr val="folHlink"/>
                </a:solidFill>
              </a:rPr>
              <a:t>具有广播功能，从一个站点可很方便地和全网发送信息。局域网上的主机可共享局域网上的各种硬件和软件资源。</a:t>
            </a:r>
            <a:r>
              <a:rPr lang="zh-CN" altLang="en-US" smtClean="0"/>
              <a:t> </a:t>
            </a:r>
            <a:endParaRPr lang="zh-CN" altLang="en-US" sz="280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100138" y="44450"/>
            <a:ext cx="6856412" cy="768350"/>
          </a:xfrm>
        </p:spPr>
        <p:txBody>
          <a:bodyPr/>
          <a:lstStyle/>
          <a:p>
            <a:pPr algn="ctr" eaLnBrk="1" hangingPunct="1"/>
            <a:r>
              <a:rPr lang="zh-CN" altLang="en-US" smtClean="0"/>
              <a:t>局域网的拓扑 </a:t>
            </a:r>
          </a:p>
        </p:txBody>
      </p:sp>
      <p:sp>
        <p:nvSpPr>
          <p:cNvPr id="41987" name="Line 3"/>
          <p:cNvSpPr>
            <a:spLocks noChangeShapeType="1"/>
          </p:cNvSpPr>
          <p:nvPr/>
        </p:nvSpPr>
        <p:spPr bwMode="auto">
          <a:xfrm flipH="1" flipV="1">
            <a:off x="1693863" y="1444625"/>
            <a:ext cx="533400" cy="4572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88" name="Line 4"/>
          <p:cNvSpPr>
            <a:spLocks noChangeShapeType="1"/>
          </p:cNvSpPr>
          <p:nvPr/>
        </p:nvSpPr>
        <p:spPr bwMode="auto">
          <a:xfrm flipV="1">
            <a:off x="2379663" y="1368425"/>
            <a:ext cx="0" cy="5334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89" name="Line 5"/>
          <p:cNvSpPr>
            <a:spLocks noChangeShapeType="1"/>
          </p:cNvSpPr>
          <p:nvPr/>
        </p:nvSpPr>
        <p:spPr bwMode="auto">
          <a:xfrm flipH="1">
            <a:off x="1770063" y="2130425"/>
            <a:ext cx="425450" cy="3651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0" name="Line 6"/>
          <p:cNvSpPr>
            <a:spLocks noChangeShapeType="1"/>
          </p:cNvSpPr>
          <p:nvPr/>
        </p:nvSpPr>
        <p:spPr bwMode="auto">
          <a:xfrm>
            <a:off x="2379663" y="2130425"/>
            <a:ext cx="673100" cy="5064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1" name="Line 7"/>
          <p:cNvSpPr>
            <a:spLocks noChangeShapeType="1"/>
          </p:cNvSpPr>
          <p:nvPr/>
        </p:nvSpPr>
        <p:spPr bwMode="auto">
          <a:xfrm flipV="1">
            <a:off x="2455863" y="1597025"/>
            <a:ext cx="533400" cy="3810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2" name="Rectangle 8"/>
          <p:cNvSpPr>
            <a:spLocks noChangeArrowheads="1"/>
          </p:cNvSpPr>
          <p:nvPr/>
        </p:nvSpPr>
        <p:spPr bwMode="auto">
          <a:xfrm>
            <a:off x="2151063" y="1825625"/>
            <a:ext cx="368300" cy="368300"/>
          </a:xfrm>
          <a:prstGeom prst="rect">
            <a:avLst/>
          </a:prstGeom>
          <a:solidFill>
            <a:schemeClr val="bg1"/>
          </a:solidFill>
          <a:ln w="25400">
            <a:solidFill>
              <a:srgbClr val="333399"/>
            </a:solidFill>
            <a:miter lim="800000"/>
            <a:headEnd/>
            <a:tailEnd/>
          </a:ln>
          <a:effectLst>
            <a:outerShdw dist="35921" dir="2700000" algn="ctr" rotWithShape="0">
              <a:schemeClr val="bg2"/>
            </a:outerShdw>
          </a:effectLst>
        </p:spPr>
        <p:txBody>
          <a:bodyPr wrap="none" anchor="ctr"/>
          <a:lstStyle/>
          <a:p>
            <a:endParaRPr lang="zh-CN" altLang="en-US"/>
          </a:p>
        </p:txBody>
      </p:sp>
      <p:sp>
        <p:nvSpPr>
          <p:cNvPr id="41993" name="Rectangle 9"/>
          <p:cNvSpPr>
            <a:spLocks noChangeArrowheads="1"/>
          </p:cNvSpPr>
          <p:nvPr/>
        </p:nvSpPr>
        <p:spPr bwMode="auto">
          <a:xfrm>
            <a:off x="7053263" y="5487988"/>
            <a:ext cx="101600" cy="101600"/>
          </a:xfrm>
          <a:prstGeom prst="rect">
            <a:avLst/>
          </a:prstGeom>
          <a:solidFill>
            <a:srgbClr val="3333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4" name="Rectangle 10"/>
          <p:cNvSpPr>
            <a:spLocks noChangeArrowheads="1"/>
          </p:cNvSpPr>
          <p:nvPr/>
        </p:nvSpPr>
        <p:spPr bwMode="auto">
          <a:xfrm>
            <a:off x="7034213" y="4310063"/>
            <a:ext cx="101600" cy="101600"/>
          </a:xfrm>
          <a:prstGeom prst="rect">
            <a:avLst/>
          </a:prstGeom>
          <a:solidFill>
            <a:srgbClr val="3333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5" name="Rectangle 11"/>
          <p:cNvSpPr>
            <a:spLocks noChangeArrowheads="1"/>
          </p:cNvSpPr>
          <p:nvPr/>
        </p:nvSpPr>
        <p:spPr bwMode="auto">
          <a:xfrm>
            <a:off x="7062788" y="4824413"/>
            <a:ext cx="101600" cy="101600"/>
          </a:xfrm>
          <a:prstGeom prst="rect">
            <a:avLst/>
          </a:prstGeom>
          <a:solidFill>
            <a:srgbClr val="3333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6" name="Rectangle 12"/>
          <p:cNvSpPr>
            <a:spLocks noChangeArrowheads="1"/>
          </p:cNvSpPr>
          <p:nvPr/>
        </p:nvSpPr>
        <p:spPr bwMode="auto">
          <a:xfrm>
            <a:off x="5135563" y="4310063"/>
            <a:ext cx="101600" cy="101600"/>
          </a:xfrm>
          <a:prstGeom prst="rect">
            <a:avLst/>
          </a:prstGeom>
          <a:solidFill>
            <a:srgbClr val="3333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7" name="Line 13"/>
          <p:cNvSpPr>
            <a:spLocks noChangeShapeType="1"/>
          </p:cNvSpPr>
          <p:nvPr/>
        </p:nvSpPr>
        <p:spPr bwMode="auto">
          <a:xfrm>
            <a:off x="5314950" y="2114550"/>
            <a:ext cx="21558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8" name="Rectangle 14"/>
          <p:cNvSpPr>
            <a:spLocks noChangeArrowheads="1"/>
          </p:cNvSpPr>
          <p:nvPr/>
        </p:nvSpPr>
        <p:spPr bwMode="auto">
          <a:xfrm>
            <a:off x="7423150" y="2063750"/>
            <a:ext cx="101600" cy="101600"/>
          </a:xfrm>
          <a:prstGeom prst="rect">
            <a:avLst/>
          </a:prstGeom>
          <a:solidFill>
            <a:schemeClr val="tx1"/>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9" name="Rectangle 15"/>
          <p:cNvSpPr>
            <a:spLocks noChangeArrowheads="1"/>
          </p:cNvSpPr>
          <p:nvPr/>
        </p:nvSpPr>
        <p:spPr bwMode="auto">
          <a:xfrm>
            <a:off x="5203825" y="2063750"/>
            <a:ext cx="101600" cy="101600"/>
          </a:xfrm>
          <a:prstGeom prst="rect">
            <a:avLst/>
          </a:prstGeom>
          <a:solidFill>
            <a:schemeClr val="tx1"/>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0" name="Line 16"/>
          <p:cNvSpPr>
            <a:spLocks noChangeShapeType="1"/>
          </p:cNvSpPr>
          <p:nvPr/>
        </p:nvSpPr>
        <p:spPr bwMode="auto">
          <a:xfrm flipV="1">
            <a:off x="5740400" y="1797050"/>
            <a:ext cx="0" cy="3206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1" name="Line 17"/>
          <p:cNvSpPr>
            <a:spLocks noChangeShapeType="1"/>
          </p:cNvSpPr>
          <p:nvPr/>
        </p:nvSpPr>
        <p:spPr bwMode="auto">
          <a:xfrm>
            <a:off x="6121400" y="2127250"/>
            <a:ext cx="0" cy="3460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2" name="Line 18"/>
          <p:cNvSpPr>
            <a:spLocks noChangeShapeType="1"/>
          </p:cNvSpPr>
          <p:nvPr/>
        </p:nvSpPr>
        <p:spPr bwMode="auto">
          <a:xfrm flipV="1">
            <a:off x="6597650" y="1768475"/>
            <a:ext cx="0" cy="3587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3" name="Line 19"/>
          <p:cNvSpPr>
            <a:spLocks noChangeShapeType="1"/>
          </p:cNvSpPr>
          <p:nvPr/>
        </p:nvSpPr>
        <p:spPr bwMode="auto">
          <a:xfrm>
            <a:off x="7083425" y="2127250"/>
            <a:ext cx="0" cy="3460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4" name="Line 20"/>
          <p:cNvSpPr>
            <a:spLocks noChangeShapeType="1"/>
          </p:cNvSpPr>
          <p:nvPr/>
        </p:nvSpPr>
        <p:spPr bwMode="auto">
          <a:xfrm>
            <a:off x="5354638" y="4884738"/>
            <a:ext cx="17748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5" name="Line 21"/>
          <p:cNvSpPr>
            <a:spLocks noChangeShapeType="1"/>
          </p:cNvSpPr>
          <p:nvPr/>
        </p:nvSpPr>
        <p:spPr bwMode="auto">
          <a:xfrm flipV="1">
            <a:off x="5695950" y="4735513"/>
            <a:ext cx="0" cy="1460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6" name="Line 22"/>
          <p:cNvSpPr>
            <a:spLocks noChangeShapeType="1"/>
          </p:cNvSpPr>
          <p:nvPr/>
        </p:nvSpPr>
        <p:spPr bwMode="auto">
          <a:xfrm flipV="1">
            <a:off x="6380163" y="4751388"/>
            <a:ext cx="0" cy="1460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7" name="Line 23"/>
          <p:cNvSpPr>
            <a:spLocks noChangeShapeType="1"/>
          </p:cNvSpPr>
          <p:nvPr/>
        </p:nvSpPr>
        <p:spPr bwMode="auto">
          <a:xfrm>
            <a:off x="5827713" y="4211638"/>
            <a:ext cx="0" cy="1365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8" name="Line 24"/>
          <p:cNvSpPr>
            <a:spLocks noChangeShapeType="1"/>
          </p:cNvSpPr>
          <p:nvPr/>
        </p:nvSpPr>
        <p:spPr bwMode="auto">
          <a:xfrm>
            <a:off x="6684963" y="4221163"/>
            <a:ext cx="0" cy="1365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9" name="Line 25"/>
          <p:cNvSpPr>
            <a:spLocks noChangeShapeType="1"/>
          </p:cNvSpPr>
          <p:nvPr/>
        </p:nvSpPr>
        <p:spPr bwMode="auto">
          <a:xfrm flipV="1">
            <a:off x="6713538" y="5348288"/>
            <a:ext cx="0" cy="1873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0" name="Line 26"/>
          <p:cNvSpPr>
            <a:spLocks noChangeShapeType="1"/>
          </p:cNvSpPr>
          <p:nvPr/>
        </p:nvSpPr>
        <p:spPr bwMode="auto">
          <a:xfrm>
            <a:off x="5237163" y="4351338"/>
            <a:ext cx="182245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1" name="Freeform 27"/>
          <p:cNvSpPr>
            <a:spLocks/>
          </p:cNvSpPr>
          <p:nvPr/>
        </p:nvSpPr>
        <p:spPr bwMode="auto">
          <a:xfrm>
            <a:off x="5341938" y="4360863"/>
            <a:ext cx="1735137" cy="1182687"/>
          </a:xfrm>
          <a:custGeom>
            <a:avLst/>
            <a:gdLst>
              <a:gd name="T0" fmla="*/ 0 w 1093"/>
              <a:gd name="T1" fmla="*/ 0 h 745"/>
              <a:gd name="T2" fmla="*/ 0 w 1093"/>
              <a:gd name="T3" fmla="*/ 2147483647 h 745"/>
              <a:gd name="T4" fmla="*/ 2147483647 w 1093"/>
              <a:gd name="T5" fmla="*/ 2147483647 h 745"/>
              <a:gd name="T6" fmla="*/ 0 60000 65536"/>
              <a:gd name="T7" fmla="*/ 0 60000 65536"/>
              <a:gd name="T8" fmla="*/ 0 60000 65536"/>
            </a:gdLst>
            <a:ahLst/>
            <a:cxnLst>
              <a:cxn ang="T6">
                <a:pos x="T0" y="T1"/>
              </a:cxn>
              <a:cxn ang="T7">
                <a:pos x="T2" y="T3"/>
              </a:cxn>
              <a:cxn ang="T8">
                <a:pos x="T4" y="T5"/>
              </a:cxn>
            </a:cxnLst>
            <a:rect l="0" t="0" r="r" b="b"/>
            <a:pathLst>
              <a:path w="1093" h="745">
                <a:moveTo>
                  <a:pt x="0" y="0"/>
                </a:moveTo>
                <a:lnTo>
                  <a:pt x="0" y="744"/>
                </a:lnTo>
                <a:lnTo>
                  <a:pt x="1092" y="744"/>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12" name="Rectangle 31"/>
          <p:cNvSpPr>
            <a:spLocks noChangeArrowheads="1"/>
          </p:cNvSpPr>
          <p:nvPr/>
        </p:nvSpPr>
        <p:spPr bwMode="auto">
          <a:xfrm>
            <a:off x="3413125" y="1557338"/>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Times New Roman" pitchFamily="18" charset="0"/>
                <a:ea typeface="黑体" pitchFamily="49" charset="-122"/>
              </a:rPr>
              <a:t>集线器</a:t>
            </a:r>
          </a:p>
        </p:txBody>
      </p:sp>
      <p:sp>
        <p:nvSpPr>
          <p:cNvPr id="42013" name="Line 32"/>
          <p:cNvSpPr>
            <a:spLocks noChangeShapeType="1"/>
          </p:cNvSpPr>
          <p:nvPr/>
        </p:nvSpPr>
        <p:spPr bwMode="auto">
          <a:xfrm flipV="1">
            <a:off x="6008688" y="5332413"/>
            <a:ext cx="0" cy="2063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4" name="Line 33"/>
          <p:cNvSpPr>
            <a:spLocks noChangeShapeType="1"/>
          </p:cNvSpPr>
          <p:nvPr/>
        </p:nvSpPr>
        <p:spPr bwMode="auto">
          <a:xfrm flipH="1" flipV="1">
            <a:off x="1738313" y="4325938"/>
            <a:ext cx="119062" cy="123825"/>
          </a:xfrm>
          <a:prstGeom prst="line">
            <a:avLst/>
          </a:prstGeom>
          <a:noFill/>
          <a:ln w="254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5" name="Line 35"/>
          <p:cNvSpPr>
            <a:spLocks noChangeShapeType="1"/>
          </p:cNvSpPr>
          <p:nvPr/>
        </p:nvSpPr>
        <p:spPr bwMode="auto">
          <a:xfrm flipH="1">
            <a:off x="2736850" y="4327525"/>
            <a:ext cx="111125" cy="104775"/>
          </a:xfrm>
          <a:prstGeom prst="line">
            <a:avLst/>
          </a:prstGeom>
          <a:noFill/>
          <a:ln w="254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6" name="Line 36"/>
          <p:cNvSpPr>
            <a:spLocks noChangeShapeType="1"/>
          </p:cNvSpPr>
          <p:nvPr/>
        </p:nvSpPr>
        <p:spPr bwMode="auto">
          <a:xfrm flipH="1" flipV="1">
            <a:off x="2755900" y="5272088"/>
            <a:ext cx="131763" cy="1397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7" name="Line 37"/>
          <p:cNvSpPr>
            <a:spLocks noChangeShapeType="1"/>
          </p:cNvSpPr>
          <p:nvPr/>
        </p:nvSpPr>
        <p:spPr bwMode="auto">
          <a:xfrm flipH="1">
            <a:off x="1768475" y="5313363"/>
            <a:ext cx="98425" cy="1206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8" name="Oval 38"/>
          <p:cNvSpPr>
            <a:spLocks noChangeArrowheads="1"/>
          </p:cNvSpPr>
          <p:nvPr/>
        </p:nvSpPr>
        <p:spPr bwMode="auto">
          <a:xfrm rot="-2760000">
            <a:off x="1704975" y="4254500"/>
            <a:ext cx="1203325" cy="1203325"/>
          </a:xfrm>
          <a:prstGeom prst="ellipse">
            <a:avLst/>
          </a:prstGeom>
          <a:solidFill>
            <a:schemeClr val="bg1"/>
          </a:solidFill>
          <a:ln w="2857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9" name="Rectangle 39"/>
          <p:cNvSpPr>
            <a:spLocks noChangeArrowheads="1"/>
          </p:cNvSpPr>
          <p:nvPr/>
        </p:nvSpPr>
        <p:spPr bwMode="auto">
          <a:xfrm rot="-2760000">
            <a:off x="1795462" y="4397376"/>
            <a:ext cx="136525" cy="88900"/>
          </a:xfrm>
          <a:prstGeom prst="rect">
            <a:avLst/>
          </a:prstGeom>
          <a:solidFill>
            <a:schemeClr val="bg1"/>
          </a:solidFill>
          <a:ln w="2857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0" name="Rectangle 40"/>
          <p:cNvSpPr>
            <a:spLocks noChangeArrowheads="1"/>
          </p:cNvSpPr>
          <p:nvPr/>
        </p:nvSpPr>
        <p:spPr bwMode="auto">
          <a:xfrm rot="-2760000">
            <a:off x="2679700" y="5224463"/>
            <a:ext cx="136525" cy="88900"/>
          </a:xfrm>
          <a:prstGeom prst="rect">
            <a:avLst/>
          </a:prstGeom>
          <a:solidFill>
            <a:schemeClr val="bg1"/>
          </a:solidFill>
          <a:ln w="254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1" name="Rectangle 41"/>
          <p:cNvSpPr>
            <a:spLocks noChangeArrowheads="1"/>
          </p:cNvSpPr>
          <p:nvPr/>
        </p:nvSpPr>
        <p:spPr bwMode="auto">
          <a:xfrm rot="-2760000">
            <a:off x="2695576" y="4359275"/>
            <a:ext cx="88900" cy="136525"/>
          </a:xfrm>
          <a:prstGeom prst="rect">
            <a:avLst/>
          </a:prstGeom>
          <a:solidFill>
            <a:schemeClr val="bg1"/>
          </a:solidFill>
          <a:ln w="2857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2" name="Rectangle 43"/>
          <p:cNvSpPr>
            <a:spLocks noChangeArrowheads="1"/>
          </p:cNvSpPr>
          <p:nvPr/>
        </p:nvSpPr>
        <p:spPr bwMode="auto">
          <a:xfrm rot="-2760000">
            <a:off x="1858963" y="5200650"/>
            <a:ext cx="88900" cy="136525"/>
          </a:xfrm>
          <a:prstGeom prst="rect">
            <a:avLst/>
          </a:prstGeom>
          <a:solidFill>
            <a:schemeClr val="bg1"/>
          </a:solidFill>
          <a:ln w="254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3" name="Arc 44"/>
          <p:cNvSpPr>
            <a:spLocks/>
          </p:cNvSpPr>
          <p:nvPr/>
        </p:nvSpPr>
        <p:spPr bwMode="auto">
          <a:xfrm flipV="1">
            <a:off x="2122488" y="4675188"/>
            <a:ext cx="627062" cy="636587"/>
          </a:xfrm>
          <a:custGeom>
            <a:avLst/>
            <a:gdLst>
              <a:gd name="T0" fmla="*/ 0 w 25403"/>
              <a:gd name="T1" fmla="*/ 1425649836 h 30101"/>
              <a:gd name="T2" fmla="*/ 2147483647 w 25403"/>
              <a:gd name="T3" fmla="*/ 2147483647 h 30101"/>
              <a:gd name="T4" fmla="*/ 2147483647 w 25403"/>
              <a:gd name="T5" fmla="*/ 2147483647 h 30101"/>
              <a:gd name="T6" fmla="*/ 0 60000 65536"/>
              <a:gd name="T7" fmla="*/ 0 60000 65536"/>
              <a:gd name="T8" fmla="*/ 0 60000 65536"/>
            </a:gdLst>
            <a:ahLst/>
            <a:cxnLst>
              <a:cxn ang="T6">
                <a:pos x="T0" y="T1"/>
              </a:cxn>
              <a:cxn ang="T7">
                <a:pos x="T2" y="T3"/>
              </a:cxn>
              <a:cxn ang="T8">
                <a:pos x="T4" y="T5"/>
              </a:cxn>
            </a:cxnLst>
            <a:rect l="0" t="0" r="r" b="b"/>
            <a:pathLst>
              <a:path w="25403" h="30101" fill="none" extrusionOk="0">
                <a:moveTo>
                  <a:pt x="0" y="337"/>
                </a:moveTo>
                <a:cubicBezTo>
                  <a:pt x="1255" y="112"/>
                  <a:pt x="2527" y="-1"/>
                  <a:pt x="3803" y="0"/>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0"/>
                </a:cubicBezTo>
                <a:cubicBezTo>
                  <a:pt x="15732" y="0"/>
                  <a:pt x="25403" y="9670"/>
                  <a:pt x="25403" y="21600"/>
                </a:cubicBezTo>
                <a:cubicBezTo>
                  <a:pt x="25403" y="24522"/>
                  <a:pt x="24809" y="27414"/>
                  <a:pt x="23659" y="30100"/>
                </a:cubicBezTo>
                <a:lnTo>
                  <a:pt x="3803" y="21600"/>
                </a:lnTo>
                <a:lnTo>
                  <a:pt x="0" y="337"/>
                </a:lnTo>
                <a:close/>
              </a:path>
            </a:pathLst>
          </a:custGeom>
          <a:noFill/>
          <a:ln w="28575">
            <a:solidFill>
              <a:srgbClr val="333399"/>
            </a:solidFill>
            <a:round/>
            <a:headEn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2024"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68963" y="39512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25"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1463" y="3967163"/>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26"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350" y="4005263"/>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27" name="Picture 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1775" y="5300663"/>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28" name="Picture 4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2250" y="5376863"/>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29"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0338" y="227647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30"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17663" y="22828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31"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1463" y="12922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32"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6863" y="13684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33"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6463" y="10382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34" name="Picture 5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3875" y="22828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35"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4075" y="22955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36"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1275" y="15335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37"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7675" y="15208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38" name="Picture 5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7963" y="51069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39" name="Picture 6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4063" y="51196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40"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7763" y="44846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41"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16563" y="44973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42"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7163" y="39512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043" name="Line 64"/>
          <p:cNvSpPr>
            <a:spLocks noChangeShapeType="1"/>
          </p:cNvSpPr>
          <p:nvPr/>
        </p:nvSpPr>
        <p:spPr bwMode="auto">
          <a:xfrm flipV="1">
            <a:off x="2455863" y="1844675"/>
            <a:ext cx="1030287" cy="20955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4" name="Text Box 65"/>
          <p:cNvSpPr txBox="1">
            <a:spLocks noChangeArrowheads="1"/>
          </p:cNvSpPr>
          <p:nvPr/>
        </p:nvSpPr>
        <p:spPr bwMode="auto">
          <a:xfrm>
            <a:off x="5795963" y="278130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400">
                <a:solidFill>
                  <a:srgbClr val="333399"/>
                </a:solidFill>
                <a:latin typeface="黑体" pitchFamily="49" charset="-122"/>
                <a:ea typeface="黑体" pitchFamily="49" charset="-122"/>
              </a:rPr>
              <a:t>总线网</a:t>
            </a:r>
          </a:p>
        </p:txBody>
      </p:sp>
      <p:sp>
        <p:nvSpPr>
          <p:cNvPr id="42045" name="Text Box 66"/>
          <p:cNvSpPr txBox="1">
            <a:spLocks noChangeArrowheads="1"/>
          </p:cNvSpPr>
          <p:nvPr/>
        </p:nvSpPr>
        <p:spPr bwMode="auto">
          <a:xfrm>
            <a:off x="1673225" y="278130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400">
                <a:solidFill>
                  <a:srgbClr val="333399"/>
                </a:solidFill>
                <a:latin typeface="黑体" pitchFamily="49" charset="-122"/>
                <a:ea typeface="黑体" pitchFamily="49" charset="-122"/>
              </a:rPr>
              <a:t>星形网</a:t>
            </a:r>
          </a:p>
        </p:txBody>
      </p:sp>
      <p:sp>
        <p:nvSpPr>
          <p:cNvPr id="42046" name="Text Box 67"/>
          <p:cNvSpPr txBox="1">
            <a:spLocks noChangeArrowheads="1"/>
          </p:cNvSpPr>
          <p:nvPr/>
        </p:nvSpPr>
        <p:spPr bwMode="auto">
          <a:xfrm>
            <a:off x="5651500" y="5851525"/>
            <a:ext cx="1250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400">
                <a:solidFill>
                  <a:srgbClr val="333399"/>
                </a:solidFill>
                <a:latin typeface="黑体" pitchFamily="49" charset="-122"/>
                <a:ea typeface="黑体" pitchFamily="49" charset="-122"/>
              </a:rPr>
              <a:t>树形网 </a:t>
            </a:r>
          </a:p>
        </p:txBody>
      </p:sp>
      <p:sp>
        <p:nvSpPr>
          <p:cNvPr id="42047" name="Text Box 68"/>
          <p:cNvSpPr txBox="1">
            <a:spLocks noChangeArrowheads="1"/>
          </p:cNvSpPr>
          <p:nvPr/>
        </p:nvSpPr>
        <p:spPr bwMode="auto">
          <a:xfrm>
            <a:off x="1763713" y="585152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400">
                <a:solidFill>
                  <a:srgbClr val="333399"/>
                </a:solidFill>
                <a:latin typeface="黑体" pitchFamily="49" charset="-122"/>
                <a:ea typeface="黑体" pitchFamily="49" charset="-122"/>
              </a:rPr>
              <a:t>环形网</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100138" y="931863"/>
            <a:ext cx="6856412" cy="768350"/>
          </a:xfrm>
        </p:spPr>
        <p:txBody>
          <a:bodyPr/>
          <a:lstStyle/>
          <a:p>
            <a:pPr algn="ctr" eaLnBrk="1" hangingPunct="1"/>
            <a:r>
              <a:rPr lang="zh-CN" altLang="en-US" smtClean="0"/>
              <a:t>媒体共享技术</a:t>
            </a:r>
          </a:p>
        </p:txBody>
      </p:sp>
      <p:sp>
        <p:nvSpPr>
          <p:cNvPr id="397315" name="Rectangle 3"/>
          <p:cNvSpPr>
            <a:spLocks noGrp="1" noChangeArrowheads="1"/>
          </p:cNvSpPr>
          <p:nvPr>
            <p:ph type="body" idx="1"/>
          </p:nvPr>
        </p:nvSpPr>
        <p:spPr>
          <a:xfrm>
            <a:off x="1552575" y="1844675"/>
            <a:ext cx="7123113" cy="4537075"/>
          </a:xfrm>
        </p:spPr>
        <p:txBody>
          <a:bodyPr/>
          <a:lstStyle/>
          <a:p>
            <a:pPr eaLnBrk="1" hangingPunct="1"/>
            <a:r>
              <a:rPr lang="zh-CN" altLang="en-US" smtClean="0"/>
              <a:t>静态划分信道</a:t>
            </a:r>
          </a:p>
          <a:p>
            <a:pPr lvl="1" eaLnBrk="1" hangingPunct="1"/>
            <a:r>
              <a:rPr lang="zh-CN" altLang="en-US" smtClean="0">
                <a:solidFill>
                  <a:srgbClr val="333399"/>
                </a:solidFill>
                <a:ea typeface="黑体" pitchFamily="49" charset="-122"/>
              </a:rPr>
              <a:t>频分复用</a:t>
            </a:r>
          </a:p>
          <a:p>
            <a:pPr lvl="1" eaLnBrk="1" hangingPunct="1"/>
            <a:r>
              <a:rPr lang="zh-CN" altLang="en-US" smtClean="0">
                <a:solidFill>
                  <a:srgbClr val="333399"/>
                </a:solidFill>
                <a:ea typeface="黑体" pitchFamily="49" charset="-122"/>
              </a:rPr>
              <a:t>时分复用</a:t>
            </a:r>
          </a:p>
          <a:p>
            <a:pPr lvl="1" eaLnBrk="1" hangingPunct="1"/>
            <a:r>
              <a:rPr lang="zh-CN" altLang="en-US" smtClean="0">
                <a:solidFill>
                  <a:srgbClr val="333399"/>
                </a:solidFill>
                <a:ea typeface="黑体" pitchFamily="49" charset="-122"/>
              </a:rPr>
              <a:t>波分复用</a:t>
            </a:r>
          </a:p>
          <a:p>
            <a:pPr lvl="1" eaLnBrk="1" hangingPunct="1"/>
            <a:r>
              <a:rPr lang="zh-CN" altLang="en-US" smtClean="0">
                <a:solidFill>
                  <a:srgbClr val="333399"/>
                </a:solidFill>
                <a:ea typeface="黑体" pitchFamily="49" charset="-122"/>
              </a:rPr>
              <a:t>码分复用</a:t>
            </a:r>
            <a:r>
              <a:rPr lang="zh-CN" altLang="en-US" smtClean="0"/>
              <a:t> </a:t>
            </a:r>
          </a:p>
          <a:p>
            <a:pPr eaLnBrk="1" hangingPunct="1"/>
            <a:r>
              <a:rPr lang="zh-CN" altLang="en-US" smtClean="0"/>
              <a:t>动态媒体接入控制（多点接入）</a:t>
            </a:r>
          </a:p>
          <a:p>
            <a:pPr lvl="1" eaLnBrk="1" hangingPunct="1"/>
            <a:r>
              <a:rPr lang="zh-CN" altLang="en-US" smtClean="0">
                <a:solidFill>
                  <a:srgbClr val="333399"/>
                </a:solidFill>
                <a:latin typeface="Arial" pitchFamily="34" charset="0"/>
                <a:ea typeface="黑体" pitchFamily="49" charset="-122"/>
              </a:rPr>
              <a:t>随机接入。</a:t>
            </a:r>
          </a:p>
          <a:p>
            <a:pPr lvl="1" eaLnBrk="1" hangingPunct="1"/>
            <a:r>
              <a:rPr lang="zh-CN" altLang="en-US" smtClean="0">
                <a:solidFill>
                  <a:srgbClr val="333399"/>
                </a:solidFill>
                <a:latin typeface="Arial" pitchFamily="34" charset="0"/>
                <a:ea typeface="黑体" pitchFamily="49" charset="-122"/>
              </a:rPr>
              <a:t>受控接入，使用较少。</a:t>
            </a:r>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7315">
                                            <p:txEl>
                                              <p:pRg st="5" end="5"/>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97315">
                                            <p:txEl>
                                              <p:pRg st="6" end="6"/>
                                            </p:txEl>
                                          </p:spTgt>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nodeType="afterEffect">
                                  <p:stCondLst>
                                    <p:cond delay="0"/>
                                  </p:stCondLst>
                                  <p:childTnLst>
                                    <p:set>
                                      <p:cBhvr>
                                        <p:cTn id="12" dur="1" fill="hold">
                                          <p:stCondLst>
                                            <p:cond delay="0"/>
                                          </p:stCondLst>
                                        </p:cTn>
                                        <p:tgtEl>
                                          <p:spTgt spid="397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100138" y="931863"/>
            <a:ext cx="6856412" cy="768350"/>
          </a:xfrm>
        </p:spPr>
        <p:txBody>
          <a:bodyPr/>
          <a:lstStyle/>
          <a:p>
            <a:pPr algn="ctr" eaLnBrk="1" hangingPunct="1"/>
            <a:r>
              <a:rPr lang="zh-CN" altLang="en-US" smtClean="0"/>
              <a:t>适配器的作用  </a:t>
            </a:r>
          </a:p>
        </p:txBody>
      </p:sp>
      <p:sp>
        <p:nvSpPr>
          <p:cNvPr id="402435" name="Rectangle 3"/>
          <p:cNvSpPr>
            <a:spLocks noGrp="1" noChangeArrowheads="1"/>
          </p:cNvSpPr>
          <p:nvPr>
            <p:ph type="body" idx="1"/>
          </p:nvPr>
        </p:nvSpPr>
        <p:spPr>
          <a:xfrm>
            <a:off x="971550" y="1844675"/>
            <a:ext cx="7848600" cy="4840288"/>
          </a:xfrm>
        </p:spPr>
        <p:txBody>
          <a:bodyPr/>
          <a:lstStyle/>
          <a:p>
            <a:pPr eaLnBrk="1" hangingPunct="1"/>
            <a:r>
              <a:rPr lang="zh-CN" altLang="en-US" smtClean="0"/>
              <a:t>网络接口板又称为</a:t>
            </a:r>
            <a:r>
              <a:rPr lang="zh-CN" altLang="en-US" smtClean="0">
                <a:solidFill>
                  <a:schemeClr val="hlink"/>
                </a:solidFill>
              </a:rPr>
              <a:t>通信适配器</a:t>
            </a:r>
            <a:r>
              <a:rPr lang="en-US" altLang="zh-CN" smtClean="0"/>
              <a:t>(adapter)</a:t>
            </a:r>
            <a:r>
              <a:rPr lang="zh-CN" altLang="en-US" smtClean="0"/>
              <a:t>或</a:t>
            </a:r>
            <a:r>
              <a:rPr lang="zh-CN" altLang="en-US" smtClean="0">
                <a:solidFill>
                  <a:schemeClr val="hlink"/>
                </a:solidFill>
              </a:rPr>
              <a:t>网络接口卡</a:t>
            </a:r>
            <a:r>
              <a:rPr lang="zh-CN" altLang="en-US" smtClean="0"/>
              <a:t> </a:t>
            </a:r>
            <a:r>
              <a:rPr lang="en-US" altLang="zh-CN" smtClean="0"/>
              <a:t>NIC (Network Interface Card)</a:t>
            </a:r>
            <a:r>
              <a:rPr lang="zh-CN" altLang="en-US" smtClean="0"/>
              <a:t>，或“</a:t>
            </a:r>
            <a:r>
              <a:rPr lang="zh-CN" altLang="en-US" smtClean="0">
                <a:solidFill>
                  <a:schemeClr val="hlink"/>
                </a:solidFill>
              </a:rPr>
              <a:t>网卡</a:t>
            </a:r>
            <a:r>
              <a:rPr lang="zh-CN" altLang="en-US" smtClean="0"/>
              <a:t>”。 </a:t>
            </a:r>
          </a:p>
          <a:p>
            <a:pPr eaLnBrk="1" hangingPunct="1"/>
            <a:r>
              <a:rPr lang="zh-CN" altLang="en-US" smtClean="0"/>
              <a:t>适配器的重要功能：</a:t>
            </a:r>
          </a:p>
          <a:p>
            <a:pPr lvl="1" eaLnBrk="1" hangingPunct="1"/>
            <a:r>
              <a:rPr lang="zh-CN" altLang="en-US" smtClean="0">
                <a:solidFill>
                  <a:srgbClr val="333399"/>
                </a:solidFill>
                <a:latin typeface="黑体" pitchFamily="49" charset="-122"/>
                <a:ea typeface="黑体" pitchFamily="49" charset="-122"/>
              </a:rPr>
              <a:t>进行串行</a:t>
            </a:r>
            <a:r>
              <a:rPr lang="en-US" altLang="zh-CN" smtClean="0">
                <a:solidFill>
                  <a:srgbClr val="333399"/>
                </a:solidFill>
                <a:latin typeface="黑体" pitchFamily="49" charset="-122"/>
                <a:ea typeface="黑体" pitchFamily="49" charset="-122"/>
              </a:rPr>
              <a:t>/</a:t>
            </a:r>
            <a:r>
              <a:rPr lang="zh-CN" altLang="en-US" smtClean="0">
                <a:solidFill>
                  <a:srgbClr val="333399"/>
                </a:solidFill>
                <a:latin typeface="黑体" pitchFamily="49" charset="-122"/>
                <a:ea typeface="黑体" pitchFamily="49" charset="-122"/>
              </a:rPr>
              <a:t>并行转换。</a:t>
            </a:r>
          </a:p>
          <a:p>
            <a:pPr lvl="1" eaLnBrk="1" hangingPunct="1"/>
            <a:r>
              <a:rPr lang="zh-CN" altLang="en-US" smtClean="0">
                <a:solidFill>
                  <a:srgbClr val="333399"/>
                </a:solidFill>
                <a:latin typeface="黑体" pitchFamily="49" charset="-122"/>
                <a:ea typeface="黑体" pitchFamily="49" charset="-122"/>
              </a:rPr>
              <a:t>对数据进行缓存。</a:t>
            </a:r>
          </a:p>
          <a:p>
            <a:pPr lvl="1" eaLnBrk="1" hangingPunct="1"/>
            <a:r>
              <a:rPr lang="zh-CN" altLang="en-US" smtClean="0">
                <a:solidFill>
                  <a:srgbClr val="333399"/>
                </a:solidFill>
                <a:latin typeface="黑体" pitchFamily="49" charset="-122"/>
                <a:ea typeface="黑体" pitchFamily="49" charset="-122"/>
              </a:rPr>
              <a:t>实现以太网协议。</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2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24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24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24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lgn="ctr" eaLnBrk="1" hangingPunct="1"/>
            <a:r>
              <a:rPr lang="zh-CN" altLang="en-US" smtClean="0"/>
              <a:t>计算机通过适配器</a:t>
            </a:r>
            <a:br>
              <a:rPr lang="zh-CN" altLang="en-US" smtClean="0"/>
            </a:br>
            <a:r>
              <a:rPr lang="zh-CN" altLang="en-US" smtClean="0"/>
              <a:t>和局域网进行通信</a:t>
            </a:r>
            <a:r>
              <a:rPr lang="en-US" altLang="zh-CN" smtClean="0"/>
              <a:t>p79 </a:t>
            </a:r>
          </a:p>
        </p:txBody>
      </p:sp>
      <p:sp>
        <p:nvSpPr>
          <p:cNvPr id="45059" name="Rectangle 18"/>
          <p:cNvSpPr>
            <a:spLocks noChangeArrowheads="1"/>
          </p:cNvSpPr>
          <p:nvPr/>
        </p:nvSpPr>
        <p:spPr bwMode="auto">
          <a:xfrm>
            <a:off x="1042988" y="2860675"/>
            <a:ext cx="5884862" cy="23971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117088" dir="2963922" algn="ctr" rotWithShape="0">
                    <a:schemeClr val="bg2"/>
                  </a:outerShdw>
                </a:effectLst>
              </a14:hiddenEffects>
            </a:ext>
          </a:extLst>
        </p:spPr>
        <p:txBody>
          <a:bodyPr wrap="none" anchor="ctr"/>
          <a:lstStyle/>
          <a:p>
            <a:endParaRPr lang="zh-CN" altLang="en-US"/>
          </a:p>
        </p:txBody>
      </p:sp>
      <p:sp>
        <p:nvSpPr>
          <p:cNvPr id="45060" name="Text Box 19"/>
          <p:cNvSpPr txBox="1">
            <a:spLocks noChangeArrowheads="1"/>
          </p:cNvSpPr>
          <p:nvPr/>
        </p:nvSpPr>
        <p:spPr bwMode="auto">
          <a:xfrm>
            <a:off x="5322888" y="2251075"/>
            <a:ext cx="1401762" cy="457200"/>
          </a:xfrm>
          <a:prstGeom prst="rect">
            <a:avLst/>
          </a:prstGeom>
          <a:solidFill>
            <a:srgbClr val="FF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硬件地址</a:t>
            </a:r>
          </a:p>
        </p:txBody>
      </p:sp>
      <p:sp>
        <p:nvSpPr>
          <p:cNvPr id="45061" name="Line 20"/>
          <p:cNvSpPr>
            <a:spLocks noChangeShapeType="1"/>
          </p:cNvSpPr>
          <p:nvPr/>
        </p:nvSpPr>
        <p:spPr bwMode="auto">
          <a:xfrm>
            <a:off x="6211888" y="4159250"/>
            <a:ext cx="1857375" cy="0"/>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2" name="Text Box 21"/>
          <p:cNvSpPr txBox="1">
            <a:spLocks noChangeArrowheads="1"/>
          </p:cNvSpPr>
          <p:nvPr/>
        </p:nvSpPr>
        <p:spPr bwMode="auto">
          <a:xfrm>
            <a:off x="6934200" y="3619500"/>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至局域网</a:t>
            </a:r>
          </a:p>
        </p:txBody>
      </p:sp>
      <p:sp>
        <p:nvSpPr>
          <p:cNvPr id="45063" name="Rectangle 22"/>
          <p:cNvSpPr>
            <a:spLocks noChangeArrowheads="1"/>
          </p:cNvSpPr>
          <p:nvPr/>
        </p:nvSpPr>
        <p:spPr bwMode="auto">
          <a:xfrm>
            <a:off x="4492625" y="3544888"/>
            <a:ext cx="1760538" cy="1127125"/>
          </a:xfrm>
          <a:prstGeom prst="rect">
            <a:avLst/>
          </a:prstGeom>
          <a:solidFill>
            <a:srgbClr val="CCCC00"/>
          </a:solidFill>
          <a:ln w="19050">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400">
                <a:solidFill>
                  <a:schemeClr val="folHlink"/>
                </a:solidFill>
                <a:latin typeface="Arial" pitchFamily="34" charset="0"/>
                <a:ea typeface="黑体" pitchFamily="49" charset="-122"/>
              </a:rPr>
              <a:t>适配器</a:t>
            </a:r>
          </a:p>
          <a:p>
            <a:pPr algn="ctr"/>
            <a:r>
              <a:rPr kumimoji="1" lang="zh-CN" altLang="en-US" sz="2400">
                <a:solidFill>
                  <a:schemeClr val="folHlink"/>
                </a:solidFill>
                <a:latin typeface="Arial" pitchFamily="34" charset="0"/>
                <a:ea typeface="黑体" pitchFamily="49" charset="-122"/>
              </a:rPr>
              <a:t>（网卡）</a:t>
            </a:r>
          </a:p>
        </p:txBody>
      </p:sp>
      <p:sp>
        <p:nvSpPr>
          <p:cNvPr id="45064" name="Text Box 23"/>
          <p:cNvSpPr txBox="1">
            <a:spLocks noChangeArrowheads="1"/>
          </p:cNvSpPr>
          <p:nvPr/>
        </p:nvSpPr>
        <p:spPr bwMode="auto">
          <a:xfrm>
            <a:off x="6946900" y="4195763"/>
            <a:ext cx="1401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串行通信</a:t>
            </a:r>
          </a:p>
        </p:txBody>
      </p:sp>
      <p:sp>
        <p:nvSpPr>
          <p:cNvPr id="45065" name="Rectangle 24"/>
          <p:cNvSpPr>
            <a:spLocks noChangeArrowheads="1"/>
          </p:cNvSpPr>
          <p:nvPr/>
        </p:nvSpPr>
        <p:spPr bwMode="auto">
          <a:xfrm>
            <a:off x="1716088" y="3544888"/>
            <a:ext cx="1760537" cy="1127125"/>
          </a:xfrm>
          <a:prstGeom prst="rect">
            <a:avLst/>
          </a:prstGeom>
          <a:solidFill>
            <a:schemeClr val="accent2"/>
          </a:solidFill>
          <a:ln w="19050">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2400">
                <a:solidFill>
                  <a:schemeClr val="folHlink"/>
                </a:solidFill>
                <a:latin typeface="Arial" pitchFamily="34" charset="0"/>
                <a:ea typeface="黑体" pitchFamily="49" charset="-122"/>
              </a:rPr>
              <a:t>CPU </a:t>
            </a:r>
            <a:r>
              <a:rPr kumimoji="1" lang="zh-CN" altLang="en-US" sz="2400">
                <a:solidFill>
                  <a:schemeClr val="folHlink"/>
                </a:solidFill>
                <a:latin typeface="Arial" pitchFamily="34" charset="0"/>
                <a:ea typeface="黑体" pitchFamily="49" charset="-122"/>
              </a:rPr>
              <a:t>和</a:t>
            </a:r>
          </a:p>
          <a:p>
            <a:pPr algn="ctr"/>
            <a:r>
              <a:rPr kumimoji="1" lang="zh-CN" altLang="en-US" sz="2400">
                <a:solidFill>
                  <a:schemeClr val="folHlink"/>
                </a:solidFill>
                <a:latin typeface="Arial" pitchFamily="34" charset="0"/>
                <a:ea typeface="黑体" pitchFamily="49" charset="-122"/>
              </a:rPr>
              <a:t>存储器</a:t>
            </a:r>
          </a:p>
        </p:txBody>
      </p:sp>
      <p:sp>
        <p:nvSpPr>
          <p:cNvPr id="45066" name="Line 25"/>
          <p:cNvSpPr>
            <a:spLocks noChangeShapeType="1"/>
          </p:cNvSpPr>
          <p:nvPr/>
        </p:nvSpPr>
        <p:spPr bwMode="auto">
          <a:xfrm flipV="1">
            <a:off x="2260600" y="4687888"/>
            <a:ext cx="404813" cy="909637"/>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7" name="Text Box 26"/>
          <p:cNvSpPr txBox="1">
            <a:spLocks noChangeArrowheads="1"/>
          </p:cNvSpPr>
          <p:nvPr/>
        </p:nvSpPr>
        <p:spPr bwMode="auto">
          <a:xfrm>
            <a:off x="1143000" y="5559425"/>
            <a:ext cx="23177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生成发送的数据</a:t>
            </a:r>
          </a:p>
          <a:p>
            <a:pPr eaLnBrk="1" hangingPunct="1"/>
            <a:r>
              <a:rPr kumimoji="1" lang="zh-CN" altLang="en-US" sz="2400">
                <a:solidFill>
                  <a:schemeClr val="folHlink"/>
                </a:solidFill>
                <a:latin typeface="Arial" pitchFamily="34" charset="0"/>
                <a:ea typeface="黑体" pitchFamily="49" charset="-122"/>
              </a:rPr>
              <a:t>处理收到的数据</a:t>
            </a:r>
          </a:p>
        </p:txBody>
      </p:sp>
      <p:sp>
        <p:nvSpPr>
          <p:cNvPr id="45068" name="Line 27"/>
          <p:cNvSpPr>
            <a:spLocks noChangeShapeType="1"/>
          </p:cNvSpPr>
          <p:nvPr/>
        </p:nvSpPr>
        <p:spPr bwMode="auto">
          <a:xfrm flipV="1">
            <a:off x="5000625" y="4687888"/>
            <a:ext cx="404813" cy="909637"/>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9" name="Text Box 28"/>
          <p:cNvSpPr txBox="1">
            <a:spLocks noChangeArrowheads="1"/>
          </p:cNvSpPr>
          <p:nvPr/>
        </p:nvSpPr>
        <p:spPr bwMode="auto">
          <a:xfrm>
            <a:off x="3743325" y="5559425"/>
            <a:ext cx="26241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kumimoji="1" lang="zh-CN" altLang="en-US" sz="2400">
                <a:solidFill>
                  <a:schemeClr val="folHlink"/>
                </a:solidFill>
                <a:latin typeface="Arial" pitchFamily="34" charset="0"/>
                <a:ea typeface="黑体" pitchFamily="49" charset="-122"/>
              </a:rPr>
              <a:t>把帧发送到局域网</a:t>
            </a:r>
          </a:p>
          <a:p>
            <a:pPr algn="ctr" eaLnBrk="1" hangingPunct="1"/>
            <a:r>
              <a:rPr kumimoji="1" lang="zh-CN" altLang="en-US" sz="2400">
                <a:solidFill>
                  <a:schemeClr val="folHlink"/>
                </a:solidFill>
                <a:latin typeface="Arial" pitchFamily="34" charset="0"/>
                <a:ea typeface="黑体" pitchFamily="49" charset="-122"/>
              </a:rPr>
              <a:t>从局域网接收帧</a:t>
            </a:r>
          </a:p>
        </p:txBody>
      </p:sp>
      <p:sp>
        <p:nvSpPr>
          <p:cNvPr id="45070" name="Text Box 29"/>
          <p:cNvSpPr txBox="1">
            <a:spLocks noChangeArrowheads="1"/>
          </p:cNvSpPr>
          <p:nvPr/>
        </p:nvSpPr>
        <p:spPr bwMode="auto">
          <a:xfrm>
            <a:off x="3475038" y="28273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Arial" pitchFamily="34" charset="0"/>
                <a:ea typeface="黑体" pitchFamily="49" charset="-122"/>
              </a:rPr>
              <a:t>计算机</a:t>
            </a:r>
          </a:p>
        </p:txBody>
      </p:sp>
      <p:sp>
        <p:nvSpPr>
          <p:cNvPr id="45071" name="Text Box 30"/>
          <p:cNvSpPr txBox="1">
            <a:spLocks noChangeArrowheads="1"/>
          </p:cNvSpPr>
          <p:nvPr/>
        </p:nvSpPr>
        <p:spPr bwMode="auto">
          <a:xfrm>
            <a:off x="1116013" y="2565400"/>
            <a:ext cx="1165225" cy="457200"/>
          </a:xfrm>
          <a:prstGeom prst="rect">
            <a:avLst/>
          </a:prstGeom>
          <a:solidFill>
            <a:srgbClr val="CCFF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sz="2400">
                <a:solidFill>
                  <a:schemeClr val="folHlink"/>
                </a:solidFill>
                <a:latin typeface="Arial" pitchFamily="34" charset="0"/>
                <a:ea typeface="黑体" pitchFamily="49" charset="-122"/>
              </a:rPr>
              <a:t>IP </a:t>
            </a:r>
            <a:r>
              <a:rPr kumimoji="1" lang="zh-CN" altLang="en-US" sz="2400">
                <a:solidFill>
                  <a:schemeClr val="folHlink"/>
                </a:solidFill>
                <a:latin typeface="Arial" pitchFamily="34" charset="0"/>
                <a:ea typeface="黑体" pitchFamily="49" charset="-122"/>
              </a:rPr>
              <a:t>地址</a:t>
            </a:r>
          </a:p>
        </p:txBody>
      </p:sp>
      <p:sp>
        <p:nvSpPr>
          <p:cNvPr id="45072" name="AutoShape 31"/>
          <p:cNvSpPr>
            <a:spLocks noChangeArrowheads="1"/>
          </p:cNvSpPr>
          <p:nvPr/>
        </p:nvSpPr>
        <p:spPr bwMode="auto">
          <a:xfrm>
            <a:off x="3376613" y="3773488"/>
            <a:ext cx="1216025" cy="684212"/>
          </a:xfrm>
          <a:prstGeom prst="leftRightArrow">
            <a:avLst>
              <a:gd name="adj1" fmla="val 50000"/>
              <a:gd name="adj2" fmla="val 35545"/>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73" name="Text Box 32"/>
          <p:cNvSpPr txBox="1">
            <a:spLocks noChangeArrowheads="1"/>
          </p:cNvSpPr>
          <p:nvPr/>
        </p:nvSpPr>
        <p:spPr bwMode="auto">
          <a:xfrm>
            <a:off x="3551238" y="4159250"/>
            <a:ext cx="79375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lnSpc>
                <a:spcPct val="95000"/>
              </a:lnSpc>
            </a:pPr>
            <a:r>
              <a:rPr kumimoji="1" lang="zh-CN" altLang="en-US" sz="2400">
                <a:solidFill>
                  <a:schemeClr val="folHlink"/>
                </a:solidFill>
                <a:latin typeface="Arial" pitchFamily="34" charset="0"/>
                <a:ea typeface="黑体" pitchFamily="49" charset="-122"/>
              </a:rPr>
              <a:t>并行</a:t>
            </a:r>
          </a:p>
          <a:p>
            <a:pPr eaLnBrk="1" hangingPunct="1">
              <a:lnSpc>
                <a:spcPct val="95000"/>
              </a:lnSpc>
            </a:pPr>
            <a:r>
              <a:rPr kumimoji="1" lang="zh-CN" altLang="en-US" sz="2400">
                <a:solidFill>
                  <a:schemeClr val="folHlink"/>
                </a:solidFill>
                <a:latin typeface="Arial" pitchFamily="34" charset="0"/>
                <a:ea typeface="黑体" pitchFamily="49" charset="-122"/>
              </a:rPr>
              <a:t>通信</a:t>
            </a:r>
          </a:p>
        </p:txBody>
      </p:sp>
      <p:sp>
        <p:nvSpPr>
          <p:cNvPr id="45074" name="Rectangle 33"/>
          <p:cNvSpPr>
            <a:spLocks noChangeArrowheads="1"/>
          </p:cNvSpPr>
          <p:nvPr/>
        </p:nvSpPr>
        <p:spPr bwMode="auto">
          <a:xfrm>
            <a:off x="1908175" y="4292600"/>
            <a:ext cx="201613" cy="169863"/>
          </a:xfrm>
          <a:prstGeom prst="rect">
            <a:avLst/>
          </a:prstGeom>
          <a:solidFill>
            <a:srgbClr val="CCFF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
        <p:nvSpPr>
          <p:cNvPr id="45075" name="Freeform 34"/>
          <p:cNvSpPr>
            <a:spLocks/>
          </p:cNvSpPr>
          <p:nvPr/>
        </p:nvSpPr>
        <p:spPr bwMode="auto">
          <a:xfrm>
            <a:off x="1258888" y="3068638"/>
            <a:ext cx="1109662" cy="1266825"/>
          </a:xfrm>
          <a:custGeom>
            <a:avLst/>
            <a:gdLst>
              <a:gd name="T0" fmla="*/ 0 w 496"/>
              <a:gd name="T1" fmla="*/ 0 h 504"/>
              <a:gd name="T2" fmla="*/ 2147483647 w 496"/>
              <a:gd name="T3" fmla="*/ 0 h 504"/>
              <a:gd name="T4" fmla="*/ 2147483647 w 496"/>
              <a:gd name="T5" fmla="*/ 2147483647 h 504"/>
              <a:gd name="T6" fmla="*/ 2147483647 w 496"/>
              <a:gd name="T7" fmla="*/ 2147483647 h 504"/>
              <a:gd name="T8" fmla="*/ 0 w 496"/>
              <a:gd name="T9" fmla="*/ 0 h 5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 h="504">
                <a:moveTo>
                  <a:pt x="0" y="0"/>
                </a:moveTo>
                <a:lnTo>
                  <a:pt x="496" y="0"/>
                </a:lnTo>
                <a:lnTo>
                  <a:pt x="292" y="504"/>
                </a:lnTo>
                <a:lnTo>
                  <a:pt x="210" y="502"/>
                </a:lnTo>
                <a:lnTo>
                  <a:pt x="0" y="0"/>
                </a:lnTo>
                <a:close/>
              </a:path>
            </a:pathLst>
          </a:custGeom>
          <a:gradFill rotWithShape="1">
            <a:gsLst>
              <a:gs pos="0">
                <a:srgbClr val="CCFFFF"/>
              </a:gs>
              <a:gs pos="100000">
                <a:srgbClr val="9AC1C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6" name="Rectangle 35"/>
          <p:cNvSpPr>
            <a:spLocks noChangeArrowheads="1"/>
          </p:cNvSpPr>
          <p:nvPr/>
        </p:nvSpPr>
        <p:spPr bwMode="auto">
          <a:xfrm>
            <a:off x="5915025" y="4003675"/>
            <a:ext cx="201613" cy="169863"/>
          </a:xfrm>
          <a:prstGeom prst="rect">
            <a:avLst/>
          </a:prstGeom>
          <a:solidFill>
            <a:srgbClr val="FF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
        <p:nvSpPr>
          <p:cNvPr id="45077" name="Freeform 36"/>
          <p:cNvSpPr>
            <a:spLocks/>
          </p:cNvSpPr>
          <p:nvPr/>
        </p:nvSpPr>
        <p:spPr bwMode="auto">
          <a:xfrm>
            <a:off x="5367338" y="2740025"/>
            <a:ext cx="1368425" cy="1260475"/>
          </a:xfrm>
          <a:custGeom>
            <a:avLst/>
            <a:gdLst>
              <a:gd name="T0" fmla="*/ 0 w 612"/>
              <a:gd name="T1" fmla="*/ 0 h 501"/>
              <a:gd name="T2" fmla="*/ 2147483647 w 612"/>
              <a:gd name="T3" fmla="*/ 2147483647 h 501"/>
              <a:gd name="T4" fmla="*/ 2147483647 w 612"/>
              <a:gd name="T5" fmla="*/ 2147483647 h 501"/>
              <a:gd name="T6" fmla="*/ 2147483647 w 612"/>
              <a:gd name="T7" fmla="*/ 2147483647 h 501"/>
              <a:gd name="T8" fmla="*/ 0 w 612"/>
              <a:gd name="T9" fmla="*/ 0 h 5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2" h="501">
                <a:moveTo>
                  <a:pt x="0" y="0"/>
                </a:moveTo>
                <a:lnTo>
                  <a:pt x="612" y="6"/>
                </a:lnTo>
                <a:lnTo>
                  <a:pt x="336" y="501"/>
                </a:lnTo>
                <a:lnTo>
                  <a:pt x="252" y="501"/>
                </a:lnTo>
                <a:lnTo>
                  <a:pt x="0" y="0"/>
                </a:lnTo>
                <a:close/>
              </a:path>
            </a:pathLst>
          </a:custGeom>
          <a:gradFill rotWithShape="1">
            <a:gsLst>
              <a:gs pos="0">
                <a:srgbClr val="FFCCFF"/>
              </a:gs>
              <a:gs pos="100000">
                <a:srgbClr val="C19AC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body" idx="1"/>
          </p:nvPr>
        </p:nvSpPr>
        <p:spPr>
          <a:xfrm>
            <a:off x="1042988" y="1773238"/>
            <a:ext cx="7772400" cy="3168650"/>
          </a:xfrm>
        </p:spPr>
        <p:txBody>
          <a:bodyPr/>
          <a:lstStyle/>
          <a:p>
            <a:pPr eaLnBrk="1" hangingPunct="1"/>
            <a:endParaRPr lang="en-US" altLang="zh-CN" sz="2800" smtClean="0"/>
          </a:p>
          <a:p>
            <a:pPr eaLnBrk="1" hangingPunct="1"/>
            <a:r>
              <a:rPr lang="zh-CN" altLang="en-US" sz="2800" smtClean="0"/>
              <a:t>最初的以太网是将许多计算机都连接到一根总线上。</a:t>
            </a:r>
          </a:p>
        </p:txBody>
      </p:sp>
      <p:sp>
        <p:nvSpPr>
          <p:cNvPr id="46083" name="Rectangle 3"/>
          <p:cNvSpPr>
            <a:spLocks noGrp="1" noChangeArrowheads="1"/>
          </p:cNvSpPr>
          <p:nvPr>
            <p:ph type="title"/>
          </p:nvPr>
        </p:nvSpPr>
        <p:spPr/>
        <p:txBody>
          <a:bodyPr/>
          <a:lstStyle/>
          <a:p>
            <a:pPr algn="ctr" eaLnBrk="1" hangingPunct="1"/>
            <a:r>
              <a:rPr lang="en-US" altLang="zh-CN" smtClean="0"/>
              <a:t>3.3.2   CSMA/CD </a:t>
            </a:r>
            <a:r>
              <a:rPr lang="zh-CN" altLang="en-US" smtClean="0"/>
              <a:t>协议 </a:t>
            </a:r>
          </a:p>
        </p:txBody>
      </p:sp>
      <p:grpSp>
        <p:nvGrpSpPr>
          <p:cNvPr id="46084" name="Group 4"/>
          <p:cNvGrpSpPr>
            <a:grpSpLocks/>
          </p:cNvGrpSpPr>
          <p:nvPr/>
        </p:nvGrpSpPr>
        <p:grpSpPr bwMode="auto">
          <a:xfrm>
            <a:off x="4337050" y="4008438"/>
            <a:ext cx="471488" cy="1406525"/>
            <a:chOff x="1177" y="1994"/>
            <a:chExt cx="258" cy="714"/>
          </a:xfrm>
        </p:grpSpPr>
        <p:sp>
          <p:nvSpPr>
            <p:cNvPr id="46128" name="Line 5"/>
            <p:cNvSpPr>
              <a:spLocks noChangeShapeType="1"/>
            </p:cNvSpPr>
            <p:nvPr/>
          </p:nvSpPr>
          <p:spPr bwMode="auto">
            <a:xfrm rot="16200000" flipV="1">
              <a:off x="1043" y="2261"/>
              <a:ext cx="537" cy="4"/>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6129"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ffectLst/>
            <a:extLst>
              <a:ext uri="{909E8E84-426E-40DD-AFC4-6F175D3DCCD1}">
                <a14:hiddenFill xmlns:a14="http://schemas.microsoft.com/office/drawing/2010/main">
                  <a:solidFill>
                    <a:srgbClr val="3333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6085" name="Line 7"/>
          <p:cNvSpPr>
            <a:spLocks noChangeShapeType="1"/>
          </p:cNvSpPr>
          <p:nvPr/>
        </p:nvSpPr>
        <p:spPr bwMode="auto">
          <a:xfrm flipV="1">
            <a:off x="642938" y="3997325"/>
            <a:ext cx="781685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6" name="Rectangle 8"/>
          <p:cNvSpPr>
            <a:spLocks noChangeArrowheads="1"/>
          </p:cNvSpPr>
          <p:nvPr/>
        </p:nvSpPr>
        <p:spPr bwMode="auto">
          <a:xfrm>
            <a:off x="8342313" y="3930650"/>
            <a:ext cx="117475" cy="125413"/>
          </a:xfrm>
          <a:prstGeom prst="rect">
            <a:avLst/>
          </a:prstGeom>
          <a:solidFill>
            <a:srgbClr val="333399"/>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7" name="Rectangle 9"/>
          <p:cNvSpPr>
            <a:spLocks noChangeArrowheads="1"/>
          </p:cNvSpPr>
          <p:nvPr/>
        </p:nvSpPr>
        <p:spPr bwMode="auto">
          <a:xfrm>
            <a:off x="539750" y="3930650"/>
            <a:ext cx="117475" cy="125413"/>
          </a:xfrm>
          <a:prstGeom prst="rect">
            <a:avLst/>
          </a:prstGeom>
          <a:solidFill>
            <a:srgbClr val="333399"/>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8" name="Line 10"/>
          <p:cNvSpPr>
            <a:spLocks noChangeShapeType="1"/>
          </p:cNvSpPr>
          <p:nvPr/>
        </p:nvSpPr>
        <p:spPr bwMode="auto">
          <a:xfrm>
            <a:off x="7885113" y="3789363"/>
            <a:ext cx="493712" cy="239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6089" name="Group 11"/>
          <p:cNvGrpSpPr>
            <a:grpSpLocks/>
          </p:cNvGrpSpPr>
          <p:nvPr/>
        </p:nvGrpSpPr>
        <p:grpSpPr bwMode="auto">
          <a:xfrm>
            <a:off x="1390650" y="4008438"/>
            <a:ext cx="471488" cy="1406525"/>
            <a:chOff x="1177" y="1994"/>
            <a:chExt cx="258" cy="714"/>
          </a:xfrm>
        </p:grpSpPr>
        <p:sp>
          <p:nvSpPr>
            <p:cNvPr id="46126" name="Line 12"/>
            <p:cNvSpPr>
              <a:spLocks noChangeShapeType="1"/>
            </p:cNvSpPr>
            <p:nvPr/>
          </p:nvSpPr>
          <p:spPr bwMode="auto">
            <a:xfrm rot="16200000" flipV="1">
              <a:off x="1043" y="2261"/>
              <a:ext cx="537" cy="4"/>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6127"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ffectLst/>
            <a:extLst>
              <a:ext uri="{909E8E84-426E-40DD-AFC4-6F175D3DCCD1}">
                <a14:hiddenFill xmlns:a14="http://schemas.microsoft.com/office/drawing/2010/main">
                  <a:solidFill>
                    <a:srgbClr val="3333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6090" name="Freeform 14"/>
          <p:cNvSpPr>
            <a:spLocks/>
          </p:cNvSpPr>
          <p:nvPr/>
        </p:nvSpPr>
        <p:spPr bwMode="auto">
          <a:xfrm>
            <a:off x="3101975" y="4010025"/>
            <a:ext cx="3175" cy="1027113"/>
          </a:xfrm>
          <a:custGeom>
            <a:avLst/>
            <a:gdLst>
              <a:gd name="T0" fmla="*/ 0 w 2"/>
              <a:gd name="T1" fmla="*/ 2147483647 h 521"/>
              <a:gd name="T2" fmla="*/ 2147483647 w 2"/>
              <a:gd name="T3" fmla="*/ 0 h 521"/>
              <a:gd name="T4" fmla="*/ 0 60000 65536"/>
              <a:gd name="T5" fmla="*/ 0 60000 65536"/>
            </a:gdLst>
            <a:ahLst/>
            <a:cxnLst>
              <a:cxn ang="T4">
                <a:pos x="T0" y="T1"/>
              </a:cxn>
              <a:cxn ang="T5">
                <a:pos x="T2" y="T3"/>
              </a:cxn>
            </a:cxnLst>
            <a:rect l="0" t="0" r="r" b="b"/>
            <a:pathLst>
              <a:path w="2" h="521">
                <a:moveTo>
                  <a:pt x="0" y="521"/>
                </a:moveTo>
                <a:lnTo>
                  <a:pt x="2" y="0"/>
                </a:lnTo>
              </a:path>
            </a:pathLst>
          </a:custGeom>
          <a:solidFill>
            <a:srgbClr val="333399"/>
          </a:solidFill>
          <a:ln w="38100" cmpd="sng">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6091"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63850" y="4902200"/>
            <a:ext cx="471488"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6092" name="Group 16"/>
          <p:cNvGrpSpPr>
            <a:grpSpLocks/>
          </p:cNvGrpSpPr>
          <p:nvPr/>
        </p:nvGrpSpPr>
        <p:grpSpPr bwMode="auto">
          <a:xfrm>
            <a:off x="5810250" y="4008438"/>
            <a:ext cx="471488" cy="1406525"/>
            <a:chOff x="1177" y="1994"/>
            <a:chExt cx="258" cy="714"/>
          </a:xfrm>
        </p:grpSpPr>
        <p:sp>
          <p:nvSpPr>
            <p:cNvPr id="46124" name="Line 17"/>
            <p:cNvSpPr>
              <a:spLocks noChangeShapeType="1"/>
            </p:cNvSpPr>
            <p:nvPr/>
          </p:nvSpPr>
          <p:spPr bwMode="auto">
            <a:xfrm rot="16200000" flipV="1">
              <a:off x="1043" y="2261"/>
              <a:ext cx="537" cy="4"/>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6125" name="Picture 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ffectLst/>
            <a:extLst>
              <a:ext uri="{909E8E84-426E-40DD-AFC4-6F175D3DCCD1}">
                <a14:hiddenFill xmlns:a14="http://schemas.microsoft.com/office/drawing/2010/main">
                  <a:solidFill>
                    <a:srgbClr val="3333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6093" name="Freeform 19"/>
          <p:cNvSpPr>
            <a:spLocks/>
          </p:cNvSpPr>
          <p:nvPr/>
        </p:nvSpPr>
        <p:spPr bwMode="auto">
          <a:xfrm>
            <a:off x="7523163" y="4010025"/>
            <a:ext cx="3175" cy="1042988"/>
          </a:xfrm>
          <a:custGeom>
            <a:avLst/>
            <a:gdLst>
              <a:gd name="T0" fmla="*/ 0 w 2"/>
              <a:gd name="T1" fmla="*/ 2147483647 h 529"/>
              <a:gd name="T2" fmla="*/ 2147483647 w 2"/>
              <a:gd name="T3" fmla="*/ 0 h 529"/>
              <a:gd name="T4" fmla="*/ 0 60000 65536"/>
              <a:gd name="T5" fmla="*/ 0 60000 65536"/>
            </a:gdLst>
            <a:ahLst/>
            <a:cxnLst>
              <a:cxn ang="T4">
                <a:pos x="T0" y="T1"/>
              </a:cxn>
              <a:cxn ang="T5">
                <a:pos x="T2" y="T3"/>
              </a:cxn>
            </a:cxnLst>
            <a:rect l="0" t="0" r="r" b="b"/>
            <a:pathLst>
              <a:path w="2" h="529">
                <a:moveTo>
                  <a:pt x="0" y="529"/>
                </a:moveTo>
                <a:lnTo>
                  <a:pt x="2" y="0"/>
                </a:lnTo>
              </a:path>
            </a:pathLst>
          </a:custGeom>
          <a:solidFill>
            <a:srgbClr val="333399"/>
          </a:solidFill>
          <a:ln w="38100" cmpd="sng">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6094" name="Picture 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85038" y="4902200"/>
            <a:ext cx="471487"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4501" name="Text Box 21"/>
          <p:cNvSpPr txBox="1">
            <a:spLocks noChangeArrowheads="1"/>
          </p:cNvSpPr>
          <p:nvPr/>
        </p:nvSpPr>
        <p:spPr bwMode="auto">
          <a:xfrm>
            <a:off x="2508250" y="5734050"/>
            <a:ext cx="120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kumimoji="1" lang="en-US" altLang="zh-CN">
                <a:solidFill>
                  <a:srgbClr val="333399"/>
                </a:solidFill>
                <a:latin typeface="Arial" pitchFamily="34" charset="0"/>
                <a:ea typeface="黑体" pitchFamily="49" charset="-122"/>
              </a:rPr>
              <a:t>B</a:t>
            </a:r>
            <a:r>
              <a:rPr kumimoji="1" lang="zh-CN" altLang="en-US">
                <a:solidFill>
                  <a:srgbClr val="333399"/>
                </a:solidFill>
                <a:latin typeface="Arial" pitchFamily="34" charset="0"/>
                <a:ea typeface="黑体" pitchFamily="49" charset="-122"/>
              </a:rPr>
              <a:t>向</a:t>
            </a:r>
            <a:r>
              <a:rPr kumimoji="1" lang="zh-CN" altLang="en-US" sz="1200">
                <a:solidFill>
                  <a:srgbClr val="333399"/>
                </a:solidFill>
                <a:latin typeface="Arial" pitchFamily="34" charset="0"/>
                <a:ea typeface="黑体" pitchFamily="49" charset="-122"/>
              </a:rPr>
              <a:t> </a:t>
            </a:r>
            <a:r>
              <a:rPr kumimoji="1" lang="en-US" altLang="zh-CN">
                <a:solidFill>
                  <a:srgbClr val="333399"/>
                </a:solidFill>
                <a:latin typeface="Arial" pitchFamily="34" charset="0"/>
                <a:ea typeface="黑体" pitchFamily="49" charset="-122"/>
              </a:rPr>
              <a:t>D</a:t>
            </a:r>
          </a:p>
          <a:p>
            <a:pPr algn="ctr" eaLnBrk="1" hangingPunct="1"/>
            <a:r>
              <a:rPr kumimoji="1" lang="zh-CN" altLang="en-US">
                <a:solidFill>
                  <a:srgbClr val="333399"/>
                </a:solidFill>
                <a:latin typeface="Arial" pitchFamily="34" charset="0"/>
                <a:ea typeface="黑体" pitchFamily="49" charset="-122"/>
              </a:rPr>
              <a:t>发送数据</a:t>
            </a:r>
          </a:p>
        </p:txBody>
      </p:sp>
      <p:sp>
        <p:nvSpPr>
          <p:cNvPr id="46096" name="Text Box 22"/>
          <p:cNvSpPr txBox="1">
            <a:spLocks noChangeArrowheads="1"/>
          </p:cNvSpPr>
          <p:nvPr/>
        </p:nvSpPr>
        <p:spPr bwMode="auto">
          <a:xfrm>
            <a:off x="4125913" y="5408613"/>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    C</a:t>
            </a:r>
          </a:p>
        </p:txBody>
      </p:sp>
      <p:sp>
        <p:nvSpPr>
          <p:cNvPr id="46097" name="Text Box 23"/>
          <p:cNvSpPr txBox="1">
            <a:spLocks noChangeArrowheads="1"/>
          </p:cNvSpPr>
          <p:nvPr/>
        </p:nvSpPr>
        <p:spPr bwMode="auto">
          <a:xfrm>
            <a:off x="5667375" y="5394325"/>
            <a:ext cx="577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   D</a:t>
            </a:r>
          </a:p>
        </p:txBody>
      </p:sp>
      <p:sp>
        <p:nvSpPr>
          <p:cNvPr id="46098" name="Text Box 24"/>
          <p:cNvSpPr txBox="1">
            <a:spLocks noChangeArrowheads="1"/>
          </p:cNvSpPr>
          <p:nvPr/>
        </p:nvSpPr>
        <p:spPr bwMode="auto">
          <a:xfrm>
            <a:off x="1187450" y="5394325"/>
            <a:ext cx="633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    A</a:t>
            </a:r>
          </a:p>
        </p:txBody>
      </p:sp>
      <p:sp>
        <p:nvSpPr>
          <p:cNvPr id="46099" name="Text Box 25"/>
          <p:cNvSpPr txBox="1">
            <a:spLocks noChangeArrowheads="1"/>
          </p:cNvSpPr>
          <p:nvPr/>
        </p:nvSpPr>
        <p:spPr bwMode="auto">
          <a:xfrm>
            <a:off x="7046913" y="5391150"/>
            <a:ext cx="633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    E</a:t>
            </a:r>
          </a:p>
        </p:txBody>
      </p:sp>
      <p:sp>
        <p:nvSpPr>
          <p:cNvPr id="46100" name="Line 26"/>
          <p:cNvSpPr>
            <a:spLocks noChangeShapeType="1"/>
          </p:cNvSpPr>
          <p:nvPr/>
        </p:nvSpPr>
        <p:spPr bwMode="auto">
          <a:xfrm flipH="1">
            <a:off x="642938" y="3716338"/>
            <a:ext cx="544512" cy="2809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01" name="Text Box 27"/>
          <p:cNvSpPr txBox="1">
            <a:spLocks noChangeArrowheads="1"/>
          </p:cNvSpPr>
          <p:nvPr/>
        </p:nvSpPr>
        <p:spPr bwMode="auto">
          <a:xfrm>
            <a:off x="1052513" y="3392488"/>
            <a:ext cx="475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匹配电阻（用来吸收总线上传播的信号）</a:t>
            </a:r>
          </a:p>
        </p:txBody>
      </p:sp>
      <p:sp>
        <p:nvSpPr>
          <p:cNvPr id="46102" name="Text Box 28"/>
          <p:cNvSpPr txBox="1">
            <a:spLocks noChangeArrowheads="1"/>
          </p:cNvSpPr>
          <p:nvPr/>
        </p:nvSpPr>
        <p:spPr bwMode="auto">
          <a:xfrm>
            <a:off x="6842125" y="3392488"/>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匹配电阻</a:t>
            </a:r>
          </a:p>
        </p:txBody>
      </p:sp>
      <p:sp>
        <p:nvSpPr>
          <p:cNvPr id="404509" name="Freeform 29"/>
          <p:cNvSpPr>
            <a:spLocks/>
          </p:cNvSpPr>
          <p:nvPr/>
        </p:nvSpPr>
        <p:spPr bwMode="auto">
          <a:xfrm>
            <a:off x="3016250" y="4097338"/>
            <a:ext cx="1582738" cy="915987"/>
          </a:xfrm>
          <a:custGeom>
            <a:avLst/>
            <a:gdLst>
              <a:gd name="T0" fmla="*/ 2147483647 w 997"/>
              <a:gd name="T1" fmla="*/ 2147483647 h 577"/>
              <a:gd name="T2" fmla="*/ 2147483647 w 997"/>
              <a:gd name="T3" fmla="*/ 2147483647 h 577"/>
              <a:gd name="T4" fmla="*/ 2147483647 w 997"/>
              <a:gd name="T5" fmla="*/ 2147483647 h 577"/>
              <a:gd name="T6" fmla="*/ 2147483647 w 997"/>
              <a:gd name="T7" fmla="*/ 2147483647 h 5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510" name="Freeform 30"/>
          <p:cNvSpPr>
            <a:spLocks/>
          </p:cNvSpPr>
          <p:nvPr/>
        </p:nvSpPr>
        <p:spPr bwMode="auto">
          <a:xfrm>
            <a:off x="3059113" y="4110038"/>
            <a:ext cx="3082925" cy="998537"/>
          </a:xfrm>
          <a:custGeom>
            <a:avLst/>
            <a:gdLst>
              <a:gd name="T0" fmla="*/ 2147483647 w 1895"/>
              <a:gd name="T1" fmla="*/ 2147483647 h 629"/>
              <a:gd name="T2" fmla="*/ 2147483647 w 1895"/>
              <a:gd name="T3" fmla="*/ 2147483647 h 629"/>
              <a:gd name="T4" fmla="*/ 2147483647 w 1895"/>
              <a:gd name="T5" fmla="*/ 2147483647 h 629"/>
              <a:gd name="T6" fmla="*/ 2147483647 w 1895"/>
              <a:gd name="T7" fmla="*/ 2147483647 h 629"/>
              <a:gd name="T8" fmla="*/ 2147483647 w 1895"/>
              <a:gd name="T9" fmla="*/ 2147483647 h 6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76200" cmpd="sng">
            <a:solidFill>
              <a:schemeClr val="hlink"/>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511" name="Freeform 31"/>
          <p:cNvSpPr>
            <a:spLocks/>
          </p:cNvSpPr>
          <p:nvPr/>
        </p:nvSpPr>
        <p:spPr bwMode="auto">
          <a:xfrm>
            <a:off x="3059113" y="4113213"/>
            <a:ext cx="4432300" cy="962025"/>
          </a:xfrm>
          <a:custGeom>
            <a:avLst/>
            <a:gdLst>
              <a:gd name="T0" fmla="*/ 2147483647 w 2601"/>
              <a:gd name="T1" fmla="*/ 2147483647 h 606"/>
              <a:gd name="T2" fmla="*/ 2147483647 w 2601"/>
              <a:gd name="T3" fmla="*/ 2147483647 h 606"/>
              <a:gd name="T4" fmla="*/ 2147483647 w 2601"/>
              <a:gd name="T5" fmla="*/ 2147483647 h 606"/>
              <a:gd name="T6" fmla="*/ 2147483647 w 2601"/>
              <a:gd name="T7" fmla="*/ 2147483647 h 606"/>
              <a:gd name="T8" fmla="*/ 2147483647 w 2601"/>
              <a:gd name="T9" fmla="*/ 2147483647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76200" cmpd="sng">
            <a:solidFill>
              <a:schemeClr val="hlink"/>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512" name="Freeform 32"/>
          <p:cNvSpPr>
            <a:spLocks/>
          </p:cNvSpPr>
          <p:nvPr/>
        </p:nvSpPr>
        <p:spPr bwMode="auto">
          <a:xfrm>
            <a:off x="3059113" y="4076700"/>
            <a:ext cx="5157787" cy="846138"/>
          </a:xfrm>
          <a:custGeom>
            <a:avLst/>
            <a:gdLst>
              <a:gd name="T0" fmla="*/ 2147483647 w 3249"/>
              <a:gd name="T1" fmla="*/ 2147483647 h 533"/>
              <a:gd name="T2" fmla="*/ 2147483647 w 3249"/>
              <a:gd name="T3" fmla="*/ 2147483647 h 533"/>
              <a:gd name="T4" fmla="*/ 2147483647 w 3249"/>
              <a:gd name="T5" fmla="*/ 2147483647 h 533"/>
              <a:gd name="T6" fmla="*/ 2147483647 w 3249"/>
              <a:gd name="T7" fmla="*/ 2147483647 h 533"/>
              <a:gd name="T8" fmla="*/ 2147483647 w 3249"/>
              <a:gd name="T9" fmla="*/ 2147483647 h 5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76200" cmpd="sng">
            <a:solidFill>
              <a:schemeClr val="hlink"/>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513" name="Freeform 33"/>
          <p:cNvSpPr>
            <a:spLocks/>
          </p:cNvSpPr>
          <p:nvPr/>
        </p:nvSpPr>
        <p:spPr bwMode="auto">
          <a:xfrm>
            <a:off x="539750" y="4076700"/>
            <a:ext cx="2609850" cy="846138"/>
          </a:xfrm>
          <a:custGeom>
            <a:avLst/>
            <a:gdLst>
              <a:gd name="T0" fmla="*/ 2147483647 w 1644"/>
              <a:gd name="T1" fmla="*/ 2147483647 h 533"/>
              <a:gd name="T2" fmla="*/ 2147483647 w 1644"/>
              <a:gd name="T3" fmla="*/ 2147483647 h 533"/>
              <a:gd name="T4" fmla="*/ 2147483647 w 1644"/>
              <a:gd name="T5" fmla="*/ 2147483647 h 533"/>
              <a:gd name="T6" fmla="*/ 2147483647 w 1644"/>
              <a:gd name="T7" fmla="*/ 2147483647 h 533"/>
              <a:gd name="T8" fmla="*/ 0 w 1644"/>
              <a:gd name="T9" fmla="*/ 2147483647 h 5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76200" cmpd="sng">
            <a:solidFill>
              <a:schemeClr val="hlink"/>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514" name="Freeform 34"/>
          <p:cNvSpPr>
            <a:spLocks/>
          </p:cNvSpPr>
          <p:nvPr/>
        </p:nvSpPr>
        <p:spPr bwMode="auto">
          <a:xfrm flipH="1">
            <a:off x="1476375" y="4076700"/>
            <a:ext cx="1582738" cy="915988"/>
          </a:xfrm>
          <a:custGeom>
            <a:avLst/>
            <a:gdLst>
              <a:gd name="T0" fmla="*/ 2147483647 w 997"/>
              <a:gd name="T1" fmla="*/ 2147483647 h 577"/>
              <a:gd name="T2" fmla="*/ 2147483647 w 997"/>
              <a:gd name="T3" fmla="*/ 2147483647 h 577"/>
              <a:gd name="T4" fmla="*/ 2147483647 w 997"/>
              <a:gd name="T5" fmla="*/ 2147483647 h 577"/>
              <a:gd name="T6" fmla="*/ 2147483647 w 997"/>
              <a:gd name="T7" fmla="*/ 2147483647 h 5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04515" name="Group 35"/>
          <p:cNvGrpSpPr>
            <a:grpSpLocks/>
          </p:cNvGrpSpPr>
          <p:nvPr/>
        </p:nvGrpSpPr>
        <p:grpSpPr bwMode="auto">
          <a:xfrm>
            <a:off x="7261225" y="5018088"/>
            <a:ext cx="249238" cy="268287"/>
            <a:chOff x="1474" y="3430"/>
            <a:chExt cx="136" cy="136"/>
          </a:xfrm>
        </p:grpSpPr>
        <p:sp>
          <p:nvSpPr>
            <p:cNvPr id="46122" name="Line 36"/>
            <p:cNvSpPr>
              <a:spLocks noChangeShapeType="1"/>
            </p:cNvSpPr>
            <p:nvPr/>
          </p:nvSpPr>
          <p:spPr bwMode="auto">
            <a:xfrm>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23" name="Line 37"/>
            <p:cNvSpPr>
              <a:spLocks noChangeShapeType="1"/>
            </p:cNvSpPr>
            <p:nvPr/>
          </p:nvSpPr>
          <p:spPr bwMode="auto">
            <a:xfrm flipH="1">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04518" name="AutoShape 38"/>
          <p:cNvSpPr>
            <a:spLocks noChangeArrowheads="1"/>
          </p:cNvSpPr>
          <p:nvPr/>
        </p:nvSpPr>
        <p:spPr bwMode="auto">
          <a:xfrm>
            <a:off x="7078663" y="5788025"/>
            <a:ext cx="877887" cy="377825"/>
          </a:xfrm>
          <a:prstGeom prst="roundRect">
            <a:avLst>
              <a:gd name="adj" fmla="val 16667"/>
            </a:avLst>
          </a:prstGeom>
          <a:solidFill>
            <a:srgbClr val="FF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solidFill>
                  <a:srgbClr val="333399"/>
                </a:solidFill>
                <a:ea typeface="黑体" pitchFamily="49" charset="-122"/>
              </a:rPr>
              <a:t>不接受</a:t>
            </a:r>
          </a:p>
        </p:txBody>
      </p:sp>
      <p:grpSp>
        <p:nvGrpSpPr>
          <p:cNvPr id="404519" name="Group 39"/>
          <p:cNvGrpSpPr>
            <a:grpSpLocks/>
          </p:cNvGrpSpPr>
          <p:nvPr/>
        </p:nvGrpSpPr>
        <p:grpSpPr bwMode="auto">
          <a:xfrm>
            <a:off x="4322763" y="5018088"/>
            <a:ext cx="249237" cy="268287"/>
            <a:chOff x="1474" y="3430"/>
            <a:chExt cx="136" cy="136"/>
          </a:xfrm>
        </p:grpSpPr>
        <p:sp>
          <p:nvSpPr>
            <p:cNvPr id="46120" name="Line 40"/>
            <p:cNvSpPr>
              <a:spLocks noChangeShapeType="1"/>
            </p:cNvSpPr>
            <p:nvPr/>
          </p:nvSpPr>
          <p:spPr bwMode="auto">
            <a:xfrm>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21" name="Line 41"/>
            <p:cNvSpPr>
              <a:spLocks noChangeShapeType="1"/>
            </p:cNvSpPr>
            <p:nvPr/>
          </p:nvSpPr>
          <p:spPr bwMode="auto">
            <a:xfrm flipH="1">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04522" name="AutoShape 42"/>
          <p:cNvSpPr>
            <a:spLocks noChangeArrowheads="1"/>
          </p:cNvSpPr>
          <p:nvPr/>
        </p:nvSpPr>
        <p:spPr bwMode="auto">
          <a:xfrm>
            <a:off x="4140200" y="5788025"/>
            <a:ext cx="877888" cy="377825"/>
          </a:xfrm>
          <a:prstGeom prst="roundRect">
            <a:avLst>
              <a:gd name="adj" fmla="val 16667"/>
            </a:avLst>
          </a:prstGeom>
          <a:solidFill>
            <a:srgbClr val="FF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solidFill>
                  <a:srgbClr val="333399"/>
                </a:solidFill>
                <a:ea typeface="黑体" pitchFamily="49" charset="-122"/>
              </a:rPr>
              <a:t>不接受</a:t>
            </a:r>
          </a:p>
        </p:txBody>
      </p:sp>
      <p:grpSp>
        <p:nvGrpSpPr>
          <p:cNvPr id="404523" name="Group 43"/>
          <p:cNvGrpSpPr>
            <a:grpSpLocks/>
          </p:cNvGrpSpPr>
          <p:nvPr/>
        </p:nvGrpSpPr>
        <p:grpSpPr bwMode="auto">
          <a:xfrm>
            <a:off x="1370013" y="5018088"/>
            <a:ext cx="249237" cy="268287"/>
            <a:chOff x="1474" y="3430"/>
            <a:chExt cx="136" cy="136"/>
          </a:xfrm>
        </p:grpSpPr>
        <p:sp>
          <p:nvSpPr>
            <p:cNvPr id="46118" name="Line 44"/>
            <p:cNvSpPr>
              <a:spLocks noChangeShapeType="1"/>
            </p:cNvSpPr>
            <p:nvPr/>
          </p:nvSpPr>
          <p:spPr bwMode="auto">
            <a:xfrm>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19" name="Line 45"/>
            <p:cNvSpPr>
              <a:spLocks noChangeShapeType="1"/>
            </p:cNvSpPr>
            <p:nvPr/>
          </p:nvSpPr>
          <p:spPr bwMode="auto">
            <a:xfrm flipH="1">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04526" name="AutoShape 46"/>
          <p:cNvSpPr>
            <a:spLocks noChangeArrowheads="1"/>
          </p:cNvSpPr>
          <p:nvPr/>
        </p:nvSpPr>
        <p:spPr bwMode="auto">
          <a:xfrm>
            <a:off x="1187450" y="5788025"/>
            <a:ext cx="877888" cy="377825"/>
          </a:xfrm>
          <a:prstGeom prst="roundRect">
            <a:avLst>
              <a:gd name="adj" fmla="val 16667"/>
            </a:avLst>
          </a:prstGeom>
          <a:solidFill>
            <a:srgbClr val="FF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solidFill>
                  <a:srgbClr val="333399"/>
                </a:solidFill>
                <a:ea typeface="黑体" pitchFamily="49" charset="-122"/>
              </a:rPr>
              <a:t>不接受</a:t>
            </a:r>
          </a:p>
        </p:txBody>
      </p:sp>
      <p:sp>
        <p:nvSpPr>
          <p:cNvPr id="404527" name="Text Box 47"/>
          <p:cNvSpPr txBox="1">
            <a:spLocks noChangeArrowheads="1"/>
          </p:cNvSpPr>
          <p:nvPr/>
        </p:nvSpPr>
        <p:spPr bwMode="auto">
          <a:xfrm>
            <a:off x="5724525" y="5805488"/>
            <a:ext cx="701675" cy="406400"/>
          </a:xfrm>
          <a:prstGeom prst="rect">
            <a:avLst/>
          </a:prstGeom>
          <a:solidFill>
            <a:srgbClr val="FFCC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接受</a:t>
            </a:r>
          </a:p>
        </p:txBody>
      </p:sp>
      <p:sp>
        <p:nvSpPr>
          <p:cNvPr id="46116" name="Text Box 48"/>
          <p:cNvSpPr txBox="1">
            <a:spLocks noChangeArrowheads="1"/>
          </p:cNvSpPr>
          <p:nvPr/>
        </p:nvSpPr>
        <p:spPr bwMode="auto">
          <a:xfrm>
            <a:off x="2922588" y="5394325"/>
            <a:ext cx="354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p>
        </p:txBody>
      </p:sp>
      <p:sp>
        <p:nvSpPr>
          <p:cNvPr id="404529" name="Text Box 49"/>
          <p:cNvSpPr txBox="1">
            <a:spLocks noChangeArrowheads="1"/>
          </p:cNvSpPr>
          <p:nvPr/>
        </p:nvSpPr>
        <p:spPr bwMode="auto">
          <a:xfrm>
            <a:off x="3775075" y="4365625"/>
            <a:ext cx="1703388" cy="711200"/>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a:solidFill>
                  <a:srgbClr val="333399"/>
                </a:solidFill>
                <a:latin typeface="Arial" pitchFamily="34" charset="0"/>
                <a:ea typeface="黑体" pitchFamily="49" charset="-122"/>
              </a:rPr>
              <a:t>只有 </a:t>
            </a:r>
            <a:r>
              <a:rPr lang="en-US" altLang="zh-CN">
                <a:solidFill>
                  <a:srgbClr val="333399"/>
                </a:solidFill>
                <a:latin typeface="Arial" pitchFamily="34" charset="0"/>
                <a:ea typeface="黑体" pitchFamily="49" charset="-122"/>
              </a:rPr>
              <a:t>D </a:t>
            </a:r>
            <a:r>
              <a:rPr lang="zh-CN" altLang="en-US">
                <a:solidFill>
                  <a:srgbClr val="333399"/>
                </a:solidFill>
                <a:latin typeface="Arial" pitchFamily="34" charset="0"/>
                <a:ea typeface="黑体" pitchFamily="49" charset="-122"/>
              </a:rPr>
              <a:t>接受</a:t>
            </a:r>
          </a:p>
          <a:p>
            <a:pPr algn="ctr" eaLnBrk="1" hangingPunct="1"/>
            <a:r>
              <a:rPr lang="en-US" altLang="zh-CN">
                <a:solidFill>
                  <a:srgbClr val="333399"/>
                </a:solidFill>
                <a:latin typeface="Arial" pitchFamily="34" charset="0"/>
                <a:ea typeface="黑体" pitchFamily="49" charset="-122"/>
              </a:rPr>
              <a:t>B </a:t>
            </a:r>
            <a:r>
              <a:rPr lang="zh-CN" altLang="en-US">
                <a:solidFill>
                  <a:srgbClr val="333399"/>
                </a:solidFill>
                <a:latin typeface="Arial" pitchFamily="34" charset="0"/>
                <a:ea typeface="黑体" pitchFamily="49" charset="-122"/>
              </a:rPr>
              <a:t>发送的数据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448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4501"/>
                                        </p:tgtEl>
                                        <p:attrNameLst>
                                          <p:attrName>style.visibility</p:attrName>
                                        </p:attrNameLst>
                                      </p:cBhvr>
                                      <p:to>
                                        <p:strVal val="visible"/>
                                      </p:to>
                                    </p:set>
                                  </p:childTnLst>
                                </p:cTn>
                              </p:par>
                            </p:childTnLst>
                          </p:cTn>
                        </p:par>
                        <p:par>
                          <p:cTn id="11" fill="hold" nodeType="afterGroup">
                            <p:stCondLst>
                              <p:cond delay="0"/>
                            </p:stCondLst>
                            <p:childTnLst>
                              <p:par>
                                <p:cTn id="12" presetID="35" presetClass="emph" presetSubtype="0" repeatCount="4000" fill="hold" grpId="1" nodeType="afterEffect">
                                  <p:stCondLst>
                                    <p:cond delay="0"/>
                                  </p:stCondLst>
                                  <p:childTnLst>
                                    <p:anim calcmode="discrete" valueType="str">
                                      <p:cBhvr>
                                        <p:cTn id="13" dur="500" fill="hold"/>
                                        <p:tgtEl>
                                          <p:spTgt spid="404501"/>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2000"/>
                            </p:stCondLst>
                            <p:childTnLst>
                              <p:par>
                                <p:cTn id="15" presetID="22" presetClass="entr" presetSubtype="2" fill="hold" grpId="0" nodeType="afterEffect">
                                  <p:stCondLst>
                                    <p:cond delay="0"/>
                                  </p:stCondLst>
                                  <p:childTnLst>
                                    <p:set>
                                      <p:cBhvr>
                                        <p:cTn id="16" dur="1" fill="hold">
                                          <p:stCondLst>
                                            <p:cond delay="0"/>
                                          </p:stCondLst>
                                        </p:cTn>
                                        <p:tgtEl>
                                          <p:spTgt spid="404513"/>
                                        </p:tgtEl>
                                        <p:attrNameLst>
                                          <p:attrName>style.visibility</p:attrName>
                                        </p:attrNameLst>
                                      </p:cBhvr>
                                      <p:to>
                                        <p:strVal val="visible"/>
                                      </p:to>
                                    </p:set>
                                    <p:animEffect transition="in" filter="wipe(right)">
                                      <p:cBhvr>
                                        <p:cTn id="17" dur="2000"/>
                                        <p:tgtEl>
                                          <p:spTgt spid="404513"/>
                                        </p:tgtEl>
                                      </p:cBhvr>
                                    </p:animEffect>
                                  </p:childTnLst>
                                </p:cTn>
                              </p:par>
                              <p:par>
                                <p:cTn id="18" presetID="22" presetClass="entr" presetSubtype="2" fill="hold" grpId="0" nodeType="withEffect">
                                  <p:stCondLst>
                                    <p:cond delay="0"/>
                                  </p:stCondLst>
                                  <p:childTnLst>
                                    <p:set>
                                      <p:cBhvr>
                                        <p:cTn id="19" dur="1" fill="hold">
                                          <p:stCondLst>
                                            <p:cond delay="0"/>
                                          </p:stCondLst>
                                        </p:cTn>
                                        <p:tgtEl>
                                          <p:spTgt spid="404514"/>
                                        </p:tgtEl>
                                        <p:attrNameLst>
                                          <p:attrName>style.visibility</p:attrName>
                                        </p:attrNameLst>
                                      </p:cBhvr>
                                      <p:to>
                                        <p:strVal val="visible"/>
                                      </p:to>
                                    </p:set>
                                    <p:animEffect transition="in" filter="wipe(right)">
                                      <p:cBhvr>
                                        <p:cTn id="20" dur="2000"/>
                                        <p:tgtEl>
                                          <p:spTgt spid="404514"/>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4512"/>
                                        </p:tgtEl>
                                        <p:attrNameLst>
                                          <p:attrName>style.visibility</p:attrName>
                                        </p:attrNameLst>
                                      </p:cBhvr>
                                      <p:to>
                                        <p:strVal val="visible"/>
                                      </p:to>
                                    </p:set>
                                    <p:animEffect transition="in" filter="wipe(left)">
                                      <p:cBhvr>
                                        <p:cTn id="23" dur="2000"/>
                                        <p:tgtEl>
                                          <p:spTgt spid="404512"/>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04511"/>
                                        </p:tgtEl>
                                        <p:attrNameLst>
                                          <p:attrName>style.visibility</p:attrName>
                                        </p:attrNameLst>
                                      </p:cBhvr>
                                      <p:to>
                                        <p:strVal val="visible"/>
                                      </p:to>
                                    </p:set>
                                    <p:animEffect transition="in" filter="wipe(left)">
                                      <p:cBhvr>
                                        <p:cTn id="26" dur="2000"/>
                                        <p:tgtEl>
                                          <p:spTgt spid="404511"/>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04510"/>
                                        </p:tgtEl>
                                        <p:attrNameLst>
                                          <p:attrName>style.visibility</p:attrName>
                                        </p:attrNameLst>
                                      </p:cBhvr>
                                      <p:to>
                                        <p:strVal val="visible"/>
                                      </p:to>
                                    </p:set>
                                    <p:animEffect transition="in" filter="wipe(left)">
                                      <p:cBhvr>
                                        <p:cTn id="29" dur="2000"/>
                                        <p:tgtEl>
                                          <p:spTgt spid="404510"/>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04509"/>
                                        </p:tgtEl>
                                        <p:attrNameLst>
                                          <p:attrName>style.visibility</p:attrName>
                                        </p:attrNameLst>
                                      </p:cBhvr>
                                      <p:to>
                                        <p:strVal val="visible"/>
                                      </p:to>
                                    </p:set>
                                    <p:animEffect transition="in" filter="wipe(left)">
                                      <p:cBhvr>
                                        <p:cTn id="32" dur="2000"/>
                                        <p:tgtEl>
                                          <p:spTgt spid="404509"/>
                                        </p:tgtEl>
                                      </p:cBhvr>
                                    </p:animEffect>
                                  </p:childTnLst>
                                </p:cTn>
                              </p:par>
                            </p:childTnLst>
                          </p:cTn>
                        </p:par>
                        <p:par>
                          <p:cTn id="33" fill="hold" nodeType="afterGroup">
                            <p:stCondLst>
                              <p:cond delay="4000"/>
                            </p:stCondLst>
                            <p:childTnLst>
                              <p:par>
                                <p:cTn id="34" presetID="1" presetClass="entr" presetSubtype="0" fill="hold" grpId="0" nodeType="afterEffect">
                                  <p:stCondLst>
                                    <p:cond delay="0"/>
                                  </p:stCondLst>
                                  <p:childTnLst>
                                    <p:set>
                                      <p:cBhvr>
                                        <p:cTn id="35" dur="1" fill="hold">
                                          <p:stCondLst>
                                            <p:cond delay="0"/>
                                          </p:stCondLst>
                                        </p:cTn>
                                        <p:tgtEl>
                                          <p:spTgt spid="40452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0452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0452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40451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0451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04519"/>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04523"/>
                                        </p:tgtEl>
                                        <p:attrNameLst>
                                          <p:attrName>style.visibility</p:attrName>
                                        </p:attrNameLst>
                                      </p:cBhvr>
                                      <p:to>
                                        <p:strVal val="visible"/>
                                      </p:to>
                                    </p:set>
                                  </p:childTnLst>
                                </p:cTn>
                              </p:par>
                            </p:childTnLst>
                          </p:cTn>
                        </p:par>
                        <p:par>
                          <p:cTn id="48" fill="hold" nodeType="afterGroup">
                            <p:stCondLst>
                              <p:cond delay="4000"/>
                            </p:stCondLst>
                            <p:childTnLst>
                              <p:par>
                                <p:cTn id="49" presetID="35" presetClass="emph" presetSubtype="0" repeatCount="5000" fill="hold" grpId="1" nodeType="afterEffect">
                                  <p:stCondLst>
                                    <p:cond delay="0"/>
                                  </p:stCondLst>
                                  <p:childTnLst>
                                    <p:anim calcmode="discrete" valueType="str">
                                      <p:cBhvr>
                                        <p:cTn id="50" dur="500" fill="hold"/>
                                        <p:tgtEl>
                                          <p:spTgt spid="404526"/>
                                        </p:tgtEl>
                                        <p:attrNameLst>
                                          <p:attrName>style.visibility</p:attrName>
                                        </p:attrNameLst>
                                      </p:cBhvr>
                                      <p:tavLst>
                                        <p:tav tm="0">
                                          <p:val>
                                            <p:strVal val="hidden"/>
                                          </p:val>
                                        </p:tav>
                                        <p:tav tm="50000">
                                          <p:val>
                                            <p:strVal val="visible"/>
                                          </p:val>
                                        </p:tav>
                                      </p:tavLst>
                                    </p:anim>
                                  </p:childTnLst>
                                </p:cTn>
                              </p:par>
                              <p:par>
                                <p:cTn id="51" presetID="35" presetClass="emph" presetSubtype="0" repeatCount="5000" fill="hold" grpId="1" nodeType="withEffect">
                                  <p:stCondLst>
                                    <p:cond delay="0"/>
                                  </p:stCondLst>
                                  <p:childTnLst>
                                    <p:anim calcmode="discrete" valueType="str">
                                      <p:cBhvr>
                                        <p:cTn id="52" dur="500" fill="hold"/>
                                        <p:tgtEl>
                                          <p:spTgt spid="404522"/>
                                        </p:tgtEl>
                                        <p:attrNameLst>
                                          <p:attrName>style.visibility</p:attrName>
                                        </p:attrNameLst>
                                      </p:cBhvr>
                                      <p:tavLst>
                                        <p:tav tm="0">
                                          <p:val>
                                            <p:strVal val="hidden"/>
                                          </p:val>
                                        </p:tav>
                                        <p:tav tm="50000">
                                          <p:val>
                                            <p:strVal val="visible"/>
                                          </p:val>
                                        </p:tav>
                                      </p:tavLst>
                                    </p:anim>
                                  </p:childTnLst>
                                </p:cTn>
                              </p:par>
                              <p:par>
                                <p:cTn id="53" presetID="35" presetClass="emph" presetSubtype="0" repeatCount="5000" fill="hold" grpId="1" nodeType="withEffect">
                                  <p:stCondLst>
                                    <p:cond delay="0"/>
                                  </p:stCondLst>
                                  <p:childTnLst>
                                    <p:anim calcmode="discrete" valueType="str">
                                      <p:cBhvr>
                                        <p:cTn id="54" dur="500" fill="hold"/>
                                        <p:tgtEl>
                                          <p:spTgt spid="404527"/>
                                        </p:tgtEl>
                                        <p:attrNameLst>
                                          <p:attrName>style.visibility</p:attrName>
                                        </p:attrNameLst>
                                      </p:cBhvr>
                                      <p:tavLst>
                                        <p:tav tm="0">
                                          <p:val>
                                            <p:strVal val="hidden"/>
                                          </p:val>
                                        </p:tav>
                                        <p:tav tm="50000">
                                          <p:val>
                                            <p:strVal val="visible"/>
                                          </p:val>
                                        </p:tav>
                                      </p:tavLst>
                                    </p:anim>
                                  </p:childTnLst>
                                </p:cTn>
                              </p:par>
                              <p:par>
                                <p:cTn id="55" presetID="35" presetClass="emph" presetSubtype="0" repeatCount="5000" fill="hold" grpId="1" nodeType="withEffect">
                                  <p:stCondLst>
                                    <p:cond delay="0"/>
                                  </p:stCondLst>
                                  <p:childTnLst>
                                    <p:anim calcmode="discrete" valueType="str">
                                      <p:cBhvr>
                                        <p:cTn id="56" dur="500" fill="hold"/>
                                        <p:tgtEl>
                                          <p:spTgt spid="404518"/>
                                        </p:tgtEl>
                                        <p:attrNameLst>
                                          <p:attrName>style.visibility</p:attrName>
                                        </p:attrNameLst>
                                      </p:cBhvr>
                                      <p:tavLst>
                                        <p:tav tm="0">
                                          <p:val>
                                            <p:strVal val="hidden"/>
                                          </p:val>
                                        </p:tav>
                                        <p:tav tm="50000">
                                          <p:val>
                                            <p:strVal val="visible"/>
                                          </p:val>
                                        </p:tav>
                                      </p:tavLst>
                                    </p:anim>
                                  </p:childTnLst>
                                </p:cTn>
                              </p:par>
                              <p:par>
                                <p:cTn id="57" presetID="35" presetClass="emph" presetSubtype="0" repeatCount="5000" fill="hold" nodeType="withEffect">
                                  <p:stCondLst>
                                    <p:cond delay="0"/>
                                  </p:stCondLst>
                                  <p:childTnLst>
                                    <p:anim calcmode="discrete" valueType="str">
                                      <p:cBhvr>
                                        <p:cTn id="58" dur="500" fill="hold"/>
                                        <p:tgtEl>
                                          <p:spTgt spid="404515"/>
                                        </p:tgtEl>
                                        <p:attrNameLst>
                                          <p:attrName>style.visibility</p:attrName>
                                        </p:attrNameLst>
                                      </p:cBhvr>
                                      <p:tavLst>
                                        <p:tav tm="0">
                                          <p:val>
                                            <p:strVal val="hidden"/>
                                          </p:val>
                                        </p:tav>
                                        <p:tav tm="50000">
                                          <p:val>
                                            <p:strVal val="visible"/>
                                          </p:val>
                                        </p:tav>
                                      </p:tavLst>
                                    </p:anim>
                                  </p:childTnLst>
                                </p:cTn>
                              </p:par>
                              <p:par>
                                <p:cTn id="59" presetID="35" presetClass="emph" presetSubtype="0" repeatCount="5000" fill="hold" nodeType="withEffect">
                                  <p:stCondLst>
                                    <p:cond delay="0"/>
                                  </p:stCondLst>
                                  <p:childTnLst>
                                    <p:anim calcmode="discrete" valueType="str">
                                      <p:cBhvr>
                                        <p:cTn id="60" dur="500" fill="hold"/>
                                        <p:tgtEl>
                                          <p:spTgt spid="404519"/>
                                        </p:tgtEl>
                                        <p:attrNameLst>
                                          <p:attrName>style.visibility</p:attrName>
                                        </p:attrNameLst>
                                      </p:cBhvr>
                                      <p:tavLst>
                                        <p:tav tm="0">
                                          <p:val>
                                            <p:strVal val="hidden"/>
                                          </p:val>
                                        </p:tav>
                                        <p:tav tm="50000">
                                          <p:val>
                                            <p:strVal val="visible"/>
                                          </p:val>
                                        </p:tav>
                                      </p:tavLst>
                                    </p:anim>
                                  </p:childTnLst>
                                </p:cTn>
                              </p:par>
                              <p:par>
                                <p:cTn id="61" presetID="35" presetClass="emph" presetSubtype="0" repeatCount="5000" fill="hold" nodeType="withEffect">
                                  <p:stCondLst>
                                    <p:cond delay="0"/>
                                  </p:stCondLst>
                                  <p:childTnLst>
                                    <p:anim calcmode="discrete" valueType="str">
                                      <p:cBhvr>
                                        <p:cTn id="62" dur="500" fill="hold"/>
                                        <p:tgtEl>
                                          <p:spTgt spid="404523"/>
                                        </p:tgtEl>
                                        <p:attrNameLst>
                                          <p:attrName>style.visibility</p:attrName>
                                        </p:attrNameLst>
                                      </p:cBhvr>
                                      <p:tavLst>
                                        <p:tav tm="0">
                                          <p:val>
                                            <p:strVal val="hidden"/>
                                          </p:val>
                                        </p:tav>
                                        <p:tav tm="50000">
                                          <p:val>
                                            <p:strVal val="visible"/>
                                          </p:val>
                                        </p:tav>
                                      </p:tavLst>
                                    </p:anim>
                                  </p:childTnLst>
                                </p:cTn>
                              </p:par>
                            </p:childTnLst>
                          </p:cTn>
                        </p:par>
                        <p:par>
                          <p:cTn id="63" fill="hold" nodeType="afterGroup">
                            <p:stCondLst>
                              <p:cond delay="6500"/>
                            </p:stCondLst>
                            <p:childTnLst>
                              <p:par>
                                <p:cTn id="64" presetID="10" presetClass="exit" presetSubtype="0" fill="hold" grpId="1" nodeType="afterEffect">
                                  <p:stCondLst>
                                    <p:cond delay="0"/>
                                  </p:stCondLst>
                                  <p:childTnLst>
                                    <p:animEffect transition="out" filter="fade">
                                      <p:cBhvr>
                                        <p:cTn id="65" dur="2000"/>
                                        <p:tgtEl>
                                          <p:spTgt spid="404509"/>
                                        </p:tgtEl>
                                      </p:cBhvr>
                                    </p:animEffect>
                                    <p:set>
                                      <p:cBhvr>
                                        <p:cTn id="66" dur="1" fill="hold">
                                          <p:stCondLst>
                                            <p:cond delay="1999"/>
                                          </p:stCondLst>
                                        </p:cTn>
                                        <p:tgtEl>
                                          <p:spTgt spid="404509"/>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2000"/>
                                        <p:tgtEl>
                                          <p:spTgt spid="404511"/>
                                        </p:tgtEl>
                                      </p:cBhvr>
                                    </p:animEffect>
                                    <p:set>
                                      <p:cBhvr>
                                        <p:cTn id="69" dur="1" fill="hold">
                                          <p:stCondLst>
                                            <p:cond delay="1999"/>
                                          </p:stCondLst>
                                        </p:cTn>
                                        <p:tgtEl>
                                          <p:spTgt spid="404511"/>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2000"/>
                                        <p:tgtEl>
                                          <p:spTgt spid="404512"/>
                                        </p:tgtEl>
                                      </p:cBhvr>
                                    </p:animEffect>
                                    <p:set>
                                      <p:cBhvr>
                                        <p:cTn id="72" dur="1" fill="hold">
                                          <p:stCondLst>
                                            <p:cond delay="1999"/>
                                          </p:stCondLst>
                                        </p:cTn>
                                        <p:tgtEl>
                                          <p:spTgt spid="404512"/>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2000"/>
                                        <p:tgtEl>
                                          <p:spTgt spid="404514"/>
                                        </p:tgtEl>
                                      </p:cBhvr>
                                    </p:animEffect>
                                    <p:set>
                                      <p:cBhvr>
                                        <p:cTn id="75" dur="1" fill="hold">
                                          <p:stCondLst>
                                            <p:cond delay="1999"/>
                                          </p:stCondLst>
                                        </p:cTn>
                                        <p:tgtEl>
                                          <p:spTgt spid="404514"/>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2000"/>
                                        <p:tgtEl>
                                          <p:spTgt spid="404513"/>
                                        </p:tgtEl>
                                      </p:cBhvr>
                                    </p:animEffect>
                                    <p:set>
                                      <p:cBhvr>
                                        <p:cTn id="78" dur="1" fill="hold">
                                          <p:stCondLst>
                                            <p:cond delay="1999"/>
                                          </p:stCondLst>
                                        </p:cTn>
                                        <p:tgtEl>
                                          <p:spTgt spid="404513"/>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2000"/>
                                        <p:tgtEl>
                                          <p:spTgt spid="404523"/>
                                        </p:tgtEl>
                                      </p:cBhvr>
                                    </p:animEffect>
                                    <p:set>
                                      <p:cBhvr>
                                        <p:cTn id="81" dur="1" fill="hold">
                                          <p:stCondLst>
                                            <p:cond delay="1999"/>
                                          </p:stCondLst>
                                        </p:cTn>
                                        <p:tgtEl>
                                          <p:spTgt spid="404523"/>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2000"/>
                                        <p:tgtEl>
                                          <p:spTgt spid="404519"/>
                                        </p:tgtEl>
                                      </p:cBhvr>
                                    </p:animEffect>
                                    <p:set>
                                      <p:cBhvr>
                                        <p:cTn id="84" dur="1" fill="hold">
                                          <p:stCondLst>
                                            <p:cond delay="1999"/>
                                          </p:stCondLst>
                                        </p:cTn>
                                        <p:tgtEl>
                                          <p:spTgt spid="40451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2000"/>
                                        <p:tgtEl>
                                          <p:spTgt spid="404515"/>
                                        </p:tgtEl>
                                      </p:cBhvr>
                                    </p:animEffect>
                                    <p:set>
                                      <p:cBhvr>
                                        <p:cTn id="87" dur="1" fill="hold">
                                          <p:stCondLst>
                                            <p:cond delay="1999"/>
                                          </p:stCondLst>
                                        </p:cTn>
                                        <p:tgtEl>
                                          <p:spTgt spid="404515"/>
                                        </p:tgtEl>
                                        <p:attrNameLst>
                                          <p:attrName>style.visibility</p:attrName>
                                        </p:attrNameLst>
                                      </p:cBhvr>
                                      <p:to>
                                        <p:strVal val="hidden"/>
                                      </p:to>
                                    </p:set>
                                  </p:childTnLst>
                                </p:cTn>
                              </p:par>
                            </p:childTnLst>
                          </p:cTn>
                        </p:par>
                        <p:par>
                          <p:cTn id="88" fill="hold" nodeType="afterGroup">
                            <p:stCondLst>
                              <p:cond delay="8500"/>
                            </p:stCondLst>
                            <p:childTnLst>
                              <p:par>
                                <p:cTn id="89" presetID="1" presetClass="entr" presetSubtype="0" fill="hold" grpId="1" nodeType="afterEffect">
                                  <p:stCondLst>
                                    <p:cond delay="0"/>
                                  </p:stCondLst>
                                  <p:childTnLst>
                                    <p:set>
                                      <p:cBhvr>
                                        <p:cTn id="90" dur="1" fill="hold">
                                          <p:stCondLst>
                                            <p:cond delay="0"/>
                                          </p:stCondLst>
                                        </p:cTn>
                                        <p:tgtEl>
                                          <p:spTgt spid="404529"/>
                                        </p:tgtEl>
                                        <p:attrNameLst>
                                          <p:attrName>style.visibility</p:attrName>
                                        </p:attrNameLst>
                                      </p:cBhvr>
                                      <p:to>
                                        <p:strVal val="visible"/>
                                      </p:to>
                                    </p:set>
                                  </p:childTnLst>
                                </p:cTn>
                              </p:par>
                            </p:childTnLst>
                          </p:cTn>
                        </p:par>
                        <p:par>
                          <p:cTn id="91" fill="hold" nodeType="afterGroup">
                            <p:stCondLst>
                              <p:cond delay="8500"/>
                            </p:stCondLst>
                            <p:childTnLst>
                              <p:par>
                                <p:cTn id="92" presetID="35" presetClass="emph" presetSubtype="0" repeatCount="3000" fill="hold" grpId="0" nodeType="afterEffect">
                                  <p:stCondLst>
                                    <p:cond delay="0"/>
                                  </p:stCondLst>
                                  <p:childTnLst>
                                    <p:anim calcmode="discrete" valueType="str">
                                      <p:cBhvr>
                                        <p:cTn id="93" dur="1000" fill="hold"/>
                                        <p:tgtEl>
                                          <p:spTgt spid="4045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build="p"/>
      <p:bldP spid="404501" grpId="0"/>
      <p:bldP spid="404501" grpId="1"/>
      <p:bldP spid="404509" grpId="0" animBg="1"/>
      <p:bldP spid="404509" grpId="1" animBg="1"/>
      <p:bldP spid="404510" grpId="0" animBg="1"/>
      <p:bldP spid="404511" grpId="0" animBg="1"/>
      <p:bldP spid="404511" grpId="1" animBg="1"/>
      <p:bldP spid="404512" grpId="0" animBg="1"/>
      <p:bldP spid="404512" grpId="1" animBg="1"/>
      <p:bldP spid="404513" grpId="0" animBg="1"/>
      <p:bldP spid="404513" grpId="1" animBg="1"/>
      <p:bldP spid="404514" grpId="0" animBg="1"/>
      <p:bldP spid="404514" grpId="1" animBg="1"/>
      <p:bldP spid="404518" grpId="0" animBg="1"/>
      <p:bldP spid="404518" grpId="1" animBg="1"/>
      <p:bldP spid="404522" grpId="0" animBg="1"/>
      <p:bldP spid="404522" grpId="1" animBg="1"/>
      <p:bldP spid="404526" grpId="0" animBg="1"/>
      <p:bldP spid="404526" grpId="1" animBg="1"/>
      <p:bldP spid="404527" grpId="0" animBg="1"/>
      <p:bldP spid="404527" grpId="1" animBg="1"/>
      <p:bldP spid="404529" grpId="0" animBg="1"/>
      <p:bldP spid="404529"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lgn="ctr" eaLnBrk="1" hangingPunct="1"/>
            <a:r>
              <a:rPr lang="zh-CN" altLang="en-US" smtClean="0"/>
              <a:t>以太网的广播方式发送 </a:t>
            </a:r>
          </a:p>
        </p:txBody>
      </p:sp>
      <p:sp>
        <p:nvSpPr>
          <p:cNvPr id="405507" name="Rectangle 3"/>
          <p:cNvSpPr>
            <a:spLocks noGrp="1" noChangeArrowheads="1"/>
          </p:cNvSpPr>
          <p:nvPr>
            <p:ph type="body" idx="1"/>
          </p:nvPr>
        </p:nvSpPr>
        <p:spPr>
          <a:xfrm>
            <a:off x="1042988" y="1978025"/>
            <a:ext cx="7772400" cy="4114800"/>
          </a:xfrm>
        </p:spPr>
        <p:txBody>
          <a:bodyPr/>
          <a:lstStyle/>
          <a:p>
            <a:pPr eaLnBrk="1" hangingPunct="1"/>
            <a:r>
              <a:rPr lang="zh-CN" altLang="en-US" sz="2800" smtClean="0"/>
              <a:t>总线上的每一个工作的计算机都能检测到 </a:t>
            </a:r>
            <a:r>
              <a:rPr lang="en-US" altLang="zh-CN" sz="2800" smtClean="0"/>
              <a:t>B </a:t>
            </a:r>
            <a:r>
              <a:rPr lang="zh-CN" altLang="en-US" sz="2800" smtClean="0"/>
              <a:t>发送的数据信号。 </a:t>
            </a:r>
          </a:p>
          <a:p>
            <a:pPr eaLnBrk="1" hangingPunct="1"/>
            <a:r>
              <a:rPr lang="zh-CN" altLang="en-US" sz="2800" smtClean="0"/>
              <a:t>由于只有计算机 </a:t>
            </a:r>
            <a:r>
              <a:rPr lang="en-US" altLang="zh-CN" sz="2800" smtClean="0"/>
              <a:t>D </a:t>
            </a:r>
            <a:r>
              <a:rPr lang="zh-CN" altLang="en-US" sz="2800" smtClean="0"/>
              <a:t>的地址与数据帧首部写入的地址一致，因此只有 </a:t>
            </a:r>
            <a:r>
              <a:rPr lang="en-US" altLang="zh-CN" sz="2800" smtClean="0"/>
              <a:t>D </a:t>
            </a:r>
            <a:r>
              <a:rPr lang="zh-CN" altLang="en-US" sz="2800" smtClean="0"/>
              <a:t>才接收这个数据帧。 </a:t>
            </a:r>
          </a:p>
          <a:p>
            <a:pPr eaLnBrk="1" hangingPunct="1"/>
            <a:r>
              <a:rPr lang="zh-CN" altLang="en-US" sz="2800" smtClean="0"/>
              <a:t>其他所有的计算机（</a:t>
            </a:r>
            <a:r>
              <a:rPr lang="en-US" altLang="zh-CN" sz="2800" smtClean="0"/>
              <a:t>A, C </a:t>
            </a:r>
            <a:r>
              <a:rPr lang="zh-CN" altLang="en-US" sz="2800" smtClean="0"/>
              <a:t>和 </a:t>
            </a:r>
            <a:r>
              <a:rPr lang="en-US" altLang="zh-CN" sz="2800" smtClean="0"/>
              <a:t>E</a:t>
            </a:r>
            <a:r>
              <a:rPr lang="zh-CN" altLang="en-US" sz="2800" smtClean="0"/>
              <a:t>）都检测到不是发送给它们的数据帧，因此就丢弃这个数据帧而不能够收下来。</a:t>
            </a:r>
          </a:p>
          <a:p>
            <a:pPr eaLnBrk="1" hangingPunct="1"/>
            <a:r>
              <a:rPr lang="zh-CN" altLang="en-US" sz="2800" smtClean="0"/>
              <a:t>具有广播特性的总线上实现了一对一的通信。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5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5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5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lgn="ctr" eaLnBrk="1" hangingPunct="1"/>
            <a:r>
              <a:rPr lang="zh-CN" altLang="en-US" smtClean="0"/>
              <a:t>为了通信的简便</a:t>
            </a:r>
            <a:br>
              <a:rPr lang="zh-CN" altLang="en-US" smtClean="0"/>
            </a:br>
            <a:r>
              <a:rPr lang="zh-CN" altLang="en-US" smtClean="0"/>
              <a:t>以太网采取了两种重要的措施 </a:t>
            </a:r>
          </a:p>
        </p:txBody>
      </p:sp>
      <p:sp>
        <p:nvSpPr>
          <p:cNvPr id="406531" name="Rectangle 3"/>
          <p:cNvSpPr>
            <a:spLocks noGrp="1" noChangeArrowheads="1"/>
          </p:cNvSpPr>
          <p:nvPr>
            <p:ph type="body" idx="1"/>
          </p:nvPr>
        </p:nvSpPr>
        <p:spPr/>
        <p:txBody>
          <a:bodyPr/>
          <a:lstStyle/>
          <a:p>
            <a:pPr eaLnBrk="1" hangingPunct="1"/>
            <a:r>
              <a:rPr lang="zh-CN" altLang="en-US" smtClean="0"/>
              <a:t>采用较为灵活的无连接的工作方式，即不必先建立连接就可以直接发送数据。 </a:t>
            </a:r>
          </a:p>
          <a:p>
            <a:pPr eaLnBrk="1" hangingPunct="1"/>
            <a:r>
              <a:rPr lang="zh-CN" altLang="en-US" smtClean="0"/>
              <a:t>以太网对发送的数据帧不进行编号，也不要求对方发回确认。</a:t>
            </a:r>
          </a:p>
          <a:p>
            <a:pPr lvl="1" eaLnBrk="1" hangingPunct="1"/>
            <a:r>
              <a:rPr lang="zh-CN" altLang="en-US" smtClean="0">
                <a:solidFill>
                  <a:srgbClr val="333399"/>
                </a:solidFill>
                <a:ea typeface="黑体" pitchFamily="49" charset="-122"/>
              </a:rPr>
              <a:t>这样做的理由是局域网信道的质量很好，因信道质量产生差错的概率是很小的。</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65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65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lgn="ctr" eaLnBrk="1" hangingPunct="1"/>
            <a:r>
              <a:rPr lang="zh-CN" altLang="en-US" smtClean="0"/>
              <a:t>以太网提供的服务 </a:t>
            </a:r>
          </a:p>
        </p:txBody>
      </p:sp>
      <p:sp>
        <p:nvSpPr>
          <p:cNvPr id="407555" name="Rectangle 3"/>
          <p:cNvSpPr>
            <a:spLocks noGrp="1" noChangeArrowheads="1"/>
          </p:cNvSpPr>
          <p:nvPr>
            <p:ph type="body" idx="1"/>
          </p:nvPr>
        </p:nvSpPr>
        <p:spPr/>
        <p:txBody>
          <a:bodyPr/>
          <a:lstStyle/>
          <a:p>
            <a:pPr eaLnBrk="1" hangingPunct="1">
              <a:lnSpc>
                <a:spcPct val="90000"/>
              </a:lnSpc>
            </a:pPr>
            <a:r>
              <a:rPr lang="zh-CN" altLang="en-US" smtClean="0"/>
              <a:t>以太网提供的服务是不可靠的交付，即尽最大努力的交付。</a:t>
            </a:r>
          </a:p>
          <a:p>
            <a:pPr eaLnBrk="1" hangingPunct="1">
              <a:lnSpc>
                <a:spcPct val="90000"/>
              </a:lnSpc>
            </a:pPr>
            <a:r>
              <a:rPr lang="zh-CN" altLang="en-US" smtClean="0"/>
              <a:t>当目的站收到有差错的数据帧时就丢弃此帧，其他什么也不做。差错的纠正由高层来决定。</a:t>
            </a:r>
          </a:p>
          <a:p>
            <a:pPr eaLnBrk="1" hangingPunct="1">
              <a:lnSpc>
                <a:spcPct val="90000"/>
              </a:lnSpc>
            </a:pPr>
            <a:r>
              <a:rPr lang="zh-CN" altLang="en-US" smtClean="0"/>
              <a:t>如果高层发现丢失了一些数据而进行重传，但以太网并不知道这是一个重传的帧，而是当作一个新的数据帧来发送。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7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7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algn="ctr" eaLnBrk="1" hangingPunct="1"/>
            <a:r>
              <a:rPr lang="zh-CN" altLang="en-US" sz="4000" smtClean="0">
                <a:solidFill>
                  <a:schemeClr val="hlink"/>
                </a:solidFill>
              </a:rPr>
              <a:t>以太网发送的数据都使用</a:t>
            </a:r>
            <a:br>
              <a:rPr lang="zh-CN" altLang="en-US" sz="4000" smtClean="0">
                <a:solidFill>
                  <a:schemeClr val="hlink"/>
                </a:solidFill>
              </a:rPr>
            </a:br>
            <a:r>
              <a:rPr lang="zh-CN" altLang="en-US" sz="4000" smtClean="0">
                <a:solidFill>
                  <a:schemeClr val="hlink"/>
                </a:solidFill>
              </a:rPr>
              <a:t>曼彻斯特</a:t>
            </a:r>
            <a:r>
              <a:rPr lang="en-US" altLang="zh-CN" sz="4000" smtClean="0">
                <a:solidFill>
                  <a:schemeClr val="hlink"/>
                </a:solidFill>
              </a:rPr>
              <a:t>(Manchester)</a:t>
            </a:r>
            <a:r>
              <a:rPr lang="zh-CN" altLang="en-US" sz="4000" smtClean="0">
                <a:solidFill>
                  <a:schemeClr val="hlink"/>
                </a:solidFill>
              </a:rPr>
              <a:t>编码</a:t>
            </a:r>
            <a:r>
              <a:rPr lang="zh-CN" altLang="en-US" sz="4000" smtClean="0"/>
              <a:t> </a:t>
            </a:r>
          </a:p>
        </p:txBody>
      </p:sp>
      <p:sp>
        <p:nvSpPr>
          <p:cNvPr id="50179" name="Rectangle 4"/>
          <p:cNvSpPr>
            <a:spLocks noChangeArrowheads="1"/>
          </p:cNvSpPr>
          <p:nvPr/>
        </p:nvSpPr>
        <p:spPr bwMode="auto">
          <a:xfrm>
            <a:off x="-149225" y="2806700"/>
            <a:ext cx="19843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chemeClr val="folHlink"/>
                </a:solidFill>
                <a:latin typeface="Arial" pitchFamily="34" charset="0"/>
                <a:ea typeface="黑体" pitchFamily="49" charset="-122"/>
              </a:rPr>
              <a:t>    </a:t>
            </a:r>
            <a:r>
              <a:rPr kumimoji="1" lang="zh-CN" altLang="en-US">
                <a:solidFill>
                  <a:schemeClr val="folHlink"/>
                </a:solidFill>
                <a:latin typeface="Arial" pitchFamily="34" charset="0"/>
                <a:ea typeface="黑体" pitchFamily="49" charset="-122"/>
              </a:rPr>
              <a:t>基带数字信号</a:t>
            </a:r>
          </a:p>
        </p:txBody>
      </p:sp>
      <p:sp>
        <p:nvSpPr>
          <p:cNvPr id="50180" name="Rectangle 5"/>
          <p:cNvSpPr>
            <a:spLocks noChangeArrowheads="1"/>
          </p:cNvSpPr>
          <p:nvPr/>
        </p:nvSpPr>
        <p:spPr bwMode="auto">
          <a:xfrm>
            <a:off x="130175" y="3395663"/>
            <a:ext cx="1704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chemeClr val="folHlink"/>
                </a:solidFill>
                <a:latin typeface="Arial" pitchFamily="34" charset="0"/>
                <a:ea typeface="黑体" pitchFamily="49" charset="-122"/>
              </a:rPr>
              <a:t>曼彻斯特编码</a:t>
            </a:r>
          </a:p>
        </p:txBody>
      </p:sp>
      <p:sp>
        <p:nvSpPr>
          <p:cNvPr id="50181" name="Rectangle 40"/>
          <p:cNvSpPr>
            <a:spLocks noChangeArrowheads="1"/>
          </p:cNvSpPr>
          <p:nvPr/>
        </p:nvSpPr>
        <p:spPr bwMode="auto">
          <a:xfrm>
            <a:off x="573088" y="2205038"/>
            <a:ext cx="7588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chemeClr val="folHlink"/>
                </a:solidFill>
                <a:latin typeface="Arial" pitchFamily="34" charset="0"/>
                <a:ea typeface="黑体" pitchFamily="49" charset="-122"/>
              </a:rPr>
              <a:t> </a:t>
            </a:r>
            <a:r>
              <a:rPr kumimoji="1" lang="zh-CN" altLang="en-US">
                <a:solidFill>
                  <a:schemeClr val="folHlink"/>
                </a:solidFill>
                <a:latin typeface="Arial" pitchFamily="34" charset="0"/>
                <a:ea typeface="黑体" pitchFamily="49" charset="-122"/>
              </a:rPr>
              <a:t>码元</a:t>
            </a:r>
          </a:p>
        </p:txBody>
      </p:sp>
      <p:sp>
        <p:nvSpPr>
          <p:cNvPr id="50182" name="Rectangle 6"/>
          <p:cNvSpPr>
            <a:spLocks noChangeArrowheads="1"/>
          </p:cNvSpPr>
          <p:nvPr/>
        </p:nvSpPr>
        <p:spPr bwMode="auto">
          <a:xfrm>
            <a:off x="7662863" y="2138363"/>
            <a:ext cx="712787" cy="1717675"/>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3" name="Rectangle 7"/>
          <p:cNvSpPr>
            <a:spLocks noChangeArrowheads="1"/>
          </p:cNvSpPr>
          <p:nvPr/>
        </p:nvSpPr>
        <p:spPr bwMode="auto">
          <a:xfrm>
            <a:off x="3400425" y="2138363"/>
            <a:ext cx="696913" cy="1717675"/>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4" name="Rectangle 8"/>
          <p:cNvSpPr>
            <a:spLocks noChangeArrowheads="1"/>
          </p:cNvSpPr>
          <p:nvPr/>
        </p:nvSpPr>
        <p:spPr bwMode="auto">
          <a:xfrm>
            <a:off x="4835525" y="2132013"/>
            <a:ext cx="690563" cy="1717675"/>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5" name="Rectangle 9"/>
          <p:cNvSpPr>
            <a:spLocks noChangeArrowheads="1"/>
          </p:cNvSpPr>
          <p:nvPr/>
        </p:nvSpPr>
        <p:spPr bwMode="auto">
          <a:xfrm>
            <a:off x="6259513" y="2132013"/>
            <a:ext cx="688975" cy="1717675"/>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6" name="Rectangle 10"/>
          <p:cNvSpPr>
            <a:spLocks noChangeArrowheads="1"/>
          </p:cNvSpPr>
          <p:nvPr/>
        </p:nvSpPr>
        <p:spPr bwMode="auto">
          <a:xfrm>
            <a:off x="1997075" y="2132013"/>
            <a:ext cx="714375" cy="1717675"/>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7" name="Rectangle 11"/>
          <p:cNvSpPr>
            <a:spLocks noChangeArrowheads="1"/>
          </p:cNvSpPr>
          <p:nvPr/>
        </p:nvSpPr>
        <p:spPr bwMode="auto">
          <a:xfrm>
            <a:off x="2176463" y="2209800"/>
            <a:ext cx="3222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chemeClr val="folHlink"/>
                </a:solidFill>
                <a:latin typeface="Arial" pitchFamily="34" charset="0"/>
                <a:ea typeface="黑体" pitchFamily="49" charset="-122"/>
              </a:rPr>
              <a:t>1</a:t>
            </a:r>
          </a:p>
        </p:txBody>
      </p:sp>
      <p:sp>
        <p:nvSpPr>
          <p:cNvPr id="50188" name="Rectangle 12"/>
          <p:cNvSpPr>
            <a:spLocks noChangeArrowheads="1"/>
          </p:cNvSpPr>
          <p:nvPr/>
        </p:nvSpPr>
        <p:spPr bwMode="auto">
          <a:xfrm>
            <a:off x="8539163" y="2209800"/>
            <a:ext cx="3222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chemeClr val="folHlink"/>
                </a:solidFill>
                <a:latin typeface="Arial" pitchFamily="34" charset="0"/>
                <a:ea typeface="黑体" pitchFamily="49" charset="-122"/>
              </a:rPr>
              <a:t>1</a:t>
            </a:r>
          </a:p>
        </p:txBody>
      </p:sp>
      <p:sp>
        <p:nvSpPr>
          <p:cNvPr id="50189" name="Rectangle 13"/>
          <p:cNvSpPr>
            <a:spLocks noChangeArrowheads="1"/>
          </p:cNvSpPr>
          <p:nvPr/>
        </p:nvSpPr>
        <p:spPr bwMode="auto">
          <a:xfrm>
            <a:off x="5022850" y="2209800"/>
            <a:ext cx="3222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chemeClr val="folHlink"/>
                </a:solidFill>
                <a:latin typeface="Arial" pitchFamily="34" charset="0"/>
                <a:ea typeface="黑体" pitchFamily="49" charset="-122"/>
              </a:rPr>
              <a:t>1</a:t>
            </a:r>
          </a:p>
        </p:txBody>
      </p:sp>
      <p:sp>
        <p:nvSpPr>
          <p:cNvPr id="50190" name="Rectangle 14"/>
          <p:cNvSpPr>
            <a:spLocks noChangeArrowheads="1"/>
          </p:cNvSpPr>
          <p:nvPr/>
        </p:nvSpPr>
        <p:spPr bwMode="auto">
          <a:xfrm>
            <a:off x="7829550" y="2209800"/>
            <a:ext cx="29845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b="1">
                <a:solidFill>
                  <a:schemeClr val="folHlink"/>
                </a:solidFill>
                <a:latin typeface="Arial" pitchFamily="34" charset="0"/>
                <a:ea typeface="黑体" pitchFamily="49" charset="-122"/>
              </a:rPr>
              <a:t>1</a:t>
            </a:r>
          </a:p>
        </p:txBody>
      </p:sp>
      <p:sp>
        <p:nvSpPr>
          <p:cNvPr id="50191" name="Rectangle 15"/>
          <p:cNvSpPr>
            <a:spLocks noChangeArrowheads="1"/>
          </p:cNvSpPr>
          <p:nvPr/>
        </p:nvSpPr>
        <p:spPr bwMode="auto">
          <a:xfrm>
            <a:off x="7126288" y="2209800"/>
            <a:ext cx="3222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chemeClr val="folHlink"/>
                </a:solidFill>
                <a:latin typeface="Arial" pitchFamily="34" charset="0"/>
                <a:ea typeface="黑体" pitchFamily="49" charset="-122"/>
              </a:rPr>
              <a:t>1</a:t>
            </a:r>
          </a:p>
        </p:txBody>
      </p:sp>
      <p:sp>
        <p:nvSpPr>
          <p:cNvPr id="50192" name="Rectangle 16"/>
          <p:cNvSpPr>
            <a:spLocks noChangeArrowheads="1"/>
          </p:cNvSpPr>
          <p:nvPr/>
        </p:nvSpPr>
        <p:spPr bwMode="auto">
          <a:xfrm>
            <a:off x="2900363" y="2209800"/>
            <a:ext cx="3222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chemeClr val="folHlink"/>
                </a:solidFill>
                <a:latin typeface="Arial" pitchFamily="34" charset="0"/>
                <a:ea typeface="黑体" pitchFamily="49" charset="-122"/>
              </a:rPr>
              <a:t>0</a:t>
            </a:r>
          </a:p>
        </p:txBody>
      </p:sp>
      <p:sp>
        <p:nvSpPr>
          <p:cNvPr id="50193" name="Rectangle 17"/>
          <p:cNvSpPr>
            <a:spLocks noChangeArrowheads="1"/>
          </p:cNvSpPr>
          <p:nvPr/>
        </p:nvSpPr>
        <p:spPr bwMode="auto">
          <a:xfrm>
            <a:off x="3625850" y="2209800"/>
            <a:ext cx="3222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chemeClr val="folHlink"/>
                </a:solidFill>
                <a:latin typeface="Arial" pitchFamily="34" charset="0"/>
                <a:ea typeface="黑体" pitchFamily="49" charset="-122"/>
              </a:rPr>
              <a:t>0</a:t>
            </a:r>
          </a:p>
        </p:txBody>
      </p:sp>
      <p:sp>
        <p:nvSpPr>
          <p:cNvPr id="50194" name="Rectangle 18"/>
          <p:cNvSpPr>
            <a:spLocks noChangeArrowheads="1"/>
          </p:cNvSpPr>
          <p:nvPr/>
        </p:nvSpPr>
        <p:spPr bwMode="auto">
          <a:xfrm>
            <a:off x="4318000" y="2209800"/>
            <a:ext cx="3222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chemeClr val="folHlink"/>
                </a:solidFill>
                <a:latin typeface="Arial" pitchFamily="34" charset="0"/>
                <a:ea typeface="黑体" pitchFamily="49" charset="-122"/>
              </a:rPr>
              <a:t>0</a:t>
            </a:r>
          </a:p>
        </p:txBody>
      </p:sp>
      <p:sp>
        <p:nvSpPr>
          <p:cNvPr id="50195" name="Rectangle 19"/>
          <p:cNvSpPr>
            <a:spLocks noChangeArrowheads="1"/>
          </p:cNvSpPr>
          <p:nvPr/>
        </p:nvSpPr>
        <p:spPr bwMode="auto">
          <a:xfrm>
            <a:off x="5730875" y="2209800"/>
            <a:ext cx="3222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chemeClr val="folHlink"/>
                </a:solidFill>
                <a:latin typeface="Arial" pitchFamily="34" charset="0"/>
                <a:ea typeface="黑体" pitchFamily="49" charset="-122"/>
              </a:rPr>
              <a:t>0</a:t>
            </a:r>
          </a:p>
        </p:txBody>
      </p:sp>
      <p:sp>
        <p:nvSpPr>
          <p:cNvPr id="50196" name="Rectangle 20"/>
          <p:cNvSpPr>
            <a:spLocks noChangeArrowheads="1"/>
          </p:cNvSpPr>
          <p:nvPr/>
        </p:nvSpPr>
        <p:spPr bwMode="auto">
          <a:xfrm>
            <a:off x="6421438" y="2209800"/>
            <a:ext cx="3222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chemeClr val="folHlink"/>
                </a:solidFill>
                <a:latin typeface="Arial" pitchFamily="34" charset="0"/>
                <a:ea typeface="黑体" pitchFamily="49" charset="-122"/>
              </a:rPr>
              <a:t>0</a:t>
            </a:r>
          </a:p>
        </p:txBody>
      </p:sp>
      <p:grpSp>
        <p:nvGrpSpPr>
          <p:cNvPr id="50197" name="Group 21"/>
          <p:cNvGrpSpPr>
            <a:grpSpLocks/>
          </p:cNvGrpSpPr>
          <p:nvPr/>
        </p:nvGrpSpPr>
        <p:grpSpPr bwMode="auto">
          <a:xfrm>
            <a:off x="1970088" y="2847975"/>
            <a:ext cx="7004050" cy="315913"/>
            <a:chOff x="832" y="286"/>
            <a:chExt cx="4728" cy="965"/>
          </a:xfrm>
        </p:grpSpPr>
        <p:sp>
          <p:nvSpPr>
            <p:cNvPr id="50223" name="Freeform 22"/>
            <p:cNvSpPr>
              <a:spLocks/>
            </p:cNvSpPr>
            <p:nvPr/>
          </p:nvSpPr>
          <p:spPr bwMode="auto">
            <a:xfrm>
              <a:off x="832" y="298"/>
              <a:ext cx="4728" cy="953"/>
            </a:xfrm>
            <a:custGeom>
              <a:avLst/>
              <a:gdLst>
                <a:gd name="T0" fmla="*/ 0 w 4728"/>
                <a:gd name="T1" fmla="*/ 0 h 953"/>
                <a:gd name="T2" fmla="*/ 486 w 4728"/>
                <a:gd name="T3" fmla="*/ 0 h 953"/>
                <a:gd name="T4" fmla="*/ 486 w 4728"/>
                <a:gd name="T5" fmla="*/ 952 h 953"/>
                <a:gd name="T6" fmla="*/ 1924 w 4728"/>
                <a:gd name="T7" fmla="*/ 952 h 953"/>
                <a:gd name="T8" fmla="*/ 1924 w 4728"/>
                <a:gd name="T9" fmla="*/ 0 h 953"/>
                <a:gd name="T10" fmla="*/ 2410 w 4728"/>
                <a:gd name="T11" fmla="*/ 0 h 953"/>
                <a:gd name="T12" fmla="*/ 2410 w 4728"/>
                <a:gd name="T13" fmla="*/ 952 h 953"/>
                <a:gd name="T14" fmla="*/ 3372 w 4728"/>
                <a:gd name="T15" fmla="*/ 952 h 953"/>
                <a:gd name="T16" fmla="*/ 3372 w 4728"/>
                <a:gd name="T17" fmla="*/ 0 h 953"/>
                <a:gd name="T18" fmla="*/ 4727 w 4728"/>
                <a:gd name="T19" fmla="*/ 0 h 9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728" h="953">
                  <a:moveTo>
                    <a:pt x="0" y="0"/>
                  </a:moveTo>
                  <a:lnTo>
                    <a:pt x="486" y="0"/>
                  </a:lnTo>
                  <a:lnTo>
                    <a:pt x="486" y="952"/>
                  </a:lnTo>
                  <a:lnTo>
                    <a:pt x="1924" y="952"/>
                  </a:lnTo>
                  <a:lnTo>
                    <a:pt x="1924" y="0"/>
                  </a:lnTo>
                  <a:lnTo>
                    <a:pt x="2410" y="0"/>
                  </a:lnTo>
                  <a:lnTo>
                    <a:pt x="2410" y="952"/>
                  </a:lnTo>
                  <a:lnTo>
                    <a:pt x="3372" y="952"/>
                  </a:lnTo>
                  <a:lnTo>
                    <a:pt x="3372" y="0"/>
                  </a:lnTo>
                  <a:lnTo>
                    <a:pt x="4727" y="0"/>
                  </a:lnTo>
                </a:path>
              </a:pathLst>
            </a:custGeom>
            <a:noFill/>
            <a:ln w="38100" cap="rnd" cmpd="sng">
              <a:solidFill>
                <a:schemeClr val="fo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24" name="Line 23"/>
            <p:cNvSpPr>
              <a:spLocks noChangeShapeType="1"/>
            </p:cNvSpPr>
            <p:nvPr/>
          </p:nvSpPr>
          <p:spPr bwMode="auto">
            <a:xfrm flipV="1">
              <a:off x="3721" y="1152"/>
              <a:ext cx="0" cy="88"/>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5" name="Line 24"/>
            <p:cNvSpPr>
              <a:spLocks noChangeShapeType="1"/>
            </p:cNvSpPr>
            <p:nvPr/>
          </p:nvSpPr>
          <p:spPr bwMode="auto">
            <a:xfrm flipV="1">
              <a:off x="4676" y="286"/>
              <a:ext cx="0" cy="88"/>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6" name="Line 25"/>
            <p:cNvSpPr>
              <a:spLocks noChangeShapeType="1"/>
            </p:cNvSpPr>
            <p:nvPr/>
          </p:nvSpPr>
          <p:spPr bwMode="auto">
            <a:xfrm flipV="1">
              <a:off x="5155" y="299"/>
              <a:ext cx="0" cy="88"/>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7" name="Line 26"/>
            <p:cNvSpPr>
              <a:spLocks noChangeShapeType="1"/>
            </p:cNvSpPr>
            <p:nvPr/>
          </p:nvSpPr>
          <p:spPr bwMode="auto">
            <a:xfrm flipV="1">
              <a:off x="2282" y="1150"/>
              <a:ext cx="0" cy="88"/>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8" name="Line 27"/>
            <p:cNvSpPr>
              <a:spLocks noChangeShapeType="1"/>
            </p:cNvSpPr>
            <p:nvPr/>
          </p:nvSpPr>
          <p:spPr bwMode="auto">
            <a:xfrm flipV="1">
              <a:off x="1796" y="1151"/>
              <a:ext cx="0" cy="88"/>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0198" name="Freeform 28"/>
          <p:cNvSpPr>
            <a:spLocks/>
          </p:cNvSpPr>
          <p:nvPr/>
        </p:nvSpPr>
        <p:spPr bwMode="auto">
          <a:xfrm flipV="1">
            <a:off x="1970088" y="3541713"/>
            <a:ext cx="6986587" cy="307975"/>
          </a:xfrm>
          <a:custGeom>
            <a:avLst/>
            <a:gdLst>
              <a:gd name="T0" fmla="*/ 0 w 4401"/>
              <a:gd name="T1" fmla="*/ 0 h 245"/>
              <a:gd name="T2" fmla="*/ 2147483647 w 4401"/>
              <a:gd name="T3" fmla="*/ 0 h 245"/>
              <a:gd name="T4" fmla="*/ 2147483647 w 4401"/>
              <a:gd name="T5" fmla="*/ 2147483647 h 245"/>
              <a:gd name="T6" fmla="*/ 2147483647 w 4401"/>
              <a:gd name="T7" fmla="*/ 2147483647 h 245"/>
              <a:gd name="T8" fmla="*/ 2147483647 w 4401"/>
              <a:gd name="T9" fmla="*/ 0 h 245"/>
              <a:gd name="T10" fmla="*/ 2147483647 w 4401"/>
              <a:gd name="T11" fmla="*/ 0 h 245"/>
              <a:gd name="T12" fmla="*/ 2147483647 w 4401"/>
              <a:gd name="T13" fmla="*/ 2147483647 h 245"/>
              <a:gd name="T14" fmla="*/ 2147483647 w 4401"/>
              <a:gd name="T15" fmla="*/ 2147483647 h 245"/>
              <a:gd name="T16" fmla="*/ 2147483647 w 4401"/>
              <a:gd name="T17" fmla="*/ 0 h 245"/>
              <a:gd name="T18" fmla="*/ 2147483647 w 4401"/>
              <a:gd name="T19" fmla="*/ 0 h 245"/>
              <a:gd name="T20" fmla="*/ 2147483647 w 4401"/>
              <a:gd name="T21" fmla="*/ 2147483647 h 245"/>
              <a:gd name="T22" fmla="*/ 2147483647 w 4401"/>
              <a:gd name="T23" fmla="*/ 2147483647 h 245"/>
              <a:gd name="T24" fmla="*/ 2147483647 w 4401"/>
              <a:gd name="T25" fmla="*/ 0 h 245"/>
              <a:gd name="T26" fmla="*/ 2147483647 w 4401"/>
              <a:gd name="T27" fmla="*/ 0 h 245"/>
              <a:gd name="T28" fmla="*/ 2147483647 w 4401"/>
              <a:gd name="T29" fmla="*/ 2147483647 h 245"/>
              <a:gd name="T30" fmla="*/ 2147483647 w 4401"/>
              <a:gd name="T31" fmla="*/ 2147483647 h 245"/>
              <a:gd name="T32" fmla="*/ 2147483647 w 4401"/>
              <a:gd name="T33" fmla="*/ 2147483647 h 245"/>
              <a:gd name="T34" fmla="*/ 2147483647 w 4401"/>
              <a:gd name="T35" fmla="*/ 0 h 245"/>
              <a:gd name="T36" fmla="*/ 2147483647 w 4401"/>
              <a:gd name="T37" fmla="*/ 2147483647 h 245"/>
              <a:gd name="T38" fmla="*/ 2147483647 w 4401"/>
              <a:gd name="T39" fmla="*/ 2147483647 h 245"/>
              <a:gd name="T40" fmla="*/ 2147483647 w 4401"/>
              <a:gd name="T41" fmla="*/ 0 h 245"/>
              <a:gd name="T42" fmla="*/ 2147483647 w 4401"/>
              <a:gd name="T43" fmla="*/ 0 h 245"/>
              <a:gd name="T44" fmla="*/ 2147483647 w 4401"/>
              <a:gd name="T45" fmla="*/ 2147483647 h 245"/>
              <a:gd name="T46" fmla="*/ 2147483647 w 4401"/>
              <a:gd name="T47" fmla="*/ 2147483647 h 245"/>
              <a:gd name="T48" fmla="*/ 2147483647 w 4401"/>
              <a:gd name="T49" fmla="*/ 0 h 245"/>
              <a:gd name="T50" fmla="*/ 2147483647 w 4401"/>
              <a:gd name="T51" fmla="*/ 0 h 245"/>
              <a:gd name="T52" fmla="*/ 2147483647 w 4401"/>
              <a:gd name="T53" fmla="*/ 2147483647 h 245"/>
              <a:gd name="T54" fmla="*/ 2147483647 w 4401"/>
              <a:gd name="T55" fmla="*/ 2147483647 h 245"/>
              <a:gd name="T56" fmla="*/ 2147483647 w 4401"/>
              <a:gd name="T57" fmla="*/ 0 h 245"/>
              <a:gd name="T58" fmla="*/ 2147483647 w 4401"/>
              <a:gd name="T59" fmla="*/ 0 h 245"/>
              <a:gd name="T60" fmla="*/ 2147483647 w 4401"/>
              <a:gd name="T61" fmla="*/ 2147483647 h 245"/>
              <a:gd name="T62" fmla="*/ 2147483647 w 4401"/>
              <a:gd name="T63" fmla="*/ 2147483647 h 24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401" h="245">
                <a:moveTo>
                  <a:pt x="0" y="0"/>
                </a:moveTo>
                <a:lnTo>
                  <a:pt x="222" y="0"/>
                </a:lnTo>
                <a:lnTo>
                  <a:pt x="222" y="245"/>
                </a:lnTo>
                <a:lnTo>
                  <a:pt x="676" y="245"/>
                </a:lnTo>
                <a:lnTo>
                  <a:pt x="676" y="0"/>
                </a:lnTo>
                <a:lnTo>
                  <a:pt x="898" y="0"/>
                </a:lnTo>
                <a:lnTo>
                  <a:pt x="898" y="245"/>
                </a:lnTo>
                <a:lnTo>
                  <a:pt x="1129" y="245"/>
                </a:lnTo>
                <a:lnTo>
                  <a:pt x="1129" y="0"/>
                </a:lnTo>
                <a:lnTo>
                  <a:pt x="1351" y="0"/>
                </a:lnTo>
                <a:lnTo>
                  <a:pt x="1351" y="245"/>
                </a:lnTo>
                <a:lnTo>
                  <a:pt x="1573" y="245"/>
                </a:lnTo>
                <a:lnTo>
                  <a:pt x="1573" y="0"/>
                </a:lnTo>
                <a:lnTo>
                  <a:pt x="2027" y="0"/>
                </a:lnTo>
                <a:lnTo>
                  <a:pt x="2027" y="245"/>
                </a:lnTo>
                <a:lnTo>
                  <a:pt x="2471" y="245"/>
                </a:lnTo>
                <a:lnTo>
                  <a:pt x="2471" y="3"/>
                </a:lnTo>
                <a:lnTo>
                  <a:pt x="2693" y="0"/>
                </a:lnTo>
                <a:lnTo>
                  <a:pt x="2693" y="245"/>
                </a:lnTo>
                <a:lnTo>
                  <a:pt x="2915" y="245"/>
                </a:lnTo>
                <a:lnTo>
                  <a:pt x="2915" y="0"/>
                </a:lnTo>
                <a:lnTo>
                  <a:pt x="3368" y="0"/>
                </a:lnTo>
                <a:lnTo>
                  <a:pt x="3368" y="245"/>
                </a:lnTo>
                <a:lnTo>
                  <a:pt x="3590" y="245"/>
                </a:lnTo>
                <a:lnTo>
                  <a:pt x="3590" y="0"/>
                </a:lnTo>
                <a:lnTo>
                  <a:pt x="3812" y="0"/>
                </a:lnTo>
                <a:lnTo>
                  <a:pt x="3812" y="245"/>
                </a:lnTo>
                <a:lnTo>
                  <a:pt x="4034" y="245"/>
                </a:lnTo>
                <a:lnTo>
                  <a:pt x="4034" y="0"/>
                </a:lnTo>
                <a:lnTo>
                  <a:pt x="4256" y="0"/>
                </a:lnTo>
                <a:lnTo>
                  <a:pt x="4256" y="245"/>
                </a:lnTo>
                <a:lnTo>
                  <a:pt x="4401" y="245"/>
                </a:lnTo>
              </a:path>
            </a:pathLst>
          </a:custGeom>
          <a:noFill/>
          <a:ln w="38100" cap="rnd" cmpd="sng">
            <a:solidFill>
              <a:schemeClr val="fo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9" name="Rectangle 29"/>
          <p:cNvSpPr>
            <a:spLocks noChangeArrowheads="1"/>
          </p:cNvSpPr>
          <p:nvPr/>
        </p:nvSpPr>
        <p:spPr bwMode="auto">
          <a:xfrm>
            <a:off x="5827713" y="3159125"/>
            <a:ext cx="41275" cy="17463"/>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0" name="Line 30"/>
          <p:cNvSpPr>
            <a:spLocks noChangeShapeType="1"/>
          </p:cNvSpPr>
          <p:nvPr/>
        </p:nvSpPr>
        <p:spPr bwMode="auto">
          <a:xfrm flipH="1" flipV="1">
            <a:off x="1987550" y="2179638"/>
            <a:ext cx="1588" cy="19986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1" name="Line 31"/>
          <p:cNvSpPr>
            <a:spLocks noChangeShapeType="1"/>
          </p:cNvSpPr>
          <p:nvPr/>
        </p:nvSpPr>
        <p:spPr bwMode="auto">
          <a:xfrm flipV="1">
            <a:off x="2693988" y="2163763"/>
            <a:ext cx="0" cy="2032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2" name="Line 32"/>
          <p:cNvSpPr>
            <a:spLocks noChangeShapeType="1"/>
          </p:cNvSpPr>
          <p:nvPr/>
        </p:nvSpPr>
        <p:spPr bwMode="auto">
          <a:xfrm flipV="1">
            <a:off x="3395663" y="2179638"/>
            <a:ext cx="0" cy="19986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3" name="Line 33"/>
          <p:cNvSpPr>
            <a:spLocks noChangeShapeType="1"/>
          </p:cNvSpPr>
          <p:nvPr/>
        </p:nvSpPr>
        <p:spPr bwMode="auto">
          <a:xfrm flipV="1">
            <a:off x="4106863" y="2179638"/>
            <a:ext cx="9525" cy="2006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4" name="Line 34"/>
          <p:cNvSpPr>
            <a:spLocks noChangeShapeType="1"/>
          </p:cNvSpPr>
          <p:nvPr/>
        </p:nvSpPr>
        <p:spPr bwMode="auto">
          <a:xfrm flipV="1">
            <a:off x="4821238" y="2179638"/>
            <a:ext cx="0" cy="20129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5" name="Line 35"/>
          <p:cNvSpPr>
            <a:spLocks noChangeShapeType="1"/>
          </p:cNvSpPr>
          <p:nvPr/>
        </p:nvSpPr>
        <p:spPr bwMode="auto">
          <a:xfrm flipV="1">
            <a:off x="5541963" y="2179638"/>
            <a:ext cx="0" cy="20129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6" name="Line 36"/>
          <p:cNvSpPr>
            <a:spLocks noChangeShapeType="1"/>
          </p:cNvSpPr>
          <p:nvPr/>
        </p:nvSpPr>
        <p:spPr bwMode="auto">
          <a:xfrm flipV="1">
            <a:off x="6248400" y="2179638"/>
            <a:ext cx="0" cy="20129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7" name="Line 37"/>
          <p:cNvSpPr>
            <a:spLocks noChangeShapeType="1"/>
          </p:cNvSpPr>
          <p:nvPr/>
        </p:nvSpPr>
        <p:spPr bwMode="auto">
          <a:xfrm flipV="1">
            <a:off x="6959600" y="2179638"/>
            <a:ext cx="0" cy="199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8" name="Line 38"/>
          <p:cNvSpPr>
            <a:spLocks noChangeShapeType="1"/>
          </p:cNvSpPr>
          <p:nvPr/>
        </p:nvSpPr>
        <p:spPr bwMode="auto">
          <a:xfrm flipH="1" flipV="1">
            <a:off x="7666038" y="2179638"/>
            <a:ext cx="9525" cy="2006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9" name="Line 39"/>
          <p:cNvSpPr>
            <a:spLocks noChangeShapeType="1"/>
          </p:cNvSpPr>
          <p:nvPr/>
        </p:nvSpPr>
        <p:spPr bwMode="auto">
          <a:xfrm flipV="1">
            <a:off x="8366125" y="2181225"/>
            <a:ext cx="9525" cy="200818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0210" name="Group 53"/>
          <p:cNvGrpSpPr>
            <a:grpSpLocks/>
          </p:cNvGrpSpPr>
          <p:nvPr/>
        </p:nvGrpSpPr>
        <p:grpSpPr bwMode="auto">
          <a:xfrm>
            <a:off x="2339975" y="3933825"/>
            <a:ext cx="6408738" cy="431800"/>
            <a:chOff x="1474" y="2588"/>
            <a:chExt cx="4037" cy="162"/>
          </a:xfrm>
        </p:grpSpPr>
        <p:sp>
          <p:nvSpPr>
            <p:cNvPr id="50213" name="Line 41"/>
            <p:cNvSpPr>
              <a:spLocks noChangeShapeType="1"/>
            </p:cNvSpPr>
            <p:nvPr/>
          </p:nvSpPr>
          <p:spPr bwMode="auto">
            <a:xfrm flipV="1">
              <a:off x="1474" y="2588"/>
              <a:ext cx="0" cy="16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4" name="Line 42"/>
            <p:cNvSpPr>
              <a:spLocks noChangeShapeType="1"/>
            </p:cNvSpPr>
            <p:nvPr/>
          </p:nvSpPr>
          <p:spPr bwMode="auto">
            <a:xfrm flipV="1">
              <a:off x="1922" y="2588"/>
              <a:ext cx="0" cy="16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5" name="Line 43"/>
            <p:cNvSpPr>
              <a:spLocks noChangeShapeType="1"/>
            </p:cNvSpPr>
            <p:nvPr/>
          </p:nvSpPr>
          <p:spPr bwMode="auto">
            <a:xfrm flipV="1">
              <a:off x="2371" y="2588"/>
              <a:ext cx="0" cy="16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6" name="Line 44"/>
            <p:cNvSpPr>
              <a:spLocks noChangeShapeType="1"/>
            </p:cNvSpPr>
            <p:nvPr/>
          </p:nvSpPr>
          <p:spPr bwMode="auto">
            <a:xfrm flipV="1">
              <a:off x="2819" y="2588"/>
              <a:ext cx="0" cy="16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7" name="Line 45"/>
            <p:cNvSpPr>
              <a:spLocks noChangeShapeType="1"/>
            </p:cNvSpPr>
            <p:nvPr/>
          </p:nvSpPr>
          <p:spPr bwMode="auto">
            <a:xfrm flipV="1">
              <a:off x="3268" y="2588"/>
              <a:ext cx="0" cy="16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8" name="Line 46"/>
            <p:cNvSpPr>
              <a:spLocks noChangeShapeType="1"/>
            </p:cNvSpPr>
            <p:nvPr/>
          </p:nvSpPr>
          <p:spPr bwMode="auto">
            <a:xfrm flipV="1">
              <a:off x="3716" y="2588"/>
              <a:ext cx="0" cy="16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9" name="Line 47"/>
            <p:cNvSpPr>
              <a:spLocks noChangeShapeType="1"/>
            </p:cNvSpPr>
            <p:nvPr/>
          </p:nvSpPr>
          <p:spPr bwMode="auto">
            <a:xfrm flipV="1">
              <a:off x="4165" y="2588"/>
              <a:ext cx="0" cy="16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20" name="Line 48"/>
            <p:cNvSpPr>
              <a:spLocks noChangeShapeType="1"/>
            </p:cNvSpPr>
            <p:nvPr/>
          </p:nvSpPr>
          <p:spPr bwMode="auto">
            <a:xfrm flipV="1">
              <a:off x="4613" y="2588"/>
              <a:ext cx="0" cy="16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21" name="Line 49"/>
            <p:cNvSpPr>
              <a:spLocks noChangeShapeType="1"/>
            </p:cNvSpPr>
            <p:nvPr/>
          </p:nvSpPr>
          <p:spPr bwMode="auto">
            <a:xfrm flipV="1">
              <a:off x="5062" y="2588"/>
              <a:ext cx="0" cy="16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22" name="Line 50"/>
            <p:cNvSpPr>
              <a:spLocks noChangeShapeType="1"/>
            </p:cNvSpPr>
            <p:nvPr/>
          </p:nvSpPr>
          <p:spPr bwMode="auto">
            <a:xfrm flipV="1">
              <a:off x="5511" y="2588"/>
              <a:ext cx="0" cy="16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211" name="Rectangle 51"/>
          <p:cNvSpPr>
            <a:spLocks noChangeArrowheads="1"/>
          </p:cNvSpPr>
          <p:nvPr/>
        </p:nvSpPr>
        <p:spPr bwMode="auto">
          <a:xfrm>
            <a:off x="130175" y="4043363"/>
            <a:ext cx="1704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chemeClr val="folHlink"/>
                </a:solidFill>
                <a:latin typeface="Arial" pitchFamily="34" charset="0"/>
                <a:ea typeface="黑体" pitchFamily="49" charset="-122"/>
              </a:rPr>
              <a:t>出现电平转换</a:t>
            </a:r>
          </a:p>
        </p:txBody>
      </p:sp>
      <p:sp>
        <p:nvSpPr>
          <p:cNvPr id="50212" name="Text Box 54"/>
          <p:cNvSpPr txBox="1">
            <a:spLocks noChangeArrowheads="1"/>
          </p:cNvSpPr>
          <p:nvPr/>
        </p:nvSpPr>
        <p:spPr bwMode="auto">
          <a:xfrm>
            <a:off x="2608263" y="5507038"/>
            <a:ext cx="13239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en-US" altLang="zh-CN"/>
              <a:t>3-16 P106</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lgn="ctr" eaLnBrk="1" hangingPunct="1"/>
            <a:r>
              <a:rPr lang="zh-CN" altLang="en-US" smtClean="0"/>
              <a:t>载波监听多点接入</a:t>
            </a:r>
            <a:r>
              <a:rPr lang="en-US" altLang="zh-CN" smtClean="0"/>
              <a:t>/</a:t>
            </a:r>
            <a:r>
              <a:rPr lang="zh-CN" altLang="en-US" smtClean="0"/>
              <a:t>碰撞检测  </a:t>
            </a:r>
            <a:r>
              <a:rPr lang="en-US" altLang="zh-CN" smtClean="0"/>
              <a:t>CSMA/CD </a:t>
            </a:r>
            <a:r>
              <a:rPr lang="zh-CN" altLang="en-US" smtClean="0"/>
              <a:t>协议</a:t>
            </a:r>
          </a:p>
        </p:txBody>
      </p:sp>
      <p:sp>
        <p:nvSpPr>
          <p:cNvPr id="408579" name="Rectangle 3"/>
          <p:cNvSpPr>
            <a:spLocks noGrp="1" noChangeArrowheads="1"/>
          </p:cNvSpPr>
          <p:nvPr>
            <p:ph type="body" idx="1"/>
          </p:nvPr>
        </p:nvSpPr>
        <p:spPr>
          <a:xfrm>
            <a:off x="1042988" y="1917700"/>
            <a:ext cx="7772400" cy="4751388"/>
          </a:xfrm>
        </p:spPr>
        <p:txBody>
          <a:bodyPr/>
          <a:lstStyle/>
          <a:p>
            <a:pPr eaLnBrk="1" hangingPunct="1"/>
            <a:r>
              <a:rPr lang="en-US" altLang="zh-CN" smtClean="0"/>
              <a:t>CSMA/CD </a:t>
            </a:r>
            <a:r>
              <a:rPr lang="zh-CN" altLang="en-US" smtClean="0"/>
              <a:t>表示 </a:t>
            </a:r>
            <a:r>
              <a:rPr lang="en-US" altLang="zh-CN" smtClean="0"/>
              <a:t>Carrier Sense Multiple Access with Collision Detection</a:t>
            </a:r>
            <a:r>
              <a:rPr lang="zh-CN" altLang="en-US" smtClean="0"/>
              <a:t>。</a:t>
            </a:r>
          </a:p>
          <a:p>
            <a:pPr eaLnBrk="1" hangingPunct="1"/>
            <a:r>
              <a:rPr lang="zh-CN" altLang="en-US" smtClean="0"/>
              <a:t>“</a:t>
            </a:r>
            <a:r>
              <a:rPr lang="zh-CN" altLang="en-US" smtClean="0">
                <a:solidFill>
                  <a:schemeClr val="hlink"/>
                </a:solidFill>
              </a:rPr>
              <a:t>多点接入</a:t>
            </a:r>
            <a:r>
              <a:rPr lang="zh-CN" altLang="en-US" smtClean="0"/>
              <a:t>”表示许多计算机以多点接入的方式连接在一根总线上。</a:t>
            </a:r>
          </a:p>
          <a:p>
            <a:pPr eaLnBrk="1" hangingPunct="1"/>
            <a:r>
              <a:rPr lang="zh-CN" altLang="en-US" smtClean="0"/>
              <a:t>“</a:t>
            </a:r>
            <a:r>
              <a:rPr lang="zh-CN" altLang="en-US" smtClean="0">
                <a:solidFill>
                  <a:schemeClr val="hlink"/>
                </a:solidFill>
              </a:rPr>
              <a:t>载波监听</a:t>
            </a:r>
            <a:r>
              <a:rPr lang="zh-CN" altLang="en-US" smtClean="0"/>
              <a:t>”是指每一个站在发送数据之前先要检测一下总线上是否有其他计算机在发送数据，如果有，则暂时不要发送数据，以免发生碰撞。 </a:t>
            </a:r>
          </a:p>
          <a:p>
            <a:pPr eaLnBrk="1" hangingPunct="1">
              <a:buFont typeface="Wingdings" pitchFamily="2" charset="2"/>
              <a:buNone/>
            </a:pPr>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85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85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9"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algn="ctr" eaLnBrk="1" hangingPunct="1"/>
            <a:r>
              <a:rPr lang="zh-CN" altLang="en-US" smtClean="0"/>
              <a:t>碰撞检测</a:t>
            </a:r>
          </a:p>
        </p:txBody>
      </p:sp>
      <p:sp>
        <p:nvSpPr>
          <p:cNvPr id="409603" name="Rectangle 3"/>
          <p:cNvSpPr>
            <a:spLocks noGrp="1" noChangeArrowheads="1"/>
          </p:cNvSpPr>
          <p:nvPr>
            <p:ph type="body" idx="1"/>
          </p:nvPr>
        </p:nvSpPr>
        <p:spPr>
          <a:xfrm>
            <a:off x="1042988" y="1906588"/>
            <a:ext cx="7772400" cy="4114800"/>
          </a:xfrm>
        </p:spPr>
        <p:txBody>
          <a:bodyPr/>
          <a:lstStyle/>
          <a:p>
            <a:pPr eaLnBrk="1" hangingPunct="1">
              <a:lnSpc>
                <a:spcPct val="90000"/>
              </a:lnSpc>
            </a:pPr>
            <a:r>
              <a:rPr lang="en-US" altLang="zh-CN" sz="2800" smtClean="0"/>
              <a:t>“</a:t>
            </a:r>
            <a:r>
              <a:rPr lang="zh-CN" altLang="en-US" sz="2800" smtClean="0">
                <a:solidFill>
                  <a:schemeClr val="hlink"/>
                </a:solidFill>
              </a:rPr>
              <a:t>碰撞检测</a:t>
            </a:r>
            <a:r>
              <a:rPr lang="zh-CN" altLang="en-US" sz="2800" smtClean="0"/>
              <a:t>”就是</a:t>
            </a:r>
            <a:r>
              <a:rPr lang="zh-CN" altLang="en-US" sz="2800" smtClean="0">
                <a:solidFill>
                  <a:srgbClr val="FF0000"/>
                </a:solidFill>
              </a:rPr>
              <a:t>计算机边发送数据边检测信道</a:t>
            </a:r>
            <a:r>
              <a:rPr lang="zh-CN" altLang="en-US" sz="2800" smtClean="0"/>
              <a:t>上的信号电压大小。</a:t>
            </a:r>
          </a:p>
          <a:p>
            <a:pPr eaLnBrk="1" hangingPunct="1">
              <a:lnSpc>
                <a:spcPct val="90000"/>
              </a:lnSpc>
            </a:pPr>
            <a:r>
              <a:rPr lang="zh-CN" altLang="en-US" sz="2800" smtClean="0"/>
              <a:t>当几个站同时在总线上发送数据时，总线上的信号电压摆动值将会增大（互相叠加）。</a:t>
            </a:r>
          </a:p>
          <a:p>
            <a:pPr eaLnBrk="1" hangingPunct="1">
              <a:lnSpc>
                <a:spcPct val="90000"/>
              </a:lnSpc>
            </a:pPr>
            <a:r>
              <a:rPr lang="zh-CN" altLang="en-US" sz="2800" smtClean="0"/>
              <a:t>当一个站检测到的信号电压摆动值超过一定的门限值时，就认为总线上至少有两个站同时在发送数据，表明产生了碰撞。</a:t>
            </a:r>
          </a:p>
          <a:p>
            <a:pPr eaLnBrk="1" hangingPunct="1">
              <a:lnSpc>
                <a:spcPct val="90000"/>
              </a:lnSpc>
            </a:pPr>
            <a:r>
              <a:rPr lang="zh-CN" altLang="en-US" sz="2800" smtClean="0"/>
              <a:t>所谓“碰撞”就是发生了冲突。因此“碰撞检测”也称为“冲突检测”。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0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algn="ctr" eaLnBrk="1" hangingPunct="1"/>
            <a:r>
              <a:rPr lang="zh-CN" altLang="en-US" smtClean="0"/>
              <a:t>检测到碰撞后</a:t>
            </a:r>
          </a:p>
        </p:txBody>
      </p:sp>
      <p:sp>
        <p:nvSpPr>
          <p:cNvPr id="410627" name="Rectangle 3"/>
          <p:cNvSpPr>
            <a:spLocks noGrp="1" noChangeArrowheads="1"/>
          </p:cNvSpPr>
          <p:nvPr>
            <p:ph type="body" idx="1"/>
          </p:nvPr>
        </p:nvSpPr>
        <p:spPr/>
        <p:txBody>
          <a:bodyPr/>
          <a:lstStyle/>
          <a:p>
            <a:pPr eaLnBrk="1" hangingPunct="1"/>
            <a:r>
              <a:rPr lang="zh-CN" altLang="en-US" smtClean="0"/>
              <a:t>在发生碰撞时，总线上传输的信号产生了严重的失真，无法从中恢复出有用的信息来。</a:t>
            </a:r>
          </a:p>
          <a:p>
            <a:pPr eaLnBrk="1" hangingPunct="1"/>
            <a:r>
              <a:rPr lang="zh-CN" altLang="en-US" smtClean="0"/>
              <a:t>每一个正在发送数据的站，一旦发现总线上出现了碰撞，就要立即停止发送，免得继续浪费网络资源，然后等待一段随机时间后再次发送。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06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algn="ctr" eaLnBrk="1" hangingPunct="1"/>
            <a:r>
              <a:rPr lang="zh-CN" altLang="en-US" smtClean="0"/>
              <a:t>电磁波在总线上的</a:t>
            </a:r>
            <a:br>
              <a:rPr lang="zh-CN" altLang="en-US" smtClean="0"/>
            </a:br>
            <a:r>
              <a:rPr lang="zh-CN" altLang="en-US" smtClean="0"/>
              <a:t>有限传播速率的影响 </a:t>
            </a:r>
          </a:p>
        </p:txBody>
      </p:sp>
      <p:sp>
        <p:nvSpPr>
          <p:cNvPr id="411651" name="Rectangle 3"/>
          <p:cNvSpPr>
            <a:spLocks noGrp="1" noChangeArrowheads="1"/>
          </p:cNvSpPr>
          <p:nvPr>
            <p:ph type="body" idx="1"/>
          </p:nvPr>
        </p:nvSpPr>
        <p:spPr>
          <a:xfrm>
            <a:off x="1042988" y="1916113"/>
            <a:ext cx="7772400" cy="4608512"/>
          </a:xfrm>
        </p:spPr>
        <p:txBody>
          <a:bodyPr/>
          <a:lstStyle/>
          <a:p>
            <a:pPr eaLnBrk="1" hangingPunct="1">
              <a:lnSpc>
                <a:spcPct val="90000"/>
              </a:lnSpc>
            </a:pPr>
            <a:r>
              <a:rPr lang="zh-CN" altLang="en-US" smtClean="0"/>
              <a:t>当某个站监听到总线是空闲时，也可能总线并非真正是空闲的。 </a:t>
            </a:r>
          </a:p>
          <a:p>
            <a:pPr eaLnBrk="1" hangingPunct="1">
              <a:lnSpc>
                <a:spcPct val="90000"/>
              </a:lnSpc>
            </a:pPr>
            <a:r>
              <a:rPr lang="en-US" altLang="zh-CN" smtClean="0"/>
              <a:t>A </a:t>
            </a:r>
            <a:r>
              <a:rPr lang="zh-CN" altLang="en-US" smtClean="0"/>
              <a:t>向 </a:t>
            </a:r>
            <a:r>
              <a:rPr lang="en-US" altLang="zh-CN" smtClean="0"/>
              <a:t>B </a:t>
            </a:r>
            <a:r>
              <a:rPr lang="zh-CN" altLang="en-US" smtClean="0"/>
              <a:t>发出的信息，要经过一定的时间后才能传送到 </a:t>
            </a:r>
            <a:r>
              <a:rPr lang="en-US" altLang="zh-CN" smtClean="0"/>
              <a:t>B</a:t>
            </a:r>
            <a:r>
              <a:rPr lang="zh-CN" altLang="en-US" smtClean="0"/>
              <a:t>。</a:t>
            </a:r>
          </a:p>
          <a:p>
            <a:pPr eaLnBrk="1" hangingPunct="1">
              <a:lnSpc>
                <a:spcPct val="90000"/>
              </a:lnSpc>
            </a:pPr>
            <a:r>
              <a:rPr lang="en-US" altLang="zh-CN" smtClean="0"/>
              <a:t>B </a:t>
            </a:r>
            <a:r>
              <a:rPr lang="zh-CN" altLang="en-US" smtClean="0"/>
              <a:t>若在 </a:t>
            </a:r>
            <a:r>
              <a:rPr lang="en-US" altLang="zh-CN" smtClean="0"/>
              <a:t>A </a:t>
            </a:r>
            <a:r>
              <a:rPr lang="zh-CN" altLang="en-US" smtClean="0"/>
              <a:t>发送的信息到达 </a:t>
            </a:r>
            <a:r>
              <a:rPr lang="en-US" altLang="zh-CN" smtClean="0"/>
              <a:t>B </a:t>
            </a:r>
            <a:r>
              <a:rPr lang="zh-CN" altLang="en-US" smtClean="0"/>
              <a:t>之前发送自己的帧</a:t>
            </a:r>
            <a:r>
              <a:rPr lang="en-US" altLang="zh-CN" smtClean="0"/>
              <a:t>(</a:t>
            </a:r>
            <a:r>
              <a:rPr lang="zh-CN" altLang="en-US" smtClean="0"/>
              <a:t>因为这时 </a:t>
            </a:r>
            <a:r>
              <a:rPr lang="en-US" altLang="zh-CN" smtClean="0"/>
              <a:t>B </a:t>
            </a:r>
            <a:r>
              <a:rPr lang="zh-CN" altLang="en-US" smtClean="0"/>
              <a:t>的载波监听检测不到 </a:t>
            </a:r>
            <a:r>
              <a:rPr lang="en-US" altLang="zh-CN" smtClean="0"/>
              <a:t>A </a:t>
            </a:r>
            <a:r>
              <a:rPr lang="zh-CN" altLang="en-US" smtClean="0"/>
              <a:t>所发送的信息</a:t>
            </a:r>
            <a:r>
              <a:rPr lang="en-US" altLang="zh-CN" smtClean="0"/>
              <a:t>)</a:t>
            </a:r>
            <a:r>
              <a:rPr lang="zh-CN" altLang="en-US" smtClean="0"/>
              <a:t>，则必然要在某个时间和 </a:t>
            </a:r>
            <a:r>
              <a:rPr lang="en-US" altLang="zh-CN" smtClean="0"/>
              <a:t>A </a:t>
            </a:r>
            <a:r>
              <a:rPr lang="zh-CN" altLang="en-US" smtClean="0"/>
              <a:t>发送的帧发生碰撞。</a:t>
            </a:r>
          </a:p>
          <a:p>
            <a:pPr eaLnBrk="1" hangingPunct="1">
              <a:lnSpc>
                <a:spcPct val="90000"/>
              </a:lnSpc>
            </a:pPr>
            <a:r>
              <a:rPr lang="zh-CN" altLang="en-US" smtClean="0"/>
              <a:t>碰撞的结果是两个帧都变得无用。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16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16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1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Line 2"/>
          <p:cNvSpPr>
            <a:spLocks noChangeShapeType="1"/>
          </p:cNvSpPr>
          <p:nvPr/>
        </p:nvSpPr>
        <p:spPr bwMode="auto">
          <a:xfrm>
            <a:off x="1908175" y="2341563"/>
            <a:ext cx="4660900" cy="0"/>
          </a:xfrm>
          <a:prstGeom prst="line">
            <a:avLst/>
          </a:prstGeom>
          <a:noFill/>
          <a:ln w="38100" cmpd="dbl">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299" name="Line 3"/>
          <p:cNvSpPr>
            <a:spLocks noChangeShapeType="1"/>
          </p:cNvSpPr>
          <p:nvPr/>
        </p:nvSpPr>
        <p:spPr bwMode="auto">
          <a:xfrm>
            <a:off x="1901825" y="2052638"/>
            <a:ext cx="4673600"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0" name="Rectangle 4"/>
          <p:cNvSpPr>
            <a:spLocks noChangeArrowheads="1"/>
          </p:cNvSpPr>
          <p:nvPr/>
        </p:nvSpPr>
        <p:spPr bwMode="auto">
          <a:xfrm>
            <a:off x="3770313" y="1843088"/>
            <a:ext cx="730250" cy="39528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1 km</a:t>
            </a:r>
          </a:p>
        </p:txBody>
      </p:sp>
      <p:sp>
        <p:nvSpPr>
          <p:cNvPr id="55301" name="Line 5"/>
          <p:cNvSpPr>
            <a:spLocks noChangeShapeType="1"/>
          </p:cNvSpPr>
          <p:nvPr/>
        </p:nvSpPr>
        <p:spPr bwMode="auto">
          <a:xfrm>
            <a:off x="1897063" y="2346325"/>
            <a:ext cx="0" cy="1808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2678" name="Line 6"/>
          <p:cNvSpPr>
            <a:spLocks noChangeShapeType="1"/>
          </p:cNvSpPr>
          <p:nvPr/>
        </p:nvSpPr>
        <p:spPr bwMode="auto">
          <a:xfrm>
            <a:off x="1901825" y="2346325"/>
            <a:ext cx="4648200" cy="868363"/>
          </a:xfrm>
          <a:prstGeom prst="line">
            <a:avLst/>
          </a:prstGeom>
          <a:noFill/>
          <a:ln w="76200">
            <a:solidFill>
              <a:schemeClr val="accent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3" name="Rectangle 7"/>
          <p:cNvSpPr>
            <a:spLocks noChangeArrowheads="1"/>
          </p:cNvSpPr>
          <p:nvPr/>
        </p:nvSpPr>
        <p:spPr bwMode="auto">
          <a:xfrm>
            <a:off x="1547813" y="1844675"/>
            <a:ext cx="417512"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800">
                <a:solidFill>
                  <a:srgbClr val="333399"/>
                </a:solidFill>
                <a:latin typeface="Arial" pitchFamily="34" charset="0"/>
                <a:ea typeface="黑体" pitchFamily="49" charset="-122"/>
              </a:rPr>
              <a:t>A</a:t>
            </a:r>
          </a:p>
        </p:txBody>
      </p:sp>
      <p:sp>
        <p:nvSpPr>
          <p:cNvPr id="55304" name="Rectangle 8"/>
          <p:cNvSpPr>
            <a:spLocks noChangeArrowheads="1"/>
          </p:cNvSpPr>
          <p:nvPr/>
        </p:nvSpPr>
        <p:spPr bwMode="auto">
          <a:xfrm>
            <a:off x="6530975" y="1844675"/>
            <a:ext cx="417513"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800">
                <a:solidFill>
                  <a:srgbClr val="333399"/>
                </a:solidFill>
                <a:latin typeface="Arial" pitchFamily="34" charset="0"/>
                <a:ea typeface="黑体" pitchFamily="49" charset="-122"/>
              </a:rPr>
              <a:t>B</a:t>
            </a:r>
          </a:p>
        </p:txBody>
      </p:sp>
      <p:sp>
        <p:nvSpPr>
          <p:cNvPr id="55305" name="Line 9"/>
          <p:cNvSpPr>
            <a:spLocks noChangeShapeType="1"/>
          </p:cNvSpPr>
          <p:nvPr/>
        </p:nvSpPr>
        <p:spPr bwMode="auto">
          <a:xfrm flipH="1">
            <a:off x="1779588" y="2689225"/>
            <a:ext cx="6350" cy="1090613"/>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6" name="Rectangle 10"/>
          <p:cNvSpPr>
            <a:spLocks noChangeArrowheads="1"/>
          </p:cNvSpPr>
          <p:nvPr/>
        </p:nvSpPr>
        <p:spPr bwMode="auto">
          <a:xfrm>
            <a:off x="1560513" y="3021013"/>
            <a:ext cx="2508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i="1">
                <a:solidFill>
                  <a:srgbClr val="333399"/>
                </a:solidFill>
                <a:latin typeface="Arial" pitchFamily="34" charset="0"/>
                <a:ea typeface="黑体" pitchFamily="49" charset="-122"/>
              </a:rPr>
              <a:t>t</a:t>
            </a:r>
          </a:p>
        </p:txBody>
      </p:sp>
      <p:sp>
        <p:nvSpPr>
          <p:cNvPr id="55307" name="Line 11"/>
          <p:cNvSpPr>
            <a:spLocks noChangeShapeType="1"/>
          </p:cNvSpPr>
          <p:nvPr/>
        </p:nvSpPr>
        <p:spPr bwMode="auto">
          <a:xfrm>
            <a:off x="6569075" y="2335213"/>
            <a:ext cx="0" cy="1484312"/>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2684" name="Line 12"/>
          <p:cNvSpPr>
            <a:spLocks noChangeShapeType="1"/>
          </p:cNvSpPr>
          <p:nvPr/>
        </p:nvSpPr>
        <p:spPr bwMode="auto">
          <a:xfrm flipH="1">
            <a:off x="1897063" y="3049588"/>
            <a:ext cx="4670425" cy="879475"/>
          </a:xfrm>
          <a:prstGeom prst="line">
            <a:avLst/>
          </a:prstGeom>
          <a:noFill/>
          <a:ln w="76200">
            <a:solidFill>
              <a:srgbClr val="9966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12685" name="Group 13"/>
          <p:cNvGrpSpPr>
            <a:grpSpLocks/>
          </p:cNvGrpSpPr>
          <p:nvPr/>
        </p:nvGrpSpPr>
        <p:grpSpPr bwMode="auto">
          <a:xfrm>
            <a:off x="5340350" y="2341563"/>
            <a:ext cx="965200" cy="793750"/>
            <a:chOff x="3364" y="411"/>
            <a:chExt cx="608" cy="500"/>
          </a:xfrm>
        </p:grpSpPr>
        <p:sp>
          <p:nvSpPr>
            <p:cNvPr id="55333" name="Line 14"/>
            <p:cNvSpPr>
              <a:spLocks noChangeShapeType="1"/>
            </p:cNvSpPr>
            <p:nvPr/>
          </p:nvSpPr>
          <p:spPr bwMode="auto">
            <a:xfrm>
              <a:off x="3755" y="728"/>
              <a:ext cx="112" cy="18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34" name="AutoShape 15"/>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zh-CN" altLang="en-US">
                  <a:solidFill>
                    <a:srgbClr val="333399"/>
                  </a:solidFill>
                  <a:latin typeface="Arial" pitchFamily="34" charset="0"/>
                  <a:ea typeface="黑体" pitchFamily="49" charset="-122"/>
                </a:rPr>
                <a:t>碰撞</a:t>
              </a:r>
            </a:p>
          </p:txBody>
        </p:sp>
      </p:grpSp>
      <p:grpSp>
        <p:nvGrpSpPr>
          <p:cNvPr id="412688" name="Group 16"/>
          <p:cNvGrpSpPr>
            <a:grpSpLocks/>
          </p:cNvGrpSpPr>
          <p:nvPr/>
        </p:nvGrpSpPr>
        <p:grpSpPr bwMode="auto">
          <a:xfrm>
            <a:off x="250825" y="2886075"/>
            <a:ext cx="3960813" cy="1214438"/>
            <a:chOff x="158" y="754"/>
            <a:chExt cx="2495" cy="765"/>
          </a:xfrm>
        </p:grpSpPr>
        <p:sp>
          <p:nvSpPr>
            <p:cNvPr id="55328" name="Text Box 17"/>
            <p:cNvSpPr txBox="1">
              <a:spLocks noChangeArrowheads="1"/>
            </p:cNvSpPr>
            <p:nvPr/>
          </p:nvSpPr>
          <p:spPr bwMode="auto">
            <a:xfrm>
              <a:off x="158" y="1269"/>
              <a:ext cx="7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i="1">
                  <a:solidFill>
                    <a:srgbClr val="333399"/>
                  </a:solidFill>
                  <a:latin typeface="Arial" pitchFamily="34" charset="0"/>
                  <a:ea typeface="黑体" pitchFamily="49" charset="-122"/>
                </a:rPr>
                <a:t>t</a:t>
              </a:r>
              <a:r>
                <a:rPr kumimoji="1" lang="en-US" altLang="zh-CN">
                  <a:solidFill>
                    <a:srgbClr val="333399"/>
                  </a:solidFill>
                  <a:latin typeface="Arial" pitchFamily="34" charset="0"/>
                  <a:ea typeface="黑体" pitchFamily="49" charset="-122"/>
                </a:rPr>
                <a:t> = 2</a:t>
              </a:r>
              <a:r>
                <a:rPr kumimoji="1" lang="en-US" altLang="zh-CN">
                  <a:solidFill>
                    <a:srgbClr val="333399"/>
                  </a:solidFill>
                  <a:latin typeface="Arial" pitchFamily="34" charset="0"/>
                  <a:ea typeface="黑体" pitchFamily="49" charset="-122"/>
                  <a:sym typeface="Symbol" pitchFamily="18" charset="2"/>
                </a:rPr>
                <a:t></a:t>
              </a:r>
              <a:r>
                <a:rPr kumimoji="1" lang="en-US" altLang="zh-CN">
                  <a:solidFill>
                    <a:srgbClr val="333399"/>
                  </a:solidFill>
                  <a:latin typeface="Arial" pitchFamily="34" charset="0"/>
                  <a:ea typeface="黑体" pitchFamily="49" charset="-122"/>
                </a:rPr>
                <a:t> </a:t>
              </a:r>
              <a:r>
                <a:rPr kumimoji="1" lang="en-US" altLang="zh-CN">
                  <a:solidFill>
                    <a:srgbClr val="333399"/>
                  </a:solidFill>
                  <a:latin typeface="Arial" pitchFamily="34" charset="0"/>
                  <a:ea typeface="黑体" pitchFamily="49" charset="-122"/>
                  <a:sym typeface="Symbol" pitchFamily="18" charset="2"/>
                </a:rPr>
                <a:t> </a:t>
              </a:r>
            </a:p>
          </p:txBody>
        </p:sp>
        <p:sp>
          <p:nvSpPr>
            <p:cNvPr id="55329" name="Line 18"/>
            <p:cNvSpPr>
              <a:spLocks noChangeShapeType="1"/>
            </p:cNvSpPr>
            <p:nvPr/>
          </p:nvSpPr>
          <p:spPr bwMode="auto">
            <a:xfrm>
              <a:off x="913" y="1417"/>
              <a:ext cx="26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5330" name="Group 19"/>
            <p:cNvGrpSpPr>
              <a:grpSpLocks/>
            </p:cNvGrpSpPr>
            <p:nvPr/>
          </p:nvGrpSpPr>
          <p:grpSpPr bwMode="auto">
            <a:xfrm>
              <a:off x="1247" y="754"/>
              <a:ext cx="1406" cy="272"/>
              <a:chOff x="1247" y="754"/>
              <a:chExt cx="1406" cy="272"/>
            </a:xfrm>
          </p:grpSpPr>
          <p:sp>
            <p:nvSpPr>
              <p:cNvPr id="55331" name="AutoShape 20"/>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a:solidFill>
                    <a:srgbClr val="333399"/>
                  </a:solidFill>
                  <a:latin typeface="Arial" pitchFamily="34" charset="0"/>
                  <a:ea typeface="黑体" pitchFamily="49" charset="-122"/>
                </a:endParaRPr>
              </a:p>
            </p:txBody>
          </p:sp>
          <p:sp>
            <p:nvSpPr>
              <p:cNvPr id="55332" name="Text Box 21"/>
              <p:cNvSpPr txBox="1">
                <a:spLocks noChangeArrowheads="1"/>
              </p:cNvSpPr>
              <p:nvPr/>
            </p:nvSpPr>
            <p:spPr bwMode="auto">
              <a:xfrm>
                <a:off x="1247" y="754"/>
                <a:ext cx="13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a:solidFill>
                      <a:srgbClr val="333399"/>
                    </a:solidFill>
                    <a:latin typeface="Arial" pitchFamily="34" charset="0"/>
                    <a:ea typeface="黑体" pitchFamily="49" charset="-122"/>
                  </a:rPr>
                  <a:t>A </a:t>
                </a:r>
                <a:r>
                  <a:rPr kumimoji="1" lang="zh-CN" altLang="en-US">
                    <a:solidFill>
                      <a:srgbClr val="333399"/>
                    </a:solidFill>
                    <a:latin typeface="Arial" pitchFamily="34" charset="0"/>
                    <a:ea typeface="黑体" pitchFamily="49" charset="-122"/>
                  </a:rPr>
                  <a:t>检测到发生碰撞</a:t>
                </a:r>
              </a:p>
            </p:txBody>
          </p:sp>
        </p:grpSp>
      </p:grpSp>
      <p:grpSp>
        <p:nvGrpSpPr>
          <p:cNvPr id="412694" name="Group 22"/>
          <p:cNvGrpSpPr>
            <a:grpSpLocks/>
          </p:cNvGrpSpPr>
          <p:nvPr/>
        </p:nvGrpSpPr>
        <p:grpSpPr bwMode="auto">
          <a:xfrm>
            <a:off x="6615113" y="2222500"/>
            <a:ext cx="1844675" cy="969963"/>
            <a:chOff x="4167" y="336"/>
            <a:chExt cx="1162" cy="611"/>
          </a:xfrm>
        </p:grpSpPr>
        <p:grpSp>
          <p:nvGrpSpPr>
            <p:cNvPr id="55322" name="Group 23"/>
            <p:cNvGrpSpPr>
              <a:grpSpLocks/>
            </p:cNvGrpSpPr>
            <p:nvPr/>
          </p:nvGrpSpPr>
          <p:grpSpPr bwMode="auto">
            <a:xfrm>
              <a:off x="4167" y="697"/>
              <a:ext cx="1027" cy="250"/>
              <a:chOff x="4167" y="697"/>
              <a:chExt cx="1027" cy="250"/>
            </a:xfrm>
          </p:grpSpPr>
          <p:sp>
            <p:nvSpPr>
              <p:cNvPr id="55326" name="Line 24"/>
              <p:cNvSpPr>
                <a:spLocks noChangeShapeType="1"/>
              </p:cNvSpPr>
              <p:nvPr/>
            </p:nvSpPr>
            <p:spPr bwMode="auto">
              <a:xfrm flipH="1">
                <a:off x="4167" y="847"/>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5400" algn="ctr" rotWithShape="0">
                        <a:schemeClr val="bg2"/>
                      </a:outerShdw>
                    </a:effectLst>
                  </a14:hiddenEffects>
                </a:ext>
              </a:extLst>
            </p:spPr>
            <p:txBody>
              <a:bodyPr/>
              <a:lstStyle/>
              <a:p>
                <a:endParaRPr lang="zh-CN" altLang="en-US"/>
              </a:p>
            </p:txBody>
          </p:sp>
          <p:sp>
            <p:nvSpPr>
              <p:cNvPr id="55327" name="Text Box 25"/>
              <p:cNvSpPr txBox="1">
                <a:spLocks noChangeArrowheads="1"/>
              </p:cNvSpPr>
              <p:nvPr/>
            </p:nvSpPr>
            <p:spPr bwMode="auto">
              <a:xfrm>
                <a:off x="4411" y="697"/>
                <a:ext cx="78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i="1">
                    <a:solidFill>
                      <a:srgbClr val="333399"/>
                    </a:solidFill>
                    <a:latin typeface="Arial" pitchFamily="34" charset="0"/>
                    <a:ea typeface="黑体" pitchFamily="49" charset="-122"/>
                  </a:rPr>
                  <a:t>  t</a:t>
                </a:r>
                <a:r>
                  <a:rPr kumimoji="1" lang="en-US" altLang="zh-CN">
                    <a:solidFill>
                      <a:srgbClr val="333399"/>
                    </a:solidFill>
                    <a:latin typeface="Arial" pitchFamily="34" charset="0"/>
                    <a:ea typeface="黑体" pitchFamily="49" charset="-122"/>
                  </a:rPr>
                  <a:t> = </a:t>
                </a:r>
                <a:r>
                  <a:rPr kumimoji="1" lang="en-US" altLang="zh-CN">
                    <a:solidFill>
                      <a:srgbClr val="333399"/>
                    </a:solidFill>
                    <a:sym typeface="Symbol" pitchFamily="18" charset="2"/>
                  </a:rPr>
                  <a:t></a:t>
                </a:r>
                <a:r>
                  <a:rPr kumimoji="1" lang="en-US" altLang="zh-CN">
                    <a:solidFill>
                      <a:srgbClr val="333399"/>
                    </a:solidFill>
                    <a:latin typeface="Arial" pitchFamily="34" charset="0"/>
                    <a:ea typeface="黑体" pitchFamily="49" charset="-122"/>
                  </a:rPr>
                  <a:t> </a:t>
                </a:r>
                <a:r>
                  <a:rPr kumimoji="1" lang="en-US" altLang="zh-CN">
                    <a:solidFill>
                      <a:srgbClr val="333399"/>
                    </a:solidFill>
                    <a:latin typeface="Arial" pitchFamily="34" charset="0"/>
                    <a:ea typeface="黑体" pitchFamily="49" charset="-122"/>
                    <a:sym typeface="Symbol" pitchFamily="18" charset="2"/>
                  </a:rPr>
                  <a:t> </a:t>
                </a:r>
                <a:r>
                  <a:rPr kumimoji="1" lang="en-US" altLang="zh-CN" baseline="30000">
                    <a:solidFill>
                      <a:srgbClr val="333399"/>
                    </a:solidFill>
                    <a:latin typeface="Arial" pitchFamily="34" charset="0"/>
                    <a:ea typeface="黑体" pitchFamily="49" charset="-122"/>
                  </a:rPr>
                  <a:t> </a:t>
                </a:r>
              </a:p>
            </p:txBody>
          </p:sp>
        </p:grpSp>
        <p:grpSp>
          <p:nvGrpSpPr>
            <p:cNvPr id="55323" name="Group 26"/>
            <p:cNvGrpSpPr>
              <a:grpSpLocks/>
            </p:cNvGrpSpPr>
            <p:nvPr/>
          </p:nvGrpSpPr>
          <p:grpSpPr bwMode="auto">
            <a:xfrm>
              <a:off x="4286" y="336"/>
              <a:ext cx="1043" cy="256"/>
              <a:chOff x="4286" y="336"/>
              <a:chExt cx="1043" cy="256"/>
            </a:xfrm>
          </p:grpSpPr>
          <p:sp>
            <p:nvSpPr>
              <p:cNvPr id="55324" name="AutoShape 27"/>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25400" algn="ctr" rotWithShape="0">
                        <a:schemeClr val="bg2"/>
                      </a:outerShdw>
                    </a:effectLst>
                  </a14:hiddenEffects>
                </a:ext>
              </a:extLst>
            </p:spPr>
            <p:txBody>
              <a:bodyPr/>
              <a:lstStyle/>
              <a:p>
                <a:pPr algn="ctr" defTabSz="762000" eaLnBrk="0" hangingPunct="0"/>
                <a:endParaRPr kumimoji="1" lang="zh-CN" altLang="zh-CN">
                  <a:solidFill>
                    <a:srgbClr val="333399"/>
                  </a:solidFill>
                  <a:latin typeface="Arial" pitchFamily="34" charset="0"/>
                  <a:ea typeface="黑体" pitchFamily="49" charset="-122"/>
                </a:endParaRPr>
              </a:p>
            </p:txBody>
          </p:sp>
          <p:sp>
            <p:nvSpPr>
              <p:cNvPr id="55325" name="Text Box 28"/>
              <p:cNvSpPr txBox="1">
                <a:spLocks noChangeArrowheads="1"/>
              </p:cNvSpPr>
              <p:nvPr/>
            </p:nvSpPr>
            <p:spPr bwMode="auto">
              <a:xfrm>
                <a:off x="4286" y="336"/>
                <a:ext cx="99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a:solidFill>
                      <a:srgbClr val="333399"/>
                    </a:solidFill>
                    <a:latin typeface="Arial" pitchFamily="34" charset="0"/>
                    <a:ea typeface="黑体" pitchFamily="49" charset="-122"/>
                  </a:rPr>
                  <a:t>  B </a:t>
                </a:r>
                <a:r>
                  <a:rPr kumimoji="1" lang="zh-CN" altLang="en-US">
                    <a:solidFill>
                      <a:srgbClr val="333399"/>
                    </a:solidFill>
                    <a:latin typeface="Arial" pitchFamily="34" charset="0"/>
                    <a:ea typeface="黑体" pitchFamily="49" charset="-122"/>
                  </a:rPr>
                  <a:t>发送数据</a:t>
                </a:r>
              </a:p>
            </p:txBody>
          </p:sp>
        </p:grpSp>
      </p:grpSp>
      <p:grpSp>
        <p:nvGrpSpPr>
          <p:cNvPr id="412701" name="Group 29"/>
          <p:cNvGrpSpPr>
            <a:grpSpLocks/>
          </p:cNvGrpSpPr>
          <p:nvPr/>
        </p:nvGrpSpPr>
        <p:grpSpPr bwMode="auto">
          <a:xfrm>
            <a:off x="4067175" y="3062288"/>
            <a:ext cx="3725863" cy="1006475"/>
            <a:chOff x="2562" y="865"/>
            <a:chExt cx="2347" cy="634"/>
          </a:xfrm>
        </p:grpSpPr>
        <p:grpSp>
          <p:nvGrpSpPr>
            <p:cNvPr id="55317" name="Group 30"/>
            <p:cNvGrpSpPr>
              <a:grpSpLocks/>
            </p:cNvGrpSpPr>
            <p:nvPr/>
          </p:nvGrpSpPr>
          <p:grpSpPr bwMode="auto">
            <a:xfrm>
              <a:off x="2562" y="1240"/>
              <a:ext cx="1546" cy="259"/>
              <a:chOff x="2562" y="1240"/>
              <a:chExt cx="1546" cy="259"/>
            </a:xfrm>
          </p:grpSpPr>
          <p:sp>
            <p:nvSpPr>
              <p:cNvPr id="55320" name="AutoShape 31"/>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a:solidFill>
                    <a:srgbClr val="333399"/>
                  </a:solidFill>
                  <a:latin typeface="Arial" pitchFamily="34" charset="0"/>
                  <a:ea typeface="黑体" pitchFamily="49" charset="-122"/>
                </a:endParaRPr>
              </a:p>
            </p:txBody>
          </p:sp>
          <p:sp>
            <p:nvSpPr>
              <p:cNvPr id="55321" name="Text Box 32"/>
              <p:cNvSpPr txBox="1">
                <a:spLocks noChangeArrowheads="1"/>
              </p:cNvSpPr>
              <p:nvPr/>
            </p:nvSpPr>
            <p:spPr bwMode="auto">
              <a:xfrm>
                <a:off x="2562" y="1240"/>
                <a:ext cx="15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a:solidFill>
                      <a:srgbClr val="333399"/>
                    </a:solidFill>
                    <a:latin typeface="Arial" pitchFamily="34" charset="0"/>
                    <a:ea typeface="黑体" pitchFamily="49" charset="-122"/>
                  </a:rPr>
                  <a:t>B </a:t>
                </a:r>
                <a:r>
                  <a:rPr kumimoji="1" lang="zh-CN" altLang="en-US">
                    <a:solidFill>
                      <a:srgbClr val="333399"/>
                    </a:solidFill>
                    <a:latin typeface="Arial" pitchFamily="34" charset="0"/>
                    <a:ea typeface="黑体" pitchFamily="49" charset="-122"/>
                  </a:rPr>
                  <a:t>检测到发生碰撞</a:t>
                </a:r>
              </a:p>
            </p:txBody>
          </p:sp>
        </p:grpSp>
        <p:sp>
          <p:nvSpPr>
            <p:cNvPr id="55318" name="Line 33"/>
            <p:cNvSpPr>
              <a:spLocks noChangeShapeType="1"/>
            </p:cNvSpPr>
            <p:nvPr/>
          </p:nvSpPr>
          <p:spPr bwMode="auto">
            <a:xfrm flipH="1">
              <a:off x="4167" y="964"/>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9" name="Text Box 34"/>
            <p:cNvSpPr txBox="1">
              <a:spLocks noChangeArrowheads="1"/>
            </p:cNvSpPr>
            <p:nvPr/>
          </p:nvSpPr>
          <p:spPr bwMode="auto">
            <a:xfrm>
              <a:off x="4410" y="865"/>
              <a:ext cx="4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i="1">
                  <a:solidFill>
                    <a:srgbClr val="333399"/>
                  </a:solidFill>
                  <a:latin typeface="Arial" pitchFamily="34" charset="0"/>
                  <a:ea typeface="黑体" pitchFamily="49" charset="-122"/>
                </a:rPr>
                <a:t>  t</a:t>
              </a:r>
              <a:r>
                <a:rPr kumimoji="1" lang="en-US" altLang="zh-CN">
                  <a:solidFill>
                    <a:srgbClr val="333399"/>
                  </a:solidFill>
                  <a:latin typeface="Arial" pitchFamily="34" charset="0"/>
                  <a:ea typeface="黑体" pitchFamily="49" charset="-122"/>
                </a:rPr>
                <a:t> = </a:t>
              </a:r>
              <a:r>
                <a:rPr kumimoji="1" lang="en-US" altLang="zh-CN">
                  <a:solidFill>
                    <a:srgbClr val="333399"/>
                  </a:solidFill>
                  <a:sym typeface="Symbol" pitchFamily="18" charset="2"/>
                </a:rPr>
                <a:t></a:t>
              </a:r>
            </a:p>
          </p:txBody>
        </p:sp>
      </p:grpSp>
      <p:sp>
        <p:nvSpPr>
          <p:cNvPr id="55313" name="Text Box 35"/>
          <p:cNvSpPr txBox="1">
            <a:spLocks noChangeArrowheads="1"/>
          </p:cNvSpPr>
          <p:nvPr/>
        </p:nvSpPr>
        <p:spPr bwMode="auto">
          <a:xfrm>
            <a:off x="779463" y="2136775"/>
            <a:ext cx="682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i="1">
                <a:solidFill>
                  <a:srgbClr val="333399"/>
                </a:solidFill>
                <a:latin typeface="Arial" pitchFamily="34" charset="0"/>
                <a:ea typeface="黑体" pitchFamily="49" charset="-122"/>
              </a:rPr>
              <a:t>t</a:t>
            </a:r>
            <a:r>
              <a:rPr kumimoji="1" lang="en-US" altLang="zh-CN">
                <a:solidFill>
                  <a:srgbClr val="333399"/>
                </a:solidFill>
                <a:latin typeface="Arial" pitchFamily="34" charset="0"/>
                <a:ea typeface="黑体" pitchFamily="49" charset="-122"/>
              </a:rPr>
              <a:t> = 0</a:t>
            </a:r>
            <a:endParaRPr kumimoji="1" lang="en-US" altLang="zh-CN" baseline="30000">
              <a:solidFill>
                <a:srgbClr val="333399"/>
              </a:solidFill>
              <a:latin typeface="Arial" pitchFamily="34" charset="0"/>
              <a:ea typeface="黑体" pitchFamily="49" charset="-122"/>
            </a:endParaRPr>
          </a:p>
        </p:txBody>
      </p:sp>
      <p:sp>
        <p:nvSpPr>
          <p:cNvPr id="55314" name="Line 36"/>
          <p:cNvSpPr>
            <a:spLocks noChangeShapeType="1"/>
          </p:cNvSpPr>
          <p:nvPr/>
        </p:nvSpPr>
        <p:spPr bwMode="auto">
          <a:xfrm>
            <a:off x="1449388" y="2341563"/>
            <a:ext cx="41275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5" name="Text Box 37"/>
          <p:cNvSpPr txBox="1">
            <a:spLocks noChangeArrowheads="1"/>
          </p:cNvSpPr>
          <p:nvPr/>
        </p:nvSpPr>
        <p:spPr bwMode="auto">
          <a:xfrm>
            <a:off x="6662738" y="3470275"/>
            <a:ext cx="22304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rgbClr val="333399"/>
                </a:solidFill>
                <a:latin typeface="Arial" pitchFamily="34" charset="0"/>
                <a:ea typeface="黑体" pitchFamily="49" charset="-122"/>
              </a:rPr>
              <a:t>单程端到端</a:t>
            </a:r>
          </a:p>
          <a:p>
            <a:pPr algn="ctr" eaLnBrk="1" hangingPunct="1"/>
            <a:r>
              <a:rPr lang="zh-CN" altLang="en-US" sz="2400">
                <a:solidFill>
                  <a:srgbClr val="333399"/>
                </a:solidFill>
                <a:latin typeface="Arial" pitchFamily="34" charset="0"/>
                <a:ea typeface="黑体" pitchFamily="49" charset="-122"/>
              </a:rPr>
              <a:t>传播时延记为</a:t>
            </a:r>
            <a:r>
              <a:rPr lang="zh-CN" altLang="en-US" sz="2400" i="1">
                <a:solidFill>
                  <a:srgbClr val="333399"/>
                </a:solidFill>
                <a:latin typeface="Arial" pitchFamily="34" charset="0"/>
                <a:ea typeface="黑体" pitchFamily="49" charset="-122"/>
                <a:sym typeface="Symbol" pitchFamily="18" charset="2"/>
              </a:rPr>
              <a:t></a:t>
            </a:r>
            <a:r>
              <a:rPr lang="zh-CN" altLang="en-US" sz="2400">
                <a:solidFill>
                  <a:srgbClr val="333399"/>
                </a:solidFill>
                <a:latin typeface="Arial" pitchFamily="34" charset="0"/>
                <a:ea typeface="黑体" pitchFamily="49" charset="-122"/>
              </a:rPr>
              <a:t> </a:t>
            </a:r>
          </a:p>
        </p:txBody>
      </p:sp>
      <p:sp>
        <p:nvSpPr>
          <p:cNvPr id="55316" name="Text Box 38"/>
          <p:cNvSpPr txBox="1">
            <a:spLocks noChangeArrowheads="1"/>
          </p:cNvSpPr>
          <p:nvPr/>
        </p:nvSpPr>
        <p:spPr bwMode="auto">
          <a:xfrm>
            <a:off x="1835150" y="266700"/>
            <a:ext cx="5899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3600">
                <a:solidFill>
                  <a:schemeClr val="folHlink"/>
                </a:solidFill>
                <a:latin typeface="黑体" pitchFamily="49" charset="-122"/>
                <a:ea typeface="黑体" pitchFamily="49" charset="-122"/>
              </a:rPr>
              <a:t>传播时延对载波监听的影响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2678"/>
                                        </p:tgtEl>
                                        <p:attrNameLst>
                                          <p:attrName>style.visibility</p:attrName>
                                        </p:attrNameLst>
                                      </p:cBhvr>
                                      <p:to>
                                        <p:strVal val="visible"/>
                                      </p:to>
                                    </p:set>
                                    <p:animEffect transition="in" filter="wipe(left)">
                                      <p:cBhvr>
                                        <p:cTn id="7" dur="5000"/>
                                        <p:tgtEl>
                                          <p:spTgt spid="412678"/>
                                        </p:tgtEl>
                                      </p:cBhvr>
                                    </p:animEffect>
                                  </p:childTnLst>
                                </p:cTn>
                              </p:par>
                              <p:par>
                                <p:cTn id="8" presetID="22" presetClass="entr" presetSubtype="2" fill="hold" grpId="0" nodeType="withEffect">
                                  <p:stCondLst>
                                    <p:cond delay="4000"/>
                                  </p:stCondLst>
                                  <p:childTnLst>
                                    <p:set>
                                      <p:cBhvr>
                                        <p:cTn id="9" dur="1" fill="hold">
                                          <p:stCondLst>
                                            <p:cond delay="0"/>
                                          </p:stCondLst>
                                        </p:cTn>
                                        <p:tgtEl>
                                          <p:spTgt spid="412684"/>
                                        </p:tgtEl>
                                        <p:attrNameLst>
                                          <p:attrName>style.visibility</p:attrName>
                                        </p:attrNameLst>
                                      </p:cBhvr>
                                      <p:to>
                                        <p:strVal val="visible"/>
                                      </p:to>
                                    </p:set>
                                    <p:animEffect transition="in" filter="wipe(right)">
                                      <p:cBhvr>
                                        <p:cTn id="10" dur="5000"/>
                                        <p:tgtEl>
                                          <p:spTgt spid="412684"/>
                                        </p:tgtEl>
                                      </p:cBhvr>
                                    </p:animEffect>
                                  </p:childTnLst>
                                </p:cTn>
                              </p:par>
                              <p:par>
                                <p:cTn id="11" presetID="1" presetClass="entr" presetSubtype="0" fill="hold" nodeType="withEffect">
                                  <p:stCondLst>
                                    <p:cond delay="4000"/>
                                  </p:stCondLst>
                                  <p:childTnLst>
                                    <p:set>
                                      <p:cBhvr>
                                        <p:cTn id="12" dur="1" fill="hold">
                                          <p:stCondLst>
                                            <p:cond delay="0"/>
                                          </p:stCondLst>
                                        </p:cTn>
                                        <p:tgtEl>
                                          <p:spTgt spid="412694"/>
                                        </p:tgtEl>
                                        <p:attrNameLst>
                                          <p:attrName>style.visibility</p:attrName>
                                        </p:attrNameLst>
                                      </p:cBhvr>
                                      <p:to>
                                        <p:strVal val="visible"/>
                                      </p:to>
                                    </p:set>
                                  </p:childTnLst>
                                </p:cTn>
                              </p:par>
                              <p:par>
                                <p:cTn id="13" presetID="1" presetClass="entr" presetSubtype="0" fill="hold" nodeType="withEffect">
                                  <p:stCondLst>
                                    <p:cond delay="4500"/>
                                  </p:stCondLst>
                                  <p:childTnLst>
                                    <p:set>
                                      <p:cBhvr>
                                        <p:cTn id="14" dur="1" fill="hold">
                                          <p:stCondLst>
                                            <p:cond delay="0"/>
                                          </p:stCondLst>
                                        </p:cTn>
                                        <p:tgtEl>
                                          <p:spTgt spid="412685"/>
                                        </p:tgtEl>
                                        <p:attrNameLst>
                                          <p:attrName>style.visibility</p:attrName>
                                        </p:attrNameLst>
                                      </p:cBhvr>
                                      <p:to>
                                        <p:strVal val="visible"/>
                                      </p:to>
                                    </p:set>
                                  </p:childTnLst>
                                </p:cTn>
                              </p:par>
                              <p:par>
                                <p:cTn id="15" presetID="1" presetClass="entr" presetSubtype="0" fill="hold" nodeType="withEffect">
                                  <p:stCondLst>
                                    <p:cond delay="5000"/>
                                  </p:stCondLst>
                                  <p:childTnLst>
                                    <p:set>
                                      <p:cBhvr>
                                        <p:cTn id="16" dur="1" fill="hold">
                                          <p:stCondLst>
                                            <p:cond delay="0"/>
                                          </p:stCondLst>
                                        </p:cTn>
                                        <p:tgtEl>
                                          <p:spTgt spid="412701"/>
                                        </p:tgtEl>
                                        <p:attrNameLst>
                                          <p:attrName>style.visibility</p:attrName>
                                        </p:attrNameLst>
                                      </p:cBhvr>
                                      <p:to>
                                        <p:strVal val="visible"/>
                                      </p:to>
                                    </p:set>
                                  </p:childTnLst>
                                </p:cTn>
                              </p:par>
                              <p:par>
                                <p:cTn id="17" presetID="1" presetClass="entr" presetSubtype="0" fill="hold" nodeType="withEffect">
                                  <p:stCondLst>
                                    <p:cond delay="9000"/>
                                  </p:stCondLst>
                                  <p:childTnLst>
                                    <p:set>
                                      <p:cBhvr>
                                        <p:cTn id="18" dur="1" fill="hold">
                                          <p:stCondLst>
                                            <p:cond delay="0"/>
                                          </p:stCondLst>
                                        </p:cTn>
                                        <p:tgtEl>
                                          <p:spTgt spid="412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8" grpId="0" animBg="1"/>
      <p:bldP spid="412684"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3698" name="Rectangle 2"/>
          <p:cNvSpPr>
            <a:spLocks noChangeArrowheads="1"/>
          </p:cNvSpPr>
          <p:nvPr/>
        </p:nvSpPr>
        <p:spPr bwMode="auto">
          <a:xfrm>
            <a:off x="5302250" y="5429250"/>
            <a:ext cx="1144588" cy="142875"/>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699" name="Rectangle 3"/>
          <p:cNvSpPr>
            <a:spLocks noChangeArrowheads="1"/>
          </p:cNvSpPr>
          <p:nvPr/>
        </p:nvSpPr>
        <p:spPr bwMode="auto">
          <a:xfrm>
            <a:off x="2060575" y="5213350"/>
            <a:ext cx="4386263" cy="1428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4" name="Line 4"/>
          <p:cNvSpPr>
            <a:spLocks noChangeShapeType="1"/>
          </p:cNvSpPr>
          <p:nvPr/>
        </p:nvSpPr>
        <p:spPr bwMode="auto">
          <a:xfrm>
            <a:off x="1908175" y="652463"/>
            <a:ext cx="4660900" cy="0"/>
          </a:xfrm>
          <a:prstGeom prst="line">
            <a:avLst/>
          </a:prstGeom>
          <a:noFill/>
          <a:ln w="38100" cmpd="dbl">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5" name="Line 5"/>
          <p:cNvSpPr>
            <a:spLocks noChangeShapeType="1"/>
          </p:cNvSpPr>
          <p:nvPr/>
        </p:nvSpPr>
        <p:spPr bwMode="auto">
          <a:xfrm>
            <a:off x="1901825" y="363538"/>
            <a:ext cx="4673600"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6" name="Rectangle 6"/>
          <p:cNvSpPr>
            <a:spLocks noChangeArrowheads="1"/>
          </p:cNvSpPr>
          <p:nvPr/>
        </p:nvSpPr>
        <p:spPr bwMode="auto">
          <a:xfrm>
            <a:off x="3770313" y="153988"/>
            <a:ext cx="730250" cy="39528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1 km</a:t>
            </a:r>
          </a:p>
        </p:txBody>
      </p:sp>
      <p:sp>
        <p:nvSpPr>
          <p:cNvPr id="56327" name="Line 7"/>
          <p:cNvSpPr>
            <a:spLocks noChangeShapeType="1"/>
          </p:cNvSpPr>
          <p:nvPr/>
        </p:nvSpPr>
        <p:spPr bwMode="auto">
          <a:xfrm>
            <a:off x="1897063" y="657225"/>
            <a:ext cx="0" cy="1808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8" name="Line 8"/>
          <p:cNvSpPr>
            <a:spLocks noChangeShapeType="1"/>
          </p:cNvSpPr>
          <p:nvPr/>
        </p:nvSpPr>
        <p:spPr bwMode="auto">
          <a:xfrm>
            <a:off x="1901825" y="657225"/>
            <a:ext cx="4648200" cy="868363"/>
          </a:xfrm>
          <a:prstGeom prst="line">
            <a:avLst/>
          </a:prstGeom>
          <a:noFill/>
          <a:ln w="76200">
            <a:solidFill>
              <a:schemeClr val="accent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9" name="Rectangle 9"/>
          <p:cNvSpPr>
            <a:spLocks noChangeArrowheads="1"/>
          </p:cNvSpPr>
          <p:nvPr/>
        </p:nvSpPr>
        <p:spPr bwMode="auto">
          <a:xfrm>
            <a:off x="1641475" y="307975"/>
            <a:ext cx="35083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A</a:t>
            </a:r>
          </a:p>
        </p:txBody>
      </p:sp>
      <p:sp>
        <p:nvSpPr>
          <p:cNvPr id="56330" name="Rectangle 10"/>
          <p:cNvSpPr>
            <a:spLocks noChangeArrowheads="1"/>
          </p:cNvSpPr>
          <p:nvPr/>
        </p:nvSpPr>
        <p:spPr bwMode="auto">
          <a:xfrm>
            <a:off x="6464300" y="307975"/>
            <a:ext cx="35083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B</a:t>
            </a:r>
          </a:p>
        </p:txBody>
      </p:sp>
      <p:sp>
        <p:nvSpPr>
          <p:cNvPr id="56331" name="Line 11"/>
          <p:cNvSpPr>
            <a:spLocks noChangeShapeType="1"/>
          </p:cNvSpPr>
          <p:nvPr/>
        </p:nvSpPr>
        <p:spPr bwMode="auto">
          <a:xfrm flipH="1">
            <a:off x="1779588" y="1000125"/>
            <a:ext cx="6350" cy="1090613"/>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2" name="Rectangle 12"/>
          <p:cNvSpPr>
            <a:spLocks noChangeArrowheads="1"/>
          </p:cNvSpPr>
          <p:nvPr/>
        </p:nvSpPr>
        <p:spPr bwMode="auto">
          <a:xfrm>
            <a:off x="1560513" y="1331913"/>
            <a:ext cx="2508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i="1">
                <a:solidFill>
                  <a:srgbClr val="333399"/>
                </a:solidFill>
                <a:latin typeface="Arial" pitchFamily="34" charset="0"/>
                <a:ea typeface="黑体" pitchFamily="49" charset="-122"/>
              </a:rPr>
              <a:t>t</a:t>
            </a:r>
          </a:p>
        </p:txBody>
      </p:sp>
      <p:sp>
        <p:nvSpPr>
          <p:cNvPr id="56333" name="Line 13"/>
          <p:cNvSpPr>
            <a:spLocks noChangeShapeType="1"/>
          </p:cNvSpPr>
          <p:nvPr/>
        </p:nvSpPr>
        <p:spPr bwMode="auto">
          <a:xfrm>
            <a:off x="6569075" y="646113"/>
            <a:ext cx="0" cy="1484312"/>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4" name="Line 14"/>
          <p:cNvSpPr>
            <a:spLocks noChangeShapeType="1"/>
          </p:cNvSpPr>
          <p:nvPr/>
        </p:nvSpPr>
        <p:spPr bwMode="auto">
          <a:xfrm flipH="1">
            <a:off x="1897063" y="1360488"/>
            <a:ext cx="4670425" cy="879475"/>
          </a:xfrm>
          <a:prstGeom prst="line">
            <a:avLst/>
          </a:prstGeom>
          <a:noFill/>
          <a:ln w="76200">
            <a:solidFill>
              <a:srgbClr val="9966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6335" name="Group 15"/>
          <p:cNvGrpSpPr>
            <a:grpSpLocks/>
          </p:cNvGrpSpPr>
          <p:nvPr/>
        </p:nvGrpSpPr>
        <p:grpSpPr bwMode="auto">
          <a:xfrm>
            <a:off x="5340350" y="652463"/>
            <a:ext cx="965200" cy="793750"/>
            <a:chOff x="3364" y="411"/>
            <a:chExt cx="608" cy="500"/>
          </a:xfrm>
        </p:grpSpPr>
        <p:sp>
          <p:nvSpPr>
            <p:cNvPr id="56395" name="Line 16"/>
            <p:cNvSpPr>
              <a:spLocks noChangeShapeType="1"/>
            </p:cNvSpPr>
            <p:nvPr/>
          </p:nvSpPr>
          <p:spPr bwMode="auto">
            <a:xfrm>
              <a:off x="3755" y="728"/>
              <a:ext cx="112" cy="18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96" name="AutoShape 17"/>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zh-CN" altLang="en-US">
                  <a:solidFill>
                    <a:srgbClr val="333399"/>
                  </a:solidFill>
                  <a:latin typeface="Arial" pitchFamily="34" charset="0"/>
                  <a:ea typeface="黑体" pitchFamily="49" charset="-122"/>
                </a:rPr>
                <a:t>碰撞</a:t>
              </a:r>
            </a:p>
          </p:txBody>
        </p:sp>
      </p:grpSp>
      <p:sp>
        <p:nvSpPr>
          <p:cNvPr id="413714" name="Text Box 18"/>
          <p:cNvSpPr txBox="1">
            <a:spLocks noChangeArrowheads="1"/>
          </p:cNvSpPr>
          <p:nvPr/>
        </p:nvSpPr>
        <p:spPr bwMode="auto">
          <a:xfrm>
            <a:off x="6877050" y="3275013"/>
            <a:ext cx="2201863"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pPr>
              <a:lnSpc>
                <a:spcPct val="90000"/>
              </a:lnSpc>
            </a:pPr>
            <a:r>
              <a:rPr kumimoji="1" lang="en-US" altLang="zh-CN" i="1">
                <a:solidFill>
                  <a:srgbClr val="333399"/>
                </a:solidFill>
                <a:latin typeface="Arial" pitchFamily="34" charset="0"/>
                <a:ea typeface="黑体" pitchFamily="49" charset="-122"/>
              </a:rPr>
              <a:t>t</a:t>
            </a:r>
            <a:r>
              <a:rPr kumimoji="1" lang="en-US" altLang="zh-CN">
                <a:solidFill>
                  <a:srgbClr val="333399"/>
                </a:solidFill>
                <a:latin typeface="Arial" pitchFamily="34" charset="0"/>
                <a:ea typeface="黑体" pitchFamily="49" charset="-122"/>
              </a:rPr>
              <a:t> = </a:t>
            </a:r>
            <a:r>
              <a:rPr kumimoji="1" lang="en-US" altLang="zh-CN">
                <a:solidFill>
                  <a:srgbClr val="333399"/>
                </a:solidFill>
                <a:sym typeface="Symbol" pitchFamily="18" charset="2"/>
              </a:rPr>
              <a:t></a:t>
            </a:r>
            <a:r>
              <a:rPr kumimoji="1" lang="en-US" altLang="zh-CN">
                <a:solidFill>
                  <a:srgbClr val="333399"/>
                </a:solidFill>
                <a:latin typeface="Arial" pitchFamily="34" charset="0"/>
                <a:ea typeface="黑体" pitchFamily="49" charset="-122"/>
              </a:rPr>
              <a:t> </a:t>
            </a:r>
            <a:r>
              <a:rPr kumimoji="1" lang="en-US" altLang="zh-CN">
                <a:solidFill>
                  <a:srgbClr val="333399"/>
                </a:solidFill>
                <a:latin typeface="Arial" pitchFamily="34" charset="0"/>
                <a:ea typeface="黑体" pitchFamily="49" charset="-122"/>
                <a:sym typeface="Symbol" pitchFamily="18" charset="2"/>
              </a:rPr>
              <a:t> </a:t>
            </a:r>
            <a:endParaRPr kumimoji="1" lang="en-US" altLang="zh-CN">
              <a:solidFill>
                <a:srgbClr val="333399"/>
              </a:solidFill>
              <a:latin typeface="Arial" pitchFamily="34" charset="0"/>
              <a:ea typeface="黑体" pitchFamily="49" charset="-122"/>
            </a:endParaRPr>
          </a:p>
          <a:p>
            <a:pPr>
              <a:lnSpc>
                <a:spcPct val="90000"/>
              </a:lnSpc>
            </a:pPr>
            <a:r>
              <a:rPr kumimoji="1" lang="en-US" altLang="zh-CN">
                <a:solidFill>
                  <a:srgbClr val="333399"/>
                </a:solidFill>
                <a:latin typeface="Arial" pitchFamily="34" charset="0"/>
                <a:ea typeface="黑体" pitchFamily="49" charset="-122"/>
              </a:rPr>
              <a:t>B </a:t>
            </a:r>
            <a:r>
              <a:rPr kumimoji="1" lang="zh-CN" altLang="en-US">
                <a:solidFill>
                  <a:srgbClr val="333399"/>
                </a:solidFill>
                <a:latin typeface="Arial" pitchFamily="34" charset="0"/>
                <a:ea typeface="黑体" pitchFamily="49" charset="-122"/>
              </a:rPr>
              <a:t>检测到</a:t>
            </a:r>
            <a:r>
              <a:rPr kumimoji="1" lang="zh-CN" altLang="en-US">
                <a:solidFill>
                  <a:schemeClr val="hlink"/>
                </a:solidFill>
                <a:latin typeface="Arial" pitchFamily="34" charset="0"/>
                <a:ea typeface="黑体" pitchFamily="49" charset="-122"/>
              </a:rPr>
              <a:t>信道空闲</a:t>
            </a:r>
          </a:p>
          <a:p>
            <a:pPr>
              <a:lnSpc>
                <a:spcPct val="90000"/>
              </a:lnSpc>
            </a:pPr>
            <a:r>
              <a:rPr kumimoji="1" lang="zh-CN" altLang="en-US">
                <a:solidFill>
                  <a:srgbClr val="333399"/>
                </a:solidFill>
                <a:latin typeface="Arial" pitchFamily="34" charset="0"/>
                <a:ea typeface="黑体" pitchFamily="49" charset="-122"/>
              </a:rPr>
              <a:t>发送数据</a:t>
            </a:r>
          </a:p>
        </p:txBody>
      </p:sp>
      <p:sp>
        <p:nvSpPr>
          <p:cNvPr id="413715" name="Text Box 19"/>
          <p:cNvSpPr txBox="1">
            <a:spLocks noChangeArrowheads="1"/>
          </p:cNvSpPr>
          <p:nvPr/>
        </p:nvSpPr>
        <p:spPr bwMode="auto">
          <a:xfrm>
            <a:off x="6877050" y="4246563"/>
            <a:ext cx="1417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pPr>
              <a:lnSpc>
                <a:spcPct val="90000"/>
              </a:lnSpc>
            </a:pPr>
            <a:r>
              <a:rPr kumimoji="1" lang="en-US" altLang="zh-CN" i="1">
                <a:solidFill>
                  <a:srgbClr val="333399"/>
                </a:solidFill>
                <a:latin typeface="Arial" pitchFamily="34" charset="0"/>
                <a:ea typeface="黑体" pitchFamily="49" charset="-122"/>
              </a:rPr>
              <a:t>t</a:t>
            </a:r>
            <a:r>
              <a:rPr kumimoji="1" lang="en-US" altLang="zh-CN">
                <a:solidFill>
                  <a:srgbClr val="333399"/>
                </a:solidFill>
                <a:latin typeface="Arial" pitchFamily="34" charset="0"/>
                <a:ea typeface="黑体" pitchFamily="49" charset="-122"/>
              </a:rPr>
              <a:t> = </a:t>
            </a:r>
            <a:r>
              <a:rPr kumimoji="1" lang="en-US" altLang="zh-CN">
                <a:solidFill>
                  <a:srgbClr val="333399"/>
                </a:solidFill>
                <a:sym typeface="Symbol" pitchFamily="18" charset="2"/>
              </a:rPr>
              <a:t></a:t>
            </a:r>
            <a:r>
              <a:rPr kumimoji="1" lang="en-US" altLang="zh-CN"/>
              <a:t> </a:t>
            </a:r>
            <a:r>
              <a:rPr kumimoji="1" lang="en-US" altLang="zh-CN">
                <a:solidFill>
                  <a:srgbClr val="333399"/>
                </a:solidFill>
                <a:latin typeface="Arial" pitchFamily="34" charset="0"/>
                <a:ea typeface="黑体" pitchFamily="49" charset="-122"/>
                <a:sym typeface="Symbol" pitchFamily="18" charset="2"/>
              </a:rPr>
              <a:t>  / 2</a:t>
            </a:r>
            <a:endParaRPr kumimoji="1" lang="en-US" altLang="zh-CN" baseline="30000">
              <a:solidFill>
                <a:srgbClr val="333399"/>
              </a:solidFill>
              <a:latin typeface="Arial" pitchFamily="34" charset="0"/>
              <a:ea typeface="黑体" pitchFamily="49" charset="-122"/>
            </a:endParaRPr>
          </a:p>
          <a:p>
            <a:pPr>
              <a:lnSpc>
                <a:spcPct val="90000"/>
              </a:lnSpc>
            </a:pPr>
            <a:r>
              <a:rPr kumimoji="1" lang="zh-CN" altLang="en-US">
                <a:solidFill>
                  <a:srgbClr val="333399"/>
                </a:solidFill>
                <a:latin typeface="Arial" pitchFamily="34" charset="0"/>
                <a:ea typeface="黑体" pitchFamily="49" charset="-122"/>
              </a:rPr>
              <a:t>发生碰撞</a:t>
            </a:r>
          </a:p>
        </p:txBody>
      </p:sp>
      <p:grpSp>
        <p:nvGrpSpPr>
          <p:cNvPr id="56338" name="Group 20"/>
          <p:cNvGrpSpPr>
            <a:grpSpLocks/>
          </p:cNvGrpSpPr>
          <p:nvPr/>
        </p:nvGrpSpPr>
        <p:grpSpPr bwMode="auto">
          <a:xfrm>
            <a:off x="250825" y="1196975"/>
            <a:ext cx="3960813" cy="1214438"/>
            <a:chOff x="158" y="754"/>
            <a:chExt cx="2495" cy="765"/>
          </a:xfrm>
        </p:grpSpPr>
        <p:sp>
          <p:nvSpPr>
            <p:cNvPr id="56390" name="Text Box 21"/>
            <p:cNvSpPr txBox="1">
              <a:spLocks noChangeArrowheads="1"/>
            </p:cNvSpPr>
            <p:nvPr/>
          </p:nvSpPr>
          <p:spPr bwMode="auto">
            <a:xfrm>
              <a:off x="158" y="1269"/>
              <a:ext cx="7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i="1">
                  <a:solidFill>
                    <a:srgbClr val="333399"/>
                  </a:solidFill>
                  <a:latin typeface="Arial" pitchFamily="34" charset="0"/>
                  <a:ea typeface="黑体" pitchFamily="49" charset="-122"/>
                </a:rPr>
                <a:t>t</a:t>
              </a:r>
              <a:r>
                <a:rPr kumimoji="1" lang="en-US" altLang="zh-CN">
                  <a:solidFill>
                    <a:srgbClr val="333399"/>
                  </a:solidFill>
                  <a:latin typeface="Arial" pitchFamily="34" charset="0"/>
                  <a:ea typeface="黑体" pitchFamily="49" charset="-122"/>
                </a:rPr>
                <a:t> = 2</a:t>
              </a:r>
              <a:r>
                <a:rPr kumimoji="1" lang="en-US" altLang="zh-CN">
                  <a:solidFill>
                    <a:srgbClr val="333399"/>
                  </a:solidFill>
                  <a:latin typeface="Arial" pitchFamily="34" charset="0"/>
                  <a:ea typeface="黑体" pitchFamily="49" charset="-122"/>
                  <a:sym typeface="Symbol" pitchFamily="18" charset="2"/>
                </a:rPr>
                <a:t></a:t>
              </a:r>
              <a:r>
                <a:rPr kumimoji="1" lang="en-US" altLang="zh-CN">
                  <a:solidFill>
                    <a:srgbClr val="333399"/>
                  </a:solidFill>
                  <a:latin typeface="Arial" pitchFamily="34" charset="0"/>
                  <a:ea typeface="黑体" pitchFamily="49" charset="-122"/>
                </a:rPr>
                <a:t> </a:t>
              </a:r>
              <a:r>
                <a:rPr kumimoji="1" lang="en-US" altLang="zh-CN">
                  <a:solidFill>
                    <a:srgbClr val="333399"/>
                  </a:solidFill>
                  <a:latin typeface="Arial" pitchFamily="34" charset="0"/>
                  <a:ea typeface="黑体" pitchFamily="49" charset="-122"/>
                  <a:sym typeface="Symbol" pitchFamily="18" charset="2"/>
                </a:rPr>
                <a:t> </a:t>
              </a:r>
            </a:p>
          </p:txBody>
        </p:sp>
        <p:sp>
          <p:nvSpPr>
            <p:cNvPr id="56391" name="Line 22"/>
            <p:cNvSpPr>
              <a:spLocks noChangeShapeType="1"/>
            </p:cNvSpPr>
            <p:nvPr/>
          </p:nvSpPr>
          <p:spPr bwMode="auto">
            <a:xfrm>
              <a:off x="913" y="1417"/>
              <a:ext cx="26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6392" name="Group 23"/>
            <p:cNvGrpSpPr>
              <a:grpSpLocks/>
            </p:cNvGrpSpPr>
            <p:nvPr/>
          </p:nvGrpSpPr>
          <p:grpSpPr bwMode="auto">
            <a:xfrm>
              <a:off x="1247" y="754"/>
              <a:ext cx="1406" cy="272"/>
              <a:chOff x="1247" y="754"/>
              <a:chExt cx="1406" cy="272"/>
            </a:xfrm>
          </p:grpSpPr>
          <p:sp>
            <p:nvSpPr>
              <p:cNvPr id="56393" name="AutoShape 24"/>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a:solidFill>
                    <a:srgbClr val="333399"/>
                  </a:solidFill>
                  <a:latin typeface="Arial" pitchFamily="34" charset="0"/>
                  <a:ea typeface="黑体" pitchFamily="49" charset="-122"/>
                </a:endParaRPr>
              </a:p>
            </p:txBody>
          </p:sp>
          <p:sp>
            <p:nvSpPr>
              <p:cNvPr id="56394" name="Text Box 25"/>
              <p:cNvSpPr txBox="1">
                <a:spLocks noChangeArrowheads="1"/>
              </p:cNvSpPr>
              <p:nvPr/>
            </p:nvSpPr>
            <p:spPr bwMode="auto">
              <a:xfrm>
                <a:off x="1247" y="754"/>
                <a:ext cx="13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a:solidFill>
                      <a:srgbClr val="333399"/>
                    </a:solidFill>
                    <a:latin typeface="Arial" pitchFamily="34" charset="0"/>
                    <a:ea typeface="黑体" pitchFamily="49" charset="-122"/>
                  </a:rPr>
                  <a:t>A </a:t>
                </a:r>
                <a:r>
                  <a:rPr kumimoji="1" lang="zh-CN" altLang="en-US">
                    <a:solidFill>
                      <a:srgbClr val="333399"/>
                    </a:solidFill>
                    <a:latin typeface="Arial" pitchFamily="34" charset="0"/>
                    <a:ea typeface="黑体" pitchFamily="49" charset="-122"/>
                  </a:rPr>
                  <a:t>检测到发生碰撞</a:t>
                </a:r>
              </a:p>
            </p:txBody>
          </p:sp>
        </p:grpSp>
      </p:grpSp>
      <p:grpSp>
        <p:nvGrpSpPr>
          <p:cNvPr id="56339" name="Group 26"/>
          <p:cNvGrpSpPr>
            <a:grpSpLocks/>
          </p:cNvGrpSpPr>
          <p:nvPr/>
        </p:nvGrpSpPr>
        <p:grpSpPr bwMode="auto">
          <a:xfrm>
            <a:off x="6615113" y="533400"/>
            <a:ext cx="1844675" cy="969963"/>
            <a:chOff x="4167" y="336"/>
            <a:chExt cx="1162" cy="611"/>
          </a:xfrm>
        </p:grpSpPr>
        <p:grpSp>
          <p:nvGrpSpPr>
            <p:cNvPr id="56384" name="Group 27"/>
            <p:cNvGrpSpPr>
              <a:grpSpLocks/>
            </p:cNvGrpSpPr>
            <p:nvPr/>
          </p:nvGrpSpPr>
          <p:grpSpPr bwMode="auto">
            <a:xfrm>
              <a:off x="4167" y="697"/>
              <a:ext cx="1027" cy="250"/>
              <a:chOff x="4167" y="697"/>
              <a:chExt cx="1027" cy="250"/>
            </a:xfrm>
          </p:grpSpPr>
          <p:sp>
            <p:nvSpPr>
              <p:cNvPr id="56388" name="Line 28"/>
              <p:cNvSpPr>
                <a:spLocks noChangeShapeType="1"/>
              </p:cNvSpPr>
              <p:nvPr/>
            </p:nvSpPr>
            <p:spPr bwMode="auto">
              <a:xfrm flipH="1">
                <a:off x="4167" y="847"/>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89" name="Text Box 29"/>
              <p:cNvSpPr txBox="1">
                <a:spLocks noChangeArrowheads="1"/>
              </p:cNvSpPr>
              <p:nvPr/>
            </p:nvSpPr>
            <p:spPr bwMode="auto">
              <a:xfrm>
                <a:off x="4411" y="697"/>
                <a:ext cx="78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i="1">
                    <a:solidFill>
                      <a:srgbClr val="333399"/>
                    </a:solidFill>
                    <a:latin typeface="Arial" pitchFamily="34" charset="0"/>
                    <a:ea typeface="黑体" pitchFamily="49" charset="-122"/>
                  </a:rPr>
                  <a:t>  t</a:t>
                </a:r>
                <a:r>
                  <a:rPr kumimoji="1" lang="en-US" altLang="zh-CN">
                    <a:solidFill>
                      <a:srgbClr val="333399"/>
                    </a:solidFill>
                    <a:latin typeface="Arial" pitchFamily="34" charset="0"/>
                    <a:ea typeface="黑体" pitchFamily="49" charset="-122"/>
                  </a:rPr>
                  <a:t> = </a:t>
                </a:r>
                <a:r>
                  <a:rPr kumimoji="1" lang="en-US" altLang="zh-CN">
                    <a:solidFill>
                      <a:srgbClr val="333399"/>
                    </a:solidFill>
                    <a:sym typeface="Symbol" pitchFamily="18" charset="2"/>
                  </a:rPr>
                  <a:t></a:t>
                </a:r>
                <a:r>
                  <a:rPr kumimoji="1" lang="en-US" altLang="zh-CN">
                    <a:solidFill>
                      <a:srgbClr val="333399"/>
                    </a:solidFill>
                    <a:latin typeface="Arial" pitchFamily="34" charset="0"/>
                    <a:ea typeface="黑体" pitchFamily="49" charset="-122"/>
                  </a:rPr>
                  <a:t> </a:t>
                </a:r>
                <a:r>
                  <a:rPr kumimoji="1" lang="en-US" altLang="zh-CN">
                    <a:solidFill>
                      <a:srgbClr val="333399"/>
                    </a:solidFill>
                    <a:latin typeface="Arial" pitchFamily="34" charset="0"/>
                    <a:ea typeface="黑体" pitchFamily="49" charset="-122"/>
                    <a:sym typeface="Symbol" pitchFamily="18" charset="2"/>
                  </a:rPr>
                  <a:t> </a:t>
                </a:r>
                <a:r>
                  <a:rPr kumimoji="1" lang="en-US" altLang="zh-CN" baseline="30000">
                    <a:solidFill>
                      <a:srgbClr val="333399"/>
                    </a:solidFill>
                    <a:latin typeface="Arial" pitchFamily="34" charset="0"/>
                    <a:ea typeface="黑体" pitchFamily="49" charset="-122"/>
                  </a:rPr>
                  <a:t> </a:t>
                </a:r>
              </a:p>
            </p:txBody>
          </p:sp>
        </p:grpSp>
        <p:grpSp>
          <p:nvGrpSpPr>
            <p:cNvPr id="56385" name="Group 30"/>
            <p:cNvGrpSpPr>
              <a:grpSpLocks/>
            </p:cNvGrpSpPr>
            <p:nvPr/>
          </p:nvGrpSpPr>
          <p:grpSpPr bwMode="auto">
            <a:xfrm>
              <a:off x="4286" y="336"/>
              <a:ext cx="1043" cy="256"/>
              <a:chOff x="4286" y="336"/>
              <a:chExt cx="1043" cy="256"/>
            </a:xfrm>
          </p:grpSpPr>
          <p:sp>
            <p:nvSpPr>
              <p:cNvPr id="56386" name="AutoShape 31"/>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a:solidFill>
                    <a:srgbClr val="333399"/>
                  </a:solidFill>
                  <a:latin typeface="Arial" pitchFamily="34" charset="0"/>
                  <a:ea typeface="黑体" pitchFamily="49" charset="-122"/>
                </a:endParaRPr>
              </a:p>
            </p:txBody>
          </p:sp>
          <p:sp>
            <p:nvSpPr>
              <p:cNvPr id="56387" name="Text Box 32"/>
              <p:cNvSpPr txBox="1">
                <a:spLocks noChangeArrowheads="1"/>
              </p:cNvSpPr>
              <p:nvPr/>
            </p:nvSpPr>
            <p:spPr bwMode="auto">
              <a:xfrm>
                <a:off x="4286" y="336"/>
                <a:ext cx="99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a:solidFill>
                      <a:srgbClr val="333399"/>
                    </a:solidFill>
                    <a:latin typeface="Arial" pitchFamily="34" charset="0"/>
                    <a:ea typeface="黑体" pitchFamily="49" charset="-122"/>
                  </a:rPr>
                  <a:t>  B </a:t>
                </a:r>
                <a:r>
                  <a:rPr kumimoji="1" lang="zh-CN" altLang="en-US">
                    <a:solidFill>
                      <a:srgbClr val="333399"/>
                    </a:solidFill>
                    <a:latin typeface="Arial" pitchFamily="34" charset="0"/>
                    <a:ea typeface="黑体" pitchFamily="49" charset="-122"/>
                  </a:rPr>
                  <a:t>发送数据</a:t>
                </a:r>
              </a:p>
            </p:txBody>
          </p:sp>
        </p:grpSp>
      </p:grpSp>
      <p:grpSp>
        <p:nvGrpSpPr>
          <p:cNvPr id="56340" name="Group 33"/>
          <p:cNvGrpSpPr>
            <a:grpSpLocks/>
          </p:cNvGrpSpPr>
          <p:nvPr/>
        </p:nvGrpSpPr>
        <p:grpSpPr bwMode="auto">
          <a:xfrm>
            <a:off x="4067175" y="1373188"/>
            <a:ext cx="3725863" cy="1006475"/>
            <a:chOff x="2562" y="865"/>
            <a:chExt cx="2347" cy="634"/>
          </a:xfrm>
        </p:grpSpPr>
        <p:grpSp>
          <p:nvGrpSpPr>
            <p:cNvPr id="56379" name="Group 34"/>
            <p:cNvGrpSpPr>
              <a:grpSpLocks/>
            </p:cNvGrpSpPr>
            <p:nvPr/>
          </p:nvGrpSpPr>
          <p:grpSpPr bwMode="auto">
            <a:xfrm>
              <a:off x="2562" y="1240"/>
              <a:ext cx="1546" cy="259"/>
              <a:chOff x="2562" y="1240"/>
              <a:chExt cx="1546" cy="259"/>
            </a:xfrm>
          </p:grpSpPr>
          <p:sp>
            <p:nvSpPr>
              <p:cNvPr id="56382" name="AutoShape 35"/>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a:solidFill>
                    <a:srgbClr val="333399"/>
                  </a:solidFill>
                  <a:latin typeface="Arial" pitchFamily="34" charset="0"/>
                  <a:ea typeface="黑体" pitchFamily="49" charset="-122"/>
                </a:endParaRPr>
              </a:p>
            </p:txBody>
          </p:sp>
          <p:sp>
            <p:nvSpPr>
              <p:cNvPr id="56383" name="Text Box 36"/>
              <p:cNvSpPr txBox="1">
                <a:spLocks noChangeArrowheads="1"/>
              </p:cNvSpPr>
              <p:nvPr/>
            </p:nvSpPr>
            <p:spPr bwMode="auto">
              <a:xfrm>
                <a:off x="2562" y="1240"/>
                <a:ext cx="15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a:solidFill>
                      <a:srgbClr val="333399"/>
                    </a:solidFill>
                    <a:latin typeface="Arial" pitchFamily="34" charset="0"/>
                    <a:ea typeface="黑体" pitchFamily="49" charset="-122"/>
                  </a:rPr>
                  <a:t>B </a:t>
                </a:r>
                <a:r>
                  <a:rPr kumimoji="1" lang="zh-CN" altLang="en-US">
                    <a:solidFill>
                      <a:srgbClr val="333399"/>
                    </a:solidFill>
                    <a:latin typeface="Arial" pitchFamily="34" charset="0"/>
                    <a:ea typeface="黑体" pitchFamily="49" charset="-122"/>
                  </a:rPr>
                  <a:t>检测到发生碰撞</a:t>
                </a:r>
              </a:p>
            </p:txBody>
          </p:sp>
        </p:grpSp>
        <p:sp>
          <p:nvSpPr>
            <p:cNvPr id="56380" name="Line 37"/>
            <p:cNvSpPr>
              <a:spLocks noChangeShapeType="1"/>
            </p:cNvSpPr>
            <p:nvPr/>
          </p:nvSpPr>
          <p:spPr bwMode="auto">
            <a:xfrm flipH="1">
              <a:off x="4167" y="964"/>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81" name="Text Box 38"/>
            <p:cNvSpPr txBox="1">
              <a:spLocks noChangeArrowheads="1"/>
            </p:cNvSpPr>
            <p:nvPr/>
          </p:nvSpPr>
          <p:spPr bwMode="auto">
            <a:xfrm>
              <a:off x="4410" y="865"/>
              <a:ext cx="4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i="1">
                  <a:solidFill>
                    <a:srgbClr val="333399"/>
                  </a:solidFill>
                  <a:latin typeface="Arial" pitchFamily="34" charset="0"/>
                  <a:ea typeface="黑体" pitchFamily="49" charset="-122"/>
                </a:rPr>
                <a:t>  t</a:t>
              </a:r>
              <a:r>
                <a:rPr kumimoji="1" lang="en-US" altLang="zh-CN">
                  <a:solidFill>
                    <a:srgbClr val="333399"/>
                  </a:solidFill>
                  <a:latin typeface="Arial" pitchFamily="34" charset="0"/>
                  <a:ea typeface="黑体" pitchFamily="49" charset="-122"/>
                </a:rPr>
                <a:t> = </a:t>
              </a:r>
              <a:r>
                <a:rPr kumimoji="1" lang="en-US" altLang="zh-CN">
                  <a:solidFill>
                    <a:srgbClr val="333399"/>
                  </a:solidFill>
                  <a:sym typeface="Symbol" pitchFamily="18" charset="2"/>
                </a:rPr>
                <a:t></a:t>
              </a:r>
            </a:p>
          </p:txBody>
        </p:sp>
      </p:grpSp>
      <p:sp>
        <p:nvSpPr>
          <p:cNvPr id="413735" name="Rectangle 39"/>
          <p:cNvSpPr>
            <a:spLocks noChangeArrowheads="1"/>
          </p:cNvSpPr>
          <p:nvPr/>
        </p:nvSpPr>
        <p:spPr bwMode="auto">
          <a:xfrm>
            <a:off x="1692275" y="4364038"/>
            <a:ext cx="400050"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a:solidFill>
                  <a:srgbClr val="333399"/>
                </a:solidFill>
                <a:latin typeface="Arial" pitchFamily="34" charset="0"/>
                <a:ea typeface="黑体" pitchFamily="49" charset="-122"/>
              </a:rPr>
              <a:t>A</a:t>
            </a:r>
          </a:p>
        </p:txBody>
      </p:sp>
      <p:sp>
        <p:nvSpPr>
          <p:cNvPr id="413736" name="Rectangle 40"/>
          <p:cNvSpPr>
            <a:spLocks noChangeArrowheads="1"/>
          </p:cNvSpPr>
          <p:nvPr/>
        </p:nvSpPr>
        <p:spPr bwMode="auto">
          <a:xfrm>
            <a:off x="6403975" y="5141913"/>
            <a:ext cx="400050" cy="50165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a:solidFill>
                  <a:srgbClr val="333399"/>
                </a:solidFill>
                <a:latin typeface="Arial" pitchFamily="34" charset="0"/>
                <a:ea typeface="黑体" pitchFamily="49" charset="-122"/>
              </a:rPr>
              <a:t>B</a:t>
            </a:r>
          </a:p>
        </p:txBody>
      </p:sp>
      <p:grpSp>
        <p:nvGrpSpPr>
          <p:cNvPr id="413737" name="Group 41"/>
          <p:cNvGrpSpPr>
            <a:grpSpLocks/>
          </p:cNvGrpSpPr>
          <p:nvPr/>
        </p:nvGrpSpPr>
        <p:grpSpPr bwMode="auto">
          <a:xfrm>
            <a:off x="2092325" y="4437063"/>
            <a:ext cx="4100513" cy="142875"/>
            <a:chOff x="1318" y="2795"/>
            <a:chExt cx="2583" cy="90"/>
          </a:xfrm>
        </p:grpSpPr>
        <p:sp>
          <p:nvSpPr>
            <p:cNvPr id="56377" name="Rectangle 42"/>
            <p:cNvSpPr>
              <a:spLocks noChangeArrowheads="1"/>
            </p:cNvSpPr>
            <p:nvPr/>
          </p:nvSpPr>
          <p:spPr bwMode="auto">
            <a:xfrm>
              <a:off x="1318" y="2795"/>
              <a:ext cx="2462" cy="9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8" name="Line 43"/>
            <p:cNvSpPr>
              <a:spLocks noChangeShapeType="1"/>
            </p:cNvSpPr>
            <p:nvPr/>
          </p:nvSpPr>
          <p:spPr bwMode="auto">
            <a:xfrm>
              <a:off x="3780" y="2841"/>
              <a:ext cx="121"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3740" name="Group 44"/>
          <p:cNvGrpSpPr>
            <a:grpSpLocks/>
          </p:cNvGrpSpPr>
          <p:nvPr/>
        </p:nvGrpSpPr>
        <p:grpSpPr bwMode="auto">
          <a:xfrm>
            <a:off x="5810250" y="4651375"/>
            <a:ext cx="636588" cy="146050"/>
            <a:chOff x="3660" y="2930"/>
            <a:chExt cx="401" cy="92"/>
          </a:xfrm>
        </p:grpSpPr>
        <p:sp>
          <p:nvSpPr>
            <p:cNvPr id="56375" name="Rectangle 45"/>
            <p:cNvSpPr>
              <a:spLocks noChangeArrowheads="1"/>
            </p:cNvSpPr>
            <p:nvPr/>
          </p:nvSpPr>
          <p:spPr bwMode="auto">
            <a:xfrm>
              <a:off x="3780" y="2930"/>
              <a:ext cx="281" cy="92"/>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6" name="Line 46"/>
            <p:cNvSpPr>
              <a:spLocks noChangeShapeType="1"/>
            </p:cNvSpPr>
            <p:nvPr/>
          </p:nvSpPr>
          <p:spPr bwMode="auto">
            <a:xfrm flipH="1">
              <a:off x="3660" y="2976"/>
              <a:ext cx="12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13743" name="Line 47"/>
          <p:cNvSpPr>
            <a:spLocks noChangeShapeType="1"/>
          </p:cNvSpPr>
          <p:nvPr/>
        </p:nvSpPr>
        <p:spPr bwMode="auto">
          <a:xfrm>
            <a:off x="6345238" y="5284788"/>
            <a:ext cx="19050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13744" name="Group 48"/>
          <p:cNvGrpSpPr>
            <a:grpSpLocks/>
          </p:cNvGrpSpPr>
          <p:nvPr/>
        </p:nvGrpSpPr>
        <p:grpSpPr bwMode="auto">
          <a:xfrm>
            <a:off x="1692275" y="5903913"/>
            <a:ext cx="5111750" cy="503237"/>
            <a:chOff x="1066" y="3719"/>
            <a:chExt cx="3220" cy="317"/>
          </a:xfrm>
        </p:grpSpPr>
        <p:sp>
          <p:nvSpPr>
            <p:cNvPr id="56370" name="Rectangle 49"/>
            <p:cNvSpPr>
              <a:spLocks noChangeArrowheads="1"/>
            </p:cNvSpPr>
            <p:nvPr/>
          </p:nvSpPr>
          <p:spPr bwMode="auto">
            <a:xfrm>
              <a:off x="1298" y="3900"/>
              <a:ext cx="720" cy="92"/>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1" name="Rectangle 50"/>
            <p:cNvSpPr>
              <a:spLocks noChangeArrowheads="1"/>
            </p:cNvSpPr>
            <p:nvPr/>
          </p:nvSpPr>
          <p:spPr bwMode="auto">
            <a:xfrm>
              <a:off x="1298" y="3765"/>
              <a:ext cx="2763" cy="9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2" name="Rectangle 51"/>
            <p:cNvSpPr>
              <a:spLocks noChangeArrowheads="1"/>
            </p:cNvSpPr>
            <p:nvPr/>
          </p:nvSpPr>
          <p:spPr bwMode="auto">
            <a:xfrm>
              <a:off x="1066" y="3719"/>
              <a:ext cx="252" cy="317"/>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a:solidFill>
                    <a:srgbClr val="333399"/>
                  </a:solidFill>
                  <a:latin typeface="Arial" pitchFamily="34" charset="0"/>
                  <a:ea typeface="黑体" pitchFamily="49" charset="-122"/>
                </a:rPr>
                <a:t>A</a:t>
              </a:r>
            </a:p>
          </p:txBody>
        </p:sp>
        <p:sp>
          <p:nvSpPr>
            <p:cNvPr id="56373" name="Rectangle 52"/>
            <p:cNvSpPr>
              <a:spLocks noChangeArrowheads="1"/>
            </p:cNvSpPr>
            <p:nvPr/>
          </p:nvSpPr>
          <p:spPr bwMode="auto">
            <a:xfrm>
              <a:off x="4034" y="3719"/>
              <a:ext cx="252" cy="317"/>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a:solidFill>
                    <a:srgbClr val="333399"/>
                  </a:solidFill>
                  <a:latin typeface="Arial" pitchFamily="34" charset="0"/>
                  <a:ea typeface="黑体" pitchFamily="49" charset="-122"/>
                </a:rPr>
                <a:t>B</a:t>
              </a:r>
            </a:p>
          </p:txBody>
        </p:sp>
        <p:sp>
          <p:nvSpPr>
            <p:cNvPr id="56374" name="Line 53"/>
            <p:cNvSpPr>
              <a:spLocks noChangeShapeType="1"/>
            </p:cNvSpPr>
            <p:nvPr/>
          </p:nvSpPr>
          <p:spPr bwMode="auto">
            <a:xfrm flipH="1">
              <a:off x="1217" y="3946"/>
              <a:ext cx="12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13750" name="Rectangle 54"/>
          <p:cNvSpPr>
            <a:spLocks noChangeArrowheads="1"/>
          </p:cNvSpPr>
          <p:nvPr/>
        </p:nvSpPr>
        <p:spPr bwMode="auto">
          <a:xfrm>
            <a:off x="6319838" y="3817938"/>
            <a:ext cx="127000" cy="146050"/>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751" name="Rectangle 55"/>
          <p:cNvSpPr>
            <a:spLocks noChangeArrowheads="1"/>
          </p:cNvSpPr>
          <p:nvPr/>
        </p:nvSpPr>
        <p:spPr bwMode="auto">
          <a:xfrm>
            <a:off x="2092325" y="3602038"/>
            <a:ext cx="3400425" cy="144462"/>
          </a:xfrm>
          <a:prstGeom prst="rect">
            <a:avLst/>
          </a:prstGeom>
          <a:solidFill>
            <a:schemeClr val="accent1"/>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752" name="Rectangle 56"/>
          <p:cNvSpPr>
            <a:spLocks noChangeArrowheads="1"/>
          </p:cNvSpPr>
          <p:nvPr/>
        </p:nvSpPr>
        <p:spPr bwMode="auto">
          <a:xfrm>
            <a:off x="1692275" y="3530600"/>
            <a:ext cx="400050"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a:solidFill>
                  <a:srgbClr val="333399"/>
                </a:solidFill>
                <a:latin typeface="Arial" pitchFamily="34" charset="0"/>
                <a:ea typeface="黑体" pitchFamily="49" charset="-122"/>
              </a:rPr>
              <a:t>A</a:t>
            </a:r>
          </a:p>
        </p:txBody>
      </p:sp>
      <p:sp>
        <p:nvSpPr>
          <p:cNvPr id="413753" name="Rectangle 57"/>
          <p:cNvSpPr>
            <a:spLocks noChangeArrowheads="1"/>
          </p:cNvSpPr>
          <p:nvPr/>
        </p:nvSpPr>
        <p:spPr bwMode="auto">
          <a:xfrm>
            <a:off x="6403975" y="3530600"/>
            <a:ext cx="400050"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a:solidFill>
                  <a:srgbClr val="333399"/>
                </a:solidFill>
                <a:latin typeface="Arial" pitchFamily="34" charset="0"/>
                <a:ea typeface="黑体" pitchFamily="49" charset="-122"/>
              </a:rPr>
              <a:t>B</a:t>
            </a:r>
          </a:p>
        </p:txBody>
      </p:sp>
      <p:sp>
        <p:nvSpPr>
          <p:cNvPr id="413754" name="Line 58"/>
          <p:cNvSpPr>
            <a:spLocks noChangeShapeType="1"/>
          </p:cNvSpPr>
          <p:nvPr/>
        </p:nvSpPr>
        <p:spPr bwMode="auto">
          <a:xfrm>
            <a:off x="5492750" y="3675063"/>
            <a:ext cx="19050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3755" name="Line 59"/>
          <p:cNvSpPr>
            <a:spLocks noChangeShapeType="1"/>
          </p:cNvSpPr>
          <p:nvPr/>
        </p:nvSpPr>
        <p:spPr bwMode="auto">
          <a:xfrm flipH="1">
            <a:off x="6129338" y="3889375"/>
            <a:ext cx="19050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3756" name="Text Box 60"/>
          <p:cNvSpPr txBox="1">
            <a:spLocks noChangeArrowheads="1"/>
          </p:cNvSpPr>
          <p:nvPr/>
        </p:nvSpPr>
        <p:spPr bwMode="auto">
          <a:xfrm>
            <a:off x="293688" y="2374900"/>
            <a:ext cx="1325562" cy="123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a:lnSpc>
                <a:spcPct val="90000"/>
              </a:lnSpc>
            </a:pPr>
            <a:r>
              <a:rPr kumimoji="1" lang="en-US" altLang="zh-CN" i="1">
                <a:solidFill>
                  <a:srgbClr val="333399"/>
                </a:solidFill>
                <a:latin typeface="Arial" pitchFamily="34" charset="0"/>
                <a:ea typeface="黑体" pitchFamily="49" charset="-122"/>
              </a:rPr>
              <a:t> t</a:t>
            </a:r>
            <a:r>
              <a:rPr kumimoji="1" lang="en-US" altLang="zh-CN">
                <a:solidFill>
                  <a:srgbClr val="333399"/>
                </a:solidFill>
                <a:latin typeface="Arial" pitchFamily="34" charset="0"/>
                <a:ea typeface="黑体" pitchFamily="49" charset="-122"/>
              </a:rPr>
              <a:t> = 0</a:t>
            </a:r>
            <a:endParaRPr kumimoji="1" lang="en-US" altLang="zh-CN" baseline="30000">
              <a:solidFill>
                <a:srgbClr val="333399"/>
              </a:solidFill>
              <a:latin typeface="Arial" pitchFamily="34" charset="0"/>
              <a:ea typeface="黑体" pitchFamily="49" charset="-122"/>
            </a:endParaRPr>
          </a:p>
          <a:p>
            <a:pPr algn="ctr">
              <a:lnSpc>
                <a:spcPct val="95000"/>
              </a:lnSpc>
            </a:pPr>
            <a:r>
              <a:rPr kumimoji="1" lang="en-US" altLang="zh-CN">
                <a:solidFill>
                  <a:srgbClr val="333399"/>
                </a:solidFill>
                <a:latin typeface="Arial" pitchFamily="34" charset="0"/>
                <a:ea typeface="黑体" pitchFamily="49" charset="-122"/>
              </a:rPr>
              <a:t>  A </a:t>
            </a:r>
            <a:r>
              <a:rPr kumimoji="1" lang="zh-CN" altLang="en-US">
                <a:solidFill>
                  <a:srgbClr val="333399"/>
                </a:solidFill>
                <a:latin typeface="Arial" pitchFamily="34" charset="0"/>
                <a:ea typeface="黑体" pitchFamily="49" charset="-122"/>
              </a:rPr>
              <a:t>检测到</a:t>
            </a:r>
          </a:p>
          <a:p>
            <a:pPr algn="ctr">
              <a:lnSpc>
                <a:spcPct val="95000"/>
              </a:lnSpc>
            </a:pPr>
            <a:r>
              <a:rPr kumimoji="1" lang="zh-CN" altLang="en-US">
                <a:solidFill>
                  <a:srgbClr val="333399"/>
                </a:solidFill>
                <a:latin typeface="Arial" pitchFamily="34" charset="0"/>
                <a:ea typeface="黑体" pitchFamily="49" charset="-122"/>
              </a:rPr>
              <a:t>信道空闲</a:t>
            </a:r>
          </a:p>
          <a:p>
            <a:pPr algn="ctr">
              <a:lnSpc>
                <a:spcPct val="95000"/>
              </a:lnSpc>
            </a:pPr>
            <a:r>
              <a:rPr kumimoji="1" lang="zh-CN" altLang="en-US">
                <a:solidFill>
                  <a:srgbClr val="333399"/>
                </a:solidFill>
                <a:latin typeface="Arial" pitchFamily="34" charset="0"/>
                <a:ea typeface="黑体" pitchFamily="49" charset="-122"/>
              </a:rPr>
              <a:t>发送数据</a:t>
            </a:r>
          </a:p>
        </p:txBody>
      </p:sp>
      <p:grpSp>
        <p:nvGrpSpPr>
          <p:cNvPr id="413757" name="Group 61"/>
          <p:cNvGrpSpPr>
            <a:grpSpLocks/>
          </p:cNvGrpSpPr>
          <p:nvPr/>
        </p:nvGrpSpPr>
        <p:grpSpPr bwMode="auto">
          <a:xfrm>
            <a:off x="1995488" y="2808288"/>
            <a:ext cx="446087" cy="142875"/>
            <a:chOff x="1176" y="1872"/>
            <a:chExt cx="336" cy="96"/>
          </a:xfrm>
        </p:grpSpPr>
        <p:sp>
          <p:nvSpPr>
            <p:cNvPr id="56368" name="Rectangle 62"/>
            <p:cNvSpPr>
              <a:spLocks noChangeArrowheads="1"/>
            </p:cNvSpPr>
            <p:nvPr/>
          </p:nvSpPr>
          <p:spPr bwMode="auto">
            <a:xfrm>
              <a:off x="1176" y="1872"/>
              <a:ext cx="192" cy="9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9" name="Line 63"/>
            <p:cNvSpPr>
              <a:spLocks noChangeShapeType="1"/>
            </p:cNvSpPr>
            <p:nvPr/>
          </p:nvSpPr>
          <p:spPr bwMode="auto">
            <a:xfrm>
              <a:off x="1368" y="1926"/>
              <a:ext cx="144"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13760" name="Rectangle 64"/>
          <p:cNvSpPr>
            <a:spLocks noChangeArrowheads="1"/>
          </p:cNvSpPr>
          <p:nvPr/>
        </p:nvSpPr>
        <p:spPr bwMode="auto">
          <a:xfrm>
            <a:off x="1692275" y="2736850"/>
            <a:ext cx="400050" cy="503238"/>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a:solidFill>
                  <a:srgbClr val="333399"/>
                </a:solidFill>
                <a:latin typeface="Arial" pitchFamily="34" charset="0"/>
                <a:ea typeface="黑体" pitchFamily="49" charset="-122"/>
              </a:rPr>
              <a:t>A</a:t>
            </a:r>
          </a:p>
        </p:txBody>
      </p:sp>
      <p:sp>
        <p:nvSpPr>
          <p:cNvPr id="413761" name="Rectangle 65"/>
          <p:cNvSpPr>
            <a:spLocks noChangeArrowheads="1"/>
          </p:cNvSpPr>
          <p:nvPr/>
        </p:nvSpPr>
        <p:spPr bwMode="auto">
          <a:xfrm>
            <a:off x="6403975" y="2736850"/>
            <a:ext cx="400050" cy="503238"/>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a:solidFill>
                  <a:srgbClr val="333399"/>
                </a:solidFill>
                <a:latin typeface="Arial" pitchFamily="34" charset="0"/>
                <a:ea typeface="黑体" pitchFamily="49" charset="-122"/>
              </a:rPr>
              <a:t>B</a:t>
            </a:r>
          </a:p>
        </p:txBody>
      </p:sp>
      <p:sp>
        <p:nvSpPr>
          <p:cNvPr id="56357" name="Text Box 66"/>
          <p:cNvSpPr txBox="1">
            <a:spLocks noChangeArrowheads="1"/>
          </p:cNvSpPr>
          <p:nvPr/>
        </p:nvSpPr>
        <p:spPr bwMode="auto">
          <a:xfrm>
            <a:off x="779463" y="447675"/>
            <a:ext cx="682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i="1">
                <a:solidFill>
                  <a:srgbClr val="333399"/>
                </a:solidFill>
                <a:latin typeface="Arial" pitchFamily="34" charset="0"/>
                <a:ea typeface="黑体" pitchFamily="49" charset="-122"/>
              </a:rPr>
              <a:t>t</a:t>
            </a:r>
            <a:r>
              <a:rPr kumimoji="1" lang="en-US" altLang="zh-CN">
                <a:solidFill>
                  <a:srgbClr val="333399"/>
                </a:solidFill>
                <a:latin typeface="Arial" pitchFamily="34" charset="0"/>
                <a:ea typeface="黑体" pitchFamily="49" charset="-122"/>
              </a:rPr>
              <a:t> = 0</a:t>
            </a:r>
            <a:endParaRPr kumimoji="1" lang="en-US" altLang="zh-CN" baseline="30000">
              <a:solidFill>
                <a:srgbClr val="333399"/>
              </a:solidFill>
              <a:latin typeface="Arial" pitchFamily="34" charset="0"/>
              <a:ea typeface="黑体" pitchFamily="49" charset="-122"/>
            </a:endParaRPr>
          </a:p>
        </p:txBody>
      </p:sp>
      <p:sp>
        <p:nvSpPr>
          <p:cNvPr id="56358" name="Line 67"/>
          <p:cNvSpPr>
            <a:spLocks noChangeShapeType="1"/>
          </p:cNvSpPr>
          <p:nvPr/>
        </p:nvSpPr>
        <p:spPr bwMode="auto">
          <a:xfrm>
            <a:off x="1449388" y="652463"/>
            <a:ext cx="41275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13764" name="Group 68"/>
          <p:cNvGrpSpPr>
            <a:grpSpLocks/>
          </p:cNvGrpSpPr>
          <p:nvPr/>
        </p:nvGrpSpPr>
        <p:grpSpPr bwMode="auto">
          <a:xfrm>
            <a:off x="4500563" y="4921250"/>
            <a:ext cx="4578350" cy="915988"/>
            <a:chOff x="2835" y="3100"/>
            <a:chExt cx="2884" cy="577"/>
          </a:xfrm>
        </p:grpSpPr>
        <p:sp>
          <p:nvSpPr>
            <p:cNvPr id="56366" name="Text Box 69"/>
            <p:cNvSpPr txBox="1">
              <a:spLocks noChangeArrowheads="1"/>
            </p:cNvSpPr>
            <p:nvPr/>
          </p:nvSpPr>
          <p:spPr bwMode="auto">
            <a:xfrm>
              <a:off x="4332" y="3100"/>
              <a:ext cx="1387"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pPr>
                <a:lnSpc>
                  <a:spcPct val="90000"/>
                </a:lnSpc>
              </a:pPr>
              <a:r>
                <a:rPr kumimoji="1" lang="en-US" altLang="zh-CN" i="1">
                  <a:solidFill>
                    <a:srgbClr val="333399"/>
                  </a:solidFill>
                  <a:latin typeface="Arial" pitchFamily="34" charset="0"/>
                  <a:ea typeface="黑体" pitchFamily="49" charset="-122"/>
                </a:rPr>
                <a:t>t</a:t>
              </a:r>
              <a:r>
                <a:rPr kumimoji="1" lang="en-US" altLang="zh-CN">
                  <a:solidFill>
                    <a:srgbClr val="333399"/>
                  </a:solidFill>
                  <a:latin typeface="Arial" pitchFamily="34" charset="0"/>
                  <a:ea typeface="黑体" pitchFamily="49" charset="-122"/>
                </a:rPr>
                <a:t> = </a:t>
              </a:r>
              <a:r>
                <a:rPr kumimoji="1" lang="en-US" altLang="zh-CN">
                  <a:solidFill>
                    <a:srgbClr val="333399"/>
                  </a:solidFill>
                  <a:sym typeface="Symbol" pitchFamily="18" charset="2"/>
                </a:rPr>
                <a:t></a:t>
              </a:r>
              <a:endParaRPr kumimoji="1" lang="en-US" altLang="zh-CN" baseline="30000">
                <a:solidFill>
                  <a:srgbClr val="333399"/>
                </a:solidFill>
                <a:latin typeface="Arial" pitchFamily="34" charset="0"/>
                <a:ea typeface="黑体" pitchFamily="49" charset="-122"/>
              </a:endParaRPr>
            </a:p>
            <a:p>
              <a:pPr>
                <a:lnSpc>
                  <a:spcPct val="90000"/>
                </a:lnSpc>
              </a:pPr>
              <a:r>
                <a:rPr kumimoji="1" lang="en-US" altLang="zh-CN">
                  <a:solidFill>
                    <a:srgbClr val="333399"/>
                  </a:solidFill>
                  <a:latin typeface="Arial" pitchFamily="34" charset="0"/>
                  <a:ea typeface="黑体" pitchFamily="49" charset="-122"/>
                </a:rPr>
                <a:t>B </a:t>
              </a:r>
              <a:r>
                <a:rPr kumimoji="1" lang="zh-CN" altLang="en-US">
                  <a:solidFill>
                    <a:srgbClr val="333399"/>
                  </a:solidFill>
                  <a:latin typeface="Arial" pitchFamily="34" charset="0"/>
                  <a:ea typeface="黑体" pitchFamily="49" charset="-122"/>
                </a:rPr>
                <a:t>检测到发生碰撞</a:t>
              </a:r>
            </a:p>
            <a:p>
              <a:pPr>
                <a:lnSpc>
                  <a:spcPct val="90000"/>
                </a:lnSpc>
              </a:pPr>
              <a:r>
                <a:rPr kumimoji="1" lang="zh-CN" altLang="en-US">
                  <a:solidFill>
                    <a:srgbClr val="333399"/>
                  </a:solidFill>
                  <a:latin typeface="Arial" pitchFamily="34" charset="0"/>
                  <a:ea typeface="黑体" pitchFamily="49" charset="-122"/>
                </a:rPr>
                <a:t>停止发送</a:t>
              </a:r>
            </a:p>
          </p:txBody>
        </p:sp>
        <p:sp>
          <p:nvSpPr>
            <p:cNvPr id="56367" name="Text Box 70"/>
            <p:cNvSpPr txBox="1">
              <a:spLocks noChangeArrowheads="1"/>
            </p:cNvSpPr>
            <p:nvPr/>
          </p:nvSpPr>
          <p:spPr bwMode="auto">
            <a:xfrm>
              <a:off x="2835" y="3339"/>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en-US" altLang="zh-CN" b="1">
                  <a:solidFill>
                    <a:schemeClr val="hlink"/>
                  </a:solidFill>
                </a:rPr>
                <a:t>STOP</a:t>
              </a:r>
            </a:p>
          </p:txBody>
        </p:sp>
      </p:grpSp>
      <p:grpSp>
        <p:nvGrpSpPr>
          <p:cNvPr id="413767" name="Group 71"/>
          <p:cNvGrpSpPr>
            <a:grpSpLocks/>
          </p:cNvGrpSpPr>
          <p:nvPr/>
        </p:nvGrpSpPr>
        <p:grpSpPr bwMode="auto">
          <a:xfrm>
            <a:off x="323850" y="5661025"/>
            <a:ext cx="2592388" cy="939800"/>
            <a:chOff x="204" y="3566"/>
            <a:chExt cx="1633" cy="592"/>
          </a:xfrm>
        </p:grpSpPr>
        <p:sp>
          <p:nvSpPr>
            <p:cNvPr id="56364" name="Text Box 72"/>
            <p:cNvSpPr txBox="1">
              <a:spLocks noChangeArrowheads="1"/>
            </p:cNvSpPr>
            <p:nvPr/>
          </p:nvSpPr>
          <p:spPr bwMode="auto">
            <a:xfrm>
              <a:off x="204" y="3581"/>
              <a:ext cx="756"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pPr>
                <a:lnSpc>
                  <a:spcPct val="90000"/>
                </a:lnSpc>
              </a:pPr>
              <a:r>
                <a:rPr kumimoji="1" lang="en-US" altLang="zh-CN" i="1">
                  <a:solidFill>
                    <a:srgbClr val="333399"/>
                  </a:solidFill>
                  <a:latin typeface="Arial" pitchFamily="34" charset="0"/>
                  <a:ea typeface="黑体" pitchFamily="49" charset="-122"/>
                </a:rPr>
                <a:t>t</a:t>
              </a:r>
              <a:r>
                <a:rPr kumimoji="1" lang="en-US" altLang="zh-CN">
                  <a:solidFill>
                    <a:srgbClr val="333399"/>
                  </a:solidFill>
                  <a:latin typeface="Arial" pitchFamily="34" charset="0"/>
                  <a:ea typeface="黑体" pitchFamily="49" charset="-122"/>
                </a:rPr>
                <a:t> = 2</a:t>
              </a:r>
              <a:r>
                <a:rPr kumimoji="1" lang="en-US" altLang="zh-CN">
                  <a:solidFill>
                    <a:srgbClr val="333399"/>
                  </a:solidFill>
                  <a:sym typeface="Symbol" pitchFamily="18" charset="2"/>
                </a:rPr>
                <a:t></a:t>
              </a:r>
              <a:r>
                <a:rPr kumimoji="1" lang="en-US" altLang="zh-CN">
                  <a:solidFill>
                    <a:srgbClr val="333399"/>
                  </a:solidFill>
                  <a:latin typeface="Arial" pitchFamily="34" charset="0"/>
                  <a:ea typeface="黑体" pitchFamily="49" charset="-122"/>
                </a:rPr>
                <a:t> </a:t>
              </a:r>
              <a:r>
                <a:rPr kumimoji="1" lang="en-US" altLang="zh-CN">
                  <a:solidFill>
                    <a:srgbClr val="333399"/>
                  </a:solidFill>
                  <a:latin typeface="Arial" pitchFamily="34" charset="0"/>
                  <a:ea typeface="黑体" pitchFamily="49" charset="-122"/>
                  <a:sym typeface="Symbol" pitchFamily="18" charset="2"/>
                </a:rPr>
                <a:t> </a:t>
              </a:r>
              <a:endParaRPr kumimoji="1" lang="en-US" altLang="zh-CN" baseline="30000">
                <a:solidFill>
                  <a:srgbClr val="333399"/>
                </a:solidFill>
                <a:latin typeface="Arial" pitchFamily="34" charset="0"/>
                <a:ea typeface="黑体" pitchFamily="49" charset="-122"/>
              </a:endParaRPr>
            </a:p>
            <a:p>
              <a:pPr>
                <a:lnSpc>
                  <a:spcPct val="90000"/>
                </a:lnSpc>
              </a:pPr>
              <a:r>
                <a:rPr kumimoji="1" lang="en-US" altLang="zh-CN">
                  <a:solidFill>
                    <a:srgbClr val="333399"/>
                  </a:solidFill>
                  <a:latin typeface="Arial" pitchFamily="34" charset="0"/>
                  <a:ea typeface="黑体" pitchFamily="49" charset="-122"/>
                </a:rPr>
                <a:t>A </a:t>
              </a:r>
              <a:r>
                <a:rPr kumimoji="1" lang="zh-CN" altLang="en-US">
                  <a:solidFill>
                    <a:srgbClr val="333399"/>
                  </a:solidFill>
                  <a:latin typeface="Arial" pitchFamily="34" charset="0"/>
                  <a:ea typeface="黑体" pitchFamily="49" charset="-122"/>
                </a:rPr>
                <a:t>检测到</a:t>
              </a:r>
            </a:p>
            <a:p>
              <a:pPr>
                <a:lnSpc>
                  <a:spcPct val="90000"/>
                </a:lnSpc>
              </a:pPr>
              <a:r>
                <a:rPr kumimoji="1" lang="zh-CN" altLang="en-US">
                  <a:solidFill>
                    <a:srgbClr val="333399"/>
                  </a:solidFill>
                  <a:latin typeface="Arial" pitchFamily="34" charset="0"/>
                  <a:ea typeface="黑体" pitchFamily="49" charset="-122"/>
                </a:rPr>
                <a:t>发生碰撞</a:t>
              </a:r>
            </a:p>
          </p:txBody>
        </p:sp>
        <p:sp>
          <p:nvSpPr>
            <p:cNvPr id="56365" name="Text Box 73"/>
            <p:cNvSpPr txBox="1">
              <a:spLocks noChangeArrowheads="1"/>
            </p:cNvSpPr>
            <p:nvPr/>
          </p:nvSpPr>
          <p:spPr bwMode="auto">
            <a:xfrm>
              <a:off x="1294" y="3566"/>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en-US" altLang="zh-CN" b="1">
                  <a:solidFill>
                    <a:schemeClr val="hlink"/>
                  </a:solidFill>
                </a:rPr>
                <a:t>STOP</a:t>
              </a:r>
            </a:p>
          </p:txBody>
        </p:sp>
      </p:grpSp>
      <p:sp>
        <p:nvSpPr>
          <p:cNvPr id="413770" name="Rectangle 74"/>
          <p:cNvSpPr>
            <a:spLocks noChangeArrowheads="1"/>
          </p:cNvSpPr>
          <p:nvPr/>
        </p:nvSpPr>
        <p:spPr bwMode="auto">
          <a:xfrm>
            <a:off x="1692275" y="5141913"/>
            <a:ext cx="400050" cy="50165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a:solidFill>
                  <a:srgbClr val="333399"/>
                </a:solidFill>
                <a:latin typeface="Arial" pitchFamily="34" charset="0"/>
                <a:ea typeface="黑体" pitchFamily="49" charset="-122"/>
              </a:rPr>
              <a:t>A</a:t>
            </a:r>
          </a:p>
        </p:txBody>
      </p:sp>
      <p:sp>
        <p:nvSpPr>
          <p:cNvPr id="413771" name="Rectangle 75"/>
          <p:cNvSpPr>
            <a:spLocks noChangeArrowheads="1"/>
          </p:cNvSpPr>
          <p:nvPr/>
        </p:nvSpPr>
        <p:spPr bwMode="auto">
          <a:xfrm>
            <a:off x="6403975" y="4364038"/>
            <a:ext cx="400050"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a:solidFill>
                  <a:srgbClr val="333399"/>
                </a:solidFill>
                <a:latin typeface="Arial" pitchFamily="34" charset="0"/>
                <a:ea typeface="黑体" pitchFamily="49" charset="-122"/>
              </a:rPr>
              <a:t>B</a:t>
            </a:r>
          </a:p>
        </p:txBody>
      </p:sp>
      <p:sp>
        <p:nvSpPr>
          <p:cNvPr id="56363" name="Text Box 76"/>
          <p:cNvSpPr txBox="1">
            <a:spLocks noChangeArrowheads="1"/>
          </p:cNvSpPr>
          <p:nvPr/>
        </p:nvSpPr>
        <p:spPr bwMode="auto">
          <a:xfrm>
            <a:off x="6662738" y="1781175"/>
            <a:ext cx="22304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rgbClr val="333399"/>
                </a:solidFill>
                <a:latin typeface="Arial" pitchFamily="34" charset="0"/>
                <a:ea typeface="黑体" pitchFamily="49" charset="-122"/>
              </a:rPr>
              <a:t>单程端到端</a:t>
            </a:r>
          </a:p>
          <a:p>
            <a:pPr algn="ctr" eaLnBrk="1" hangingPunct="1"/>
            <a:r>
              <a:rPr lang="zh-CN" altLang="en-US" sz="2400">
                <a:solidFill>
                  <a:srgbClr val="333399"/>
                </a:solidFill>
                <a:latin typeface="Arial" pitchFamily="34" charset="0"/>
                <a:ea typeface="黑体" pitchFamily="49" charset="-122"/>
              </a:rPr>
              <a:t>传播时延记为</a:t>
            </a:r>
            <a:r>
              <a:rPr lang="zh-CN" altLang="en-US" sz="2400" i="1">
                <a:solidFill>
                  <a:srgbClr val="333399"/>
                </a:solidFill>
                <a:latin typeface="Arial" pitchFamily="34" charset="0"/>
                <a:ea typeface="黑体" pitchFamily="49" charset="-122"/>
                <a:sym typeface="Symbol" pitchFamily="18" charset="2"/>
              </a:rPr>
              <a:t></a:t>
            </a:r>
            <a:r>
              <a:rPr lang="zh-CN" altLang="en-US" sz="2400">
                <a:solidFill>
                  <a:srgbClr val="333399"/>
                </a:solidFill>
                <a:latin typeface="Arial" pitchFamily="34" charset="0"/>
                <a:ea typeface="黑体"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137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37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37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3761"/>
                                        </p:tgtEl>
                                        <p:attrNameLst>
                                          <p:attrName>style.visibility</p:attrName>
                                        </p:attrNameLst>
                                      </p:cBhvr>
                                      <p:to>
                                        <p:strVal val="visible"/>
                                      </p:to>
                                    </p:set>
                                  </p:childTnLst>
                                </p:cTn>
                              </p:par>
                              <p:par>
                                <p:cTn id="13" presetID="35" presetClass="emph" presetSubtype="0" repeatCount="3000" fill="hold" grpId="1" nodeType="withEffect">
                                  <p:stCondLst>
                                    <p:cond delay="500"/>
                                  </p:stCondLst>
                                  <p:childTnLst>
                                    <p:anim calcmode="discrete" valueType="str">
                                      <p:cBhvr>
                                        <p:cTn id="14" dur="1000" fill="hold"/>
                                        <p:tgtEl>
                                          <p:spTgt spid="413756"/>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nodeType="withEffect">
                                  <p:stCondLst>
                                    <p:cond delay="500"/>
                                  </p:stCondLst>
                                  <p:childTnLst>
                                    <p:anim calcmode="discrete" valueType="str">
                                      <p:cBhvr>
                                        <p:cTn id="16" dur="1000" fill="hold"/>
                                        <p:tgtEl>
                                          <p:spTgt spid="41375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37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37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37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37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375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37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3714"/>
                                        </p:tgtEl>
                                        <p:attrNameLst>
                                          <p:attrName>style.visibility</p:attrName>
                                        </p:attrNameLst>
                                      </p:cBhvr>
                                      <p:to>
                                        <p:strVal val="visible"/>
                                      </p:to>
                                    </p:set>
                                  </p:childTnLst>
                                </p:cTn>
                              </p:par>
                              <p:par>
                                <p:cTn id="33" presetID="35" presetClass="emph" presetSubtype="0" repeatCount="3000" fill="hold" grpId="1" nodeType="withEffect">
                                  <p:stCondLst>
                                    <p:cond delay="500"/>
                                  </p:stCondLst>
                                  <p:childTnLst>
                                    <p:anim calcmode="discrete" valueType="str">
                                      <p:cBhvr>
                                        <p:cTn id="34" dur="1000" fill="hold"/>
                                        <p:tgtEl>
                                          <p:spTgt spid="413714"/>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grpId="1" nodeType="withEffect">
                                  <p:stCondLst>
                                    <p:cond delay="500"/>
                                  </p:stCondLst>
                                  <p:childTnLst>
                                    <p:anim calcmode="discrete" valueType="str">
                                      <p:cBhvr>
                                        <p:cTn id="36" dur="1000" fill="hold"/>
                                        <p:tgtEl>
                                          <p:spTgt spid="413750"/>
                                        </p:tgtEl>
                                        <p:attrNameLst>
                                          <p:attrName>style.visibility</p:attrName>
                                        </p:attrNameLst>
                                      </p:cBhvr>
                                      <p:tavLst>
                                        <p:tav tm="0">
                                          <p:val>
                                            <p:strVal val="hidden"/>
                                          </p:val>
                                        </p:tav>
                                        <p:tav tm="50000">
                                          <p:val>
                                            <p:strVal val="visible"/>
                                          </p:val>
                                        </p:tav>
                                      </p:tavLst>
                                    </p:anim>
                                  </p:childTnLst>
                                </p:cTn>
                              </p:par>
                              <p:par>
                                <p:cTn id="37" presetID="35" presetClass="emph" presetSubtype="0" repeatCount="3000" fill="hold" grpId="2" nodeType="withEffect">
                                  <p:stCondLst>
                                    <p:cond delay="500"/>
                                  </p:stCondLst>
                                  <p:childTnLst>
                                    <p:anim calcmode="discrete" valueType="str">
                                      <p:cBhvr>
                                        <p:cTn id="38" dur="1000" fill="hold"/>
                                        <p:tgtEl>
                                          <p:spTgt spid="413750"/>
                                        </p:tgtEl>
                                        <p:attrNameLst>
                                          <p:attrName>style.visibility</p:attrName>
                                        </p:attrNameLst>
                                      </p:cBhvr>
                                      <p:tavLst>
                                        <p:tav tm="0">
                                          <p:val>
                                            <p:strVal val="hidden"/>
                                          </p:val>
                                        </p:tav>
                                        <p:tav tm="50000">
                                          <p:val>
                                            <p:strVal val="visible"/>
                                          </p:val>
                                        </p:tav>
                                      </p:tavLst>
                                    </p:anim>
                                  </p:childTnLst>
                                </p:cTn>
                              </p:par>
                              <p:par>
                                <p:cTn id="39" presetID="35" presetClass="emph" presetSubtype="0" repeatCount="3000" fill="hold" grpId="1" nodeType="withEffect">
                                  <p:stCondLst>
                                    <p:cond delay="500"/>
                                  </p:stCondLst>
                                  <p:childTnLst>
                                    <p:anim calcmode="discrete" valueType="str">
                                      <p:cBhvr>
                                        <p:cTn id="40" dur="1000" fill="hold"/>
                                        <p:tgtEl>
                                          <p:spTgt spid="413755"/>
                                        </p:tgtEl>
                                        <p:attrNameLst>
                                          <p:attrName>style.visibility</p:attrName>
                                        </p:attrNameLst>
                                      </p:cBhvr>
                                      <p:tavLst>
                                        <p:tav tm="0">
                                          <p:val>
                                            <p:strVal val="hidden"/>
                                          </p:val>
                                        </p:tav>
                                        <p:tav tm="50000">
                                          <p:val>
                                            <p:strVal val="visible"/>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37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3771"/>
                                        </p:tgtEl>
                                        <p:attrNameLst>
                                          <p:attrName>style.visibility</p:attrName>
                                        </p:attrNameLst>
                                      </p:cBhvr>
                                      <p:to>
                                        <p:strVal val="visible"/>
                                      </p:to>
                                    </p:set>
                                  </p:childTnLst>
                                </p:cTn>
                              </p:par>
                            </p:childTnLst>
                          </p:cTn>
                        </p:par>
                        <p:par>
                          <p:cTn id="47" fill="hold" nodeType="afterGroup">
                            <p:stCondLst>
                              <p:cond delay="0"/>
                            </p:stCondLst>
                            <p:childTnLst>
                              <p:par>
                                <p:cTn id="48" presetID="22" presetClass="entr" presetSubtype="8" fill="hold" nodeType="afterEffect">
                                  <p:stCondLst>
                                    <p:cond delay="0"/>
                                  </p:stCondLst>
                                  <p:childTnLst>
                                    <p:set>
                                      <p:cBhvr>
                                        <p:cTn id="49" dur="1" fill="hold">
                                          <p:stCondLst>
                                            <p:cond delay="0"/>
                                          </p:stCondLst>
                                        </p:cTn>
                                        <p:tgtEl>
                                          <p:spTgt spid="413737"/>
                                        </p:tgtEl>
                                        <p:attrNameLst>
                                          <p:attrName>style.visibility</p:attrName>
                                        </p:attrNameLst>
                                      </p:cBhvr>
                                      <p:to>
                                        <p:strVal val="visible"/>
                                      </p:to>
                                    </p:set>
                                    <p:animEffect transition="in" filter="wipe(left)">
                                      <p:cBhvr>
                                        <p:cTn id="50" dur="7000"/>
                                        <p:tgtEl>
                                          <p:spTgt spid="413737"/>
                                        </p:tgtEl>
                                      </p:cBhvr>
                                    </p:animEffect>
                                  </p:childTnLst>
                                </p:cTn>
                              </p:par>
                              <p:par>
                                <p:cTn id="51" presetID="22" presetClass="entr" presetSubtype="2" fill="hold" nodeType="withEffect">
                                  <p:stCondLst>
                                    <p:cond delay="6000"/>
                                  </p:stCondLst>
                                  <p:childTnLst>
                                    <p:set>
                                      <p:cBhvr>
                                        <p:cTn id="52" dur="1" fill="hold">
                                          <p:stCondLst>
                                            <p:cond delay="0"/>
                                          </p:stCondLst>
                                        </p:cTn>
                                        <p:tgtEl>
                                          <p:spTgt spid="413740"/>
                                        </p:tgtEl>
                                        <p:attrNameLst>
                                          <p:attrName>style.visibility</p:attrName>
                                        </p:attrNameLst>
                                      </p:cBhvr>
                                      <p:to>
                                        <p:strVal val="visible"/>
                                      </p:to>
                                    </p:set>
                                    <p:animEffect transition="in" filter="wipe(right)">
                                      <p:cBhvr>
                                        <p:cTn id="53" dur="1000"/>
                                        <p:tgtEl>
                                          <p:spTgt spid="413740"/>
                                        </p:tgtEl>
                                      </p:cBhvr>
                                    </p:animEffect>
                                  </p:childTnLst>
                                </p:cTn>
                              </p:par>
                            </p:childTnLst>
                          </p:cTn>
                        </p:par>
                        <p:par>
                          <p:cTn id="54" fill="hold" nodeType="afterGroup">
                            <p:stCondLst>
                              <p:cond delay="7000"/>
                            </p:stCondLst>
                            <p:childTnLst>
                              <p:par>
                                <p:cTn id="55" presetID="1" presetClass="entr" presetSubtype="0" fill="hold" grpId="0" nodeType="afterEffect">
                                  <p:stCondLst>
                                    <p:cond delay="0"/>
                                  </p:stCondLst>
                                  <p:childTnLst>
                                    <p:set>
                                      <p:cBhvr>
                                        <p:cTn id="56" dur="1" fill="hold">
                                          <p:stCondLst>
                                            <p:cond delay="0"/>
                                          </p:stCondLst>
                                        </p:cTn>
                                        <p:tgtEl>
                                          <p:spTgt spid="413715"/>
                                        </p:tgtEl>
                                        <p:attrNameLst>
                                          <p:attrName>style.visibility</p:attrName>
                                        </p:attrNameLst>
                                      </p:cBhvr>
                                      <p:to>
                                        <p:strVal val="visible"/>
                                      </p:to>
                                    </p:set>
                                  </p:childTnLst>
                                </p:cTn>
                              </p:par>
                            </p:childTnLst>
                          </p:cTn>
                        </p:par>
                        <p:par>
                          <p:cTn id="57" fill="hold" nodeType="afterGroup">
                            <p:stCondLst>
                              <p:cond delay="7000"/>
                            </p:stCondLst>
                            <p:childTnLst>
                              <p:par>
                                <p:cTn id="58" presetID="35" presetClass="emph" presetSubtype="0" repeatCount="4000" fill="hold" grpId="1" nodeType="afterEffect">
                                  <p:stCondLst>
                                    <p:cond delay="0"/>
                                  </p:stCondLst>
                                  <p:childTnLst>
                                    <p:anim calcmode="discrete" valueType="str">
                                      <p:cBhvr>
                                        <p:cTn id="59" dur="1000" fill="hold"/>
                                        <p:tgtEl>
                                          <p:spTgt spid="413715"/>
                                        </p:tgtEl>
                                        <p:attrNameLst>
                                          <p:attrName>style.visibility</p:attrName>
                                        </p:attrNameLst>
                                      </p:cBhvr>
                                      <p:tavLst>
                                        <p:tav tm="0">
                                          <p:val>
                                            <p:strVal val="hidden"/>
                                          </p:val>
                                        </p:tav>
                                        <p:tav tm="50000">
                                          <p:val>
                                            <p:strVal val="visible"/>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3770"/>
                                        </p:tgtEl>
                                        <p:attrNameLst>
                                          <p:attrName>style.visibility</p:attrName>
                                        </p:attrNameLst>
                                      </p:cBhvr>
                                      <p:to>
                                        <p:strVal val="visible"/>
                                      </p:to>
                                    </p:set>
                                  </p:childTnLst>
                                </p:cTn>
                              </p:par>
                            </p:childTnLst>
                          </p:cTn>
                        </p:par>
                        <p:par>
                          <p:cTn id="64" fill="hold" nodeType="afterGroup">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413736"/>
                                        </p:tgtEl>
                                        <p:attrNameLst>
                                          <p:attrName>style.visibility</p:attrName>
                                        </p:attrNameLst>
                                      </p:cBhvr>
                                      <p:to>
                                        <p:strVal val="visible"/>
                                      </p:to>
                                    </p:set>
                                  </p:childTnLst>
                                </p:cTn>
                              </p:par>
                            </p:childTnLst>
                          </p:cTn>
                        </p:par>
                        <p:par>
                          <p:cTn id="67" fill="hold" nodeType="afterGroup">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41369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13699"/>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13743"/>
                                        </p:tgtEl>
                                        <p:attrNameLst>
                                          <p:attrName>style.visibility</p:attrName>
                                        </p:attrNameLst>
                                      </p:cBhvr>
                                      <p:to>
                                        <p:strVal val="visible"/>
                                      </p:to>
                                    </p:set>
                                  </p:childTnLst>
                                </p:cTn>
                              </p:par>
                            </p:childTnLst>
                          </p:cTn>
                        </p:par>
                        <p:par>
                          <p:cTn id="74" fill="hold" nodeType="afterGroup">
                            <p:stCondLst>
                              <p:cond delay="0"/>
                            </p:stCondLst>
                            <p:childTnLst>
                              <p:par>
                                <p:cTn id="75" presetID="1" presetClass="entr" presetSubtype="0" fill="hold" nodeType="afterEffect">
                                  <p:stCondLst>
                                    <p:cond delay="0"/>
                                  </p:stCondLst>
                                  <p:childTnLst>
                                    <p:set>
                                      <p:cBhvr>
                                        <p:cTn id="76" dur="1" fill="hold">
                                          <p:stCondLst>
                                            <p:cond delay="0"/>
                                          </p:stCondLst>
                                        </p:cTn>
                                        <p:tgtEl>
                                          <p:spTgt spid="413764"/>
                                        </p:tgtEl>
                                        <p:attrNameLst>
                                          <p:attrName>style.visibility</p:attrName>
                                        </p:attrNameLst>
                                      </p:cBhvr>
                                      <p:to>
                                        <p:strVal val="visible"/>
                                      </p:to>
                                    </p:set>
                                  </p:childTnLst>
                                </p:cTn>
                              </p:par>
                            </p:childTnLst>
                          </p:cTn>
                        </p:par>
                        <p:par>
                          <p:cTn id="77" fill="hold" nodeType="afterGroup">
                            <p:stCondLst>
                              <p:cond delay="0"/>
                            </p:stCondLst>
                            <p:childTnLst>
                              <p:par>
                                <p:cTn id="78" presetID="35" presetClass="emph" presetSubtype="0" repeatCount="3000" fill="hold" nodeType="afterEffect">
                                  <p:stCondLst>
                                    <p:cond delay="0"/>
                                  </p:stCondLst>
                                  <p:childTnLst>
                                    <p:anim calcmode="discrete" valueType="str">
                                      <p:cBhvr>
                                        <p:cTn id="79" dur="1000" fill="hold"/>
                                        <p:tgtEl>
                                          <p:spTgt spid="413764"/>
                                        </p:tgtEl>
                                        <p:attrNameLst>
                                          <p:attrName>style.visibility</p:attrName>
                                        </p:attrNameLst>
                                      </p:cBhvr>
                                      <p:tavLst>
                                        <p:tav tm="0">
                                          <p:val>
                                            <p:strVal val="hidden"/>
                                          </p:val>
                                        </p:tav>
                                        <p:tav tm="50000">
                                          <p:val>
                                            <p:strVal val="visible"/>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413744"/>
                                        </p:tgtEl>
                                        <p:attrNameLst>
                                          <p:attrName>style.visibility</p:attrName>
                                        </p:attrNameLst>
                                      </p:cBhvr>
                                      <p:to>
                                        <p:strVal val="visible"/>
                                      </p:to>
                                    </p:set>
                                  </p:childTnLst>
                                </p:cTn>
                              </p:par>
                            </p:childTnLst>
                          </p:cTn>
                        </p:par>
                        <p:par>
                          <p:cTn id="84" fill="hold" nodeType="afterGroup">
                            <p:stCondLst>
                              <p:cond delay="0"/>
                            </p:stCondLst>
                            <p:childTnLst>
                              <p:par>
                                <p:cTn id="85" presetID="1" presetClass="entr" presetSubtype="0" fill="hold" nodeType="afterEffect">
                                  <p:stCondLst>
                                    <p:cond delay="0"/>
                                  </p:stCondLst>
                                  <p:childTnLst>
                                    <p:set>
                                      <p:cBhvr>
                                        <p:cTn id="86" dur="1" fill="hold">
                                          <p:stCondLst>
                                            <p:cond delay="0"/>
                                          </p:stCondLst>
                                        </p:cTn>
                                        <p:tgtEl>
                                          <p:spTgt spid="413767"/>
                                        </p:tgtEl>
                                        <p:attrNameLst>
                                          <p:attrName>style.visibility</p:attrName>
                                        </p:attrNameLst>
                                      </p:cBhvr>
                                      <p:to>
                                        <p:strVal val="visible"/>
                                      </p:to>
                                    </p:set>
                                  </p:childTnLst>
                                </p:cTn>
                              </p:par>
                            </p:childTnLst>
                          </p:cTn>
                        </p:par>
                        <p:par>
                          <p:cTn id="87" fill="hold" nodeType="afterGroup">
                            <p:stCondLst>
                              <p:cond delay="0"/>
                            </p:stCondLst>
                            <p:childTnLst>
                              <p:par>
                                <p:cTn id="88" presetID="35" presetClass="emph" presetSubtype="0" repeatCount="3000" fill="hold" nodeType="afterEffect">
                                  <p:stCondLst>
                                    <p:cond delay="0"/>
                                  </p:stCondLst>
                                  <p:childTnLst>
                                    <p:anim calcmode="discrete" valueType="str">
                                      <p:cBhvr>
                                        <p:cTn id="89" dur="1000" fill="hold"/>
                                        <p:tgtEl>
                                          <p:spTgt spid="41376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8" grpId="0" animBg="1"/>
      <p:bldP spid="413699" grpId="0" animBg="1"/>
      <p:bldP spid="413714" grpId="0"/>
      <p:bldP spid="413714" grpId="1"/>
      <p:bldP spid="413715" grpId="0"/>
      <p:bldP spid="413715" grpId="1"/>
      <p:bldP spid="413735" grpId="0" animBg="1"/>
      <p:bldP spid="413736" grpId="0" animBg="1"/>
      <p:bldP spid="413743" grpId="0" animBg="1"/>
      <p:bldP spid="413750" grpId="0" animBg="1"/>
      <p:bldP spid="413750" grpId="1" animBg="1"/>
      <p:bldP spid="413750" grpId="2" animBg="1"/>
      <p:bldP spid="413751" grpId="0" animBg="1"/>
      <p:bldP spid="413752" grpId="0" animBg="1"/>
      <p:bldP spid="413753" grpId="0" animBg="1"/>
      <p:bldP spid="413754" grpId="0" animBg="1"/>
      <p:bldP spid="413755" grpId="0" animBg="1"/>
      <p:bldP spid="413755" grpId="1" animBg="1"/>
      <p:bldP spid="413756" grpId="0"/>
      <p:bldP spid="413756" grpId="1"/>
      <p:bldP spid="413760" grpId="0" animBg="1"/>
      <p:bldP spid="413761" grpId="0" animBg="1"/>
      <p:bldP spid="413770" grpId="0" animBg="1"/>
      <p:bldP spid="41377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algn="ctr" eaLnBrk="1" hangingPunct="1"/>
            <a:r>
              <a:rPr lang="zh-CN" altLang="en-US" smtClean="0"/>
              <a:t>重要特性</a:t>
            </a:r>
          </a:p>
        </p:txBody>
      </p:sp>
      <p:sp>
        <p:nvSpPr>
          <p:cNvPr id="414723" name="Rectangle 3"/>
          <p:cNvSpPr>
            <a:spLocks noGrp="1" noChangeArrowheads="1"/>
          </p:cNvSpPr>
          <p:nvPr>
            <p:ph type="body" idx="1"/>
          </p:nvPr>
        </p:nvSpPr>
        <p:spPr>
          <a:xfrm>
            <a:off x="827088" y="1773238"/>
            <a:ext cx="8137525" cy="4319587"/>
          </a:xfrm>
        </p:spPr>
        <p:txBody>
          <a:bodyPr/>
          <a:lstStyle/>
          <a:p>
            <a:pPr eaLnBrk="1" hangingPunct="1"/>
            <a:r>
              <a:rPr lang="zh-CN" altLang="en-US" smtClean="0"/>
              <a:t>使用 </a:t>
            </a:r>
            <a:r>
              <a:rPr lang="en-US" altLang="zh-CN" smtClean="0"/>
              <a:t>CSMA/CD </a:t>
            </a:r>
            <a:r>
              <a:rPr lang="zh-CN" altLang="en-US" smtClean="0"/>
              <a:t>协议的以太网不能进行全双工通信而只能进行双向交替通信（半双工通信）。</a:t>
            </a:r>
          </a:p>
          <a:p>
            <a:pPr eaLnBrk="1" hangingPunct="1"/>
            <a:r>
              <a:rPr lang="zh-CN" altLang="en-US" smtClean="0"/>
              <a:t>每个站在发送数据之后的一小段时间内，存在着遭遇碰撞的可能性。 </a:t>
            </a:r>
          </a:p>
          <a:p>
            <a:pPr eaLnBrk="1" hangingPunct="1"/>
            <a:r>
              <a:rPr lang="zh-CN" altLang="en-US" smtClean="0"/>
              <a:t>这种</a:t>
            </a:r>
            <a:r>
              <a:rPr lang="zh-CN" altLang="en-US" smtClean="0">
                <a:solidFill>
                  <a:schemeClr val="hlink"/>
                </a:solidFill>
              </a:rPr>
              <a:t>发送的不确定性</a:t>
            </a:r>
            <a:r>
              <a:rPr lang="zh-CN" altLang="en-US" smtClean="0"/>
              <a:t>使整个以太网的平均通信量远小于以太网的最高数据率。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4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150938" y="214313"/>
            <a:ext cx="6877050" cy="1462087"/>
          </a:xfrm>
        </p:spPr>
        <p:txBody>
          <a:bodyPr/>
          <a:lstStyle/>
          <a:p>
            <a:pPr algn="ctr" eaLnBrk="1" hangingPunct="1"/>
            <a:r>
              <a:rPr lang="zh-CN" altLang="en-US" smtClean="0"/>
              <a:t>争用期</a:t>
            </a:r>
          </a:p>
        </p:txBody>
      </p:sp>
      <p:sp>
        <p:nvSpPr>
          <p:cNvPr id="415747" name="Rectangle 3"/>
          <p:cNvSpPr>
            <a:spLocks noGrp="1" noChangeArrowheads="1"/>
          </p:cNvSpPr>
          <p:nvPr>
            <p:ph type="body" idx="1"/>
          </p:nvPr>
        </p:nvSpPr>
        <p:spPr>
          <a:xfrm>
            <a:off x="827088" y="1773238"/>
            <a:ext cx="8137525" cy="4319587"/>
          </a:xfrm>
        </p:spPr>
        <p:txBody>
          <a:bodyPr/>
          <a:lstStyle/>
          <a:p>
            <a:pPr eaLnBrk="1" hangingPunct="1"/>
            <a:r>
              <a:rPr lang="zh-CN" altLang="en-US" smtClean="0"/>
              <a:t>最先发送数据帧的站，在发送数据帧后至多经过时间 </a:t>
            </a:r>
            <a:r>
              <a:rPr lang="en-US" altLang="zh-CN" smtClean="0"/>
              <a:t>2</a:t>
            </a:r>
            <a:r>
              <a:rPr lang="en-US" altLang="zh-CN" i="1" smtClean="0">
                <a:sym typeface="Symbol" pitchFamily="18" charset="2"/>
              </a:rPr>
              <a:t> </a:t>
            </a:r>
            <a:r>
              <a:rPr lang="zh-CN" altLang="en-US" smtClean="0">
                <a:sym typeface="Symbol" pitchFamily="18" charset="2"/>
              </a:rPr>
              <a:t>（两倍的端到端往返时延）</a:t>
            </a:r>
            <a:r>
              <a:rPr lang="zh-CN" altLang="en-US" smtClean="0"/>
              <a:t>就可知道发送的数据帧是否遭受了碰撞。</a:t>
            </a:r>
          </a:p>
          <a:p>
            <a:pPr eaLnBrk="1" hangingPunct="1"/>
            <a:r>
              <a:rPr lang="zh-CN" altLang="en-US" smtClean="0"/>
              <a:t>以太网的端到端往返时延 </a:t>
            </a:r>
            <a:r>
              <a:rPr lang="en-US" altLang="zh-CN" smtClean="0"/>
              <a:t>2</a:t>
            </a:r>
            <a:r>
              <a:rPr lang="en-US" altLang="zh-CN" i="1" smtClean="0">
                <a:sym typeface="Symbol" pitchFamily="18" charset="2"/>
              </a:rPr>
              <a:t> </a:t>
            </a:r>
            <a:r>
              <a:rPr lang="zh-CN" altLang="en-US" smtClean="0"/>
              <a:t>称为</a:t>
            </a:r>
            <a:r>
              <a:rPr lang="zh-CN" altLang="en-US" smtClean="0">
                <a:solidFill>
                  <a:schemeClr val="hlink"/>
                </a:solidFill>
              </a:rPr>
              <a:t>争用期</a:t>
            </a:r>
            <a:r>
              <a:rPr lang="zh-CN" altLang="en-US" smtClean="0"/>
              <a:t>，或</a:t>
            </a:r>
            <a:r>
              <a:rPr lang="zh-CN" altLang="en-US" smtClean="0">
                <a:solidFill>
                  <a:schemeClr val="hlink"/>
                </a:solidFill>
              </a:rPr>
              <a:t>碰撞窗口</a:t>
            </a:r>
            <a:r>
              <a:rPr lang="zh-CN" altLang="en-US" smtClean="0"/>
              <a:t>。</a:t>
            </a:r>
          </a:p>
          <a:p>
            <a:pPr eaLnBrk="1" hangingPunct="1"/>
            <a:r>
              <a:rPr lang="zh-CN" altLang="en-US" smtClean="0"/>
              <a:t>经过争用期这段时间还没有检测到碰撞，才能肯定这次发送不会发生碰撞。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5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algn="ctr" eaLnBrk="1" hangingPunct="1"/>
            <a:r>
              <a:rPr lang="zh-CN" altLang="en-US" sz="4000" smtClean="0"/>
              <a:t>二进制指数类型退避算法 </a:t>
            </a:r>
            <a:r>
              <a:rPr lang="en-US" altLang="zh-CN" sz="3600" smtClean="0"/>
              <a:t>(truncated binary exponential type)</a:t>
            </a:r>
          </a:p>
        </p:txBody>
      </p:sp>
      <p:sp>
        <p:nvSpPr>
          <p:cNvPr id="416771" name="Rectangle 3"/>
          <p:cNvSpPr>
            <a:spLocks noGrp="1" noChangeArrowheads="1"/>
          </p:cNvSpPr>
          <p:nvPr>
            <p:ph type="body" idx="1"/>
          </p:nvPr>
        </p:nvSpPr>
        <p:spPr>
          <a:xfrm>
            <a:off x="827088" y="1917700"/>
            <a:ext cx="8137525" cy="4535488"/>
          </a:xfrm>
        </p:spPr>
        <p:txBody>
          <a:bodyPr/>
          <a:lstStyle/>
          <a:p>
            <a:pPr eaLnBrk="1" hangingPunct="1">
              <a:lnSpc>
                <a:spcPct val="90000"/>
              </a:lnSpc>
            </a:pPr>
            <a:r>
              <a:rPr lang="zh-CN" altLang="en-US" smtClean="0"/>
              <a:t>发生碰撞的站在停止发送数据后，要推迟（退避）一个随机时间才能再发送数据。</a:t>
            </a:r>
          </a:p>
          <a:p>
            <a:pPr lvl="1" eaLnBrk="1" hangingPunct="1">
              <a:lnSpc>
                <a:spcPct val="90000"/>
              </a:lnSpc>
            </a:pPr>
            <a:r>
              <a:rPr lang="zh-CN" altLang="en-US" smtClean="0">
                <a:solidFill>
                  <a:srgbClr val="333399"/>
                </a:solidFill>
                <a:latin typeface="Arial" pitchFamily="34" charset="0"/>
                <a:ea typeface="黑体" pitchFamily="49" charset="-122"/>
              </a:rPr>
              <a:t>确定基本退避时间，一般是取为争用期 </a:t>
            </a:r>
            <a:r>
              <a:rPr lang="en-US" altLang="zh-CN" smtClean="0">
                <a:solidFill>
                  <a:srgbClr val="333399"/>
                </a:solidFill>
                <a:latin typeface="Arial" pitchFamily="34" charset="0"/>
                <a:ea typeface="黑体" pitchFamily="49" charset="-122"/>
              </a:rPr>
              <a:t>2</a:t>
            </a:r>
            <a:r>
              <a:rPr lang="en-US" altLang="zh-CN" i="1" smtClean="0">
                <a:solidFill>
                  <a:srgbClr val="333399"/>
                </a:solidFill>
                <a:latin typeface="Arial" pitchFamily="34" charset="0"/>
                <a:ea typeface="黑体" pitchFamily="49" charset="-122"/>
                <a:sym typeface="Symbol" pitchFamily="18" charset="2"/>
              </a:rPr>
              <a:t></a:t>
            </a:r>
            <a:r>
              <a:rPr lang="zh-CN" altLang="en-US" smtClean="0">
                <a:solidFill>
                  <a:srgbClr val="333399"/>
                </a:solidFill>
                <a:latin typeface="Arial" pitchFamily="34" charset="0"/>
                <a:ea typeface="黑体" pitchFamily="49" charset="-122"/>
              </a:rPr>
              <a:t>。</a:t>
            </a:r>
          </a:p>
          <a:p>
            <a:pPr lvl="1" eaLnBrk="1" hangingPunct="1">
              <a:lnSpc>
                <a:spcPct val="90000"/>
              </a:lnSpc>
            </a:pPr>
            <a:r>
              <a:rPr lang="zh-CN" altLang="en-US" smtClean="0">
                <a:solidFill>
                  <a:srgbClr val="333399"/>
                </a:solidFill>
                <a:latin typeface="Arial" pitchFamily="34" charset="0"/>
                <a:ea typeface="黑体" pitchFamily="49" charset="-122"/>
              </a:rPr>
              <a:t>定义重传次数 </a:t>
            </a:r>
            <a:r>
              <a:rPr lang="en-US" altLang="zh-CN" i="1" smtClean="0">
                <a:solidFill>
                  <a:srgbClr val="333399"/>
                </a:solidFill>
                <a:latin typeface="Arial" pitchFamily="34" charset="0"/>
                <a:ea typeface="黑体" pitchFamily="49" charset="-122"/>
              </a:rPr>
              <a:t>k</a:t>
            </a:r>
            <a:r>
              <a:rPr lang="en-US" altLang="zh-CN" smtClean="0">
                <a:solidFill>
                  <a:srgbClr val="333399"/>
                </a:solidFill>
                <a:latin typeface="Arial" pitchFamily="34" charset="0"/>
                <a:ea typeface="黑体" pitchFamily="49" charset="-122"/>
              </a:rPr>
              <a:t> </a:t>
            </a:r>
            <a:r>
              <a:rPr lang="zh-CN" altLang="en-US" smtClean="0">
                <a:solidFill>
                  <a:srgbClr val="333399"/>
                </a:solidFill>
                <a:latin typeface="Arial" pitchFamily="34" charset="0"/>
                <a:ea typeface="黑体" pitchFamily="49" charset="-122"/>
              </a:rPr>
              <a:t>，</a:t>
            </a:r>
            <a:r>
              <a:rPr lang="en-US" altLang="zh-CN" i="1" smtClean="0">
                <a:solidFill>
                  <a:srgbClr val="333399"/>
                </a:solidFill>
                <a:latin typeface="Arial" pitchFamily="34" charset="0"/>
                <a:ea typeface="黑体" pitchFamily="49" charset="-122"/>
              </a:rPr>
              <a:t>k </a:t>
            </a:r>
            <a:r>
              <a:rPr lang="en-US" altLang="zh-CN" smtClean="0">
                <a:solidFill>
                  <a:srgbClr val="333399"/>
                </a:solidFill>
                <a:latin typeface="Arial" pitchFamily="34" charset="0"/>
                <a:ea typeface="黑体" pitchFamily="49" charset="-122"/>
                <a:sym typeface="Symbol" pitchFamily="18" charset="2"/>
              </a:rPr>
              <a:t> </a:t>
            </a:r>
            <a:r>
              <a:rPr lang="en-US" altLang="zh-CN" smtClean="0">
                <a:solidFill>
                  <a:srgbClr val="333399"/>
                </a:solidFill>
                <a:latin typeface="Arial" pitchFamily="34" charset="0"/>
                <a:ea typeface="黑体" pitchFamily="49" charset="-122"/>
              </a:rPr>
              <a:t>10</a:t>
            </a:r>
            <a:r>
              <a:rPr lang="zh-CN" altLang="en-US" smtClean="0">
                <a:solidFill>
                  <a:srgbClr val="333399"/>
                </a:solidFill>
                <a:latin typeface="Arial" pitchFamily="34" charset="0"/>
                <a:ea typeface="黑体" pitchFamily="49" charset="-122"/>
              </a:rPr>
              <a:t>，即</a:t>
            </a:r>
          </a:p>
          <a:p>
            <a:pPr lvl="1" eaLnBrk="1" hangingPunct="1">
              <a:lnSpc>
                <a:spcPct val="90000"/>
              </a:lnSpc>
              <a:buFont typeface="Wingdings" pitchFamily="2" charset="2"/>
              <a:buNone/>
            </a:pPr>
            <a:r>
              <a:rPr lang="zh-CN" altLang="en-US" smtClean="0">
                <a:solidFill>
                  <a:srgbClr val="333399"/>
                </a:solidFill>
                <a:latin typeface="Arial" pitchFamily="34" charset="0"/>
                <a:ea typeface="黑体" pitchFamily="49" charset="-122"/>
              </a:rPr>
              <a:t>                 </a:t>
            </a:r>
            <a:r>
              <a:rPr lang="en-US" altLang="zh-CN" i="1" smtClean="0">
                <a:solidFill>
                  <a:srgbClr val="333399"/>
                </a:solidFill>
                <a:latin typeface="Arial" pitchFamily="34" charset="0"/>
                <a:ea typeface="黑体" pitchFamily="49" charset="-122"/>
              </a:rPr>
              <a:t>k</a:t>
            </a:r>
            <a:r>
              <a:rPr lang="en-US" altLang="zh-CN" smtClean="0">
                <a:solidFill>
                  <a:srgbClr val="333399"/>
                </a:solidFill>
                <a:latin typeface="Arial" pitchFamily="34" charset="0"/>
                <a:ea typeface="黑体" pitchFamily="49" charset="-122"/>
              </a:rPr>
              <a:t> = Min[</a:t>
            </a:r>
            <a:r>
              <a:rPr lang="zh-CN" altLang="en-US" smtClean="0">
                <a:solidFill>
                  <a:srgbClr val="333399"/>
                </a:solidFill>
                <a:latin typeface="Arial" pitchFamily="34" charset="0"/>
                <a:ea typeface="黑体" pitchFamily="49" charset="-122"/>
              </a:rPr>
              <a:t>重传次数</a:t>
            </a:r>
            <a:r>
              <a:rPr lang="en-US" altLang="zh-CN" smtClean="0">
                <a:solidFill>
                  <a:srgbClr val="333399"/>
                </a:solidFill>
                <a:latin typeface="Arial" pitchFamily="34" charset="0"/>
                <a:ea typeface="黑体" pitchFamily="49" charset="-122"/>
              </a:rPr>
              <a:t>, 10]</a:t>
            </a:r>
          </a:p>
          <a:p>
            <a:pPr lvl="1" eaLnBrk="1" hangingPunct="1">
              <a:lnSpc>
                <a:spcPct val="90000"/>
              </a:lnSpc>
            </a:pPr>
            <a:r>
              <a:rPr lang="zh-CN" altLang="en-US" smtClean="0">
                <a:solidFill>
                  <a:srgbClr val="333399"/>
                </a:solidFill>
                <a:latin typeface="Arial" pitchFamily="34" charset="0"/>
                <a:ea typeface="黑体" pitchFamily="49" charset="-122"/>
              </a:rPr>
              <a:t>从整数集合</a:t>
            </a:r>
            <a:r>
              <a:rPr lang="en-US" altLang="zh-CN" smtClean="0">
                <a:solidFill>
                  <a:srgbClr val="333399"/>
                </a:solidFill>
                <a:latin typeface="Arial" pitchFamily="34" charset="0"/>
                <a:ea typeface="黑体" pitchFamily="49" charset="-122"/>
              </a:rPr>
              <a:t>[0,1,…, (2</a:t>
            </a:r>
            <a:r>
              <a:rPr lang="en-US" altLang="zh-CN" i="1" baseline="30000" smtClean="0">
                <a:solidFill>
                  <a:srgbClr val="333399"/>
                </a:solidFill>
                <a:latin typeface="Arial" pitchFamily="34" charset="0"/>
                <a:ea typeface="黑体" pitchFamily="49" charset="-122"/>
              </a:rPr>
              <a:t>k</a:t>
            </a:r>
            <a:r>
              <a:rPr lang="en-US" altLang="zh-CN" i="1" smtClean="0">
                <a:solidFill>
                  <a:srgbClr val="333399"/>
                </a:solidFill>
                <a:latin typeface="Arial" pitchFamily="34" charset="0"/>
                <a:ea typeface="黑体" pitchFamily="49" charset="-122"/>
              </a:rPr>
              <a:t> </a:t>
            </a:r>
            <a:r>
              <a:rPr lang="en-US" altLang="zh-CN" smtClean="0">
                <a:solidFill>
                  <a:srgbClr val="333399"/>
                </a:solidFill>
                <a:latin typeface="Arial" pitchFamily="34" charset="0"/>
                <a:ea typeface="黑体" pitchFamily="49" charset="-122"/>
                <a:sym typeface="Symbol" pitchFamily="18" charset="2"/>
              </a:rPr>
              <a:t></a:t>
            </a:r>
            <a:r>
              <a:rPr lang="en-US" altLang="zh-CN" smtClean="0">
                <a:solidFill>
                  <a:srgbClr val="333399"/>
                </a:solidFill>
                <a:latin typeface="Arial" pitchFamily="34" charset="0"/>
                <a:ea typeface="黑体" pitchFamily="49" charset="-122"/>
              </a:rPr>
              <a:t>1)]</a:t>
            </a:r>
            <a:r>
              <a:rPr lang="zh-CN" altLang="en-US" smtClean="0">
                <a:solidFill>
                  <a:srgbClr val="333399"/>
                </a:solidFill>
                <a:latin typeface="Arial" pitchFamily="34" charset="0"/>
                <a:ea typeface="黑体" pitchFamily="49" charset="-122"/>
              </a:rPr>
              <a:t>中随机地取出一个数，记为 </a:t>
            </a:r>
            <a:r>
              <a:rPr lang="en-US" altLang="zh-CN" i="1" smtClean="0">
                <a:solidFill>
                  <a:srgbClr val="333399"/>
                </a:solidFill>
                <a:latin typeface="Arial" pitchFamily="34" charset="0"/>
                <a:ea typeface="黑体" pitchFamily="49" charset="-122"/>
              </a:rPr>
              <a:t>r</a:t>
            </a:r>
            <a:r>
              <a:rPr lang="zh-CN" altLang="en-US" smtClean="0">
                <a:solidFill>
                  <a:srgbClr val="333399"/>
                </a:solidFill>
                <a:latin typeface="Arial" pitchFamily="34" charset="0"/>
                <a:ea typeface="黑体" pitchFamily="49" charset="-122"/>
              </a:rPr>
              <a:t>。重传所需的时延就是 </a:t>
            </a:r>
            <a:r>
              <a:rPr lang="en-US" altLang="zh-CN" i="1" smtClean="0">
                <a:solidFill>
                  <a:srgbClr val="333399"/>
                </a:solidFill>
                <a:latin typeface="Arial" pitchFamily="34" charset="0"/>
                <a:ea typeface="黑体" pitchFamily="49" charset="-122"/>
              </a:rPr>
              <a:t>r </a:t>
            </a:r>
            <a:r>
              <a:rPr lang="zh-CN" altLang="en-US" smtClean="0">
                <a:solidFill>
                  <a:srgbClr val="333399"/>
                </a:solidFill>
                <a:latin typeface="Arial" pitchFamily="34" charset="0"/>
                <a:ea typeface="黑体" pitchFamily="49" charset="-122"/>
              </a:rPr>
              <a:t>倍的基本退避时间。</a:t>
            </a:r>
          </a:p>
          <a:p>
            <a:pPr lvl="1" eaLnBrk="1" hangingPunct="1">
              <a:lnSpc>
                <a:spcPct val="90000"/>
              </a:lnSpc>
            </a:pPr>
            <a:r>
              <a:rPr lang="zh-CN" altLang="en-US" smtClean="0">
                <a:solidFill>
                  <a:srgbClr val="333399"/>
                </a:solidFill>
                <a:latin typeface="Arial" pitchFamily="34" charset="0"/>
                <a:ea typeface="黑体" pitchFamily="49" charset="-122"/>
              </a:rPr>
              <a:t>当重传达 </a:t>
            </a:r>
            <a:r>
              <a:rPr lang="en-US" altLang="zh-CN" smtClean="0">
                <a:solidFill>
                  <a:srgbClr val="333399"/>
                </a:solidFill>
                <a:latin typeface="Arial" pitchFamily="34" charset="0"/>
                <a:ea typeface="黑体" pitchFamily="49" charset="-122"/>
              </a:rPr>
              <a:t>16 </a:t>
            </a:r>
            <a:r>
              <a:rPr lang="zh-CN" altLang="en-US" smtClean="0">
                <a:solidFill>
                  <a:srgbClr val="333399"/>
                </a:solidFill>
                <a:latin typeface="Arial" pitchFamily="34" charset="0"/>
                <a:ea typeface="黑体" pitchFamily="49" charset="-122"/>
              </a:rPr>
              <a:t>次仍不能成功时即丢弃该帧，并向高层报告。</a:t>
            </a:r>
            <a:r>
              <a:rPr lang="zh-CN" altLang="en-US" smtClean="0"/>
              <a:t>  </a:t>
            </a:r>
            <a:r>
              <a:rPr lang="en-US" altLang="zh-CN" smtClean="0"/>
              <a:t>P106 3-22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6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6771">
                                            <p:txEl>
                                              <p:pRg st="2" end="2"/>
                                            </p:txEl>
                                          </p:spTgt>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0"/>
                                  </p:stCondLst>
                                  <p:childTnLst>
                                    <p:set>
                                      <p:cBhvr>
                                        <p:cTn id="13" dur="1" fill="hold">
                                          <p:stCondLst>
                                            <p:cond delay="0"/>
                                          </p:stCondLst>
                                        </p:cTn>
                                        <p:tgtEl>
                                          <p:spTgt spid="416771">
                                            <p:txEl>
                                              <p:pRg st="3" end="3"/>
                                            </p:txEl>
                                          </p:spTgt>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416771">
                                            <p:txEl>
                                              <p:pRg st="4" end="4"/>
                                            </p:txEl>
                                          </p:spTgt>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4167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algn="ctr" eaLnBrk="1" hangingPunct="1"/>
            <a:r>
              <a:rPr lang="zh-CN" altLang="en-US" smtClean="0"/>
              <a:t>争用期的长度 </a:t>
            </a:r>
          </a:p>
        </p:txBody>
      </p:sp>
      <p:sp>
        <p:nvSpPr>
          <p:cNvPr id="417795" name="Rectangle 3"/>
          <p:cNvSpPr>
            <a:spLocks noGrp="1" noChangeArrowheads="1"/>
          </p:cNvSpPr>
          <p:nvPr>
            <p:ph type="body" idx="1"/>
          </p:nvPr>
        </p:nvSpPr>
        <p:spPr>
          <a:xfrm>
            <a:off x="827088" y="1773238"/>
            <a:ext cx="8137525" cy="4319587"/>
          </a:xfrm>
        </p:spPr>
        <p:txBody>
          <a:bodyPr/>
          <a:lstStyle/>
          <a:p>
            <a:pPr eaLnBrk="1" hangingPunct="1"/>
            <a:r>
              <a:rPr lang="zh-CN" altLang="en-US" sz="2800" smtClean="0"/>
              <a:t>以太网取 </a:t>
            </a:r>
            <a:r>
              <a:rPr lang="en-US" altLang="zh-CN" sz="2800" smtClean="0"/>
              <a:t>51.2 </a:t>
            </a:r>
            <a:r>
              <a:rPr lang="en-US" altLang="zh-CN" sz="2800" smtClean="0">
                <a:sym typeface="Symbol" pitchFamily="18" charset="2"/>
              </a:rPr>
              <a:t></a:t>
            </a:r>
            <a:r>
              <a:rPr lang="en-US" altLang="zh-CN" sz="2800" smtClean="0"/>
              <a:t>s </a:t>
            </a:r>
            <a:r>
              <a:rPr lang="zh-CN" altLang="en-US" sz="2800" smtClean="0"/>
              <a:t>为争用期的长度。</a:t>
            </a:r>
          </a:p>
          <a:p>
            <a:pPr eaLnBrk="1" hangingPunct="1"/>
            <a:r>
              <a:rPr lang="zh-CN" altLang="en-US" sz="2800" smtClean="0"/>
              <a:t>对于 </a:t>
            </a:r>
            <a:r>
              <a:rPr lang="en-US" altLang="zh-CN" sz="2800" smtClean="0"/>
              <a:t>10 Mb/s </a:t>
            </a:r>
            <a:r>
              <a:rPr lang="zh-CN" altLang="en-US" sz="2800" smtClean="0"/>
              <a:t>以太网，在争用期内可发送</a:t>
            </a:r>
            <a:r>
              <a:rPr lang="en-US" altLang="zh-CN" sz="2800" smtClean="0"/>
              <a:t>512 bit</a:t>
            </a:r>
            <a:r>
              <a:rPr lang="zh-CN" altLang="en-US" sz="2800" smtClean="0"/>
              <a:t>，即 </a:t>
            </a:r>
            <a:r>
              <a:rPr lang="en-US" altLang="zh-CN" sz="2800" smtClean="0"/>
              <a:t>64 </a:t>
            </a:r>
            <a:r>
              <a:rPr lang="zh-CN" altLang="en-US" sz="2800" smtClean="0"/>
              <a:t>字节。</a:t>
            </a:r>
          </a:p>
          <a:p>
            <a:pPr eaLnBrk="1" hangingPunct="1"/>
            <a:r>
              <a:rPr lang="zh-CN" altLang="en-US" sz="2800" smtClean="0"/>
              <a:t>以太网在发送数据时，若前 </a:t>
            </a:r>
            <a:r>
              <a:rPr lang="en-US" altLang="zh-CN" sz="2800" smtClean="0"/>
              <a:t>64 </a:t>
            </a:r>
            <a:r>
              <a:rPr lang="zh-CN" altLang="en-US" sz="2800" smtClean="0"/>
              <a:t>字节没有发生冲突，则后续的数据就不会发生冲突。因此以太网规定最短有效帧长是</a:t>
            </a:r>
            <a:r>
              <a:rPr lang="en-US" altLang="zh-CN" sz="2800" smtClean="0"/>
              <a:t>64</a:t>
            </a:r>
            <a:r>
              <a:rPr lang="zh-CN" altLang="en-US" sz="2800" smtClean="0"/>
              <a:t>字节即</a:t>
            </a:r>
            <a:r>
              <a:rPr lang="en-US" altLang="zh-CN" sz="2800" smtClean="0"/>
              <a:t>512bit.</a:t>
            </a:r>
            <a:r>
              <a:rPr lang="zh-CN" altLang="en-US" sz="2800" smtClean="0"/>
              <a:t>使得发送时延不小于端到端往返时延。保证有冲突时在发送完成前就能检测到。</a:t>
            </a:r>
            <a:r>
              <a:rPr lang="zh-CN" altLang="en-US" sz="2800" smtClean="0">
                <a:sym typeface="Wingdings" pitchFamily="2" charset="2"/>
              </a:rPr>
              <a:t></a:t>
            </a:r>
            <a:r>
              <a:rPr lang="zh-CN" altLang="en-US" sz="2800" smtClean="0"/>
              <a:t>发送时延</a:t>
            </a:r>
            <a:r>
              <a:rPr lang="en-US" altLang="zh-CN" sz="2800" smtClean="0"/>
              <a:t>&gt;</a:t>
            </a:r>
            <a:r>
              <a:rPr lang="zh-CN" altLang="en-US" sz="2800" smtClean="0"/>
              <a:t>往返时延</a:t>
            </a:r>
          </a:p>
          <a:p>
            <a:pPr eaLnBrk="1" hangingPunct="1"/>
            <a:r>
              <a:rPr lang="en-US" altLang="zh-CN" sz="2800" smtClean="0"/>
              <a:t>P106 3-20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7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779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7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79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p:txBody>
          <a:bodyPr/>
          <a:lstStyle/>
          <a:p>
            <a:pPr eaLnBrk="1" hangingPunct="1"/>
            <a:r>
              <a:rPr lang="zh-CN" altLang="en-US" smtClean="0"/>
              <a:t>备注</a:t>
            </a:r>
          </a:p>
        </p:txBody>
      </p:sp>
      <p:sp>
        <p:nvSpPr>
          <p:cNvPr id="61443" name="Rectangle 3"/>
          <p:cNvSpPr>
            <a:spLocks noGrp="1" noChangeArrowheads="1"/>
          </p:cNvSpPr>
          <p:nvPr>
            <p:ph type="body" idx="4294967295"/>
          </p:nvPr>
        </p:nvSpPr>
        <p:spPr/>
        <p:txBody>
          <a:bodyPr/>
          <a:lstStyle/>
          <a:p>
            <a:pPr eaLnBrk="1" hangingPunct="1">
              <a:lnSpc>
                <a:spcPct val="80000"/>
              </a:lnSpc>
            </a:pPr>
            <a:r>
              <a:rPr lang="zh-CN" altLang="en-US" sz="2800" smtClean="0"/>
              <a:t>在极限条件下，一个局域网中两个收发器间（允许接</a:t>
            </a:r>
            <a:r>
              <a:rPr lang="en-US" altLang="zh-CN" sz="2800" smtClean="0"/>
              <a:t>4</a:t>
            </a:r>
            <a:r>
              <a:rPr lang="zh-CN" altLang="en-US" sz="2800" smtClean="0"/>
              <a:t>个中继器）的最大距离为</a:t>
            </a:r>
            <a:r>
              <a:rPr lang="en-US" altLang="zh-CN" sz="2800" smtClean="0"/>
              <a:t>2500m</a:t>
            </a:r>
            <a:r>
              <a:rPr lang="zh-CN" altLang="en-US" sz="2800" smtClean="0"/>
              <a:t>，往返</a:t>
            </a:r>
            <a:r>
              <a:rPr lang="en-US" altLang="zh-CN" sz="2800" smtClean="0"/>
              <a:t>5000m</a:t>
            </a:r>
            <a:r>
              <a:rPr lang="zh-CN" altLang="en-US" sz="2800" smtClean="0"/>
              <a:t>，同轴电缆的时延特性为</a:t>
            </a:r>
            <a:r>
              <a:rPr lang="en-US" altLang="zh-CN" sz="2800" smtClean="0"/>
              <a:t>5us/km</a:t>
            </a:r>
            <a:r>
              <a:rPr lang="zh-CN" altLang="en-US" sz="2800" smtClean="0"/>
              <a:t>，即如遇冲突，端到端往返时延为</a:t>
            </a:r>
            <a:r>
              <a:rPr lang="en-US" altLang="zh-CN" sz="2800" smtClean="0"/>
              <a:t>25us</a:t>
            </a:r>
            <a:r>
              <a:rPr lang="zh-CN" altLang="en-US" sz="2800" smtClean="0"/>
              <a:t>。然而这是理想的时延，考虑到中继器的额外时延，最坏情况下取估计时延为</a:t>
            </a:r>
            <a:r>
              <a:rPr lang="en-US" altLang="zh-CN" sz="2800" smtClean="0"/>
              <a:t>45us</a:t>
            </a:r>
            <a:r>
              <a:rPr lang="zh-CN" altLang="en-US" sz="2800" smtClean="0"/>
              <a:t>，再加上强化冲突需发送</a:t>
            </a:r>
            <a:r>
              <a:rPr lang="en-US" altLang="zh-CN" sz="2800" smtClean="0"/>
              <a:t>48bit</a:t>
            </a:r>
            <a:r>
              <a:rPr lang="zh-CN" altLang="en-US" sz="2800" smtClean="0"/>
              <a:t>，接受方要接受到</a:t>
            </a:r>
            <a:r>
              <a:rPr lang="en-US" altLang="zh-CN" sz="2800" smtClean="0"/>
              <a:t>48bit</a:t>
            </a:r>
            <a:r>
              <a:rPr lang="zh-CN" altLang="en-US" sz="2800" smtClean="0"/>
              <a:t>后才确认冲突，即在增加</a:t>
            </a:r>
            <a:r>
              <a:rPr lang="en-US" altLang="zh-CN" sz="2800" smtClean="0"/>
              <a:t>4.8us</a:t>
            </a:r>
            <a:r>
              <a:rPr lang="zh-CN" altLang="en-US" sz="2800" smtClean="0"/>
              <a:t>，共</a:t>
            </a:r>
            <a:r>
              <a:rPr lang="en-US" altLang="zh-CN" sz="2800" smtClean="0"/>
              <a:t>49.8us</a:t>
            </a:r>
            <a:r>
              <a:rPr lang="zh-CN" altLang="en-US" sz="2800" smtClean="0"/>
              <a:t>，所以通常以太网取</a:t>
            </a:r>
            <a:r>
              <a:rPr lang="en-US" altLang="zh-CN" sz="2800" smtClean="0"/>
              <a:t>51.2us</a:t>
            </a:r>
            <a:r>
              <a:rPr lang="zh-CN" altLang="en-US" sz="2800" smtClean="0"/>
              <a:t>为争用期的时间长度</a:t>
            </a:r>
            <a:r>
              <a:rPr lang="en-US" altLang="zh-CN" sz="2800" smtClean="0"/>
              <a:t>(</a:t>
            </a:r>
            <a:r>
              <a:rPr lang="zh-CN" altLang="en-US" sz="2800" smtClean="0"/>
              <a:t>传输</a:t>
            </a:r>
            <a:r>
              <a:rPr lang="en-US" altLang="zh-CN" sz="2800" smtClean="0"/>
              <a:t>512bit</a:t>
            </a:r>
            <a:r>
              <a:rPr lang="zh-CN" altLang="en-US" sz="2800" smtClean="0"/>
              <a:t>，即</a:t>
            </a:r>
            <a:r>
              <a:rPr lang="en-US" altLang="zh-CN" sz="2800" smtClean="0"/>
              <a:t>64</a:t>
            </a:r>
            <a:r>
              <a:rPr lang="zh-CN" altLang="en-US" sz="2800" smtClean="0"/>
              <a:t>字节时间</a:t>
            </a:r>
            <a:r>
              <a:rPr lang="en-US" altLang="zh-CN" sz="2800" smtClean="0"/>
              <a:t>)</a:t>
            </a:r>
            <a:r>
              <a:rPr lang="zh-CN" altLang="en-US" sz="2800" smtClean="0"/>
              <a:t>，即桢的长度至少为</a:t>
            </a:r>
            <a:r>
              <a:rPr lang="en-US" altLang="zh-CN" sz="2800" smtClean="0"/>
              <a:t>64</a:t>
            </a:r>
            <a:r>
              <a:rPr lang="zh-CN" altLang="en-US" sz="2800" smtClean="0"/>
              <a:t>字节。 </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algn="ctr" eaLnBrk="1" hangingPunct="1"/>
            <a:r>
              <a:rPr lang="zh-CN" altLang="en-US" smtClean="0"/>
              <a:t>最短有效帧长 </a:t>
            </a:r>
          </a:p>
        </p:txBody>
      </p:sp>
      <p:sp>
        <p:nvSpPr>
          <p:cNvPr id="418819" name="Rectangle 3"/>
          <p:cNvSpPr>
            <a:spLocks noGrp="1" noChangeArrowheads="1"/>
          </p:cNvSpPr>
          <p:nvPr>
            <p:ph type="body" idx="1"/>
          </p:nvPr>
        </p:nvSpPr>
        <p:spPr>
          <a:xfrm>
            <a:off x="827088" y="1773238"/>
            <a:ext cx="8137525" cy="4319587"/>
          </a:xfrm>
        </p:spPr>
        <p:txBody>
          <a:bodyPr/>
          <a:lstStyle/>
          <a:p>
            <a:pPr eaLnBrk="1" hangingPunct="1"/>
            <a:r>
              <a:rPr lang="zh-CN" altLang="en-US" smtClean="0"/>
              <a:t>如果发生冲突，就一定是在发送的前 </a:t>
            </a:r>
            <a:r>
              <a:rPr lang="en-US" altLang="zh-CN" smtClean="0"/>
              <a:t>64 </a:t>
            </a:r>
            <a:r>
              <a:rPr lang="zh-CN" altLang="en-US" smtClean="0"/>
              <a:t>字节之内。 </a:t>
            </a:r>
          </a:p>
          <a:p>
            <a:pPr eaLnBrk="1" hangingPunct="1"/>
            <a:r>
              <a:rPr lang="zh-CN" altLang="en-US" smtClean="0"/>
              <a:t>由于一检测到冲突就立即中止发送，这时已经发送出去的数据一定小于 </a:t>
            </a:r>
            <a:r>
              <a:rPr lang="en-US" altLang="zh-CN" smtClean="0"/>
              <a:t>64 </a:t>
            </a:r>
            <a:r>
              <a:rPr lang="zh-CN" altLang="en-US" smtClean="0"/>
              <a:t>字节。 </a:t>
            </a:r>
          </a:p>
          <a:p>
            <a:pPr eaLnBrk="1" hangingPunct="1"/>
            <a:r>
              <a:rPr lang="zh-CN" altLang="en-US" smtClean="0"/>
              <a:t>以太网规定了最短有效帧长为 </a:t>
            </a:r>
            <a:r>
              <a:rPr lang="en-US" altLang="zh-CN" smtClean="0"/>
              <a:t>64 </a:t>
            </a:r>
            <a:r>
              <a:rPr lang="zh-CN" altLang="en-US" smtClean="0"/>
              <a:t>字节，凡长度小于 </a:t>
            </a:r>
            <a:r>
              <a:rPr lang="en-US" altLang="zh-CN" smtClean="0"/>
              <a:t>64 </a:t>
            </a:r>
            <a:r>
              <a:rPr lang="zh-CN" altLang="en-US" smtClean="0"/>
              <a:t>字节的帧都是由于冲突而异常中止的</a:t>
            </a:r>
            <a:r>
              <a:rPr lang="zh-CN" altLang="en-US" smtClean="0">
                <a:solidFill>
                  <a:schemeClr val="hlink"/>
                </a:solidFill>
              </a:rPr>
              <a:t>无效帧</a:t>
            </a:r>
            <a:r>
              <a:rPr lang="zh-CN" altLang="en-US" smtClean="0"/>
              <a:t>。  </a:t>
            </a:r>
            <a:r>
              <a:rPr lang="en-US" altLang="zh-CN" smtClean="0"/>
              <a:t>P106  3-20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88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88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9"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algn="ctr" eaLnBrk="1" hangingPunct="1"/>
            <a:r>
              <a:rPr lang="zh-CN" altLang="en-US" smtClean="0"/>
              <a:t>强化碰撞 </a:t>
            </a:r>
          </a:p>
        </p:txBody>
      </p:sp>
      <p:sp>
        <p:nvSpPr>
          <p:cNvPr id="63491" name="Rectangle 3"/>
          <p:cNvSpPr>
            <a:spLocks noGrp="1" noChangeArrowheads="1"/>
          </p:cNvSpPr>
          <p:nvPr>
            <p:ph type="body" idx="1"/>
          </p:nvPr>
        </p:nvSpPr>
        <p:spPr>
          <a:xfrm>
            <a:off x="827088" y="1773238"/>
            <a:ext cx="8137525" cy="4319587"/>
          </a:xfrm>
        </p:spPr>
        <p:txBody>
          <a:bodyPr/>
          <a:lstStyle/>
          <a:p>
            <a:pPr eaLnBrk="1" hangingPunct="1"/>
            <a:r>
              <a:rPr lang="zh-CN" altLang="en-US" smtClean="0"/>
              <a:t>当发送数据的站一旦发现发生了碰撞时：</a:t>
            </a:r>
          </a:p>
          <a:p>
            <a:pPr lvl="1" eaLnBrk="1" hangingPunct="1"/>
            <a:r>
              <a:rPr lang="zh-CN" altLang="en-US" smtClean="0">
                <a:solidFill>
                  <a:schemeClr val="folHlink"/>
                </a:solidFill>
                <a:latin typeface="Arial" pitchFamily="34" charset="0"/>
                <a:ea typeface="黑体" pitchFamily="49" charset="-122"/>
              </a:rPr>
              <a:t>立即停止发送数据；</a:t>
            </a:r>
          </a:p>
          <a:p>
            <a:pPr lvl="1" eaLnBrk="1" hangingPunct="1"/>
            <a:r>
              <a:rPr lang="zh-CN" altLang="en-US" smtClean="0">
                <a:solidFill>
                  <a:schemeClr val="folHlink"/>
                </a:solidFill>
                <a:latin typeface="Arial" pitchFamily="34" charset="0"/>
                <a:ea typeface="黑体" pitchFamily="49" charset="-122"/>
              </a:rPr>
              <a:t>再继续发送若干比特的</a:t>
            </a:r>
            <a:r>
              <a:rPr lang="zh-CN" altLang="en-US" smtClean="0">
                <a:solidFill>
                  <a:schemeClr val="hlink"/>
                </a:solidFill>
                <a:latin typeface="Arial" pitchFamily="34" charset="0"/>
                <a:ea typeface="黑体" pitchFamily="49" charset="-122"/>
              </a:rPr>
              <a:t>人为干扰信号</a:t>
            </a:r>
            <a:r>
              <a:rPr lang="en-US" altLang="zh-CN" smtClean="0">
                <a:solidFill>
                  <a:schemeClr val="folHlink"/>
                </a:solidFill>
                <a:latin typeface="Arial" pitchFamily="34" charset="0"/>
                <a:ea typeface="黑体" pitchFamily="49" charset="-122"/>
              </a:rPr>
              <a:t>(jamming signal)</a:t>
            </a:r>
            <a:r>
              <a:rPr lang="zh-CN" altLang="en-US" smtClean="0">
                <a:solidFill>
                  <a:schemeClr val="folHlink"/>
                </a:solidFill>
                <a:latin typeface="Arial" pitchFamily="34" charset="0"/>
                <a:ea typeface="黑体" pitchFamily="49" charset="-122"/>
              </a:rPr>
              <a:t>，以便让所有用户都知道现在已经发生了碰撞。</a:t>
            </a:r>
            <a:r>
              <a:rPr lang="zh-CN" altLang="en-US" smtClean="0"/>
              <a:t>  </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185863" y="3959225"/>
            <a:ext cx="2921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15" name="Rectangle 3"/>
          <p:cNvSpPr>
            <a:spLocks noChangeArrowheads="1"/>
          </p:cNvSpPr>
          <p:nvPr/>
        </p:nvSpPr>
        <p:spPr bwMode="auto">
          <a:xfrm>
            <a:off x="1219200" y="3114675"/>
            <a:ext cx="211138" cy="28416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20868" name="Group 4"/>
          <p:cNvGrpSpPr>
            <a:grpSpLocks/>
          </p:cNvGrpSpPr>
          <p:nvPr/>
        </p:nvGrpSpPr>
        <p:grpSpPr bwMode="auto">
          <a:xfrm>
            <a:off x="1068388" y="1346200"/>
            <a:ext cx="6545262" cy="3309938"/>
            <a:chOff x="673" y="1619"/>
            <a:chExt cx="4123" cy="2085"/>
          </a:xfrm>
        </p:grpSpPr>
        <p:grpSp>
          <p:nvGrpSpPr>
            <p:cNvPr id="64558" name="Group 5"/>
            <p:cNvGrpSpPr>
              <a:grpSpLocks/>
            </p:cNvGrpSpPr>
            <p:nvPr/>
          </p:nvGrpSpPr>
          <p:grpSpPr bwMode="auto">
            <a:xfrm>
              <a:off x="992" y="1619"/>
              <a:ext cx="3804" cy="1645"/>
              <a:chOff x="992" y="1619"/>
              <a:chExt cx="3804" cy="1645"/>
            </a:xfrm>
          </p:grpSpPr>
          <p:sp>
            <p:nvSpPr>
              <p:cNvPr id="64572" name="AutoShape 6"/>
              <p:cNvSpPr>
                <a:spLocks noChangeArrowheads="1"/>
              </p:cNvSpPr>
              <p:nvPr/>
            </p:nvSpPr>
            <p:spPr bwMode="auto">
              <a:xfrm rot="5400000">
                <a:off x="2071" y="540"/>
                <a:ext cx="1645" cy="3804"/>
              </a:xfrm>
              <a:prstGeom prst="parallelogram">
                <a:avLst>
                  <a:gd name="adj" fmla="val 37968"/>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3" name="AutoShape 7"/>
              <p:cNvSpPr>
                <a:spLocks noChangeArrowheads="1"/>
              </p:cNvSpPr>
              <p:nvPr/>
            </p:nvSpPr>
            <p:spPr bwMode="auto">
              <a:xfrm rot="601221">
                <a:off x="2228" y="2087"/>
                <a:ext cx="1066" cy="424"/>
              </a:xfrm>
              <a:prstGeom prst="rightArrow">
                <a:avLst>
                  <a:gd name="adj1" fmla="val 49370"/>
                  <a:gd name="adj2" fmla="val 80790"/>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zh-CN" altLang="en-US">
                    <a:solidFill>
                      <a:srgbClr val="333399"/>
                    </a:solidFill>
                    <a:latin typeface="Arial" pitchFamily="34" charset="0"/>
                    <a:ea typeface="黑体" pitchFamily="49" charset="-122"/>
                  </a:rPr>
                  <a:t>数据帧</a:t>
                </a:r>
              </a:p>
            </p:txBody>
          </p:sp>
        </p:grpSp>
        <p:grpSp>
          <p:nvGrpSpPr>
            <p:cNvPr id="64559" name="Group 8"/>
            <p:cNvGrpSpPr>
              <a:grpSpLocks/>
            </p:cNvGrpSpPr>
            <p:nvPr/>
          </p:nvGrpSpPr>
          <p:grpSpPr bwMode="auto">
            <a:xfrm>
              <a:off x="673" y="2614"/>
              <a:ext cx="4123" cy="1090"/>
              <a:chOff x="673" y="2606"/>
              <a:chExt cx="4123" cy="1090"/>
            </a:xfrm>
          </p:grpSpPr>
          <p:grpSp>
            <p:nvGrpSpPr>
              <p:cNvPr id="64560" name="Group 9"/>
              <p:cNvGrpSpPr>
                <a:grpSpLocks/>
              </p:cNvGrpSpPr>
              <p:nvPr/>
            </p:nvGrpSpPr>
            <p:grpSpPr bwMode="auto">
              <a:xfrm>
                <a:off x="992" y="2627"/>
                <a:ext cx="3804" cy="1061"/>
                <a:chOff x="992" y="2627"/>
                <a:chExt cx="3804" cy="1061"/>
              </a:xfrm>
            </p:grpSpPr>
            <p:grpSp>
              <p:nvGrpSpPr>
                <p:cNvPr id="64568" name="Group 10"/>
                <p:cNvGrpSpPr>
                  <a:grpSpLocks/>
                </p:cNvGrpSpPr>
                <p:nvPr/>
              </p:nvGrpSpPr>
              <p:grpSpPr bwMode="auto">
                <a:xfrm>
                  <a:off x="992" y="2627"/>
                  <a:ext cx="3804" cy="1061"/>
                  <a:chOff x="992" y="2627"/>
                  <a:chExt cx="3804" cy="1061"/>
                </a:xfrm>
              </p:grpSpPr>
              <p:sp>
                <p:nvSpPr>
                  <p:cNvPr id="64570" name="AutoShape 11"/>
                  <p:cNvSpPr>
                    <a:spLocks noChangeArrowheads="1"/>
                  </p:cNvSpPr>
                  <p:nvPr/>
                </p:nvSpPr>
                <p:spPr bwMode="auto">
                  <a:xfrm rot="5400000">
                    <a:off x="2363" y="1256"/>
                    <a:ext cx="1061" cy="3804"/>
                  </a:xfrm>
                  <a:prstGeom prst="parallelogram">
                    <a:avLst>
                      <a:gd name="adj" fmla="val 59685"/>
                    </a:avLst>
                  </a:prstGeom>
                  <a:solidFill>
                    <a:srgbClr val="FF33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1" name="AutoShape 12"/>
                  <p:cNvSpPr>
                    <a:spLocks noChangeArrowheads="1"/>
                  </p:cNvSpPr>
                  <p:nvPr/>
                </p:nvSpPr>
                <p:spPr bwMode="auto">
                  <a:xfrm rot="601221">
                    <a:off x="2272" y="2973"/>
                    <a:ext cx="1737" cy="469"/>
                  </a:xfrm>
                  <a:prstGeom prst="rightArrow">
                    <a:avLst>
                      <a:gd name="adj1" fmla="val 49370"/>
                      <a:gd name="adj2" fmla="val 119013"/>
                    </a:avLst>
                  </a:prstGeom>
                  <a:solidFill>
                    <a:srgbClr val="FFFF99"/>
                  </a:solidFill>
                  <a:ln w="38100" cmpd="dbl">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569" name="Text Box 13"/>
                <p:cNvSpPr txBox="1">
                  <a:spLocks noChangeArrowheads="1"/>
                </p:cNvSpPr>
                <p:nvPr/>
              </p:nvSpPr>
              <p:spPr bwMode="auto">
                <a:xfrm rot="595815">
                  <a:off x="2531" y="3035"/>
                  <a:ext cx="7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zh-CN" altLang="en-US">
                      <a:solidFill>
                        <a:srgbClr val="333399"/>
                      </a:solidFill>
                      <a:latin typeface="Arial" pitchFamily="34" charset="0"/>
                      <a:ea typeface="黑体" pitchFamily="49" charset="-122"/>
                    </a:rPr>
                    <a:t>干扰信号</a:t>
                  </a:r>
                </a:p>
              </p:txBody>
            </p:sp>
          </p:grpSp>
          <p:grpSp>
            <p:nvGrpSpPr>
              <p:cNvPr id="64561" name="Group 14"/>
              <p:cNvGrpSpPr>
                <a:grpSpLocks/>
              </p:cNvGrpSpPr>
              <p:nvPr/>
            </p:nvGrpSpPr>
            <p:grpSpPr bwMode="auto">
              <a:xfrm>
                <a:off x="673" y="2606"/>
                <a:ext cx="319" cy="1090"/>
                <a:chOff x="673" y="2606"/>
                <a:chExt cx="319" cy="1090"/>
              </a:xfrm>
            </p:grpSpPr>
            <p:sp>
              <p:nvSpPr>
                <p:cNvPr id="64562" name="Line 15"/>
                <p:cNvSpPr>
                  <a:spLocks noChangeShapeType="1"/>
                </p:cNvSpPr>
                <p:nvPr/>
              </p:nvSpPr>
              <p:spPr bwMode="auto">
                <a:xfrm>
                  <a:off x="823" y="3057"/>
                  <a:ext cx="0" cy="639"/>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3" name="Line 16"/>
                <p:cNvSpPr>
                  <a:spLocks noChangeShapeType="1"/>
                </p:cNvSpPr>
                <p:nvPr/>
              </p:nvSpPr>
              <p:spPr bwMode="auto">
                <a:xfrm>
                  <a:off x="814" y="2606"/>
                  <a:ext cx="9" cy="445"/>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4" name="Rectangle 17"/>
                <p:cNvSpPr>
                  <a:spLocks noChangeArrowheads="1"/>
                </p:cNvSpPr>
                <p:nvPr/>
              </p:nvSpPr>
              <p:spPr bwMode="auto">
                <a:xfrm>
                  <a:off x="728" y="3259"/>
                  <a:ext cx="184" cy="24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333399"/>
                      </a:solidFill>
                      <a:latin typeface="Arial" pitchFamily="34" charset="0"/>
                      <a:ea typeface="黑体" pitchFamily="49" charset="-122"/>
                      <a:sym typeface="Symbol" pitchFamily="18" charset="2"/>
                    </a:rPr>
                    <a:t></a:t>
                  </a:r>
                </a:p>
              </p:txBody>
            </p:sp>
            <p:sp>
              <p:nvSpPr>
                <p:cNvPr id="64565" name="Line 18"/>
                <p:cNvSpPr>
                  <a:spLocks noChangeShapeType="1"/>
                </p:cNvSpPr>
                <p:nvPr/>
              </p:nvSpPr>
              <p:spPr bwMode="auto">
                <a:xfrm>
                  <a:off x="739" y="3051"/>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6" name="Line 19"/>
                <p:cNvSpPr>
                  <a:spLocks noChangeShapeType="1"/>
                </p:cNvSpPr>
                <p:nvPr/>
              </p:nvSpPr>
              <p:spPr bwMode="auto">
                <a:xfrm>
                  <a:off x="739" y="3696"/>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7" name="Text Box 20"/>
                <p:cNvSpPr txBox="1">
                  <a:spLocks noChangeArrowheads="1"/>
                </p:cNvSpPr>
                <p:nvPr/>
              </p:nvSpPr>
              <p:spPr bwMode="auto">
                <a:xfrm>
                  <a:off x="673" y="2722"/>
                  <a:ext cx="266" cy="2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i="1">
                      <a:solidFill>
                        <a:srgbClr val="333399"/>
                      </a:solidFill>
                      <a:latin typeface="Arial" pitchFamily="34" charset="0"/>
                      <a:ea typeface="黑体" pitchFamily="49" charset="-122"/>
                    </a:rPr>
                    <a:t>T</a:t>
                  </a:r>
                  <a:r>
                    <a:rPr kumimoji="1" lang="en-US" altLang="zh-CN" i="1" baseline="-25000">
                      <a:solidFill>
                        <a:srgbClr val="333399"/>
                      </a:solidFill>
                      <a:latin typeface="Arial" pitchFamily="34" charset="0"/>
                      <a:ea typeface="黑体" pitchFamily="49" charset="-122"/>
                    </a:rPr>
                    <a:t>J</a:t>
                  </a:r>
                  <a:endParaRPr kumimoji="1" lang="en-US" altLang="zh-CN">
                    <a:solidFill>
                      <a:srgbClr val="333399"/>
                    </a:solidFill>
                    <a:latin typeface="Arial" pitchFamily="34" charset="0"/>
                    <a:ea typeface="黑体" pitchFamily="49" charset="-122"/>
                  </a:endParaRPr>
                </a:p>
              </p:txBody>
            </p:sp>
          </p:grpSp>
        </p:grpSp>
      </p:grpSp>
      <p:sp>
        <p:nvSpPr>
          <p:cNvPr id="64517" name="Rectangle 21"/>
          <p:cNvSpPr>
            <a:spLocks noGrp="1" noChangeArrowheads="1"/>
          </p:cNvSpPr>
          <p:nvPr>
            <p:ph type="title"/>
          </p:nvPr>
        </p:nvSpPr>
        <p:spPr>
          <a:xfrm>
            <a:off x="684213" y="115888"/>
            <a:ext cx="7793037" cy="695325"/>
          </a:xfrm>
        </p:spPr>
        <p:txBody>
          <a:bodyPr/>
          <a:lstStyle/>
          <a:p>
            <a:pPr algn="ctr" eaLnBrk="1" hangingPunct="1"/>
            <a:r>
              <a:rPr lang="zh-CN" altLang="en-US" sz="4000" smtClean="0"/>
              <a:t>人为干扰信号 </a:t>
            </a:r>
          </a:p>
        </p:txBody>
      </p:sp>
      <p:sp>
        <p:nvSpPr>
          <p:cNvPr id="64518" name="Line 22"/>
          <p:cNvSpPr>
            <a:spLocks noChangeShapeType="1"/>
          </p:cNvSpPr>
          <p:nvPr/>
        </p:nvSpPr>
        <p:spPr bwMode="auto">
          <a:xfrm>
            <a:off x="1589088" y="1346200"/>
            <a:ext cx="6021387" cy="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19" name="Line 23"/>
          <p:cNvSpPr>
            <a:spLocks noChangeShapeType="1"/>
          </p:cNvSpPr>
          <p:nvPr/>
        </p:nvSpPr>
        <p:spPr bwMode="auto">
          <a:xfrm>
            <a:off x="1574800" y="1354138"/>
            <a:ext cx="0" cy="3435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0" name="Line 24"/>
          <p:cNvSpPr>
            <a:spLocks noChangeShapeType="1"/>
          </p:cNvSpPr>
          <p:nvPr/>
        </p:nvSpPr>
        <p:spPr bwMode="auto">
          <a:xfrm>
            <a:off x="7661275" y="1346200"/>
            <a:ext cx="9429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1" name="Line 25"/>
          <p:cNvSpPr>
            <a:spLocks noChangeShapeType="1"/>
          </p:cNvSpPr>
          <p:nvPr/>
        </p:nvSpPr>
        <p:spPr bwMode="auto">
          <a:xfrm>
            <a:off x="7661275" y="2357438"/>
            <a:ext cx="4016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2" name="Line 26"/>
          <p:cNvSpPr>
            <a:spLocks noChangeShapeType="1"/>
          </p:cNvSpPr>
          <p:nvPr/>
        </p:nvSpPr>
        <p:spPr bwMode="auto">
          <a:xfrm>
            <a:off x="7848600" y="1354138"/>
            <a:ext cx="0" cy="100330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3" name="Rectangle 27"/>
          <p:cNvSpPr>
            <a:spLocks noChangeArrowheads="1"/>
          </p:cNvSpPr>
          <p:nvPr/>
        </p:nvSpPr>
        <p:spPr bwMode="auto">
          <a:xfrm>
            <a:off x="1201738" y="908050"/>
            <a:ext cx="417512"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800">
                <a:solidFill>
                  <a:srgbClr val="333399"/>
                </a:solidFill>
                <a:latin typeface="Arial" pitchFamily="34" charset="0"/>
                <a:ea typeface="黑体" pitchFamily="49" charset="-122"/>
              </a:rPr>
              <a:t>A</a:t>
            </a:r>
          </a:p>
        </p:txBody>
      </p:sp>
      <p:sp>
        <p:nvSpPr>
          <p:cNvPr id="64524" name="Rectangle 28"/>
          <p:cNvSpPr>
            <a:spLocks noChangeArrowheads="1"/>
          </p:cNvSpPr>
          <p:nvPr/>
        </p:nvSpPr>
        <p:spPr bwMode="auto">
          <a:xfrm>
            <a:off x="7451725" y="908050"/>
            <a:ext cx="417513"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800">
                <a:solidFill>
                  <a:srgbClr val="333399"/>
                </a:solidFill>
                <a:latin typeface="Arial" pitchFamily="34" charset="0"/>
                <a:ea typeface="黑体" pitchFamily="49" charset="-122"/>
              </a:rPr>
              <a:t>B</a:t>
            </a:r>
          </a:p>
        </p:txBody>
      </p:sp>
      <p:sp>
        <p:nvSpPr>
          <p:cNvPr id="64525" name="Line 29"/>
          <p:cNvSpPr>
            <a:spLocks noChangeShapeType="1"/>
          </p:cNvSpPr>
          <p:nvPr/>
        </p:nvSpPr>
        <p:spPr bwMode="auto">
          <a:xfrm>
            <a:off x="863600" y="1550988"/>
            <a:ext cx="0" cy="2322512"/>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6" name="Line 30"/>
          <p:cNvSpPr>
            <a:spLocks noChangeShapeType="1"/>
          </p:cNvSpPr>
          <p:nvPr/>
        </p:nvSpPr>
        <p:spPr bwMode="auto">
          <a:xfrm>
            <a:off x="7610475" y="1339850"/>
            <a:ext cx="0" cy="34575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7" name="Line 31"/>
          <p:cNvSpPr>
            <a:spLocks noChangeShapeType="1"/>
          </p:cNvSpPr>
          <p:nvPr/>
        </p:nvSpPr>
        <p:spPr bwMode="auto">
          <a:xfrm>
            <a:off x="1125538" y="2928938"/>
            <a:ext cx="4000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8" name="Line 32"/>
          <p:cNvSpPr>
            <a:spLocks noChangeShapeType="1"/>
          </p:cNvSpPr>
          <p:nvPr/>
        </p:nvSpPr>
        <p:spPr bwMode="auto">
          <a:xfrm>
            <a:off x="1101725" y="1346200"/>
            <a:ext cx="4000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9" name="Line 33"/>
          <p:cNvSpPr>
            <a:spLocks noChangeShapeType="1"/>
          </p:cNvSpPr>
          <p:nvPr/>
        </p:nvSpPr>
        <p:spPr bwMode="auto">
          <a:xfrm>
            <a:off x="1306513" y="1346200"/>
            <a:ext cx="0" cy="1570038"/>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4530" name="Group 34"/>
          <p:cNvGrpSpPr>
            <a:grpSpLocks/>
          </p:cNvGrpSpPr>
          <p:nvPr/>
        </p:nvGrpSpPr>
        <p:grpSpPr bwMode="auto">
          <a:xfrm>
            <a:off x="1095375" y="1870075"/>
            <a:ext cx="449263" cy="398463"/>
            <a:chOff x="4272" y="1968"/>
            <a:chExt cx="241" cy="227"/>
          </a:xfrm>
        </p:grpSpPr>
        <p:sp>
          <p:nvSpPr>
            <p:cNvPr id="64556" name="Rectangle 35"/>
            <p:cNvSpPr>
              <a:spLocks noChangeArrowheads="1"/>
            </p:cNvSpPr>
            <p:nvPr/>
          </p:nvSpPr>
          <p:spPr bwMode="auto">
            <a:xfrm>
              <a:off x="4309" y="2009"/>
              <a:ext cx="181" cy="18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7" name="Text Box 36"/>
            <p:cNvSpPr txBox="1">
              <a:spLocks noChangeArrowheads="1"/>
            </p:cNvSpPr>
            <p:nvPr/>
          </p:nvSpPr>
          <p:spPr bwMode="auto">
            <a:xfrm>
              <a:off x="4272" y="1968"/>
              <a:ext cx="24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i="1">
                  <a:solidFill>
                    <a:srgbClr val="333399"/>
                  </a:solidFill>
                  <a:latin typeface="Arial" pitchFamily="34" charset="0"/>
                  <a:ea typeface="黑体" pitchFamily="49" charset="-122"/>
                </a:rPr>
                <a:t>T</a:t>
              </a:r>
              <a:r>
                <a:rPr kumimoji="1" lang="en-US" altLang="zh-CN" i="1" baseline="-25000">
                  <a:solidFill>
                    <a:srgbClr val="333399"/>
                  </a:solidFill>
                  <a:latin typeface="Arial" pitchFamily="34" charset="0"/>
                  <a:ea typeface="黑体" pitchFamily="49" charset="-122"/>
                </a:rPr>
                <a:t>B</a:t>
              </a:r>
              <a:endParaRPr kumimoji="1" lang="en-US" altLang="zh-CN">
                <a:solidFill>
                  <a:srgbClr val="333399"/>
                </a:solidFill>
                <a:latin typeface="Arial" pitchFamily="34" charset="0"/>
                <a:ea typeface="黑体" pitchFamily="49" charset="-122"/>
              </a:endParaRPr>
            </a:p>
          </p:txBody>
        </p:sp>
      </p:grpSp>
      <p:sp>
        <p:nvSpPr>
          <p:cNvPr id="64531" name="Text Box 37"/>
          <p:cNvSpPr txBox="1">
            <a:spLocks noChangeArrowheads="1"/>
          </p:cNvSpPr>
          <p:nvPr/>
        </p:nvSpPr>
        <p:spPr bwMode="auto">
          <a:xfrm>
            <a:off x="684213" y="3843338"/>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i="1">
                <a:solidFill>
                  <a:srgbClr val="333399"/>
                </a:solidFill>
                <a:latin typeface="Arial" pitchFamily="34" charset="0"/>
                <a:ea typeface="黑体" pitchFamily="49" charset="-122"/>
              </a:rPr>
              <a:t>t</a:t>
            </a:r>
          </a:p>
        </p:txBody>
      </p:sp>
      <p:sp>
        <p:nvSpPr>
          <p:cNvPr id="64532" name="Line 38"/>
          <p:cNvSpPr>
            <a:spLocks noChangeShapeType="1"/>
          </p:cNvSpPr>
          <p:nvPr/>
        </p:nvSpPr>
        <p:spPr bwMode="auto">
          <a:xfrm>
            <a:off x="1574800" y="4643438"/>
            <a:ext cx="6051550" cy="0"/>
          </a:xfrm>
          <a:prstGeom prst="line">
            <a:avLst/>
          </a:prstGeom>
          <a:noFill/>
          <a:ln w="1905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3" name="Rectangle 39"/>
          <p:cNvSpPr>
            <a:spLocks noChangeArrowheads="1"/>
          </p:cNvSpPr>
          <p:nvPr/>
        </p:nvSpPr>
        <p:spPr bwMode="auto">
          <a:xfrm>
            <a:off x="7723188" y="1620838"/>
            <a:ext cx="292100" cy="3937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333399"/>
                </a:solidFill>
                <a:latin typeface="Arial" pitchFamily="34" charset="0"/>
                <a:ea typeface="黑体" pitchFamily="49" charset="-122"/>
                <a:sym typeface="Symbol" pitchFamily="18" charset="2"/>
              </a:rPr>
              <a:t></a:t>
            </a:r>
          </a:p>
        </p:txBody>
      </p:sp>
      <p:grpSp>
        <p:nvGrpSpPr>
          <p:cNvPr id="420904" name="Group 40"/>
          <p:cNvGrpSpPr>
            <a:grpSpLocks/>
          </p:cNvGrpSpPr>
          <p:nvPr/>
        </p:nvGrpSpPr>
        <p:grpSpPr bwMode="auto">
          <a:xfrm>
            <a:off x="6129338" y="620713"/>
            <a:ext cx="1497012" cy="1316037"/>
            <a:chOff x="3861" y="1162"/>
            <a:chExt cx="943" cy="829"/>
          </a:xfrm>
        </p:grpSpPr>
        <p:sp>
          <p:nvSpPr>
            <p:cNvPr id="64553" name="AutoShape 41"/>
            <p:cNvSpPr>
              <a:spLocks noChangeArrowheads="1"/>
            </p:cNvSpPr>
            <p:nvPr/>
          </p:nvSpPr>
          <p:spPr bwMode="auto">
            <a:xfrm flipH="1">
              <a:off x="3861" y="1171"/>
              <a:ext cx="924" cy="225"/>
            </a:xfrm>
            <a:prstGeom prst="roundRect">
              <a:avLst>
                <a:gd name="adj" fmla="val 35417"/>
              </a:avLst>
            </a:prstGeom>
            <a:solidFill>
              <a:srgbClr val="FFFF99"/>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4" name="Text Box 42"/>
            <p:cNvSpPr txBox="1">
              <a:spLocks noChangeArrowheads="1"/>
            </p:cNvSpPr>
            <p:nvPr/>
          </p:nvSpPr>
          <p:spPr bwMode="auto">
            <a:xfrm>
              <a:off x="3878" y="1162"/>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a:solidFill>
                    <a:srgbClr val="333399"/>
                  </a:solidFill>
                  <a:latin typeface="Arial" pitchFamily="34" charset="0"/>
                  <a:ea typeface="黑体" pitchFamily="49" charset="-122"/>
                </a:rPr>
                <a:t>B </a:t>
              </a:r>
              <a:r>
                <a:rPr kumimoji="1" lang="zh-CN" altLang="en-US">
                  <a:solidFill>
                    <a:srgbClr val="333399"/>
                  </a:solidFill>
                  <a:latin typeface="Arial" pitchFamily="34" charset="0"/>
                  <a:ea typeface="黑体" pitchFamily="49" charset="-122"/>
                </a:rPr>
                <a:t>发送数据</a:t>
              </a:r>
            </a:p>
          </p:txBody>
        </p:sp>
        <p:sp>
          <p:nvSpPr>
            <p:cNvPr id="64555" name="Line 43"/>
            <p:cNvSpPr>
              <a:spLocks noChangeShapeType="1"/>
            </p:cNvSpPr>
            <p:nvPr/>
          </p:nvSpPr>
          <p:spPr bwMode="auto">
            <a:xfrm>
              <a:off x="4377" y="1389"/>
              <a:ext cx="427" cy="602"/>
            </a:xfrm>
            <a:prstGeom prst="line">
              <a:avLst/>
            </a:prstGeom>
            <a:noFill/>
            <a:ln w="190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535" name="Line 45"/>
          <p:cNvSpPr>
            <a:spLocks noChangeShapeType="1"/>
          </p:cNvSpPr>
          <p:nvPr/>
        </p:nvSpPr>
        <p:spPr bwMode="auto">
          <a:xfrm flipH="1">
            <a:off x="1568450" y="2357438"/>
            <a:ext cx="539750" cy="579437"/>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6" name="AutoShape 46"/>
          <p:cNvSpPr>
            <a:spLocks noChangeArrowheads="1"/>
          </p:cNvSpPr>
          <p:nvPr/>
        </p:nvSpPr>
        <p:spPr bwMode="auto">
          <a:xfrm>
            <a:off x="1574800" y="1557338"/>
            <a:ext cx="1701800" cy="1584325"/>
          </a:xfrm>
          <a:prstGeom prst="irregularSeal1">
            <a:avLst/>
          </a:prstGeom>
          <a:solidFill>
            <a:srgbClr val="FF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7" name="Text Box 47"/>
          <p:cNvSpPr txBox="1">
            <a:spLocks noChangeArrowheads="1"/>
          </p:cNvSpPr>
          <p:nvPr/>
        </p:nvSpPr>
        <p:spPr bwMode="auto">
          <a:xfrm>
            <a:off x="1855788" y="2005013"/>
            <a:ext cx="109855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pPr>
              <a:lnSpc>
                <a:spcPct val="85000"/>
              </a:lnSpc>
            </a:pPr>
            <a:r>
              <a:rPr kumimoji="1" lang="en-US" altLang="zh-CN" sz="2400">
                <a:solidFill>
                  <a:srgbClr val="333399"/>
                </a:solidFill>
                <a:latin typeface="Arial" pitchFamily="34" charset="0"/>
                <a:ea typeface="黑体" pitchFamily="49" charset="-122"/>
              </a:rPr>
              <a:t>A </a:t>
            </a:r>
            <a:r>
              <a:rPr kumimoji="1" lang="zh-CN" altLang="en-US" sz="2400">
                <a:solidFill>
                  <a:srgbClr val="333399"/>
                </a:solidFill>
                <a:latin typeface="Arial" pitchFamily="34" charset="0"/>
                <a:ea typeface="黑体" pitchFamily="49" charset="-122"/>
              </a:rPr>
              <a:t>检测</a:t>
            </a:r>
          </a:p>
          <a:p>
            <a:pPr>
              <a:lnSpc>
                <a:spcPct val="85000"/>
              </a:lnSpc>
            </a:pPr>
            <a:r>
              <a:rPr kumimoji="1" lang="zh-CN" altLang="en-US" sz="2400">
                <a:solidFill>
                  <a:srgbClr val="333399"/>
                </a:solidFill>
                <a:latin typeface="Arial" pitchFamily="34" charset="0"/>
                <a:ea typeface="黑体" pitchFamily="49" charset="-122"/>
              </a:rPr>
              <a:t>到冲突</a:t>
            </a:r>
          </a:p>
        </p:txBody>
      </p:sp>
      <p:grpSp>
        <p:nvGrpSpPr>
          <p:cNvPr id="420912" name="Group 48"/>
          <p:cNvGrpSpPr>
            <a:grpSpLocks/>
          </p:cNvGrpSpPr>
          <p:nvPr/>
        </p:nvGrpSpPr>
        <p:grpSpPr bwMode="auto">
          <a:xfrm>
            <a:off x="4641850" y="750888"/>
            <a:ext cx="1779588" cy="1397000"/>
            <a:chOff x="2925" y="1207"/>
            <a:chExt cx="1121" cy="880"/>
          </a:xfrm>
        </p:grpSpPr>
        <p:sp>
          <p:nvSpPr>
            <p:cNvPr id="64549" name="Line 49"/>
            <p:cNvSpPr>
              <a:spLocks noChangeShapeType="1"/>
            </p:cNvSpPr>
            <p:nvPr/>
          </p:nvSpPr>
          <p:spPr bwMode="auto">
            <a:xfrm>
              <a:off x="3787" y="1706"/>
              <a:ext cx="232" cy="381"/>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4550" name="Group 50"/>
            <p:cNvGrpSpPr>
              <a:grpSpLocks/>
            </p:cNvGrpSpPr>
            <p:nvPr/>
          </p:nvGrpSpPr>
          <p:grpSpPr bwMode="auto">
            <a:xfrm>
              <a:off x="2925" y="1207"/>
              <a:ext cx="1121" cy="681"/>
              <a:chOff x="3514" y="2256"/>
              <a:chExt cx="1121" cy="681"/>
            </a:xfrm>
          </p:grpSpPr>
          <p:sp>
            <p:nvSpPr>
              <p:cNvPr id="64551" name="AutoShape 51"/>
              <p:cNvSpPr>
                <a:spLocks noChangeArrowheads="1"/>
              </p:cNvSpPr>
              <p:nvPr/>
            </p:nvSpPr>
            <p:spPr bwMode="auto">
              <a:xfrm>
                <a:off x="3514" y="2256"/>
                <a:ext cx="1121" cy="681"/>
              </a:xfrm>
              <a:prstGeom prst="irregularSeal1">
                <a:avLst/>
              </a:prstGeom>
              <a:solidFill>
                <a:srgbClr val="FF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2" name="Text Box 52"/>
              <p:cNvSpPr txBox="1">
                <a:spLocks noChangeArrowheads="1"/>
              </p:cNvSpPr>
              <p:nvPr/>
            </p:nvSpPr>
            <p:spPr bwMode="auto">
              <a:xfrm>
                <a:off x="3701" y="2427"/>
                <a:ext cx="7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zh-CN" altLang="en-US">
                    <a:solidFill>
                      <a:srgbClr val="333399"/>
                    </a:solidFill>
                    <a:latin typeface="Arial" pitchFamily="34" charset="0"/>
                    <a:ea typeface="黑体" pitchFamily="49" charset="-122"/>
                  </a:rPr>
                  <a:t>开始冲突</a:t>
                </a:r>
              </a:p>
            </p:txBody>
          </p:sp>
        </p:grpSp>
      </p:grpSp>
      <p:sp>
        <p:nvSpPr>
          <p:cNvPr id="64539" name="Line 54"/>
          <p:cNvSpPr>
            <a:spLocks noChangeShapeType="1"/>
          </p:cNvSpPr>
          <p:nvPr/>
        </p:nvSpPr>
        <p:spPr bwMode="auto">
          <a:xfrm>
            <a:off x="7689850" y="4643438"/>
            <a:ext cx="914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0" name="Line 55"/>
          <p:cNvSpPr>
            <a:spLocks noChangeShapeType="1"/>
          </p:cNvSpPr>
          <p:nvPr/>
        </p:nvSpPr>
        <p:spPr bwMode="auto">
          <a:xfrm>
            <a:off x="8315325" y="1323975"/>
            <a:ext cx="0" cy="3306763"/>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1" name="Text Box 56"/>
          <p:cNvSpPr txBox="1">
            <a:spLocks noChangeArrowheads="1"/>
          </p:cNvSpPr>
          <p:nvPr/>
        </p:nvSpPr>
        <p:spPr bwMode="auto">
          <a:xfrm>
            <a:off x="8081963" y="1952625"/>
            <a:ext cx="488950" cy="22828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zh-CN" altLang="en-US" sz="2400">
                <a:solidFill>
                  <a:srgbClr val="333399"/>
                </a:solidFill>
                <a:latin typeface="Arial" pitchFamily="34" charset="0"/>
                <a:ea typeface="黑体" pitchFamily="49" charset="-122"/>
              </a:rPr>
              <a:t>信</a:t>
            </a:r>
          </a:p>
          <a:p>
            <a:r>
              <a:rPr kumimoji="1" lang="zh-CN" altLang="en-US" sz="2400">
                <a:solidFill>
                  <a:srgbClr val="333399"/>
                </a:solidFill>
                <a:latin typeface="Arial" pitchFamily="34" charset="0"/>
                <a:ea typeface="黑体" pitchFamily="49" charset="-122"/>
              </a:rPr>
              <a:t>道</a:t>
            </a:r>
          </a:p>
          <a:p>
            <a:r>
              <a:rPr kumimoji="1" lang="zh-CN" altLang="en-US" sz="2400">
                <a:solidFill>
                  <a:srgbClr val="333399"/>
                </a:solidFill>
                <a:latin typeface="Arial" pitchFamily="34" charset="0"/>
                <a:ea typeface="黑体" pitchFamily="49" charset="-122"/>
              </a:rPr>
              <a:t>占</a:t>
            </a:r>
          </a:p>
          <a:p>
            <a:r>
              <a:rPr kumimoji="1" lang="zh-CN" altLang="en-US" sz="2400">
                <a:solidFill>
                  <a:srgbClr val="333399"/>
                </a:solidFill>
                <a:latin typeface="Arial" pitchFamily="34" charset="0"/>
                <a:ea typeface="黑体" pitchFamily="49" charset="-122"/>
              </a:rPr>
              <a:t>用</a:t>
            </a:r>
          </a:p>
          <a:p>
            <a:r>
              <a:rPr kumimoji="1" lang="zh-CN" altLang="en-US" sz="2400">
                <a:solidFill>
                  <a:srgbClr val="333399"/>
                </a:solidFill>
                <a:latin typeface="Arial" pitchFamily="34" charset="0"/>
                <a:ea typeface="黑体" pitchFamily="49" charset="-122"/>
              </a:rPr>
              <a:t>时</a:t>
            </a:r>
          </a:p>
          <a:p>
            <a:r>
              <a:rPr kumimoji="1" lang="zh-CN" altLang="en-US" sz="2400">
                <a:solidFill>
                  <a:srgbClr val="333399"/>
                </a:solidFill>
                <a:latin typeface="Arial" pitchFamily="34" charset="0"/>
                <a:ea typeface="黑体" pitchFamily="49" charset="-122"/>
              </a:rPr>
              <a:t>间</a:t>
            </a:r>
          </a:p>
        </p:txBody>
      </p:sp>
      <p:grpSp>
        <p:nvGrpSpPr>
          <p:cNvPr id="64542" name="Group 57"/>
          <p:cNvGrpSpPr>
            <a:grpSpLocks/>
          </p:cNvGrpSpPr>
          <p:nvPr/>
        </p:nvGrpSpPr>
        <p:grpSpPr bwMode="auto">
          <a:xfrm>
            <a:off x="1619250" y="620713"/>
            <a:ext cx="1611313" cy="720725"/>
            <a:chOff x="1020" y="1162"/>
            <a:chExt cx="1015" cy="454"/>
          </a:xfrm>
        </p:grpSpPr>
        <p:sp>
          <p:nvSpPr>
            <p:cNvPr id="64546" name="AutoShape 58"/>
            <p:cNvSpPr>
              <a:spLocks noChangeArrowheads="1"/>
            </p:cNvSpPr>
            <p:nvPr/>
          </p:nvSpPr>
          <p:spPr bwMode="auto">
            <a:xfrm flipH="1">
              <a:off x="1111" y="1171"/>
              <a:ext cx="924" cy="225"/>
            </a:xfrm>
            <a:prstGeom prst="roundRect">
              <a:avLst>
                <a:gd name="adj" fmla="val 35417"/>
              </a:avLst>
            </a:prstGeom>
            <a:solidFill>
              <a:srgbClr val="FFFF99"/>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7" name="Text Box 59"/>
            <p:cNvSpPr txBox="1">
              <a:spLocks noChangeArrowheads="1"/>
            </p:cNvSpPr>
            <p:nvPr/>
          </p:nvSpPr>
          <p:spPr bwMode="auto">
            <a:xfrm>
              <a:off x="1111" y="1162"/>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a:solidFill>
                    <a:srgbClr val="333399"/>
                  </a:solidFill>
                  <a:latin typeface="Arial" pitchFamily="34" charset="0"/>
                  <a:ea typeface="黑体" pitchFamily="49" charset="-122"/>
                </a:rPr>
                <a:t>A </a:t>
              </a:r>
              <a:r>
                <a:rPr kumimoji="1" lang="zh-CN" altLang="en-US">
                  <a:solidFill>
                    <a:srgbClr val="333399"/>
                  </a:solidFill>
                  <a:latin typeface="Arial" pitchFamily="34" charset="0"/>
                  <a:ea typeface="黑体" pitchFamily="49" charset="-122"/>
                </a:rPr>
                <a:t>发送数据</a:t>
              </a:r>
            </a:p>
          </p:txBody>
        </p:sp>
        <p:sp>
          <p:nvSpPr>
            <p:cNvPr id="64548" name="Line 60"/>
            <p:cNvSpPr>
              <a:spLocks noChangeShapeType="1"/>
            </p:cNvSpPr>
            <p:nvPr/>
          </p:nvSpPr>
          <p:spPr bwMode="auto">
            <a:xfrm flipH="1">
              <a:off x="1020" y="1389"/>
              <a:ext cx="409" cy="227"/>
            </a:xfrm>
            <a:prstGeom prst="line">
              <a:avLst/>
            </a:prstGeom>
            <a:noFill/>
            <a:ln w="190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0925" name="Line 61"/>
          <p:cNvSpPr>
            <a:spLocks noChangeShapeType="1"/>
          </p:cNvSpPr>
          <p:nvPr/>
        </p:nvSpPr>
        <p:spPr bwMode="auto">
          <a:xfrm flipH="1">
            <a:off x="1562100" y="1936750"/>
            <a:ext cx="6026150" cy="1008063"/>
          </a:xfrm>
          <a:prstGeom prst="line">
            <a:avLst/>
          </a:prstGeom>
          <a:noFill/>
          <a:ln w="57150">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4" name="Rectangle 62"/>
          <p:cNvSpPr>
            <a:spLocks noChangeArrowheads="1"/>
          </p:cNvSpPr>
          <p:nvPr/>
        </p:nvSpPr>
        <p:spPr bwMode="auto">
          <a:xfrm>
            <a:off x="1189038" y="5164138"/>
            <a:ext cx="430212" cy="3540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927" name="Text Box 63"/>
          <p:cNvSpPr txBox="1">
            <a:spLocks noChangeArrowheads="1"/>
          </p:cNvSpPr>
          <p:nvPr/>
        </p:nvSpPr>
        <p:spPr bwMode="auto">
          <a:xfrm>
            <a:off x="395288" y="5008563"/>
            <a:ext cx="8229600" cy="1382712"/>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en-US" altLang="zh-CN" sz="2800">
                <a:solidFill>
                  <a:srgbClr val="333399"/>
                </a:solidFill>
                <a:latin typeface="Arial" pitchFamily="34" charset="0"/>
                <a:ea typeface="黑体" pitchFamily="49" charset="-122"/>
              </a:rPr>
              <a:t>B </a:t>
            </a:r>
            <a:r>
              <a:rPr lang="zh-CN" altLang="en-US" sz="2800">
                <a:solidFill>
                  <a:srgbClr val="333399"/>
                </a:solidFill>
                <a:latin typeface="Arial" pitchFamily="34" charset="0"/>
                <a:ea typeface="黑体" pitchFamily="49" charset="-122"/>
              </a:rPr>
              <a:t>也能够检测到冲突，并立即停止发送数据帧，接着就发送干扰信号。这里为了简单起见，只画出 </a:t>
            </a:r>
            <a:r>
              <a:rPr lang="en-US" altLang="zh-CN" sz="2800">
                <a:solidFill>
                  <a:srgbClr val="333399"/>
                </a:solidFill>
                <a:latin typeface="Arial" pitchFamily="34" charset="0"/>
                <a:ea typeface="黑体" pitchFamily="49" charset="-122"/>
              </a:rPr>
              <a:t>A </a:t>
            </a:r>
            <a:r>
              <a:rPr lang="zh-CN" altLang="en-US" sz="2800">
                <a:solidFill>
                  <a:srgbClr val="333399"/>
                </a:solidFill>
                <a:latin typeface="Arial" pitchFamily="34" charset="0"/>
                <a:ea typeface="黑体" pitchFamily="49" charset="-122"/>
              </a:rPr>
              <a:t>发送干扰信号的情况。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420868"/>
                                        </p:tgtEl>
                                        <p:attrNameLst>
                                          <p:attrName>style.visibility</p:attrName>
                                        </p:attrNameLst>
                                      </p:cBhvr>
                                      <p:to>
                                        <p:strVal val="visible"/>
                                      </p:to>
                                    </p:set>
                                    <p:animEffect transition="in" filter="wipe(up)">
                                      <p:cBhvr>
                                        <p:cTn id="7" dur="18000"/>
                                        <p:tgtEl>
                                          <p:spTgt spid="420868"/>
                                        </p:tgtEl>
                                      </p:cBhvr>
                                    </p:animEffect>
                                  </p:childTnLst>
                                </p:cTn>
                              </p:par>
                              <p:par>
                                <p:cTn id="8" presetID="1" presetClass="entr" presetSubtype="0" fill="hold" nodeType="withEffect">
                                  <p:stCondLst>
                                    <p:cond delay="3500"/>
                                  </p:stCondLst>
                                  <p:childTnLst>
                                    <p:set>
                                      <p:cBhvr>
                                        <p:cTn id="9" dur="1" fill="hold">
                                          <p:stCondLst>
                                            <p:cond delay="0"/>
                                          </p:stCondLst>
                                        </p:cTn>
                                        <p:tgtEl>
                                          <p:spTgt spid="420904"/>
                                        </p:tgtEl>
                                        <p:attrNameLst>
                                          <p:attrName>style.visibility</p:attrName>
                                        </p:attrNameLst>
                                      </p:cBhvr>
                                      <p:to>
                                        <p:strVal val="visible"/>
                                      </p:to>
                                    </p:set>
                                  </p:childTnLst>
                                </p:cTn>
                              </p:par>
                              <p:par>
                                <p:cTn id="10" presetID="22" presetClass="entr" presetSubtype="2" fill="hold" grpId="0" nodeType="withEffect">
                                  <p:stCondLst>
                                    <p:cond delay="3500"/>
                                  </p:stCondLst>
                                  <p:childTnLst>
                                    <p:set>
                                      <p:cBhvr>
                                        <p:cTn id="11" dur="1" fill="hold">
                                          <p:stCondLst>
                                            <p:cond delay="0"/>
                                          </p:stCondLst>
                                        </p:cTn>
                                        <p:tgtEl>
                                          <p:spTgt spid="420925"/>
                                        </p:tgtEl>
                                        <p:attrNameLst>
                                          <p:attrName>style.visibility</p:attrName>
                                        </p:attrNameLst>
                                      </p:cBhvr>
                                      <p:to>
                                        <p:strVal val="visible"/>
                                      </p:to>
                                    </p:set>
                                    <p:animEffect transition="in" filter="wipe(right)">
                                      <p:cBhvr>
                                        <p:cTn id="12" dur="5000"/>
                                        <p:tgtEl>
                                          <p:spTgt spid="420925"/>
                                        </p:tgtEl>
                                      </p:cBhvr>
                                    </p:animEffect>
                                  </p:childTnLst>
                                </p:cTn>
                              </p:par>
                              <p:par>
                                <p:cTn id="13" presetID="1" presetClass="entr" presetSubtype="0" fill="hold" nodeType="withEffect">
                                  <p:stCondLst>
                                    <p:cond delay="4000"/>
                                  </p:stCondLst>
                                  <p:childTnLst>
                                    <p:set>
                                      <p:cBhvr>
                                        <p:cTn id="14" dur="1" fill="hold">
                                          <p:stCondLst>
                                            <p:cond delay="0"/>
                                          </p:stCondLst>
                                        </p:cTn>
                                        <p:tgtEl>
                                          <p:spTgt spid="420912"/>
                                        </p:tgtEl>
                                        <p:attrNameLst>
                                          <p:attrName>style.visibility</p:attrName>
                                        </p:attrNameLst>
                                      </p:cBhvr>
                                      <p:to>
                                        <p:strVal val="visible"/>
                                      </p:to>
                                    </p:set>
                                  </p:childTnLst>
                                </p:cTn>
                              </p:par>
                              <p:par>
                                <p:cTn id="15" presetID="35" presetClass="emph" presetSubtype="0" repeatCount="4000" fill="hold" nodeType="withEffect">
                                  <p:stCondLst>
                                    <p:cond delay="4000"/>
                                  </p:stCondLst>
                                  <p:childTnLst>
                                    <p:anim calcmode="discrete" valueType="str">
                                      <p:cBhvr>
                                        <p:cTn id="16" dur="1000" fill="hold"/>
                                        <p:tgtEl>
                                          <p:spTgt spid="420912"/>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0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925" grpId="0" animBg="1"/>
      <p:bldP spid="42092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algn="ctr" eaLnBrk="1" hangingPunct="1"/>
            <a:r>
              <a:rPr lang="zh-CN" altLang="en-US" smtClean="0"/>
              <a:t>帧间最小间隔</a:t>
            </a:r>
          </a:p>
        </p:txBody>
      </p:sp>
      <p:sp>
        <p:nvSpPr>
          <p:cNvPr id="65539" name="Rectangle 3"/>
          <p:cNvSpPr>
            <a:spLocks noGrp="1" noChangeArrowheads="1"/>
          </p:cNvSpPr>
          <p:nvPr>
            <p:ph type="body" idx="1"/>
          </p:nvPr>
        </p:nvSpPr>
        <p:spPr>
          <a:xfrm>
            <a:off x="1042988" y="1773238"/>
            <a:ext cx="7850187" cy="4535487"/>
          </a:xfrm>
        </p:spPr>
        <p:txBody>
          <a:bodyPr/>
          <a:lstStyle/>
          <a:p>
            <a:pPr eaLnBrk="1" hangingPunct="1">
              <a:lnSpc>
                <a:spcPct val="90000"/>
              </a:lnSpc>
            </a:pPr>
            <a:r>
              <a:rPr lang="zh-CN" altLang="en-US" smtClean="0"/>
              <a:t>帧间最小间隔为 </a:t>
            </a:r>
            <a:r>
              <a:rPr lang="en-US" altLang="zh-CN" smtClean="0"/>
              <a:t>9.6 </a:t>
            </a:r>
            <a:r>
              <a:rPr lang="en-US" altLang="zh-CN" smtClean="0">
                <a:sym typeface="Symbol" pitchFamily="18" charset="2"/>
              </a:rPr>
              <a:t></a:t>
            </a:r>
            <a:r>
              <a:rPr lang="en-US" altLang="zh-CN" smtClean="0"/>
              <a:t>s</a:t>
            </a:r>
            <a:r>
              <a:rPr lang="zh-CN" altLang="en-US" smtClean="0"/>
              <a:t>，相当于 </a:t>
            </a:r>
            <a:r>
              <a:rPr lang="en-US" altLang="zh-CN" smtClean="0"/>
              <a:t>96 bit </a:t>
            </a:r>
            <a:r>
              <a:rPr lang="zh-CN" altLang="en-US" smtClean="0"/>
              <a:t>的发送时间。</a:t>
            </a:r>
          </a:p>
          <a:p>
            <a:pPr eaLnBrk="1" hangingPunct="1">
              <a:lnSpc>
                <a:spcPct val="90000"/>
              </a:lnSpc>
            </a:pPr>
            <a:r>
              <a:rPr lang="zh-CN" altLang="en-US" smtClean="0"/>
              <a:t>一个站在检测到总线开始空闲后，还要等待 </a:t>
            </a:r>
            <a:r>
              <a:rPr lang="en-US" altLang="zh-CN" smtClean="0"/>
              <a:t>9.6 </a:t>
            </a:r>
            <a:r>
              <a:rPr lang="en-US" altLang="zh-CN" smtClean="0">
                <a:sym typeface="Symbol" pitchFamily="18" charset="2"/>
              </a:rPr>
              <a:t></a:t>
            </a:r>
            <a:r>
              <a:rPr lang="en-US" altLang="zh-CN" smtClean="0"/>
              <a:t>s </a:t>
            </a:r>
            <a:r>
              <a:rPr lang="zh-CN" altLang="en-US" smtClean="0"/>
              <a:t>才能再次发送数据。</a:t>
            </a:r>
          </a:p>
          <a:p>
            <a:pPr eaLnBrk="1" hangingPunct="1">
              <a:lnSpc>
                <a:spcPct val="90000"/>
              </a:lnSpc>
            </a:pPr>
            <a:r>
              <a:rPr lang="zh-CN" altLang="en-US" smtClean="0"/>
              <a:t>这样做是为了使刚刚收到数据帧的站点的接收缓存来得及清理，做好接收下一帧的准备。</a:t>
            </a:r>
          </a:p>
          <a:p>
            <a:pPr eaLnBrk="1" hangingPunct="1">
              <a:lnSpc>
                <a:spcPct val="90000"/>
              </a:lnSpc>
            </a:pPr>
            <a:r>
              <a:rPr lang="en-US" altLang="zh-CN" smtClean="0"/>
              <a:t>P83 </a:t>
            </a:r>
            <a:r>
              <a:rPr lang="zh-CN" altLang="en-US" smtClean="0"/>
              <a:t>协议要点（下一张</a:t>
            </a:r>
            <a:r>
              <a:rPr lang="en-US" altLang="zh-CN" smtClean="0"/>
              <a:t>PPT)</a:t>
            </a:r>
          </a:p>
          <a:p>
            <a:pPr eaLnBrk="1" hangingPunct="1">
              <a:lnSpc>
                <a:spcPct val="90000"/>
              </a:lnSpc>
            </a:pPr>
            <a:r>
              <a:rPr lang="en-US" altLang="zh-CN" smtClean="0"/>
              <a:t>P106  3-24</a:t>
            </a:r>
          </a:p>
          <a:p>
            <a:pPr eaLnBrk="1" hangingPunct="1">
              <a:lnSpc>
                <a:spcPct val="90000"/>
              </a:lnSpc>
            </a:pPr>
            <a:endParaRPr lang="en-US" altLang="zh-CN" smtClean="0"/>
          </a:p>
          <a:p>
            <a:pPr eaLnBrk="1" hangingPunct="1">
              <a:lnSpc>
                <a:spcPct val="90000"/>
              </a:lnSpc>
            </a:pPr>
            <a:endParaRPr lang="en-US" altLang="zh-CN" smtClean="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150938" y="214313"/>
            <a:ext cx="7793037" cy="766762"/>
          </a:xfrm>
        </p:spPr>
        <p:txBody>
          <a:bodyPr/>
          <a:lstStyle/>
          <a:p>
            <a:r>
              <a:rPr lang="zh-CN" altLang="en-US" smtClean="0"/>
              <a:t>协议要点：</a:t>
            </a:r>
          </a:p>
        </p:txBody>
      </p:sp>
      <p:sp>
        <p:nvSpPr>
          <p:cNvPr id="66563" name="Rectangle 3"/>
          <p:cNvSpPr>
            <a:spLocks noGrp="1" noChangeArrowheads="1"/>
          </p:cNvSpPr>
          <p:nvPr>
            <p:ph type="body" idx="1"/>
          </p:nvPr>
        </p:nvSpPr>
        <p:spPr>
          <a:xfrm>
            <a:off x="395288" y="981075"/>
            <a:ext cx="8420100" cy="5616575"/>
          </a:xfrm>
        </p:spPr>
        <p:txBody>
          <a:bodyPr/>
          <a:lstStyle/>
          <a:p>
            <a:r>
              <a:rPr lang="zh-CN" altLang="en-US" sz="2800" smtClean="0"/>
              <a:t>（</a:t>
            </a:r>
            <a:r>
              <a:rPr lang="en-US" altLang="zh-CN" sz="2800" smtClean="0"/>
              <a:t>1</a:t>
            </a:r>
            <a:r>
              <a:rPr lang="zh-CN" altLang="en-US" sz="2800" smtClean="0"/>
              <a:t>）适配器从网络层获得一个分组，加上以太网 的首部和尾部，组成以太网帧，放入适配器的缓 存中，准备发送。 </a:t>
            </a:r>
          </a:p>
          <a:p>
            <a:r>
              <a:rPr lang="zh-CN" altLang="en-US" sz="2800" smtClean="0"/>
              <a:t>（</a:t>
            </a:r>
            <a:r>
              <a:rPr lang="en-US" altLang="zh-CN" sz="2800" smtClean="0"/>
              <a:t>2</a:t>
            </a:r>
            <a:r>
              <a:rPr lang="zh-CN" altLang="en-US" sz="2800" smtClean="0"/>
              <a:t>）若适配器检测到信道空闲（保持</a:t>
            </a:r>
            <a:r>
              <a:rPr lang="en-US" altLang="zh-CN" sz="2800" smtClean="0"/>
              <a:t>96</a:t>
            </a:r>
            <a:r>
              <a:rPr lang="zh-CN" altLang="en-US" sz="2800" smtClean="0"/>
              <a:t>比特时间），就发送这个帧。 若检测到信道忙，则继续检测并等待信道转为空闲（</a:t>
            </a:r>
            <a:r>
              <a:rPr lang="en-US" altLang="zh-CN" sz="2800" smtClean="0"/>
              <a:t>96</a:t>
            </a:r>
            <a:r>
              <a:rPr lang="zh-CN" altLang="en-US" sz="2800" smtClean="0"/>
              <a:t>比特时间，然后发送。 </a:t>
            </a:r>
          </a:p>
          <a:p>
            <a:r>
              <a:rPr lang="zh-CN" altLang="en-US" sz="2800" smtClean="0"/>
              <a:t>（</a:t>
            </a:r>
            <a:r>
              <a:rPr lang="en-US" altLang="zh-CN" sz="2800" smtClean="0"/>
              <a:t>3</a:t>
            </a:r>
            <a:r>
              <a:rPr lang="zh-CN" altLang="en-US" sz="2800" smtClean="0"/>
              <a:t>）在发送过程中继续检测信道，若一直未检测 到碰撞，就顺利把这个帧成功发送。若检测到碰 撞，则中止数据的发送，并发送人为干扰信号。 </a:t>
            </a:r>
          </a:p>
          <a:p>
            <a:r>
              <a:rPr lang="zh-CN" altLang="en-US" sz="2800" smtClean="0"/>
              <a:t>（</a:t>
            </a:r>
            <a:r>
              <a:rPr lang="en-US" altLang="zh-CN" sz="2800" smtClean="0"/>
              <a:t>4</a:t>
            </a:r>
            <a:r>
              <a:rPr lang="zh-CN" altLang="en-US" sz="2800" smtClean="0"/>
              <a:t>）在中止发送后，适配器就执行指数退避算法， 等待</a:t>
            </a:r>
            <a:r>
              <a:rPr lang="en-US" altLang="zh-CN" sz="2800" smtClean="0"/>
              <a:t>r</a:t>
            </a:r>
            <a:r>
              <a:rPr lang="zh-CN" altLang="en-US" sz="2800" smtClean="0"/>
              <a:t>倍</a:t>
            </a:r>
            <a:r>
              <a:rPr lang="en-US" altLang="zh-CN" sz="2800" smtClean="0"/>
              <a:t>512</a:t>
            </a:r>
            <a:r>
              <a:rPr lang="zh-CN" altLang="en-US" sz="2800" smtClean="0"/>
              <a:t>比特时间后，返回到步骤（</a:t>
            </a:r>
            <a:r>
              <a:rPr lang="en-US" altLang="zh-CN" sz="2800" smtClean="0"/>
              <a:t>2</a:t>
            </a:r>
            <a:r>
              <a:rPr lang="zh-CN" altLang="en-US" sz="2800" smtClean="0"/>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p:cNvSpPr>
            <a:spLocks noGrp="1" noChangeArrowheads="1"/>
          </p:cNvSpPr>
          <p:nvPr>
            <p:ph type="title"/>
          </p:nvPr>
        </p:nvSpPr>
        <p:spPr/>
        <p:txBody>
          <a:bodyPr/>
          <a:lstStyle/>
          <a:p>
            <a:pPr algn="ctr" eaLnBrk="1" hangingPunct="1"/>
            <a:r>
              <a:rPr lang="zh-CN" altLang="en-US" smtClean="0"/>
              <a:t>使用集线器的双绞线以太网 </a:t>
            </a:r>
          </a:p>
        </p:txBody>
      </p:sp>
      <p:sp>
        <p:nvSpPr>
          <p:cNvPr id="67587" name="Text Box 5"/>
          <p:cNvSpPr txBox="1">
            <a:spLocks noChangeArrowheads="1"/>
          </p:cNvSpPr>
          <p:nvPr/>
        </p:nvSpPr>
        <p:spPr bwMode="auto">
          <a:xfrm>
            <a:off x="3563938" y="30686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集线器</a:t>
            </a:r>
          </a:p>
        </p:txBody>
      </p:sp>
      <p:sp>
        <p:nvSpPr>
          <p:cNvPr id="67588" name="Line 6"/>
          <p:cNvSpPr>
            <a:spLocks noChangeShapeType="1"/>
          </p:cNvSpPr>
          <p:nvPr/>
        </p:nvSpPr>
        <p:spPr bwMode="auto">
          <a:xfrm flipV="1">
            <a:off x="1216025" y="3906838"/>
            <a:ext cx="2590800" cy="38735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589" name="Line 7"/>
          <p:cNvSpPr>
            <a:spLocks noChangeShapeType="1"/>
          </p:cNvSpPr>
          <p:nvPr/>
        </p:nvSpPr>
        <p:spPr bwMode="auto">
          <a:xfrm>
            <a:off x="2252663" y="2620963"/>
            <a:ext cx="1684337" cy="115887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590" name="Line 8"/>
          <p:cNvSpPr>
            <a:spLocks noChangeShapeType="1"/>
          </p:cNvSpPr>
          <p:nvPr/>
        </p:nvSpPr>
        <p:spPr bwMode="auto">
          <a:xfrm flipV="1">
            <a:off x="3806825" y="4035425"/>
            <a:ext cx="390525" cy="16764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591" name="Line 9"/>
          <p:cNvSpPr>
            <a:spLocks noChangeShapeType="1"/>
          </p:cNvSpPr>
          <p:nvPr/>
        </p:nvSpPr>
        <p:spPr bwMode="auto">
          <a:xfrm flipH="1">
            <a:off x="4325938" y="2489200"/>
            <a:ext cx="1554162" cy="141763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592" name="Line 10"/>
          <p:cNvSpPr>
            <a:spLocks noChangeShapeType="1"/>
          </p:cNvSpPr>
          <p:nvPr/>
        </p:nvSpPr>
        <p:spPr bwMode="auto">
          <a:xfrm>
            <a:off x="4454525" y="4035425"/>
            <a:ext cx="2590800" cy="13017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67593"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17888" y="3521075"/>
            <a:ext cx="1555750"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94" name="Pictur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5175" y="2232025"/>
            <a:ext cx="736600"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95" name="Picture 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2575" y="1974850"/>
            <a:ext cx="736600"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96" name="Picture 1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9338" y="5067300"/>
            <a:ext cx="736600"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97" name="Picture 1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8150" y="3649663"/>
            <a:ext cx="736600"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98" name="Picture 1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3779838"/>
            <a:ext cx="736600"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599" name="Text Box 17"/>
          <p:cNvSpPr txBox="1">
            <a:spLocks noChangeArrowheads="1"/>
          </p:cNvSpPr>
          <p:nvPr/>
        </p:nvSpPr>
        <p:spPr bwMode="auto">
          <a:xfrm>
            <a:off x="4833938" y="505777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双绞线</a:t>
            </a:r>
          </a:p>
        </p:txBody>
      </p:sp>
      <p:sp>
        <p:nvSpPr>
          <p:cNvPr id="67600" name="Line 18"/>
          <p:cNvSpPr>
            <a:spLocks noChangeShapeType="1"/>
          </p:cNvSpPr>
          <p:nvPr/>
        </p:nvSpPr>
        <p:spPr bwMode="auto">
          <a:xfrm flipV="1">
            <a:off x="5640388" y="4165600"/>
            <a:ext cx="239712" cy="941388"/>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1" name="Text Box 19"/>
          <p:cNvSpPr txBox="1">
            <a:spLocks noChangeArrowheads="1"/>
          </p:cNvSpPr>
          <p:nvPr/>
        </p:nvSpPr>
        <p:spPr bwMode="auto">
          <a:xfrm>
            <a:off x="6011863" y="21336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站点</a:t>
            </a:r>
          </a:p>
        </p:txBody>
      </p:sp>
      <p:sp>
        <p:nvSpPr>
          <p:cNvPr id="67602" name="Text Box 20"/>
          <p:cNvSpPr txBox="1">
            <a:spLocks noChangeArrowheads="1"/>
          </p:cNvSpPr>
          <p:nvPr/>
        </p:nvSpPr>
        <p:spPr bwMode="auto">
          <a:xfrm>
            <a:off x="5184775" y="3187700"/>
            <a:ext cx="1692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RJ-45 </a:t>
            </a:r>
            <a:r>
              <a:rPr lang="zh-CN" altLang="en-US" sz="2400">
                <a:solidFill>
                  <a:schemeClr val="folHlink"/>
                </a:solidFill>
                <a:latin typeface="Arial" pitchFamily="34" charset="0"/>
                <a:ea typeface="黑体" pitchFamily="49" charset="-122"/>
              </a:rPr>
              <a:t>插头</a:t>
            </a:r>
          </a:p>
        </p:txBody>
      </p:sp>
      <p:sp>
        <p:nvSpPr>
          <p:cNvPr id="67603" name="Line 21"/>
          <p:cNvSpPr>
            <a:spLocks noChangeShapeType="1"/>
          </p:cNvSpPr>
          <p:nvPr/>
        </p:nvSpPr>
        <p:spPr bwMode="auto">
          <a:xfrm>
            <a:off x="6234113" y="3635375"/>
            <a:ext cx="554037" cy="5302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4" name="Line 22"/>
          <p:cNvSpPr>
            <a:spLocks noChangeShapeType="1"/>
          </p:cNvSpPr>
          <p:nvPr/>
        </p:nvSpPr>
        <p:spPr bwMode="auto">
          <a:xfrm flipH="1">
            <a:off x="4973638" y="3635375"/>
            <a:ext cx="663575" cy="4032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algn="ctr" eaLnBrk="1" hangingPunct="1"/>
            <a:r>
              <a:rPr lang="zh-CN" altLang="en-US" smtClean="0"/>
              <a:t>星形网 </a:t>
            </a:r>
            <a:r>
              <a:rPr lang="en-US" altLang="zh-CN" smtClean="0"/>
              <a:t>10BASE-T </a:t>
            </a:r>
          </a:p>
        </p:txBody>
      </p:sp>
      <p:sp>
        <p:nvSpPr>
          <p:cNvPr id="68611" name="Rectangle 3"/>
          <p:cNvSpPr>
            <a:spLocks noGrp="1" noChangeArrowheads="1"/>
          </p:cNvSpPr>
          <p:nvPr>
            <p:ph type="body" idx="1"/>
          </p:nvPr>
        </p:nvSpPr>
        <p:spPr>
          <a:xfrm>
            <a:off x="539750" y="1917700"/>
            <a:ext cx="8424863" cy="4319588"/>
          </a:xfrm>
        </p:spPr>
        <p:txBody>
          <a:bodyPr/>
          <a:lstStyle/>
          <a:p>
            <a:pPr eaLnBrk="1" hangingPunct="1"/>
            <a:r>
              <a:rPr lang="zh-CN" altLang="en-US" smtClean="0"/>
              <a:t>不用电缆而使用</a:t>
            </a:r>
            <a:r>
              <a:rPr lang="zh-CN" altLang="en-US" smtClean="0">
                <a:solidFill>
                  <a:schemeClr val="hlink"/>
                </a:solidFill>
              </a:rPr>
              <a:t>无屏蔽</a:t>
            </a:r>
            <a:r>
              <a:rPr lang="zh-CN" altLang="en-US" smtClean="0"/>
              <a:t>双绞线。每个站需要用两对双绞线，分别用于发送和接收。</a:t>
            </a:r>
          </a:p>
          <a:p>
            <a:pPr eaLnBrk="1" hangingPunct="1"/>
            <a:r>
              <a:rPr lang="en-US" altLang="zh-CN" smtClean="0"/>
              <a:t>10BASE-T </a:t>
            </a:r>
            <a:r>
              <a:rPr lang="zh-CN" altLang="en-US" smtClean="0"/>
              <a:t>的通信距离稍短，每个站到集线器的距离不超过 </a:t>
            </a:r>
            <a:r>
              <a:rPr lang="en-US" altLang="zh-CN" smtClean="0"/>
              <a:t>100 m</a:t>
            </a:r>
            <a:r>
              <a:rPr lang="zh-CN" altLang="en-US" smtClean="0"/>
              <a:t>。</a:t>
            </a:r>
          </a:p>
          <a:p>
            <a:pPr eaLnBrk="1" hangingPunct="1"/>
            <a:endParaRPr lang="zh-CN" altLang="en-US" smtClean="0"/>
          </a:p>
          <a:p>
            <a:pPr eaLnBrk="1" hangingPunct="1"/>
            <a:endParaRPr lang="en-US" altLang="zh-CN" smtClean="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eaLnBrk="1" hangingPunct="1"/>
            <a:r>
              <a:rPr lang="zh-CN" altLang="en-US" smtClean="0"/>
              <a:t>集线器的一些特点 </a:t>
            </a:r>
          </a:p>
        </p:txBody>
      </p:sp>
      <p:sp>
        <p:nvSpPr>
          <p:cNvPr id="429059" name="Rectangle 3"/>
          <p:cNvSpPr>
            <a:spLocks noGrp="1" noChangeArrowheads="1"/>
          </p:cNvSpPr>
          <p:nvPr>
            <p:ph type="body" idx="1"/>
          </p:nvPr>
        </p:nvSpPr>
        <p:spPr>
          <a:xfrm>
            <a:off x="827088" y="1917700"/>
            <a:ext cx="8137525" cy="4319588"/>
          </a:xfrm>
        </p:spPr>
        <p:txBody>
          <a:bodyPr/>
          <a:lstStyle/>
          <a:p>
            <a:pPr eaLnBrk="1" hangingPunct="1"/>
            <a:r>
              <a:rPr lang="zh-CN" altLang="en-US" smtClean="0"/>
              <a:t>集线器是使用电子器件来模拟总线随机接入的工作方式，因此整个系统仍然像一个传统的以太网那样运行。 </a:t>
            </a:r>
          </a:p>
          <a:p>
            <a:pPr eaLnBrk="1" hangingPunct="1"/>
            <a:r>
              <a:rPr lang="zh-CN" altLang="en-US" smtClean="0"/>
              <a:t>使用集线器的以太网在</a:t>
            </a:r>
            <a:r>
              <a:rPr lang="zh-CN" altLang="en-US" smtClean="0">
                <a:solidFill>
                  <a:schemeClr val="hlink"/>
                </a:solidFill>
              </a:rPr>
              <a:t>逻辑上</a:t>
            </a:r>
            <a:r>
              <a:rPr lang="zh-CN" altLang="en-US" smtClean="0"/>
              <a:t>仍是一个总线网，各</a:t>
            </a:r>
            <a:r>
              <a:rPr lang="zh-CN" altLang="en-US" smtClean="0">
                <a:solidFill>
                  <a:schemeClr val="hlink"/>
                </a:solidFill>
              </a:rPr>
              <a:t>工作站</a:t>
            </a:r>
            <a:r>
              <a:rPr lang="zh-CN" altLang="en-US" smtClean="0"/>
              <a:t>使用的还是 </a:t>
            </a:r>
            <a:r>
              <a:rPr lang="en-US" altLang="zh-CN" smtClean="0"/>
              <a:t>CSMA/CD</a:t>
            </a:r>
            <a:r>
              <a:rPr lang="en-US" altLang="zh-CN" b="1" smtClean="0"/>
              <a:t> </a:t>
            </a:r>
            <a:r>
              <a:rPr lang="zh-CN" altLang="en-US" smtClean="0"/>
              <a:t>协议，并共享逻辑上的总线。 </a:t>
            </a:r>
          </a:p>
          <a:p>
            <a:pPr eaLnBrk="1" hangingPunct="1"/>
            <a:r>
              <a:rPr lang="zh-CN" altLang="en-US" smtClean="0"/>
              <a:t>集线器很像一个多接口的转发器，工作在物理层。 仅仅转发比特，不进行碰撞检测。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9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9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9"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algn="ctr" eaLnBrk="1" hangingPunct="1"/>
            <a:r>
              <a:rPr lang="zh-CN" altLang="en-US" smtClean="0"/>
              <a:t>具有三个接口的集线器 </a:t>
            </a:r>
          </a:p>
        </p:txBody>
      </p:sp>
      <p:grpSp>
        <p:nvGrpSpPr>
          <p:cNvPr id="70659" name="Group 3"/>
          <p:cNvGrpSpPr>
            <a:grpSpLocks/>
          </p:cNvGrpSpPr>
          <p:nvPr/>
        </p:nvGrpSpPr>
        <p:grpSpPr bwMode="auto">
          <a:xfrm rot="-3098467">
            <a:off x="1823244" y="3960019"/>
            <a:ext cx="1127125" cy="90487"/>
            <a:chOff x="1548" y="1476"/>
            <a:chExt cx="1338" cy="120"/>
          </a:xfrm>
        </p:grpSpPr>
        <p:sp>
          <p:nvSpPr>
            <p:cNvPr id="70714" name="Freeform 4"/>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15" name="Freeform 5"/>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0660" name="Group 6"/>
          <p:cNvGrpSpPr>
            <a:grpSpLocks/>
          </p:cNvGrpSpPr>
          <p:nvPr/>
        </p:nvGrpSpPr>
        <p:grpSpPr bwMode="auto">
          <a:xfrm rot="-3098467">
            <a:off x="2226469" y="3960019"/>
            <a:ext cx="1127125" cy="90487"/>
            <a:chOff x="1548" y="1476"/>
            <a:chExt cx="1338" cy="120"/>
          </a:xfrm>
        </p:grpSpPr>
        <p:sp>
          <p:nvSpPr>
            <p:cNvPr id="70712" name="Freeform 7"/>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13" name="Freeform 8"/>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0661" name="Group 9"/>
          <p:cNvGrpSpPr>
            <a:grpSpLocks/>
          </p:cNvGrpSpPr>
          <p:nvPr/>
        </p:nvGrpSpPr>
        <p:grpSpPr bwMode="auto">
          <a:xfrm rot="3701259" flipH="1">
            <a:off x="5782469" y="3953669"/>
            <a:ext cx="1001712" cy="88900"/>
            <a:chOff x="1548" y="1476"/>
            <a:chExt cx="1338" cy="120"/>
          </a:xfrm>
        </p:grpSpPr>
        <p:sp>
          <p:nvSpPr>
            <p:cNvPr id="70710" name="Freeform 10"/>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11" name="Freeform 11"/>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0662" name="Group 12"/>
          <p:cNvGrpSpPr>
            <a:grpSpLocks/>
          </p:cNvGrpSpPr>
          <p:nvPr/>
        </p:nvGrpSpPr>
        <p:grpSpPr bwMode="auto">
          <a:xfrm rot="3701259" flipH="1">
            <a:off x="6254750" y="3973513"/>
            <a:ext cx="1001713" cy="90487"/>
            <a:chOff x="1548" y="1476"/>
            <a:chExt cx="1338" cy="120"/>
          </a:xfrm>
        </p:grpSpPr>
        <p:sp>
          <p:nvSpPr>
            <p:cNvPr id="70708" name="Freeform 13"/>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09" name="Freeform 14"/>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0663" name="Rectangle 15"/>
          <p:cNvSpPr>
            <a:spLocks noChangeArrowheads="1"/>
          </p:cNvSpPr>
          <p:nvPr/>
        </p:nvSpPr>
        <p:spPr bwMode="auto">
          <a:xfrm>
            <a:off x="1817688" y="2212975"/>
            <a:ext cx="5510212" cy="1344613"/>
          </a:xfrm>
          <a:prstGeom prst="rect">
            <a:avLst/>
          </a:prstGeom>
          <a:solidFill>
            <a:srgbClr val="FFCCFF"/>
          </a:solidFill>
          <a:ln w="25400">
            <a:solidFill>
              <a:schemeClr val="tx1"/>
            </a:solidFill>
            <a:miter lim="800000"/>
            <a:headEnd/>
            <a:tailEnd/>
          </a:ln>
          <a:effectLst>
            <a:outerShdw dist="28398" dir="3806097" algn="ctr" rotWithShape="0">
              <a:schemeClr val="bg2"/>
            </a:outerShdw>
          </a:effectLst>
        </p:spPr>
        <p:txBody>
          <a:bodyPr wrap="none" anchor="ctr"/>
          <a:lstStyle/>
          <a:p>
            <a:endParaRPr lang="zh-CN" altLang="en-US"/>
          </a:p>
        </p:txBody>
      </p:sp>
      <p:sp>
        <p:nvSpPr>
          <p:cNvPr id="70664" name="AutoShape 16"/>
          <p:cNvSpPr>
            <a:spLocks noChangeArrowheads="1"/>
          </p:cNvSpPr>
          <p:nvPr/>
        </p:nvSpPr>
        <p:spPr bwMode="auto">
          <a:xfrm>
            <a:off x="2559050" y="3189288"/>
            <a:ext cx="442913"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5" name="AutoShape 17"/>
          <p:cNvSpPr>
            <a:spLocks noChangeArrowheads="1"/>
          </p:cNvSpPr>
          <p:nvPr/>
        </p:nvSpPr>
        <p:spPr bwMode="auto">
          <a:xfrm>
            <a:off x="5735638" y="3192463"/>
            <a:ext cx="446087"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6" name="AutoShape 18"/>
          <p:cNvSpPr>
            <a:spLocks noChangeArrowheads="1"/>
          </p:cNvSpPr>
          <p:nvPr/>
        </p:nvSpPr>
        <p:spPr bwMode="auto">
          <a:xfrm>
            <a:off x="4068763" y="3189288"/>
            <a:ext cx="446087"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7" name="AutoShape 19"/>
          <p:cNvSpPr>
            <a:spLocks noChangeArrowheads="1"/>
          </p:cNvSpPr>
          <p:nvPr/>
        </p:nvSpPr>
        <p:spPr bwMode="auto">
          <a:xfrm rot="10800000" flipH="1">
            <a:off x="6186488" y="3192463"/>
            <a:ext cx="442912"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8" name="AutoShape 20"/>
          <p:cNvSpPr>
            <a:spLocks noChangeArrowheads="1"/>
          </p:cNvSpPr>
          <p:nvPr/>
        </p:nvSpPr>
        <p:spPr bwMode="auto">
          <a:xfrm rot="10800000" flipH="1">
            <a:off x="2995613" y="3189288"/>
            <a:ext cx="444500"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9" name="AutoShape 21"/>
          <p:cNvSpPr>
            <a:spLocks noChangeArrowheads="1"/>
          </p:cNvSpPr>
          <p:nvPr/>
        </p:nvSpPr>
        <p:spPr bwMode="auto">
          <a:xfrm rot="10800000" flipH="1">
            <a:off x="4525963" y="3206750"/>
            <a:ext cx="446087" cy="349250"/>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70" name="Freeform 22"/>
          <p:cNvSpPr>
            <a:spLocks/>
          </p:cNvSpPr>
          <p:nvPr/>
        </p:nvSpPr>
        <p:spPr bwMode="auto">
          <a:xfrm>
            <a:off x="3332163" y="2863850"/>
            <a:ext cx="2635250" cy="325438"/>
          </a:xfrm>
          <a:custGeom>
            <a:avLst/>
            <a:gdLst>
              <a:gd name="T0" fmla="*/ 2147483647 w 1375"/>
              <a:gd name="T1" fmla="*/ 2147483647 h 187"/>
              <a:gd name="T2" fmla="*/ 2147483647 w 1375"/>
              <a:gd name="T3" fmla="*/ 0 h 187"/>
              <a:gd name="T4" fmla="*/ 0 w 1375"/>
              <a:gd name="T5" fmla="*/ 0 h 187"/>
              <a:gd name="T6" fmla="*/ 0 w 1375"/>
              <a:gd name="T7" fmla="*/ 2147483647 h 1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75" h="187">
                <a:moveTo>
                  <a:pt x="1374" y="186"/>
                </a:moveTo>
                <a:lnTo>
                  <a:pt x="1374" y="0"/>
                </a:lnTo>
                <a:lnTo>
                  <a:pt x="0" y="0"/>
                </a:lnTo>
                <a:lnTo>
                  <a:pt x="0" y="186"/>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71" name="Freeform 23"/>
          <p:cNvSpPr>
            <a:spLocks/>
          </p:cNvSpPr>
          <p:nvPr/>
        </p:nvSpPr>
        <p:spPr bwMode="auto">
          <a:xfrm>
            <a:off x="4286250" y="2624138"/>
            <a:ext cx="2030413" cy="585787"/>
          </a:xfrm>
          <a:custGeom>
            <a:avLst/>
            <a:gdLst>
              <a:gd name="T0" fmla="*/ 0 w 1060"/>
              <a:gd name="T1" fmla="*/ 2147483647 h 337"/>
              <a:gd name="T2" fmla="*/ 0 w 1060"/>
              <a:gd name="T3" fmla="*/ 0 h 337"/>
              <a:gd name="T4" fmla="*/ 2147483647 w 1060"/>
              <a:gd name="T5" fmla="*/ 0 h 337"/>
              <a:gd name="T6" fmla="*/ 2147483647 w 1060"/>
              <a:gd name="T7" fmla="*/ 2147483647 h 3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0" h="337">
                <a:moveTo>
                  <a:pt x="0" y="336"/>
                </a:moveTo>
                <a:lnTo>
                  <a:pt x="0" y="0"/>
                </a:lnTo>
                <a:lnTo>
                  <a:pt x="1059" y="0"/>
                </a:lnTo>
                <a:lnTo>
                  <a:pt x="1059" y="33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72" name="Freeform 24"/>
          <p:cNvSpPr>
            <a:spLocks/>
          </p:cNvSpPr>
          <p:nvPr/>
        </p:nvSpPr>
        <p:spPr bwMode="auto">
          <a:xfrm>
            <a:off x="3149600" y="2624138"/>
            <a:ext cx="1139825" cy="576262"/>
          </a:xfrm>
          <a:custGeom>
            <a:avLst/>
            <a:gdLst>
              <a:gd name="T0" fmla="*/ 2147483647 w 595"/>
              <a:gd name="T1" fmla="*/ 0 h 331"/>
              <a:gd name="T2" fmla="*/ 0 w 595"/>
              <a:gd name="T3" fmla="*/ 0 h 331"/>
              <a:gd name="T4" fmla="*/ 0 w 595"/>
              <a:gd name="T5" fmla="*/ 2147483647 h 331"/>
              <a:gd name="T6" fmla="*/ 0 60000 65536"/>
              <a:gd name="T7" fmla="*/ 0 60000 65536"/>
              <a:gd name="T8" fmla="*/ 0 60000 65536"/>
            </a:gdLst>
            <a:ahLst/>
            <a:cxnLst>
              <a:cxn ang="T6">
                <a:pos x="T0" y="T1"/>
              </a:cxn>
              <a:cxn ang="T7">
                <a:pos x="T2" y="T3"/>
              </a:cxn>
              <a:cxn ang="T8">
                <a:pos x="T4" y="T5"/>
              </a:cxn>
            </a:cxnLst>
            <a:rect l="0" t="0" r="r" b="b"/>
            <a:pathLst>
              <a:path w="595" h="331">
                <a:moveTo>
                  <a:pt x="594" y="0"/>
                </a:moveTo>
                <a:lnTo>
                  <a:pt x="0" y="0"/>
                </a:lnTo>
                <a:lnTo>
                  <a:pt x="0" y="33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73" name="Freeform 25"/>
          <p:cNvSpPr>
            <a:spLocks/>
          </p:cNvSpPr>
          <p:nvPr/>
        </p:nvSpPr>
        <p:spPr bwMode="auto">
          <a:xfrm>
            <a:off x="2781300" y="2416175"/>
            <a:ext cx="3736975" cy="793750"/>
          </a:xfrm>
          <a:custGeom>
            <a:avLst/>
            <a:gdLst>
              <a:gd name="T0" fmla="*/ 0 w 1951"/>
              <a:gd name="T1" fmla="*/ 2147483647 h 457"/>
              <a:gd name="T2" fmla="*/ 0 w 1951"/>
              <a:gd name="T3" fmla="*/ 0 h 457"/>
              <a:gd name="T4" fmla="*/ 2147483647 w 1951"/>
              <a:gd name="T5" fmla="*/ 0 h 457"/>
              <a:gd name="T6" fmla="*/ 2147483647 w 1951"/>
              <a:gd name="T7" fmla="*/ 2147483647 h 457"/>
              <a:gd name="T8" fmla="*/ 2147483647 w 1951"/>
              <a:gd name="T9" fmla="*/ 2147483647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51" h="457">
                <a:moveTo>
                  <a:pt x="0" y="456"/>
                </a:moveTo>
                <a:lnTo>
                  <a:pt x="0" y="0"/>
                </a:lnTo>
                <a:lnTo>
                  <a:pt x="1950" y="0"/>
                </a:lnTo>
                <a:lnTo>
                  <a:pt x="1950" y="45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74" name="Line 26"/>
          <p:cNvSpPr>
            <a:spLocks noChangeShapeType="1"/>
          </p:cNvSpPr>
          <p:nvPr/>
        </p:nvSpPr>
        <p:spPr bwMode="auto">
          <a:xfrm>
            <a:off x="4827588" y="2870200"/>
            <a:ext cx="0" cy="341313"/>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75" name="Line 27"/>
          <p:cNvSpPr>
            <a:spLocks noChangeShapeType="1"/>
          </p:cNvSpPr>
          <p:nvPr/>
        </p:nvSpPr>
        <p:spPr bwMode="auto">
          <a:xfrm>
            <a:off x="4667250" y="2433638"/>
            <a:ext cx="0" cy="78740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76" name="Rectangle 28"/>
          <p:cNvSpPr>
            <a:spLocks noChangeArrowheads="1"/>
          </p:cNvSpPr>
          <p:nvPr/>
        </p:nvSpPr>
        <p:spPr bwMode="auto">
          <a:xfrm>
            <a:off x="1331913" y="2308225"/>
            <a:ext cx="485775" cy="107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400">
                <a:solidFill>
                  <a:srgbClr val="333399"/>
                </a:solidFill>
                <a:latin typeface="Times New Roman" pitchFamily="18" charset="0"/>
                <a:ea typeface="黑体" pitchFamily="49" charset="-122"/>
              </a:rPr>
              <a:t>集</a:t>
            </a:r>
          </a:p>
          <a:p>
            <a:pPr defTabSz="762000" eaLnBrk="0" hangingPunct="0">
              <a:lnSpc>
                <a:spcPct val="90000"/>
              </a:lnSpc>
            </a:pPr>
            <a:r>
              <a:rPr kumimoji="1" lang="zh-CN" altLang="en-US" sz="2400">
                <a:solidFill>
                  <a:srgbClr val="333399"/>
                </a:solidFill>
                <a:latin typeface="Times New Roman" pitchFamily="18" charset="0"/>
                <a:ea typeface="黑体" pitchFamily="49" charset="-122"/>
              </a:rPr>
              <a:t>线</a:t>
            </a:r>
          </a:p>
          <a:p>
            <a:pPr defTabSz="762000" eaLnBrk="0" hangingPunct="0">
              <a:lnSpc>
                <a:spcPct val="90000"/>
              </a:lnSpc>
            </a:pPr>
            <a:r>
              <a:rPr kumimoji="1" lang="zh-CN" altLang="en-US" sz="2400">
                <a:solidFill>
                  <a:srgbClr val="333399"/>
                </a:solidFill>
                <a:latin typeface="Times New Roman" pitchFamily="18" charset="0"/>
                <a:ea typeface="黑体" pitchFamily="49" charset="-122"/>
              </a:rPr>
              <a:t>器</a:t>
            </a:r>
          </a:p>
        </p:txBody>
      </p:sp>
      <p:sp>
        <p:nvSpPr>
          <p:cNvPr id="70677" name="Rectangle 29"/>
          <p:cNvSpPr>
            <a:spLocks noChangeArrowheads="1"/>
          </p:cNvSpPr>
          <p:nvPr/>
        </p:nvSpPr>
        <p:spPr bwMode="auto">
          <a:xfrm>
            <a:off x="3751263" y="4527550"/>
            <a:ext cx="1484312"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70678" name="Rectangle 30"/>
          <p:cNvSpPr>
            <a:spLocks noChangeArrowheads="1"/>
          </p:cNvSpPr>
          <p:nvPr/>
        </p:nvSpPr>
        <p:spPr bwMode="auto">
          <a:xfrm>
            <a:off x="4038600" y="4529138"/>
            <a:ext cx="949325"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79" name="Rectangle 31"/>
          <p:cNvSpPr>
            <a:spLocks noChangeArrowheads="1"/>
          </p:cNvSpPr>
          <p:nvPr/>
        </p:nvSpPr>
        <p:spPr bwMode="auto">
          <a:xfrm>
            <a:off x="4105275" y="4451350"/>
            <a:ext cx="68738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Times New Roman" pitchFamily="18" charset="0"/>
                <a:ea typeface="黑体" pitchFamily="49" charset="-122"/>
              </a:rPr>
              <a:t>网卡</a:t>
            </a:r>
          </a:p>
        </p:txBody>
      </p:sp>
      <p:sp>
        <p:nvSpPr>
          <p:cNvPr id="70680" name="Rectangle 32"/>
          <p:cNvSpPr>
            <a:spLocks noChangeArrowheads="1"/>
          </p:cNvSpPr>
          <p:nvPr/>
        </p:nvSpPr>
        <p:spPr bwMode="auto">
          <a:xfrm>
            <a:off x="3981450" y="4894263"/>
            <a:ext cx="942975"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Times New Roman" pitchFamily="18" charset="0"/>
                <a:ea typeface="黑体" pitchFamily="49" charset="-122"/>
              </a:rPr>
              <a:t>工作站</a:t>
            </a:r>
          </a:p>
        </p:txBody>
      </p:sp>
      <p:sp>
        <p:nvSpPr>
          <p:cNvPr id="70681" name="Rectangle 33"/>
          <p:cNvSpPr>
            <a:spLocks noChangeArrowheads="1"/>
          </p:cNvSpPr>
          <p:nvPr/>
        </p:nvSpPr>
        <p:spPr bwMode="auto">
          <a:xfrm>
            <a:off x="4143375" y="4435475"/>
            <a:ext cx="722313"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82" name="Rectangle 34"/>
          <p:cNvSpPr>
            <a:spLocks noChangeArrowheads="1"/>
          </p:cNvSpPr>
          <p:nvPr/>
        </p:nvSpPr>
        <p:spPr bwMode="auto">
          <a:xfrm>
            <a:off x="1450975" y="4527550"/>
            <a:ext cx="1487488"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70683" name="Rectangle 35"/>
          <p:cNvSpPr>
            <a:spLocks noChangeArrowheads="1"/>
          </p:cNvSpPr>
          <p:nvPr/>
        </p:nvSpPr>
        <p:spPr bwMode="auto">
          <a:xfrm>
            <a:off x="1722438" y="4529138"/>
            <a:ext cx="952500"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84" name="Rectangle 36"/>
          <p:cNvSpPr>
            <a:spLocks noChangeArrowheads="1"/>
          </p:cNvSpPr>
          <p:nvPr/>
        </p:nvSpPr>
        <p:spPr bwMode="auto">
          <a:xfrm>
            <a:off x="1822450" y="4473575"/>
            <a:ext cx="6889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Times New Roman" pitchFamily="18" charset="0"/>
                <a:ea typeface="黑体" pitchFamily="49" charset="-122"/>
              </a:rPr>
              <a:t>网卡</a:t>
            </a:r>
          </a:p>
        </p:txBody>
      </p:sp>
      <p:sp>
        <p:nvSpPr>
          <p:cNvPr id="70685" name="Rectangle 37"/>
          <p:cNvSpPr>
            <a:spLocks noChangeArrowheads="1"/>
          </p:cNvSpPr>
          <p:nvPr/>
        </p:nvSpPr>
        <p:spPr bwMode="auto">
          <a:xfrm>
            <a:off x="1668463" y="4894263"/>
            <a:ext cx="942975"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Times New Roman" pitchFamily="18" charset="0"/>
                <a:ea typeface="黑体" pitchFamily="49" charset="-122"/>
              </a:rPr>
              <a:t>工作站</a:t>
            </a:r>
          </a:p>
        </p:txBody>
      </p:sp>
      <p:sp>
        <p:nvSpPr>
          <p:cNvPr id="70686" name="Rectangle 38"/>
          <p:cNvSpPr>
            <a:spLocks noChangeArrowheads="1"/>
          </p:cNvSpPr>
          <p:nvPr/>
        </p:nvSpPr>
        <p:spPr bwMode="auto">
          <a:xfrm>
            <a:off x="1846263" y="4435475"/>
            <a:ext cx="719137"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87" name="Rectangle 39"/>
          <p:cNvSpPr>
            <a:spLocks noChangeArrowheads="1"/>
          </p:cNvSpPr>
          <p:nvPr/>
        </p:nvSpPr>
        <p:spPr bwMode="auto">
          <a:xfrm>
            <a:off x="6037263" y="4527550"/>
            <a:ext cx="1487487"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70688" name="Rectangle 40"/>
          <p:cNvSpPr>
            <a:spLocks noChangeArrowheads="1"/>
          </p:cNvSpPr>
          <p:nvPr/>
        </p:nvSpPr>
        <p:spPr bwMode="auto">
          <a:xfrm>
            <a:off x="6316663" y="4529138"/>
            <a:ext cx="950912"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89" name="Rectangle 41"/>
          <p:cNvSpPr>
            <a:spLocks noChangeArrowheads="1"/>
          </p:cNvSpPr>
          <p:nvPr/>
        </p:nvSpPr>
        <p:spPr bwMode="auto">
          <a:xfrm>
            <a:off x="6389688" y="4478338"/>
            <a:ext cx="6889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Times New Roman" pitchFamily="18" charset="0"/>
                <a:ea typeface="黑体" pitchFamily="49" charset="-122"/>
              </a:rPr>
              <a:t>网卡</a:t>
            </a:r>
          </a:p>
        </p:txBody>
      </p:sp>
      <p:sp>
        <p:nvSpPr>
          <p:cNvPr id="70690" name="Rectangle 42"/>
          <p:cNvSpPr>
            <a:spLocks noChangeArrowheads="1"/>
          </p:cNvSpPr>
          <p:nvPr/>
        </p:nvSpPr>
        <p:spPr bwMode="auto">
          <a:xfrm>
            <a:off x="6242050" y="4894263"/>
            <a:ext cx="942975"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Times New Roman" pitchFamily="18" charset="0"/>
                <a:ea typeface="黑体" pitchFamily="49" charset="-122"/>
              </a:rPr>
              <a:t>工作站</a:t>
            </a:r>
          </a:p>
        </p:txBody>
      </p:sp>
      <p:sp>
        <p:nvSpPr>
          <p:cNvPr id="70691" name="Rectangle 43"/>
          <p:cNvSpPr>
            <a:spLocks noChangeArrowheads="1"/>
          </p:cNvSpPr>
          <p:nvPr/>
        </p:nvSpPr>
        <p:spPr bwMode="auto">
          <a:xfrm>
            <a:off x="6432550" y="4435475"/>
            <a:ext cx="720725"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92" name="Oval 44"/>
          <p:cNvSpPr>
            <a:spLocks noChangeArrowheads="1"/>
          </p:cNvSpPr>
          <p:nvPr/>
        </p:nvSpPr>
        <p:spPr bwMode="auto">
          <a:xfrm>
            <a:off x="4237038" y="2579688"/>
            <a:ext cx="87312"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93" name="Oval 45"/>
          <p:cNvSpPr>
            <a:spLocks noChangeArrowheads="1"/>
          </p:cNvSpPr>
          <p:nvPr/>
        </p:nvSpPr>
        <p:spPr bwMode="auto">
          <a:xfrm>
            <a:off x="4627563" y="2381250"/>
            <a:ext cx="88900"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94" name="Oval 46"/>
          <p:cNvSpPr>
            <a:spLocks noChangeArrowheads="1"/>
          </p:cNvSpPr>
          <p:nvPr/>
        </p:nvSpPr>
        <p:spPr bwMode="auto">
          <a:xfrm>
            <a:off x="4787900" y="2819400"/>
            <a:ext cx="88900"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95" name="Line 47"/>
          <p:cNvSpPr>
            <a:spLocks noChangeShapeType="1"/>
          </p:cNvSpPr>
          <p:nvPr/>
        </p:nvSpPr>
        <p:spPr bwMode="auto">
          <a:xfrm flipV="1">
            <a:off x="4183063" y="3605213"/>
            <a:ext cx="0" cy="596900"/>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96" name="Line 48"/>
          <p:cNvSpPr>
            <a:spLocks noChangeShapeType="1"/>
          </p:cNvSpPr>
          <p:nvPr/>
        </p:nvSpPr>
        <p:spPr bwMode="auto">
          <a:xfrm>
            <a:off x="4632325" y="3616325"/>
            <a:ext cx="0" cy="592138"/>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97" name="Line 49"/>
          <p:cNvSpPr>
            <a:spLocks noChangeShapeType="1"/>
          </p:cNvSpPr>
          <p:nvPr/>
        </p:nvSpPr>
        <p:spPr bwMode="auto">
          <a:xfrm rot="236364" flipV="1">
            <a:off x="2019300" y="3729038"/>
            <a:ext cx="431800" cy="514350"/>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98" name="Line 50"/>
          <p:cNvSpPr>
            <a:spLocks noChangeShapeType="1"/>
          </p:cNvSpPr>
          <p:nvPr/>
        </p:nvSpPr>
        <p:spPr bwMode="auto">
          <a:xfrm flipH="1">
            <a:off x="2462213" y="3722688"/>
            <a:ext cx="439737" cy="474662"/>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99" name="Line 51"/>
          <p:cNvSpPr>
            <a:spLocks noChangeShapeType="1"/>
          </p:cNvSpPr>
          <p:nvPr/>
        </p:nvSpPr>
        <p:spPr bwMode="auto">
          <a:xfrm>
            <a:off x="5926138" y="3636963"/>
            <a:ext cx="400050" cy="592137"/>
          </a:xfrm>
          <a:prstGeom prst="line">
            <a:avLst/>
          </a:prstGeom>
          <a:noFill/>
          <a:ln w="127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00" name="Line 52"/>
          <p:cNvSpPr>
            <a:spLocks noChangeShapeType="1"/>
          </p:cNvSpPr>
          <p:nvPr/>
        </p:nvSpPr>
        <p:spPr bwMode="auto">
          <a:xfrm>
            <a:off x="6399213" y="3649663"/>
            <a:ext cx="363537" cy="547687"/>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01" name="Rectangle 53"/>
          <p:cNvSpPr>
            <a:spLocks noChangeArrowheads="1"/>
          </p:cNvSpPr>
          <p:nvPr/>
        </p:nvSpPr>
        <p:spPr bwMode="auto">
          <a:xfrm>
            <a:off x="4908550" y="3725863"/>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Times New Roman" pitchFamily="18" charset="0"/>
                <a:ea typeface="黑体" pitchFamily="49" charset="-122"/>
              </a:rPr>
              <a:t>双绞线</a:t>
            </a:r>
          </a:p>
        </p:txBody>
      </p:sp>
      <p:grpSp>
        <p:nvGrpSpPr>
          <p:cNvPr id="70702" name="Group 54"/>
          <p:cNvGrpSpPr>
            <a:grpSpLocks/>
          </p:cNvGrpSpPr>
          <p:nvPr/>
        </p:nvGrpSpPr>
        <p:grpSpPr bwMode="auto">
          <a:xfrm rot="5400000" flipH="1">
            <a:off x="4307682" y="3950494"/>
            <a:ext cx="876300" cy="90487"/>
            <a:chOff x="1548" y="1476"/>
            <a:chExt cx="1338" cy="120"/>
          </a:xfrm>
        </p:grpSpPr>
        <p:sp>
          <p:nvSpPr>
            <p:cNvPr id="70706" name="Freeform 55"/>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07" name="Freeform 56"/>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0703" name="Group 57"/>
          <p:cNvGrpSpPr>
            <a:grpSpLocks/>
          </p:cNvGrpSpPr>
          <p:nvPr/>
        </p:nvGrpSpPr>
        <p:grpSpPr bwMode="auto">
          <a:xfrm rot="5400000" flipH="1">
            <a:off x="3849688" y="3962400"/>
            <a:ext cx="874712" cy="90488"/>
            <a:chOff x="1548" y="1476"/>
            <a:chExt cx="1338" cy="120"/>
          </a:xfrm>
        </p:grpSpPr>
        <p:sp>
          <p:nvSpPr>
            <p:cNvPr id="70704" name="Freeform 58"/>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05" name="Freeform 59"/>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lgn="ctr" eaLnBrk="1" hangingPunct="1"/>
            <a:r>
              <a:rPr lang="en-US" altLang="zh-CN" smtClean="0"/>
              <a:t>3.4.2  </a:t>
            </a:r>
            <a:r>
              <a:rPr lang="zh-CN" altLang="en-US" smtClean="0"/>
              <a:t>以太网的信道利用率 </a:t>
            </a:r>
          </a:p>
        </p:txBody>
      </p:sp>
      <p:sp>
        <p:nvSpPr>
          <p:cNvPr id="431107" name="Rectangle 3"/>
          <p:cNvSpPr>
            <a:spLocks noGrp="1" noChangeArrowheads="1"/>
          </p:cNvSpPr>
          <p:nvPr>
            <p:ph type="body" idx="1"/>
          </p:nvPr>
        </p:nvSpPr>
        <p:spPr>
          <a:xfrm>
            <a:off x="395288" y="1916113"/>
            <a:ext cx="8424862" cy="4319587"/>
          </a:xfrm>
        </p:spPr>
        <p:txBody>
          <a:bodyPr/>
          <a:lstStyle/>
          <a:p>
            <a:pPr eaLnBrk="1" hangingPunct="1"/>
            <a:r>
              <a:rPr lang="zh-CN" altLang="en-US" smtClean="0"/>
              <a:t>以太网的信道被占用的情况：</a:t>
            </a:r>
          </a:p>
          <a:p>
            <a:pPr eaLnBrk="1" hangingPunct="1"/>
            <a:r>
              <a:rPr lang="zh-CN" altLang="en-US" smtClean="0"/>
              <a:t>争用期长度为 </a:t>
            </a:r>
            <a:r>
              <a:rPr lang="en-US" altLang="zh-CN" smtClean="0"/>
              <a:t>2</a:t>
            </a:r>
            <a:r>
              <a:rPr lang="en-US" altLang="zh-CN" i="1" smtClean="0">
                <a:sym typeface="Symbol" pitchFamily="18" charset="2"/>
              </a:rPr>
              <a:t></a:t>
            </a:r>
            <a:r>
              <a:rPr lang="zh-CN" altLang="en-US" smtClean="0"/>
              <a:t>，即端到端传播时延的两倍。检测到碰撞后不发送干扰信号。</a:t>
            </a:r>
          </a:p>
          <a:p>
            <a:pPr eaLnBrk="1" hangingPunct="1"/>
            <a:r>
              <a:rPr lang="zh-CN" altLang="en-US" smtClean="0"/>
              <a:t>帧长为 </a:t>
            </a:r>
            <a:r>
              <a:rPr lang="en-US" altLang="zh-CN" i="1" smtClean="0">
                <a:latin typeface="Times New Roman" pitchFamily="18" charset="0"/>
              </a:rPr>
              <a:t>L</a:t>
            </a:r>
            <a:r>
              <a:rPr lang="en-US" altLang="zh-CN" smtClean="0"/>
              <a:t> </a:t>
            </a:r>
            <a:r>
              <a:rPr lang="en-US" altLang="zh-CN" smtClean="0">
                <a:latin typeface="Times New Roman" pitchFamily="18" charset="0"/>
              </a:rPr>
              <a:t>(bit)</a:t>
            </a:r>
            <a:r>
              <a:rPr lang="zh-CN" altLang="en-US" smtClean="0">
                <a:latin typeface="Times New Roman" pitchFamily="18" charset="0"/>
              </a:rPr>
              <a:t>，</a:t>
            </a:r>
            <a:r>
              <a:rPr lang="zh-CN" altLang="en-US" smtClean="0"/>
              <a:t>数据发送速率为 </a:t>
            </a:r>
            <a:r>
              <a:rPr lang="en-US" altLang="zh-CN" i="1" smtClean="0">
                <a:latin typeface="Times New Roman" pitchFamily="18" charset="0"/>
              </a:rPr>
              <a:t>C </a:t>
            </a:r>
            <a:r>
              <a:rPr lang="en-US" altLang="zh-CN" smtClean="0">
                <a:latin typeface="Times New Roman" pitchFamily="18" charset="0"/>
              </a:rPr>
              <a:t>(b/s)</a:t>
            </a:r>
            <a:r>
              <a:rPr lang="zh-CN" altLang="en-US" smtClean="0">
                <a:latin typeface="Times New Roman" pitchFamily="18" charset="0"/>
              </a:rPr>
              <a:t>，</a:t>
            </a:r>
            <a:r>
              <a:rPr lang="zh-CN" altLang="en-US" smtClean="0"/>
              <a:t>因而帧的发送时间为 </a:t>
            </a:r>
            <a:r>
              <a:rPr lang="en-US" altLang="zh-CN" i="1" smtClean="0">
                <a:latin typeface="Times New Roman" pitchFamily="18" charset="0"/>
              </a:rPr>
              <a:t>L</a:t>
            </a:r>
            <a:r>
              <a:rPr lang="en-US" altLang="zh-CN" smtClean="0">
                <a:latin typeface="Times New Roman" pitchFamily="18" charset="0"/>
              </a:rPr>
              <a:t>/</a:t>
            </a:r>
            <a:r>
              <a:rPr lang="en-US" altLang="zh-CN" i="1" smtClean="0">
                <a:latin typeface="Times New Roman" pitchFamily="18" charset="0"/>
              </a:rPr>
              <a:t>C</a:t>
            </a:r>
            <a:r>
              <a:rPr lang="en-US" altLang="zh-CN" smtClean="0">
                <a:latin typeface="Times New Roman" pitchFamily="18" charset="0"/>
              </a:rPr>
              <a:t> = </a:t>
            </a:r>
            <a:r>
              <a:rPr lang="en-US" altLang="zh-CN" i="1" smtClean="0">
                <a:latin typeface="Times New Roman" pitchFamily="18" charset="0"/>
              </a:rPr>
              <a:t>T</a:t>
            </a:r>
            <a:r>
              <a:rPr lang="en-US" altLang="zh-CN" baseline="-25000" smtClean="0">
                <a:latin typeface="Times New Roman" pitchFamily="18" charset="0"/>
              </a:rPr>
              <a:t>0</a:t>
            </a:r>
            <a:r>
              <a:rPr lang="en-US" altLang="zh-CN" smtClean="0">
                <a:latin typeface="Times New Roman" pitchFamily="18" charset="0"/>
              </a:rPr>
              <a:t> (s)</a:t>
            </a:r>
            <a:r>
              <a:rPr lang="zh-CN" altLang="en-US" smtClean="0">
                <a:latin typeface="Times New Roman" pitchFamily="18" charset="0"/>
              </a:rPr>
              <a:t>。</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1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11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1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7"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algn="ctr" eaLnBrk="1" hangingPunct="1"/>
            <a:r>
              <a:rPr lang="zh-CN" altLang="en-US" smtClean="0"/>
              <a:t>以太网的信道利用率 </a:t>
            </a:r>
          </a:p>
        </p:txBody>
      </p:sp>
      <p:sp>
        <p:nvSpPr>
          <p:cNvPr id="72707" name="Rectangle 3"/>
          <p:cNvSpPr>
            <a:spLocks noGrp="1" noChangeArrowheads="1"/>
          </p:cNvSpPr>
          <p:nvPr>
            <p:ph type="body" idx="1"/>
          </p:nvPr>
        </p:nvSpPr>
        <p:spPr>
          <a:xfrm>
            <a:off x="539750" y="1917700"/>
            <a:ext cx="8208963" cy="2303463"/>
          </a:xfrm>
        </p:spPr>
        <p:txBody>
          <a:bodyPr/>
          <a:lstStyle/>
          <a:p>
            <a:pPr eaLnBrk="1" hangingPunct="1"/>
            <a:r>
              <a:rPr lang="zh-CN" altLang="en-US" sz="2800" smtClean="0"/>
              <a:t>一个帧从开始发送，经可能发生的碰撞后，将再重传数次，到发送成功且信道转为空闲</a:t>
            </a:r>
            <a:r>
              <a:rPr lang="en-US" altLang="zh-CN" sz="2800" smtClean="0"/>
              <a:t>(</a:t>
            </a:r>
            <a:r>
              <a:rPr lang="zh-CN" altLang="en-US" sz="2800" smtClean="0"/>
              <a:t>即再经过时间 </a:t>
            </a:r>
            <a:r>
              <a:rPr lang="zh-CN" altLang="en-US" sz="2800" i="1" smtClean="0">
                <a:sym typeface="Symbol" pitchFamily="18" charset="2"/>
              </a:rPr>
              <a:t>  </a:t>
            </a:r>
            <a:r>
              <a:rPr lang="zh-CN" altLang="en-US" sz="2800" smtClean="0"/>
              <a:t>使得信道上无信号在传播</a:t>
            </a:r>
            <a:r>
              <a:rPr lang="en-US" altLang="zh-CN" sz="2800" smtClean="0"/>
              <a:t>)</a:t>
            </a:r>
            <a:r>
              <a:rPr lang="zh-CN" altLang="en-US" sz="2800" smtClean="0"/>
              <a:t>时为止，是发送一帧所需的平均时间。 </a:t>
            </a:r>
          </a:p>
        </p:txBody>
      </p:sp>
      <p:sp>
        <p:nvSpPr>
          <p:cNvPr id="72708" name="Line 4"/>
          <p:cNvSpPr>
            <a:spLocks noChangeShapeType="1"/>
          </p:cNvSpPr>
          <p:nvPr/>
        </p:nvSpPr>
        <p:spPr bwMode="auto">
          <a:xfrm>
            <a:off x="811213" y="5926138"/>
            <a:ext cx="7597775"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09" name="Rectangle 5"/>
          <p:cNvSpPr>
            <a:spLocks noChangeArrowheads="1"/>
          </p:cNvSpPr>
          <p:nvPr/>
        </p:nvSpPr>
        <p:spPr bwMode="auto">
          <a:xfrm>
            <a:off x="4611688" y="5767388"/>
            <a:ext cx="420687" cy="398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0" name="Line 6"/>
          <p:cNvSpPr>
            <a:spLocks noChangeShapeType="1"/>
          </p:cNvSpPr>
          <p:nvPr/>
        </p:nvSpPr>
        <p:spPr bwMode="auto">
          <a:xfrm>
            <a:off x="811213" y="4164013"/>
            <a:ext cx="4051300"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1" name="Line 7"/>
          <p:cNvSpPr>
            <a:spLocks noChangeShapeType="1"/>
          </p:cNvSpPr>
          <p:nvPr/>
        </p:nvSpPr>
        <p:spPr bwMode="auto">
          <a:xfrm>
            <a:off x="4862513" y="4164013"/>
            <a:ext cx="3546475"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2" name="Line 8"/>
          <p:cNvSpPr>
            <a:spLocks noChangeShapeType="1"/>
          </p:cNvSpPr>
          <p:nvPr/>
        </p:nvSpPr>
        <p:spPr bwMode="auto">
          <a:xfrm>
            <a:off x="7902575" y="5445125"/>
            <a:ext cx="50641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3" name="Rectangle 9"/>
          <p:cNvSpPr>
            <a:spLocks noChangeArrowheads="1"/>
          </p:cNvSpPr>
          <p:nvPr/>
        </p:nvSpPr>
        <p:spPr bwMode="auto">
          <a:xfrm>
            <a:off x="8083550" y="5345113"/>
            <a:ext cx="166688" cy="209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4" name="Line 10"/>
          <p:cNvSpPr>
            <a:spLocks noChangeShapeType="1"/>
          </p:cNvSpPr>
          <p:nvPr/>
        </p:nvSpPr>
        <p:spPr bwMode="auto">
          <a:xfrm>
            <a:off x="4862513" y="5445125"/>
            <a:ext cx="3040062"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5" name="Line 11"/>
          <p:cNvSpPr>
            <a:spLocks noChangeShapeType="1"/>
          </p:cNvSpPr>
          <p:nvPr/>
        </p:nvSpPr>
        <p:spPr bwMode="auto">
          <a:xfrm>
            <a:off x="3849688" y="5445125"/>
            <a:ext cx="1012825"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6" name="Rectangle 12"/>
          <p:cNvSpPr>
            <a:spLocks noChangeArrowheads="1"/>
          </p:cNvSpPr>
          <p:nvPr/>
        </p:nvSpPr>
        <p:spPr bwMode="auto">
          <a:xfrm>
            <a:off x="4144963" y="5335588"/>
            <a:ext cx="307975" cy="2603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7" name="Line 13"/>
          <p:cNvSpPr>
            <a:spLocks noChangeShapeType="1"/>
          </p:cNvSpPr>
          <p:nvPr/>
        </p:nvSpPr>
        <p:spPr bwMode="auto">
          <a:xfrm>
            <a:off x="1824038" y="5445125"/>
            <a:ext cx="1014412"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8" name="Rectangle 14"/>
          <p:cNvSpPr>
            <a:spLocks noChangeArrowheads="1"/>
          </p:cNvSpPr>
          <p:nvPr/>
        </p:nvSpPr>
        <p:spPr bwMode="auto">
          <a:xfrm>
            <a:off x="2119313" y="5260975"/>
            <a:ext cx="306387" cy="230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9" name="Line 15"/>
          <p:cNvSpPr>
            <a:spLocks noChangeShapeType="1"/>
          </p:cNvSpPr>
          <p:nvPr/>
        </p:nvSpPr>
        <p:spPr bwMode="auto">
          <a:xfrm>
            <a:off x="811213" y="5445125"/>
            <a:ext cx="1012825"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0" name="Freeform 16"/>
          <p:cNvSpPr>
            <a:spLocks/>
          </p:cNvSpPr>
          <p:nvPr/>
        </p:nvSpPr>
        <p:spPr bwMode="auto">
          <a:xfrm>
            <a:off x="4862513" y="4484688"/>
            <a:ext cx="3040062" cy="720725"/>
          </a:xfrm>
          <a:custGeom>
            <a:avLst/>
            <a:gdLst>
              <a:gd name="T0" fmla="*/ 0 w 1728"/>
              <a:gd name="T1" fmla="*/ 2147483647 h 432"/>
              <a:gd name="T2" fmla="*/ 0 w 1728"/>
              <a:gd name="T3" fmla="*/ 0 h 432"/>
              <a:gd name="T4" fmla="*/ 2147483647 w 1728"/>
              <a:gd name="T5" fmla="*/ 0 h 432"/>
              <a:gd name="T6" fmla="*/ 2147483647 w 1728"/>
              <a:gd name="T7" fmla="*/ 2147483647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8" h="432">
                <a:moveTo>
                  <a:pt x="0" y="432"/>
                </a:moveTo>
                <a:lnTo>
                  <a:pt x="0" y="0"/>
                </a:lnTo>
                <a:lnTo>
                  <a:pt x="1728" y="0"/>
                </a:lnTo>
                <a:lnTo>
                  <a:pt x="1728" y="432"/>
                </a:lnTo>
              </a:path>
            </a:pathLst>
          </a:custGeom>
          <a:solidFill>
            <a:srgbClr val="FFCCFF"/>
          </a:solidFill>
          <a:ln w="28575" cmpd="sng">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1" name="Text Box 17"/>
          <p:cNvSpPr txBox="1">
            <a:spLocks noChangeArrowheads="1"/>
          </p:cNvSpPr>
          <p:nvPr/>
        </p:nvSpPr>
        <p:spPr bwMode="auto">
          <a:xfrm>
            <a:off x="5538788" y="4611688"/>
            <a:ext cx="1936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发  送  成  功 </a:t>
            </a:r>
          </a:p>
        </p:txBody>
      </p:sp>
      <p:sp>
        <p:nvSpPr>
          <p:cNvPr id="72722" name="Text Box 18"/>
          <p:cNvSpPr txBox="1">
            <a:spLocks noChangeArrowheads="1"/>
          </p:cNvSpPr>
          <p:nvPr/>
        </p:nvSpPr>
        <p:spPr bwMode="auto">
          <a:xfrm>
            <a:off x="755650" y="4587875"/>
            <a:ext cx="1174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争用期 </a:t>
            </a:r>
          </a:p>
        </p:txBody>
      </p:sp>
      <p:sp>
        <p:nvSpPr>
          <p:cNvPr id="72723" name="Text Box 19"/>
          <p:cNvSpPr txBox="1">
            <a:spLocks noChangeArrowheads="1"/>
          </p:cNvSpPr>
          <p:nvPr/>
        </p:nvSpPr>
        <p:spPr bwMode="auto">
          <a:xfrm>
            <a:off x="1763713" y="4573588"/>
            <a:ext cx="1174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争用期 </a:t>
            </a:r>
          </a:p>
        </p:txBody>
      </p:sp>
      <p:sp>
        <p:nvSpPr>
          <p:cNvPr id="72724" name="Text Box 20"/>
          <p:cNvSpPr txBox="1">
            <a:spLocks noChangeArrowheads="1"/>
          </p:cNvSpPr>
          <p:nvPr/>
        </p:nvSpPr>
        <p:spPr bwMode="auto">
          <a:xfrm>
            <a:off x="3829050" y="4587875"/>
            <a:ext cx="1174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争用期 </a:t>
            </a:r>
          </a:p>
        </p:txBody>
      </p:sp>
      <p:sp>
        <p:nvSpPr>
          <p:cNvPr id="72725" name="Line 21"/>
          <p:cNvSpPr>
            <a:spLocks noChangeShapeType="1"/>
          </p:cNvSpPr>
          <p:nvPr/>
        </p:nvSpPr>
        <p:spPr bwMode="auto">
          <a:xfrm>
            <a:off x="3849688" y="4484688"/>
            <a:ext cx="0" cy="720725"/>
          </a:xfrm>
          <a:prstGeom prst="line">
            <a:avLst/>
          </a:prstGeom>
          <a:noFill/>
          <a:ln w="2857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6" name="Line 22"/>
          <p:cNvSpPr>
            <a:spLocks noChangeShapeType="1"/>
          </p:cNvSpPr>
          <p:nvPr/>
        </p:nvSpPr>
        <p:spPr bwMode="auto">
          <a:xfrm>
            <a:off x="2838450" y="4484688"/>
            <a:ext cx="0" cy="720725"/>
          </a:xfrm>
          <a:prstGeom prst="line">
            <a:avLst/>
          </a:prstGeom>
          <a:noFill/>
          <a:ln w="2857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7" name="Line 23"/>
          <p:cNvSpPr>
            <a:spLocks noChangeShapeType="1"/>
          </p:cNvSpPr>
          <p:nvPr/>
        </p:nvSpPr>
        <p:spPr bwMode="auto">
          <a:xfrm>
            <a:off x="1824038" y="4484688"/>
            <a:ext cx="0" cy="720725"/>
          </a:xfrm>
          <a:prstGeom prst="line">
            <a:avLst/>
          </a:prstGeom>
          <a:noFill/>
          <a:ln w="2857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8" name="Line 24"/>
          <p:cNvSpPr>
            <a:spLocks noChangeShapeType="1"/>
          </p:cNvSpPr>
          <p:nvPr/>
        </p:nvSpPr>
        <p:spPr bwMode="auto">
          <a:xfrm>
            <a:off x="811213" y="4484688"/>
            <a:ext cx="0" cy="720725"/>
          </a:xfrm>
          <a:prstGeom prst="line">
            <a:avLst/>
          </a:prstGeom>
          <a:noFill/>
          <a:ln w="2857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9" name="Line 25"/>
          <p:cNvSpPr>
            <a:spLocks noChangeShapeType="1"/>
          </p:cNvSpPr>
          <p:nvPr/>
        </p:nvSpPr>
        <p:spPr bwMode="auto">
          <a:xfrm>
            <a:off x="811213" y="5205413"/>
            <a:ext cx="0" cy="960437"/>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0" name="Line 26"/>
          <p:cNvSpPr>
            <a:spLocks noChangeShapeType="1"/>
          </p:cNvSpPr>
          <p:nvPr/>
        </p:nvSpPr>
        <p:spPr bwMode="auto">
          <a:xfrm>
            <a:off x="2838450" y="5205413"/>
            <a:ext cx="0" cy="4016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1" name="Line 27"/>
          <p:cNvSpPr>
            <a:spLocks noChangeShapeType="1"/>
          </p:cNvSpPr>
          <p:nvPr/>
        </p:nvSpPr>
        <p:spPr bwMode="auto">
          <a:xfrm>
            <a:off x="3849688" y="5205413"/>
            <a:ext cx="0" cy="4016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2" name="Line 28"/>
          <p:cNvSpPr>
            <a:spLocks noChangeShapeType="1"/>
          </p:cNvSpPr>
          <p:nvPr/>
        </p:nvSpPr>
        <p:spPr bwMode="auto">
          <a:xfrm>
            <a:off x="4862513" y="5205413"/>
            <a:ext cx="0" cy="4016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3" name="Line 29"/>
          <p:cNvSpPr>
            <a:spLocks noChangeShapeType="1"/>
          </p:cNvSpPr>
          <p:nvPr/>
        </p:nvSpPr>
        <p:spPr bwMode="auto">
          <a:xfrm>
            <a:off x="7902575" y="5205413"/>
            <a:ext cx="0" cy="4016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4" name="Line 30"/>
          <p:cNvSpPr>
            <a:spLocks noChangeShapeType="1"/>
          </p:cNvSpPr>
          <p:nvPr/>
        </p:nvSpPr>
        <p:spPr bwMode="auto">
          <a:xfrm>
            <a:off x="8408988" y="5205413"/>
            <a:ext cx="0" cy="88106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5" name="Line 31"/>
          <p:cNvSpPr>
            <a:spLocks noChangeShapeType="1"/>
          </p:cNvSpPr>
          <p:nvPr/>
        </p:nvSpPr>
        <p:spPr bwMode="auto">
          <a:xfrm>
            <a:off x="1824038" y="5205413"/>
            <a:ext cx="0" cy="4016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6" name="Rectangle 32"/>
          <p:cNvSpPr>
            <a:spLocks noChangeArrowheads="1"/>
          </p:cNvSpPr>
          <p:nvPr/>
        </p:nvSpPr>
        <p:spPr bwMode="auto">
          <a:xfrm>
            <a:off x="1117600" y="5213350"/>
            <a:ext cx="315913" cy="330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7" name="Text Box 33"/>
          <p:cNvSpPr txBox="1">
            <a:spLocks noChangeArrowheads="1"/>
          </p:cNvSpPr>
          <p:nvPr/>
        </p:nvSpPr>
        <p:spPr bwMode="auto">
          <a:xfrm>
            <a:off x="1054100" y="5229225"/>
            <a:ext cx="4381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i="1">
                <a:solidFill>
                  <a:srgbClr val="333399"/>
                </a:solidFill>
                <a:latin typeface="Times New Roman" pitchFamily="18" charset="0"/>
                <a:ea typeface="黑体" pitchFamily="49" charset="-122"/>
              </a:rPr>
              <a:t>τ</a:t>
            </a:r>
          </a:p>
        </p:txBody>
      </p:sp>
      <p:sp>
        <p:nvSpPr>
          <p:cNvPr id="72738" name="Text Box 34"/>
          <p:cNvSpPr txBox="1">
            <a:spLocks noChangeArrowheads="1"/>
          </p:cNvSpPr>
          <p:nvPr/>
        </p:nvSpPr>
        <p:spPr bwMode="auto">
          <a:xfrm>
            <a:off x="1025525" y="5229225"/>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Times New Roman" pitchFamily="18" charset="0"/>
                <a:ea typeface="黑体" pitchFamily="49" charset="-122"/>
              </a:rPr>
              <a:t>2</a:t>
            </a:r>
          </a:p>
        </p:txBody>
      </p:sp>
      <p:sp>
        <p:nvSpPr>
          <p:cNvPr id="72739" name="Text Box 35"/>
          <p:cNvSpPr txBox="1">
            <a:spLocks noChangeArrowheads="1"/>
          </p:cNvSpPr>
          <p:nvPr/>
        </p:nvSpPr>
        <p:spPr bwMode="auto">
          <a:xfrm>
            <a:off x="2063750" y="5229225"/>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i="1">
                <a:solidFill>
                  <a:srgbClr val="333399"/>
                </a:solidFill>
                <a:latin typeface="Times New Roman" pitchFamily="18" charset="0"/>
                <a:ea typeface="黑体" pitchFamily="49" charset="-122"/>
              </a:rPr>
              <a:t>τ</a:t>
            </a:r>
          </a:p>
        </p:txBody>
      </p:sp>
      <p:sp>
        <p:nvSpPr>
          <p:cNvPr id="72740" name="Text Box 36"/>
          <p:cNvSpPr txBox="1">
            <a:spLocks noChangeArrowheads="1"/>
          </p:cNvSpPr>
          <p:nvPr/>
        </p:nvSpPr>
        <p:spPr bwMode="auto">
          <a:xfrm>
            <a:off x="2049463" y="5229225"/>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Times New Roman" pitchFamily="18" charset="0"/>
                <a:ea typeface="黑体" pitchFamily="49" charset="-122"/>
              </a:rPr>
              <a:t>2</a:t>
            </a:r>
          </a:p>
        </p:txBody>
      </p:sp>
      <p:sp>
        <p:nvSpPr>
          <p:cNvPr id="72741" name="Text Box 37"/>
          <p:cNvSpPr txBox="1">
            <a:spLocks noChangeArrowheads="1"/>
          </p:cNvSpPr>
          <p:nvPr/>
        </p:nvSpPr>
        <p:spPr bwMode="auto">
          <a:xfrm>
            <a:off x="4103688" y="5229225"/>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i="1">
                <a:solidFill>
                  <a:srgbClr val="333399"/>
                </a:solidFill>
                <a:latin typeface="Times New Roman" pitchFamily="18" charset="0"/>
                <a:ea typeface="黑体" pitchFamily="49" charset="-122"/>
              </a:rPr>
              <a:t>τ</a:t>
            </a:r>
          </a:p>
        </p:txBody>
      </p:sp>
      <p:sp>
        <p:nvSpPr>
          <p:cNvPr id="72742" name="Text Box 38"/>
          <p:cNvSpPr txBox="1">
            <a:spLocks noChangeArrowheads="1"/>
          </p:cNvSpPr>
          <p:nvPr/>
        </p:nvSpPr>
        <p:spPr bwMode="auto">
          <a:xfrm>
            <a:off x="4075113" y="5233988"/>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Times New Roman" pitchFamily="18" charset="0"/>
                <a:ea typeface="黑体" pitchFamily="49" charset="-122"/>
              </a:rPr>
              <a:t>2</a:t>
            </a:r>
          </a:p>
        </p:txBody>
      </p:sp>
      <p:sp>
        <p:nvSpPr>
          <p:cNvPr id="72743" name="Rectangle 39"/>
          <p:cNvSpPr>
            <a:spLocks noChangeArrowheads="1"/>
          </p:cNvSpPr>
          <p:nvPr/>
        </p:nvSpPr>
        <p:spPr bwMode="auto">
          <a:xfrm>
            <a:off x="6278563" y="5284788"/>
            <a:ext cx="252412" cy="3222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4" name="Text Box 40"/>
          <p:cNvSpPr txBox="1">
            <a:spLocks noChangeArrowheads="1"/>
          </p:cNvSpPr>
          <p:nvPr/>
        </p:nvSpPr>
        <p:spPr bwMode="auto">
          <a:xfrm>
            <a:off x="6207125" y="5240338"/>
            <a:ext cx="4079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i="1">
                <a:solidFill>
                  <a:srgbClr val="333399"/>
                </a:solidFill>
                <a:latin typeface="Times New Roman" pitchFamily="18" charset="0"/>
                <a:ea typeface="黑体" pitchFamily="49" charset="-122"/>
              </a:rPr>
              <a:t>T</a:t>
            </a:r>
            <a:r>
              <a:rPr kumimoji="1" lang="en-US" altLang="zh-CN" baseline="-25000">
                <a:solidFill>
                  <a:srgbClr val="333399"/>
                </a:solidFill>
                <a:latin typeface="Times New Roman" pitchFamily="18" charset="0"/>
                <a:ea typeface="黑体" pitchFamily="49" charset="-122"/>
              </a:rPr>
              <a:t>0</a:t>
            </a:r>
            <a:endParaRPr kumimoji="1" lang="en-US" altLang="zh-CN">
              <a:solidFill>
                <a:srgbClr val="333399"/>
              </a:solidFill>
              <a:latin typeface="Times New Roman" pitchFamily="18" charset="0"/>
              <a:ea typeface="黑体" pitchFamily="49" charset="-122"/>
            </a:endParaRPr>
          </a:p>
        </p:txBody>
      </p:sp>
      <p:sp>
        <p:nvSpPr>
          <p:cNvPr id="72745" name="Text Box 41"/>
          <p:cNvSpPr txBox="1">
            <a:spLocks noChangeArrowheads="1"/>
          </p:cNvSpPr>
          <p:nvPr/>
        </p:nvSpPr>
        <p:spPr bwMode="auto">
          <a:xfrm>
            <a:off x="7913688" y="5229225"/>
            <a:ext cx="436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i="1">
                <a:solidFill>
                  <a:schemeClr val="tx2"/>
                </a:solidFill>
                <a:latin typeface="Times New Roman" pitchFamily="18" charset="0"/>
                <a:ea typeface="黑体" pitchFamily="49" charset="-122"/>
              </a:rPr>
              <a:t>τ</a:t>
            </a:r>
          </a:p>
        </p:txBody>
      </p:sp>
      <p:sp>
        <p:nvSpPr>
          <p:cNvPr id="72746" name="Text Box 42"/>
          <p:cNvSpPr txBox="1">
            <a:spLocks noChangeArrowheads="1"/>
          </p:cNvSpPr>
          <p:nvPr/>
        </p:nvSpPr>
        <p:spPr bwMode="auto">
          <a:xfrm>
            <a:off x="8620125" y="4832350"/>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i="1">
                <a:solidFill>
                  <a:schemeClr val="tx2"/>
                </a:solidFill>
                <a:latin typeface="Times New Roman" pitchFamily="18" charset="0"/>
                <a:ea typeface="黑体" pitchFamily="49" charset="-122"/>
              </a:rPr>
              <a:t>t</a:t>
            </a:r>
          </a:p>
        </p:txBody>
      </p:sp>
      <p:sp>
        <p:nvSpPr>
          <p:cNvPr id="72747" name="Line 43"/>
          <p:cNvSpPr>
            <a:spLocks noChangeShapeType="1"/>
          </p:cNvSpPr>
          <p:nvPr/>
        </p:nvSpPr>
        <p:spPr bwMode="auto">
          <a:xfrm>
            <a:off x="4862513" y="4003675"/>
            <a:ext cx="0" cy="40005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8" name="Line 44"/>
          <p:cNvSpPr>
            <a:spLocks noChangeShapeType="1"/>
          </p:cNvSpPr>
          <p:nvPr/>
        </p:nvSpPr>
        <p:spPr bwMode="auto">
          <a:xfrm>
            <a:off x="8408988" y="4003675"/>
            <a:ext cx="0" cy="120173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9" name="Text Box 45"/>
          <p:cNvSpPr txBox="1">
            <a:spLocks noChangeArrowheads="1"/>
          </p:cNvSpPr>
          <p:nvPr/>
        </p:nvSpPr>
        <p:spPr bwMode="auto">
          <a:xfrm>
            <a:off x="6045200" y="3917950"/>
            <a:ext cx="11747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占用期 </a:t>
            </a:r>
          </a:p>
        </p:txBody>
      </p:sp>
      <p:sp>
        <p:nvSpPr>
          <p:cNvPr id="72750" name="Text Box 46"/>
          <p:cNvSpPr txBox="1">
            <a:spLocks noChangeArrowheads="1"/>
          </p:cNvSpPr>
          <p:nvPr/>
        </p:nvSpPr>
        <p:spPr bwMode="auto">
          <a:xfrm>
            <a:off x="2155825" y="3917950"/>
            <a:ext cx="14795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发生碰撞 </a:t>
            </a:r>
          </a:p>
        </p:txBody>
      </p:sp>
      <p:sp>
        <p:nvSpPr>
          <p:cNvPr id="72751" name="Line 47"/>
          <p:cNvSpPr>
            <a:spLocks noChangeShapeType="1"/>
          </p:cNvSpPr>
          <p:nvPr/>
        </p:nvSpPr>
        <p:spPr bwMode="auto">
          <a:xfrm>
            <a:off x="811213" y="4003675"/>
            <a:ext cx="0" cy="38100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2" name="Text Box 48"/>
          <p:cNvSpPr txBox="1">
            <a:spLocks noChangeArrowheads="1"/>
          </p:cNvSpPr>
          <p:nvPr/>
        </p:nvSpPr>
        <p:spPr bwMode="auto">
          <a:xfrm>
            <a:off x="2987675" y="5661025"/>
            <a:ext cx="35369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zh-CN" sz="2400">
                <a:solidFill>
                  <a:srgbClr val="333399"/>
                </a:solidFill>
                <a:latin typeface="Times New Roman" pitchFamily="18" charset="0"/>
                <a:ea typeface="黑体" pitchFamily="49" charset="-122"/>
              </a:rPr>
              <a:t>发送一帧所需的平均时间</a:t>
            </a:r>
            <a:endParaRPr kumimoji="1" lang="zh-CN" altLang="en-US" sz="2400">
              <a:solidFill>
                <a:srgbClr val="333399"/>
              </a:solidFill>
              <a:latin typeface="Times New Roman" pitchFamily="18" charset="0"/>
              <a:ea typeface="黑体" pitchFamily="49" charset="-122"/>
            </a:endParaRPr>
          </a:p>
        </p:txBody>
      </p:sp>
      <p:sp>
        <p:nvSpPr>
          <p:cNvPr id="72753" name="Text Box 49"/>
          <p:cNvSpPr txBox="1">
            <a:spLocks noChangeArrowheads="1"/>
          </p:cNvSpPr>
          <p:nvPr/>
        </p:nvSpPr>
        <p:spPr bwMode="auto">
          <a:xfrm>
            <a:off x="3167063" y="4592638"/>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Times New Roman" pitchFamily="18" charset="0"/>
                <a:ea typeface="黑体" pitchFamily="49" charset="-122"/>
              </a:rPr>
              <a:t>…</a:t>
            </a:r>
          </a:p>
        </p:txBody>
      </p:sp>
      <p:sp>
        <p:nvSpPr>
          <p:cNvPr id="72754" name="Line 50"/>
          <p:cNvSpPr>
            <a:spLocks noChangeShapeType="1"/>
          </p:cNvSpPr>
          <p:nvPr/>
        </p:nvSpPr>
        <p:spPr bwMode="auto">
          <a:xfrm>
            <a:off x="304800" y="5205413"/>
            <a:ext cx="8442325"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algn="ctr" eaLnBrk="1" hangingPunct="1"/>
            <a:r>
              <a:rPr lang="zh-CN" altLang="en-US" smtClean="0"/>
              <a:t>参数 </a:t>
            </a:r>
            <a:r>
              <a:rPr lang="en-US" altLang="zh-CN" i="1" smtClean="0"/>
              <a:t>a</a:t>
            </a:r>
            <a:r>
              <a:rPr lang="en-US" altLang="zh-CN" smtClean="0"/>
              <a:t> </a:t>
            </a:r>
          </a:p>
        </p:txBody>
      </p:sp>
      <p:sp>
        <p:nvSpPr>
          <p:cNvPr id="73731" name="Rectangle 3"/>
          <p:cNvSpPr>
            <a:spLocks noGrp="1" noChangeArrowheads="1"/>
          </p:cNvSpPr>
          <p:nvPr>
            <p:ph type="body" idx="1"/>
          </p:nvPr>
        </p:nvSpPr>
        <p:spPr/>
        <p:txBody>
          <a:bodyPr/>
          <a:lstStyle/>
          <a:p>
            <a:pPr eaLnBrk="1" hangingPunct="1"/>
            <a:r>
              <a:rPr lang="zh-CN" altLang="en-US" sz="2800" smtClean="0"/>
              <a:t>要提高以太网的信道利用率，就必须减小 </a:t>
            </a:r>
            <a:r>
              <a:rPr lang="zh-CN" altLang="en-US" sz="2800" i="1" smtClean="0">
                <a:sym typeface="Symbol" pitchFamily="18" charset="2"/>
              </a:rPr>
              <a:t> </a:t>
            </a:r>
            <a:r>
              <a:rPr lang="zh-CN" altLang="en-US" sz="2800" smtClean="0"/>
              <a:t>与 </a:t>
            </a:r>
            <a:r>
              <a:rPr lang="en-US" altLang="zh-CN" sz="2800" i="1" smtClean="0"/>
              <a:t>T</a:t>
            </a:r>
            <a:r>
              <a:rPr lang="en-US" altLang="zh-CN" sz="2800" baseline="-25000" smtClean="0"/>
              <a:t>0 </a:t>
            </a:r>
            <a:r>
              <a:rPr lang="zh-CN" altLang="en-US" sz="2800" smtClean="0"/>
              <a:t>之比。在以太网中定义了参数 </a:t>
            </a:r>
            <a:r>
              <a:rPr lang="en-US" altLang="zh-CN" sz="2800" i="1" smtClean="0"/>
              <a:t>a</a:t>
            </a:r>
            <a:r>
              <a:rPr lang="zh-CN" altLang="en-US" sz="2800" smtClean="0"/>
              <a:t>，它是以太网单程端到端时延 </a:t>
            </a:r>
            <a:r>
              <a:rPr lang="zh-CN" altLang="en-US" sz="2800" i="1" smtClean="0">
                <a:sym typeface="Symbol" pitchFamily="18" charset="2"/>
              </a:rPr>
              <a:t> </a:t>
            </a:r>
            <a:r>
              <a:rPr lang="zh-CN" altLang="en-US" sz="2800" smtClean="0"/>
              <a:t>与帧的发送时间 </a:t>
            </a:r>
            <a:r>
              <a:rPr lang="en-US" altLang="zh-CN" sz="2800" i="1" smtClean="0"/>
              <a:t>T</a:t>
            </a:r>
            <a:r>
              <a:rPr lang="en-US" altLang="zh-CN" sz="2800" baseline="-25000" smtClean="0"/>
              <a:t>0 </a:t>
            </a:r>
            <a:r>
              <a:rPr lang="zh-CN" altLang="en-US" sz="2800" smtClean="0"/>
              <a:t>之比： </a:t>
            </a:r>
          </a:p>
        </p:txBody>
      </p:sp>
      <p:sp>
        <p:nvSpPr>
          <p:cNvPr id="73732"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73733" name="Object 4"/>
          <p:cNvGraphicFramePr>
            <a:graphicFrameLocks noChangeAspect="1"/>
          </p:cNvGraphicFramePr>
          <p:nvPr/>
        </p:nvGraphicFramePr>
        <p:xfrm>
          <a:off x="0" y="0"/>
          <a:ext cx="400050" cy="400050"/>
        </p:xfrm>
        <a:graphic>
          <a:graphicData uri="http://schemas.openxmlformats.org/presentationml/2006/ole">
            <mc:AlternateContent xmlns:mc="http://schemas.openxmlformats.org/markup-compatibility/2006">
              <mc:Choice xmlns:v="urn:schemas-microsoft-com:vml" Requires="v">
                <p:oleObj spid="_x0000_s73740" name="公式" r:id="rId3" imgW="431613" imgH="431613" progId="Equation.3">
                  <p:embed/>
                </p:oleObj>
              </mc:Choice>
              <mc:Fallback>
                <p:oleObj name="公式" r:id="rId3" imgW="431613" imgH="4316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34" name="Rectangle 7"/>
          <p:cNvSpPr>
            <a:spLocks noChangeArrowheads="1"/>
          </p:cNvSpPr>
          <p:nvPr/>
        </p:nvSpPr>
        <p:spPr bwMode="auto">
          <a:xfrm>
            <a:off x="0" y="32289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73735" name="Object 6"/>
          <p:cNvGraphicFramePr>
            <a:graphicFrameLocks noChangeAspect="1"/>
          </p:cNvGraphicFramePr>
          <p:nvPr/>
        </p:nvGraphicFramePr>
        <p:xfrm>
          <a:off x="3995738" y="2997200"/>
          <a:ext cx="1223962" cy="1223963"/>
        </p:xfrm>
        <a:graphic>
          <a:graphicData uri="http://schemas.openxmlformats.org/presentationml/2006/ole">
            <mc:AlternateContent xmlns:mc="http://schemas.openxmlformats.org/markup-compatibility/2006">
              <mc:Choice xmlns:v="urn:schemas-microsoft-com:vml" Requires="v">
                <p:oleObj spid="_x0000_s73741" name="公式" r:id="rId5" imgW="431613" imgH="431613" progId="Equation.3">
                  <p:embed/>
                </p:oleObj>
              </mc:Choice>
              <mc:Fallback>
                <p:oleObj name="公式" r:id="rId5" imgW="431613" imgH="431613"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2997200"/>
                        <a:ext cx="1223962"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36" name="Text Box 8"/>
          <p:cNvSpPr txBox="1">
            <a:spLocks noChangeArrowheads="1"/>
          </p:cNvSpPr>
          <p:nvPr/>
        </p:nvSpPr>
        <p:spPr bwMode="auto">
          <a:xfrm>
            <a:off x="7504113" y="3254375"/>
            <a:ext cx="938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en-US" altLang="zh-CN" sz="2800">
                <a:solidFill>
                  <a:schemeClr val="tx2"/>
                </a:solidFill>
                <a:latin typeface="Arial" pitchFamily="34" charset="0"/>
              </a:rPr>
              <a:t>(3-2)</a:t>
            </a:r>
          </a:p>
        </p:txBody>
      </p:sp>
      <p:sp>
        <p:nvSpPr>
          <p:cNvPr id="73737" name="Text Box 9"/>
          <p:cNvSpPr txBox="1">
            <a:spLocks noChangeArrowheads="1"/>
          </p:cNvSpPr>
          <p:nvPr/>
        </p:nvSpPr>
        <p:spPr bwMode="auto">
          <a:xfrm>
            <a:off x="1116013" y="4229100"/>
            <a:ext cx="7400925" cy="186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buFontTx/>
              <a:buChar char="•"/>
            </a:pPr>
            <a:r>
              <a:rPr lang="en-US" altLang="zh-CN" sz="2800" i="1">
                <a:solidFill>
                  <a:schemeClr val="tx2"/>
                </a:solidFill>
                <a:latin typeface="Arial" pitchFamily="34" charset="0"/>
                <a:ea typeface="黑体" pitchFamily="49" charset="-122"/>
              </a:rPr>
              <a:t>  a</a:t>
            </a:r>
            <a:r>
              <a:rPr lang="en-US" altLang="zh-CN" sz="2800">
                <a:solidFill>
                  <a:schemeClr val="tx2"/>
                </a:solidFill>
                <a:latin typeface="Arial" pitchFamily="34" charset="0"/>
                <a:ea typeface="黑体" pitchFamily="49" charset="-122"/>
              </a:rPr>
              <a:t>→0 </a:t>
            </a:r>
            <a:r>
              <a:rPr lang="zh-CN" altLang="en-US" sz="2800">
                <a:solidFill>
                  <a:schemeClr val="tx2"/>
                </a:solidFill>
                <a:latin typeface="Arial" pitchFamily="34" charset="0"/>
                <a:ea typeface="黑体" pitchFamily="49" charset="-122"/>
              </a:rPr>
              <a:t>表示一发生碰撞就立即可以检测出来，</a:t>
            </a:r>
          </a:p>
          <a:p>
            <a:pPr eaLnBrk="1" hangingPunct="1"/>
            <a:r>
              <a:rPr lang="zh-CN" altLang="en-US" sz="2800">
                <a:solidFill>
                  <a:schemeClr val="tx2"/>
                </a:solidFill>
                <a:latin typeface="Arial" pitchFamily="34" charset="0"/>
                <a:ea typeface="黑体" pitchFamily="49" charset="-122"/>
              </a:rPr>
              <a:t>   并立即停止发送，因而信道利用率很高。</a:t>
            </a:r>
          </a:p>
          <a:p>
            <a:pPr eaLnBrk="1" hangingPunct="1">
              <a:buFontTx/>
              <a:buChar char="•"/>
            </a:pPr>
            <a:r>
              <a:rPr lang="zh-CN" altLang="en-US" sz="2800" i="1">
                <a:solidFill>
                  <a:schemeClr val="tx2"/>
                </a:solidFill>
                <a:latin typeface="Arial" pitchFamily="34" charset="0"/>
                <a:ea typeface="黑体" pitchFamily="49" charset="-122"/>
              </a:rPr>
              <a:t>  </a:t>
            </a:r>
            <a:r>
              <a:rPr lang="en-US" altLang="zh-CN" sz="2800" i="1">
                <a:solidFill>
                  <a:schemeClr val="tx2"/>
                </a:solidFill>
                <a:latin typeface="Arial" pitchFamily="34" charset="0"/>
                <a:ea typeface="黑体" pitchFamily="49" charset="-122"/>
              </a:rPr>
              <a:t>a </a:t>
            </a:r>
            <a:r>
              <a:rPr lang="zh-CN" altLang="en-US" sz="2800">
                <a:solidFill>
                  <a:schemeClr val="tx2"/>
                </a:solidFill>
                <a:latin typeface="Arial" pitchFamily="34" charset="0"/>
                <a:ea typeface="黑体" pitchFamily="49" charset="-122"/>
              </a:rPr>
              <a:t>越大，表明</a:t>
            </a:r>
            <a:r>
              <a:rPr lang="zh-CN" altLang="en-US" sz="3200" i="1">
                <a:solidFill>
                  <a:srgbClr val="333399"/>
                </a:solidFill>
                <a:sym typeface="Symbol" pitchFamily="18" charset="2"/>
              </a:rPr>
              <a:t> </a:t>
            </a:r>
            <a:r>
              <a:rPr lang="zh-CN" altLang="en-US" sz="2800">
                <a:solidFill>
                  <a:schemeClr val="tx2"/>
                </a:solidFill>
                <a:latin typeface="Arial" pitchFamily="34" charset="0"/>
                <a:ea typeface="黑体" pitchFamily="49" charset="-122"/>
              </a:rPr>
              <a:t>所占的比例增大， 使得信道</a:t>
            </a:r>
          </a:p>
          <a:p>
            <a:pPr eaLnBrk="1" hangingPunct="1"/>
            <a:r>
              <a:rPr lang="zh-CN" altLang="en-US" sz="2800">
                <a:solidFill>
                  <a:schemeClr val="tx2"/>
                </a:solidFill>
                <a:latin typeface="Arial" pitchFamily="34" charset="0"/>
                <a:ea typeface="黑体" pitchFamily="49" charset="-122"/>
              </a:rPr>
              <a:t>   利用率降低。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algn="ctr" eaLnBrk="1" hangingPunct="1"/>
            <a:r>
              <a:rPr lang="zh-CN" altLang="en-US" smtClean="0"/>
              <a:t>对以太网参数的要求</a:t>
            </a:r>
          </a:p>
        </p:txBody>
      </p:sp>
      <p:sp>
        <p:nvSpPr>
          <p:cNvPr id="74755" name="Rectangle 3"/>
          <p:cNvSpPr>
            <a:spLocks noGrp="1" noChangeArrowheads="1"/>
          </p:cNvSpPr>
          <p:nvPr>
            <p:ph type="body" idx="1"/>
          </p:nvPr>
        </p:nvSpPr>
        <p:spPr/>
        <p:txBody>
          <a:bodyPr/>
          <a:lstStyle/>
          <a:p>
            <a:pPr eaLnBrk="1" hangingPunct="1"/>
            <a:r>
              <a:rPr lang="zh-CN" altLang="en-US" smtClean="0"/>
              <a:t>当数据率一定时，以太网的</a:t>
            </a:r>
            <a:r>
              <a:rPr lang="zh-CN" altLang="en-US" smtClean="0">
                <a:solidFill>
                  <a:schemeClr val="hlink"/>
                </a:solidFill>
              </a:rPr>
              <a:t>连线的长度</a:t>
            </a:r>
            <a:r>
              <a:rPr lang="zh-CN" altLang="en-US" smtClean="0"/>
              <a:t>应受到限制，否则 </a:t>
            </a:r>
            <a:r>
              <a:rPr lang="zh-CN" altLang="en-US" i="1" smtClean="0">
                <a:sym typeface="Symbol" pitchFamily="18" charset="2"/>
              </a:rPr>
              <a:t> </a:t>
            </a:r>
            <a:r>
              <a:rPr lang="zh-CN" altLang="en-US" smtClean="0"/>
              <a:t>的数值会太大。</a:t>
            </a:r>
          </a:p>
          <a:p>
            <a:pPr eaLnBrk="1" hangingPunct="1"/>
            <a:r>
              <a:rPr lang="zh-CN" altLang="en-US" smtClean="0"/>
              <a:t>以太网的</a:t>
            </a:r>
            <a:r>
              <a:rPr lang="zh-CN" altLang="en-US" smtClean="0">
                <a:solidFill>
                  <a:schemeClr val="hlink"/>
                </a:solidFill>
              </a:rPr>
              <a:t>帧长</a:t>
            </a:r>
            <a:r>
              <a:rPr lang="zh-CN" altLang="en-US" smtClean="0"/>
              <a:t>不能太短，否则 </a:t>
            </a:r>
            <a:r>
              <a:rPr lang="en-US" altLang="zh-CN" i="1" smtClean="0"/>
              <a:t>T</a:t>
            </a:r>
            <a:r>
              <a:rPr lang="en-US" altLang="zh-CN" baseline="-25000" smtClean="0"/>
              <a:t>0 </a:t>
            </a:r>
            <a:r>
              <a:rPr lang="zh-CN" altLang="en-US" smtClean="0"/>
              <a:t>的值会太小，使 </a:t>
            </a:r>
            <a:r>
              <a:rPr lang="en-US" altLang="zh-CN" i="1" smtClean="0"/>
              <a:t>a </a:t>
            </a:r>
            <a:r>
              <a:rPr lang="zh-CN" altLang="en-US" smtClean="0"/>
              <a:t>值太大。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body" idx="1"/>
          </p:nvPr>
        </p:nvSpPr>
        <p:spPr>
          <a:xfrm>
            <a:off x="611188" y="1773238"/>
            <a:ext cx="8137525" cy="2016125"/>
          </a:xfrm>
        </p:spPr>
        <p:txBody>
          <a:bodyPr/>
          <a:lstStyle/>
          <a:p>
            <a:pPr algn="just" eaLnBrk="1" hangingPunct="1">
              <a:lnSpc>
                <a:spcPct val="110000"/>
              </a:lnSpc>
            </a:pPr>
            <a:r>
              <a:rPr lang="zh-CN" altLang="en-US" sz="2800" smtClean="0"/>
              <a:t>发送一帧占用线路的时间是 </a:t>
            </a:r>
            <a:r>
              <a:rPr lang="en-US" altLang="zh-CN" sz="2800" i="1" smtClean="0"/>
              <a:t>T</a:t>
            </a:r>
            <a:r>
              <a:rPr lang="en-US" altLang="zh-CN" sz="2800" baseline="-25000" smtClean="0"/>
              <a:t>0</a:t>
            </a:r>
            <a:r>
              <a:rPr lang="en-US" altLang="zh-CN" sz="2800" smtClean="0"/>
              <a:t> + </a:t>
            </a:r>
            <a:r>
              <a:rPr lang="en-US" altLang="zh-CN" sz="2800" i="1" smtClean="0">
                <a:sym typeface="Symbol" pitchFamily="18" charset="2"/>
              </a:rPr>
              <a:t></a:t>
            </a:r>
            <a:r>
              <a:rPr lang="zh-CN" altLang="en-US" sz="2800" smtClean="0"/>
              <a:t>，而帧本身的发送时间是 </a:t>
            </a:r>
            <a:r>
              <a:rPr lang="en-US" altLang="zh-CN" sz="2800" i="1" smtClean="0"/>
              <a:t>T</a:t>
            </a:r>
            <a:r>
              <a:rPr lang="en-US" altLang="zh-CN" sz="2800" baseline="-25000" smtClean="0"/>
              <a:t>0</a:t>
            </a:r>
            <a:r>
              <a:rPr lang="zh-CN" altLang="en-US" sz="2800" smtClean="0"/>
              <a:t>。于是我们可计算出</a:t>
            </a:r>
            <a:r>
              <a:rPr lang="zh-CN" altLang="en-US" sz="2800" smtClean="0">
                <a:solidFill>
                  <a:schemeClr val="hlink"/>
                </a:solidFill>
              </a:rPr>
              <a:t>理想情况下（即无碰撞发生）</a:t>
            </a:r>
            <a:r>
              <a:rPr lang="zh-CN" altLang="en-US" sz="2800" smtClean="0"/>
              <a:t>的极限信道利用率 </a:t>
            </a:r>
            <a:r>
              <a:rPr lang="en-US" altLang="zh-CN" sz="2800" i="1" smtClean="0"/>
              <a:t>S</a:t>
            </a:r>
            <a:r>
              <a:rPr lang="en-US" altLang="zh-CN" sz="2800" baseline="-25000" smtClean="0"/>
              <a:t>max</a:t>
            </a:r>
            <a:r>
              <a:rPr lang="zh-CN" altLang="en-US" sz="2800" smtClean="0"/>
              <a:t>为： </a:t>
            </a:r>
          </a:p>
        </p:txBody>
      </p:sp>
      <p:sp>
        <p:nvSpPr>
          <p:cNvPr id="75779"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5780" name="Rectangle 4"/>
          <p:cNvSpPr>
            <a:spLocks noGrp="1" noChangeArrowheads="1"/>
          </p:cNvSpPr>
          <p:nvPr>
            <p:ph type="title"/>
          </p:nvPr>
        </p:nvSpPr>
        <p:spPr/>
        <p:txBody>
          <a:bodyPr/>
          <a:lstStyle/>
          <a:p>
            <a:pPr algn="ctr" eaLnBrk="1" hangingPunct="1"/>
            <a:r>
              <a:rPr lang="zh-CN" altLang="en-US" smtClean="0"/>
              <a:t>信道利用率的最大值 </a:t>
            </a:r>
            <a:r>
              <a:rPr lang="en-US" altLang="zh-CN" i="1" smtClean="0"/>
              <a:t>S</a:t>
            </a:r>
            <a:r>
              <a:rPr lang="en-US" altLang="zh-CN" baseline="-25000" smtClean="0"/>
              <a:t>max</a:t>
            </a:r>
            <a:r>
              <a:rPr lang="en-US" altLang="zh-CN" smtClean="0"/>
              <a:t> </a:t>
            </a:r>
          </a:p>
        </p:txBody>
      </p:sp>
      <p:sp>
        <p:nvSpPr>
          <p:cNvPr id="75781" name="Rectangle 9"/>
          <p:cNvSpPr>
            <a:spLocks noChangeArrowheads="1"/>
          </p:cNvSpPr>
          <p:nvPr/>
        </p:nvSpPr>
        <p:spPr bwMode="auto">
          <a:xfrm>
            <a:off x="0" y="3248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75782" name="Object 8"/>
          <p:cNvGraphicFramePr>
            <a:graphicFrameLocks noChangeAspect="1"/>
          </p:cNvGraphicFramePr>
          <p:nvPr/>
        </p:nvGraphicFramePr>
        <p:xfrm>
          <a:off x="2339975" y="3789363"/>
          <a:ext cx="3384550" cy="1119187"/>
        </p:xfrm>
        <a:graphic>
          <a:graphicData uri="http://schemas.openxmlformats.org/presentationml/2006/ole">
            <mc:AlternateContent xmlns:mc="http://schemas.openxmlformats.org/markup-compatibility/2006">
              <mc:Choice xmlns:v="urn:schemas-microsoft-com:vml" Requires="v">
                <p:oleObj spid="_x0000_s75785" name="公式" r:id="rId4" imgW="1282700" imgH="431800" progId="Equation.3">
                  <p:embed/>
                </p:oleObj>
              </mc:Choice>
              <mc:Fallback>
                <p:oleObj name="公式" r:id="rId4" imgW="1282700" imgH="4318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3789363"/>
                        <a:ext cx="3384550" cy="111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83" name="Text Box 10"/>
          <p:cNvSpPr txBox="1">
            <a:spLocks noChangeArrowheads="1"/>
          </p:cNvSpPr>
          <p:nvPr/>
        </p:nvSpPr>
        <p:spPr bwMode="auto">
          <a:xfrm>
            <a:off x="7092950" y="4292600"/>
            <a:ext cx="9382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en-US" altLang="zh-CN" sz="2800">
                <a:solidFill>
                  <a:schemeClr val="tx2"/>
                </a:solidFill>
                <a:latin typeface="Arial" pitchFamily="34" charset="0"/>
              </a:rPr>
              <a:t>(3-3)</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algn="ctr" eaLnBrk="1" hangingPunct="1"/>
            <a:r>
              <a:rPr lang="en-US" altLang="zh-CN" sz="2800" smtClean="0"/>
              <a:t>3.4.3   </a:t>
            </a:r>
            <a:r>
              <a:rPr lang="zh-CN" altLang="en-US" sz="2800" smtClean="0"/>
              <a:t>以太网的 </a:t>
            </a:r>
            <a:r>
              <a:rPr lang="en-US" altLang="zh-CN" sz="2800" smtClean="0"/>
              <a:t>MAC</a:t>
            </a:r>
            <a:r>
              <a:rPr lang="en-US" altLang="zh-CN" sz="2800" b="1" smtClean="0"/>
              <a:t> </a:t>
            </a:r>
            <a:r>
              <a:rPr lang="zh-CN" altLang="en-US" sz="2800" smtClean="0"/>
              <a:t>层（数据链路层）</a:t>
            </a:r>
            <a:br>
              <a:rPr lang="zh-CN" altLang="en-US" sz="2800" smtClean="0"/>
            </a:br>
            <a:r>
              <a:rPr lang="en-US" altLang="zh-CN" sz="2400" smtClean="0"/>
              <a:t>1.  MAC </a:t>
            </a:r>
            <a:r>
              <a:rPr lang="zh-CN" altLang="en-US" sz="2400" smtClean="0"/>
              <a:t>层的硬件地址</a:t>
            </a:r>
            <a:r>
              <a:rPr lang="zh-CN" altLang="en-US" smtClean="0"/>
              <a:t> </a:t>
            </a:r>
          </a:p>
        </p:txBody>
      </p:sp>
      <p:sp>
        <p:nvSpPr>
          <p:cNvPr id="440323" name="Rectangle 3"/>
          <p:cNvSpPr>
            <a:spLocks noGrp="1" noChangeArrowheads="1"/>
          </p:cNvSpPr>
          <p:nvPr>
            <p:ph type="body" idx="1"/>
          </p:nvPr>
        </p:nvSpPr>
        <p:spPr>
          <a:xfrm>
            <a:off x="827088" y="1917700"/>
            <a:ext cx="8137525" cy="4319588"/>
          </a:xfrm>
        </p:spPr>
        <p:txBody>
          <a:bodyPr/>
          <a:lstStyle/>
          <a:p>
            <a:pPr eaLnBrk="1" hangingPunct="1"/>
            <a:r>
              <a:rPr lang="zh-CN" altLang="en-US" smtClean="0"/>
              <a:t>在局域网中，</a:t>
            </a:r>
            <a:r>
              <a:rPr lang="zh-CN" altLang="en-US" smtClean="0">
                <a:solidFill>
                  <a:schemeClr val="hlink"/>
                </a:solidFill>
              </a:rPr>
              <a:t>硬件地址</a:t>
            </a:r>
            <a:r>
              <a:rPr lang="zh-CN" altLang="en-US" smtClean="0"/>
              <a:t>又称为</a:t>
            </a:r>
            <a:r>
              <a:rPr lang="zh-CN" altLang="en-US" smtClean="0">
                <a:solidFill>
                  <a:schemeClr val="hlink"/>
                </a:solidFill>
              </a:rPr>
              <a:t>物理地址</a:t>
            </a:r>
            <a:r>
              <a:rPr lang="zh-CN" altLang="en-US" smtClean="0"/>
              <a:t>，或 </a:t>
            </a:r>
            <a:r>
              <a:rPr lang="en-US" altLang="zh-CN" smtClean="0">
                <a:solidFill>
                  <a:schemeClr val="hlink"/>
                </a:solidFill>
              </a:rPr>
              <a:t>MAC </a:t>
            </a:r>
            <a:r>
              <a:rPr lang="zh-CN" altLang="en-US" smtClean="0">
                <a:solidFill>
                  <a:schemeClr val="hlink"/>
                </a:solidFill>
              </a:rPr>
              <a:t>地址</a:t>
            </a:r>
            <a:r>
              <a:rPr lang="zh-CN" altLang="en-US" smtClean="0"/>
              <a:t>。 </a:t>
            </a:r>
          </a:p>
          <a:p>
            <a:pPr eaLnBrk="1" hangingPunct="1"/>
            <a:r>
              <a:rPr lang="en-US" altLang="zh-CN" smtClean="0"/>
              <a:t>802</a:t>
            </a:r>
            <a:r>
              <a:rPr lang="en-US" altLang="zh-CN" b="1" smtClean="0"/>
              <a:t> </a:t>
            </a:r>
            <a:r>
              <a:rPr lang="zh-CN" altLang="en-US" smtClean="0"/>
              <a:t>标准所说的“地址”严格地讲应当是每一个站的“</a:t>
            </a:r>
            <a:r>
              <a:rPr lang="zh-CN" altLang="en-US" smtClean="0">
                <a:solidFill>
                  <a:schemeClr val="hlink"/>
                </a:solidFill>
              </a:rPr>
              <a:t>名字</a:t>
            </a:r>
            <a:r>
              <a:rPr lang="zh-CN" altLang="en-US" smtClean="0"/>
              <a:t>”或</a:t>
            </a:r>
            <a:r>
              <a:rPr lang="zh-CN" altLang="en-US" smtClean="0">
                <a:solidFill>
                  <a:schemeClr val="hlink"/>
                </a:solidFill>
              </a:rPr>
              <a:t>标识符</a:t>
            </a:r>
            <a:r>
              <a:rPr lang="zh-CN" altLang="en-US" smtClean="0"/>
              <a:t>。 </a:t>
            </a:r>
          </a:p>
          <a:p>
            <a:pPr eaLnBrk="1" hangingPunct="1"/>
            <a:r>
              <a:rPr lang="zh-CN" altLang="en-US" smtClean="0"/>
              <a:t>但鉴于大家都早已习惯了将这种 </a:t>
            </a:r>
            <a:r>
              <a:rPr lang="en-US" altLang="zh-CN" smtClean="0"/>
              <a:t>48 </a:t>
            </a:r>
            <a:r>
              <a:rPr lang="zh-CN" altLang="en-US" smtClean="0"/>
              <a:t>位的“名字”称为“地址”，所以本书也采用这种习惯用法，尽管这种说法并不太严格。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algn="ctr" eaLnBrk="1" hangingPunct="1"/>
            <a:r>
              <a:rPr lang="en-US" altLang="zh-CN" smtClean="0"/>
              <a:t>48 </a:t>
            </a:r>
            <a:r>
              <a:rPr lang="zh-CN" altLang="en-US" smtClean="0"/>
              <a:t>位的 </a:t>
            </a:r>
            <a:r>
              <a:rPr lang="en-US" altLang="zh-CN" smtClean="0"/>
              <a:t>MAC </a:t>
            </a:r>
            <a:r>
              <a:rPr lang="zh-CN" altLang="en-US" smtClean="0"/>
              <a:t>地址</a:t>
            </a:r>
          </a:p>
        </p:txBody>
      </p:sp>
      <p:sp>
        <p:nvSpPr>
          <p:cNvPr id="77827" name="Rectangle 3"/>
          <p:cNvSpPr>
            <a:spLocks noGrp="1" noChangeArrowheads="1"/>
          </p:cNvSpPr>
          <p:nvPr>
            <p:ph type="body" idx="1"/>
          </p:nvPr>
        </p:nvSpPr>
        <p:spPr>
          <a:xfrm>
            <a:off x="684213" y="1773238"/>
            <a:ext cx="8131175" cy="5084762"/>
          </a:xfrm>
        </p:spPr>
        <p:txBody>
          <a:bodyPr/>
          <a:lstStyle/>
          <a:p>
            <a:pPr eaLnBrk="1" hangingPunct="1">
              <a:lnSpc>
                <a:spcPct val="90000"/>
              </a:lnSpc>
            </a:pPr>
            <a:r>
              <a:rPr lang="en-US" altLang="zh-CN" smtClean="0"/>
              <a:t>IEEE </a:t>
            </a:r>
            <a:r>
              <a:rPr lang="zh-CN" altLang="en-US" smtClean="0"/>
              <a:t>的</a:t>
            </a:r>
            <a:r>
              <a:rPr lang="zh-CN" altLang="en-US" smtClean="0">
                <a:solidFill>
                  <a:schemeClr val="hlink"/>
                </a:solidFill>
              </a:rPr>
              <a:t>注册管理机构</a:t>
            </a:r>
            <a:r>
              <a:rPr lang="zh-CN" altLang="en-US" smtClean="0"/>
              <a:t> </a:t>
            </a:r>
            <a:r>
              <a:rPr lang="en-US" altLang="zh-CN" smtClean="0"/>
              <a:t>RA </a:t>
            </a:r>
            <a:r>
              <a:rPr lang="zh-CN" altLang="en-US" smtClean="0"/>
              <a:t>负责向厂家分配地址字段的前三个字节</a:t>
            </a:r>
            <a:r>
              <a:rPr lang="en-US" altLang="zh-CN" smtClean="0"/>
              <a:t>(</a:t>
            </a:r>
            <a:r>
              <a:rPr lang="zh-CN" altLang="en-US" smtClean="0"/>
              <a:t>即高位 </a:t>
            </a:r>
            <a:r>
              <a:rPr lang="en-US" altLang="zh-CN" smtClean="0"/>
              <a:t>24 </a:t>
            </a:r>
            <a:r>
              <a:rPr lang="zh-CN" altLang="en-US" smtClean="0"/>
              <a:t>位</a:t>
            </a:r>
            <a:r>
              <a:rPr lang="en-US" altLang="zh-CN" smtClean="0"/>
              <a:t>)</a:t>
            </a:r>
            <a:r>
              <a:rPr lang="zh-CN" altLang="en-US" smtClean="0"/>
              <a:t>。</a:t>
            </a:r>
          </a:p>
          <a:p>
            <a:pPr eaLnBrk="1" hangingPunct="1">
              <a:lnSpc>
                <a:spcPct val="90000"/>
              </a:lnSpc>
            </a:pPr>
            <a:r>
              <a:rPr lang="zh-CN" altLang="en-US" smtClean="0"/>
              <a:t>地址字段中的后三个字节</a:t>
            </a:r>
            <a:r>
              <a:rPr lang="en-US" altLang="zh-CN" smtClean="0"/>
              <a:t>(</a:t>
            </a:r>
            <a:r>
              <a:rPr lang="zh-CN" altLang="en-US" smtClean="0"/>
              <a:t>即低位 </a:t>
            </a:r>
            <a:r>
              <a:rPr lang="en-US" altLang="zh-CN" smtClean="0"/>
              <a:t>24 </a:t>
            </a:r>
            <a:r>
              <a:rPr lang="zh-CN" altLang="en-US" smtClean="0"/>
              <a:t>位</a:t>
            </a:r>
            <a:r>
              <a:rPr lang="en-US" altLang="zh-CN" smtClean="0"/>
              <a:t>)</a:t>
            </a:r>
            <a:r>
              <a:rPr lang="zh-CN" altLang="en-US" smtClean="0"/>
              <a:t>由厂家自行指派，称为</a:t>
            </a:r>
            <a:r>
              <a:rPr lang="zh-CN" altLang="en-US" smtClean="0">
                <a:solidFill>
                  <a:schemeClr val="hlink"/>
                </a:solidFill>
              </a:rPr>
              <a:t>扩展标识符</a:t>
            </a:r>
            <a:r>
              <a:rPr lang="zh-CN" altLang="en-US" smtClean="0"/>
              <a:t>，必须保证生产出的适配器没有重复地址。</a:t>
            </a:r>
          </a:p>
          <a:p>
            <a:pPr eaLnBrk="1" hangingPunct="1">
              <a:lnSpc>
                <a:spcPct val="90000"/>
              </a:lnSpc>
            </a:pPr>
            <a:r>
              <a:rPr lang="zh-CN" altLang="en-US" smtClean="0"/>
              <a:t>一个地址块可以生成</a:t>
            </a:r>
            <a:r>
              <a:rPr lang="en-US" altLang="zh-CN" smtClean="0"/>
              <a:t>2</a:t>
            </a:r>
            <a:r>
              <a:rPr lang="en-US" altLang="zh-CN" baseline="30000" smtClean="0"/>
              <a:t>24</a:t>
            </a:r>
            <a:r>
              <a:rPr lang="zh-CN" altLang="en-US" smtClean="0"/>
              <a:t>个不同的地址。这种 </a:t>
            </a:r>
            <a:r>
              <a:rPr lang="en-US" altLang="zh-CN" smtClean="0"/>
              <a:t>48 </a:t>
            </a:r>
            <a:r>
              <a:rPr lang="zh-CN" altLang="en-US" smtClean="0"/>
              <a:t>位地址称为 </a:t>
            </a:r>
            <a:r>
              <a:rPr lang="en-US" altLang="zh-CN" smtClean="0"/>
              <a:t>MAC-48</a:t>
            </a:r>
            <a:r>
              <a:rPr lang="zh-CN" altLang="en-US" smtClean="0"/>
              <a:t>，它的通用名称是</a:t>
            </a:r>
            <a:r>
              <a:rPr lang="en-US" altLang="zh-CN" smtClean="0"/>
              <a:t>EUI-48</a:t>
            </a:r>
            <a:r>
              <a:rPr lang="zh-CN" altLang="en-US" smtClean="0"/>
              <a:t>。</a:t>
            </a:r>
          </a:p>
          <a:p>
            <a:pPr eaLnBrk="1" hangingPunct="1">
              <a:lnSpc>
                <a:spcPct val="90000"/>
              </a:lnSpc>
            </a:pPr>
            <a:r>
              <a:rPr lang="zh-CN" altLang="en-US" smtClean="0"/>
              <a:t>“</a:t>
            </a:r>
            <a:r>
              <a:rPr lang="en-US" altLang="zh-CN" smtClean="0"/>
              <a:t>MAC</a:t>
            </a:r>
            <a:r>
              <a:rPr lang="zh-CN" altLang="en-US" smtClean="0"/>
              <a:t>地址”实际上就是适配器地址或适配器标识符</a:t>
            </a:r>
            <a:r>
              <a:rPr lang="en-US" altLang="zh-CN" smtClean="0"/>
              <a:t>EUI-48</a:t>
            </a:r>
            <a:r>
              <a:rPr lang="zh-CN" altLang="en-US" smtClean="0"/>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algn="ctr" eaLnBrk="1" hangingPunct="1"/>
            <a:r>
              <a:rPr lang="zh-CN" altLang="en-US" sz="4800" smtClean="0"/>
              <a:t>适配器检查 </a:t>
            </a:r>
            <a:r>
              <a:rPr lang="en-US" altLang="zh-CN" sz="4800" smtClean="0"/>
              <a:t>MAC </a:t>
            </a:r>
            <a:r>
              <a:rPr lang="zh-CN" altLang="en-US" sz="4800" smtClean="0"/>
              <a:t>地址 </a:t>
            </a:r>
          </a:p>
        </p:txBody>
      </p:sp>
      <p:sp>
        <p:nvSpPr>
          <p:cNvPr id="443395" name="Rectangle 3"/>
          <p:cNvSpPr>
            <a:spLocks noGrp="1" noChangeArrowheads="1"/>
          </p:cNvSpPr>
          <p:nvPr>
            <p:ph type="body" idx="1"/>
          </p:nvPr>
        </p:nvSpPr>
        <p:spPr>
          <a:xfrm>
            <a:off x="827088" y="1917700"/>
            <a:ext cx="8137525" cy="4319588"/>
          </a:xfrm>
        </p:spPr>
        <p:txBody>
          <a:bodyPr/>
          <a:lstStyle/>
          <a:p>
            <a:pPr eaLnBrk="1" hangingPunct="1">
              <a:lnSpc>
                <a:spcPct val="90000"/>
              </a:lnSpc>
            </a:pPr>
            <a:r>
              <a:rPr lang="zh-CN" altLang="en-US" smtClean="0"/>
              <a:t>适配器从网络上每收到一个 </a:t>
            </a:r>
            <a:r>
              <a:rPr lang="en-US" altLang="zh-CN" smtClean="0"/>
              <a:t>MAC </a:t>
            </a:r>
            <a:r>
              <a:rPr lang="zh-CN" altLang="en-US" smtClean="0"/>
              <a:t>帧就首先用硬件检查 </a:t>
            </a:r>
            <a:r>
              <a:rPr lang="en-US" altLang="zh-CN" smtClean="0"/>
              <a:t>MAC </a:t>
            </a:r>
            <a:r>
              <a:rPr lang="zh-CN" altLang="en-US" smtClean="0"/>
              <a:t>帧中的 </a:t>
            </a:r>
            <a:r>
              <a:rPr lang="en-US" altLang="zh-CN" smtClean="0"/>
              <a:t>MAC </a:t>
            </a:r>
            <a:r>
              <a:rPr lang="zh-CN" altLang="en-US" smtClean="0"/>
              <a:t>地址</a:t>
            </a:r>
            <a:r>
              <a:rPr lang="en-US" altLang="zh-CN" smtClean="0"/>
              <a:t>.</a:t>
            </a:r>
          </a:p>
          <a:p>
            <a:pPr lvl="1" eaLnBrk="1" hangingPunct="1">
              <a:lnSpc>
                <a:spcPct val="90000"/>
              </a:lnSpc>
            </a:pPr>
            <a:r>
              <a:rPr lang="zh-CN" altLang="en-US" smtClean="0">
                <a:solidFill>
                  <a:srgbClr val="333399"/>
                </a:solidFill>
                <a:ea typeface="黑体" pitchFamily="49" charset="-122"/>
              </a:rPr>
              <a:t>如果是发往本站的帧则收下，然后再进行其他的处理。</a:t>
            </a:r>
          </a:p>
          <a:p>
            <a:pPr lvl="1" eaLnBrk="1" hangingPunct="1">
              <a:lnSpc>
                <a:spcPct val="90000"/>
              </a:lnSpc>
            </a:pPr>
            <a:r>
              <a:rPr lang="zh-CN" altLang="en-US" smtClean="0">
                <a:solidFill>
                  <a:srgbClr val="333399"/>
                </a:solidFill>
                <a:ea typeface="黑体" pitchFamily="49" charset="-122"/>
              </a:rPr>
              <a:t>否则就将此帧丢弃，不再进行其他的处理。</a:t>
            </a:r>
          </a:p>
          <a:p>
            <a:pPr eaLnBrk="1" hangingPunct="1">
              <a:lnSpc>
                <a:spcPct val="90000"/>
              </a:lnSpc>
            </a:pPr>
            <a:r>
              <a:rPr lang="zh-CN" altLang="en-US" smtClean="0"/>
              <a:t>“发往本站的帧”包括以下三种帧： </a:t>
            </a:r>
          </a:p>
          <a:p>
            <a:pPr lvl="1" eaLnBrk="1" hangingPunct="1">
              <a:lnSpc>
                <a:spcPct val="90000"/>
              </a:lnSpc>
            </a:pPr>
            <a:r>
              <a:rPr lang="zh-CN" altLang="en-US" smtClean="0">
                <a:solidFill>
                  <a:srgbClr val="333399"/>
                </a:solidFill>
                <a:latin typeface="Arial" pitchFamily="34" charset="0"/>
                <a:ea typeface="黑体" pitchFamily="49" charset="-122"/>
              </a:rPr>
              <a:t>单播</a:t>
            </a:r>
            <a:r>
              <a:rPr lang="en-US" altLang="zh-CN" smtClean="0">
                <a:solidFill>
                  <a:srgbClr val="333399"/>
                </a:solidFill>
                <a:latin typeface="Arial" pitchFamily="34" charset="0"/>
                <a:ea typeface="黑体" pitchFamily="49" charset="-122"/>
              </a:rPr>
              <a:t>(unicast)</a:t>
            </a:r>
            <a:r>
              <a:rPr lang="zh-CN" altLang="en-US" smtClean="0">
                <a:solidFill>
                  <a:srgbClr val="333399"/>
                </a:solidFill>
                <a:latin typeface="Arial" pitchFamily="34" charset="0"/>
                <a:ea typeface="黑体" pitchFamily="49" charset="-122"/>
              </a:rPr>
              <a:t>帧（一对一）</a:t>
            </a:r>
          </a:p>
          <a:p>
            <a:pPr lvl="1" eaLnBrk="1" hangingPunct="1">
              <a:lnSpc>
                <a:spcPct val="90000"/>
              </a:lnSpc>
            </a:pPr>
            <a:r>
              <a:rPr lang="zh-CN" altLang="en-US" smtClean="0">
                <a:solidFill>
                  <a:srgbClr val="333399"/>
                </a:solidFill>
                <a:latin typeface="Arial" pitchFamily="34" charset="0"/>
                <a:ea typeface="黑体" pitchFamily="49" charset="-122"/>
              </a:rPr>
              <a:t>广播</a:t>
            </a:r>
            <a:r>
              <a:rPr lang="en-US" altLang="zh-CN" smtClean="0">
                <a:solidFill>
                  <a:srgbClr val="333399"/>
                </a:solidFill>
                <a:latin typeface="Arial" pitchFamily="34" charset="0"/>
                <a:ea typeface="黑体" pitchFamily="49" charset="-122"/>
              </a:rPr>
              <a:t>(broadcast)</a:t>
            </a:r>
            <a:r>
              <a:rPr lang="zh-CN" altLang="en-US" smtClean="0">
                <a:solidFill>
                  <a:srgbClr val="333399"/>
                </a:solidFill>
                <a:latin typeface="Arial" pitchFamily="34" charset="0"/>
                <a:ea typeface="黑体" pitchFamily="49" charset="-122"/>
              </a:rPr>
              <a:t>帧（一对全体）</a:t>
            </a:r>
          </a:p>
          <a:p>
            <a:pPr lvl="1" eaLnBrk="1" hangingPunct="1">
              <a:lnSpc>
                <a:spcPct val="90000"/>
              </a:lnSpc>
            </a:pPr>
            <a:r>
              <a:rPr lang="zh-CN" altLang="en-US" smtClean="0">
                <a:solidFill>
                  <a:srgbClr val="333399"/>
                </a:solidFill>
                <a:latin typeface="Arial" pitchFamily="34" charset="0"/>
                <a:ea typeface="黑体" pitchFamily="49" charset="-122"/>
              </a:rPr>
              <a:t>多播</a:t>
            </a:r>
            <a:r>
              <a:rPr lang="en-US" altLang="zh-CN" smtClean="0">
                <a:solidFill>
                  <a:srgbClr val="333399"/>
                </a:solidFill>
                <a:latin typeface="Arial" pitchFamily="34" charset="0"/>
                <a:ea typeface="黑体" pitchFamily="49" charset="-122"/>
              </a:rPr>
              <a:t>(multicast)</a:t>
            </a:r>
            <a:r>
              <a:rPr lang="zh-CN" altLang="en-US" smtClean="0">
                <a:solidFill>
                  <a:srgbClr val="333399"/>
                </a:solidFill>
                <a:latin typeface="Arial" pitchFamily="34" charset="0"/>
                <a:ea typeface="黑体" pitchFamily="49" charset="-122"/>
              </a:rPr>
              <a:t>帧（一对多）</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339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339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3395">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3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5"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algn="ctr" eaLnBrk="1" hangingPunct="1"/>
            <a:r>
              <a:rPr lang="en-US" altLang="zh-CN" smtClean="0"/>
              <a:t>2. MAC</a:t>
            </a:r>
            <a:r>
              <a:rPr lang="en-US" altLang="zh-CN" b="1" smtClean="0"/>
              <a:t> </a:t>
            </a:r>
            <a:r>
              <a:rPr lang="zh-CN" altLang="en-US" smtClean="0"/>
              <a:t>帧的格式 </a:t>
            </a:r>
          </a:p>
        </p:txBody>
      </p:sp>
      <p:sp>
        <p:nvSpPr>
          <p:cNvPr id="444419" name="Rectangle 3"/>
          <p:cNvSpPr>
            <a:spLocks noGrp="1" noChangeArrowheads="1"/>
          </p:cNvSpPr>
          <p:nvPr>
            <p:ph type="body" idx="1"/>
          </p:nvPr>
        </p:nvSpPr>
        <p:spPr>
          <a:xfrm>
            <a:off x="827088" y="1917700"/>
            <a:ext cx="8137525" cy="4319588"/>
          </a:xfrm>
        </p:spPr>
        <p:txBody>
          <a:bodyPr/>
          <a:lstStyle/>
          <a:p>
            <a:pPr eaLnBrk="1" hangingPunct="1"/>
            <a:r>
              <a:rPr lang="zh-CN" altLang="en-US" smtClean="0"/>
              <a:t>常用的以太网</a:t>
            </a:r>
            <a:r>
              <a:rPr lang="en-US" altLang="zh-CN" smtClean="0"/>
              <a:t>MAC</a:t>
            </a:r>
            <a:r>
              <a:rPr lang="zh-CN" altLang="en-US" smtClean="0"/>
              <a:t>帧格式有两种标准 ：</a:t>
            </a:r>
          </a:p>
          <a:p>
            <a:pPr lvl="1" eaLnBrk="1" hangingPunct="1"/>
            <a:r>
              <a:rPr lang="en-US" altLang="zh-CN" smtClean="0">
                <a:solidFill>
                  <a:srgbClr val="333399"/>
                </a:solidFill>
                <a:latin typeface="Arial" pitchFamily="34" charset="0"/>
                <a:ea typeface="黑体" pitchFamily="49" charset="-122"/>
              </a:rPr>
              <a:t>DIX Ethernet V2 </a:t>
            </a:r>
            <a:r>
              <a:rPr lang="zh-CN" altLang="en-US" smtClean="0">
                <a:solidFill>
                  <a:srgbClr val="333399"/>
                </a:solidFill>
                <a:latin typeface="Arial" pitchFamily="34" charset="0"/>
                <a:ea typeface="黑体" pitchFamily="49" charset="-122"/>
              </a:rPr>
              <a:t>标准</a:t>
            </a:r>
          </a:p>
          <a:p>
            <a:pPr lvl="1" eaLnBrk="1" hangingPunct="1"/>
            <a:r>
              <a:rPr lang="en-US" altLang="zh-CN" smtClean="0">
                <a:solidFill>
                  <a:srgbClr val="333399"/>
                </a:solidFill>
                <a:latin typeface="Arial" pitchFamily="34" charset="0"/>
                <a:ea typeface="黑体" pitchFamily="49" charset="-122"/>
              </a:rPr>
              <a:t>IEEE </a:t>
            </a:r>
            <a:r>
              <a:rPr lang="zh-CN" altLang="en-US" smtClean="0">
                <a:solidFill>
                  <a:srgbClr val="333399"/>
                </a:solidFill>
                <a:latin typeface="Arial" pitchFamily="34" charset="0"/>
                <a:ea typeface="黑体" pitchFamily="49" charset="-122"/>
              </a:rPr>
              <a:t>的 </a:t>
            </a:r>
            <a:r>
              <a:rPr lang="en-US" altLang="zh-CN" smtClean="0">
                <a:solidFill>
                  <a:srgbClr val="333399"/>
                </a:solidFill>
                <a:latin typeface="Arial" pitchFamily="34" charset="0"/>
                <a:ea typeface="黑体" pitchFamily="49" charset="-122"/>
              </a:rPr>
              <a:t>802.3 </a:t>
            </a:r>
            <a:r>
              <a:rPr lang="zh-CN" altLang="en-US" smtClean="0">
                <a:solidFill>
                  <a:srgbClr val="333399"/>
                </a:solidFill>
                <a:latin typeface="Arial" pitchFamily="34" charset="0"/>
                <a:ea typeface="黑体" pitchFamily="49" charset="-122"/>
              </a:rPr>
              <a:t>标准</a:t>
            </a:r>
          </a:p>
          <a:p>
            <a:pPr eaLnBrk="1" hangingPunct="1"/>
            <a:r>
              <a:rPr lang="zh-CN" altLang="en-US" smtClean="0"/>
              <a:t>最常用的 </a:t>
            </a:r>
            <a:r>
              <a:rPr lang="en-US" altLang="zh-CN" smtClean="0"/>
              <a:t>MAC </a:t>
            </a:r>
            <a:r>
              <a:rPr lang="zh-CN" altLang="en-US" smtClean="0"/>
              <a:t>帧是</a:t>
            </a:r>
            <a:r>
              <a:rPr lang="zh-CN" altLang="en-US" smtClean="0">
                <a:solidFill>
                  <a:schemeClr val="hlink"/>
                </a:solidFill>
              </a:rPr>
              <a:t>以太网 </a:t>
            </a:r>
            <a:r>
              <a:rPr lang="en-US" altLang="zh-CN" smtClean="0">
                <a:solidFill>
                  <a:schemeClr val="hlink"/>
                </a:solidFill>
              </a:rPr>
              <a:t>V2 </a:t>
            </a:r>
            <a:r>
              <a:rPr lang="zh-CN" altLang="en-US" smtClean="0">
                <a:solidFill>
                  <a:schemeClr val="hlink"/>
                </a:solidFill>
              </a:rPr>
              <a:t>的格式</a:t>
            </a:r>
            <a:r>
              <a:rPr lang="zh-CN" altLang="en-US" smtClean="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Line 3"/>
          <p:cNvSpPr>
            <a:spLocks noChangeShapeType="1"/>
          </p:cNvSpPr>
          <p:nvPr/>
        </p:nvSpPr>
        <p:spPr bwMode="auto">
          <a:xfrm>
            <a:off x="152400" y="3848100"/>
            <a:ext cx="8915400" cy="0"/>
          </a:xfrm>
          <a:prstGeom prst="line">
            <a:avLst/>
          </a:prstGeom>
          <a:noFill/>
          <a:ln w="38100" cmpd="dbl">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899" name="Rectangle 4"/>
          <p:cNvSpPr>
            <a:spLocks noChangeArrowheads="1"/>
          </p:cNvSpPr>
          <p:nvPr/>
        </p:nvSpPr>
        <p:spPr bwMode="auto">
          <a:xfrm>
            <a:off x="1554163" y="4083050"/>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0" name="Rectangle 5"/>
          <p:cNvSpPr>
            <a:spLocks noChangeArrowheads="1"/>
          </p:cNvSpPr>
          <p:nvPr/>
        </p:nvSpPr>
        <p:spPr bwMode="auto">
          <a:xfrm>
            <a:off x="1547813" y="4083050"/>
            <a:ext cx="6419850" cy="488950"/>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1" name="Rectangle 6"/>
          <p:cNvSpPr>
            <a:spLocks noChangeArrowheads="1"/>
          </p:cNvSpPr>
          <p:nvPr/>
        </p:nvSpPr>
        <p:spPr bwMode="auto">
          <a:xfrm>
            <a:off x="3965575" y="4149725"/>
            <a:ext cx="19018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以太网 </a:t>
            </a:r>
            <a:r>
              <a:rPr kumimoji="1" lang="en-US" altLang="zh-CN">
                <a:solidFill>
                  <a:srgbClr val="333399"/>
                </a:solidFill>
                <a:latin typeface="Arial" pitchFamily="34" charset="0"/>
                <a:ea typeface="黑体" pitchFamily="49" charset="-122"/>
              </a:rPr>
              <a:t>MAC </a:t>
            </a:r>
            <a:r>
              <a:rPr kumimoji="1" lang="zh-CN" altLang="en-US">
                <a:solidFill>
                  <a:srgbClr val="333399"/>
                </a:solidFill>
                <a:latin typeface="Arial" pitchFamily="34" charset="0"/>
                <a:ea typeface="黑体" pitchFamily="49" charset="-122"/>
              </a:rPr>
              <a:t>帧</a:t>
            </a:r>
          </a:p>
        </p:txBody>
      </p:sp>
      <p:sp>
        <p:nvSpPr>
          <p:cNvPr id="80902" name="Rectangle 13"/>
          <p:cNvSpPr>
            <a:spLocks noChangeArrowheads="1"/>
          </p:cNvSpPr>
          <p:nvPr/>
        </p:nvSpPr>
        <p:spPr bwMode="auto">
          <a:xfrm>
            <a:off x="8075613" y="4167188"/>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物理层</a:t>
            </a:r>
          </a:p>
        </p:txBody>
      </p:sp>
      <p:sp>
        <p:nvSpPr>
          <p:cNvPr id="80903" name="Rectangle 26"/>
          <p:cNvSpPr>
            <a:spLocks noChangeArrowheads="1"/>
          </p:cNvSpPr>
          <p:nvPr/>
        </p:nvSpPr>
        <p:spPr bwMode="auto">
          <a:xfrm>
            <a:off x="8035925" y="3213100"/>
            <a:ext cx="1000125"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MAC</a:t>
            </a:r>
            <a:r>
              <a:rPr kumimoji="1" lang="zh-CN" altLang="en-US">
                <a:solidFill>
                  <a:srgbClr val="333399"/>
                </a:solidFill>
                <a:latin typeface="Arial" pitchFamily="34" charset="0"/>
                <a:ea typeface="黑体" pitchFamily="49" charset="-122"/>
              </a:rPr>
              <a:t>层</a:t>
            </a:r>
          </a:p>
        </p:txBody>
      </p:sp>
      <p:sp>
        <p:nvSpPr>
          <p:cNvPr id="80904" name="Line 27"/>
          <p:cNvSpPr>
            <a:spLocks noChangeShapeType="1"/>
          </p:cNvSpPr>
          <p:nvPr/>
        </p:nvSpPr>
        <p:spPr bwMode="auto">
          <a:xfrm flipH="1">
            <a:off x="1546225" y="3573463"/>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05" name="Line 28"/>
          <p:cNvSpPr>
            <a:spLocks noChangeShapeType="1"/>
          </p:cNvSpPr>
          <p:nvPr/>
        </p:nvSpPr>
        <p:spPr bwMode="auto">
          <a:xfrm>
            <a:off x="7956550" y="3644900"/>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06" name="Rectangle 29"/>
          <p:cNvSpPr>
            <a:spLocks noChangeArrowheads="1"/>
          </p:cNvSpPr>
          <p:nvPr/>
        </p:nvSpPr>
        <p:spPr bwMode="auto">
          <a:xfrm>
            <a:off x="195263" y="5076825"/>
            <a:ext cx="4086225" cy="415925"/>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7" name="Rectangle 30"/>
          <p:cNvSpPr>
            <a:spLocks noChangeArrowheads="1"/>
          </p:cNvSpPr>
          <p:nvPr/>
        </p:nvSpPr>
        <p:spPr bwMode="auto">
          <a:xfrm>
            <a:off x="150813" y="5119688"/>
            <a:ext cx="418147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500">
                <a:solidFill>
                  <a:srgbClr val="333399"/>
                </a:solidFill>
                <a:latin typeface="黑体" pitchFamily="49" charset="-122"/>
                <a:ea typeface="黑体" pitchFamily="49" charset="-122"/>
              </a:rPr>
              <a:t>10101010101010        10101010101010101011</a:t>
            </a:r>
          </a:p>
        </p:txBody>
      </p:sp>
      <p:sp>
        <p:nvSpPr>
          <p:cNvPr id="80908" name="Line 31"/>
          <p:cNvSpPr>
            <a:spLocks noChangeShapeType="1"/>
          </p:cNvSpPr>
          <p:nvPr/>
        </p:nvSpPr>
        <p:spPr bwMode="auto">
          <a:xfrm>
            <a:off x="3373438" y="5073650"/>
            <a:ext cx="0" cy="43180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09" name="Rectangle 32"/>
          <p:cNvSpPr>
            <a:spLocks noChangeArrowheads="1"/>
          </p:cNvSpPr>
          <p:nvPr/>
        </p:nvSpPr>
        <p:spPr bwMode="auto">
          <a:xfrm>
            <a:off x="1335088" y="5530850"/>
            <a:ext cx="1196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前同步码</a:t>
            </a:r>
          </a:p>
        </p:txBody>
      </p:sp>
      <p:sp>
        <p:nvSpPr>
          <p:cNvPr id="80910" name="Rectangle 33"/>
          <p:cNvSpPr>
            <a:spLocks noChangeArrowheads="1"/>
          </p:cNvSpPr>
          <p:nvPr/>
        </p:nvSpPr>
        <p:spPr bwMode="auto">
          <a:xfrm>
            <a:off x="3348038" y="5502275"/>
            <a:ext cx="942975" cy="5778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0000"/>
              </a:lnSpc>
            </a:pPr>
            <a:r>
              <a:rPr kumimoji="1" lang="zh-CN" altLang="en-US">
                <a:solidFill>
                  <a:srgbClr val="333399"/>
                </a:solidFill>
                <a:latin typeface="Arial" pitchFamily="34" charset="0"/>
                <a:ea typeface="黑体" pitchFamily="49" charset="-122"/>
              </a:rPr>
              <a:t>帧开始</a:t>
            </a:r>
          </a:p>
          <a:p>
            <a:pPr defTabSz="762000" eaLnBrk="0" hangingPunct="0">
              <a:lnSpc>
                <a:spcPct val="80000"/>
              </a:lnSpc>
            </a:pPr>
            <a:r>
              <a:rPr kumimoji="1" lang="zh-CN" altLang="en-US">
                <a:solidFill>
                  <a:srgbClr val="333399"/>
                </a:solidFill>
                <a:latin typeface="Arial" pitchFamily="34" charset="0"/>
                <a:ea typeface="黑体" pitchFamily="49" charset="-122"/>
              </a:rPr>
              <a:t>定界符</a:t>
            </a:r>
          </a:p>
        </p:txBody>
      </p:sp>
      <p:sp>
        <p:nvSpPr>
          <p:cNvPr id="80911" name="Rectangle 34"/>
          <p:cNvSpPr>
            <a:spLocks noChangeArrowheads="1"/>
          </p:cNvSpPr>
          <p:nvPr/>
        </p:nvSpPr>
        <p:spPr bwMode="auto">
          <a:xfrm>
            <a:off x="1403350" y="4740275"/>
            <a:ext cx="75723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itchFamily="34" charset="0"/>
                <a:ea typeface="黑体" pitchFamily="49" charset="-122"/>
              </a:rPr>
              <a:t>7 </a:t>
            </a:r>
            <a:r>
              <a:rPr kumimoji="1" lang="zh-CN" altLang="en-US" sz="1600">
                <a:solidFill>
                  <a:srgbClr val="333399"/>
                </a:solidFill>
                <a:latin typeface="Arial" pitchFamily="34" charset="0"/>
                <a:ea typeface="黑体" pitchFamily="49" charset="-122"/>
              </a:rPr>
              <a:t>字节</a:t>
            </a:r>
          </a:p>
        </p:txBody>
      </p:sp>
      <p:sp>
        <p:nvSpPr>
          <p:cNvPr id="80912" name="Rectangle 35"/>
          <p:cNvSpPr>
            <a:spLocks noChangeArrowheads="1"/>
          </p:cNvSpPr>
          <p:nvPr/>
        </p:nvSpPr>
        <p:spPr bwMode="auto">
          <a:xfrm>
            <a:off x="3424238" y="4740275"/>
            <a:ext cx="7572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itchFamily="34" charset="0"/>
                <a:ea typeface="黑体" pitchFamily="49" charset="-122"/>
              </a:rPr>
              <a:t>1 </a:t>
            </a:r>
            <a:r>
              <a:rPr kumimoji="1" lang="zh-CN" altLang="en-US" sz="1600">
                <a:solidFill>
                  <a:srgbClr val="333399"/>
                </a:solidFill>
                <a:latin typeface="Arial" pitchFamily="34" charset="0"/>
                <a:ea typeface="黑体" pitchFamily="49" charset="-122"/>
              </a:rPr>
              <a:t>字节</a:t>
            </a:r>
          </a:p>
        </p:txBody>
      </p:sp>
      <p:sp>
        <p:nvSpPr>
          <p:cNvPr id="80913" name="Line 36"/>
          <p:cNvSpPr>
            <a:spLocks noChangeShapeType="1"/>
          </p:cNvSpPr>
          <p:nvPr/>
        </p:nvSpPr>
        <p:spPr bwMode="auto">
          <a:xfrm flipV="1">
            <a:off x="207963" y="4581525"/>
            <a:ext cx="292100" cy="492125"/>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14" name="Line 37"/>
          <p:cNvSpPr>
            <a:spLocks noChangeShapeType="1"/>
          </p:cNvSpPr>
          <p:nvPr/>
        </p:nvSpPr>
        <p:spPr bwMode="auto">
          <a:xfrm>
            <a:off x="1538288" y="4594225"/>
            <a:ext cx="2722562" cy="474663"/>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15" name="Text Box 38"/>
          <p:cNvSpPr txBox="1">
            <a:spLocks noChangeArrowheads="1"/>
          </p:cNvSpPr>
          <p:nvPr/>
        </p:nvSpPr>
        <p:spPr bwMode="auto">
          <a:xfrm>
            <a:off x="1746250" y="5084763"/>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a:solidFill>
                  <a:srgbClr val="333399"/>
                </a:solidFill>
                <a:latin typeface="Arial" pitchFamily="34" charset="0"/>
                <a:ea typeface="黑体" pitchFamily="49" charset="-122"/>
              </a:rPr>
              <a:t>…</a:t>
            </a:r>
          </a:p>
        </p:txBody>
      </p:sp>
      <p:sp>
        <p:nvSpPr>
          <p:cNvPr id="80916" name="Rectangle 41"/>
          <p:cNvSpPr>
            <a:spLocks noChangeArrowheads="1"/>
          </p:cNvSpPr>
          <p:nvPr/>
        </p:nvSpPr>
        <p:spPr bwMode="auto">
          <a:xfrm>
            <a:off x="528638" y="4076700"/>
            <a:ext cx="1019175" cy="488950"/>
          </a:xfrm>
          <a:prstGeom prst="rect">
            <a:avLst/>
          </a:prstGeom>
          <a:solidFill>
            <a:srgbClr val="FF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7" name="Rectangle 42"/>
          <p:cNvSpPr>
            <a:spLocks noChangeArrowheads="1"/>
          </p:cNvSpPr>
          <p:nvPr/>
        </p:nvSpPr>
        <p:spPr bwMode="auto">
          <a:xfrm>
            <a:off x="665163" y="4168775"/>
            <a:ext cx="7572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itchFamily="34" charset="0"/>
                <a:ea typeface="黑体" pitchFamily="49" charset="-122"/>
              </a:rPr>
              <a:t>8 </a:t>
            </a:r>
            <a:r>
              <a:rPr kumimoji="1" lang="zh-CN" altLang="en-US" sz="1600">
                <a:solidFill>
                  <a:srgbClr val="333399"/>
                </a:solidFill>
                <a:latin typeface="Arial" pitchFamily="34" charset="0"/>
                <a:ea typeface="黑体" pitchFamily="49" charset="-122"/>
              </a:rPr>
              <a:t>字节</a:t>
            </a:r>
          </a:p>
        </p:txBody>
      </p:sp>
      <p:sp>
        <p:nvSpPr>
          <p:cNvPr id="80918" name="AutoShape 43"/>
          <p:cNvSpPr>
            <a:spLocks noChangeArrowheads="1"/>
          </p:cNvSpPr>
          <p:nvPr/>
        </p:nvSpPr>
        <p:spPr bwMode="auto">
          <a:xfrm>
            <a:off x="271463" y="3721100"/>
            <a:ext cx="635000" cy="266700"/>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a:solidFill>
                <a:srgbClr val="333399"/>
              </a:solidFill>
              <a:latin typeface="Arial" pitchFamily="34" charset="0"/>
              <a:ea typeface="黑体" pitchFamily="49" charset="-122"/>
            </a:endParaRPr>
          </a:p>
        </p:txBody>
      </p:sp>
      <p:sp>
        <p:nvSpPr>
          <p:cNvPr id="80919" name="Rectangle 44"/>
          <p:cNvSpPr>
            <a:spLocks noChangeArrowheads="1"/>
          </p:cNvSpPr>
          <p:nvPr/>
        </p:nvSpPr>
        <p:spPr bwMode="auto">
          <a:xfrm>
            <a:off x="296863" y="3695700"/>
            <a:ext cx="587375"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插入</a:t>
            </a:r>
          </a:p>
        </p:txBody>
      </p:sp>
      <p:sp>
        <p:nvSpPr>
          <p:cNvPr id="80920" name="Rectangle 47"/>
          <p:cNvSpPr>
            <a:spLocks noChangeArrowheads="1"/>
          </p:cNvSpPr>
          <p:nvPr/>
        </p:nvSpPr>
        <p:spPr bwMode="auto">
          <a:xfrm>
            <a:off x="8180388" y="2324100"/>
            <a:ext cx="6746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IP</a:t>
            </a:r>
            <a:r>
              <a:rPr kumimoji="1" lang="zh-CN" altLang="en-US">
                <a:solidFill>
                  <a:srgbClr val="333399"/>
                </a:solidFill>
                <a:latin typeface="Arial" pitchFamily="34" charset="0"/>
                <a:ea typeface="黑体" pitchFamily="49" charset="-122"/>
              </a:rPr>
              <a:t>层</a:t>
            </a:r>
          </a:p>
        </p:txBody>
      </p:sp>
      <p:sp>
        <p:nvSpPr>
          <p:cNvPr id="80921" name="Line 48"/>
          <p:cNvSpPr>
            <a:spLocks noChangeShapeType="1"/>
          </p:cNvSpPr>
          <p:nvPr/>
        </p:nvSpPr>
        <p:spPr bwMode="auto">
          <a:xfrm>
            <a:off x="8027988" y="2857500"/>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2" name="AutoShape 64"/>
          <p:cNvSpPr>
            <a:spLocks noChangeArrowheads="1"/>
          </p:cNvSpPr>
          <p:nvPr/>
        </p:nvSpPr>
        <p:spPr bwMode="auto">
          <a:xfrm rot="16200000" flipH="1">
            <a:off x="4491832" y="3809206"/>
            <a:ext cx="609600" cy="230187"/>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3" name="Rectangle 66"/>
          <p:cNvSpPr>
            <a:spLocks noChangeArrowheads="1"/>
          </p:cNvSpPr>
          <p:nvPr/>
        </p:nvSpPr>
        <p:spPr bwMode="auto">
          <a:xfrm>
            <a:off x="1546225" y="3141663"/>
            <a:ext cx="6421438" cy="457200"/>
          </a:xfrm>
          <a:prstGeom prst="rect">
            <a:avLst/>
          </a:prstGeom>
          <a:solidFill>
            <a:srgbClr val="FFCCFF"/>
          </a:solidFill>
          <a:ln w="12700" algn="ctr">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80924" name="Line 67"/>
          <p:cNvSpPr>
            <a:spLocks noChangeShapeType="1"/>
          </p:cNvSpPr>
          <p:nvPr/>
        </p:nvSpPr>
        <p:spPr bwMode="auto">
          <a:xfrm>
            <a:off x="2481263" y="3141663"/>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5" name="Line 68"/>
          <p:cNvSpPr>
            <a:spLocks noChangeShapeType="1"/>
          </p:cNvSpPr>
          <p:nvPr/>
        </p:nvSpPr>
        <p:spPr bwMode="auto">
          <a:xfrm>
            <a:off x="3395663" y="3141663"/>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6" name="Line 69"/>
          <p:cNvSpPr>
            <a:spLocks noChangeShapeType="1"/>
          </p:cNvSpPr>
          <p:nvPr/>
        </p:nvSpPr>
        <p:spPr bwMode="auto">
          <a:xfrm>
            <a:off x="4310063" y="3141663"/>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7" name="Line 70"/>
          <p:cNvSpPr>
            <a:spLocks noChangeShapeType="1"/>
          </p:cNvSpPr>
          <p:nvPr/>
        </p:nvSpPr>
        <p:spPr bwMode="auto">
          <a:xfrm>
            <a:off x="7434263" y="3141663"/>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8" name="Rectangle 71"/>
          <p:cNvSpPr>
            <a:spLocks noChangeArrowheads="1"/>
          </p:cNvSpPr>
          <p:nvPr/>
        </p:nvSpPr>
        <p:spPr bwMode="auto">
          <a:xfrm>
            <a:off x="1476375" y="3187700"/>
            <a:ext cx="10953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目的地址</a:t>
            </a:r>
          </a:p>
        </p:txBody>
      </p:sp>
      <p:sp>
        <p:nvSpPr>
          <p:cNvPr id="80929" name="Rectangle 72"/>
          <p:cNvSpPr>
            <a:spLocks noChangeArrowheads="1"/>
          </p:cNvSpPr>
          <p:nvPr/>
        </p:nvSpPr>
        <p:spPr bwMode="auto">
          <a:xfrm>
            <a:off x="2484438" y="3187700"/>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源地址</a:t>
            </a:r>
          </a:p>
        </p:txBody>
      </p:sp>
      <p:sp>
        <p:nvSpPr>
          <p:cNvPr id="80930" name="Rectangle 73"/>
          <p:cNvSpPr>
            <a:spLocks noChangeArrowheads="1"/>
          </p:cNvSpPr>
          <p:nvPr/>
        </p:nvSpPr>
        <p:spPr bwMode="auto">
          <a:xfrm>
            <a:off x="3557588" y="3187700"/>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类型</a:t>
            </a:r>
          </a:p>
        </p:txBody>
      </p:sp>
      <p:sp>
        <p:nvSpPr>
          <p:cNvPr id="80931" name="Rectangle 74"/>
          <p:cNvSpPr>
            <a:spLocks noChangeArrowheads="1"/>
          </p:cNvSpPr>
          <p:nvPr/>
        </p:nvSpPr>
        <p:spPr bwMode="auto">
          <a:xfrm>
            <a:off x="5407025" y="3187700"/>
            <a:ext cx="1146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数        据</a:t>
            </a:r>
          </a:p>
        </p:txBody>
      </p:sp>
      <p:sp>
        <p:nvSpPr>
          <p:cNvPr id="80932" name="Rectangle 75"/>
          <p:cNvSpPr>
            <a:spLocks noChangeArrowheads="1"/>
          </p:cNvSpPr>
          <p:nvPr/>
        </p:nvSpPr>
        <p:spPr bwMode="auto">
          <a:xfrm>
            <a:off x="7380288" y="3187700"/>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FCS</a:t>
            </a:r>
          </a:p>
        </p:txBody>
      </p:sp>
      <p:sp>
        <p:nvSpPr>
          <p:cNvPr id="80933" name="Rectangle 76"/>
          <p:cNvSpPr>
            <a:spLocks noChangeArrowheads="1"/>
          </p:cNvSpPr>
          <p:nvPr/>
        </p:nvSpPr>
        <p:spPr bwMode="auto">
          <a:xfrm>
            <a:off x="1893888" y="2852738"/>
            <a:ext cx="29368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itchFamily="34" charset="0"/>
                <a:ea typeface="黑体" pitchFamily="49" charset="-122"/>
              </a:rPr>
              <a:t>6</a:t>
            </a:r>
          </a:p>
        </p:txBody>
      </p:sp>
      <p:sp>
        <p:nvSpPr>
          <p:cNvPr id="80934" name="Rectangle 77"/>
          <p:cNvSpPr>
            <a:spLocks noChangeArrowheads="1"/>
          </p:cNvSpPr>
          <p:nvPr/>
        </p:nvSpPr>
        <p:spPr bwMode="auto">
          <a:xfrm>
            <a:off x="2873375" y="2852738"/>
            <a:ext cx="2936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itchFamily="34" charset="0"/>
                <a:ea typeface="黑体" pitchFamily="49" charset="-122"/>
              </a:rPr>
              <a:t>6</a:t>
            </a:r>
          </a:p>
        </p:txBody>
      </p:sp>
      <p:sp>
        <p:nvSpPr>
          <p:cNvPr id="80935" name="Rectangle 78"/>
          <p:cNvSpPr>
            <a:spLocks noChangeArrowheads="1"/>
          </p:cNvSpPr>
          <p:nvPr/>
        </p:nvSpPr>
        <p:spPr bwMode="auto">
          <a:xfrm>
            <a:off x="3776663" y="2852738"/>
            <a:ext cx="29368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itchFamily="34" charset="0"/>
                <a:ea typeface="黑体" pitchFamily="49" charset="-122"/>
              </a:rPr>
              <a:t>2</a:t>
            </a:r>
          </a:p>
        </p:txBody>
      </p:sp>
      <p:sp>
        <p:nvSpPr>
          <p:cNvPr id="80936" name="Rectangle 79"/>
          <p:cNvSpPr>
            <a:spLocks noChangeArrowheads="1"/>
          </p:cNvSpPr>
          <p:nvPr/>
        </p:nvSpPr>
        <p:spPr bwMode="auto">
          <a:xfrm>
            <a:off x="7597775" y="2852738"/>
            <a:ext cx="2936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itchFamily="34" charset="0"/>
                <a:ea typeface="黑体" pitchFamily="49" charset="-122"/>
              </a:rPr>
              <a:t>4</a:t>
            </a:r>
          </a:p>
        </p:txBody>
      </p:sp>
      <p:sp>
        <p:nvSpPr>
          <p:cNvPr id="80937" name="Rectangle 80"/>
          <p:cNvSpPr>
            <a:spLocks noChangeArrowheads="1"/>
          </p:cNvSpPr>
          <p:nvPr/>
        </p:nvSpPr>
        <p:spPr bwMode="auto">
          <a:xfrm>
            <a:off x="1046163" y="2816225"/>
            <a:ext cx="5873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字节</a:t>
            </a:r>
          </a:p>
        </p:txBody>
      </p:sp>
      <p:sp>
        <p:nvSpPr>
          <p:cNvPr id="80938" name="Text Box 81"/>
          <p:cNvSpPr txBox="1">
            <a:spLocks noChangeArrowheads="1"/>
          </p:cNvSpPr>
          <p:nvPr/>
        </p:nvSpPr>
        <p:spPr bwMode="auto">
          <a:xfrm>
            <a:off x="5995988" y="2819400"/>
            <a:ext cx="10937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sz="1600">
                <a:solidFill>
                  <a:srgbClr val="333399"/>
                </a:solidFill>
                <a:latin typeface="Arial" pitchFamily="34" charset="0"/>
                <a:ea typeface="黑体" pitchFamily="49" charset="-122"/>
              </a:rPr>
              <a:t>46 ~ 1500</a:t>
            </a:r>
          </a:p>
        </p:txBody>
      </p:sp>
      <p:sp>
        <p:nvSpPr>
          <p:cNvPr id="445547" name="Line 107"/>
          <p:cNvSpPr>
            <a:spLocks noChangeShapeType="1"/>
          </p:cNvSpPr>
          <p:nvPr/>
        </p:nvSpPr>
        <p:spPr bwMode="auto">
          <a:xfrm flipH="1">
            <a:off x="1547813" y="1989138"/>
            <a:ext cx="0" cy="11620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5548" name="Line 108"/>
          <p:cNvSpPr>
            <a:spLocks noChangeShapeType="1"/>
          </p:cNvSpPr>
          <p:nvPr/>
        </p:nvSpPr>
        <p:spPr bwMode="auto">
          <a:xfrm>
            <a:off x="7956550" y="1989138"/>
            <a:ext cx="11113" cy="1152525"/>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45549" name="Group 109"/>
          <p:cNvGrpSpPr>
            <a:grpSpLocks/>
          </p:cNvGrpSpPr>
          <p:nvPr/>
        </p:nvGrpSpPr>
        <p:grpSpPr bwMode="auto">
          <a:xfrm>
            <a:off x="4310063" y="2324100"/>
            <a:ext cx="3124200" cy="990600"/>
            <a:chOff x="2715" y="1872"/>
            <a:chExt cx="1968" cy="624"/>
          </a:xfrm>
        </p:grpSpPr>
        <p:sp>
          <p:nvSpPr>
            <p:cNvPr id="80944" name="AutoShape 110"/>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45" name="Rectangle 111"/>
            <p:cNvSpPr>
              <a:spLocks noChangeArrowheads="1"/>
            </p:cNvSpPr>
            <p:nvPr/>
          </p:nvSpPr>
          <p:spPr bwMode="auto">
            <a:xfrm>
              <a:off x="2715" y="1872"/>
              <a:ext cx="1968" cy="240"/>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a:solidFill>
                    <a:srgbClr val="333399"/>
                  </a:solidFill>
                  <a:latin typeface="Arial" pitchFamily="34" charset="0"/>
                  <a:ea typeface="黑体" pitchFamily="49" charset="-122"/>
                </a:rPr>
                <a:t>IP </a:t>
              </a:r>
              <a:r>
                <a:rPr kumimoji="1" lang="zh-CN" altLang="en-US">
                  <a:solidFill>
                    <a:srgbClr val="333399"/>
                  </a:solidFill>
                  <a:latin typeface="Arial" pitchFamily="34" charset="0"/>
                  <a:ea typeface="黑体" pitchFamily="49" charset="-122"/>
                </a:rPr>
                <a:t>数据报</a:t>
              </a:r>
            </a:p>
          </p:txBody>
        </p:sp>
      </p:grpSp>
      <p:sp>
        <p:nvSpPr>
          <p:cNvPr id="445552" name="Rectangle 112"/>
          <p:cNvSpPr>
            <a:spLocks noChangeArrowheads="1"/>
          </p:cNvSpPr>
          <p:nvPr/>
        </p:nvSpPr>
        <p:spPr bwMode="auto">
          <a:xfrm>
            <a:off x="468313" y="3179763"/>
            <a:ext cx="1069975"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kumimoji="1" lang="en-US" altLang="zh-CN">
                <a:solidFill>
                  <a:schemeClr val="hlink"/>
                </a:solidFill>
                <a:effectLst>
                  <a:outerShdw blurRad="38100" dist="38100" dir="2700000" algn="tl">
                    <a:srgbClr val="C0C0C0"/>
                  </a:outerShdw>
                </a:effectLst>
                <a:latin typeface="Arial" charset="0"/>
                <a:ea typeface="黑体" pitchFamily="49" charset="-122"/>
              </a:rPr>
              <a:t>MAC </a:t>
            </a:r>
            <a:r>
              <a:rPr kumimoji="1" lang="zh-CN" altLang="en-US">
                <a:solidFill>
                  <a:schemeClr val="hlink"/>
                </a:solidFill>
                <a:effectLst>
                  <a:outerShdw blurRad="38100" dist="38100" dir="2700000" algn="tl">
                    <a:srgbClr val="C0C0C0"/>
                  </a:outerShdw>
                </a:effectLst>
                <a:latin typeface="Arial" charset="0"/>
                <a:ea typeface="黑体" pitchFamily="49" charset="-122"/>
              </a:rPr>
              <a:t>帧</a:t>
            </a:r>
          </a:p>
        </p:txBody>
      </p:sp>
      <p:sp>
        <p:nvSpPr>
          <p:cNvPr id="80943" name="Rectangle 113"/>
          <p:cNvSpPr>
            <a:spLocks noChangeArrowheads="1"/>
          </p:cNvSpPr>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lang="zh-CN" altLang="en-US" sz="4400">
                <a:solidFill>
                  <a:srgbClr val="333399"/>
                </a:solidFill>
                <a:latin typeface="Arial" pitchFamily="34" charset="0"/>
                <a:ea typeface="黑体" pitchFamily="49" charset="-122"/>
              </a:rPr>
              <a:t>以太网的 </a:t>
            </a:r>
            <a:r>
              <a:rPr lang="en-US" altLang="zh-CN" sz="4400">
                <a:solidFill>
                  <a:srgbClr val="333399"/>
                </a:solidFill>
                <a:latin typeface="Arial" pitchFamily="34" charset="0"/>
                <a:ea typeface="黑体" pitchFamily="49" charset="-122"/>
              </a:rPr>
              <a:t>MAC</a:t>
            </a:r>
            <a:r>
              <a:rPr lang="en-US" altLang="zh-CN" sz="4400" b="1">
                <a:solidFill>
                  <a:srgbClr val="333399"/>
                </a:solidFill>
                <a:latin typeface="Arial" pitchFamily="34" charset="0"/>
                <a:ea typeface="黑体" pitchFamily="49" charset="-122"/>
              </a:rPr>
              <a:t> </a:t>
            </a:r>
            <a:r>
              <a:rPr lang="zh-CN" altLang="en-US" sz="4400">
                <a:solidFill>
                  <a:srgbClr val="333399"/>
                </a:solidFill>
                <a:latin typeface="Arial" pitchFamily="34" charset="0"/>
                <a:ea typeface="黑体" pitchFamily="49" charset="-122"/>
              </a:rPr>
              <a:t>帧格式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withEffect">
                                  <p:stCondLst>
                                    <p:cond delay="0"/>
                                  </p:stCondLst>
                                  <p:childTnLst>
                                    <p:animEffect transition="out" filter="fade">
                                      <p:cBhvr>
                                        <p:cTn id="6" dur="2000"/>
                                        <p:tgtEl>
                                          <p:spTgt spid="445547"/>
                                        </p:tgtEl>
                                      </p:cBhvr>
                                    </p:animEffect>
                                    <p:set>
                                      <p:cBhvr>
                                        <p:cTn id="7" dur="1" fill="hold">
                                          <p:stCondLst>
                                            <p:cond delay="1999"/>
                                          </p:stCondLst>
                                        </p:cTn>
                                        <p:tgtEl>
                                          <p:spTgt spid="44554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2000"/>
                                        <p:tgtEl>
                                          <p:spTgt spid="445548"/>
                                        </p:tgtEl>
                                      </p:cBhvr>
                                    </p:animEffect>
                                    <p:set>
                                      <p:cBhvr>
                                        <p:cTn id="10" dur="1" fill="hold">
                                          <p:stCondLst>
                                            <p:cond delay="1999"/>
                                          </p:stCondLst>
                                        </p:cTn>
                                        <p:tgtEl>
                                          <p:spTgt spid="445548"/>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4000" fill="hold" nodeType="clickEffect">
                                  <p:stCondLst>
                                    <p:cond delay="0"/>
                                  </p:stCondLst>
                                  <p:childTnLst>
                                    <p:anim calcmode="discrete" valueType="str">
                                      <p:cBhvr>
                                        <p:cTn id="14" dur="500" fill="hold"/>
                                        <p:tgtEl>
                                          <p:spTgt spid="4455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547" grpId="0" animBg="1"/>
      <p:bldP spid="44554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Line 2"/>
          <p:cNvSpPr>
            <a:spLocks noChangeShapeType="1"/>
          </p:cNvSpPr>
          <p:nvPr/>
        </p:nvSpPr>
        <p:spPr bwMode="auto">
          <a:xfrm>
            <a:off x="152400" y="4495800"/>
            <a:ext cx="8915400" cy="0"/>
          </a:xfrm>
          <a:prstGeom prst="line">
            <a:avLst/>
          </a:prstGeom>
          <a:noFill/>
          <a:ln w="38100" cmpd="dbl">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23" name="Rectangle 3"/>
          <p:cNvSpPr>
            <a:spLocks noChangeArrowheads="1"/>
          </p:cNvSpPr>
          <p:nvPr/>
        </p:nvSpPr>
        <p:spPr bwMode="auto">
          <a:xfrm>
            <a:off x="1554163" y="4730750"/>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4" name="Rectangle 4"/>
          <p:cNvSpPr>
            <a:spLocks noChangeArrowheads="1"/>
          </p:cNvSpPr>
          <p:nvPr/>
        </p:nvSpPr>
        <p:spPr bwMode="auto">
          <a:xfrm>
            <a:off x="1547813" y="4730750"/>
            <a:ext cx="6419850" cy="488950"/>
          </a:xfrm>
          <a:prstGeom prst="rect">
            <a:avLst/>
          </a:prstGeom>
          <a:noFill/>
          <a:ln w="2857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5" name="Rectangle 5"/>
          <p:cNvSpPr>
            <a:spLocks noChangeArrowheads="1"/>
          </p:cNvSpPr>
          <p:nvPr/>
        </p:nvSpPr>
        <p:spPr bwMode="auto">
          <a:xfrm>
            <a:off x="4256088" y="4835525"/>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帧</a:t>
            </a:r>
          </a:p>
        </p:txBody>
      </p:sp>
      <p:sp>
        <p:nvSpPr>
          <p:cNvPr id="81926" name="Rectangle 6"/>
          <p:cNvSpPr>
            <a:spLocks noChangeArrowheads="1"/>
          </p:cNvSpPr>
          <p:nvPr/>
        </p:nvSpPr>
        <p:spPr bwMode="auto">
          <a:xfrm>
            <a:off x="8243888" y="4814888"/>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物理层</a:t>
            </a:r>
          </a:p>
        </p:txBody>
      </p:sp>
      <p:sp>
        <p:nvSpPr>
          <p:cNvPr id="81927" name="Rectangle 7"/>
          <p:cNvSpPr>
            <a:spLocks noChangeArrowheads="1"/>
          </p:cNvSpPr>
          <p:nvPr/>
        </p:nvSpPr>
        <p:spPr bwMode="auto">
          <a:xfrm>
            <a:off x="8213725" y="3886200"/>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层</a:t>
            </a:r>
          </a:p>
        </p:txBody>
      </p:sp>
      <p:sp>
        <p:nvSpPr>
          <p:cNvPr id="81928" name="Line 8"/>
          <p:cNvSpPr>
            <a:spLocks noChangeShapeType="1"/>
          </p:cNvSpPr>
          <p:nvPr/>
        </p:nvSpPr>
        <p:spPr bwMode="auto">
          <a:xfrm flipH="1">
            <a:off x="1546225" y="4221163"/>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29" name="Line 9"/>
          <p:cNvSpPr>
            <a:spLocks noChangeShapeType="1"/>
          </p:cNvSpPr>
          <p:nvPr/>
        </p:nvSpPr>
        <p:spPr bwMode="auto">
          <a:xfrm>
            <a:off x="7956550" y="4292600"/>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0" name="Rectangle 10"/>
          <p:cNvSpPr>
            <a:spLocks noChangeArrowheads="1"/>
          </p:cNvSpPr>
          <p:nvPr/>
        </p:nvSpPr>
        <p:spPr bwMode="auto">
          <a:xfrm>
            <a:off x="8348663" y="2971800"/>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层</a:t>
            </a:r>
          </a:p>
        </p:txBody>
      </p:sp>
      <p:sp>
        <p:nvSpPr>
          <p:cNvPr id="81931" name="Line 11"/>
          <p:cNvSpPr>
            <a:spLocks noChangeShapeType="1"/>
          </p:cNvSpPr>
          <p:nvPr/>
        </p:nvSpPr>
        <p:spPr bwMode="auto">
          <a:xfrm>
            <a:off x="8196263" y="3505200"/>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1932" name="Group 15"/>
          <p:cNvGrpSpPr>
            <a:grpSpLocks/>
          </p:cNvGrpSpPr>
          <p:nvPr/>
        </p:nvGrpSpPr>
        <p:grpSpPr bwMode="auto">
          <a:xfrm>
            <a:off x="1046163" y="3463925"/>
            <a:ext cx="6929437" cy="1412875"/>
            <a:chOff x="659" y="2182"/>
            <a:chExt cx="4365" cy="890"/>
          </a:xfrm>
        </p:grpSpPr>
        <p:sp>
          <p:nvSpPr>
            <p:cNvPr id="81938"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1939" name="Group 17"/>
            <p:cNvGrpSpPr>
              <a:grpSpLocks/>
            </p:cNvGrpSpPr>
            <p:nvPr/>
          </p:nvGrpSpPr>
          <p:grpSpPr bwMode="auto">
            <a:xfrm>
              <a:off x="659" y="2182"/>
              <a:ext cx="4365" cy="506"/>
              <a:chOff x="659" y="2182"/>
              <a:chExt cx="4365" cy="506"/>
            </a:xfrm>
          </p:grpSpPr>
          <p:sp>
            <p:nvSpPr>
              <p:cNvPr id="81940" name="Rectangle 18"/>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81941"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2"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3"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4"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5" name="Rectangle 23"/>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目的地址</a:t>
                </a:r>
              </a:p>
            </p:txBody>
          </p:sp>
          <p:sp>
            <p:nvSpPr>
              <p:cNvPr id="81946" name="Rectangle 24"/>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源地址</a:t>
                </a:r>
              </a:p>
            </p:txBody>
          </p:sp>
          <p:sp>
            <p:nvSpPr>
              <p:cNvPr id="81947" name="Rectangle 25"/>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类型</a:t>
                </a:r>
              </a:p>
            </p:txBody>
          </p:sp>
          <p:sp>
            <p:nvSpPr>
              <p:cNvPr id="81948" name="Rectangle 26"/>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数        据</a:t>
                </a:r>
              </a:p>
            </p:txBody>
          </p:sp>
          <p:sp>
            <p:nvSpPr>
              <p:cNvPr id="81949" name="Rectangle 27"/>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FCS</a:t>
                </a:r>
              </a:p>
            </p:txBody>
          </p:sp>
          <p:sp>
            <p:nvSpPr>
              <p:cNvPr id="81950" name="Rectangle 28"/>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1951" name="Rectangle 29"/>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1952" name="Rectangle 30"/>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2</a:t>
                </a:r>
              </a:p>
            </p:txBody>
          </p:sp>
          <p:sp>
            <p:nvSpPr>
              <p:cNvPr id="81953" name="Rectangle 31"/>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4</a:t>
                </a:r>
              </a:p>
            </p:txBody>
          </p:sp>
          <p:sp>
            <p:nvSpPr>
              <p:cNvPr id="81954" name="Rectangle 32"/>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字节</a:t>
                </a:r>
              </a:p>
            </p:txBody>
          </p:sp>
          <p:sp>
            <p:nvSpPr>
              <p:cNvPr id="81955" name="Text Box 33"/>
              <p:cNvSpPr txBox="1">
                <a:spLocks noChangeArrowheads="1"/>
              </p:cNvSpPr>
              <p:nvPr/>
            </p:nvSpPr>
            <p:spPr bwMode="auto">
              <a:xfrm>
                <a:off x="3777" y="2185"/>
                <a:ext cx="6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sz="1600">
                    <a:solidFill>
                      <a:srgbClr val="333399"/>
                    </a:solidFill>
                    <a:latin typeface="Times New Roman" pitchFamily="18" charset="0"/>
                  </a:rPr>
                  <a:t>46 ~ 1500</a:t>
                </a:r>
              </a:p>
            </p:txBody>
          </p:sp>
        </p:grpSp>
      </p:grpSp>
      <p:grpSp>
        <p:nvGrpSpPr>
          <p:cNvPr id="81933" name="Group 34"/>
          <p:cNvGrpSpPr>
            <a:grpSpLocks/>
          </p:cNvGrpSpPr>
          <p:nvPr/>
        </p:nvGrpSpPr>
        <p:grpSpPr bwMode="auto">
          <a:xfrm>
            <a:off x="4310063" y="2971800"/>
            <a:ext cx="3124200" cy="990600"/>
            <a:chOff x="2715" y="1872"/>
            <a:chExt cx="1968" cy="624"/>
          </a:xfrm>
        </p:grpSpPr>
        <p:sp>
          <p:nvSpPr>
            <p:cNvPr id="81936"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7"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数据报</a:t>
              </a:r>
            </a:p>
          </p:txBody>
        </p:sp>
      </p:grpSp>
      <p:sp>
        <p:nvSpPr>
          <p:cNvPr id="81934" name="Rectangle 37"/>
          <p:cNvSpPr>
            <a:spLocks noGrp="1" noChangeArrowheads="1"/>
          </p:cNvSpPr>
          <p:nvPr>
            <p:ph type="title"/>
          </p:nvPr>
        </p:nvSpPr>
        <p:spPr>
          <a:xfrm>
            <a:off x="900113" y="188913"/>
            <a:ext cx="7793037" cy="768350"/>
          </a:xfrm>
        </p:spPr>
        <p:txBody>
          <a:bodyPr/>
          <a:lstStyle/>
          <a:p>
            <a:pPr algn="ctr" eaLnBrk="1" hangingPunct="1"/>
            <a:r>
              <a:rPr lang="zh-CN" altLang="en-US" smtClean="0"/>
              <a:t>以太网 </a:t>
            </a:r>
            <a:r>
              <a:rPr lang="en-US" altLang="zh-CN" smtClean="0"/>
              <a:t>V2 </a:t>
            </a:r>
            <a:r>
              <a:rPr lang="zh-CN" altLang="en-US" smtClean="0"/>
              <a:t>的 </a:t>
            </a:r>
            <a:r>
              <a:rPr lang="en-US" altLang="zh-CN" smtClean="0"/>
              <a:t>MAC </a:t>
            </a:r>
            <a:r>
              <a:rPr lang="zh-CN" altLang="en-US" smtClean="0"/>
              <a:t>帧格式</a:t>
            </a:r>
          </a:p>
        </p:txBody>
      </p:sp>
      <p:sp>
        <p:nvSpPr>
          <p:cNvPr id="81935" name="AutoShape 38"/>
          <p:cNvSpPr>
            <a:spLocks noChangeArrowheads="1"/>
          </p:cNvSpPr>
          <p:nvPr/>
        </p:nvSpPr>
        <p:spPr bwMode="auto">
          <a:xfrm>
            <a:off x="2843213" y="2133600"/>
            <a:ext cx="3384550" cy="504825"/>
          </a:xfrm>
          <a:prstGeom prst="wedgeRoundRectCallout">
            <a:avLst>
              <a:gd name="adj1" fmla="val -75375"/>
              <a:gd name="adj2" fmla="val 306917"/>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solidFill>
                  <a:srgbClr val="333399"/>
                </a:solidFill>
                <a:latin typeface="Arial" pitchFamily="34" charset="0"/>
                <a:ea typeface="黑体" pitchFamily="49" charset="-122"/>
              </a:rPr>
              <a:t>目的地址字段 </a:t>
            </a:r>
            <a:r>
              <a:rPr lang="en-US" altLang="zh-CN" sz="2400">
                <a:solidFill>
                  <a:srgbClr val="333399"/>
                </a:solidFill>
                <a:latin typeface="Arial" pitchFamily="34" charset="0"/>
                <a:ea typeface="黑体" pitchFamily="49" charset="-122"/>
              </a:rPr>
              <a:t>6 </a:t>
            </a:r>
            <a:r>
              <a:rPr lang="zh-CN" altLang="en-US" sz="2400">
                <a:solidFill>
                  <a:srgbClr val="333399"/>
                </a:solidFill>
                <a:latin typeface="Arial" pitchFamily="34" charset="0"/>
                <a:ea typeface="黑体" pitchFamily="49" charset="-122"/>
              </a:rPr>
              <a:t>字节</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Line 2"/>
          <p:cNvSpPr>
            <a:spLocks noChangeShapeType="1"/>
          </p:cNvSpPr>
          <p:nvPr/>
        </p:nvSpPr>
        <p:spPr bwMode="auto">
          <a:xfrm>
            <a:off x="152400" y="4495800"/>
            <a:ext cx="8915400" cy="0"/>
          </a:xfrm>
          <a:prstGeom prst="line">
            <a:avLst/>
          </a:prstGeom>
          <a:noFill/>
          <a:ln w="38100" cmpd="dbl">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47" name="Rectangle 3"/>
          <p:cNvSpPr>
            <a:spLocks noChangeArrowheads="1"/>
          </p:cNvSpPr>
          <p:nvPr/>
        </p:nvSpPr>
        <p:spPr bwMode="auto">
          <a:xfrm>
            <a:off x="1554163" y="4730750"/>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48" name="Rectangle 4"/>
          <p:cNvSpPr>
            <a:spLocks noChangeArrowheads="1"/>
          </p:cNvSpPr>
          <p:nvPr/>
        </p:nvSpPr>
        <p:spPr bwMode="auto">
          <a:xfrm>
            <a:off x="1547813" y="4730750"/>
            <a:ext cx="6419850" cy="4889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49" name="Rectangle 5"/>
          <p:cNvSpPr>
            <a:spLocks noChangeArrowheads="1"/>
          </p:cNvSpPr>
          <p:nvPr/>
        </p:nvSpPr>
        <p:spPr bwMode="auto">
          <a:xfrm>
            <a:off x="4256088" y="4835525"/>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帧</a:t>
            </a:r>
          </a:p>
        </p:txBody>
      </p:sp>
      <p:sp>
        <p:nvSpPr>
          <p:cNvPr id="82950" name="Rectangle 6"/>
          <p:cNvSpPr>
            <a:spLocks noChangeArrowheads="1"/>
          </p:cNvSpPr>
          <p:nvPr/>
        </p:nvSpPr>
        <p:spPr bwMode="auto">
          <a:xfrm>
            <a:off x="8243888" y="4814888"/>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物理层</a:t>
            </a:r>
          </a:p>
        </p:txBody>
      </p:sp>
      <p:sp>
        <p:nvSpPr>
          <p:cNvPr id="82951" name="Rectangle 7"/>
          <p:cNvSpPr>
            <a:spLocks noChangeArrowheads="1"/>
          </p:cNvSpPr>
          <p:nvPr/>
        </p:nvSpPr>
        <p:spPr bwMode="auto">
          <a:xfrm>
            <a:off x="8213725" y="3886200"/>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层</a:t>
            </a:r>
          </a:p>
        </p:txBody>
      </p:sp>
      <p:sp>
        <p:nvSpPr>
          <p:cNvPr id="82952" name="Line 8"/>
          <p:cNvSpPr>
            <a:spLocks noChangeShapeType="1"/>
          </p:cNvSpPr>
          <p:nvPr/>
        </p:nvSpPr>
        <p:spPr bwMode="auto">
          <a:xfrm flipH="1">
            <a:off x="1546225" y="4221163"/>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3" name="Line 9"/>
          <p:cNvSpPr>
            <a:spLocks noChangeShapeType="1"/>
          </p:cNvSpPr>
          <p:nvPr/>
        </p:nvSpPr>
        <p:spPr bwMode="auto">
          <a:xfrm>
            <a:off x="7956550" y="4292600"/>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4" name="Rectangle 10"/>
          <p:cNvSpPr>
            <a:spLocks noChangeArrowheads="1"/>
          </p:cNvSpPr>
          <p:nvPr/>
        </p:nvSpPr>
        <p:spPr bwMode="auto">
          <a:xfrm>
            <a:off x="8348663" y="2971800"/>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层</a:t>
            </a:r>
          </a:p>
        </p:txBody>
      </p:sp>
      <p:sp>
        <p:nvSpPr>
          <p:cNvPr id="82955" name="Line 11"/>
          <p:cNvSpPr>
            <a:spLocks noChangeShapeType="1"/>
          </p:cNvSpPr>
          <p:nvPr/>
        </p:nvSpPr>
        <p:spPr bwMode="auto">
          <a:xfrm>
            <a:off x="8196263" y="3505200"/>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956" name="Group 15"/>
          <p:cNvGrpSpPr>
            <a:grpSpLocks/>
          </p:cNvGrpSpPr>
          <p:nvPr/>
        </p:nvGrpSpPr>
        <p:grpSpPr bwMode="auto">
          <a:xfrm>
            <a:off x="1046163" y="3463925"/>
            <a:ext cx="6929437" cy="1412875"/>
            <a:chOff x="659" y="2182"/>
            <a:chExt cx="4365" cy="890"/>
          </a:xfrm>
        </p:grpSpPr>
        <p:sp>
          <p:nvSpPr>
            <p:cNvPr id="82962"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963" name="Group 17"/>
            <p:cNvGrpSpPr>
              <a:grpSpLocks/>
            </p:cNvGrpSpPr>
            <p:nvPr/>
          </p:nvGrpSpPr>
          <p:grpSpPr bwMode="auto">
            <a:xfrm>
              <a:off x="659" y="2182"/>
              <a:ext cx="4365" cy="506"/>
              <a:chOff x="659" y="2182"/>
              <a:chExt cx="4365" cy="506"/>
            </a:xfrm>
          </p:grpSpPr>
          <p:sp>
            <p:nvSpPr>
              <p:cNvPr id="82964" name="Rectangle 18"/>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82965"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6"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7"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8"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9" name="Rectangle 23"/>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目的地址</a:t>
                </a:r>
              </a:p>
            </p:txBody>
          </p:sp>
          <p:sp>
            <p:nvSpPr>
              <p:cNvPr id="82970" name="Rectangle 24"/>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源地址</a:t>
                </a:r>
              </a:p>
            </p:txBody>
          </p:sp>
          <p:sp>
            <p:nvSpPr>
              <p:cNvPr id="82971" name="Rectangle 25"/>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类型</a:t>
                </a:r>
              </a:p>
            </p:txBody>
          </p:sp>
          <p:sp>
            <p:nvSpPr>
              <p:cNvPr id="82972" name="Rectangle 26"/>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数        据</a:t>
                </a:r>
              </a:p>
            </p:txBody>
          </p:sp>
          <p:sp>
            <p:nvSpPr>
              <p:cNvPr id="82973" name="Rectangle 27"/>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FCS</a:t>
                </a:r>
              </a:p>
            </p:txBody>
          </p:sp>
          <p:sp>
            <p:nvSpPr>
              <p:cNvPr id="82974" name="Rectangle 28"/>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2975" name="Rectangle 29"/>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2976" name="Rectangle 30"/>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2</a:t>
                </a:r>
              </a:p>
            </p:txBody>
          </p:sp>
          <p:sp>
            <p:nvSpPr>
              <p:cNvPr id="82977" name="Rectangle 31"/>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4</a:t>
                </a:r>
              </a:p>
            </p:txBody>
          </p:sp>
          <p:sp>
            <p:nvSpPr>
              <p:cNvPr id="82978" name="Rectangle 32"/>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字节</a:t>
                </a:r>
              </a:p>
            </p:txBody>
          </p:sp>
          <p:sp>
            <p:nvSpPr>
              <p:cNvPr id="82979" name="Text Box 33"/>
              <p:cNvSpPr txBox="1">
                <a:spLocks noChangeArrowheads="1"/>
              </p:cNvSpPr>
              <p:nvPr/>
            </p:nvSpPr>
            <p:spPr bwMode="auto">
              <a:xfrm>
                <a:off x="3777" y="2185"/>
                <a:ext cx="6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sz="1600">
                    <a:solidFill>
                      <a:srgbClr val="333399"/>
                    </a:solidFill>
                    <a:latin typeface="Times New Roman" pitchFamily="18" charset="0"/>
                  </a:rPr>
                  <a:t>46 ~ 1500</a:t>
                </a:r>
              </a:p>
            </p:txBody>
          </p:sp>
        </p:grpSp>
      </p:grpSp>
      <p:grpSp>
        <p:nvGrpSpPr>
          <p:cNvPr id="82957" name="Group 34"/>
          <p:cNvGrpSpPr>
            <a:grpSpLocks/>
          </p:cNvGrpSpPr>
          <p:nvPr/>
        </p:nvGrpSpPr>
        <p:grpSpPr bwMode="auto">
          <a:xfrm>
            <a:off x="4310063" y="2971800"/>
            <a:ext cx="3124200" cy="990600"/>
            <a:chOff x="2715" y="1872"/>
            <a:chExt cx="1968" cy="624"/>
          </a:xfrm>
        </p:grpSpPr>
        <p:sp>
          <p:nvSpPr>
            <p:cNvPr id="82960"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1" name="Rectangle 36"/>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数据报</a:t>
              </a:r>
            </a:p>
          </p:txBody>
        </p:sp>
      </p:grpSp>
      <p:sp>
        <p:nvSpPr>
          <p:cNvPr id="82958" name="Rectangle 37"/>
          <p:cNvSpPr>
            <a:spLocks noGrp="1" noChangeArrowheads="1"/>
          </p:cNvSpPr>
          <p:nvPr>
            <p:ph type="title"/>
          </p:nvPr>
        </p:nvSpPr>
        <p:spPr>
          <a:xfrm>
            <a:off x="900113" y="188913"/>
            <a:ext cx="7793037" cy="768350"/>
          </a:xfrm>
        </p:spPr>
        <p:txBody>
          <a:bodyPr/>
          <a:lstStyle/>
          <a:p>
            <a:pPr algn="ctr" eaLnBrk="1" hangingPunct="1"/>
            <a:r>
              <a:rPr lang="zh-CN" altLang="en-US" smtClean="0"/>
              <a:t>以太网 </a:t>
            </a:r>
            <a:r>
              <a:rPr lang="en-US" altLang="zh-CN" smtClean="0"/>
              <a:t>V2 </a:t>
            </a:r>
            <a:r>
              <a:rPr lang="zh-CN" altLang="en-US" smtClean="0"/>
              <a:t>的 </a:t>
            </a:r>
            <a:r>
              <a:rPr lang="en-US" altLang="zh-CN" smtClean="0"/>
              <a:t>MAC </a:t>
            </a:r>
            <a:r>
              <a:rPr lang="zh-CN" altLang="en-US" smtClean="0"/>
              <a:t>帧格式</a:t>
            </a:r>
          </a:p>
        </p:txBody>
      </p:sp>
      <p:sp>
        <p:nvSpPr>
          <p:cNvPr id="82959" name="AutoShape 38"/>
          <p:cNvSpPr>
            <a:spLocks noChangeArrowheads="1"/>
          </p:cNvSpPr>
          <p:nvPr/>
        </p:nvSpPr>
        <p:spPr bwMode="auto">
          <a:xfrm>
            <a:off x="2843213" y="2133600"/>
            <a:ext cx="2952750" cy="504825"/>
          </a:xfrm>
          <a:prstGeom prst="wedgeRoundRectCallout">
            <a:avLst>
              <a:gd name="adj1" fmla="val -43278"/>
              <a:gd name="adj2" fmla="val 314153"/>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solidFill>
                  <a:srgbClr val="333399"/>
                </a:solidFill>
                <a:latin typeface="Arial" pitchFamily="34" charset="0"/>
                <a:ea typeface="黑体" pitchFamily="49" charset="-122"/>
              </a:rPr>
              <a:t>源地址字段 </a:t>
            </a:r>
            <a:r>
              <a:rPr lang="en-US" altLang="zh-CN" sz="2400">
                <a:solidFill>
                  <a:srgbClr val="333399"/>
                </a:solidFill>
                <a:latin typeface="Arial" pitchFamily="34" charset="0"/>
                <a:ea typeface="黑体" pitchFamily="49" charset="-122"/>
              </a:rPr>
              <a:t>6 </a:t>
            </a:r>
            <a:r>
              <a:rPr lang="zh-CN" altLang="en-US" sz="2400">
                <a:solidFill>
                  <a:srgbClr val="333399"/>
                </a:solidFill>
                <a:latin typeface="Arial" pitchFamily="34" charset="0"/>
                <a:ea typeface="黑体" pitchFamily="49" charset="-122"/>
              </a:rPr>
              <a:t>字节</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Line 2"/>
          <p:cNvSpPr>
            <a:spLocks noChangeShapeType="1"/>
          </p:cNvSpPr>
          <p:nvPr/>
        </p:nvSpPr>
        <p:spPr bwMode="auto">
          <a:xfrm>
            <a:off x="152400" y="4495800"/>
            <a:ext cx="8915400" cy="0"/>
          </a:xfrm>
          <a:prstGeom prst="line">
            <a:avLst/>
          </a:prstGeom>
          <a:noFill/>
          <a:ln w="38100" cmpd="dbl">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71" name="Rectangle 3"/>
          <p:cNvSpPr>
            <a:spLocks noChangeArrowheads="1"/>
          </p:cNvSpPr>
          <p:nvPr/>
        </p:nvSpPr>
        <p:spPr bwMode="auto">
          <a:xfrm>
            <a:off x="1554163" y="4730750"/>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2" name="Rectangle 4"/>
          <p:cNvSpPr>
            <a:spLocks noChangeArrowheads="1"/>
          </p:cNvSpPr>
          <p:nvPr/>
        </p:nvSpPr>
        <p:spPr bwMode="auto">
          <a:xfrm>
            <a:off x="1547813" y="4730750"/>
            <a:ext cx="6419850" cy="488950"/>
          </a:xfrm>
          <a:prstGeom prst="rect">
            <a:avLst/>
          </a:prstGeom>
          <a:noFill/>
          <a:ln w="2857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3" name="Rectangle 5"/>
          <p:cNvSpPr>
            <a:spLocks noChangeArrowheads="1"/>
          </p:cNvSpPr>
          <p:nvPr/>
        </p:nvSpPr>
        <p:spPr bwMode="auto">
          <a:xfrm>
            <a:off x="4256088" y="4835525"/>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帧</a:t>
            </a:r>
          </a:p>
        </p:txBody>
      </p:sp>
      <p:sp>
        <p:nvSpPr>
          <p:cNvPr id="83974" name="Rectangle 6"/>
          <p:cNvSpPr>
            <a:spLocks noChangeArrowheads="1"/>
          </p:cNvSpPr>
          <p:nvPr/>
        </p:nvSpPr>
        <p:spPr bwMode="auto">
          <a:xfrm>
            <a:off x="8243888" y="4814888"/>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物理层</a:t>
            </a:r>
          </a:p>
        </p:txBody>
      </p:sp>
      <p:sp>
        <p:nvSpPr>
          <p:cNvPr id="83975" name="Rectangle 7"/>
          <p:cNvSpPr>
            <a:spLocks noChangeArrowheads="1"/>
          </p:cNvSpPr>
          <p:nvPr/>
        </p:nvSpPr>
        <p:spPr bwMode="auto">
          <a:xfrm>
            <a:off x="8213725" y="3886200"/>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层</a:t>
            </a:r>
          </a:p>
        </p:txBody>
      </p:sp>
      <p:sp>
        <p:nvSpPr>
          <p:cNvPr id="83976" name="Line 8"/>
          <p:cNvSpPr>
            <a:spLocks noChangeShapeType="1"/>
          </p:cNvSpPr>
          <p:nvPr/>
        </p:nvSpPr>
        <p:spPr bwMode="auto">
          <a:xfrm flipH="1">
            <a:off x="1546225" y="4221163"/>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77" name="Line 9"/>
          <p:cNvSpPr>
            <a:spLocks noChangeShapeType="1"/>
          </p:cNvSpPr>
          <p:nvPr/>
        </p:nvSpPr>
        <p:spPr bwMode="auto">
          <a:xfrm>
            <a:off x="7956550" y="4292600"/>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78" name="Rectangle 10"/>
          <p:cNvSpPr>
            <a:spLocks noChangeArrowheads="1"/>
          </p:cNvSpPr>
          <p:nvPr/>
        </p:nvSpPr>
        <p:spPr bwMode="auto">
          <a:xfrm>
            <a:off x="8348663" y="2971800"/>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层</a:t>
            </a:r>
          </a:p>
        </p:txBody>
      </p:sp>
      <p:sp>
        <p:nvSpPr>
          <p:cNvPr id="83979" name="Line 11"/>
          <p:cNvSpPr>
            <a:spLocks noChangeShapeType="1"/>
          </p:cNvSpPr>
          <p:nvPr/>
        </p:nvSpPr>
        <p:spPr bwMode="auto">
          <a:xfrm>
            <a:off x="8196263" y="3505200"/>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3980" name="Group 15"/>
          <p:cNvGrpSpPr>
            <a:grpSpLocks/>
          </p:cNvGrpSpPr>
          <p:nvPr/>
        </p:nvGrpSpPr>
        <p:grpSpPr bwMode="auto">
          <a:xfrm>
            <a:off x="1046163" y="3463925"/>
            <a:ext cx="6929437" cy="1412875"/>
            <a:chOff x="659" y="2182"/>
            <a:chExt cx="4365" cy="890"/>
          </a:xfrm>
        </p:grpSpPr>
        <p:sp>
          <p:nvSpPr>
            <p:cNvPr id="83987"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3988" name="Group 17"/>
            <p:cNvGrpSpPr>
              <a:grpSpLocks/>
            </p:cNvGrpSpPr>
            <p:nvPr/>
          </p:nvGrpSpPr>
          <p:grpSpPr bwMode="auto">
            <a:xfrm>
              <a:off x="659" y="2182"/>
              <a:ext cx="4365" cy="506"/>
              <a:chOff x="659" y="2182"/>
              <a:chExt cx="4365" cy="506"/>
            </a:xfrm>
          </p:grpSpPr>
          <p:sp>
            <p:nvSpPr>
              <p:cNvPr id="83989" name="Rectangle 18"/>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83990"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1"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2"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3"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4" name="Rectangle 23"/>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目的地址</a:t>
                </a:r>
              </a:p>
            </p:txBody>
          </p:sp>
          <p:sp>
            <p:nvSpPr>
              <p:cNvPr id="83995" name="Rectangle 24"/>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源地址</a:t>
                </a:r>
              </a:p>
            </p:txBody>
          </p:sp>
          <p:sp>
            <p:nvSpPr>
              <p:cNvPr id="83996" name="Rectangle 25"/>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类型</a:t>
                </a:r>
              </a:p>
            </p:txBody>
          </p:sp>
          <p:sp>
            <p:nvSpPr>
              <p:cNvPr id="83997" name="Rectangle 26"/>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数        据</a:t>
                </a:r>
              </a:p>
            </p:txBody>
          </p:sp>
          <p:sp>
            <p:nvSpPr>
              <p:cNvPr id="83998" name="Rectangle 27"/>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FCS</a:t>
                </a:r>
              </a:p>
            </p:txBody>
          </p:sp>
          <p:sp>
            <p:nvSpPr>
              <p:cNvPr id="83999" name="Rectangle 28"/>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4000" name="Rectangle 29"/>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4001" name="Rectangle 30"/>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2</a:t>
                </a:r>
              </a:p>
            </p:txBody>
          </p:sp>
          <p:sp>
            <p:nvSpPr>
              <p:cNvPr id="84002" name="Rectangle 31"/>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4</a:t>
                </a:r>
              </a:p>
            </p:txBody>
          </p:sp>
          <p:sp>
            <p:nvSpPr>
              <p:cNvPr id="84003" name="Rectangle 32"/>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字节</a:t>
                </a:r>
              </a:p>
            </p:txBody>
          </p:sp>
          <p:sp>
            <p:nvSpPr>
              <p:cNvPr id="84004" name="Text Box 33"/>
              <p:cNvSpPr txBox="1">
                <a:spLocks noChangeArrowheads="1"/>
              </p:cNvSpPr>
              <p:nvPr/>
            </p:nvSpPr>
            <p:spPr bwMode="auto">
              <a:xfrm>
                <a:off x="3777" y="2185"/>
                <a:ext cx="6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sz="1600">
                    <a:solidFill>
                      <a:srgbClr val="333399"/>
                    </a:solidFill>
                    <a:latin typeface="Times New Roman" pitchFamily="18" charset="0"/>
                  </a:rPr>
                  <a:t>46 ~ 1500</a:t>
                </a:r>
              </a:p>
            </p:txBody>
          </p:sp>
        </p:grpSp>
      </p:grpSp>
      <p:grpSp>
        <p:nvGrpSpPr>
          <p:cNvPr id="83981" name="Group 34"/>
          <p:cNvGrpSpPr>
            <a:grpSpLocks/>
          </p:cNvGrpSpPr>
          <p:nvPr/>
        </p:nvGrpSpPr>
        <p:grpSpPr bwMode="auto">
          <a:xfrm>
            <a:off x="4310063" y="2971800"/>
            <a:ext cx="3124200" cy="990600"/>
            <a:chOff x="2715" y="1872"/>
            <a:chExt cx="1968" cy="624"/>
          </a:xfrm>
        </p:grpSpPr>
        <p:sp>
          <p:nvSpPr>
            <p:cNvPr id="83985"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6" name="Rectangle 36"/>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数据报</a:t>
              </a:r>
            </a:p>
          </p:txBody>
        </p:sp>
      </p:grpSp>
      <p:sp>
        <p:nvSpPr>
          <p:cNvPr id="83982" name="Rectangle 37"/>
          <p:cNvSpPr>
            <a:spLocks noGrp="1" noChangeArrowheads="1"/>
          </p:cNvSpPr>
          <p:nvPr>
            <p:ph type="title"/>
          </p:nvPr>
        </p:nvSpPr>
        <p:spPr>
          <a:xfrm>
            <a:off x="900113" y="188913"/>
            <a:ext cx="7793037" cy="768350"/>
          </a:xfrm>
        </p:spPr>
        <p:txBody>
          <a:bodyPr/>
          <a:lstStyle/>
          <a:p>
            <a:pPr algn="ctr" eaLnBrk="1" hangingPunct="1"/>
            <a:r>
              <a:rPr lang="zh-CN" altLang="en-US" smtClean="0"/>
              <a:t>以太网 </a:t>
            </a:r>
            <a:r>
              <a:rPr lang="en-US" altLang="zh-CN" smtClean="0"/>
              <a:t>V2 </a:t>
            </a:r>
            <a:r>
              <a:rPr lang="zh-CN" altLang="en-US" smtClean="0"/>
              <a:t>的 </a:t>
            </a:r>
            <a:r>
              <a:rPr lang="en-US" altLang="zh-CN" smtClean="0"/>
              <a:t>MAC </a:t>
            </a:r>
            <a:r>
              <a:rPr lang="zh-CN" altLang="en-US" smtClean="0"/>
              <a:t>帧格式</a:t>
            </a:r>
          </a:p>
        </p:txBody>
      </p:sp>
      <p:sp>
        <p:nvSpPr>
          <p:cNvPr id="83983" name="AutoShape 38"/>
          <p:cNvSpPr>
            <a:spLocks noChangeArrowheads="1"/>
          </p:cNvSpPr>
          <p:nvPr/>
        </p:nvSpPr>
        <p:spPr bwMode="auto">
          <a:xfrm>
            <a:off x="1619250" y="2492375"/>
            <a:ext cx="2735263" cy="504825"/>
          </a:xfrm>
          <a:prstGeom prst="wedgeRoundRectCallout">
            <a:avLst>
              <a:gd name="adj1" fmla="val 26903"/>
              <a:gd name="adj2" fmla="val 239310"/>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solidFill>
                  <a:srgbClr val="333399"/>
                </a:solidFill>
                <a:latin typeface="Arial" pitchFamily="34" charset="0"/>
                <a:ea typeface="黑体" pitchFamily="49" charset="-122"/>
              </a:rPr>
              <a:t>类型字段 </a:t>
            </a:r>
            <a:r>
              <a:rPr lang="en-US" altLang="zh-CN" sz="2400">
                <a:solidFill>
                  <a:srgbClr val="333399"/>
                </a:solidFill>
                <a:latin typeface="Arial" pitchFamily="34" charset="0"/>
                <a:ea typeface="黑体" pitchFamily="49" charset="-122"/>
              </a:rPr>
              <a:t>2 </a:t>
            </a:r>
            <a:r>
              <a:rPr lang="zh-CN" altLang="en-US" sz="2400">
                <a:solidFill>
                  <a:srgbClr val="333399"/>
                </a:solidFill>
                <a:latin typeface="Arial" pitchFamily="34" charset="0"/>
                <a:ea typeface="黑体" pitchFamily="49" charset="-122"/>
              </a:rPr>
              <a:t>字节</a:t>
            </a:r>
          </a:p>
        </p:txBody>
      </p:sp>
      <p:sp>
        <p:nvSpPr>
          <p:cNvPr id="448551" name="Text Box 39"/>
          <p:cNvSpPr txBox="1">
            <a:spLocks noChangeArrowheads="1"/>
          </p:cNvSpPr>
          <p:nvPr/>
        </p:nvSpPr>
        <p:spPr bwMode="auto">
          <a:xfrm>
            <a:off x="1377950" y="1176338"/>
            <a:ext cx="6486525" cy="1320800"/>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a:solidFill>
                  <a:srgbClr val="333399"/>
                </a:solidFill>
                <a:latin typeface="Arial" pitchFamily="34" charset="0"/>
                <a:ea typeface="黑体" pitchFamily="49" charset="-122"/>
              </a:rPr>
              <a:t>类型字段用来标志</a:t>
            </a:r>
            <a:r>
              <a:rPr lang="zh-CN" altLang="en-US">
                <a:solidFill>
                  <a:schemeClr val="hlink"/>
                </a:solidFill>
                <a:latin typeface="Arial" pitchFamily="34" charset="0"/>
                <a:ea typeface="黑体" pitchFamily="49" charset="-122"/>
              </a:rPr>
              <a:t>上一层</a:t>
            </a:r>
            <a:r>
              <a:rPr lang="zh-CN" altLang="en-US">
                <a:solidFill>
                  <a:srgbClr val="333399"/>
                </a:solidFill>
                <a:latin typeface="Arial" pitchFamily="34" charset="0"/>
                <a:ea typeface="黑体" pitchFamily="49" charset="-122"/>
              </a:rPr>
              <a:t>使用的是什么协议，</a:t>
            </a:r>
          </a:p>
          <a:p>
            <a:pPr algn="ctr" eaLnBrk="1" hangingPunct="1"/>
            <a:r>
              <a:rPr lang="zh-CN" altLang="en-US">
                <a:solidFill>
                  <a:srgbClr val="333399"/>
                </a:solidFill>
                <a:latin typeface="Arial" pitchFamily="34" charset="0"/>
                <a:ea typeface="黑体" pitchFamily="49" charset="-122"/>
              </a:rPr>
              <a:t>以便把收到的 </a:t>
            </a:r>
            <a:r>
              <a:rPr lang="en-US" altLang="zh-CN">
                <a:solidFill>
                  <a:srgbClr val="333399"/>
                </a:solidFill>
                <a:latin typeface="Arial" pitchFamily="34" charset="0"/>
                <a:ea typeface="黑体" pitchFamily="49" charset="-122"/>
              </a:rPr>
              <a:t>MAC </a:t>
            </a:r>
            <a:r>
              <a:rPr lang="zh-CN" altLang="en-US">
                <a:solidFill>
                  <a:srgbClr val="333399"/>
                </a:solidFill>
                <a:latin typeface="Arial" pitchFamily="34" charset="0"/>
                <a:ea typeface="黑体" pitchFamily="49" charset="-122"/>
              </a:rPr>
              <a:t>帧的数据上交给上一层的这个协议。</a:t>
            </a:r>
          </a:p>
          <a:p>
            <a:pPr algn="ctr" eaLnBrk="1" hangingPunct="1"/>
            <a:r>
              <a:rPr lang="en-US" altLang="zh-CN">
                <a:solidFill>
                  <a:srgbClr val="333399"/>
                </a:solidFill>
                <a:latin typeface="Arial" pitchFamily="34" charset="0"/>
                <a:ea typeface="黑体" pitchFamily="49" charset="-122"/>
              </a:rPr>
              <a:t>0x0800</a:t>
            </a:r>
            <a:r>
              <a:rPr lang="zh-CN" altLang="en-US">
                <a:solidFill>
                  <a:srgbClr val="333399"/>
                </a:solidFill>
                <a:latin typeface="Arial" pitchFamily="34" charset="0"/>
                <a:ea typeface="黑体" pitchFamily="49" charset="-122"/>
              </a:rPr>
              <a:t>表示上层使用</a:t>
            </a:r>
            <a:r>
              <a:rPr lang="en-US" altLang="zh-CN">
                <a:solidFill>
                  <a:srgbClr val="333399"/>
                </a:solidFill>
                <a:latin typeface="Arial" pitchFamily="34" charset="0"/>
                <a:ea typeface="黑体" pitchFamily="49" charset="-122"/>
              </a:rPr>
              <a:t>IP</a:t>
            </a:r>
            <a:r>
              <a:rPr lang="zh-CN" altLang="en-US">
                <a:solidFill>
                  <a:srgbClr val="333399"/>
                </a:solidFill>
                <a:latin typeface="Arial" pitchFamily="34" charset="0"/>
                <a:ea typeface="黑体" pitchFamily="49" charset="-122"/>
              </a:rPr>
              <a:t>协议</a:t>
            </a:r>
          </a:p>
          <a:p>
            <a:pPr algn="ctr" eaLnBrk="1" hangingPunct="1"/>
            <a:r>
              <a:rPr lang="en-US" altLang="zh-CN">
                <a:solidFill>
                  <a:srgbClr val="333399"/>
                </a:solidFill>
                <a:latin typeface="Arial" pitchFamily="34" charset="0"/>
                <a:ea typeface="黑体" pitchFamily="49" charset="-122"/>
              </a:rPr>
              <a:t>0x8137</a:t>
            </a:r>
            <a:r>
              <a:rPr lang="zh-CN" altLang="en-US">
                <a:solidFill>
                  <a:srgbClr val="333399"/>
                </a:solidFill>
                <a:latin typeface="Arial" pitchFamily="34" charset="0"/>
                <a:ea typeface="黑体" pitchFamily="49" charset="-122"/>
              </a:rPr>
              <a:t>表示上层使用</a:t>
            </a:r>
            <a:r>
              <a:rPr lang="en-US" altLang="zh-CN">
                <a:solidFill>
                  <a:srgbClr val="333399"/>
                </a:solidFill>
                <a:latin typeface="Arial" pitchFamily="34" charset="0"/>
                <a:ea typeface="黑体" pitchFamily="49" charset="-122"/>
              </a:rPr>
              <a:t>IPX</a:t>
            </a:r>
            <a:r>
              <a:rPr lang="zh-CN" altLang="en-US">
                <a:solidFill>
                  <a:srgbClr val="333399"/>
                </a:solidFill>
                <a:latin typeface="Arial" pitchFamily="34" charset="0"/>
                <a:ea typeface="黑体" pitchFamily="49" charset="-122"/>
              </a:rPr>
              <a:t>协议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8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51"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Line 2"/>
          <p:cNvSpPr>
            <a:spLocks noChangeShapeType="1"/>
          </p:cNvSpPr>
          <p:nvPr/>
        </p:nvSpPr>
        <p:spPr bwMode="auto">
          <a:xfrm>
            <a:off x="152400" y="4495800"/>
            <a:ext cx="8915400" cy="0"/>
          </a:xfrm>
          <a:prstGeom prst="line">
            <a:avLst/>
          </a:prstGeom>
          <a:noFill/>
          <a:ln w="38100" cmpd="dbl">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995" name="Rectangle 3"/>
          <p:cNvSpPr>
            <a:spLocks noChangeArrowheads="1"/>
          </p:cNvSpPr>
          <p:nvPr/>
        </p:nvSpPr>
        <p:spPr bwMode="auto">
          <a:xfrm>
            <a:off x="1554163" y="4730750"/>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6" name="Rectangle 4"/>
          <p:cNvSpPr>
            <a:spLocks noChangeArrowheads="1"/>
          </p:cNvSpPr>
          <p:nvPr/>
        </p:nvSpPr>
        <p:spPr bwMode="auto">
          <a:xfrm>
            <a:off x="1547813" y="4730750"/>
            <a:ext cx="6419850" cy="4889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7" name="Rectangle 5"/>
          <p:cNvSpPr>
            <a:spLocks noChangeArrowheads="1"/>
          </p:cNvSpPr>
          <p:nvPr/>
        </p:nvSpPr>
        <p:spPr bwMode="auto">
          <a:xfrm>
            <a:off x="4256088" y="4835525"/>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帧</a:t>
            </a:r>
          </a:p>
        </p:txBody>
      </p:sp>
      <p:sp>
        <p:nvSpPr>
          <p:cNvPr id="84998" name="Rectangle 6"/>
          <p:cNvSpPr>
            <a:spLocks noChangeArrowheads="1"/>
          </p:cNvSpPr>
          <p:nvPr/>
        </p:nvSpPr>
        <p:spPr bwMode="auto">
          <a:xfrm>
            <a:off x="8243888" y="4814888"/>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物理层</a:t>
            </a:r>
          </a:p>
        </p:txBody>
      </p:sp>
      <p:sp>
        <p:nvSpPr>
          <p:cNvPr id="84999" name="Rectangle 7"/>
          <p:cNvSpPr>
            <a:spLocks noChangeArrowheads="1"/>
          </p:cNvSpPr>
          <p:nvPr/>
        </p:nvSpPr>
        <p:spPr bwMode="auto">
          <a:xfrm>
            <a:off x="8213725" y="3886200"/>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层</a:t>
            </a:r>
          </a:p>
        </p:txBody>
      </p:sp>
      <p:sp>
        <p:nvSpPr>
          <p:cNvPr id="85000" name="Line 8"/>
          <p:cNvSpPr>
            <a:spLocks noChangeShapeType="1"/>
          </p:cNvSpPr>
          <p:nvPr/>
        </p:nvSpPr>
        <p:spPr bwMode="auto">
          <a:xfrm flipH="1">
            <a:off x="1546225" y="4221163"/>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1" name="Line 9"/>
          <p:cNvSpPr>
            <a:spLocks noChangeShapeType="1"/>
          </p:cNvSpPr>
          <p:nvPr/>
        </p:nvSpPr>
        <p:spPr bwMode="auto">
          <a:xfrm>
            <a:off x="7956550" y="4292600"/>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2" name="Rectangle 10"/>
          <p:cNvSpPr>
            <a:spLocks noChangeArrowheads="1"/>
          </p:cNvSpPr>
          <p:nvPr/>
        </p:nvSpPr>
        <p:spPr bwMode="auto">
          <a:xfrm>
            <a:off x="8348663" y="2971800"/>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层</a:t>
            </a:r>
          </a:p>
        </p:txBody>
      </p:sp>
      <p:sp>
        <p:nvSpPr>
          <p:cNvPr id="85003" name="Line 11"/>
          <p:cNvSpPr>
            <a:spLocks noChangeShapeType="1"/>
          </p:cNvSpPr>
          <p:nvPr/>
        </p:nvSpPr>
        <p:spPr bwMode="auto">
          <a:xfrm>
            <a:off x="8196263" y="3505200"/>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5004" name="Group 15"/>
          <p:cNvGrpSpPr>
            <a:grpSpLocks/>
          </p:cNvGrpSpPr>
          <p:nvPr/>
        </p:nvGrpSpPr>
        <p:grpSpPr bwMode="auto">
          <a:xfrm>
            <a:off x="1046163" y="3463925"/>
            <a:ext cx="6929437" cy="1412875"/>
            <a:chOff x="659" y="2182"/>
            <a:chExt cx="4365" cy="890"/>
          </a:xfrm>
        </p:grpSpPr>
        <p:sp>
          <p:nvSpPr>
            <p:cNvPr id="85011"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5012" name="Group 17"/>
            <p:cNvGrpSpPr>
              <a:grpSpLocks/>
            </p:cNvGrpSpPr>
            <p:nvPr/>
          </p:nvGrpSpPr>
          <p:grpSpPr bwMode="auto">
            <a:xfrm>
              <a:off x="659" y="2182"/>
              <a:ext cx="4365" cy="506"/>
              <a:chOff x="659" y="2182"/>
              <a:chExt cx="4365" cy="506"/>
            </a:xfrm>
          </p:grpSpPr>
          <p:sp>
            <p:nvSpPr>
              <p:cNvPr id="85013" name="Rectangle 18"/>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85014"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5"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6"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7"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8" name="Rectangle 23"/>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目的地址</a:t>
                </a:r>
              </a:p>
            </p:txBody>
          </p:sp>
          <p:sp>
            <p:nvSpPr>
              <p:cNvPr id="85019" name="Rectangle 24"/>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源地址</a:t>
                </a:r>
              </a:p>
            </p:txBody>
          </p:sp>
          <p:sp>
            <p:nvSpPr>
              <p:cNvPr id="85020" name="Rectangle 25"/>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类型</a:t>
                </a:r>
              </a:p>
            </p:txBody>
          </p:sp>
          <p:sp>
            <p:nvSpPr>
              <p:cNvPr id="85021" name="Rectangle 26"/>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数        据</a:t>
                </a:r>
              </a:p>
            </p:txBody>
          </p:sp>
          <p:sp>
            <p:nvSpPr>
              <p:cNvPr id="85022" name="Rectangle 27"/>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FCS</a:t>
                </a:r>
              </a:p>
            </p:txBody>
          </p:sp>
          <p:sp>
            <p:nvSpPr>
              <p:cNvPr id="85023" name="Rectangle 28"/>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5024" name="Rectangle 29"/>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5025" name="Rectangle 30"/>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2</a:t>
                </a:r>
              </a:p>
            </p:txBody>
          </p:sp>
          <p:sp>
            <p:nvSpPr>
              <p:cNvPr id="85026" name="Rectangle 31"/>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4</a:t>
                </a:r>
              </a:p>
            </p:txBody>
          </p:sp>
          <p:sp>
            <p:nvSpPr>
              <p:cNvPr id="85027" name="Rectangle 32"/>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字节</a:t>
                </a:r>
              </a:p>
            </p:txBody>
          </p:sp>
          <p:sp>
            <p:nvSpPr>
              <p:cNvPr id="85028" name="Text Box 33"/>
              <p:cNvSpPr txBox="1">
                <a:spLocks noChangeArrowheads="1"/>
              </p:cNvSpPr>
              <p:nvPr/>
            </p:nvSpPr>
            <p:spPr bwMode="auto">
              <a:xfrm>
                <a:off x="3777" y="2185"/>
                <a:ext cx="6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sz="1600">
                    <a:solidFill>
                      <a:srgbClr val="333399"/>
                    </a:solidFill>
                    <a:latin typeface="Times New Roman" pitchFamily="18" charset="0"/>
                  </a:rPr>
                  <a:t>46 ~ 1500</a:t>
                </a:r>
              </a:p>
            </p:txBody>
          </p:sp>
        </p:grpSp>
      </p:grpSp>
      <p:grpSp>
        <p:nvGrpSpPr>
          <p:cNvPr id="85005" name="Group 34"/>
          <p:cNvGrpSpPr>
            <a:grpSpLocks/>
          </p:cNvGrpSpPr>
          <p:nvPr/>
        </p:nvGrpSpPr>
        <p:grpSpPr bwMode="auto">
          <a:xfrm>
            <a:off x="4310063" y="2971800"/>
            <a:ext cx="3124200" cy="990600"/>
            <a:chOff x="2715" y="1872"/>
            <a:chExt cx="1968" cy="624"/>
          </a:xfrm>
        </p:grpSpPr>
        <p:sp>
          <p:nvSpPr>
            <p:cNvPr id="85009"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0" name="Rectangle 36"/>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数据报</a:t>
              </a:r>
            </a:p>
          </p:txBody>
        </p:sp>
      </p:grpSp>
      <p:sp>
        <p:nvSpPr>
          <p:cNvPr id="85006" name="Rectangle 37"/>
          <p:cNvSpPr>
            <a:spLocks noGrp="1" noChangeArrowheads="1"/>
          </p:cNvSpPr>
          <p:nvPr>
            <p:ph type="title"/>
          </p:nvPr>
        </p:nvSpPr>
        <p:spPr>
          <a:xfrm>
            <a:off x="900113" y="188913"/>
            <a:ext cx="7793037" cy="768350"/>
          </a:xfrm>
        </p:spPr>
        <p:txBody>
          <a:bodyPr/>
          <a:lstStyle/>
          <a:p>
            <a:pPr algn="ctr" eaLnBrk="1" hangingPunct="1"/>
            <a:r>
              <a:rPr lang="zh-CN" altLang="en-US" smtClean="0"/>
              <a:t>以太网 </a:t>
            </a:r>
            <a:r>
              <a:rPr lang="en-US" altLang="zh-CN" smtClean="0"/>
              <a:t>V2 </a:t>
            </a:r>
            <a:r>
              <a:rPr lang="zh-CN" altLang="en-US" smtClean="0"/>
              <a:t>的 </a:t>
            </a:r>
            <a:r>
              <a:rPr lang="en-US" altLang="zh-CN" smtClean="0"/>
              <a:t>MAC </a:t>
            </a:r>
            <a:r>
              <a:rPr lang="zh-CN" altLang="en-US" smtClean="0"/>
              <a:t>帧格式</a:t>
            </a:r>
          </a:p>
        </p:txBody>
      </p:sp>
      <p:sp>
        <p:nvSpPr>
          <p:cNvPr id="85007" name="AutoShape 38"/>
          <p:cNvSpPr>
            <a:spLocks noChangeArrowheads="1"/>
          </p:cNvSpPr>
          <p:nvPr/>
        </p:nvSpPr>
        <p:spPr bwMode="auto">
          <a:xfrm>
            <a:off x="2555875" y="2133600"/>
            <a:ext cx="3671888" cy="504825"/>
          </a:xfrm>
          <a:prstGeom prst="wedgeRoundRectCallout">
            <a:avLst>
              <a:gd name="adj1" fmla="val 12042"/>
              <a:gd name="adj2" fmla="val 310380"/>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solidFill>
                  <a:srgbClr val="333399"/>
                </a:solidFill>
                <a:latin typeface="Arial" pitchFamily="34" charset="0"/>
                <a:ea typeface="黑体" pitchFamily="49" charset="-122"/>
              </a:rPr>
              <a:t>数据字段 </a:t>
            </a:r>
            <a:r>
              <a:rPr kumimoji="1" lang="en-US" altLang="zh-CN">
                <a:solidFill>
                  <a:srgbClr val="333399"/>
                </a:solidFill>
                <a:latin typeface="Arial" pitchFamily="34" charset="0"/>
              </a:rPr>
              <a:t>46 ~ 1500</a:t>
            </a:r>
            <a:r>
              <a:rPr lang="en-US" altLang="zh-CN" sz="2400">
                <a:solidFill>
                  <a:srgbClr val="333399"/>
                </a:solidFill>
                <a:latin typeface="Arial" pitchFamily="34" charset="0"/>
                <a:ea typeface="黑体" pitchFamily="49" charset="-122"/>
              </a:rPr>
              <a:t> </a:t>
            </a:r>
            <a:r>
              <a:rPr lang="zh-CN" altLang="en-US" sz="2400">
                <a:solidFill>
                  <a:srgbClr val="333399"/>
                </a:solidFill>
                <a:latin typeface="Arial" pitchFamily="34" charset="0"/>
                <a:ea typeface="黑体" pitchFamily="49" charset="-122"/>
              </a:rPr>
              <a:t>字节</a:t>
            </a:r>
          </a:p>
        </p:txBody>
      </p:sp>
      <p:sp>
        <p:nvSpPr>
          <p:cNvPr id="449575" name="Text Box 39"/>
          <p:cNvSpPr txBox="1">
            <a:spLocks noChangeArrowheads="1"/>
          </p:cNvSpPr>
          <p:nvPr/>
        </p:nvSpPr>
        <p:spPr bwMode="auto">
          <a:xfrm>
            <a:off x="804863" y="1136650"/>
            <a:ext cx="7642225" cy="831850"/>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t>数据字段的正式名称是 </a:t>
            </a:r>
            <a:r>
              <a:rPr lang="en-US" altLang="zh-CN" sz="2400">
                <a:latin typeface="Arial" pitchFamily="34" charset="0"/>
              </a:rPr>
              <a:t>MAC</a:t>
            </a:r>
            <a:r>
              <a:rPr lang="en-US" altLang="zh-CN" sz="2400" b="1"/>
              <a:t> </a:t>
            </a:r>
            <a:r>
              <a:rPr lang="zh-CN" altLang="en-US" sz="2400"/>
              <a:t>客户数据字段</a:t>
            </a:r>
          </a:p>
          <a:p>
            <a:pPr algn="ctr" eaLnBrk="1" hangingPunct="1"/>
            <a:r>
              <a:rPr lang="zh-CN" altLang="en-US"/>
              <a:t>最小长度 </a:t>
            </a:r>
            <a:r>
              <a:rPr lang="en-US" altLang="zh-CN"/>
              <a:t>64 </a:t>
            </a:r>
            <a:r>
              <a:rPr lang="zh-CN" altLang="en-US"/>
              <a:t>字节 </a:t>
            </a:r>
            <a:r>
              <a:rPr lang="zh-CN" altLang="en-US">
                <a:sym typeface="Symbol" pitchFamily="18" charset="2"/>
              </a:rPr>
              <a:t></a:t>
            </a:r>
            <a:r>
              <a:rPr lang="zh-CN" altLang="en-US"/>
              <a:t> </a:t>
            </a:r>
            <a:r>
              <a:rPr lang="en-US" altLang="zh-CN"/>
              <a:t>18 </a:t>
            </a:r>
            <a:r>
              <a:rPr lang="zh-CN" altLang="en-US"/>
              <a:t>字节的首部和尾部 </a:t>
            </a:r>
            <a:r>
              <a:rPr lang="en-US" altLang="zh-CN"/>
              <a:t>= </a:t>
            </a:r>
            <a:r>
              <a:rPr lang="zh-CN" altLang="en-US"/>
              <a:t>数据字段的最小长度 </a:t>
            </a:r>
            <a:r>
              <a:rPr lang="zh-CN" altLang="en-US" sz="24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95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7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Line 2"/>
          <p:cNvSpPr>
            <a:spLocks noChangeShapeType="1"/>
          </p:cNvSpPr>
          <p:nvPr/>
        </p:nvSpPr>
        <p:spPr bwMode="auto">
          <a:xfrm>
            <a:off x="152400" y="4495800"/>
            <a:ext cx="8915400" cy="0"/>
          </a:xfrm>
          <a:prstGeom prst="line">
            <a:avLst/>
          </a:prstGeom>
          <a:noFill/>
          <a:ln w="38100" cmpd="dbl">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19" name="Rectangle 3"/>
          <p:cNvSpPr>
            <a:spLocks noChangeArrowheads="1"/>
          </p:cNvSpPr>
          <p:nvPr/>
        </p:nvSpPr>
        <p:spPr bwMode="auto">
          <a:xfrm>
            <a:off x="1554163" y="4730750"/>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0" name="Rectangle 4"/>
          <p:cNvSpPr>
            <a:spLocks noChangeArrowheads="1"/>
          </p:cNvSpPr>
          <p:nvPr/>
        </p:nvSpPr>
        <p:spPr bwMode="auto">
          <a:xfrm>
            <a:off x="1547813" y="4730750"/>
            <a:ext cx="6419850" cy="488950"/>
          </a:xfrm>
          <a:prstGeom prst="rect">
            <a:avLst/>
          </a:prstGeom>
          <a:noFill/>
          <a:ln w="2857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1" name="Rectangle 5"/>
          <p:cNvSpPr>
            <a:spLocks noChangeArrowheads="1"/>
          </p:cNvSpPr>
          <p:nvPr/>
        </p:nvSpPr>
        <p:spPr bwMode="auto">
          <a:xfrm>
            <a:off x="4256088" y="4835525"/>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帧</a:t>
            </a:r>
          </a:p>
        </p:txBody>
      </p:sp>
      <p:sp>
        <p:nvSpPr>
          <p:cNvPr id="86022" name="Rectangle 6"/>
          <p:cNvSpPr>
            <a:spLocks noChangeArrowheads="1"/>
          </p:cNvSpPr>
          <p:nvPr/>
        </p:nvSpPr>
        <p:spPr bwMode="auto">
          <a:xfrm>
            <a:off x="8243888" y="4814888"/>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物理层</a:t>
            </a:r>
          </a:p>
        </p:txBody>
      </p:sp>
      <p:sp>
        <p:nvSpPr>
          <p:cNvPr id="86023" name="Rectangle 7"/>
          <p:cNvSpPr>
            <a:spLocks noChangeArrowheads="1"/>
          </p:cNvSpPr>
          <p:nvPr/>
        </p:nvSpPr>
        <p:spPr bwMode="auto">
          <a:xfrm>
            <a:off x="8213725" y="3886200"/>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层</a:t>
            </a:r>
          </a:p>
        </p:txBody>
      </p:sp>
      <p:sp>
        <p:nvSpPr>
          <p:cNvPr id="86024" name="Line 8"/>
          <p:cNvSpPr>
            <a:spLocks noChangeShapeType="1"/>
          </p:cNvSpPr>
          <p:nvPr/>
        </p:nvSpPr>
        <p:spPr bwMode="auto">
          <a:xfrm flipH="1">
            <a:off x="1546225" y="4221163"/>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25" name="Line 9"/>
          <p:cNvSpPr>
            <a:spLocks noChangeShapeType="1"/>
          </p:cNvSpPr>
          <p:nvPr/>
        </p:nvSpPr>
        <p:spPr bwMode="auto">
          <a:xfrm>
            <a:off x="7956550" y="4292600"/>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26" name="Rectangle 10"/>
          <p:cNvSpPr>
            <a:spLocks noChangeArrowheads="1"/>
          </p:cNvSpPr>
          <p:nvPr/>
        </p:nvSpPr>
        <p:spPr bwMode="auto">
          <a:xfrm>
            <a:off x="8348663" y="2971800"/>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层</a:t>
            </a:r>
          </a:p>
        </p:txBody>
      </p:sp>
      <p:sp>
        <p:nvSpPr>
          <p:cNvPr id="86027" name="Line 11"/>
          <p:cNvSpPr>
            <a:spLocks noChangeShapeType="1"/>
          </p:cNvSpPr>
          <p:nvPr/>
        </p:nvSpPr>
        <p:spPr bwMode="auto">
          <a:xfrm>
            <a:off x="8196263" y="3505200"/>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6028" name="Group 15"/>
          <p:cNvGrpSpPr>
            <a:grpSpLocks/>
          </p:cNvGrpSpPr>
          <p:nvPr/>
        </p:nvGrpSpPr>
        <p:grpSpPr bwMode="auto">
          <a:xfrm>
            <a:off x="1046163" y="3463925"/>
            <a:ext cx="6929437" cy="1412875"/>
            <a:chOff x="659" y="2182"/>
            <a:chExt cx="4365" cy="890"/>
          </a:xfrm>
        </p:grpSpPr>
        <p:sp>
          <p:nvSpPr>
            <p:cNvPr id="86036"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6037" name="Group 17"/>
            <p:cNvGrpSpPr>
              <a:grpSpLocks/>
            </p:cNvGrpSpPr>
            <p:nvPr/>
          </p:nvGrpSpPr>
          <p:grpSpPr bwMode="auto">
            <a:xfrm>
              <a:off x="659" y="2182"/>
              <a:ext cx="4365" cy="506"/>
              <a:chOff x="659" y="2182"/>
              <a:chExt cx="4365" cy="506"/>
            </a:xfrm>
          </p:grpSpPr>
          <p:sp>
            <p:nvSpPr>
              <p:cNvPr id="86038" name="Rectangle 18"/>
              <p:cNvSpPr>
                <a:spLocks noChangeArrowheads="1"/>
              </p:cNvSpPr>
              <p:nvPr/>
            </p:nvSpPr>
            <p:spPr bwMode="auto">
              <a:xfrm>
                <a:off x="974" y="2400"/>
                <a:ext cx="4045" cy="288"/>
              </a:xfrm>
              <a:prstGeom prst="rect">
                <a:avLst/>
              </a:prstGeom>
              <a:solidFill>
                <a:srgbClr val="FFCCFF"/>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86039"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0"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1"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2"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3" name="Rectangle 23"/>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目的地址</a:t>
                </a:r>
              </a:p>
            </p:txBody>
          </p:sp>
          <p:sp>
            <p:nvSpPr>
              <p:cNvPr id="86044" name="Rectangle 24"/>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源地址</a:t>
                </a:r>
              </a:p>
            </p:txBody>
          </p:sp>
          <p:sp>
            <p:nvSpPr>
              <p:cNvPr id="86045" name="Rectangle 25"/>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类型</a:t>
                </a:r>
              </a:p>
            </p:txBody>
          </p:sp>
          <p:sp>
            <p:nvSpPr>
              <p:cNvPr id="86046" name="Rectangle 26"/>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数        据</a:t>
                </a:r>
              </a:p>
            </p:txBody>
          </p:sp>
          <p:sp>
            <p:nvSpPr>
              <p:cNvPr id="86047" name="Rectangle 27"/>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FCS</a:t>
                </a:r>
              </a:p>
            </p:txBody>
          </p:sp>
          <p:sp>
            <p:nvSpPr>
              <p:cNvPr id="86048" name="Rectangle 28"/>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6049" name="Rectangle 29"/>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6050" name="Rectangle 30"/>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2</a:t>
                </a:r>
              </a:p>
            </p:txBody>
          </p:sp>
          <p:sp>
            <p:nvSpPr>
              <p:cNvPr id="86051" name="Rectangle 31"/>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4</a:t>
                </a:r>
              </a:p>
            </p:txBody>
          </p:sp>
          <p:sp>
            <p:nvSpPr>
              <p:cNvPr id="86052" name="Rectangle 32"/>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字节</a:t>
                </a:r>
              </a:p>
            </p:txBody>
          </p:sp>
          <p:sp>
            <p:nvSpPr>
              <p:cNvPr id="86053" name="Text Box 33"/>
              <p:cNvSpPr txBox="1">
                <a:spLocks noChangeArrowheads="1"/>
              </p:cNvSpPr>
              <p:nvPr/>
            </p:nvSpPr>
            <p:spPr bwMode="auto">
              <a:xfrm>
                <a:off x="3777" y="2185"/>
                <a:ext cx="6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sz="1600">
                    <a:solidFill>
                      <a:srgbClr val="333399"/>
                    </a:solidFill>
                    <a:latin typeface="Times New Roman" pitchFamily="18" charset="0"/>
                  </a:rPr>
                  <a:t>46 ~ 1500</a:t>
                </a:r>
              </a:p>
            </p:txBody>
          </p:sp>
        </p:grpSp>
      </p:grpSp>
      <p:grpSp>
        <p:nvGrpSpPr>
          <p:cNvPr id="86029" name="Group 34"/>
          <p:cNvGrpSpPr>
            <a:grpSpLocks/>
          </p:cNvGrpSpPr>
          <p:nvPr/>
        </p:nvGrpSpPr>
        <p:grpSpPr bwMode="auto">
          <a:xfrm>
            <a:off x="4310063" y="2971800"/>
            <a:ext cx="3124200" cy="990600"/>
            <a:chOff x="2715" y="1872"/>
            <a:chExt cx="1968" cy="624"/>
          </a:xfrm>
        </p:grpSpPr>
        <p:sp>
          <p:nvSpPr>
            <p:cNvPr id="86034"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5"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数据报</a:t>
              </a:r>
            </a:p>
          </p:txBody>
        </p:sp>
      </p:grpSp>
      <p:sp>
        <p:nvSpPr>
          <p:cNvPr id="86030" name="Rectangle 37"/>
          <p:cNvSpPr>
            <a:spLocks noGrp="1" noChangeArrowheads="1"/>
          </p:cNvSpPr>
          <p:nvPr>
            <p:ph type="title"/>
          </p:nvPr>
        </p:nvSpPr>
        <p:spPr>
          <a:xfrm>
            <a:off x="900113" y="188913"/>
            <a:ext cx="7793037" cy="768350"/>
          </a:xfrm>
        </p:spPr>
        <p:txBody>
          <a:bodyPr/>
          <a:lstStyle/>
          <a:p>
            <a:pPr algn="ctr" eaLnBrk="1" hangingPunct="1"/>
            <a:r>
              <a:rPr lang="zh-CN" altLang="en-US" smtClean="0"/>
              <a:t>以太网 </a:t>
            </a:r>
            <a:r>
              <a:rPr lang="en-US" altLang="zh-CN" smtClean="0"/>
              <a:t>V2 </a:t>
            </a:r>
            <a:r>
              <a:rPr lang="zh-CN" altLang="en-US" smtClean="0"/>
              <a:t>的 </a:t>
            </a:r>
            <a:r>
              <a:rPr lang="en-US" altLang="zh-CN" smtClean="0"/>
              <a:t>MAC </a:t>
            </a:r>
            <a:r>
              <a:rPr lang="zh-CN" altLang="en-US" smtClean="0"/>
              <a:t>帧格式</a:t>
            </a:r>
          </a:p>
        </p:txBody>
      </p:sp>
      <p:sp>
        <p:nvSpPr>
          <p:cNvPr id="86031" name="AutoShape 38"/>
          <p:cNvSpPr>
            <a:spLocks noChangeArrowheads="1"/>
          </p:cNvSpPr>
          <p:nvPr/>
        </p:nvSpPr>
        <p:spPr bwMode="auto">
          <a:xfrm>
            <a:off x="3132138" y="2133600"/>
            <a:ext cx="2735262" cy="504825"/>
          </a:xfrm>
          <a:prstGeom prst="wedgeRoundRectCallout">
            <a:avLst>
              <a:gd name="adj1" fmla="val 116454"/>
              <a:gd name="adj2" fmla="val 310380"/>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400">
                <a:solidFill>
                  <a:srgbClr val="333399"/>
                </a:solidFill>
                <a:latin typeface="Arial" pitchFamily="34" charset="0"/>
                <a:ea typeface="黑体" pitchFamily="49" charset="-122"/>
              </a:rPr>
              <a:t>FCS </a:t>
            </a:r>
            <a:r>
              <a:rPr lang="zh-CN" altLang="en-US" sz="2400">
                <a:solidFill>
                  <a:srgbClr val="333399"/>
                </a:solidFill>
                <a:latin typeface="Arial" pitchFamily="34" charset="0"/>
                <a:ea typeface="黑体" pitchFamily="49" charset="-122"/>
              </a:rPr>
              <a:t>字段 </a:t>
            </a:r>
            <a:r>
              <a:rPr kumimoji="1" lang="en-US" altLang="zh-CN">
                <a:solidFill>
                  <a:srgbClr val="333399"/>
                </a:solidFill>
                <a:latin typeface="Arial" pitchFamily="34" charset="0"/>
              </a:rPr>
              <a:t>4</a:t>
            </a:r>
            <a:r>
              <a:rPr lang="en-US" altLang="zh-CN" sz="2400">
                <a:solidFill>
                  <a:srgbClr val="333399"/>
                </a:solidFill>
                <a:latin typeface="Arial" pitchFamily="34" charset="0"/>
                <a:ea typeface="黑体" pitchFamily="49" charset="-122"/>
              </a:rPr>
              <a:t> </a:t>
            </a:r>
            <a:r>
              <a:rPr lang="zh-CN" altLang="en-US" sz="2400">
                <a:solidFill>
                  <a:srgbClr val="333399"/>
                </a:solidFill>
                <a:latin typeface="Arial" pitchFamily="34" charset="0"/>
                <a:ea typeface="黑体" pitchFamily="49" charset="-122"/>
              </a:rPr>
              <a:t>字节</a:t>
            </a:r>
          </a:p>
        </p:txBody>
      </p:sp>
      <p:sp>
        <p:nvSpPr>
          <p:cNvPr id="450599" name="Text Box 39"/>
          <p:cNvSpPr txBox="1">
            <a:spLocks noChangeArrowheads="1"/>
          </p:cNvSpPr>
          <p:nvPr/>
        </p:nvSpPr>
        <p:spPr bwMode="auto">
          <a:xfrm>
            <a:off x="1273175" y="1138238"/>
            <a:ext cx="6708775" cy="831850"/>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rgbClr val="333399"/>
                </a:solidFill>
                <a:latin typeface="Arial" pitchFamily="34" charset="0"/>
                <a:ea typeface="黑体" pitchFamily="49" charset="-122"/>
              </a:rPr>
              <a:t>当传输媒体的误码率为 </a:t>
            </a:r>
            <a:r>
              <a:rPr lang="en-US" altLang="zh-CN" sz="2400">
                <a:solidFill>
                  <a:srgbClr val="333399"/>
                </a:solidFill>
                <a:latin typeface="Arial" pitchFamily="34" charset="0"/>
                <a:ea typeface="黑体" pitchFamily="49" charset="-122"/>
              </a:rPr>
              <a:t>1</a:t>
            </a:r>
            <a:r>
              <a:rPr lang="en-US" altLang="zh-CN" sz="2400">
                <a:solidFill>
                  <a:srgbClr val="333399"/>
                </a:solidFill>
                <a:latin typeface="Arial" pitchFamily="34" charset="0"/>
                <a:ea typeface="黑体" pitchFamily="49" charset="-122"/>
                <a:sym typeface="Symbol" pitchFamily="18" charset="2"/>
              </a:rPr>
              <a:t></a:t>
            </a:r>
            <a:r>
              <a:rPr lang="en-US" altLang="zh-CN" sz="2400">
                <a:solidFill>
                  <a:srgbClr val="333399"/>
                </a:solidFill>
                <a:latin typeface="Arial" pitchFamily="34" charset="0"/>
                <a:ea typeface="黑体" pitchFamily="49" charset="-122"/>
              </a:rPr>
              <a:t>10</a:t>
            </a:r>
            <a:r>
              <a:rPr lang="en-US" altLang="zh-CN" sz="2400" baseline="30000">
                <a:solidFill>
                  <a:srgbClr val="333399"/>
                </a:solidFill>
                <a:latin typeface="Arial" pitchFamily="34" charset="0"/>
                <a:ea typeface="黑体" pitchFamily="49" charset="-122"/>
                <a:sym typeface="Symbol" pitchFamily="18" charset="2"/>
              </a:rPr>
              <a:t></a:t>
            </a:r>
            <a:r>
              <a:rPr lang="en-US" altLang="zh-CN" sz="2400" baseline="30000">
                <a:solidFill>
                  <a:srgbClr val="333399"/>
                </a:solidFill>
                <a:latin typeface="Arial" pitchFamily="34" charset="0"/>
                <a:ea typeface="黑体" pitchFamily="49" charset="-122"/>
              </a:rPr>
              <a:t>8</a:t>
            </a:r>
            <a:r>
              <a:rPr lang="en-US" altLang="zh-CN" sz="2400">
                <a:solidFill>
                  <a:srgbClr val="333399"/>
                </a:solidFill>
                <a:latin typeface="Arial" pitchFamily="34" charset="0"/>
                <a:ea typeface="黑体" pitchFamily="49" charset="-122"/>
              </a:rPr>
              <a:t> </a:t>
            </a:r>
            <a:r>
              <a:rPr lang="zh-CN" altLang="en-US" sz="2400">
                <a:solidFill>
                  <a:srgbClr val="333399"/>
                </a:solidFill>
                <a:latin typeface="Arial" pitchFamily="34" charset="0"/>
                <a:ea typeface="黑体" pitchFamily="49" charset="-122"/>
              </a:rPr>
              <a:t>时，</a:t>
            </a:r>
          </a:p>
          <a:p>
            <a:pPr algn="ctr" eaLnBrk="1" hangingPunct="1"/>
            <a:r>
              <a:rPr lang="en-US" altLang="zh-CN" sz="2400">
                <a:solidFill>
                  <a:srgbClr val="333399"/>
                </a:solidFill>
                <a:latin typeface="Arial" pitchFamily="34" charset="0"/>
                <a:ea typeface="黑体" pitchFamily="49" charset="-122"/>
              </a:rPr>
              <a:t>MAC </a:t>
            </a:r>
            <a:r>
              <a:rPr lang="zh-CN" altLang="en-US" sz="2400">
                <a:solidFill>
                  <a:srgbClr val="333399"/>
                </a:solidFill>
                <a:latin typeface="Arial" pitchFamily="34" charset="0"/>
                <a:ea typeface="黑体" pitchFamily="49" charset="-122"/>
              </a:rPr>
              <a:t>子层可使未检测到的差错率小于 </a:t>
            </a:r>
            <a:r>
              <a:rPr lang="en-US" altLang="zh-CN" sz="2400">
                <a:solidFill>
                  <a:srgbClr val="333399"/>
                </a:solidFill>
                <a:latin typeface="Arial" pitchFamily="34" charset="0"/>
                <a:ea typeface="黑体" pitchFamily="49" charset="-122"/>
              </a:rPr>
              <a:t>1</a:t>
            </a:r>
            <a:r>
              <a:rPr lang="en-US" altLang="zh-CN" sz="2400">
                <a:solidFill>
                  <a:srgbClr val="333399"/>
                </a:solidFill>
                <a:latin typeface="Arial" pitchFamily="34" charset="0"/>
                <a:ea typeface="黑体" pitchFamily="49" charset="-122"/>
                <a:sym typeface="Symbol" pitchFamily="18" charset="2"/>
              </a:rPr>
              <a:t></a:t>
            </a:r>
            <a:r>
              <a:rPr lang="en-US" altLang="zh-CN" sz="2400">
                <a:solidFill>
                  <a:srgbClr val="333399"/>
                </a:solidFill>
                <a:latin typeface="Arial" pitchFamily="34" charset="0"/>
                <a:ea typeface="黑体" pitchFamily="49" charset="-122"/>
              </a:rPr>
              <a:t>10</a:t>
            </a:r>
            <a:r>
              <a:rPr lang="en-US" altLang="zh-CN" sz="2400" baseline="30000">
                <a:solidFill>
                  <a:srgbClr val="333399"/>
                </a:solidFill>
                <a:latin typeface="Arial" pitchFamily="34" charset="0"/>
                <a:ea typeface="黑体" pitchFamily="49" charset="-122"/>
                <a:sym typeface="Symbol" pitchFamily="18" charset="2"/>
              </a:rPr>
              <a:t></a:t>
            </a:r>
            <a:r>
              <a:rPr lang="en-US" altLang="zh-CN" sz="2400" baseline="30000">
                <a:solidFill>
                  <a:srgbClr val="333399"/>
                </a:solidFill>
                <a:latin typeface="Arial" pitchFamily="34" charset="0"/>
                <a:ea typeface="黑体" pitchFamily="49" charset="-122"/>
              </a:rPr>
              <a:t>14</a:t>
            </a:r>
            <a:r>
              <a:rPr lang="zh-CN" altLang="en-US" sz="2400">
                <a:solidFill>
                  <a:srgbClr val="333399"/>
                </a:solidFill>
                <a:latin typeface="Arial" pitchFamily="34" charset="0"/>
                <a:ea typeface="黑体" pitchFamily="49" charset="-122"/>
              </a:rPr>
              <a:t>。 </a:t>
            </a:r>
          </a:p>
        </p:txBody>
      </p:sp>
      <p:sp>
        <p:nvSpPr>
          <p:cNvPr id="450600" name="Text Box 40"/>
          <p:cNvSpPr txBox="1">
            <a:spLocks noChangeArrowheads="1"/>
          </p:cNvSpPr>
          <p:nvPr/>
        </p:nvSpPr>
        <p:spPr bwMode="auto">
          <a:xfrm>
            <a:off x="1476375" y="5392738"/>
            <a:ext cx="6594475" cy="1196975"/>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rgbClr val="333399"/>
                </a:solidFill>
                <a:latin typeface="Arial" pitchFamily="34" charset="0"/>
                <a:ea typeface="黑体" pitchFamily="49" charset="-122"/>
              </a:rPr>
              <a:t>当数据字段的长度小于 </a:t>
            </a:r>
            <a:r>
              <a:rPr lang="en-US" altLang="zh-CN" sz="2400">
                <a:solidFill>
                  <a:srgbClr val="333399"/>
                </a:solidFill>
                <a:latin typeface="Arial" pitchFamily="34" charset="0"/>
                <a:ea typeface="黑体" pitchFamily="49" charset="-122"/>
              </a:rPr>
              <a:t>46 </a:t>
            </a:r>
            <a:r>
              <a:rPr lang="zh-CN" altLang="en-US" sz="2400">
                <a:solidFill>
                  <a:srgbClr val="333399"/>
                </a:solidFill>
                <a:latin typeface="Arial" pitchFamily="34" charset="0"/>
                <a:ea typeface="黑体" pitchFamily="49" charset="-122"/>
              </a:rPr>
              <a:t>字节时，</a:t>
            </a:r>
          </a:p>
          <a:p>
            <a:pPr algn="ctr" eaLnBrk="1" hangingPunct="1"/>
            <a:r>
              <a:rPr lang="zh-CN" altLang="en-US" sz="2400">
                <a:solidFill>
                  <a:srgbClr val="333399"/>
                </a:solidFill>
                <a:latin typeface="Arial" pitchFamily="34" charset="0"/>
                <a:ea typeface="黑体" pitchFamily="49" charset="-122"/>
              </a:rPr>
              <a:t>应在数据字段的后面加入整数字节的填充字段，</a:t>
            </a:r>
          </a:p>
          <a:p>
            <a:pPr algn="ctr" eaLnBrk="1" hangingPunct="1"/>
            <a:r>
              <a:rPr lang="zh-CN" altLang="en-US" sz="2400">
                <a:solidFill>
                  <a:srgbClr val="333399"/>
                </a:solidFill>
                <a:latin typeface="Arial" pitchFamily="34" charset="0"/>
                <a:ea typeface="黑体" pitchFamily="49" charset="-122"/>
              </a:rPr>
              <a:t>以保证以太网的 </a:t>
            </a:r>
            <a:r>
              <a:rPr lang="en-US" altLang="zh-CN" sz="2400">
                <a:solidFill>
                  <a:srgbClr val="333399"/>
                </a:solidFill>
                <a:latin typeface="Arial" pitchFamily="34" charset="0"/>
                <a:ea typeface="黑体" pitchFamily="49" charset="-122"/>
              </a:rPr>
              <a:t>MAC </a:t>
            </a:r>
            <a:r>
              <a:rPr lang="zh-CN" altLang="en-US" sz="2400">
                <a:solidFill>
                  <a:srgbClr val="333399"/>
                </a:solidFill>
                <a:latin typeface="Arial" pitchFamily="34" charset="0"/>
                <a:ea typeface="黑体" pitchFamily="49" charset="-122"/>
              </a:rPr>
              <a:t>帧长不小于 </a:t>
            </a:r>
            <a:r>
              <a:rPr lang="en-US" altLang="zh-CN" sz="2400">
                <a:solidFill>
                  <a:srgbClr val="333399"/>
                </a:solidFill>
                <a:latin typeface="Arial" pitchFamily="34" charset="0"/>
                <a:ea typeface="黑体" pitchFamily="49" charset="-122"/>
              </a:rPr>
              <a:t>64 </a:t>
            </a:r>
            <a:r>
              <a:rPr lang="zh-CN" altLang="en-US" sz="2400">
                <a:solidFill>
                  <a:srgbClr val="333399"/>
                </a:solidFill>
                <a:latin typeface="Arial" pitchFamily="34" charset="0"/>
                <a:ea typeface="黑体" pitchFamily="49" charset="-122"/>
              </a:rPr>
              <a:t>字节。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9" grpId="0" animBg="1"/>
      <p:bldP spid="45060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Line 2"/>
          <p:cNvSpPr>
            <a:spLocks noChangeShapeType="1"/>
          </p:cNvSpPr>
          <p:nvPr/>
        </p:nvSpPr>
        <p:spPr bwMode="auto">
          <a:xfrm>
            <a:off x="152400" y="4495800"/>
            <a:ext cx="8915400" cy="0"/>
          </a:xfrm>
          <a:prstGeom prst="line">
            <a:avLst/>
          </a:prstGeom>
          <a:noFill/>
          <a:ln w="38100" cmpd="dbl">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43" name="Rectangle 3"/>
          <p:cNvSpPr>
            <a:spLocks noChangeArrowheads="1"/>
          </p:cNvSpPr>
          <p:nvPr/>
        </p:nvSpPr>
        <p:spPr bwMode="auto">
          <a:xfrm>
            <a:off x="1554163" y="4730750"/>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4" name="Rectangle 4"/>
          <p:cNvSpPr>
            <a:spLocks noChangeArrowheads="1"/>
          </p:cNvSpPr>
          <p:nvPr/>
        </p:nvSpPr>
        <p:spPr bwMode="auto">
          <a:xfrm>
            <a:off x="1547813" y="4730750"/>
            <a:ext cx="6419850" cy="488950"/>
          </a:xfrm>
          <a:prstGeom prst="rect">
            <a:avLst/>
          </a:prstGeom>
          <a:noFill/>
          <a:ln w="2857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5" name="Rectangle 5"/>
          <p:cNvSpPr>
            <a:spLocks noChangeArrowheads="1"/>
          </p:cNvSpPr>
          <p:nvPr/>
        </p:nvSpPr>
        <p:spPr bwMode="auto">
          <a:xfrm>
            <a:off x="4256088" y="4835525"/>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帧</a:t>
            </a:r>
          </a:p>
        </p:txBody>
      </p:sp>
      <p:sp>
        <p:nvSpPr>
          <p:cNvPr id="87046" name="Rectangle 6"/>
          <p:cNvSpPr>
            <a:spLocks noChangeArrowheads="1"/>
          </p:cNvSpPr>
          <p:nvPr/>
        </p:nvSpPr>
        <p:spPr bwMode="auto">
          <a:xfrm>
            <a:off x="8243888" y="4814888"/>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物理层</a:t>
            </a:r>
          </a:p>
        </p:txBody>
      </p:sp>
      <p:sp>
        <p:nvSpPr>
          <p:cNvPr id="87047" name="Rectangle 7"/>
          <p:cNvSpPr>
            <a:spLocks noChangeArrowheads="1"/>
          </p:cNvSpPr>
          <p:nvPr/>
        </p:nvSpPr>
        <p:spPr bwMode="auto">
          <a:xfrm>
            <a:off x="8213725" y="3886200"/>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MAC </a:t>
            </a:r>
            <a:r>
              <a:rPr kumimoji="1" lang="zh-CN" altLang="en-US" sz="1600">
                <a:solidFill>
                  <a:srgbClr val="333399"/>
                </a:solidFill>
                <a:latin typeface="Times New Roman" pitchFamily="18" charset="0"/>
              </a:rPr>
              <a:t>层</a:t>
            </a:r>
          </a:p>
        </p:txBody>
      </p:sp>
      <p:sp>
        <p:nvSpPr>
          <p:cNvPr id="87048" name="Line 8"/>
          <p:cNvSpPr>
            <a:spLocks noChangeShapeType="1"/>
          </p:cNvSpPr>
          <p:nvPr/>
        </p:nvSpPr>
        <p:spPr bwMode="auto">
          <a:xfrm flipH="1">
            <a:off x="1546225" y="4221163"/>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49" name="Line 9"/>
          <p:cNvSpPr>
            <a:spLocks noChangeShapeType="1"/>
          </p:cNvSpPr>
          <p:nvPr/>
        </p:nvSpPr>
        <p:spPr bwMode="auto">
          <a:xfrm>
            <a:off x="7956550" y="4292600"/>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0" name="Rectangle 10"/>
          <p:cNvSpPr>
            <a:spLocks noChangeArrowheads="1"/>
          </p:cNvSpPr>
          <p:nvPr/>
        </p:nvSpPr>
        <p:spPr bwMode="auto">
          <a:xfrm>
            <a:off x="8348663" y="2971800"/>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层</a:t>
            </a:r>
          </a:p>
        </p:txBody>
      </p:sp>
      <p:sp>
        <p:nvSpPr>
          <p:cNvPr id="87051" name="Line 11"/>
          <p:cNvSpPr>
            <a:spLocks noChangeShapeType="1"/>
          </p:cNvSpPr>
          <p:nvPr/>
        </p:nvSpPr>
        <p:spPr bwMode="auto">
          <a:xfrm>
            <a:off x="8196263" y="3505200"/>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7052" name="Group 15"/>
          <p:cNvGrpSpPr>
            <a:grpSpLocks/>
          </p:cNvGrpSpPr>
          <p:nvPr/>
        </p:nvGrpSpPr>
        <p:grpSpPr bwMode="auto">
          <a:xfrm>
            <a:off x="1046163" y="3463925"/>
            <a:ext cx="6929437" cy="1412875"/>
            <a:chOff x="659" y="2182"/>
            <a:chExt cx="4365" cy="890"/>
          </a:xfrm>
        </p:grpSpPr>
        <p:sp>
          <p:nvSpPr>
            <p:cNvPr id="87076"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7077" name="Group 17"/>
            <p:cNvGrpSpPr>
              <a:grpSpLocks/>
            </p:cNvGrpSpPr>
            <p:nvPr/>
          </p:nvGrpSpPr>
          <p:grpSpPr bwMode="auto">
            <a:xfrm>
              <a:off x="659" y="2182"/>
              <a:ext cx="4365" cy="506"/>
              <a:chOff x="659" y="2182"/>
              <a:chExt cx="4365" cy="506"/>
            </a:xfrm>
          </p:grpSpPr>
          <p:sp>
            <p:nvSpPr>
              <p:cNvPr id="87078" name="Rectangle 18"/>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87079"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0"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1"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2"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3" name="Rectangle 23"/>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目的地址</a:t>
                </a:r>
              </a:p>
            </p:txBody>
          </p:sp>
          <p:sp>
            <p:nvSpPr>
              <p:cNvPr id="87084" name="Rectangle 24"/>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源地址</a:t>
                </a:r>
              </a:p>
            </p:txBody>
          </p:sp>
          <p:sp>
            <p:nvSpPr>
              <p:cNvPr id="87085" name="Rectangle 25"/>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类型</a:t>
                </a:r>
              </a:p>
            </p:txBody>
          </p:sp>
          <p:sp>
            <p:nvSpPr>
              <p:cNvPr id="87086" name="Rectangle 26"/>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数        据</a:t>
                </a:r>
              </a:p>
            </p:txBody>
          </p:sp>
          <p:sp>
            <p:nvSpPr>
              <p:cNvPr id="87087" name="Rectangle 27"/>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FCS</a:t>
                </a:r>
              </a:p>
            </p:txBody>
          </p:sp>
          <p:sp>
            <p:nvSpPr>
              <p:cNvPr id="87088" name="Rectangle 28"/>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7089" name="Rectangle 29"/>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6</a:t>
                </a:r>
              </a:p>
            </p:txBody>
          </p:sp>
          <p:sp>
            <p:nvSpPr>
              <p:cNvPr id="87090" name="Rectangle 30"/>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2</a:t>
                </a:r>
              </a:p>
            </p:txBody>
          </p:sp>
          <p:sp>
            <p:nvSpPr>
              <p:cNvPr id="87091" name="Rectangle 31"/>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4</a:t>
                </a:r>
              </a:p>
            </p:txBody>
          </p:sp>
          <p:sp>
            <p:nvSpPr>
              <p:cNvPr id="87092" name="Rectangle 32"/>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字节</a:t>
                </a:r>
              </a:p>
            </p:txBody>
          </p:sp>
          <p:sp>
            <p:nvSpPr>
              <p:cNvPr id="87093" name="Text Box 33"/>
              <p:cNvSpPr txBox="1">
                <a:spLocks noChangeArrowheads="1"/>
              </p:cNvSpPr>
              <p:nvPr/>
            </p:nvSpPr>
            <p:spPr bwMode="auto">
              <a:xfrm>
                <a:off x="3777" y="2185"/>
                <a:ext cx="6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sz="1600">
                    <a:solidFill>
                      <a:srgbClr val="333399"/>
                    </a:solidFill>
                    <a:latin typeface="Times New Roman" pitchFamily="18" charset="0"/>
                  </a:rPr>
                  <a:t>46 ~ 1500</a:t>
                </a:r>
              </a:p>
            </p:txBody>
          </p:sp>
        </p:grpSp>
      </p:grpSp>
      <p:grpSp>
        <p:nvGrpSpPr>
          <p:cNvPr id="87053" name="Group 34"/>
          <p:cNvGrpSpPr>
            <a:grpSpLocks/>
          </p:cNvGrpSpPr>
          <p:nvPr/>
        </p:nvGrpSpPr>
        <p:grpSpPr bwMode="auto">
          <a:xfrm>
            <a:off x="4310063" y="2971800"/>
            <a:ext cx="3124200" cy="990600"/>
            <a:chOff x="2715" y="1872"/>
            <a:chExt cx="1968" cy="624"/>
          </a:xfrm>
        </p:grpSpPr>
        <p:sp>
          <p:nvSpPr>
            <p:cNvPr id="87074"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5"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1600">
                  <a:solidFill>
                    <a:srgbClr val="333399"/>
                  </a:solidFill>
                  <a:latin typeface="Times New Roman" pitchFamily="18" charset="0"/>
                </a:rPr>
                <a:t>IP </a:t>
              </a:r>
              <a:r>
                <a:rPr kumimoji="1" lang="zh-CN" altLang="en-US" sz="1600">
                  <a:solidFill>
                    <a:srgbClr val="333399"/>
                  </a:solidFill>
                  <a:latin typeface="Times New Roman" pitchFamily="18" charset="0"/>
                </a:rPr>
                <a:t>数据报</a:t>
              </a:r>
            </a:p>
          </p:txBody>
        </p:sp>
      </p:grpSp>
      <p:sp>
        <p:nvSpPr>
          <p:cNvPr id="87054" name="Rectangle 37"/>
          <p:cNvSpPr>
            <a:spLocks noGrp="1" noChangeArrowheads="1"/>
          </p:cNvSpPr>
          <p:nvPr>
            <p:ph type="title"/>
          </p:nvPr>
        </p:nvSpPr>
        <p:spPr>
          <a:xfrm>
            <a:off x="900113" y="188913"/>
            <a:ext cx="7793037" cy="768350"/>
          </a:xfrm>
        </p:spPr>
        <p:txBody>
          <a:bodyPr/>
          <a:lstStyle/>
          <a:p>
            <a:pPr algn="ctr" eaLnBrk="1" hangingPunct="1"/>
            <a:r>
              <a:rPr lang="zh-CN" altLang="en-US" smtClean="0"/>
              <a:t>以太网 </a:t>
            </a:r>
            <a:r>
              <a:rPr lang="en-US" altLang="zh-CN" smtClean="0"/>
              <a:t>V2 </a:t>
            </a:r>
            <a:r>
              <a:rPr lang="zh-CN" altLang="en-US" smtClean="0"/>
              <a:t>的 </a:t>
            </a:r>
            <a:r>
              <a:rPr lang="en-US" altLang="zh-CN" smtClean="0"/>
              <a:t>MAC </a:t>
            </a:r>
            <a:r>
              <a:rPr lang="zh-CN" altLang="en-US" smtClean="0"/>
              <a:t>帧格式</a:t>
            </a:r>
          </a:p>
        </p:txBody>
      </p:sp>
      <p:grpSp>
        <p:nvGrpSpPr>
          <p:cNvPr id="451622" name="Group 38"/>
          <p:cNvGrpSpPr>
            <a:grpSpLocks/>
          </p:cNvGrpSpPr>
          <p:nvPr/>
        </p:nvGrpSpPr>
        <p:grpSpPr bwMode="auto">
          <a:xfrm>
            <a:off x="176213" y="4343400"/>
            <a:ext cx="4092575" cy="2286000"/>
            <a:chOff x="111" y="2736"/>
            <a:chExt cx="2578" cy="1440"/>
          </a:xfrm>
        </p:grpSpPr>
        <p:sp>
          <p:nvSpPr>
            <p:cNvPr id="87058" name="Rectangle 39"/>
            <p:cNvSpPr>
              <a:spLocks noChangeArrowheads="1"/>
            </p:cNvSpPr>
            <p:nvPr/>
          </p:nvSpPr>
          <p:spPr bwMode="auto">
            <a:xfrm>
              <a:off x="123" y="3606"/>
              <a:ext cx="2526" cy="262"/>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9" name="Rectangle 40"/>
            <p:cNvSpPr>
              <a:spLocks noChangeArrowheads="1"/>
            </p:cNvSpPr>
            <p:nvPr/>
          </p:nvSpPr>
          <p:spPr bwMode="auto">
            <a:xfrm>
              <a:off x="111" y="3633"/>
              <a:ext cx="25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10101010101010         10101010101010101011</a:t>
              </a:r>
            </a:p>
          </p:txBody>
        </p:sp>
        <p:sp>
          <p:nvSpPr>
            <p:cNvPr id="87060" name="Line 41"/>
            <p:cNvSpPr>
              <a:spLocks noChangeShapeType="1"/>
            </p:cNvSpPr>
            <p:nvPr/>
          </p:nvSpPr>
          <p:spPr bwMode="auto">
            <a:xfrm>
              <a:off x="2125" y="3604"/>
              <a:ext cx="0" cy="2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1" name="Rectangle 42"/>
            <p:cNvSpPr>
              <a:spLocks noChangeArrowheads="1"/>
            </p:cNvSpPr>
            <p:nvPr/>
          </p:nvSpPr>
          <p:spPr bwMode="auto">
            <a:xfrm>
              <a:off x="841" y="3892"/>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rPr>
                <a:t>前同步码</a:t>
              </a:r>
            </a:p>
          </p:txBody>
        </p:sp>
        <p:sp>
          <p:nvSpPr>
            <p:cNvPr id="87062" name="Rectangle 43"/>
            <p:cNvSpPr>
              <a:spLocks noChangeArrowheads="1"/>
            </p:cNvSpPr>
            <p:nvPr/>
          </p:nvSpPr>
          <p:spPr bwMode="auto">
            <a:xfrm>
              <a:off x="2169" y="3874"/>
              <a:ext cx="498" cy="3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0000"/>
                </a:lnSpc>
              </a:pPr>
              <a:r>
                <a:rPr kumimoji="1" lang="zh-CN" altLang="en-US" sz="1600">
                  <a:solidFill>
                    <a:srgbClr val="333399"/>
                  </a:solidFill>
                  <a:latin typeface="Times New Roman" pitchFamily="18" charset="0"/>
                </a:rPr>
                <a:t>帧开始</a:t>
              </a:r>
            </a:p>
            <a:p>
              <a:pPr defTabSz="762000" eaLnBrk="0" hangingPunct="0">
                <a:lnSpc>
                  <a:spcPct val="80000"/>
                </a:lnSpc>
              </a:pPr>
              <a:r>
                <a:rPr kumimoji="1" lang="zh-CN" altLang="en-US" sz="1600">
                  <a:solidFill>
                    <a:srgbClr val="333399"/>
                  </a:solidFill>
                  <a:latin typeface="Times New Roman" pitchFamily="18" charset="0"/>
                </a:rPr>
                <a:t>定界符</a:t>
              </a:r>
            </a:p>
          </p:txBody>
        </p:sp>
        <p:sp>
          <p:nvSpPr>
            <p:cNvPr id="87063" name="Rectangle 44"/>
            <p:cNvSpPr>
              <a:spLocks noChangeArrowheads="1"/>
            </p:cNvSpPr>
            <p:nvPr/>
          </p:nvSpPr>
          <p:spPr bwMode="auto">
            <a:xfrm>
              <a:off x="884" y="3394"/>
              <a:ext cx="46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7 </a:t>
              </a:r>
              <a:r>
                <a:rPr kumimoji="1" lang="zh-CN" altLang="en-US" sz="1600">
                  <a:solidFill>
                    <a:srgbClr val="333399"/>
                  </a:solidFill>
                  <a:latin typeface="Times New Roman" pitchFamily="18" charset="0"/>
                </a:rPr>
                <a:t>字节</a:t>
              </a:r>
            </a:p>
          </p:txBody>
        </p:sp>
        <p:sp>
          <p:nvSpPr>
            <p:cNvPr id="87064" name="Rectangle 45"/>
            <p:cNvSpPr>
              <a:spLocks noChangeArrowheads="1"/>
            </p:cNvSpPr>
            <p:nvPr/>
          </p:nvSpPr>
          <p:spPr bwMode="auto">
            <a:xfrm>
              <a:off x="2157" y="3394"/>
              <a:ext cx="46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1 </a:t>
              </a:r>
              <a:r>
                <a:rPr kumimoji="1" lang="zh-CN" altLang="en-US" sz="1600">
                  <a:solidFill>
                    <a:srgbClr val="333399"/>
                  </a:solidFill>
                  <a:latin typeface="Times New Roman" pitchFamily="18" charset="0"/>
                </a:rPr>
                <a:t>字节</a:t>
              </a:r>
            </a:p>
          </p:txBody>
        </p:sp>
        <p:sp>
          <p:nvSpPr>
            <p:cNvPr id="87065" name="Line 46"/>
            <p:cNvSpPr>
              <a:spLocks noChangeShapeType="1"/>
            </p:cNvSpPr>
            <p:nvPr/>
          </p:nvSpPr>
          <p:spPr bwMode="auto">
            <a:xfrm flipV="1">
              <a:off x="131" y="3294"/>
              <a:ext cx="184" cy="31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6" name="Line 47"/>
            <p:cNvSpPr>
              <a:spLocks noChangeShapeType="1"/>
            </p:cNvSpPr>
            <p:nvPr/>
          </p:nvSpPr>
          <p:spPr bwMode="auto">
            <a:xfrm>
              <a:off x="969" y="3302"/>
              <a:ext cx="1680" cy="304"/>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7" name="Text Box 48"/>
            <p:cNvSpPr txBox="1">
              <a:spLocks noChangeArrowheads="1"/>
            </p:cNvSpPr>
            <p:nvPr/>
          </p:nvSpPr>
          <p:spPr bwMode="auto">
            <a:xfrm>
              <a:off x="1100" y="3613"/>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sz="2000">
                  <a:solidFill>
                    <a:schemeClr val="tx1"/>
                  </a:solidFill>
                  <a:latin typeface="Tahoma" pitchFamily="34" charset="0"/>
                  <a:ea typeface="宋体" pitchFamily="2" charset="-122"/>
                </a:defRPr>
              </a:lvl1pPr>
              <a:lvl2pPr marL="742950" indent="-285750" defTabSz="762000" eaLnBrk="0" hangingPunct="0">
                <a:defRPr sz="2000">
                  <a:solidFill>
                    <a:schemeClr val="tx1"/>
                  </a:solidFill>
                  <a:latin typeface="Tahoma" pitchFamily="34" charset="0"/>
                  <a:ea typeface="宋体" pitchFamily="2" charset="-122"/>
                </a:defRPr>
              </a:lvl2pPr>
              <a:lvl3pPr marL="1143000" indent="-228600" defTabSz="762000" eaLnBrk="0" hangingPunct="0">
                <a:defRPr sz="2000">
                  <a:solidFill>
                    <a:schemeClr val="tx1"/>
                  </a:solidFill>
                  <a:latin typeface="Tahoma" pitchFamily="34" charset="0"/>
                  <a:ea typeface="宋体" pitchFamily="2" charset="-122"/>
                </a:defRPr>
              </a:lvl3pPr>
              <a:lvl4pPr marL="1600200" indent="-228600" defTabSz="762000" eaLnBrk="0" hangingPunct="0">
                <a:defRPr sz="2000">
                  <a:solidFill>
                    <a:schemeClr val="tx1"/>
                  </a:solidFill>
                  <a:latin typeface="Tahoma" pitchFamily="34" charset="0"/>
                  <a:ea typeface="宋体" pitchFamily="2" charset="-122"/>
                </a:defRPr>
              </a:lvl4pPr>
              <a:lvl5pPr marL="2057400" indent="-228600" defTabSz="762000" eaLnBrk="0" hangingPunct="0">
                <a:defRPr sz="2000">
                  <a:solidFill>
                    <a:schemeClr val="tx1"/>
                  </a:solidFill>
                  <a:latin typeface="Tahoma" pitchFamily="34" charset="0"/>
                  <a:ea typeface="宋体" pitchFamily="2" charset="-122"/>
                </a:defRPr>
              </a:lvl5pPr>
              <a:lvl6pPr marL="25146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defTabSz="762000" eaLnBrk="0" fontAlgn="base" hangingPunct="0">
                <a:spcBef>
                  <a:spcPct val="0"/>
                </a:spcBef>
                <a:spcAft>
                  <a:spcPct val="0"/>
                </a:spcAft>
                <a:defRPr sz="2000">
                  <a:solidFill>
                    <a:schemeClr val="tx1"/>
                  </a:solidFill>
                  <a:latin typeface="Tahoma" pitchFamily="34" charset="0"/>
                  <a:ea typeface="宋体" pitchFamily="2" charset="-122"/>
                </a:defRPr>
              </a:lvl9pPr>
            </a:lstStyle>
            <a:p>
              <a:r>
                <a:rPr kumimoji="1" lang="en-US" altLang="zh-CN">
                  <a:solidFill>
                    <a:srgbClr val="333399"/>
                  </a:solidFill>
                  <a:latin typeface="Times New Roman" pitchFamily="18" charset="0"/>
                </a:rPr>
                <a:t>…</a:t>
              </a:r>
            </a:p>
          </p:txBody>
        </p:sp>
        <p:grpSp>
          <p:nvGrpSpPr>
            <p:cNvPr id="87068" name="Group 49"/>
            <p:cNvGrpSpPr>
              <a:grpSpLocks/>
            </p:cNvGrpSpPr>
            <p:nvPr/>
          </p:nvGrpSpPr>
          <p:grpSpPr bwMode="auto">
            <a:xfrm>
              <a:off x="171" y="2736"/>
              <a:ext cx="804" cy="548"/>
              <a:chOff x="171" y="2736"/>
              <a:chExt cx="804" cy="548"/>
            </a:xfrm>
          </p:grpSpPr>
          <p:grpSp>
            <p:nvGrpSpPr>
              <p:cNvPr id="87069" name="Group 50"/>
              <p:cNvGrpSpPr>
                <a:grpSpLocks/>
              </p:cNvGrpSpPr>
              <p:nvPr/>
            </p:nvGrpSpPr>
            <p:grpSpPr bwMode="auto">
              <a:xfrm>
                <a:off x="333" y="2976"/>
                <a:ext cx="642" cy="308"/>
                <a:chOff x="333" y="2976"/>
                <a:chExt cx="642" cy="308"/>
              </a:xfrm>
            </p:grpSpPr>
            <p:sp>
              <p:nvSpPr>
                <p:cNvPr id="87072" name="Rectangle 51"/>
                <p:cNvSpPr>
                  <a:spLocks noChangeArrowheads="1"/>
                </p:cNvSpPr>
                <p:nvPr/>
              </p:nvSpPr>
              <p:spPr bwMode="auto">
                <a:xfrm>
                  <a:off x="333" y="2976"/>
                  <a:ext cx="642" cy="308"/>
                </a:xfrm>
                <a:prstGeom prst="rect">
                  <a:avLst/>
                </a:prstGeom>
                <a:solidFill>
                  <a:srgbClr val="FFFF99"/>
                </a:solidFill>
                <a:ln w="2857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3" name="Rectangle 52"/>
                <p:cNvSpPr>
                  <a:spLocks noChangeArrowheads="1"/>
                </p:cNvSpPr>
                <p:nvPr/>
              </p:nvSpPr>
              <p:spPr bwMode="auto">
                <a:xfrm>
                  <a:off x="419" y="3034"/>
                  <a:ext cx="46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rPr>
                    <a:t>8 </a:t>
                  </a:r>
                  <a:r>
                    <a:rPr kumimoji="1" lang="zh-CN" altLang="en-US" sz="1600">
                      <a:solidFill>
                        <a:srgbClr val="333399"/>
                      </a:solidFill>
                      <a:latin typeface="Times New Roman" pitchFamily="18" charset="0"/>
                    </a:rPr>
                    <a:t>字节</a:t>
                  </a:r>
                </a:p>
              </p:txBody>
            </p:sp>
          </p:grpSp>
          <p:sp>
            <p:nvSpPr>
              <p:cNvPr id="87070" name="AutoShape 53"/>
              <p:cNvSpPr>
                <a:spLocks noChangeArrowheads="1"/>
              </p:cNvSpPr>
              <p:nvPr/>
            </p:nvSpPr>
            <p:spPr bwMode="auto">
              <a:xfrm>
                <a:off x="171" y="2752"/>
                <a:ext cx="400" cy="168"/>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a:solidFill>
                    <a:srgbClr val="333399"/>
                  </a:solidFill>
                  <a:latin typeface="Times New Roman" pitchFamily="18" charset="0"/>
                </a:endParaRPr>
              </a:p>
            </p:txBody>
          </p:sp>
          <p:sp>
            <p:nvSpPr>
              <p:cNvPr id="87071" name="Rectangle 54"/>
              <p:cNvSpPr>
                <a:spLocks noChangeArrowheads="1"/>
              </p:cNvSpPr>
              <p:nvPr/>
            </p:nvSpPr>
            <p:spPr bwMode="auto">
              <a:xfrm>
                <a:off x="187" y="2736"/>
                <a:ext cx="370"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a:solidFill>
                      <a:srgbClr val="333399"/>
                    </a:solidFill>
                    <a:latin typeface="Times New Roman" pitchFamily="18" charset="0"/>
                  </a:rPr>
                  <a:t>插入</a:t>
                </a:r>
              </a:p>
            </p:txBody>
          </p:sp>
        </p:grpSp>
      </p:grpSp>
      <p:sp>
        <p:nvSpPr>
          <p:cNvPr id="451639" name="Text Box 55"/>
          <p:cNvSpPr txBox="1">
            <a:spLocks noChangeArrowheads="1"/>
          </p:cNvSpPr>
          <p:nvPr/>
        </p:nvSpPr>
        <p:spPr bwMode="auto">
          <a:xfrm>
            <a:off x="592138" y="1000125"/>
            <a:ext cx="8355012" cy="1196975"/>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400">
                <a:solidFill>
                  <a:srgbClr val="333399"/>
                </a:solidFill>
                <a:latin typeface="Arial" pitchFamily="34" charset="0"/>
                <a:ea typeface="黑体" pitchFamily="49" charset="-122"/>
              </a:rPr>
              <a:t>在帧的前面插入的 </a:t>
            </a:r>
            <a:r>
              <a:rPr lang="en-US" altLang="zh-CN" sz="2400">
                <a:solidFill>
                  <a:srgbClr val="333399"/>
                </a:solidFill>
                <a:latin typeface="Arial" pitchFamily="34" charset="0"/>
                <a:ea typeface="黑体" pitchFamily="49" charset="-122"/>
              </a:rPr>
              <a:t>8 </a:t>
            </a:r>
            <a:r>
              <a:rPr lang="zh-CN" altLang="en-US" sz="2400">
                <a:solidFill>
                  <a:srgbClr val="333399"/>
                </a:solidFill>
                <a:latin typeface="Arial" pitchFamily="34" charset="0"/>
                <a:ea typeface="黑体" pitchFamily="49" charset="-122"/>
              </a:rPr>
              <a:t>字节中的第一个字段共 </a:t>
            </a:r>
            <a:r>
              <a:rPr lang="en-US" altLang="zh-CN" sz="2400">
                <a:solidFill>
                  <a:srgbClr val="333399"/>
                </a:solidFill>
                <a:latin typeface="Arial" pitchFamily="34" charset="0"/>
                <a:ea typeface="黑体" pitchFamily="49" charset="-122"/>
              </a:rPr>
              <a:t>7 </a:t>
            </a:r>
            <a:r>
              <a:rPr lang="zh-CN" altLang="en-US" sz="2400">
                <a:solidFill>
                  <a:srgbClr val="333399"/>
                </a:solidFill>
                <a:latin typeface="Arial" pitchFamily="34" charset="0"/>
                <a:ea typeface="黑体" pitchFamily="49" charset="-122"/>
              </a:rPr>
              <a:t>个字节，</a:t>
            </a:r>
          </a:p>
          <a:p>
            <a:pPr eaLnBrk="1" hangingPunct="1"/>
            <a:r>
              <a:rPr lang="zh-CN" altLang="en-US" sz="2400">
                <a:solidFill>
                  <a:srgbClr val="333399"/>
                </a:solidFill>
                <a:latin typeface="Arial" pitchFamily="34" charset="0"/>
                <a:ea typeface="黑体" pitchFamily="49" charset="-122"/>
              </a:rPr>
              <a:t>是前同步码，用来迅速实现 </a:t>
            </a:r>
            <a:r>
              <a:rPr lang="en-US" altLang="zh-CN" sz="2400">
                <a:solidFill>
                  <a:srgbClr val="333399"/>
                </a:solidFill>
                <a:latin typeface="Arial" pitchFamily="34" charset="0"/>
                <a:ea typeface="黑体" pitchFamily="49" charset="-122"/>
              </a:rPr>
              <a:t>MAC </a:t>
            </a:r>
            <a:r>
              <a:rPr lang="zh-CN" altLang="en-US" sz="2400">
                <a:solidFill>
                  <a:srgbClr val="333399"/>
                </a:solidFill>
                <a:latin typeface="Arial" pitchFamily="34" charset="0"/>
                <a:ea typeface="黑体" pitchFamily="49" charset="-122"/>
              </a:rPr>
              <a:t>帧的比特同步。</a:t>
            </a:r>
          </a:p>
          <a:p>
            <a:pPr eaLnBrk="1" hangingPunct="1"/>
            <a:r>
              <a:rPr lang="zh-CN" altLang="en-US" sz="2400">
                <a:solidFill>
                  <a:srgbClr val="333399"/>
                </a:solidFill>
                <a:latin typeface="Arial" pitchFamily="34" charset="0"/>
                <a:ea typeface="黑体" pitchFamily="49" charset="-122"/>
              </a:rPr>
              <a:t>第二个字段是帧开始定界符，表示后面的信息就是</a:t>
            </a:r>
            <a:r>
              <a:rPr lang="en-US" altLang="zh-CN" sz="2400">
                <a:solidFill>
                  <a:srgbClr val="333399"/>
                </a:solidFill>
                <a:latin typeface="Arial" pitchFamily="34" charset="0"/>
                <a:ea typeface="黑体" pitchFamily="49" charset="-122"/>
              </a:rPr>
              <a:t>MAC </a:t>
            </a:r>
            <a:r>
              <a:rPr lang="zh-CN" altLang="en-US" sz="2400">
                <a:solidFill>
                  <a:srgbClr val="333399"/>
                </a:solidFill>
                <a:latin typeface="Arial" pitchFamily="34" charset="0"/>
                <a:ea typeface="黑体" pitchFamily="49" charset="-122"/>
              </a:rPr>
              <a:t>帧。 </a:t>
            </a:r>
          </a:p>
        </p:txBody>
      </p:sp>
      <p:sp>
        <p:nvSpPr>
          <p:cNvPr id="451640" name="Text Box 56"/>
          <p:cNvSpPr txBox="1">
            <a:spLocks noChangeArrowheads="1"/>
          </p:cNvSpPr>
          <p:nvPr/>
        </p:nvSpPr>
        <p:spPr bwMode="auto">
          <a:xfrm>
            <a:off x="4987925" y="5445125"/>
            <a:ext cx="3816350" cy="1196975"/>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rgbClr val="333399"/>
                </a:solidFill>
              </a:rPr>
              <a:t>为了达到比特同步，</a:t>
            </a:r>
          </a:p>
          <a:p>
            <a:pPr algn="ctr" eaLnBrk="1" hangingPunct="1"/>
            <a:r>
              <a:rPr lang="zh-CN" altLang="en-US" sz="2400">
                <a:solidFill>
                  <a:srgbClr val="333399"/>
                </a:solidFill>
                <a:latin typeface="Arial" pitchFamily="34" charset="0"/>
                <a:ea typeface="黑体" pitchFamily="49" charset="-122"/>
              </a:rPr>
              <a:t>在传输媒体上实际传送的</a:t>
            </a:r>
          </a:p>
          <a:p>
            <a:pPr algn="ctr" eaLnBrk="1" hangingPunct="1"/>
            <a:r>
              <a:rPr lang="zh-CN" altLang="en-US" sz="2400">
                <a:solidFill>
                  <a:srgbClr val="333399"/>
                </a:solidFill>
                <a:latin typeface="Arial" pitchFamily="34" charset="0"/>
                <a:ea typeface="黑体" pitchFamily="49" charset="-122"/>
              </a:rPr>
              <a:t>要比 </a:t>
            </a:r>
            <a:r>
              <a:rPr lang="en-US" altLang="zh-CN" sz="2400">
                <a:solidFill>
                  <a:srgbClr val="333399"/>
                </a:solidFill>
                <a:latin typeface="Arial" pitchFamily="34" charset="0"/>
                <a:ea typeface="黑体" pitchFamily="49" charset="-122"/>
              </a:rPr>
              <a:t>MAC </a:t>
            </a:r>
            <a:r>
              <a:rPr lang="zh-CN" altLang="en-US" sz="2400">
                <a:solidFill>
                  <a:srgbClr val="333399"/>
                </a:solidFill>
                <a:latin typeface="Arial" pitchFamily="34" charset="0"/>
                <a:ea typeface="黑体" pitchFamily="49" charset="-122"/>
              </a:rPr>
              <a:t>帧还多 </a:t>
            </a:r>
            <a:r>
              <a:rPr lang="en-US" altLang="zh-CN" sz="2400">
                <a:solidFill>
                  <a:srgbClr val="333399"/>
                </a:solidFill>
                <a:latin typeface="Arial" pitchFamily="34" charset="0"/>
                <a:ea typeface="黑体" pitchFamily="49" charset="-122"/>
              </a:rPr>
              <a:t>8 </a:t>
            </a:r>
            <a:r>
              <a:rPr lang="zh-CN" altLang="en-US" sz="2400">
                <a:solidFill>
                  <a:srgbClr val="333399"/>
                </a:solidFill>
                <a:latin typeface="Arial" pitchFamily="34" charset="0"/>
                <a:ea typeface="黑体" pitchFamily="49" charset="-122"/>
              </a:rPr>
              <a:t>个字节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5164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451622"/>
                                        </p:tgtEl>
                                        <p:attrNameLst>
                                          <p:attrName>style.visibility</p:attrName>
                                        </p:attrNameLst>
                                      </p:cBhvr>
                                      <p:to>
                                        <p:strVal val="visible"/>
                                      </p:to>
                                    </p:set>
                                  </p:childTnLst>
                                </p:cTn>
                              </p:par>
                            </p:childTnLst>
                          </p:cTn>
                        </p:par>
                        <p:par>
                          <p:cTn id="10" fill="hold" nodeType="afterGroup">
                            <p:stCondLst>
                              <p:cond delay="0"/>
                            </p:stCondLst>
                            <p:childTnLst>
                              <p:par>
                                <p:cTn id="11" presetID="35" presetClass="emph" presetSubtype="0" repeatCount="3000" fill="hold" nodeType="afterEffect">
                                  <p:stCondLst>
                                    <p:cond delay="0"/>
                                  </p:stCondLst>
                                  <p:childTnLst>
                                    <p:anim calcmode="discrete" valueType="str">
                                      <p:cBhvr>
                                        <p:cTn id="12" dur="500" fill="hold"/>
                                        <p:tgtEl>
                                          <p:spTgt spid="451622"/>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16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639" grpId="0" animBg="1"/>
      <p:bldP spid="45164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body" idx="1"/>
          </p:nvPr>
        </p:nvSpPr>
        <p:spPr>
          <a:xfrm>
            <a:off x="1042988" y="2051050"/>
            <a:ext cx="7850187" cy="4257675"/>
          </a:xfrm>
        </p:spPr>
        <p:txBody>
          <a:bodyPr/>
          <a:lstStyle/>
          <a:p>
            <a:pPr eaLnBrk="1" hangingPunct="1">
              <a:lnSpc>
                <a:spcPct val="90000"/>
              </a:lnSpc>
            </a:pPr>
            <a:r>
              <a:rPr lang="zh-CN" altLang="en-US" smtClean="0"/>
              <a:t>帧的长度不是整数个字节；</a:t>
            </a:r>
          </a:p>
          <a:p>
            <a:pPr eaLnBrk="1" hangingPunct="1">
              <a:lnSpc>
                <a:spcPct val="90000"/>
              </a:lnSpc>
            </a:pPr>
            <a:r>
              <a:rPr lang="zh-CN" altLang="en-US" smtClean="0"/>
              <a:t>用收到的帧检验序列 </a:t>
            </a:r>
            <a:r>
              <a:rPr lang="en-US" altLang="zh-CN" smtClean="0"/>
              <a:t>FCS </a:t>
            </a:r>
            <a:r>
              <a:rPr lang="zh-CN" altLang="en-US" smtClean="0"/>
              <a:t>查出有差错；</a:t>
            </a:r>
          </a:p>
          <a:p>
            <a:pPr eaLnBrk="1" hangingPunct="1">
              <a:lnSpc>
                <a:spcPct val="90000"/>
              </a:lnSpc>
            </a:pPr>
            <a:r>
              <a:rPr lang="zh-CN" altLang="en-US" smtClean="0"/>
              <a:t>数据字段的长度不在 </a:t>
            </a:r>
            <a:r>
              <a:rPr lang="en-US" altLang="zh-CN" smtClean="0"/>
              <a:t>46 ~ 1500 </a:t>
            </a:r>
            <a:r>
              <a:rPr lang="zh-CN" altLang="en-US" smtClean="0"/>
              <a:t>字节之间。</a:t>
            </a:r>
          </a:p>
          <a:p>
            <a:pPr eaLnBrk="1" hangingPunct="1">
              <a:lnSpc>
                <a:spcPct val="90000"/>
              </a:lnSpc>
            </a:pPr>
            <a:r>
              <a:rPr lang="zh-CN" altLang="en-US" smtClean="0"/>
              <a:t>有效的 </a:t>
            </a:r>
            <a:r>
              <a:rPr lang="en-US" altLang="zh-CN" smtClean="0"/>
              <a:t>MAC </a:t>
            </a:r>
            <a:r>
              <a:rPr lang="zh-CN" altLang="en-US" smtClean="0"/>
              <a:t>帧长度为 </a:t>
            </a:r>
            <a:r>
              <a:rPr lang="en-US" altLang="zh-CN" smtClean="0">
                <a:solidFill>
                  <a:schemeClr val="hlink"/>
                </a:solidFill>
              </a:rPr>
              <a:t>64 ~ 1518</a:t>
            </a:r>
            <a:r>
              <a:rPr lang="en-US" altLang="zh-CN" smtClean="0"/>
              <a:t> </a:t>
            </a:r>
            <a:r>
              <a:rPr lang="zh-CN" altLang="en-US" smtClean="0"/>
              <a:t>字节之间。</a:t>
            </a:r>
          </a:p>
          <a:p>
            <a:pPr eaLnBrk="1" hangingPunct="1">
              <a:lnSpc>
                <a:spcPct val="90000"/>
              </a:lnSpc>
            </a:pPr>
            <a:r>
              <a:rPr lang="zh-CN" altLang="en-US" smtClean="0"/>
              <a:t>对于检查出的无效 </a:t>
            </a:r>
            <a:r>
              <a:rPr lang="en-US" altLang="zh-CN" smtClean="0"/>
              <a:t>MAC </a:t>
            </a:r>
            <a:r>
              <a:rPr lang="zh-CN" altLang="en-US" smtClean="0"/>
              <a:t>帧就简单地丢弃。以太网不负责重传丢弃的帧。 </a:t>
            </a:r>
          </a:p>
        </p:txBody>
      </p:sp>
      <p:sp>
        <p:nvSpPr>
          <p:cNvPr id="88067" name="Rectangle 3"/>
          <p:cNvSpPr>
            <a:spLocks noGrp="1" noChangeArrowheads="1"/>
          </p:cNvSpPr>
          <p:nvPr>
            <p:ph type="title"/>
          </p:nvPr>
        </p:nvSpPr>
        <p:spPr/>
        <p:txBody>
          <a:bodyPr/>
          <a:lstStyle/>
          <a:p>
            <a:pPr algn="ctr" eaLnBrk="1" hangingPunct="1"/>
            <a:r>
              <a:rPr lang="zh-CN" altLang="en-US" smtClean="0"/>
              <a:t>无效的 </a:t>
            </a:r>
            <a:r>
              <a:rPr lang="en-US" altLang="zh-CN" smtClean="0"/>
              <a:t>MAC </a:t>
            </a:r>
            <a:r>
              <a:rPr lang="zh-CN" altLang="en-US" smtClean="0"/>
              <a:t>帧 </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algn="ctr" eaLnBrk="1" hangingPunct="1"/>
            <a:r>
              <a:rPr lang="en-US" altLang="zh-CN" sz="4800" smtClean="0"/>
              <a:t>3.5  </a:t>
            </a:r>
            <a:r>
              <a:rPr lang="zh-CN" altLang="en-US" sz="4800" smtClean="0"/>
              <a:t>扩展的局域网</a:t>
            </a:r>
            <a:br>
              <a:rPr lang="zh-CN" altLang="en-US" sz="4800" smtClean="0"/>
            </a:br>
            <a:r>
              <a:rPr lang="en-US" altLang="zh-CN" sz="4000" smtClean="0"/>
              <a:t>3.5.1  </a:t>
            </a:r>
            <a:r>
              <a:rPr lang="zh-CN" altLang="en-US" sz="4000" smtClean="0"/>
              <a:t>在物理层扩展局域网</a:t>
            </a:r>
          </a:p>
        </p:txBody>
      </p:sp>
      <p:sp>
        <p:nvSpPr>
          <p:cNvPr id="89091" name="Rectangle 4"/>
          <p:cNvSpPr>
            <a:spLocks noGrp="1" noChangeArrowheads="1"/>
          </p:cNvSpPr>
          <p:nvPr>
            <p:ph type="body" idx="1"/>
          </p:nvPr>
        </p:nvSpPr>
        <p:spPr>
          <a:xfrm>
            <a:off x="1042988" y="1987550"/>
            <a:ext cx="7129462" cy="1441450"/>
          </a:xfrm>
          <a:noFill/>
        </p:spPr>
        <p:txBody>
          <a:bodyPr/>
          <a:lstStyle/>
          <a:p>
            <a:pPr eaLnBrk="1" hangingPunct="1"/>
            <a:r>
              <a:rPr lang="zh-CN" altLang="en-US" smtClean="0"/>
              <a:t>主机使用光纤和一对光纤调制解调器连接到集线器 </a:t>
            </a:r>
          </a:p>
        </p:txBody>
      </p:sp>
      <p:pic>
        <p:nvPicPr>
          <p:cNvPr id="89092"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448914">
            <a:off x="7553325" y="3771900"/>
            <a:ext cx="1195388"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093" name="Text Box 6"/>
          <p:cNvSpPr txBox="1">
            <a:spLocks noChangeArrowheads="1"/>
          </p:cNvSpPr>
          <p:nvPr/>
        </p:nvSpPr>
        <p:spPr bwMode="auto">
          <a:xfrm>
            <a:off x="7426325" y="2716213"/>
            <a:ext cx="184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endParaRPr lang="zh-CN" altLang="zh-CN" sz="2800">
              <a:solidFill>
                <a:schemeClr val="folHlink"/>
              </a:solidFill>
              <a:latin typeface="Arial" pitchFamily="34" charset="0"/>
              <a:ea typeface="黑体" pitchFamily="49" charset="-122"/>
            </a:endParaRPr>
          </a:p>
        </p:txBody>
      </p:sp>
      <p:sp>
        <p:nvSpPr>
          <p:cNvPr id="89094" name="Text Box 7"/>
          <p:cNvSpPr txBox="1">
            <a:spLocks noChangeArrowheads="1"/>
          </p:cNvSpPr>
          <p:nvPr/>
        </p:nvSpPr>
        <p:spPr bwMode="auto">
          <a:xfrm>
            <a:off x="7524750" y="3140075"/>
            <a:ext cx="1098550"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lnSpc>
                <a:spcPct val="90000"/>
              </a:lnSpc>
            </a:pPr>
            <a:r>
              <a:rPr lang="zh-CN" altLang="en-US" sz="2400">
                <a:solidFill>
                  <a:schemeClr val="folHlink"/>
                </a:solidFill>
                <a:latin typeface="Arial" pitchFamily="34" charset="0"/>
                <a:ea typeface="黑体" pitchFamily="49" charset="-122"/>
              </a:rPr>
              <a:t>以太网</a:t>
            </a:r>
          </a:p>
          <a:p>
            <a:pPr eaLnBrk="1" hangingPunct="1">
              <a:lnSpc>
                <a:spcPct val="90000"/>
              </a:lnSpc>
            </a:pPr>
            <a:r>
              <a:rPr lang="zh-CN" altLang="en-US" sz="2400">
                <a:solidFill>
                  <a:schemeClr val="folHlink"/>
                </a:solidFill>
                <a:latin typeface="Arial" pitchFamily="34" charset="0"/>
                <a:ea typeface="黑体" pitchFamily="49" charset="-122"/>
              </a:rPr>
              <a:t>集线器</a:t>
            </a:r>
          </a:p>
        </p:txBody>
      </p:sp>
      <p:sp>
        <p:nvSpPr>
          <p:cNvPr id="89095" name="Line 8"/>
          <p:cNvSpPr>
            <a:spLocks noChangeShapeType="1"/>
          </p:cNvSpPr>
          <p:nvPr/>
        </p:nvSpPr>
        <p:spPr bwMode="auto">
          <a:xfrm>
            <a:off x="790575" y="4246563"/>
            <a:ext cx="7062788" cy="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096" name="Text Box 9"/>
          <p:cNvSpPr txBox="1">
            <a:spLocks noChangeArrowheads="1"/>
          </p:cNvSpPr>
          <p:nvPr/>
        </p:nvSpPr>
        <p:spPr bwMode="auto">
          <a:xfrm>
            <a:off x="3754438" y="3702050"/>
            <a:ext cx="895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800">
                <a:solidFill>
                  <a:schemeClr val="folHlink"/>
                </a:solidFill>
                <a:latin typeface="Arial" pitchFamily="34" charset="0"/>
                <a:ea typeface="黑体" pitchFamily="49" charset="-122"/>
              </a:rPr>
              <a:t>光纤</a:t>
            </a:r>
          </a:p>
        </p:txBody>
      </p:sp>
      <p:sp>
        <p:nvSpPr>
          <p:cNvPr id="89097" name="Text Box 10"/>
          <p:cNvSpPr txBox="1">
            <a:spLocks noChangeArrowheads="1"/>
          </p:cNvSpPr>
          <p:nvPr/>
        </p:nvSpPr>
        <p:spPr bwMode="auto">
          <a:xfrm>
            <a:off x="6227763" y="4479925"/>
            <a:ext cx="1708150"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lnSpc>
                <a:spcPct val="90000"/>
              </a:lnSpc>
            </a:pPr>
            <a:r>
              <a:rPr lang="zh-CN" altLang="en-US" sz="2400">
                <a:solidFill>
                  <a:schemeClr val="folHlink"/>
                </a:solidFill>
                <a:latin typeface="Arial" pitchFamily="34" charset="0"/>
                <a:ea typeface="黑体" pitchFamily="49" charset="-122"/>
              </a:rPr>
              <a:t>光纤</a:t>
            </a:r>
          </a:p>
          <a:p>
            <a:pPr algn="ctr" eaLnBrk="1" hangingPunct="1">
              <a:lnSpc>
                <a:spcPct val="90000"/>
              </a:lnSpc>
            </a:pPr>
            <a:r>
              <a:rPr lang="zh-CN" altLang="en-US" sz="2400">
                <a:solidFill>
                  <a:schemeClr val="folHlink"/>
                </a:solidFill>
                <a:latin typeface="Arial" pitchFamily="34" charset="0"/>
                <a:ea typeface="黑体" pitchFamily="49" charset="-122"/>
              </a:rPr>
              <a:t>调制解调器</a:t>
            </a:r>
          </a:p>
        </p:txBody>
      </p:sp>
      <p:pic>
        <p:nvPicPr>
          <p:cNvPr id="89098" name="Picture 1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3675063"/>
            <a:ext cx="665163"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099"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5688" y="4048125"/>
            <a:ext cx="601662"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89100"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56413" y="4048125"/>
            <a:ext cx="600075"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89101" name="Text Box 14"/>
          <p:cNvSpPr txBox="1">
            <a:spLocks noChangeArrowheads="1"/>
          </p:cNvSpPr>
          <p:nvPr/>
        </p:nvSpPr>
        <p:spPr bwMode="auto">
          <a:xfrm>
            <a:off x="468313" y="4437063"/>
            <a:ext cx="1708150"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lnSpc>
                <a:spcPct val="90000"/>
              </a:lnSpc>
            </a:pPr>
            <a:r>
              <a:rPr lang="zh-CN" altLang="en-US" sz="2400">
                <a:solidFill>
                  <a:schemeClr val="folHlink"/>
                </a:solidFill>
                <a:latin typeface="Arial" pitchFamily="34" charset="0"/>
                <a:ea typeface="黑体" pitchFamily="49" charset="-122"/>
              </a:rPr>
              <a:t>光纤</a:t>
            </a:r>
          </a:p>
          <a:p>
            <a:pPr algn="ctr" eaLnBrk="1" hangingPunct="1">
              <a:lnSpc>
                <a:spcPct val="90000"/>
              </a:lnSpc>
            </a:pPr>
            <a:r>
              <a:rPr lang="zh-CN" altLang="en-US" sz="2400">
                <a:solidFill>
                  <a:schemeClr val="folHlink"/>
                </a:solidFill>
                <a:latin typeface="Arial" pitchFamily="34" charset="0"/>
                <a:ea typeface="黑体" pitchFamily="49" charset="-122"/>
              </a:rPr>
              <a:t>调制解调器</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body" idx="1"/>
          </p:nvPr>
        </p:nvSpPr>
        <p:spPr>
          <a:xfrm>
            <a:off x="1042988" y="1916113"/>
            <a:ext cx="7850187" cy="657225"/>
          </a:xfrm>
        </p:spPr>
        <p:txBody>
          <a:bodyPr/>
          <a:lstStyle/>
          <a:p>
            <a:pPr eaLnBrk="1" hangingPunct="1"/>
            <a:r>
              <a:rPr lang="zh-CN" altLang="en-US" sz="2800" smtClean="0"/>
              <a:t>某大学有三个系，各自有一个局域网</a:t>
            </a:r>
          </a:p>
        </p:txBody>
      </p:sp>
      <p:sp>
        <p:nvSpPr>
          <p:cNvPr id="90115"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011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0117" name="Rectangle 5"/>
          <p:cNvSpPr>
            <a:spLocks noGrp="1" noChangeArrowheads="1"/>
          </p:cNvSpPr>
          <p:nvPr>
            <p:ph type="title"/>
          </p:nvPr>
        </p:nvSpPr>
        <p:spPr>
          <a:xfrm>
            <a:off x="776288" y="214313"/>
            <a:ext cx="8188325" cy="1462087"/>
          </a:xfrm>
        </p:spPr>
        <p:txBody>
          <a:bodyPr/>
          <a:lstStyle/>
          <a:p>
            <a:pPr algn="ctr" eaLnBrk="1" hangingPunct="1"/>
            <a:r>
              <a:rPr lang="zh-CN" altLang="en-US" sz="4000" smtClean="0"/>
              <a:t>用多个集线器可连成更大的局域网</a:t>
            </a:r>
          </a:p>
        </p:txBody>
      </p:sp>
      <p:sp>
        <p:nvSpPr>
          <p:cNvPr id="90118" name="Text Box 43"/>
          <p:cNvSpPr txBox="1">
            <a:spLocks noChangeArrowheads="1"/>
          </p:cNvSpPr>
          <p:nvPr/>
        </p:nvSpPr>
        <p:spPr bwMode="auto">
          <a:xfrm>
            <a:off x="3175000" y="2611438"/>
            <a:ext cx="2620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tx2"/>
                </a:solidFill>
                <a:latin typeface="Times New Roman" pitchFamily="18" charset="0"/>
                <a:ea typeface="黑体" pitchFamily="49" charset="-122"/>
              </a:rPr>
              <a:t>三个独立的碰撞域</a:t>
            </a:r>
          </a:p>
        </p:txBody>
      </p:sp>
      <p:sp>
        <p:nvSpPr>
          <p:cNvPr id="90119" name="AutoShape 44"/>
          <p:cNvSpPr>
            <a:spLocks noChangeArrowheads="1"/>
          </p:cNvSpPr>
          <p:nvPr/>
        </p:nvSpPr>
        <p:spPr bwMode="auto">
          <a:xfrm>
            <a:off x="476250" y="3409950"/>
            <a:ext cx="2560638" cy="2971800"/>
          </a:xfrm>
          <a:prstGeom prst="roundRect">
            <a:avLst>
              <a:gd name="adj" fmla="val 16667"/>
            </a:avLst>
          </a:prstGeom>
          <a:solidFill>
            <a:srgbClr val="FF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0" name="Line 45"/>
          <p:cNvSpPr>
            <a:spLocks noChangeShapeType="1"/>
          </p:cNvSpPr>
          <p:nvPr/>
        </p:nvSpPr>
        <p:spPr bwMode="auto">
          <a:xfrm flipH="1">
            <a:off x="877888" y="4960938"/>
            <a:ext cx="639762" cy="736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0121"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063" y="5508625"/>
            <a:ext cx="481012"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0122" name="Line 47"/>
          <p:cNvSpPr>
            <a:spLocks noChangeShapeType="1"/>
          </p:cNvSpPr>
          <p:nvPr/>
        </p:nvSpPr>
        <p:spPr bwMode="auto">
          <a:xfrm>
            <a:off x="1879600" y="5099050"/>
            <a:ext cx="177800" cy="574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3" name="Line 48"/>
          <p:cNvSpPr>
            <a:spLocks noChangeShapeType="1"/>
          </p:cNvSpPr>
          <p:nvPr/>
        </p:nvSpPr>
        <p:spPr bwMode="auto">
          <a:xfrm>
            <a:off x="2057400" y="5075238"/>
            <a:ext cx="630238" cy="574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4" name="Line 49"/>
          <p:cNvSpPr>
            <a:spLocks noChangeShapeType="1"/>
          </p:cNvSpPr>
          <p:nvPr/>
        </p:nvSpPr>
        <p:spPr bwMode="auto">
          <a:xfrm flipH="1">
            <a:off x="1474788" y="4972050"/>
            <a:ext cx="171450" cy="7429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0125"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30313" y="5508625"/>
            <a:ext cx="47942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0126"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1975" y="5508625"/>
            <a:ext cx="47942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0127"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3638" y="5508625"/>
            <a:ext cx="481012"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0128" name="Text Box 53"/>
          <p:cNvSpPr txBox="1">
            <a:spLocks noChangeArrowheads="1"/>
          </p:cNvSpPr>
          <p:nvPr/>
        </p:nvSpPr>
        <p:spPr bwMode="auto">
          <a:xfrm>
            <a:off x="611188" y="4556125"/>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tx2"/>
                </a:solidFill>
                <a:latin typeface="Times New Roman" pitchFamily="18" charset="0"/>
                <a:ea typeface="黑体" pitchFamily="49" charset="-122"/>
              </a:rPr>
              <a:t>一系</a:t>
            </a:r>
          </a:p>
        </p:txBody>
      </p:sp>
      <p:pic>
        <p:nvPicPr>
          <p:cNvPr id="90129" name="Picture 5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1279525" y="4600575"/>
            <a:ext cx="1108075" cy="6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30" name="AutoShape 55"/>
          <p:cNvSpPr>
            <a:spLocks noChangeArrowheads="1"/>
          </p:cNvSpPr>
          <p:nvPr/>
        </p:nvSpPr>
        <p:spPr bwMode="auto">
          <a:xfrm>
            <a:off x="3187700" y="3409950"/>
            <a:ext cx="2559050" cy="2971800"/>
          </a:xfrm>
          <a:prstGeom prst="roundRect">
            <a:avLst>
              <a:gd name="adj" fmla="val 16667"/>
            </a:avLst>
          </a:prstGeom>
          <a:solidFill>
            <a:srgbClr val="FFFF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1" name="Line 56"/>
          <p:cNvSpPr>
            <a:spLocks noChangeShapeType="1"/>
          </p:cNvSpPr>
          <p:nvPr/>
        </p:nvSpPr>
        <p:spPr bwMode="auto">
          <a:xfrm flipH="1">
            <a:off x="3587750" y="4960938"/>
            <a:ext cx="641350" cy="736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0132"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6925" y="5508625"/>
            <a:ext cx="48101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0133" name="Line 58"/>
          <p:cNvSpPr>
            <a:spLocks noChangeShapeType="1"/>
          </p:cNvSpPr>
          <p:nvPr/>
        </p:nvSpPr>
        <p:spPr bwMode="auto">
          <a:xfrm>
            <a:off x="4589463" y="5099050"/>
            <a:ext cx="177800" cy="574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4" name="Line 59"/>
          <p:cNvSpPr>
            <a:spLocks noChangeShapeType="1"/>
          </p:cNvSpPr>
          <p:nvPr/>
        </p:nvSpPr>
        <p:spPr bwMode="auto">
          <a:xfrm>
            <a:off x="4767263" y="5075238"/>
            <a:ext cx="631825" cy="574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5" name="Line 60"/>
          <p:cNvSpPr>
            <a:spLocks noChangeShapeType="1"/>
          </p:cNvSpPr>
          <p:nvPr/>
        </p:nvSpPr>
        <p:spPr bwMode="auto">
          <a:xfrm flipH="1">
            <a:off x="4184650" y="4972050"/>
            <a:ext cx="173038" cy="7429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0136"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40175" y="5508625"/>
            <a:ext cx="47942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0137"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1838" y="5508625"/>
            <a:ext cx="47942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0138"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3500" y="5508625"/>
            <a:ext cx="48101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0139" name="Text Box 64"/>
          <p:cNvSpPr txBox="1">
            <a:spLocks noChangeArrowheads="1"/>
          </p:cNvSpPr>
          <p:nvPr/>
        </p:nvSpPr>
        <p:spPr bwMode="auto">
          <a:xfrm>
            <a:off x="3275013" y="4556125"/>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tx2"/>
                </a:solidFill>
                <a:latin typeface="Times New Roman" pitchFamily="18" charset="0"/>
                <a:ea typeface="黑体" pitchFamily="49" charset="-122"/>
              </a:rPr>
              <a:t>二系</a:t>
            </a:r>
          </a:p>
        </p:txBody>
      </p:sp>
      <p:pic>
        <p:nvPicPr>
          <p:cNvPr id="90140" name="Picture 6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3989388" y="4600575"/>
            <a:ext cx="1108075" cy="6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41" name="AutoShape 66"/>
          <p:cNvSpPr>
            <a:spLocks noChangeArrowheads="1"/>
          </p:cNvSpPr>
          <p:nvPr/>
        </p:nvSpPr>
        <p:spPr bwMode="auto">
          <a:xfrm>
            <a:off x="5900738" y="3409950"/>
            <a:ext cx="2559050" cy="2971800"/>
          </a:xfrm>
          <a:prstGeom prst="roundRect">
            <a:avLst>
              <a:gd name="adj" fmla="val 16667"/>
            </a:avLst>
          </a:prstGeom>
          <a:solidFill>
            <a:srgbClr val="FFCC99"/>
          </a:solidFill>
          <a:ln>
            <a:noFill/>
          </a:ln>
          <a:effectLst/>
          <a:extLst>
            <a:ext uri="{91240B29-F687-4F45-9708-019B960494DF}">
              <a14:hiddenLine xmlns:a14="http://schemas.microsoft.com/office/drawing/2010/main" w="9525">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2" name="Line 67"/>
          <p:cNvSpPr>
            <a:spLocks noChangeShapeType="1"/>
          </p:cNvSpPr>
          <p:nvPr/>
        </p:nvSpPr>
        <p:spPr bwMode="auto">
          <a:xfrm flipH="1">
            <a:off x="6302375" y="4960938"/>
            <a:ext cx="639763" cy="736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0143" name="Picture 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1550" y="5508625"/>
            <a:ext cx="47942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0144" name="Line 69"/>
          <p:cNvSpPr>
            <a:spLocks noChangeShapeType="1"/>
          </p:cNvSpPr>
          <p:nvPr/>
        </p:nvSpPr>
        <p:spPr bwMode="auto">
          <a:xfrm>
            <a:off x="7302500" y="5099050"/>
            <a:ext cx="179388" cy="574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5" name="Line 70"/>
          <p:cNvSpPr>
            <a:spLocks noChangeShapeType="1"/>
          </p:cNvSpPr>
          <p:nvPr/>
        </p:nvSpPr>
        <p:spPr bwMode="auto">
          <a:xfrm>
            <a:off x="7481888" y="5075238"/>
            <a:ext cx="630237" cy="574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6" name="Line 71"/>
          <p:cNvSpPr>
            <a:spLocks noChangeShapeType="1"/>
          </p:cNvSpPr>
          <p:nvPr/>
        </p:nvSpPr>
        <p:spPr bwMode="auto">
          <a:xfrm flipH="1">
            <a:off x="6897688" y="4972050"/>
            <a:ext cx="173037" cy="7429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0147"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3213" y="5508625"/>
            <a:ext cx="47942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0148"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54875" y="5508625"/>
            <a:ext cx="48101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0149"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58125" y="5508625"/>
            <a:ext cx="47942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0150" name="Text Box 75"/>
          <p:cNvSpPr txBox="1">
            <a:spLocks noChangeArrowheads="1"/>
          </p:cNvSpPr>
          <p:nvPr/>
        </p:nvSpPr>
        <p:spPr bwMode="auto">
          <a:xfrm>
            <a:off x="5938838" y="4556125"/>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tx2"/>
                </a:solidFill>
                <a:latin typeface="Times New Roman" pitchFamily="18" charset="0"/>
                <a:ea typeface="黑体" pitchFamily="49" charset="-122"/>
              </a:rPr>
              <a:t>三系</a:t>
            </a:r>
          </a:p>
        </p:txBody>
      </p:sp>
      <p:pic>
        <p:nvPicPr>
          <p:cNvPr id="90151" name="Picture 7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6704013" y="4600575"/>
            <a:ext cx="1106487" cy="6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52" name="AutoShape 77"/>
          <p:cNvSpPr>
            <a:spLocks/>
          </p:cNvSpPr>
          <p:nvPr/>
        </p:nvSpPr>
        <p:spPr bwMode="auto">
          <a:xfrm rot="5400000" flipV="1">
            <a:off x="4314825" y="376238"/>
            <a:ext cx="415925" cy="5689600"/>
          </a:xfrm>
          <a:prstGeom prst="leftBrace">
            <a:avLst>
              <a:gd name="adj1" fmla="val 113995"/>
              <a:gd name="adj2" fmla="val 50000"/>
            </a:avLst>
          </a:prstGeom>
          <a:noFill/>
          <a:ln w="95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3" name="Text Box 78"/>
          <p:cNvSpPr txBox="1">
            <a:spLocks noChangeArrowheads="1"/>
          </p:cNvSpPr>
          <p:nvPr/>
        </p:nvSpPr>
        <p:spPr bwMode="auto">
          <a:xfrm>
            <a:off x="1171575" y="3476625"/>
            <a:ext cx="1096963"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tx2"/>
                </a:solidFill>
                <a:latin typeface="Times New Roman" pitchFamily="18" charset="0"/>
                <a:ea typeface="黑体" pitchFamily="49" charset="-122"/>
              </a:rPr>
              <a:t>碰撞域</a:t>
            </a:r>
          </a:p>
        </p:txBody>
      </p:sp>
      <p:sp>
        <p:nvSpPr>
          <p:cNvPr id="90154" name="Text Box 79"/>
          <p:cNvSpPr txBox="1">
            <a:spLocks noChangeArrowheads="1"/>
          </p:cNvSpPr>
          <p:nvPr/>
        </p:nvSpPr>
        <p:spPr bwMode="auto">
          <a:xfrm>
            <a:off x="3979863" y="3476625"/>
            <a:ext cx="1096962"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tx2"/>
                </a:solidFill>
                <a:latin typeface="Times New Roman" pitchFamily="18" charset="0"/>
                <a:ea typeface="黑体" pitchFamily="49" charset="-122"/>
              </a:rPr>
              <a:t>碰撞域</a:t>
            </a:r>
          </a:p>
        </p:txBody>
      </p:sp>
      <p:sp>
        <p:nvSpPr>
          <p:cNvPr id="90155" name="Text Box 80"/>
          <p:cNvSpPr txBox="1">
            <a:spLocks noChangeArrowheads="1"/>
          </p:cNvSpPr>
          <p:nvPr/>
        </p:nvSpPr>
        <p:spPr bwMode="auto">
          <a:xfrm>
            <a:off x="6642100" y="3476625"/>
            <a:ext cx="10985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tx2"/>
                </a:solidFill>
                <a:latin typeface="Times New Roman" pitchFamily="18" charset="0"/>
                <a:ea typeface="黑体" pitchFamily="49" charset="-122"/>
              </a:rPr>
              <a:t>碰撞域</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type="title"/>
          </p:nvPr>
        </p:nvSpPr>
        <p:spPr/>
        <p:txBody>
          <a:bodyPr/>
          <a:lstStyle/>
          <a:p>
            <a:pPr algn="ctr" eaLnBrk="1" hangingPunct="1"/>
            <a:r>
              <a:rPr lang="zh-CN" altLang="en-US" smtClean="0"/>
              <a:t>用集线器组成更大的局域网</a:t>
            </a:r>
            <a:br>
              <a:rPr lang="zh-CN" altLang="en-US" smtClean="0"/>
            </a:br>
            <a:r>
              <a:rPr lang="zh-CN" altLang="en-US" smtClean="0"/>
              <a:t>都在一个碰撞域中</a:t>
            </a:r>
          </a:p>
        </p:txBody>
      </p:sp>
      <p:sp>
        <p:nvSpPr>
          <p:cNvPr id="91139" name="AutoShape 42"/>
          <p:cNvSpPr>
            <a:spLocks noChangeArrowheads="1"/>
          </p:cNvSpPr>
          <p:nvPr/>
        </p:nvSpPr>
        <p:spPr bwMode="auto">
          <a:xfrm>
            <a:off x="49213" y="2681288"/>
            <a:ext cx="8915400" cy="3078162"/>
          </a:xfrm>
          <a:prstGeom prst="roundRect">
            <a:avLst>
              <a:gd name="adj" fmla="val 16667"/>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0" name="Line 43"/>
          <p:cNvSpPr>
            <a:spLocks noChangeShapeType="1"/>
          </p:cNvSpPr>
          <p:nvPr/>
        </p:nvSpPr>
        <p:spPr bwMode="auto">
          <a:xfrm flipH="1">
            <a:off x="1971675" y="3351213"/>
            <a:ext cx="2147888" cy="9620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1" name="Line 44"/>
          <p:cNvSpPr>
            <a:spLocks noChangeShapeType="1"/>
          </p:cNvSpPr>
          <p:nvPr/>
        </p:nvSpPr>
        <p:spPr bwMode="auto">
          <a:xfrm>
            <a:off x="4806950" y="3359150"/>
            <a:ext cx="2671763" cy="9191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2" name="Line 45"/>
          <p:cNvSpPr>
            <a:spLocks noChangeShapeType="1"/>
          </p:cNvSpPr>
          <p:nvPr/>
        </p:nvSpPr>
        <p:spPr bwMode="auto">
          <a:xfrm>
            <a:off x="4454525" y="3406775"/>
            <a:ext cx="209550" cy="892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3" name="Text Box 46"/>
          <p:cNvSpPr txBox="1">
            <a:spLocks noChangeArrowheads="1"/>
          </p:cNvSpPr>
          <p:nvPr/>
        </p:nvSpPr>
        <p:spPr bwMode="auto">
          <a:xfrm>
            <a:off x="611188" y="4076700"/>
            <a:ext cx="792162"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Times New Roman" pitchFamily="18" charset="0"/>
                <a:ea typeface="黑体" pitchFamily="49" charset="-122"/>
              </a:rPr>
              <a:t>一系</a:t>
            </a:r>
          </a:p>
        </p:txBody>
      </p:sp>
      <p:sp>
        <p:nvSpPr>
          <p:cNvPr id="91144" name="Text Box 47"/>
          <p:cNvSpPr txBox="1">
            <a:spLocks noChangeArrowheads="1"/>
          </p:cNvSpPr>
          <p:nvPr/>
        </p:nvSpPr>
        <p:spPr bwMode="auto">
          <a:xfrm>
            <a:off x="6297613" y="4076700"/>
            <a:ext cx="795337"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Times New Roman" pitchFamily="18" charset="0"/>
                <a:ea typeface="黑体" pitchFamily="49" charset="-122"/>
              </a:rPr>
              <a:t>三系</a:t>
            </a:r>
          </a:p>
        </p:txBody>
      </p:sp>
      <p:sp>
        <p:nvSpPr>
          <p:cNvPr id="91145" name="Text Box 48"/>
          <p:cNvSpPr txBox="1">
            <a:spLocks noChangeArrowheads="1"/>
          </p:cNvSpPr>
          <p:nvPr/>
        </p:nvSpPr>
        <p:spPr bwMode="auto">
          <a:xfrm>
            <a:off x="3417888" y="4076700"/>
            <a:ext cx="7937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Times New Roman" pitchFamily="18" charset="0"/>
                <a:ea typeface="黑体" pitchFamily="49" charset="-122"/>
              </a:rPr>
              <a:t>二系</a:t>
            </a:r>
          </a:p>
        </p:txBody>
      </p:sp>
      <p:sp>
        <p:nvSpPr>
          <p:cNvPr id="91146" name="Text Box 49"/>
          <p:cNvSpPr txBox="1">
            <a:spLocks noChangeArrowheads="1"/>
          </p:cNvSpPr>
          <p:nvPr/>
        </p:nvSpPr>
        <p:spPr bwMode="auto">
          <a:xfrm>
            <a:off x="2216150" y="2854325"/>
            <a:ext cx="170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Times New Roman" pitchFamily="18" charset="0"/>
                <a:ea typeface="黑体" pitchFamily="49" charset="-122"/>
              </a:rPr>
              <a:t>主干集线器</a:t>
            </a:r>
          </a:p>
        </p:txBody>
      </p:sp>
      <p:sp>
        <p:nvSpPr>
          <p:cNvPr id="91147" name="Text Box 50"/>
          <p:cNvSpPr txBox="1">
            <a:spLocks noChangeArrowheads="1"/>
          </p:cNvSpPr>
          <p:nvPr/>
        </p:nvSpPr>
        <p:spPr bwMode="auto">
          <a:xfrm>
            <a:off x="3101975" y="2133600"/>
            <a:ext cx="2622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Times New Roman" pitchFamily="18" charset="0"/>
                <a:ea typeface="黑体" pitchFamily="49" charset="-122"/>
              </a:rPr>
              <a:t>一个更大的碰撞域</a:t>
            </a:r>
          </a:p>
        </p:txBody>
      </p:sp>
      <p:sp>
        <p:nvSpPr>
          <p:cNvPr id="91148" name="Line 51"/>
          <p:cNvSpPr>
            <a:spLocks noChangeShapeType="1"/>
          </p:cNvSpPr>
          <p:nvPr/>
        </p:nvSpPr>
        <p:spPr bwMode="auto">
          <a:xfrm flipH="1">
            <a:off x="873125" y="4446588"/>
            <a:ext cx="665163" cy="6810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1149"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2775"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1150" name="Line 53"/>
          <p:cNvSpPr>
            <a:spLocks noChangeShapeType="1"/>
          </p:cNvSpPr>
          <p:nvPr/>
        </p:nvSpPr>
        <p:spPr bwMode="auto">
          <a:xfrm>
            <a:off x="1912938" y="4575175"/>
            <a:ext cx="185737"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1" name="Line 54"/>
          <p:cNvSpPr>
            <a:spLocks noChangeShapeType="1"/>
          </p:cNvSpPr>
          <p:nvPr/>
        </p:nvSpPr>
        <p:spPr bwMode="auto">
          <a:xfrm>
            <a:off x="2098675" y="4552950"/>
            <a:ext cx="655638"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2" name="Line 55"/>
          <p:cNvSpPr>
            <a:spLocks noChangeShapeType="1"/>
          </p:cNvSpPr>
          <p:nvPr/>
        </p:nvSpPr>
        <p:spPr bwMode="auto">
          <a:xfrm flipH="1">
            <a:off x="1492250" y="4457700"/>
            <a:ext cx="179388" cy="685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1153"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38250"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1154"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63725"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1155"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89200"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1156" name="Picture 5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1290638" y="4114800"/>
            <a:ext cx="1150937"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157" name="Line 60"/>
          <p:cNvSpPr>
            <a:spLocks noChangeShapeType="1"/>
          </p:cNvSpPr>
          <p:nvPr/>
        </p:nvSpPr>
        <p:spPr bwMode="auto">
          <a:xfrm flipH="1">
            <a:off x="3689350" y="4446588"/>
            <a:ext cx="665163" cy="6810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1158"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9000"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1159" name="Line 62"/>
          <p:cNvSpPr>
            <a:spLocks noChangeShapeType="1"/>
          </p:cNvSpPr>
          <p:nvPr/>
        </p:nvSpPr>
        <p:spPr bwMode="auto">
          <a:xfrm>
            <a:off x="4729163" y="4575175"/>
            <a:ext cx="185737"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0" name="Line 63"/>
          <p:cNvSpPr>
            <a:spLocks noChangeShapeType="1"/>
          </p:cNvSpPr>
          <p:nvPr/>
        </p:nvSpPr>
        <p:spPr bwMode="auto">
          <a:xfrm>
            <a:off x="4914900" y="4552950"/>
            <a:ext cx="654050"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1" name="Line 64"/>
          <p:cNvSpPr>
            <a:spLocks noChangeShapeType="1"/>
          </p:cNvSpPr>
          <p:nvPr/>
        </p:nvSpPr>
        <p:spPr bwMode="auto">
          <a:xfrm flipH="1">
            <a:off x="4308475" y="4457700"/>
            <a:ext cx="179388" cy="685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1162" name="Picture 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4475"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1163" name="Picture 6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9950"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1164" name="Picture 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05425"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1165" name="Picture 6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106863" y="4114800"/>
            <a:ext cx="11493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166" name="Line 69"/>
          <p:cNvSpPr>
            <a:spLocks noChangeShapeType="1"/>
          </p:cNvSpPr>
          <p:nvPr/>
        </p:nvSpPr>
        <p:spPr bwMode="auto">
          <a:xfrm flipH="1">
            <a:off x="6507163" y="4446588"/>
            <a:ext cx="665162" cy="6810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1167"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6813"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1168" name="Line 71"/>
          <p:cNvSpPr>
            <a:spLocks noChangeShapeType="1"/>
          </p:cNvSpPr>
          <p:nvPr/>
        </p:nvSpPr>
        <p:spPr bwMode="auto">
          <a:xfrm>
            <a:off x="7546975" y="4575175"/>
            <a:ext cx="185738"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9" name="Line 72"/>
          <p:cNvSpPr>
            <a:spLocks noChangeShapeType="1"/>
          </p:cNvSpPr>
          <p:nvPr/>
        </p:nvSpPr>
        <p:spPr bwMode="auto">
          <a:xfrm>
            <a:off x="7732713" y="4552950"/>
            <a:ext cx="655637"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70" name="Line 73"/>
          <p:cNvSpPr>
            <a:spLocks noChangeShapeType="1"/>
          </p:cNvSpPr>
          <p:nvPr/>
        </p:nvSpPr>
        <p:spPr bwMode="auto">
          <a:xfrm flipH="1">
            <a:off x="7126288" y="4457700"/>
            <a:ext cx="179387" cy="685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1171"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2288"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1172"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97763"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1173"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23238" y="4953000"/>
            <a:ext cx="4984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1174" name="Picture 7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6924675" y="4114800"/>
            <a:ext cx="1150938"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175" name="Picture 7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3767138" y="2840038"/>
            <a:ext cx="1538287" cy="75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176" name="Text Box 79"/>
          <p:cNvSpPr txBox="1">
            <a:spLocks noChangeArrowheads="1"/>
          </p:cNvSpPr>
          <p:nvPr/>
        </p:nvSpPr>
        <p:spPr bwMode="auto">
          <a:xfrm>
            <a:off x="7289800" y="2847975"/>
            <a:ext cx="10985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sz="2400">
                <a:solidFill>
                  <a:schemeClr val="folHlink"/>
                </a:solidFill>
                <a:latin typeface="Times New Roman" pitchFamily="18" charset="0"/>
                <a:ea typeface="黑体" pitchFamily="49" charset="-122"/>
              </a:rPr>
              <a:t>碰撞域</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body" idx="1"/>
          </p:nvPr>
        </p:nvSpPr>
        <p:spPr>
          <a:xfrm>
            <a:off x="1042988" y="2051050"/>
            <a:ext cx="7850187" cy="4257675"/>
          </a:xfrm>
        </p:spPr>
        <p:txBody>
          <a:bodyPr/>
          <a:lstStyle/>
          <a:p>
            <a:pPr eaLnBrk="1" hangingPunct="1">
              <a:lnSpc>
                <a:spcPct val="110000"/>
              </a:lnSpc>
            </a:pPr>
            <a:r>
              <a:rPr lang="zh-CN" altLang="en-US" smtClean="0"/>
              <a:t>优点</a:t>
            </a:r>
          </a:p>
          <a:p>
            <a:pPr lvl="1" eaLnBrk="1" hangingPunct="1">
              <a:lnSpc>
                <a:spcPct val="110000"/>
              </a:lnSpc>
            </a:pPr>
            <a:r>
              <a:rPr lang="zh-CN" altLang="en-US" smtClean="0">
                <a:solidFill>
                  <a:srgbClr val="333399"/>
                </a:solidFill>
                <a:ea typeface="黑体" pitchFamily="49" charset="-122"/>
              </a:rPr>
              <a:t>扩大了局域网覆盖的地理范围。</a:t>
            </a:r>
          </a:p>
          <a:p>
            <a:pPr eaLnBrk="1" hangingPunct="1">
              <a:lnSpc>
                <a:spcPct val="110000"/>
              </a:lnSpc>
            </a:pPr>
            <a:r>
              <a:rPr lang="zh-CN" altLang="en-US" smtClean="0"/>
              <a:t>缺点</a:t>
            </a:r>
          </a:p>
          <a:p>
            <a:pPr lvl="1" eaLnBrk="1" hangingPunct="1">
              <a:lnSpc>
                <a:spcPct val="110000"/>
              </a:lnSpc>
            </a:pPr>
            <a:r>
              <a:rPr lang="zh-CN" altLang="en-US" smtClean="0">
                <a:solidFill>
                  <a:srgbClr val="333399"/>
                </a:solidFill>
                <a:ea typeface="黑体" pitchFamily="49" charset="-122"/>
              </a:rPr>
              <a:t>局域网范围增大，但总的吞吐量并未提高。</a:t>
            </a:r>
          </a:p>
          <a:p>
            <a:pPr lvl="1" eaLnBrk="1" hangingPunct="1">
              <a:lnSpc>
                <a:spcPct val="110000"/>
              </a:lnSpc>
            </a:pPr>
            <a:r>
              <a:rPr lang="zh-CN" altLang="en-US" smtClean="0">
                <a:solidFill>
                  <a:srgbClr val="333399"/>
                </a:solidFill>
                <a:ea typeface="黑体" pitchFamily="49" charset="-122"/>
              </a:rPr>
              <a:t>如果不同的碰撞域使用不同的数据率，那么就不能用集线器将它们互连起来。</a:t>
            </a:r>
            <a:r>
              <a:rPr lang="zh-CN" altLang="en-US" smtClean="0"/>
              <a:t>   </a:t>
            </a:r>
          </a:p>
        </p:txBody>
      </p:sp>
      <p:sp>
        <p:nvSpPr>
          <p:cNvPr id="92163" name="Rectangle 3"/>
          <p:cNvSpPr>
            <a:spLocks noGrp="1" noChangeArrowheads="1"/>
          </p:cNvSpPr>
          <p:nvPr>
            <p:ph type="title"/>
          </p:nvPr>
        </p:nvSpPr>
        <p:spPr/>
        <p:txBody>
          <a:bodyPr/>
          <a:lstStyle/>
          <a:p>
            <a:pPr algn="ctr" eaLnBrk="1" hangingPunct="1"/>
            <a:r>
              <a:rPr lang="zh-CN" altLang="en-US" smtClean="0"/>
              <a:t>用集线器扩展局域网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670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670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670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body" idx="1"/>
          </p:nvPr>
        </p:nvSpPr>
        <p:spPr>
          <a:xfrm>
            <a:off x="1042988" y="2051050"/>
            <a:ext cx="7850187" cy="4257675"/>
          </a:xfrm>
        </p:spPr>
        <p:txBody>
          <a:bodyPr/>
          <a:lstStyle/>
          <a:p>
            <a:pPr eaLnBrk="1" hangingPunct="1"/>
            <a:r>
              <a:rPr lang="zh-CN" altLang="en-US" sz="2800" smtClean="0"/>
              <a:t>在数据链路层扩展局域网是使用</a:t>
            </a:r>
            <a:r>
              <a:rPr lang="zh-CN" altLang="en-US" sz="2800" smtClean="0">
                <a:solidFill>
                  <a:schemeClr val="hlink"/>
                </a:solidFill>
              </a:rPr>
              <a:t>网桥</a:t>
            </a:r>
            <a:r>
              <a:rPr lang="zh-CN" altLang="en-US" sz="2800" smtClean="0"/>
              <a:t>。</a:t>
            </a:r>
          </a:p>
          <a:p>
            <a:pPr eaLnBrk="1" hangingPunct="1"/>
            <a:r>
              <a:rPr lang="zh-CN" altLang="en-US" sz="2800" smtClean="0"/>
              <a:t>网桥工作在数据链路层，它根据 </a:t>
            </a:r>
            <a:r>
              <a:rPr lang="en-US" altLang="zh-CN" sz="2800" smtClean="0"/>
              <a:t>MAC </a:t>
            </a:r>
            <a:r>
              <a:rPr lang="zh-CN" altLang="en-US" sz="2800" smtClean="0"/>
              <a:t>帧的目的地址对收到的帧进行转发。</a:t>
            </a:r>
          </a:p>
          <a:p>
            <a:pPr eaLnBrk="1" hangingPunct="1"/>
            <a:r>
              <a:rPr lang="zh-CN" altLang="en-US" sz="2800" smtClean="0"/>
              <a:t>网桥具有过滤帧的功能。当网桥收到一个帧时，并不是向所有的接口转发此帧，而是先检查此帧的目的 </a:t>
            </a:r>
            <a:r>
              <a:rPr lang="en-US" altLang="zh-CN" sz="2800" smtClean="0"/>
              <a:t>MAC </a:t>
            </a:r>
            <a:r>
              <a:rPr lang="zh-CN" altLang="en-US" sz="2800" smtClean="0"/>
              <a:t>地址，然后再确定将该帧转发到哪一个接口 </a:t>
            </a:r>
          </a:p>
        </p:txBody>
      </p:sp>
      <p:sp>
        <p:nvSpPr>
          <p:cNvPr id="93187" name="Rectangle 3"/>
          <p:cNvSpPr>
            <a:spLocks noGrp="1" noChangeArrowheads="1"/>
          </p:cNvSpPr>
          <p:nvPr>
            <p:ph type="title"/>
          </p:nvPr>
        </p:nvSpPr>
        <p:spPr>
          <a:xfrm>
            <a:off x="919163" y="214313"/>
            <a:ext cx="8116887" cy="1462087"/>
          </a:xfrm>
        </p:spPr>
        <p:txBody>
          <a:bodyPr/>
          <a:lstStyle/>
          <a:p>
            <a:pPr algn="ctr" eaLnBrk="1" hangingPunct="1"/>
            <a:r>
              <a:rPr lang="en-US" altLang="zh-CN" smtClean="0"/>
              <a:t>3.5.2  </a:t>
            </a:r>
            <a:r>
              <a:rPr lang="zh-CN" altLang="en-US" smtClean="0"/>
              <a:t>在数据链路层扩展局域网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773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773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Freeform 82"/>
          <p:cNvSpPr>
            <a:spLocks/>
          </p:cNvSpPr>
          <p:nvPr/>
        </p:nvSpPr>
        <p:spPr bwMode="auto">
          <a:xfrm>
            <a:off x="2895600" y="1190625"/>
            <a:ext cx="1400175" cy="3667125"/>
          </a:xfrm>
          <a:custGeom>
            <a:avLst/>
            <a:gdLst>
              <a:gd name="T0" fmla="*/ 0 w 882"/>
              <a:gd name="T1" fmla="*/ 2147483647 h 2310"/>
              <a:gd name="T2" fmla="*/ 0 w 882"/>
              <a:gd name="T3" fmla="*/ 2147483647 h 2310"/>
              <a:gd name="T4" fmla="*/ 2147483647 w 882"/>
              <a:gd name="T5" fmla="*/ 0 h 2310"/>
              <a:gd name="T6" fmla="*/ 2147483647 w 882"/>
              <a:gd name="T7" fmla="*/ 2147483647 h 2310"/>
              <a:gd name="T8" fmla="*/ 0 w 882"/>
              <a:gd name="T9" fmla="*/ 2147483647 h 23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2310">
                <a:moveTo>
                  <a:pt x="0" y="2310"/>
                </a:moveTo>
                <a:lnTo>
                  <a:pt x="0" y="1896"/>
                </a:lnTo>
                <a:lnTo>
                  <a:pt x="882" y="0"/>
                </a:lnTo>
                <a:lnTo>
                  <a:pt x="882" y="2034"/>
                </a:lnTo>
                <a:lnTo>
                  <a:pt x="0" y="2310"/>
                </a:lnTo>
                <a:close/>
              </a:path>
            </a:pathLst>
          </a:custGeom>
          <a:gradFill rotWithShape="1">
            <a:gsLst>
              <a:gs pos="0">
                <a:srgbClr val="BABA95"/>
              </a:gs>
              <a:gs pos="100000">
                <a:srgbClr val="FFFFCC"/>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4211"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4212" name="Rectangle 3"/>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4213"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4214" name="Rectangle 5"/>
          <p:cNvSpPr>
            <a:spLocks noGrp="1" noChangeArrowheads="1"/>
          </p:cNvSpPr>
          <p:nvPr>
            <p:ph type="title"/>
          </p:nvPr>
        </p:nvSpPr>
        <p:spPr>
          <a:xfrm>
            <a:off x="919163" y="188913"/>
            <a:ext cx="8116887" cy="911225"/>
          </a:xfrm>
        </p:spPr>
        <p:txBody>
          <a:bodyPr/>
          <a:lstStyle/>
          <a:p>
            <a:pPr algn="ctr" eaLnBrk="1" hangingPunct="1"/>
            <a:r>
              <a:rPr lang="en-US" altLang="zh-CN" smtClean="0"/>
              <a:t>1. </a:t>
            </a:r>
            <a:r>
              <a:rPr lang="zh-CN" altLang="en-US" smtClean="0"/>
              <a:t>网桥的内部结构 </a:t>
            </a:r>
          </a:p>
        </p:txBody>
      </p:sp>
      <p:sp>
        <p:nvSpPr>
          <p:cNvPr id="94215" name="Line 6"/>
          <p:cNvSpPr>
            <a:spLocks noChangeShapeType="1"/>
          </p:cNvSpPr>
          <p:nvPr/>
        </p:nvSpPr>
        <p:spPr bwMode="auto">
          <a:xfrm flipH="1">
            <a:off x="2713038" y="4926013"/>
            <a:ext cx="0" cy="3730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16" name="Line 7"/>
          <p:cNvSpPr>
            <a:spLocks noChangeShapeType="1"/>
          </p:cNvSpPr>
          <p:nvPr/>
        </p:nvSpPr>
        <p:spPr bwMode="auto">
          <a:xfrm flipH="1">
            <a:off x="1797050" y="4945063"/>
            <a:ext cx="0" cy="3857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17" name="Rectangle 8"/>
          <p:cNvSpPr>
            <a:spLocks noChangeArrowheads="1"/>
          </p:cNvSpPr>
          <p:nvPr/>
        </p:nvSpPr>
        <p:spPr bwMode="auto">
          <a:xfrm>
            <a:off x="4318000" y="1204913"/>
            <a:ext cx="4575175" cy="3208337"/>
          </a:xfrm>
          <a:prstGeom prst="rect">
            <a:avLst/>
          </a:prstGeom>
          <a:solidFill>
            <a:srgbClr val="FFFFCC"/>
          </a:solidFill>
          <a:ln w="9525">
            <a:solidFill>
              <a:schemeClr val="tx2"/>
            </a:solidFill>
            <a:miter lim="800000"/>
            <a:headEnd/>
            <a:tailEnd/>
          </a:ln>
          <a:effectLst>
            <a:outerShdw dist="28398" dir="3806097" algn="ctr" rotWithShape="0">
              <a:schemeClr val="tx1"/>
            </a:outerShdw>
          </a:effectLst>
        </p:spPr>
        <p:txBody>
          <a:bodyPr wrap="none" anchor="ctr"/>
          <a:lstStyle/>
          <a:p>
            <a:pPr algn="ctr" defTabSz="762000" eaLnBrk="0" hangingPunct="0"/>
            <a:endParaRPr lang="zh-CN" altLang="zh-CN" sz="1800">
              <a:solidFill>
                <a:srgbClr val="333399"/>
              </a:solidFill>
              <a:latin typeface="Arial" pitchFamily="34" charset="0"/>
              <a:ea typeface="黑体" pitchFamily="49" charset="-122"/>
            </a:endParaRPr>
          </a:p>
        </p:txBody>
      </p:sp>
      <p:sp>
        <p:nvSpPr>
          <p:cNvPr id="94218" name="Rectangle 9"/>
          <p:cNvSpPr>
            <a:spLocks noChangeArrowheads="1"/>
          </p:cNvSpPr>
          <p:nvPr/>
        </p:nvSpPr>
        <p:spPr bwMode="auto">
          <a:xfrm>
            <a:off x="6076950" y="1595438"/>
            <a:ext cx="712788" cy="522287"/>
          </a:xfrm>
          <a:prstGeom prst="rect">
            <a:avLst/>
          </a:prstGeom>
          <a:solidFill>
            <a:srgbClr val="FFCCFF"/>
          </a:solidFill>
          <a:ln w="9525">
            <a:solidFill>
              <a:schemeClr val="tx2"/>
            </a:solidFill>
            <a:miter lim="800000"/>
            <a:headEnd/>
            <a:tailEnd/>
          </a:ln>
          <a:effectLst>
            <a:outerShdw dist="35921" dir="2700000" algn="ctr" rotWithShape="0">
              <a:schemeClr val="tx1"/>
            </a:outerShdw>
          </a:effectLst>
        </p:spPr>
        <p:txBody>
          <a:bodyPr wrap="none" anchor="ctr"/>
          <a:lstStyle/>
          <a:p>
            <a:endParaRPr lang="zh-CN" altLang="en-US"/>
          </a:p>
        </p:txBody>
      </p:sp>
      <p:sp>
        <p:nvSpPr>
          <p:cNvPr id="94219" name="Rectangle 10"/>
          <p:cNvSpPr>
            <a:spLocks noChangeArrowheads="1"/>
          </p:cNvSpPr>
          <p:nvPr/>
        </p:nvSpPr>
        <p:spPr bwMode="auto">
          <a:xfrm>
            <a:off x="6113463" y="1652588"/>
            <a:ext cx="6381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站表</a:t>
            </a:r>
          </a:p>
        </p:txBody>
      </p:sp>
      <p:sp>
        <p:nvSpPr>
          <p:cNvPr id="94220" name="Line 11"/>
          <p:cNvSpPr>
            <a:spLocks noChangeShapeType="1"/>
          </p:cNvSpPr>
          <p:nvPr/>
        </p:nvSpPr>
        <p:spPr bwMode="auto">
          <a:xfrm flipV="1">
            <a:off x="6770688" y="1385888"/>
            <a:ext cx="693737" cy="23336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1" name="Line 12"/>
          <p:cNvSpPr>
            <a:spLocks noChangeShapeType="1"/>
          </p:cNvSpPr>
          <p:nvPr/>
        </p:nvSpPr>
        <p:spPr bwMode="auto">
          <a:xfrm>
            <a:off x="6791325" y="2105025"/>
            <a:ext cx="682625" cy="150336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2" name="Rectangle 13"/>
          <p:cNvSpPr>
            <a:spLocks noChangeArrowheads="1"/>
          </p:cNvSpPr>
          <p:nvPr/>
        </p:nvSpPr>
        <p:spPr bwMode="auto">
          <a:xfrm>
            <a:off x="4497388" y="2667000"/>
            <a:ext cx="2411412" cy="712788"/>
          </a:xfrm>
          <a:prstGeom prst="rect">
            <a:avLst/>
          </a:prstGeom>
          <a:solidFill>
            <a:schemeClr val="bg1"/>
          </a:solidFill>
          <a:ln w="9525">
            <a:solidFill>
              <a:schemeClr val="tx2"/>
            </a:solidFill>
            <a:miter lim="800000"/>
            <a:headEnd/>
            <a:tailEnd/>
          </a:ln>
          <a:effectLst>
            <a:outerShdw dist="35921" dir="2700000" algn="ctr" rotWithShape="0">
              <a:schemeClr val="tx1"/>
            </a:outerShdw>
          </a:effectLst>
        </p:spPr>
        <p:txBody>
          <a:bodyPr wrap="none" anchor="ctr"/>
          <a:lstStyle/>
          <a:p>
            <a:endParaRPr lang="zh-CN" altLang="en-US"/>
          </a:p>
        </p:txBody>
      </p:sp>
      <p:sp>
        <p:nvSpPr>
          <p:cNvPr id="94223" name="Rectangle 14"/>
          <p:cNvSpPr>
            <a:spLocks noChangeArrowheads="1"/>
          </p:cNvSpPr>
          <p:nvPr/>
        </p:nvSpPr>
        <p:spPr bwMode="auto">
          <a:xfrm>
            <a:off x="4468813" y="2720975"/>
            <a:ext cx="10953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接口管理</a:t>
            </a:r>
          </a:p>
          <a:p>
            <a:pPr defTabSz="762000" eaLnBrk="0" hangingPunct="0"/>
            <a:r>
              <a:rPr kumimoji="1" lang="zh-CN" altLang="en-US" sz="1800">
                <a:solidFill>
                  <a:srgbClr val="333399"/>
                </a:solidFill>
                <a:latin typeface="Arial" pitchFamily="34" charset="0"/>
                <a:ea typeface="黑体" pitchFamily="49" charset="-122"/>
              </a:rPr>
              <a:t>    软件</a:t>
            </a:r>
          </a:p>
        </p:txBody>
      </p:sp>
      <p:sp>
        <p:nvSpPr>
          <p:cNvPr id="94224" name="Rectangle 15"/>
          <p:cNvSpPr>
            <a:spLocks noChangeArrowheads="1"/>
          </p:cNvSpPr>
          <p:nvPr/>
        </p:nvSpPr>
        <p:spPr bwMode="auto">
          <a:xfrm>
            <a:off x="5895975" y="2716213"/>
            <a:ext cx="10953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网桥协议</a:t>
            </a:r>
          </a:p>
          <a:p>
            <a:pPr defTabSz="762000" eaLnBrk="0" hangingPunct="0"/>
            <a:r>
              <a:rPr kumimoji="1" lang="zh-CN" altLang="en-US" sz="1800">
                <a:solidFill>
                  <a:srgbClr val="333399"/>
                </a:solidFill>
                <a:latin typeface="Arial" pitchFamily="34" charset="0"/>
                <a:ea typeface="黑体" pitchFamily="49" charset="-122"/>
              </a:rPr>
              <a:t>    实体</a:t>
            </a:r>
          </a:p>
        </p:txBody>
      </p:sp>
      <p:sp>
        <p:nvSpPr>
          <p:cNvPr id="94225" name="Line 16"/>
          <p:cNvSpPr>
            <a:spLocks noChangeShapeType="1"/>
          </p:cNvSpPr>
          <p:nvPr/>
        </p:nvSpPr>
        <p:spPr bwMode="auto">
          <a:xfrm>
            <a:off x="5514975" y="2851150"/>
            <a:ext cx="488950" cy="0"/>
          </a:xfrm>
          <a:prstGeom prst="line">
            <a:avLst/>
          </a:prstGeom>
          <a:noFill/>
          <a:ln w="28575">
            <a:solidFill>
              <a:srgbClr val="333399"/>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6" name="Line 17"/>
          <p:cNvSpPr>
            <a:spLocks noChangeShapeType="1"/>
          </p:cNvSpPr>
          <p:nvPr/>
        </p:nvSpPr>
        <p:spPr bwMode="auto">
          <a:xfrm flipH="1">
            <a:off x="5476875" y="3028950"/>
            <a:ext cx="484188" cy="0"/>
          </a:xfrm>
          <a:prstGeom prst="line">
            <a:avLst/>
          </a:prstGeom>
          <a:noFill/>
          <a:ln w="28575">
            <a:solidFill>
              <a:srgbClr val="333399"/>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7" name="Line 18"/>
          <p:cNvSpPr>
            <a:spLocks noChangeShapeType="1"/>
          </p:cNvSpPr>
          <p:nvPr/>
        </p:nvSpPr>
        <p:spPr bwMode="auto">
          <a:xfrm>
            <a:off x="5778500" y="2651125"/>
            <a:ext cx="0" cy="728663"/>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8" name="Line 19"/>
          <p:cNvSpPr>
            <a:spLocks noChangeShapeType="1"/>
          </p:cNvSpPr>
          <p:nvPr/>
        </p:nvSpPr>
        <p:spPr bwMode="auto">
          <a:xfrm>
            <a:off x="6399213" y="2125663"/>
            <a:ext cx="0" cy="546100"/>
          </a:xfrm>
          <a:prstGeom prst="line">
            <a:avLst/>
          </a:prstGeom>
          <a:noFill/>
          <a:ln w="28575">
            <a:solidFill>
              <a:srgbClr val="333399"/>
            </a:solidFill>
            <a:round/>
            <a:headEnd type="triangl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9" name="Rectangle 20"/>
          <p:cNvSpPr>
            <a:spLocks noChangeArrowheads="1"/>
          </p:cNvSpPr>
          <p:nvPr/>
        </p:nvSpPr>
        <p:spPr bwMode="auto">
          <a:xfrm>
            <a:off x="6003925" y="3767138"/>
            <a:ext cx="725488" cy="407987"/>
          </a:xfrm>
          <a:prstGeom prst="rect">
            <a:avLst/>
          </a:prstGeom>
          <a:solidFill>
            <a:schemeClr val="bg1"/>
          </a:solidFill>
          <a:ln w="12700">
            <a:solidFill>
              <a:schemeClr val="tx1"/>
            </a:solidFill>
            <a:miter lim="800000"/>
            <a:headEnd/>
            <a:tailEnd/>
          </a:ln>
          <a:effectLst>
            <a:outerShdw dist="35921" dir="2700000" algn="ctr" rotWithShape="0">
              <a:schemeClr val="tx1"/>
            </a:outerShdw>
          </a:effectLst>
        </p:spPr>
        <p:txBody>
          <a:bodyPr wrap="none" anchor="ctr"/>
          <a:lstStyle/>
          <a:p>
            <a:pPr algn="ctr"/>
            <a:r>
              <a:rPr lang="zh-CN" altLang="en-US">
                <a:solidFill>
                  <a:schemeClr val="tx2"/>
                </a:solidFill>
                <a:ea typeface="黑体" pitchFamily="49" charset="-122"/>
              </a:rPr>
              <a:t>缓存</a:t>
            </a:r>
          </a:p>
        </p:txBody>
      </p:sp>
      <p:sp>
        <p:nvSpPr>
          <p:cNvPr id="94230" name="Rectangle 21"/>
          <p:cNvSpPr>
            <a:spLocks noChangeArrowheads="1"/>
          </p:cNvSpPr>
          <p:nvPr/>
        </p:nvSpPr>
        <p:spPr bwMode="auto">
          <a:xfrm>
            <a:off x="4414838" y="3767138"/>
            <a:ext cx="836612" cy="401637"/>
          </a:xfrm>
          <a:prstGeom prst="rect">
            <a:avLst/>
          </a:prstGeom>
          <a:solidFill>
            <a:schemeClr val="bg1"/>
          </a:solidFill>
          <a:ln w="9525">
            <a:solidFill>
              <a:schemeClr val="tx2"/>
            </a:solidFill>
            <a:miter lim="800000"/>
            <a:headEnd/>
            <a:tailEnd/>
          </a:ln>
          <a:effectLst>
            <a:outerShdw dist="35921" dir="2700000" algn="ctr" rotWithShape="0">
              <a:schemeClr val="tx1"/>
            </a:outerShdw>
          </a:effectLst>
        </p:spPr>
        <p:txBody>
          <a:bodyPr wrap="none" anchor="ctr"/>
          <a:lstStyle/>
          <a:p>
            <a:pPr algn="ctr" defTabSz="762000" eaLnBrk="0" hangingPunct="0"/>
            <a:r>
              <a:rPr kumimoji="1" lang="zh-CN" altLang="en-US" sz="1800">
                <a:solidFill>
                  <a:srgbClr val="333399"/>
                </a:solidFill>
                <a:latin typeface="Arial" pitchFamily="34" charset="0"/>
                <a:ea typeface="黑体" pitchFamily="49" charset="-122"/>
              </a:rPr>
              <a:t>接口 </a:t>
            </a:r>
            <a:r>
              <a:rPr kumimoji="1" lang="en-US" altLang="zh-CN" sz="1800">
                <a:solidFill>
                  <a:srgbClr val="333399"/>
                </a:solidFill>
                <a:latin typeface="Arial" pitchFamily="34" charset="0"/>
                <a:ea typeface="黑体" pitchFamily="49" charset="-122"/>
              </a:rPr>
              <a:t>1</a:t>
            </a:r>
          </a:p>
        </p:txBody>
      </p:sp>
      <p:sp>
        <p:nvSpPr>
          <p:cNvPr id="94231" name="Rectangle 22"/>
          <p:cNvSpPr>
            <a:spLocks noChangeArrowheads="1"/>
          </p:cNvSpPr>
          <p:nvPr/>
        </p:nvSpPr>
        <p:spPr bwMode="auto">
          <a:xfrm>
            <a:off x="7483475" y="3767138"/>
            <a:ext cx="835025" cy="401637"/>
          </a:xfrm>
          <a:prstGeom prst="rect">
            <a:avLst/>
          </a:prstGeom>
          <a:solidFill>
            <a:schemeClr val="bg1"/>
          </a:solidFill>
          <a:ln w="9525">
            <a:solidFill>
              <a:schemeClr val="tx2"/>
            </a:solidFill>
            <a:miter lim="800000"/>
            <a:headEnd/>
            <a:tailEnd/>
          </a:ln>
          <a:effectLst>
            <a:outerShdw dist="35921" dir="2700000" algn="ctr" rotWithShape="0">
              <a:schemeClr val="tx1"/>
            </a:outerShdw>
          </a:effectLst>
        </p:spPr>
        <p:txBody>
          <a:bodyPr wrap="none" anchor="ctr"/>
          <a:lstStyle/>
          <a:p>
            <a:pPr algn="ctr" defTabSz="762000" eaLnBrk="0" hangingPunct="0"/>
            <a:r>
              <a:rPr kumimoji="1" lang="zh-CN" altLang="en-US" sz="1800">
                <a:solidFill>
                  <a:srgbClr val="333399"/>
                </a:solidFill>
                <a:latin typeface="Arial" pitchFamily="34" charset="0"/>
                <a:ea typeface="黑体" pitchFamily="49" charset="-122"/>
              </a:rPr>
              <a:t>接口 </a:t>
            </a:r>
            <a:r>
              <a:rPr kumimoji="1" lang="en-US" altLang="zh-CN" sz="1800">
                <a:solidFill>
                  <a:srgbClr val="333399"/>
                </a:solidFill>
                <a:latin typeface="Arial" pitchFamily="34" charset="0"/>
                <a:ea typeface="黑体" pitchFamily="49" charset="-122"/>
              </a:rPr>
              <a:t>2</a:t>
            </a:r>
          </a:p>
        </p:txBody>
      </p:sp>
      <p:sp>
        <p:nvSpPr>
          <p:cNvPr id="94232" name="Line 23"/>
          <p:cNvSpPr>
            <a:spLocks noChangeShapeType="1"/>
          </p:cNvSpPr>
          <p:nvPr/>
        </p:nvSpPr>
        <p:spPr bwMode="auto">
          <a:xfrm>
            <a:off x="6372225" y="3367088"/>
            <a:ext cx="0" cy="412750"/>
          </a:xfrm>
          <a:prstGeom prst="line">
            <a:avLst/>
          </a:prstGeom>
          <a:noFill/>
          <a:ln w="28575">
            <a:solidFill>
              <a:srgbClr val="333399"/>
            </a:solidFill>
            <a:round/>
            <a:headEnd type="triangl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3" name="Line 25"/>
          <p:cNvSpPr>
            <a:spLocks noChangeShapeType="1"/>
          </p:cNvSpPr>
          <p:nvPr/>
        </p:nvSpPr>
        <p:spPr bwMode="auto">
          <a:xfrm>
            <a:off x="4824413" y="4175125"/>
            <a:ext cx="0" cy="706438"/>
          </a:xfrm>
          <a:prstGeom prst="line">
            <a:avLst/>
          </a:prstGeom>
          <a:noFill/>
          <a:ln w="28575">
            <a:solidFill>
              <a:srgbClr val="333399"/>
            </a:solidFill>
            <a:round/>
            <a:headEnd type="triangl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4" name="Line 26"/>
          <p:cNvSpPr>
            <a:spLocks noChangeShapeType="1"/>
          </p:cNvSpPr>
          <p:nvPr/>
        </p:nvSpPr>
        <p:spPr bwMode="auto">
          <a:xfrm>
            <a:off x="7964488" y="4175125"/>
            <a:ext cx="0" cy="687388"/>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5" name="Line 27"/>
          <p:cNvSpPr>
            <a:spLocks noChangeShapeType="1"/>
          </p:cNvSpPr>
          <p:nvPr/>
        </p:nvSpPr>
        <p:spPr bwMode="auto">
          <a:xfrm>
            <a:off x="1103313" y="5326063"/>
            <a:ext cx="0" cy="5302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6" name="Line 28"/>
          <p:cNvSpPr>
            <a:spLocks noChangeShapeType="1"/>
          </p:cNvSpPr>
          <p:nvPr/>
        </p:nvSpPr>
        <p:spPr bwMode="auto">
          <a:xfrm>
            <a:off x="1687513" y="5326063"/>
            <a:ext cx="0" cy="5302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7" name="Rectangle 29"/>
          <p:cNvSpPr>
            <a:spLocks noChangeArrowheads="1"/>
          </p:cNvSpPr>
          <p:nvPr/>
        </p:nvSpPr>
        <p:spPr bwMode="auto">
          <a:xfrm>
            <a:off x="46038" y="5278438"/>
            <a:ext cx="104775" cy="109537"/>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8" name="Line 30"/>
          <p:cNvSpPr>
            <a:spLocks noChangeShapeType="1"/>
          </p:cNvSpPr>
          <p:nvPr/>
        </p:nvSpPr>
        <p:spPr bwMode="auto">
          <a:xfrm flipV="1">
            <a:off x="93663" y="5332413"/>
            <a:ext cx="1835150" cy="3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9" name="Rectangle 31"/>
          <p:cNvSpPr>
            <a:spLocks noChangeArrowheads="1"/>
          </p:cNvSpPr>
          <p:nvPr/>
        </p:nvSpPr>
        <p:spPr bwMode="auto">
          <a:xfrm>
            <a:off x="1884363" y="5260975"/>
            <a:ext cx="104775" cy="111125"/>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40" name="Line 32"/>
          <p:cNvSpPr>
            <a:spLocks noChangeShapeType="1"/>
          </p:cNvSpPr>
          <p:nvPr/>
        </p:nvSpPr>
        <p:spPr bwMode="auto">
          <a:xfrm>
            <a:off x="469900" y="5335588"/>
            <a:ext cx="0" cy="511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41" name="Rectangle 33"/>
          <p:cNvSpPr>
            <a:spLocks noChangeArrowheads="1"/>
          </p:cNvSpPr>
          <p:nvPr/>
        </p:nvSpPr>
        <p:spPr bwMode="auto">
          <a:xfrm>
            <a:off x="76200" y="5480050"/>
            <a:ext cx="409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①</a:t>
            </a:r>
          </a:p>
        </p:txBody>
      </p:sp>
      <p:sp>
        <p:nvSpPr>
          <p:cNvPr id="94242" name="Rectangle 34"/>
          <p:cNvSpPr>
            <a:spLocks noChangeArrowheads="1"/>
          </p:cNvSpPr>
          <p:nvPr/>
        </p:nvSpPr>
        <p:spPr bwMode="auto">
          <a:xfrm>
            <a:off x="679450" y="5480050"/>
            <a:ext cx="409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②</a:t>
            </a:r>
          </a:p>
        </p:txBody>
      </p:sp>
      <p:sp>
        <p:nvSpPr>
          <p:cNvPr id="94243" name="Rectangle 35"/>
          <p:cNvSpPr>
            <a:spLocks noChangeArrowheads="1"/>
          </p:cNvSpPr>
          <p:nvPr/>
        </p:nvSpPr>
        <p:spPr bwMode="auto">
          <a:xfrm>
            <a:off x="1281113" y="5480050"/>
            <a:ext cx="409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③</a:t>
            </a:r>
          </a:p>
        </p:txBody>
      </p:sp>
      <p:sp>
        <p:nvSpPr>
          <p:cNvPr id="94244" name="Rectangle 36"/>
          <p:cNvSpPr>
            <a:spLocks noChangeArrowheads="1"/>
          </p:cNvSpPr>
          <p:nvPr/>
        </p:nvSpPr>
        <p:spPr bwMode="auto">
          <a:xfrm>
            <a:off x="3081338" y="4946650"/>
            <a:ext cx="8540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网段 </a:t>
            </a:r>
            <a:r>
              <a:rPr kumimoji="1" lang="en-US" altLang="zh-CN" sz="1800">
                <a:solidFill>
                  <a:srgbClr val="333399"/>
                </a:solidFill>
                <a:latin typeface="Arial" pitchFamily="34" charset="0"/>
                <a:ea typeface="黑体" pitchFamily="49" charset="-122"/>
              </a:rPr>
              <a:t>B</a:t>
            </a:r>
          </a:p>
        </p:txBody>
      </p:sp>
      <p:sp>
        <p:nvSpPr>
          <p:cNvPr id="94245" name="Rectangle 37"/>
          <p:cNvSpPr>
            <a:spLocks noChangeArrowheads="1"/>
          </p:cNvSpPr>
          <p:nvPr/>
        </p:nvSpPr>
        <p:spPr bwMode="auto">
          <a:xfrm>
            <a:off x="581025" y="4946650"/>
            <a:ext cx="8540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网段 </a:t>
            </a:r>
            <a:r>
              <a:rPr kumimoji="1" lang="en-US" altLang="zh-CN" sz="1800">
                <a:solidFill>
                  <a:srgbClr val="333399"/>
                </a:solidFill>
                <a:latin typeface="Arial" pitchFamily="34" charset="0"/>
                <a:ea typeface="黑体" pitchFamily="49" charset="-122"/>
              </a:rPr>
              <a:t>A</a:t>
            </a:r>
          </a:p>
        </p:txBody>
      </p:sp>
      <p:sp>
        <p:nvSpPr>
          <p:cNvPr id="94246" name="Rectangle 38"/>
          <p:cNvSpPr>
            <a:spLocks noChangeArrowheads="1"/>
          </p:cNvSpPr>
          <p:nvPr/>
        </p:nvSpPr>
        <p:spPr bwMode="auto">
          <a:xfrm>
            <a:off x="7464425" y="1371600"/>
            <a:ext cx="1314450" cy="2227263"/>
          </a:xfrm>
          <a:prstGeom prst="rect">
            <a:avLst/>
          </a:prstGeom>
          <a:solidFill>
            <a:srgbClr val="FFCCFF"/>
          </a:solidFill>
          <a:ln w="9525">
            <a:solidFill>
              <a:schemeClr val="tx2"/>
            </a:solidFill>
            <a:miter lim="800000"/>
            <a:headEnd/>
            <a:tailEnd/>
          </a:ln>
          <a:effectLst>
            <a:outerShdw dist="35921" dir="2700000" algn="ctr" rotWithShape="0">
              <a:schemeClr val="tx1"/>
            </a:outerShdw>
          </a:effectLst>
        </p:spPr>
        <p:txBody>
          <a:bodyPr wrap="none" anchor="ctr"/>
          <a:lstStyle/>
          <a:p>
            <a:endParaRPr lang="zh-CN" altLang="en-US"/>
          </a:p>
        </p:txBody>
      </p:sp>
      <p:sp>
        <p:nvSpPr>
          <p:cNvPr id="94247" name="Rectangle 39"/>
          <p:cNvSpPr>
            <a:spLocks noChangeArrowheads="1"/>
          </p:cNvSpPr>
          <p:nvPr/>
        </p:nvSpPr>
        <p:spPr bwMode="auto">
          <a:xfrm>
            <a:off x="8340725" y="1663700"/>
            <a:ext cx="33020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1</a:t>
            </a:r>
          </a:p>
        </p:txBody>
      </p:sp>
      <p:sp>
        <p:nvSpPr>
          <p:cNvPr id="94248" name="Rectangle 40"/>
          <p:cNvSpPr>
            <a:spLocks noChangeArrowheads="1"/>
          </p:cNvSpPr>
          <p:nvPr/>
        </p:nvSpPr>
        <p:spPr bwMode="auto">
          <a:xfrm>
            <a:off x="8340725" y="1990725"/>
            <a:ext cx="3079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1</a:t>
            </a:r>
          </a:p>
        </p:txBody>
      </p:sp>
      <p:sp>
        <p:nvSpPr>
          <p:cNvPr id="94249" name="Rectangle 41"/>
          <p:cNvSpPr>
            <a:spLocks noChangeArrowheads="1"/>
          </p:cNvSpPr>
          <p:nvPr/>
        </p:nvSpPr>
        <p:spPr bwMode="auto">
          <a:xfrm>
            <a:off x="8340725" y="2325688"/>
            <a:ext cx="3302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1</a:t>
            </a:r>
          </a:p>
        </p:txBody>
      </p:sp>
      <p:sp>
        <p:nvSpPr>
          <p:cNvPr id="94250" name="Rectangle 42"/>
          <p:cNvSpPr>
            <a:spLocks noChangeArrowheads="1"/>
          </p:cNvSpPr>
          <p:nvPr/>
        </p:nvSpPr>
        <p:spPr bwMode="auto">
          <a:xfrm>
            <a:off x="8340725" y="2627313"/>
            <a:ext cx="307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2</a:t>
            </a:r>
          </a:p>
        </p:txBody>
      </p:sp>
      <p:sp>
        <p:nvSpPr>
          <p:cNvPr id="94251" name="Rectangle 43"/>
          <p:cNvSpPr>
            <a:spLocks noChangeArrowheads="1"/>
          </p:cNvSpPr>
          <p:nvPr/>
        </p:nvSpPr>
        <p:spPr bwMode="auto">
          <a:xfrm>
            <a:off x="7664450" y="1666875"/>
            <a:ext cx="409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①</a:t>
            </a:r>
          </a:p>
        </p:txBody>
      </p:sp>
      <p:sp>
        <p:nvSpPr>
          <p:cNvPr id="94252" name="Rectangle 44"/>
          <p:cNvSpPr>
            <a:spLocks noChangeArrowheads="1"/>
          </p:cNvSpPr>
          <p:nvPr/>
        </p:nvSpPr>
        <p:spPr bwMode="auto">
          <a:xfrm>
            <a:off x="7664450" y="2309813"/>
            <a:ext cx="4095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③</a:t>
            </a:r>
          </a:p>
        </p:txBody>
      </p:sp>
      <p:sp>
        <p:nvSpPr>
          <p:cNvPr id="94253" name="Rectangle 45"/>
          <p:cNvSpPr>
            <a:spLocks noChangeArrowheads="1"/>
          </p:cNvSpPr>
          <p:nvPr/>
        </p:nvSpPr>
        <p:spPr bwMode="auto">
          <a:xfrm>
            <a:off x="7664450" y="2938463"/>
            <a:ext cx="4095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⑤</a:t>
            </a:r>
          </a:p>
        </p:txBody>
      </p:sp>
      <p:sp>
        <p:nvSpPr>
          <p:cNvPr id="94254" name="Rectangle 46"/>
          <p:cNvSpPr>
            <a:spLocks noChangeArrowheads="1"/>
          </p:cNvSpPr>
          <p:nvPr/>
        </p:nvSpPr>
        <p:spPr bwMode="auto">
          <a:xfrm>
            <a:off x="8340725" y="2927350"/>
            <a:ext cx="33020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2</a:t>
            </a:r>
          </a:p>
        </p:txBody>
      </p:sp>
      <p:sp>
        <p:nvSpPr>
          <p:cNvPr id="94255" name="Rectangle 47"/>
          <p:cNvSpPr>
            <a:spLocks noChangeArrowheads="1"/>
          </p:cNvSpPr>
          <p:nvPr/>
        </p:nvSpPr>
        <p:spPr bwMode="auto">
          <a:xfrm>
            <a:off x="7664450" y="1987550"/>
            <a:ext cx="409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②</a:t>
            </a:r>
          </a:p>
        </p:txBody>
      </p:sp>
      <p:sp>
        <p:nvSpPr>
          <p:cNvPr id="94256" name="Rectangle 48"/>
          <p:cNvSpPr>
            <a:spLocks noChangeArrowheads="1"/>
          </p:cNvSpPr>
          <p:nvPr/>
        </p:nvSpPr>
        <p:spPr bwMode="auto">
          <a:xfrm>
            <a:off x="7664450" y="2622550"/>
            <a:ext cx="409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④</a:t>
            </a:r>
          </a:p>
        </p:txBody>
      </p:sp>
      <p:sp>
        <p:nvSpPr>
          <p:cNvPr id="94257" name="Rectangle 49"/>
          <p:cNvSpPr>
            <a:spLocks noChangeArrowheads="1"/>
          </p:cNvSpPr>
          <p:nvPr/>
        </p:nvSpPr>
        <p:spPr bwMode="auto">
          <a:xfrm>
            <a:off x="7662863" y="3228975"/>
            <a:ext cx="481012"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⑥</a:t>
            </a:r>
          </a:p>
        </p:txBody>
      </p:sp>
      <p:sp>
        <p:nvSpPr>
          <p:cNvPr id="94258" name="Rectangle 50"/>
          <p:cNvSpPr>
            <a:spLocks noChangeArrowheads="1"/>
          </p:cNvSpPr>
          <p:nvPr/>
        </p:nvSpPr>
        <p:spPr bwMode="auto">
          <a:xfrm>
            <a:off x="8340725" y="3243263"/>
            <a:ext cx="3302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2</a:t>
            </a:r>
          </a:p>
        </p:txBody>
      </p:sp>
      <p:sp>
        <p:nvSpPr>
          <p:cNvPr id="94259" name="Rectangle 51"/>
          <p:cNvSpPr>
            <a:spLocks noChangeArrowheads="1"/>
          </p:cNvSpPr>
          <p:nvPr/>
        </p:nvSpPr>
        <p:spPr bwMode="auto">
          <a:xfrm>
            <a:off x="7435850" y="1343025"/>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站地址</a:t>
            </a:r>
          </a:p>
        </p:txBody>
      </p:sp>
      <p:sp>
        <p:nvSpPr>
          <p:cNvPr id="94260" name="Rectangle 52"/>
          <p:cNvSpPr>
            <a:spLocks noChangeArrowheads="1"/>
          </p:cNvSpPr>
          <p:nvPr/>
        </p:nvSpPr>
        <p:spPr bwMode="auto">
          <a:xfrm>
            <a:off x="8189913" y="1347788"/>
            <a:ext cx="6381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接口</a:t>
            </a:r>
          </a:p>
        </p:txBody>
      </p:sp>
      <p:sp>
        <p:nvSpPr>
          <p:cNvPr id="94261" name="Line 53"/>
          <p:cNvSpPr>
            <a:spLocks noChangeShapeType="1"/>
          </p:cNvSpPr>
          <p:nvPr/>
        </p:nvSpPr>
        <p:spPr bwMode="auto">
          <a:xfrm>
            <a:off x="7464425" y="2005013"/>
            <a:ext cx="13287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2" name="Line 54"/>
          <p:cNvSpPr>
            <a:spLocks noChangeShapeType="1"/>
          </p:cNvSpPr>
          <p:nvPr/>
        </p:nvSpPr>
        <p:spPr bwMode="auto">
          <a:xfrm>
            <a:off x="8228013" y="1371600"/>
            <a:ext cx="0" cy="22177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3" name="Line 55"/>
          <p:cNvSpPr>
            <a:spLocks noChangeShapeType="1"/>
          </p:cNvSpPr>
          <p:nvPr/>
        </p:nvSpPr>
        <p:spPr bwMode="auto">
          <a:xfrm>
            <a:off x="7464425" y="2322513"/>
            <a:ext cx="13382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4" name="Line 56"/>
          <p:cNvSpPr>
            <a:spLocks noChangeShapeType="1"/>
          </p:cNvSpPr>
          <p:nvPr/>
        </p:nvSpPr>
        <p:spPr bwMode="auto">
          <a:xfrm>
            <a:off x="7464425" y="2638425"/>
            <a:ext cx="13477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5" name="Line 57"/>
          <p:cNvSpPr>
            <a:spLocks noChangeShapeType="1"/>
          </p:cNvSpPr>
          <p:nvPr/>
        </p:nvSpPr>
        <p:spPr bwMode="auto">
          <a:xfrm>
            <a:off x="7464425" y="2955925"/>
            <a:ext cx="13287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6" name="Line 58"/>
          <p:cNvSpPr>
            <a:spLocks noChangeShapeType="1"/>
          </p:cNvSpPr>
          <p:nvPr/>
        </p:nvSpPr>
        <p:spPr bwMode="auto">
          <a:xfrm>
            <a:off x="7464425" y="3271838"/>
            <a:ext cx="13096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7" name="Line 59"/>
          <p:cNvSpPr>
            <a:spLocks noChangeShapeType="1"/>
          </p:cNvSpPr>
          <p:nvPr/>
        </p:nvSpPr>
        <p:spPr bwMode="auto">
          <a:xfrm>
            <a:off x="7464425" y="1689100"/>
            <a:ext cx="132873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8" name="Rectangle 60"/>
          <p:cNvSpPr>
            <a:spLocks noChangeArrowheads="1"/>
          </p:cNvSpPr>
          <p:nvPr/>
        </p:nvSpPr>
        <p:spPr bwMode="auto">
          <a:xfrm>
            <a:off x="4394200" y="1246188"/>
            <a:ext cx="7905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rgbClr val="333399"/>
                </a:solidFill>
                <a:latin typeface="Arial" pitchFamily="34" charset="0"/>
                <a:ea typeface="黑体" pitchFamily="49" charset="-122"/>
              </a:rPr>
              <a:t>网桥</a:t>
            </a:r>
          </a:p>
        </p:txBody>
      </p:sp>
      <p:pic>
        <p:nvPicPr>
          <p:cNvPr id="94269"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9075" y="5816600"/>
            <a:ext cx="506413"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270"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5816600"/>
            <a:ext cx="506412"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271"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2875" y="5815013"/>
            <a:ext cx="508000"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272" name="Line 64"/>
          <p:cNvSpPr>
            <a:spLocks noChangeShapeType="1"/>
          </p:cNvSpPr>
          <p:nvPr/>
        </p:nvSpPr>
        <p:spPr bwMode="auto">
          <a:xfrm flipV="1">
            <a:off x="5251450" y="3976688"/>
            <a:ext cx="752475" cy="1587"/>
          </a:xfrm>
          <a:prstGeom prst="line">
            <a:avLst/>
          </a:prstGeom>
          <a:noFill/>
          <a:ln w="28575">
            <a:solidFill>
              <a:srgbClr val="333399"/>
            </a:solidFill>
            <a:round/>
            <a:headEnd type="triangl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73" name="Line 65"/>
          <p:cNvSpPr>
            <a:spLocks noChangeShapeType="1"/>
          </p:cNvSpPr>
          <p:nvPr/>
        </p:nvSpPr>
        <p:spPr bwMode="auto">
          <a:xfrm flipV="1">
            <a:off x="6757988" y="3981450"/>
            <a:ext cx="711200" cy="6350"/>
          </a:xfrm>
          <a:prstGeom prst="line">
            <a:avLst/>
          </a:prstGeom>
          <a:noFill/>
          <a:ln w="28575">
            <a:solidFill>
              <a:srgbClr val="333399"/>
            </a:solidFill>
            <a:round/>
            <a:headEnd type="triangl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74" name="Rectangle 66"/>
          <p:cNvSpPr>
            <a:spLocks noChangeArrowheads="1"/>
          </p:cNvSpPr>
          <p:nvPr/>
        </p:nvSpPr>
        <p:spPr bwMode="auto">
          <a:xfrm>
            <a:off x="1960563" y="3976688"/>
            <a:ext cx="6381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网桥</a:t>
            </a:r>
          </a:p>
        </p:txBody>
      </p:sp>
      <p:pic>
        <p:nvPicPr>
          <p:cNvPr id="94275" name="Picture 6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8938" y="4133850"/>
            <a:ext cx="1281112"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4276" name="Line 68"/>
          <p:cNvSpPr>
            <a:spLocks noChangeShapeType="1"/>
          </p:cNvSpPr>
          <p:nvPr/>
        </p:nvSpPr>
        <p:spPr bwMode="auto">
          <a:xfrm>
            <a:off x="3543300" y="5307013"/>
            <a:ext cx="0" cy="53181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77" name="Line 69"/>
          <p:cNvSpPr>
            <a:spLocks noChangeShapeType="1"/>
          </p:cNvSpPr>
          <p:nvPr/>
        </p:nvSpPr>
        <p:spPr bwMode="auto">
          <a:xfrm>
            <a:off x="4127500" y="5307013"/>
            <a:ext cx="0" cy="53181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78" name="Rectangle 70"/>
          <p:cNvSpPr>
            <a:spLocks noChangeArrowheads="1"/>
          </p:cNvSpPr>
          <p:nvPr/>
        </p:nvSpPr>
        <p:spPr bwMode="auto">
          <a:xfrm>
            <a:off x="2487613" y="5259388"/>
            <a:ext cx="104775" cy="111125"/>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79" name="Line 71"/>
          <p:cNvSpPr>
            <a:spLocks noChangeShapeType="1"/>
          </p:cNvSpPr>
          <p:nvPr/>
        </p:nvSpPr>
        <p:spPr bwMode="auto">
          <a:xfrm flipV="1">
            <a:off x="2535238" y="5313363"/>
            <a:ext cx="1835150" cy="3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80" name="Rectangle 72"/>
          <p:cNvSpPr>
            <a:spLocks noChangeArrowheads="1"/>
          </p:cNvSpPr>
          <p:nvPr/>
        </p:nvSpPr>
        <p:spPr bwMode="auto">
          <a:xfrm>
            <a:off x="4325938" y="5243513"/>
            <a:ext cx="104775" cy="109537"/>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81" name="Line 73"/>
          <p:cNvSpPr>
            <a:spLocks noChangeShapeType="1"/>
          </p:cNvSpPr>
          <p:nvPr/>
        </p:nvSpPr>
        <p:spPr bwMode="auto">
          <a:xfrm>
            <a:off x="2911475" y="5316538"/>
            <a:ext cx="0" cy="5127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82" name="Rectangle 74"/>
          <p:cNvSpPr>
            <a:spLocks noChangeArrowheads="1"/>
          </p:cNvSpPr>
          <p:nvPr/>
        </p:nvSpPr>
        <p:spPr bwMode="auto">
          <a:xfrm>
            <a:off x="2517775" y="5480050"/>
            <a:ext cx="409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④</a:t>
            </a:r>
          </a:p>
        </p:txBody>
      </p:sp>
      <p:sp>
        <p:nvSpPr>
          <p:cNvPr id="94283" name="Rectangle 75"/>
          <p:cNvSpPr>
            <a:spLocks noChangeArrowheads="1"/>
          </p:cNvSpPr>
          <p:nvPr/>
        </p:nvSpPr>
        <p:spPr bwMode="auto">
          <a:xfrm>
            <a:off x="3119438" y="5480050"/>
            <a:ext cx="409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⑤</a:t>
            </a:r>
          </a:p>
        </p:txBody>
      </p:sp>
      <p:sp>
        <p:nvSpPr>
          <p:cNvPr id="94284" name="Rectangle 76"/>
          <p:cNvSpPr>
            <a:spLocks noChangeArrowheads="1"/>
          </p:cNvSpPr>
          <p:nvPr/>
        </p:nvSpPr>
        <p:spPr bwMode="auto">
          <a:xfrm>
            <a:off x="3724275" y="5480050"/>
            <a:ext cx="409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⑥</a:t>
            </a:r>
          </a:p>
        </p:txBody>
      </p:sp>
      <p:pic>
        <p:nvPicPr>
          <p:cNvPr id="94285" name="Picture 7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0650" y="5799138"/>
            <a:ext cx="506413"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286" name="Picture 7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67075" y="5799138"/>
            <a:ext cx="508000"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287" name="Picture 7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54450" y="5797550"/>
            <a:ext cx="508000"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288" name="Rectangle 84"/>
          <p:cNvSpPr>
            <a:spLocks noChangeArrowheads="1"/>
          </p:cNvSpPr>
          <p:nvPr/>
        </p:nvSpPr>
        <p:spPr bwMode="auto">
          <a:xfrm>
            <a:off x="3924300" y="4437063"/>
            <a:ext cx="8286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接口 </a:t>
            </a:r>
            <a:r>
              <a:rPr kumimoji="1" lang="en-US" altLang="zh-CN" sz="1800">
                <a:solidFill>
                  <a:srgbClr val="333399"/>
                </a:solidFill>
                <a:latin typeface="Arial" pitchFamily="34" charset="0"/>
                <a:ea typeface="黑体" pitchFamily="49" charset="-122"/>
              </a:rPr>
              <a:t>1</a:t>
            </a:r>
          </a:p>
        </p:txBody>
      </p:sp>
      <p:sp>
        <p:nvSpPr>
          <p:cNvPr id="94289" name="Rectangle 85"/>
          <p:cNvSpPr>
            <a:spLocks noChangeArrowheads="1"/>
          </p:cNvSpPr>
          <p:nvPr/>
        </p:nvSpPr>
        <p:spPr bwMode="auto">
          <a:xfrm>
            <a:off x="7127875" y="4437063"/>
            <a:ext cx="8286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接口 </a:t>
            </a:r>
            <a:r>
              <a:rPr kumimoji="1" lang="en-US" altLang="zh-CN" sz="1800">
                <a:solidFill>
                  <a:srgbClr val="333399"/>
                </a:solidFill>
                <a:latin typeface="Arial" pitchFamily="34" charset="0"/>
                <a:ea typeface="黑体" pitchFamily="49" charset="-122"/>
              </a:rPr>
              <a:t>2</a:t>
            </a:r>
          </a:p>
        </p:txBody>
      </p:sp>
      <p:sp>
        <p:nvSpPr>
          <p:cNvPr id="94290" name="Rectangle 86"/>
          <p:cNvSpPr>
            <a:spLocks noChangeArrowheads="1"/>
          </p:cNvSpPr>
          <p:nvPr/>
        </p:nvSpPr>
        <p:spPr bwMode="auto">
          <a:xfrm>
            <a:off x="1763713" y="4941888"/>
            <a:ext cx="307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1</a:t>
            </a:r>
          </a:p>
        </p:txBody>
      </p:sp>
      <p:sp>
        <p:nvSpPr>
          <p:cNvPr id="94291" name="Rectangle 87"/>
          <p:cNvSpPr>
            <a:spLocks noChangeArrowheads="1"/>
          </p:cNvSpPr>
          <p:nvPr/>
        </p:nvSpPr>
        <p:spPr bwMode="auto">
          <a:xfrm>
            <a:off x="2411413" y="4937125"/>
            <a:ext cx="3079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2</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Oval 30"/>
          <p:cNvSpPr>
            <a:spLocks noChangeArrowheads="1"/>
          </p:cNvSpPr>
          <p:nvPr/>
        </p:nvSpPr>
        <p:spPr bwMode="auto">
          <a:xfrm>
            <a:off x="6326188" y="2636838"/>
            <a:ext cx="2720975" cy="2447925"/>
          </a:xfrm>
          <a:prstGeom prst="ellipse">
            <a:avLst/>
          </a:prstGeom>
          <a:solidFill>
            <a:srgbClr val="CCECFF"/>
          </a:solidFill>
          <a:ln>
            <a:noFill/>
          </a:ln>
          <a:effectLst/>
          <a:extLst>
            <a:ext uri="{91240B29-F687-4F45-9708-019B960494DF}">
              <a14:hiddenLine xmlns:a14="http://schemas.microsoft.com/office/drawing/2010/main" w="9525">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5" name="Oval 29"/>
          <p:cNvSpPr>
            <a:spLocks noChangeArrowheads="1"/>
          </p:cNvSpPr>
          <p:nvPr/>
        </p:nvSpPr>
        <p:spPr bwMode="auto">
          <a:xfrm>
            <a:off x="3178175" y="2636838"/>
            <a:ext cx="2722563" cy="2447925"/>
          </a:xfrm>
          <a:prstGeom prst="ellipse">
            <a:avLst/>
          </a:prstGeom>
          <a:solidFill>
            <a:srgbClr val="99FF99"/>
          </a:solidFill>
          <a:ln>
            <a:noFill/>
          </a:ln>
          <a:effectLst/>
          <a:extLst>
            <a:ext uri="{91240B29-F687-4F45-9708-019B960494DF}">
              <a14:hiddenLine xmlns:a14="http://schemas.microsoft.com/office/drawing/2010/main" w="9525">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6" name="Oval 31"/>
          <p:cNvSpPr>
            <a:spLocks noChangeArrowheads="1"/>
          </p:cNvSpPr>
          <p:nvPr/>
        </p:nvSpPr>
        <p:spPr bwMode="auto">
          <a:xfrm>
            <a:off x="115888" y="2636838"/>
            <a:ext cx="2720975" cy="2447925"/>
          </a:xfrm>
          <a:prstGeom prst="ellipse">
            <a:avLst/>
          </a:prstGeom>
          <a:solidFill>
            <a:srgbClr val="FFCC99"/>
          </a:solidFill>
          <a:ln>
            <a:noFill/>
          </a:ln>
          <a:effectLst/>
          <a:extLst>
            <a:ext uri="{91240B29-F687-4F45-9708-019B960494DF}">
              <a14:hiddenLine xmlns:a14="http://schemas.microsoft.com/office/drawing/2010/main" w="9525">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7" name="Rectangle 4"/>
          <p:cNvSpPr>
            <a:spLocks noGrp="1" noChangeArrowheads="1"/>
          </p:cNvSpPr>
          <p:nvPr>
            <p:ph type="title"/>
          </p:nvPr>
        </p:nvSpPr>
        <p:spPr>
          <a:xfrm>
            <a:off x="1150938" y="214313"/>
            <a:ext cx="7453312" cy="1462087"/>
          </a:xfrm>
        </p:spPr>
        <p:txBody>
          <a:bodyPr/>
          <a:lstStyle/>
          <a:p>
            <a:pPr algn="ctr" eaLnBrk="1" hangingPunct="1"/>
            <a:r>
              <a:rPr lang="zh-CN" altLang="en-US" smtClean="0"/>
              <a:t>网桥使各网段成为</a:t>
            </a:r>
            <a:br>
              <a:rPr lang="zh-CN" altLang="en-US" smtClean="0"/>
            </a:br>
            <a:r>
              <a:rPr lang="zh-CN" altLang="en-US" smtClean="0"/>
              <a:t>隔离开的碰撞域 </a:t>
            </a:r>
          </a:p>
        </p:txBody>
      </p:sp>
      <p:sp>
        <p:nvSpPr>
          <p:cNvPr id="95238" name="Line 5"/>
          <p:cNvSpPr>
            <a:spLocks noChangeShapeType="1"/>
          </p:cNvSpPr>
          <p:nvPr/>
        </p:nvSpPr>
        <p:spPr bwMode="auto">
          <a:xfrm>
            <a:off x="8293100" y="3446463"/>
            <a:ext cx="0" cy="63658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9" name="Line 6"/>
          <p:cNvSpPr>
            <a:spLocks noChangeShapeType="1"/>
          </p:cNvSpPr>
          <p:nvPr/>
        </p:nvSpPr>
        <p:spPr bwMode="auto">
          <a:xfrm flipV="1">
            <a:off x="6551613" y="3455988"/>
            <a:ext cx="2003425" cy="476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0" name="Rectangle 7"/>
          <p:cNvSpPr>
            <a:spLocks noChangeArrowheads="1"/>
          </p:cNvSpPr>
          <p:nvPr/>
        </p:nvSpPr>
        <p:spPr bwMode="auto">
          <a:xfrm>
            <a:off x="8509000" y="3370263"/>
            <a:ext cx="114300" cy="133350"/>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1" name="Line 8"/>
          <p:cNvSpPr>
            <a:spLocks noChangeShapeType="1"/>
          </p:cNvSpPr>
          <p:nvPr/>
        </p:nvSpPr>
        <p:spPr bwMode="auto">
          <a:xfrm>
            <a:off x="6962775" y="3460750"/>
            <a:ext cx="0" cy="60960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5242" name="Picture 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88138" y="4037013"/>
            <a:ext cx="5540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243"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4033838"/>
            <a:ext cx="555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244" name="Line 11"/>
          <p:cNvSpPr>
            <a:spLocks noChangeShapeType="1"/>
          </p:cNvSpPr>
          <p:nvPr/>
        </p:nvSpPr>
        <p:spPr bwMode="auto">
          <a:xfrm>
            <a:off x="5230813" y="3429000"/>
            <a:ext cx="0" cy="63658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5" name="Line 12"/>
          <p:cNvSpPr>
            <a:spLocks noChangeShapeType="1"/>
          </p:cNvSpPr>
          <p:nvPr/>
        </p:nvSpPr>
        <p:spPr bwMode="auto">
          <a:xfrm flipV="1">
            <a:off x="3487738" y="3438525"/>
            <a:ext cx="2005012" cy="317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6" name="Line 13"/>
          <p:cNvSpPr>
            <a:spLocks noChangeShapeType="1"/>
          </p:cNvSpPr>
          <p:nvPr/>
        </p:nvSpPr>
        <p:spPr bwMode="auto">
          <a:xfrm>
            <a:off x="3900488" y="3441700"/>
            <a:ext cx="0" cy="60960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5247"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24263" y="4017963"/>
            <a:ext cx="555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248" name="Picture 1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0775" y="4016375"/>
            <a:ext cx="5540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249" name="Line 16"/>
          <p:cNvSpPr>
            <a:spLocks noChangeShapeType="1"/>
          </p:cNvSpPr>
          <p:nvPr/>
        </p:nvSpPr>
        <p:spPr bwMode="auto">
          <a:xfrm>
            <a:off x="2135188" y="3451225"/>
            <a:ext cx="0" cy="63500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0" name="Rectangle 17"/>
          <p:cNvSpPr>
            <a:spLocks noChangeArrowheads="1"/>
          </p:cNvSpPr>
          <p:nvPr/>
        </p:nvSpPr>
        <p:spPr bwMode="auto">
          <a:xfrm>
            <a:off x="342900" y="3395663"/>
            <a:ext cx="114300" cy="130175"/>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1" name="Line 18"/>
          <p:cNvSpPr>
            <a:spLocks noChangeShapeType="1"/>
          </p:cNvSpPr>
          <p:nvPr/>
        </p:nvSpPr>
        <p:spPr bwMode="auto">
          <a:xfrm flipV="1">
            <a:off x="393700" y="3460750"/>
            <a:ext cx="2006600" cy="158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2" name="Line 19"/>
          <p:cNvSpPr>
            <a:spLocks noChangeShapeType="1"/>
          </p:cNvSpPr>
          <p:nvPr/>
        </p:nvSpPr>
        <p:spPr bwMode="auto">
          <a:xfrm>
            <a:off x="806450" y="3462338"/>
            <a:ext cx="0" cy="61277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5253"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1813" y="4038600"/>
            <a:ext cx="554037"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254"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8325" y="4037013"/>
            <a:ext cx="552450"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255" name="Rectangle 22"/>
          <p:cNvSpPr>
            <a:spLocks noChangeArrowheads="1"/>
          </p:cNvSpPr>
          <p:nvPr/>
        </p:nvSpPr>
        <p:spPr bwMode="auto">
          <a:xfrm>
            <a:off x="5830888" y="2840038"/>
            <a:ext cx="49688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B</a:t>
            </a:r>
            <a:r>
              <a:rPr kumimoji="1" lang="en-US" altLang="zh-CN" sz="2400" baseline="-25000">
                <a:solidFill>
                  <a:schemeClr val="folHlink"/>
                </a:solidFill>
                <a:latin typeface="Arial" pitchFamily="34" charset="0"/>
                <a:ea typeface="黑体" pitchFamily="49" charset="-122"/>
              </a:rPr>
              <a:t>2</a:t>
            </a:r>
          </a:p>
        </p:txBody>
      </p:sp>
      <p:pic>
        <p:nvPicPr>
          <p:cNvPr id="95256" name="Picture 2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1725" y="2943225"/>
            <a:ext cx="1190625"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5257" name="Picture 2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2943225"/>
            <a:ext cx="1190625"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5258" name="Rectangle 25"/>
          <p:cNvSpPr>
            <a:spLocks noChangeArrowheads="1"/>
          </p:cNvSpPr>
          <p:nvPr/>
        </p:nvSpPr>
        <p:spPr bwMode="auto">
          <a:xfrm>
            <a:off x="2768600" y="2840038"/>
            <a:ext cx="49688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B</a:t>
            </a:r>
            <a:r>
              <a:rPr kumimoji="1" lang="en-US" altLang="zh-CN" sz="2400" baseline="-25000">
                <a:solidFill>
                  <a:schemeClr val="folHlink"/>
                </a:solidFill>
                <a:latin typeface="Arial" pitchFamily="34" charset="0"/>
                <a:ea typeface="黑体" pitchFamily="49" charset="-122"/>
              </a:rPr>
              <a:t>1</a:t>
            </a:r>
          </a:p>
        </p:txBody>
      </p:sp>
      <p:sp>
        <p:nvSpPr>
          <p:cNvPr id="95259" name="Line 26"/>
          <p:cNvSpPr>
            <a:spLocks noChangeShapeType="1"/>
          </p:cNvSpPr>
          <p:nvPr/>
        </p:nvSpPr>
        <p:spPr bwMode="auto">
          <a:xfrm>
            <a:off x="965200" y="3656013"/>
            <a:ext cx="936625" cy="0"/>
          </a:xfrm>
          <a:prstGeom prst="line">
            <a:avLst/>
          </a:prstGeom>
          <a:noFill/>
          <a:ln w="38100">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60" name="Line 27"/>
          <p:cNvSpPr>
            <a:spLocks noChangeShapeType="1"/>
          </p:cNvSpPr>
          <p:nvPr/>
        </p:nvSpPr>
        <p:spPr bwMode="auto">
          <a:xfrm>
            <a:off x="4113213" y="3656013"/>
            <a:ext cx="935037" cy="0"/>
          </a:xfrm>
          <a:prstGeom prst="line">
            <a:avLst/>
          </a:prstGeom>
          <a:noFill/>
          <a:ln w="38100">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61" name="Line 28"/>
          <p:cNvSpPr>
            <a:spLocks noChangeShapeType="1"/>
          </p:cNvSpPr>
          <p:nvPr/>
        </p:nvSpPr>
        <p:spPr bwMode="auto">
          <a:xfrm>
            <a:off x="7175500" y="3656013"/>
            <a:ext cx="935038" cy="0"/>
          </a:xfrm>
          <a:prstGeom prst="line">
            <a:avLst/>
          </a:prstGeom>
          <a:noFill/>
          <a:ln w="38100">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62" name="Rectangle 32"/>
          <p:cNvSpPr>
            <a:spLocks noChangeArrowheads="1"/>
          </p:cNvSpPr>
          <p:nvPr/>
        </p:nvSpPr>
        <p:spPr bwMode="auto">
          <a:xfrm>
            <a:off x="965200" y="2943225"/>
            <a:ext cx="10953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chemeClr val="folHlink"/>
                </a:solidFill>
                <a:latin typeface="Arial" pitchFamily="34" charset="0"/>
                <a:ea typeface="黑体" pitchFamily="49" charset="-122"/>
              </a:rPr>
              <a:t>碰撞域</a:t>
            </a:r>
            <a:endParaRPr kumimoji="1" lang="zh-CN" altLang="en-US" sz="2400" baseline="-25000">
              <a:solidFill>
                <a:schemeClr val="folHlink"/>
              </a:solidFill>
              <a:latin typeface="Arial" pitchFamily="34" charset="0"/>
              <a:ea typeface="黑体" pitchFamily="49" charset="-122"/>
            </a:endParaRPr>
          </a:p>
        </p:txBody>
      </p:sp>
      <p:sp>
        <p:nvSpPr>
          <p:cNvPr id="95263" name="Rectangle 33"/>
          <p:cNvSpPr>
            <a:spLocks noChangeArrowheads="1"/>
          </p:cNvSpPr>
          <p:nvPr/>
        </p:nvSpPr>
        <p:spPr bwMode="auto">
          <a:xfrm>
            <a:off x="4113213" y="2943225"/>
            <a:ext cx="10953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chemeClr val="folHlink"/>
                </a:solidFill>
                <a:latin typeface="Arial" pitchFamily="34" charset="0"/>
                <a:ea typeface="黑体" pitchFamily="49" charset="-122"/>
              </a:rPr>
              <a:t>碰撞域</a:t>
            </a:r>
            <a:endParaRPr kumimoji="1" lang="zh-CN" altLang="en-US" sz="2400" baseline="-25000">
              <a:solidFill>
                <a:schemeClr val="folHlink"/>
              </a:solidFill>
              <a:latin typeface="Arial" pitchFamily="34" charset="0"/>
              <a:ea typeface="黑体" pitchFamily="49" charset="-122"/>
            </a:endParaRPr>
          </a:p>
        </p:txBody>
      </p:sp>
      <p:sp>
        <p:nvSpPr>
          <p:cNvPr id="95264" name="Rectangle 34"/>
          <p:cNvSpPr>
            <a:spLocks noChangeArrowheads="1"/>
          </p:cNvSpPr>
          <p:nvPr/>
        </p:nvSpPr>
        <p:spPr bwMode="auto">
          <a:xfrm>
            <a:off x="7177088" y="2943225"/>
            <a:ext cx="10953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chemeClr val="folHlink"/>
                </a:solidFill>
                <a:latin typeface="Arial" pitchFamily="34" charset="0"/>
                <a:ea typeface="黑体" pitchFamily="49" charset="-122"/>
              </a:rPr>
              <a:t>碰撞域</a:t>
            </a:r>
            <a:endParaRPr kumimoji="1" lang="zh-CN" altLang="en-US" sz="2400" baseline="-25000">
              <a:solidFill>
                <a:schemeClr val="folHlink"/>
              </a:solidFill>
              <a:latin typeface="Arial" pitchFamily="34" charset="0"/>
              <a:ea typeface="黑体" pitchFamily="49" charset="-122"/>
            </a:endParaRPr>
          </a:p>
        </p:txBody>
      </p:sp>
      <p:sp>
        <p:nvSpPr>
          <p:cNvPr id="95265" name="Rectangle 35"/>
          <p:cNvSpPr>
            <a:spLocks noChangeArrowheads="1"/>
          </p:cNvSpPr>
          <p:nvPr/>
        </p:nvSpPr>
        <p:spPr bwMode="auto">
          <a:xfrm>
            <a:off x="284163" y="3962400"/>
            <a:ext cx="38576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A</a:t>
            </a:r>
            <a:endParaRPr kumimoji="1" lang="en-US" altLang="zh-CN" sz="2400" baseline="-25000">
              <a:solidFill>
                <a:schemeClr val="folHlink"/>
              </a:solidFill>
              <a:latin typeface="Arial" pitchFamily="34" charset="0"/>
              <a:ea typeface="黑体" pitchFamily="49" charset="-122"/>
            </a:endParaRPr>
          </a:p>
        </p:txBody>
      </p:sp>
      <p:sp>
        <p:nvSpPr>
          <p:cNvPr id="95266" name="Rectangle 36"/>
          <p:cNvSpPr>
            <a:spLocks noChangeArrowheads="1"/>
          </p:cNvSpPr>
          <p:nvPr/>
        </p:nvSpPr>
        <p:spPr bwMode="auto">
          <a:xfrm>
            <a:off x="1614488" y="3962400"/>
            <a:ext cx="3841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B</a:t>
            </a:r>
            <a:endParaRPr kumimoji="1" lang="en-US" altLang="zh-CN" sz="2400" baseline="-25000">
              <a:solidFill>
                <a:schemeClr val="folHlink"/>
              </a:solidFill>
              <a:latin typeface="Arial" pitchFamily="34" charset="0"/>
              <a:ea typeface="黑体" pitchFamily="49" charset="-122"/>
            </a:endParaRPr>
          </a:p>
        </p:txBody>
      </p:sp>
      <p:sp>
        <p:nvSpPr>
          <p:cNvPr id="95267" name="Rectangle 37"/>
          <p:cNvSpPr>
            <a:spLocks noChangeArrowheads="1"/>
          </p:cNvSpPr>
          <p:nvPr/>
        </p:nvSpPr>
        <p:spPr bwMode="auto">
          <a:xfrm>
            <a:off x="3348038" y="3962400"/>
            <a:ext cx="4000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C</a:t>
            </a:r>
            <a:endParaRPr kumimoji="1" lang="en-US" altLang="zh-CN" sz="2400" baseline="-25000">
              <a:solidFill>
                <a:schemeClr val="folHlink"/>
              </a:solidFill>
              <a:latin typeface="Arial" pitchFamily="34" charset="0"/>
              <a:ea typeface="黑体" pitchFamily="49" charset="-122"/>
            </a:endParaRPr>
          </a:p>
        </p:txBody>
      </p:sp>
      <p:sp>
        <p:nvSpPr>
          <p:cNvPr id="95268" name="Rectangle 38"/>
          <p:cNvSpPr>
            <a:spLocks noChangeArrowheads="1"/>
          </p:cNvSpPr>
          <p:nvPr/>
        </p:nvSpPr>
        <p:spPr bwMode="auto">
          <a:xfrm>
            <a:off x="4708525" y="3962400"/>
            <a:ext cx="4016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D</a:t>
            </a:r>
            <a:endParaRPr kumimoji="1" lang="en-US" altLang="zh-CN" sz="2400" baseline="-25000">
              <a:solidFill>
                <a:schemeClr val="folHlink"/>
              </a:solidFill>
              <a:latin typeface="Arial" pitchFamily="34" charset="0"/>
              <a:ea typeface="黑体" pitchFamily="49" charset="-122"/>
            </a:endParaRPr>
          </a:p>
        </p:txBody>
      </p:sp>
      <p:sp>
        <p:nvSpPr>
          <p:cNvPr id="95269" name="Rectangle 39"/>
          <p:cNvSpPr>
            <a:spLocks noChangeArrowheads="1"/>
          </p:cNvSpPr>
          <p:nvPr/>
        </p:nvSpPr>
        <p:spPr bwMode="auto">
          <a:xfrm>
            <a:off x="6475413" y="3962400"/>
            <a:ext cx="3841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E</a:t>
            </a:r>
            <a:endParaRPr kumimoji="1" lang="en-US" altLang="zh-CN" sz="2400" baseline="-25000">
              <a:solidFill>
                <a:schemeClr val="folHlink"/>
              </a:solidFill>
              <a:latin typeface="Arial" pitchFamily="34" charset="0"/>
              <a:ea typeface="黑体" pitchFamily="49" charset="-122"/>
            </a:endParaRPr>
          </a:p>
        </p:txBody>
      </p:sp>
      <p:sp>
        <p:nvSpPr>
          <p:cNvPr id="95270" name="Rectangle 40"/>
          <p:cNvSpPr>
            <a:spLocks noChangeArrowheads="1"/>
          </p:cNvSpPr>
          <p:nvPr/>
        </p:nvSpPr>
        <p:spPr bwMode="auto">
          <a:xfrm>
            <a:off x="7772400" y="3962400"/>
            <a:ext cx="36671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F</a:t>
            </a:r>
            <a:endParaRPr kumimoji="1" lang="en-US" altLang="zh-CN" sz="2400" baseline="-25000">
              <a:solidFill>
                <a:schemeClr val="folHlink"/>
              </a:solidFill>
              <a:latin typeface="Arial" pitchFamily="34" charset="0"/>
              <a:ea typeface="黑体" pitchFamily="49" charset="-122"/>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ChangeArrowheads="1"/>
          </p:cNvSpPr>
          <p:nvPr>
            <p:ph type="body" idx="1"/>
          </p:nvPr>
        </p:nvSpPr>
        <p:spPr>
          <a:xfrm>
            <a:off x="1042988" y="2051050"/>
            <a:ext cx="7850187" cy="4257675"/>
          </a:xfrm>
        </p:spPr>
        <p:txBody>
          <a:bodyPr/>
          <a:lstStyle/>
          <a:p>
            <a:pPr eaLnBrk="1" hangingPunct="1"/>
            <a:r>
              <a:rPr lang="zh-CN" altLang="en-US" sz="2800" smtClean="0"/>
              <a:t>过滤通信量，扩大了物理范围，但是存储转发增加了时延。 </a:t>
            </a:r>
          </a:p>
          <a:p>
            <a:pPr eaLnBrk="1" hangingPunct="1"/>
            <a:r>
              <a:rPr lang="zh-CN" altLang="en-US" sz="2800" smtClean="0"/>
              <a:t>在</a:t>
            </a:r>
            <a:r>
              <a:rPr lang="en-US" altLang="zh-CN" sz="2800" smtClean="0"/>
              <a:t>MAC </a:t>
            </a:r>
            <a:r>
              <a:rPr lang="zh-CN" altLang="en-US" sz="2800" smtClean="0"/>
              <a:t>子层并没有流量控制功能。 </a:t>
            </a:r>
          </a:p>
          <a:p>
            <a:pPr eaLnBrk="1" hangingPunct="1"/>
            <a:r>
              <a:rPr lang="zh-CN" altLang="en-US" sz="2800" smtClean="0"/>
              <a:t>具有不同 </a:t>
            </a:r>
            <a:r>
              <a:rPr lang="en-US" altLang="zh-CN" sz="2800" smtClean="0"/>
              <a:t>MAC </a:t>
            </a:r>
            <a:r>
              <a:rPr lang="zh-CN" altLang="en-US" sz="2800" smtClean="0"/>
              <a:t>子层的网段桥接在一起时时延更大。</a:t>
            </a:r>
          </a:p>
          <a:p>
            <a:pPr eaLnBrk="1" hangingPunct="1"/>
            <a:r>
              <a:rPr lang="zh-CN" altLang="en-US" sz="2800" smtClean="0"/>
              <a:t>网桥只适合于用户数不太多</a:t>
            </a:r>
            <a:r>
              <a:rPr lang="en-US" altLang="zh-CN" sz="2800" smtClean="0"/>
              <a:t>(</a:t>
            </a:r>
            <a:r>
              <a:rPr lang="zh-CN" altLang="en-US" sz="2800" smtClean="0"/>
              <a:t>不超过几百个</a:t>
            </a:r>
            <a:r>
              <a:rPr lang="en-US" altLang="zh-CN" sz="2800" smtClean="0"/>
              <a:t>)</a:t>
            </a:r>
            <a:r>
              <a:rPr lang="zh-CN" altLang="en-US" sz="2800" smtClean="0"/>
              <a:t>和通信量不太大的局域网，否则有时还会因传播过多的广播信息而产生网络拥塞。这就是所谓的</a:t>
            </a:r>
            <a:r>
              <a:rPr lang="zh-CN" altLang="en-US" sz="2800" smtClean="0">
                <a:solidFill>
                  <a:schemeClr val="hlink"/>
                </a:solidFill>
              </a:rPr>
              <a:t>广播风暴</a:t>
            </a:r>
            <a:r>
              <a:rPr lang="zh-CN" altLang="en-US" sz="2800" smtClean="0"/>
              <a:t>。  </a:t>
            </a:r>
            <a:r>
              <a:rPr lang="zh-CN" altLang="en-US" sz="2000" smtClean="0"/>
              <a:t>弹出信息。</a:t>
            </a:r>
          </a:p>
        </p:txBody>
      </p:sp>
      <p:sp>
        <p:nvSpPr>
          <p:cNvPr id="96259" name="Rectangle 3"/>
          <p:cNvSpPr>
            <a:spLocks noGrp="1" noChangeArrowheads="1"/>
          </p:cNvSpPr>
          <p:nvPr>
            <p:ph type="title"/>
          </p:nvPr>
        </p:nvSpPr>
        <p:spPr>
          <a:xfrm>
            <a:off x="919163" y="214313"/>
            <a:ext cx="8116887" cy="1462087"/>
          </a:xfrm>
        </p:spPr>
        <p:txBody>
          <a:bodyPr/>
          <a:lstStyle/>
          <a:p>
            <a:pPr algn="ctr" eaLnBrk="1" hangingPunct="1"/>
            <a:r>
              <a:rPr lang="zh-CN" altLang="en-US" smtClean="0"/>
              <a:t>使用网桥带来的缺点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080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080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6080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ChangeArrowheads="1"/>
          </p:cNvSpPr>
          <p:nvPr/>
        </p:nvSpPr>
        <p:spPr bwMode="auto">
          <a:xfrm>
            <a:off x="177800" y="727075"/>
            <a:ext cx="1192213" cy="1747838"/>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7283" name="Line 3"/>
          <p:cNvSpPr>
            <a:spLocks noChangeShapeType="1"/>
          </p:cNvSpPr>
          <p:nvPr/>
        </p:nvSpPr>
        <p:spPr bwMode="auto">
          <a:xfrm>
            <a:off x="177800" y="2044700"/>
            <a:ext cx="1193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4" name="Line 4"/>
          <p:cNvSpPr>
            <a:spLocks noChangeShapeType="1"/>
          </p:cNvSpPr>
          <p:nvPr/>
        </p:nvSpPr>
        <p:spPr bwMode="auto">
          <a:xfrm>
            <a:off x="168275" y="1619250"/>
            <a:ext cx="1193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5" name="Line 5"/>
          <p:cNvSpPr>
            <a:spLocks noChangeShapeType="1"/>
          </p:cNvSpPr>
          <p:nvPr/>
        </p:nvSpPr>
        <p:spPr bwMode="auto">
          <a:xfrm>
            <a:off x="177800" y="1203325"/>
            <a:ext cx="11842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6" name="Rectangle 6"/>
          <p:cNvSpPr>
            <a:spLocks noChangeArrowheads="1"/>
          </p:cNvSpPr>
          <p:nvPr/>
        </p:nvSpPr>
        <p:spPr bwMode="auto">
          <a:xfrm>
            <a:off x="328613" y="800100"/>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用户层</a:t>
            </a:r>
          </a:p>
        </p:txBody>
      </p:sp>
      <p:sp>
        <p:nvSpPr>
          <p:cNvPr id="97287" name="Rectangle 7"/>
          <p:cNvSpPr>
            <a:spLocks noChangeArrowheads="1"/>
          </p:cNvSpPr>
          <p:nvPr/>
        </p:nvSpPr>
        <p:spPr bwMode="auto">
          <a:xfrm>
            <a:off x="601663" y="1258888"/>
            <a:ext cx="4206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IP</a:t>
            </a:r>
          </a:p>
        </p:txBody>
      </p:sp>
      <p:sp>
        <p:nvSpPr>
          <p:cNvPr id="97288" name="Rectangle 8"/>
          <p:cNvSpPr>
            <a:spLocks noChangeArrowheads="1"/>
          </p:cNvSpPr>
          <p:nvPr/>
        </p:nvSpPr>
        <p:spPr bwMode="auto">
          <a:xfrm>
            <a:off x="403225" y="1673225"/>
            <a:ext cx="746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MAC</a:t>
            </a:r>
          </a:p>
        </p:txBody>
      </p:sp>
      <p:sp>
        <p:nvSpPr>
          <p:cNvPr id="97289" name="Rectangle 9"/>
          <p:cNvSpPr>
            <a:spLocks noChangeArrowheads="1"/>
          </p:cNvSpPr>
          <p:nvPr/>
        </p:nvSpPr>
        <p:spPr bwMode="auto">
          <a:xfrm>
            <a:off x="403225" y="304800"/>
            <a:ext cx="6461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站 </a:t>
            </a:r>
            <a:r>
              <a:rPr kumimoji="1" lang="en-US" altLang="zh-CN">
                <a:solidFill>
                  <a:srgbClr val="333399"/>
                </a:solidFill>
                <a:latin typeface="Arial" pitchFamily="34" charset="0"/>
                <a:ea typeface="黑体" pitchFamily="49" charset="-122"/>
              </a:rPr>
              <a:t>1</a:t>
            </a:r>
          </a:p>
        </p:txBody>
      </p:sp>
      <p:sp>
        <p:nvSpPr>
          <p:cNvPr id="97290" name="Rectangle 10"/>
          <p:cNvSpPr>
            <a:spLocks noChangeArrowheads="1"/>
          </p:cNvSpPr>
          <p:nvPr/>
        </p:nvSpPr>
        <p:spPr bwMode="auto">
          <a:xfrm>
            <a:off x="7699375" y="727075"/>
            <a:ext cx="1192213" cy="1747838"/>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7291" name="Line 11"/>
          <p:cNvSpPr>
            <a:spLocks noChangeShapeType="1"/>
          </p:cNvSpPr>
          <p:nvPr/>
        </p:nvSpPr>
        <p:spPr bwMode="auto">
          <a:xfrm>
            <a:off x="7699375" y="2062163"/>
            <a:ext cx="1193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2" name="Line 12"/>
          <p:cNvSpPr>
            <a:spLocks noChangeShapeType="1"/>
          </p:cNvSpPr>
          <p:nvPr/>
        </p:nvSpPr>
        <p:spPr bwMode="auto">
          <a:xfrm>
            <a:off x="7689850" y="1636713"/>
            <a:ext cx="1193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3" name="Line 13"/>
          <p:cNvSpPr>
            <a:spLocks noChangeShapeType="1"/>
          </p:cNvSpPr>
          <p:nvPr/>
        </p:nvSpPr>
        <p:spPr bwMode="auto">
          <a:xfrm>
            <a:off x="7699375" y="1220788"/>
            <a:ext cx="11842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4" name="Rectangle 14"/>
          <p:cNvSpPr>
            <a:spLocks noChangeArrowheads="1"/>
          </p:cNvSpPr>
          <p:nvPr/>
        </p:nvSpPr>
        <p:spPr bwMode="auto">
          <a:xfrm>
            <a:off x="7837488" y="820738"/>
            <a:ext cx="942975"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用户层</a:t>
            </a:r>
          </a:p>
        </p:txBody>
      </p:sp>
      <p:sp>
        <p:nvSpPr>
          <p:cNvPr id="97295" name="Rectangle 15"/>
          <p:cNvSpPr>
            <a:spLocks noChangeArrowheads="1"/>
          </p:cNvSpPr>
          <p:nvPr/>
        </p:nvSpPr>
        <p:spPr bwMode="auto">
          <a:xfrm>
            <a:off x="8069263" y="1265238"/>
            <a:ext cx="4206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IP</a:t>
            </a:r>
          </a:p>
        </p:txBody>
      </p:sp>
      <p:sp>
        <p:nvSpPr>
          <p:cNvPr id="97296" name="Rectangle 16"/>
          <p:cNvSpPr>
            <a:spLocks noChangeArrowheads="1"/>
          </p:cNvSpPr>
          <p:nvPr/>
        </p:nvSpPr>
        <p:spPr bwMode="auto">
          <a:xfrm>
            <a:off x="7943850" y="1693863"/>
            <a:ext cx="746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MAC</a:t>
            </a:r>
          </a:p>
        </p:txBody>
      </p:sp>
      <p:sp>
        <p:nvSpPr>
          <p:cNvPr id="97297" name="Rectangle 17"/>
          <p:cNvSpPr>
            <a:spLocks noChangeArrowheads="1"/>
          </p:cNvSpPr>
          <p:nvPr/>
        </p:nvSpPr>
        <p:spPr bwMode="auto">
          <a:xfrm>
            <a:off x="7924800" y="304800"/>
            <a:ext cx="6461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站 </a:t>
            </a:r>
            <a:r>
              <a:rPr kumimoji="1" lang="en-US" altLang="zh-CN">
                <a:solidFill>
                  <a:srgbClr val="333399"/>
                </a:solidFill>
                <a:latin typeface="Arial" pitchFamily="34" charset="0"/>
                <a:ea typeface="黑体" pitchFamily="49" charset="-122"/>
              </a:rPr>
              <a:t>2</a:t>
            </a:r>
          </a:p>
        </p:txBody>
      </p:sp>
      <p:sp>
        <p:nvSpPr>
          <p:cNvPr id="97298" name="Rectangle 18"/>
          <p:cNvSpPr>
            <a:spLocks noChangeArrowheads="1"/>
          </p:cNvSpPr>
          <p:nvPr/>
        </p:nvSpPr>
        <p:spPr bwMode="auto">
          <a:xfrm>
            <a:off x="328613" y="2078038"/>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物理层</a:t>
            </a:r>
          </a:p>
        </p:txBody>
      </p:sp>
      <p:sp>
        <p:nvSpPr>
          <p:cNvPr id="97299" name="Rectangle 19"/>
          <p:cNvSpPr>
            <a:spLocks noChangeArrowheads="1"/>
          </p:cNvSpPr>
          <p:nvPr/>
        </p:nvSpPr>
        <p:spPr bwMode="auto">
          <a:xfrm>
            <a:off x="3113088" y="1193800"/>
            <a:ext cx="90011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网桥 </a:t>
            </a:r>
            <a:r>
              <a:rPr kumimoji="1" lang="en-US" altLang="zh-CN">
                <a:solidFill>
                  <a:srgbClr val="333399"/>
                </a:solidFill>
                <a:latin typeface="Arial" pitchFamily="34" charset="0"/>
                <a:ea typeface="黑体" pitchFamily="49" charset="-122"/>
              </a:rPr>
              <a:t>1</a:t>
            </a:r>
          </a:p>
        </p:txBody>
      </p:sp>
      <p:sp>
        <p:nvSpPr>
          <p:cNvPr id="97300" name="Rectangle 20"/>
          <p:cNvSpPr>
            <a:spLocks noChangeArrowheads="1"/>
          </p:cNvSpPr>
          <p:nvPr/>
        </p:nvSpPr>
        <p:spPr bwMode="auto">
          <a:xfrm>
            <a:off x="5210175" y="1193800"/>
            <a:ext cx="9001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网桥 </a:t>
            </a:r>
            <a:r>
              <a:rPr kumimoji="1" lang="en-US" altLang="zh-CN">
                <a:solidFill>
                  <a:srgbClr val="333399"/>
                </a:solidFill>
                <a:latin typeface="Arial" pitchFamily="34" charset="0"/>
                <a:ea typeface="黑体" pitchFamily="49" charset="-122"/>
              </a:rPr>
              <a:t>2</a:t>
            </a:r>
          </a:p>
        </p:txBody>
      </p:sp>
      <p:sp>
        <p:nvSpPr>
          <p:cNvPr id="97301" name="Rectangle 21"/>
          <p:cNvSpPr>
            <a:spLocks noChangeArrowheads="1"/>
          </p:cNvSpPr>
          <p:nvPr/>
        </p:nvSpPr>
        <p:spPr bwMode="auto">
          <a:xfrm>
            <a:off x="1951038" y="1854200"/>
            <a:ext cx="3524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A</a:t>
            </a:r>
          </a:p>
        </p:txBody>
      </p:sp>
      <p:sp>
        <p:nvSpPr>
          <p:cNvPr id="97302" name="Rectangle 22"/>
          <p:cNvSpPr>
            <a:spLocks noChangeArrowheads="1"/>
          </p:cNvSpPr>
          <p:nvPr/>
        </p:nvSpPr>
        <p:spPr bwMode="auto">
          <a:xfrm>
            <a:off x="6904038" y="1847850"/>
            <a:ext cx="3492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B</a:t>
            </a:r>
          </a:p>
        </p:txBody>
      </p:sp>
      <p:sp>
        <p:nvSpPr>
          <p:cNvPr id="97303" name="Freeform 23"/>
          <p:cNvSpPr>
            <a:spLocks/>
          </p:cNvSpPr>
          <p:nvPr/>
        </p:nvSpPr>
        <p:spPr bwMode="auto">
          <a:xfrm>
            <a:off x="747713" y="2486025"/>
            <a:ext cx="1206500" cy="339725"/>
          </a:xfrm>
          <a:custGeom>
            <a:avLst/>
            <a:gdLst>
              <a:gd name="T0" fmla="*/ 0 w 769"/>
              <a:gd name="T1" fmla="*/ 0 h 235"/>
              <a:gd name="T2" fmla="*/ 0 w 769"/>
              <a:gd name="T3" fmla="*/ 2147483647 h 235"/>
              <a:gd name="T4" fmla="*/ 2147483647 w 769"/>
              <a:gd name="T5" fmla="*/ 2147483647 h 235"/>
              <a:gd name="T6" fmla="*/ 2147483647 w 769"/>
              <a:gd name="T7" fmla="*/ 2147483647 h 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235">
                <a:moveTo>
                  <a:pt x="0" y="0"/>
                </a:moveTo>
                <a:lnTo>
                  <a:pt x="0" y="234"/>
                </a:lnTo>
                <a:lnTo>
                  <a:pt x="768" y="234"/>
                </a:lnTo>
                <a:lnTo>
                  <a:pt x="768" y="6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304" name="Freeform 24"/>
          <p:cNvSpPr>
            <a:spLocks/>
          </p:cNvSpPr>
          <p:nvPr/>
        </p:nvSpPr>
        <p:spPr bwMode="auto">
          <a:xfrm>
            <a:off x="2311400" y="2478088"/>
            <a:ext cx="811213" cy="347662"/>
          </a:xfrm>
          <a:custGeom>
            <a:avLst/>
            <a:gdLst>
              <a:gd name="T0" fmla="*/ 0 w 517"/>
              <a:gd name="T1" fmla="*/ 2147483647 h 241"/>
              <a:gd name="T2" fmla="*/ 0 w 517"/>
              <a:gd name="T3" fmla="*/ 2147483647 h 241"/>
              <a:gd name="T4" fmla="*/ 2147483647 w 517"/>
              <a:gd name="T5" fmla="*/ 2147483647 h 241"/>
              <a:gd name="T6" fmla="*/ 2147483647 w 517"/>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17" h="241">
                <a:moveTo>
                  <a:pt x="0" y="66"/>
                </a:moveTo>
                <a:lnTo>
                  <a:pt x="0" y="240"/>
                </a:lnTo>
                <a:lnTo>
                  <a:pt x="516" y="240"/>
                </a:lnTo>
                <a:lnTo>
                  <a:pt x="516"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849" name="Freeform 25"/>
          <p:cNvSpPr>
            <a:spLocks/>
          </p:cNvSpPr>
          <p:nvPr/>
        </p:nvSpPr>
        <p:spPr bwMode="auto">
          <a:xfrm>
            <a:off x="3827463" y="2478088"/>
            <a:ext cx="1387475" cy="347662"/>
          </a:xfrm>
          <a:custGeom>
            <a:avLst/>
            <a:gdLst>
              <a:gd name="T0" fmla="*/ 0 w 883"/>
              <a:gd name="T1" fmla="*/ 0 h 241"/>
              <a:gd name="T2" fmla="*/ 0 w 883"/>
              <a:gd name="T3" fmla="*/ 2147483647 h 241"/>
              <a:gd name="T4" fmla="*/ 2147483647 w 883"/>
              <a:gd name="T5" fmla="*/ 2147483647 h 241"/>
              <a:gd name="T6" fmla="*/ 2147483647 w 883"/>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3" h="241">
                <a:moveTo>
                  <a:pt x="0" y="0"/>
                </a:moveTo>
                <a:lnTo>
                  <a:pt x="0" y="240"/>
                </a:lnTo>
                <a:lnTo>
                  <a:pt x="882" y="240"/>
                </a:lnTo>
                <a:lnTo>
                  <a:pt x="882" y="0"/>
                </a:lnTo>
              </a:path>
            </a:pathLst>
          </a:custGeom>
          <a:noFill/>
          <a:ln w="57150"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306" name="Freeform 26"/>
          <p:cNvSpPr>
            <a:spLocks/>
          </p:cNvSpPr>
          <p:nvPr/>
        </p:nvSpPr>
        <p:spPr bwMode="auto">
          <a:xfrm>
            <a:off x="5929313" y="2478088"/>
            <a:ext cx="944562" cy="347662"/>
          </a:xfrm>
          <a:custGeom>
            <a:avLst/>
            <a:gdLst>
              <a:gd name="T0" fmla="*/ 0 w 601"/>
              <a:gd name="T1" fmla="*/ 0 h 241"/>
              <a:gd name="T2" fmla="*/ 0 w 601"/>
              <a:gd name="T3" fmla="*/ 2147483647 h 241"/>
              <a:gd name="T4" fmla="*/ 2147483647 w 601"/>
              <a:gd name="T5" fmla="*/ 2147483647 h 241"/>
              <a:gd name="T6" fmla="*/ 2147483647 w 601"/>
              <a:gd name="T7" fmla="*/ 2147483647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1" h="241">
                <a:moveTo>
                  <a:pt x="0" y="0"/>
                </a:moveTo>
                <a:lnTo>
                  <a:pt x="0" y="240"/>
                </a:lnTo>
                <a:lnTo>
                  <a:pt x="600" y="240"/>
                </a:lnTo>
                <a:lnTo>
                  <a:pt x="600" y="72"/>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307" name="Freeform 27"/>
          <p:cNvSpPr>
            <a:spLocks/>
          </p:cNvSpPr>
          <p:nvPr/>
        </p:nvSpPr>
        <p:spPr bwMode="auto">
          <a:xfrm>
            <a:off x="7192963" y="2478088"/>
            <a:ext cx="1171575" cy="347662"/>
          </a:xfrm>
          <a:custGeom>
            <a:avLst/>
            <a:gdLst>
              <a:gd name="T0" fmla="*/ 0 w 745"/>
              <a:gd name="T1" fmla="*/ 2147483647 h 241"/>
              <a:gd name="T2" fmla="*/ 0 w 745"/>
              <a:gd name="T3" fmla="*/ 2147483647 h 241"/>
              <a:gd name="T4" fmla="*/ 2147483647 w 745"/>
              <a:gd name="T5" fmla="*/ 2147483647 h 241"/>
              <a:gd name="T6" fmla="*/ 2147483647 w 745"/>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45" h="241">
                <a:moveTo>
                  <a:pt x="0" y="66"/>
                </a:moveTo>
                <a:lnTo>
                  <a:pt x="0" y="240"/>
                </a:lnTo>
                <a:lnTo>
                  <a:pt x="744" y="240"/>
                </a:lnTo>
                <a:lnTo>
                  <a:pt x="74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308" name="Rectangle 28"/>
          <p:cNvSpPr>
            <a:spLocks noChangeArrowheads="1"/>
          </p:cNvSpPr>
          <p:nvPr/>
        </p:nvSpPr>
        <p:spPr bwMode="auto">
          <a:xfrm>
            <a:off x="1327150" y="981075"/>
            <a:ext cx="4524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p>
        </p:txBody>
      </p:sp>
      <p:sp>
        <p:nvSpPr>
          <p:cNvPr id="97309" name="Rectangle 29"/>
          <p:cNvSpPr>
            <a:spLocks noChangeArrowheads="1"/>
          </p:cNvSpPr>
          <p:nvPr/>
        </p:nvSpPr>
        <p:spPr bwMode="auto">
          <a:xfrm>
            <a:off x="1320800" y="1390650"/>
            <a:ext cx="4524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p>
        </p:txBody>
      </p:sp>
      <p:sp>
        <p:nvSpPr>
          <p:cNvPr id="97310" name="Rectangle 30"/>
          <p:cNvSpPr>
            <a:spLocks noChangeArrowheads="1"/>
          </p:cNvSpPr>
          <p:nvPr/>
        </p:nvSpPr>
        <p:spPr bwMode="auto">
          <a:xfrm>
            <a:off x="1330325" y="1822450"/>
            <a:ext cx="4524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p>
        </p:txBody>
      </p:sp>
      <p:sp>
        <p:nvSpPr>
          <p:cNvPr id="97311" name="Rectangle 31"/>
          <p:cNvSpPr>
            <a:spLocks noChangeArrowheads="1"/>
          </p:cNvSpPr>
          <p:nvPr/>
        </p:nvSpPr>
        <p:spPr bwMode="auto">
          <a:xfrm>
            <a:off x="2333625" y="1838325"/>
            <a:ext cx="4524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p>
        </p:txBody>
      </p:sp>
      <p:sp>
        <p:nvSpPr>
          <p:cNvPr id="97312" name="Rectangle 32"/>
          <p:cNvSpPr>
            <a:spLocks noChangeArrowheads="1"/>
          </p:cNvSpPr>
          <p:nvPr/>
        </p:nvSpPr>
        <p:spPr bwMode="auto">
          <a:xfrm>
            <a:off x="4346575" y="2444750"/>
            <a:ext cx="4524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p>
        </p:txBody>
      </p:sp>
      <p:sp>
        <p:nvSpPr>
          <p:cNvPr id="97313" name="Rectangle 33"/>
          <p:cNvSpPr>
            <a:spLocks noChangeArrowheads="1"/>
          </p:cNvSpPr>
          <p:nvPr/>
        </p:nvSpPr>
        <p:spPr bwMode="auto">
          <a:xfrm>
            <a:off x="6369050" y="1846263"/>
            <a:ext cx="4524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p>
        </p:txBody>
      </p:sp>
      <p:sp>
        <p:nvSpPr>
          <p:cNvPr id="97314" name="Rectangle 34"/>
          <p:cNvSpPr>
            <a:spLocks noChangeArrowheads="1"/>
          </p:cNvSpPr>
          <p:nvPr/>
        </p:nvSpPr>
        <p:spPr bwMode="auto">
          <a:xfrm>
            <a:off x="7315200" y="1871663"/>
            <a:ext cx="4524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p>
        </p:txBody>
      </p:sp>
      <p:sp>
        <p:nvSpPr>
          <p:cNvPr id="97315" name="Rectangle 35"/>
          <p:cNvSpPr>
            <a:spLocks noChangeArrowheads="1"/>
          </p:cNvSpPr>
          <p:nvPr/>
        </p:nvSpPr>
        <p:spPr bwMode="auto">
          <a:xfrm>
            <a:off x="7315200" y="1436688"/>
            <a:ext cx="4524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p>
        </p:txBody>
      </p:sp>
      <p:sp>
        <p:nvSpPr>
          <p:cNvPr id="97316" name="Rectangle 36"/>
          <p:cNvSpPr>
            <a:spLocks noChangeArrowheads="1"/>
          </p:cNvSpPr>
          <p:nvPr/>
        </p:nvSpPr>
        <p:spPr bwMode="auto">
          <a:xfrm>
            <a:off x="7315200" y="1014413"/>
            <a:ext cx="4524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p>
        </p:txBody>
      </p:sp>
      <p:sp>
        <p:nvSpPr>
          <p:cNvPr id="97317" name="Rectangle 37"/>
          <p:cNvSpPr>
            <a:spLocks noChangeArrowheads="1"/>
          </p:cNvSpPr>
          <p:nvPr/>
        </p:nvSpPr>
        <p:spPr bwMode="auto">
          <a:xfrm>
            <a:off x="4851400" y="3132138"/>
            <a:ext cx="1674813" cy="379412"/>
          </a:xfrm>
          <a:prstGeom prst="rect">
            <a:avLst/>
          </a:prstGeom>
          <a:solidFill>
            <a:srgbClr val="CCECFF"/>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zh-CN" altLang="en-US">
                <a:solidFill>
                  <a:srgbClr val="333399"/>
                </a:solidFill>
                <a:latin typeface="Arial" pitchFamily="34" charset="0"/>
                <a:ea typeface="黑体" pitchFamily="49" charset="-122"/>
              </a:rPr>
              <a:t>用户数据</a:t>
            </a:r>
          </a:p>
        </p:txBody>
      </p:sp>
      <p:sp>
        <p:nvSpPr>
          <p:cNvPr id="97318" name="Rectangle 38"/>
          <p:cNvSpPr>
            <a:spLocks noChangeArrowheads="1"/>
          </p:cNvSpPr>
          <p:nvPr/>
        </p:nvSpPr>
        <p:spPr bwMode="auto">
          <a:xfrm>
            <a:off x="4124325" y="3736975"/>
            <a:ext cx="2401888" cy="381000"/>
          </a:xfrm>
          <a:prstGeom prst="rect">
            <a:avLst/>
          </a:prstGeom>
          <a:solidFill>
            <a:srgbClr val="FFFF66"/>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19" name="Rectangle 39"/>
          <p:cNvSpPr>
            <a:spLocks noChangeArrowheads="1"/>
          </p:cNvSpPr>
          <p:nvPr/>
        </p:nvSpPr>
        <p:spPr bwMode="auto">
          <a:xfrm>
            <a:off x="4186238" y="3733800"/>
            <a:ext cx="688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IP-H</a:t>
            </a:r>
          </a:p>
        </p:txBody>
      </p:sp>
      <p:sp>
        <p:nvSpPr>
          <p:cNvPr id="97320" name="Line 40"/>
          <p:cNvSpPr>
            <a:spLocks noChangeShapeType="1"/>
          </p:cNvSpPr>
          <p:nvPr/>
        </p:nvSpPr>
        <p:spPr bwMode="auto">
          <a:xfrm>
            <a:off x="4827588" y="3736975"/>
            <a:ext cx="0" cy="365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1" name="Rectangle 41"/>
          <p:cNvSpPr>
            <a:spLocks noChangeArrowheads="1"/>
          </p:cNvSpPr>
          <p:nvPr/>
        </p:nvSpPr>
        <p:spPr bwMode="auto">
          <a:xfrm>
            <a:off x="3006725" y="4318000"/>
            <a:ext cx="4640263" cy="377825"/>
          </a:xfrm>
          <a:prstGeom prst="rect">
            <a:avLst/>
          </a:prstGeom>
          <a:solidFill>
            <a:srgbClr val="FFCCFF"/>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2" name="Rectangle 42"/>
          <p:cNvSpPr>
            <a:spLocks noChangeArrowheads="1"/>
          </p:cNvSpPr>
          <p:nvPr/>
        </p:nvSpPr>
        <p:spPr bwMode="auto">
          <a:xfrm>
            <a:off x="3021013" y="4311650"/>
            <a:ext cx="101441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MAC-H</a:t>
            </a:r>
          </a:p>
        </p:txBody>
      </p:sp>
      <p:sp>
        <p:nvSpPr>
          <p:cNvPr id="97323" name="Rectangle 43"/>
          <p:cNvSpPr>
            <a:spLocks noChangeArrowheads="1"/>
          </p:cNvSpPr>
          <p:nvPr/>
        </p:nvSpPr>
        <p:spPr bwMode="auto">
          <a:xfrm>
            <a:off x="6624638" y="4306888"/>
            <a:ext cx="985837"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MAC-T</a:t>
            </a:r>
          </a:p>
        </p:txBody>
      </p:sp>
      <p:sp>
        <p:nvSpPr>
          <p:cNvPr id="97324" name="Line 44"/>
          <p:cNvSpPr>
            <a:spLocks noChangeShapeType="1"/>
          </p:cNvSpPr>
          <p:nvPr/>
        </p:nvSpPr>
        <p:spPr bwMode="auto">
          <a:xfrm>
            <a:off x="4125913" y="4332288"/>
            <a:ext cx="0" cy="3524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5" name="Line 45"/>
          <p:cNvSpPr>
            <a:spLocks noChangeShapeType="1"/>
          </p:cNvSpPr>
          <p:nvPr/>
        </p:nvSpPr>
        <p:spPr bwMode="auto">
          <a:xfrm>
            <a:off x="6542088" y="4337050"/>
            <a:ext cx="0" cy="3540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6" name="Rectangle 46"/>
          <p:cNvSpPr>
            <a:spLocks noChangeArrowheads="1"/>
          </p:cNvSpPr>
          <p:nvPr/>
        </p:nvSpPr>
        <p:spPr bwMode="auto">
          <a:xfrm>
            <a:off x="2101850" y="4883150"/>
            <a:ext cx="6478588" cy="379413"/>
          </a:xfrm>
          <a:prstGeom prst="rect">
            <a:avLst/>
          </a:prstGeom>
          <a:solidFill>
            <a:srgbClr val="99CCFF"/>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7" name="Rectangle 47"/>
          <p:cNvSpPr>
            <a:spLocks noChangeArrowheads="1"/>
          </p:cNvSpPr>
          <p:nvPr/>
        </p:nvSpPr>
        <p:spPr bwMode="auto">
          <a:xfrm>
            <a:off x="2154238" y="4876800"/>
            <a:ext cx="7747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DL-H</a:t>
            </a:r>
          </a:p>
        </p:txBody>
      </p:sp>
      <p:sp>
        <p:nvSpPr>
          <p:cNvPr id="97328" name="Line 48"/>
          <p:cNvSpPr>
            <a:spLocks noChangeShapeType="1"/>
          </p:cNvSpPr>
          <p:nvPr/>
        </p:nvSpPr>
        <p:spPr bwMode="auto">
          <a:xfrm>
            <a:off x="3008313" y="4891088"/>
            <a:ext cx="0" cy="3778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9" name="Line 49"/>
          <p:cNvSpPr>
            <a:spLocks noChangeShapeType="1"/>
          </p:cNvSpPr>
          <p:nvPr/>
        </p:nvSpPr>
        <p:spPr bwMode="auto">
          <a:xfrm>
            <a:off x="7659688" y="4891088"/>
            <a:ext cx="0" cy="3778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30" name="Rectangle 50"/>
          <p:cNvSpPr>
            <a:spLocks noChangeArrowheads="1"/>
          </p:cNvSpPr>
          <p:nvPr/>
        </p:nvSpPr>
        <p:spPr bwMode="auto">
          <a:xfrm>
            <a:off x="7718425" y="4879975"/>
            <a:ext cx="746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DL-T</a:t>
            </a:r>
          </a:p>
        </p:txBody>
      </p:sp>
      <p:sp>
        <p:nvSpPr>
          <p:cNvPr id="97331" name="Rectangle 51"/>
          <p:cNvSpPr>
            <a:spLocks noChangeArrowheads="1"/>
          </p:cNvSpPr>
          <p:nvPr/>
        </p:nvSpPr>
        <p:spPr bwMode="auto">
          <a:xfrm>
            <a:off x="293688" y="3135313"/>
            <a:ext cx="8080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r>
              <a:rPr kumimoji="1" lang="en-US" altLang="zh-CN" sz="2400">
                <a:solidFill>
                  <a:srgbClr val="333399"/>
                </a:solidFill>
                <a:latin typeface="Arial" pitchFamily="34" charset="0"/>
                <a:ea typeface="黑体" pitchFamily="49" charset="-122"/>
              </a:rPr>
              <a:t> </a:t>
            </a:r>
            <a:r>
              <a:rPr kumimoji="1" lang="en-US" altLang="zh-CN" sz="2400">
                <a:solidFill>
                  <a:srgbClr val="333399"/>
                </a:solidFill>
                <a:latin typeface="Arial" pitchFamily="34" charset="0"/>
                <a:ea typeface="黑体" pitchFamily="49" charset="-122"/>
                <a:sym typeface="Wingdings" pitchFamily="2" charset="2"/>
              </a:rPr>
              <a:t></a:t>
            </a:r>
          </a:p>
        </p:txBody>
      </p:sp>
      <p:sp>
        <p:nvSpPr>
          <p:cNvPr id="97332" name="Rectangle 52"/>
          <p:cNvSpPr>
            <a:spLocks noChangeArrowheads="1"/>
          </p:cNvSpPr>
          <p:nvPr/>
        </p:nvSpPr>
        <p:spPr bwMode="auto">
          <a:xfrm>
            <a:off x="258763" y="3695700"/>
            <a:ext cx="8080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r>
              <a:rPr kumimoji="1" lang="en-US" altLang="zh-CN" sz="2400">
                <a:solidFill>
                  <a:srgbClr val="333399"/>
                </a:solidFill>
                <a:latin typeface="Arial" pitchFamily="34" charset="0"/>
                <a:ea typeface="黑体" pitchFamily="49" charset="-122"/>
              </a:rPr>
              <a:t> </a:t>
            </a:r>
            <a:r>
              <a:rPr kumimoji="1" lang="en-US" altLang="zh-CN" sz="2400">
                <a:solidFill>
                  <a:srgbClr val="333399"/>
                </a:solidFill>
                <a:latin typeface="Arial" pitchFamily="34" charset="0"/>
                <a:ea typeface="黑体" pitchFamily="49" charset="-122"/>
                <a:sym typeface="Wingdings" pitchFamily="2" charset="2"/>
              </a:rPr>
              <a:t></a:t>
            </a:r>
          </a:p>
        </p:txBody>
      </p:sp>
      <p:sp>
        <p:nvSpPr>
          <p:cNvPr id="97333" name="Rectangle 53"/>
          <p:cNvSpPr>
            <a:spLocks noChangeArrowheads="1"/>
          </p:cNvSpPr>
          <p:nvPr/>
        </p:nvSpPr>
        <p:spPr bwMode="auto">
          <a:xfrm>
            <a:off x="38100" y="4292600"/>
            <a:ext cx="15192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r>
              <a:rPr kumimoji="1" lang="en-US" altLang="zh-CN" sz="2400">
                <a:solidFill>
                  <a:srgbClr val="333399"/>
                </a:solidFill>
                <a:latin typeface="Arial" pitchFamily="34" charset="0"/>
                <a:ea typeface="黑体" pitchFamily="49" charset="-122"/>
              </a:rPr>
              <a:t> </a:t>
            </a:r>
            <a:r>
              <a:rPr kumimoji="1" lang="en-US" altLang="zh-CN" sz="2400">
                <a:solidFill>
                  <a:srgbClr val="333399"/>
                </a:solidFill>
                <a:latin typeface="Arial" pitchFamily="34" charset="0"/>
                <a:ea typeface="黑体" pitchFamily="49" charset="-122"/>
                <a:sym typeface="Wingdings" pitchFamily="2" charset="2"/>
              </a:rPr>
              <a:t></a:t>
            </a:r>
            <a:r>
              <a:rPr kumimoji="1" lang="en-US" altLang="zh-CN" sz="2400">
                <a:solidFill>
                  <a:srgbClr val="333399"/>
                </a:solidFill>
                <a:latin typeface="Arial" pitchFamily="34" charset="0"/>
                <a:ea typeface="黑体" pitchFamily="49" charset="-122"/>
              </a:rPr>
              <a:t> </a:t>
            </a:r>
            <a:r>
              <a:rPr kumimoji="1" lang="en-US" altLang="zh-CN" sz="2400">
                <a:solidFill>
                  <a:srgbClr val="333399"/>
                </a:solidFill>
                <a:latin typeface="Arial" pitchFamily="34" charset="0"/>
                <a:ea typeface="黑体" pitchFamily="49" charset="-122"/>
                <a:sym typeface="Wingdings" pitchFamily="2" charset="2"/>
              </a:rPr>
              <a:t></a:t>
            </a:r>
            <a:r>
              <a:rPr kumimoji="1" lang="en-US" altLang="zh-CN" sz="2400">
                <a:solidFill>
                  <a:srgbClr val="333399"/>
                </a:solidFill>
                <a:latin typeface="Arial" pitchFamily="34" charset="0"/>
                <a:ea typeface="黑体" pitchFamily="49" charset="-122"/>
              </a:rPr>
              <a:t> </a:t>
            </a:r>
            <a:r>
              <a:rPr kumimoji="1" lang="en-US" altLang="zh-CN" sz="2400">
                <a:solidFill>
                  <a:srgbClr val="333399"/>
                </a:solidFill>
                <a:latin typeface="Arial" pitchFamily="34" charset="0"/>
                <a:ea typeface="黑体" pitchFamily="49" charset="-122"/>
                <a:sym typeface="Wingdings" pitchFamily="2" charset="2"/>
              </a:rPr>
              <a:t></a:t>
            </a:r>
          </a:p>
        </p:txBody>
      </p:sp>
      <p:sp>
        <p:nvSpPr>
          <p:cNvPr id="97334" name="Rectangle 54"/>
          <p:cNvSpPr>
            <a:spLocks noChangeArrowheads="1"/>
          </p:cNvSpPr>
          <p:nvPr/>
        </p:nvSpPr>
        <p:spPr bwMode="auto">
          <a:xfrm>
            <a:off x="452438" y="4840288"/>
            <a:ext cx="4524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rgbClr val="333399"/>
                </a:solidFill>
                <a:latin typeface="Arial" pitchFamily="34" charset="0"/>
                <a:ea typeface="黑体" pitchFamily="49" charset="-122"/>
                <a:sym typeface="Wingdings" pitchFamily="2" charset="2"/>
              </a:rPr>
              <a:t></a:t>
            </a:r>
          </a:p>
        </p:txBody>
      </p:sp>
      <p:sp>
        <p:nvSpPr>
          <p:cNvPr id="97335" name="Line 55"/>
          <p:cNvSpPr>
            <a:spLocks noChangeShapeType="1"/>
          </p:cNvSpPr>
          <p:nvPr/>
        </p:nvSpPr>
        <p:spPr bwMode="auto">
          <a:xfrm flipH="1" flipV="1">
            <a:off x="955675" y="3327400"/>
            <a:ext cx="3859213"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36" name="Line 56"/>
          <p:cNvSpPr>
            <a:spLocks noChangeShapeType="1"/>
          </p:cNvSpPr>
          <p:nvPr/>
        </p:nvSpPr>
        <p:spPr bwMode="auto">
          <a:xfrm flipH="1">
            <a:off x="938213" y="3916363"/>
            <a:ext cx="3103562" cy="0"/>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37" name="Line 57"/>
          <p:cNvSpPr>
            <a:spLocks noChangeShapeType="1"/>
          </p:cNvSpPr>
          <p:nvPr/>
        </p:nvSpPr>
        <p:spPr bwMode="auto">
          <a:xfrm flipH="1">
            <a:off x="1422400" y="4497388"/>
            <a:ext cx="1527175" cy="0"/>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38" name="Line 58"/>
          <p:cNvSpPr>
            <a:spLocks noChangeShapeType="1"/>
          </p:cNvSpPr>
          <p:nvPr/>
        </p:nvSpPr>
        <p:spPr bwMode="auto">
          <a:xfrm flipH="1">
            <a:off x="806450" y="5067300"/>
            <a:ext cx="1238250" cy="0"/>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39" name="Rectangle 59"/>
          <p:cNvSpPr>
            <a:spLocks noChangeArrowheads="1"/>
          </p:cNvSpPr>
          <p:nvPr/>
        </p:nvSpPr>
        <p:spPr bwMode="auto">
          <a:xfrm>
            <a:off x="7856538" y="2078038"/>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物理层</a:t>
            </a:r>
          </a:p>
        </p:txBody>
      </p:sp>
      <p:sp>
        <p:nvSpPr>
          <p:cNvPr id="97340" name="Rectangle 60"/>
          <p:cNvSpPr>
            <a:spLocks noChangeArrowheads="1"/>
          </p:cNvSpPr>
          <p:nvPr/>
        </p:nvSpPr>
        <p:spPr bwMode="auto">
          <a:xfrm>
            <a:off x="4787900" y="1606550"/>
            <a:ext cx="1595438" cy="868363"/>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7341" name="Line 61"/>
          <p:cNvSpPr>
            <a:spLocks noChangeShapeType="1"/>
          </p:cNvSpPr>
          <p:nvPr/>
        </p:nvSpPr>
        <p:spPr bwMode="auto">
          <a:xfrm>
            <a:off x="4791075" y="2044700"/>
            <a:ext cx="1589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42" name="Line 62"/>
          <p:cNvSpPr>
            <a:spLocks noChangeShapeType="1"/>
          </p:cNvSpPr>
          <p:nvPr/>
        </p:nvSpPr>
        <p:spPr bwMode="auto">
          <a:xfrm>
            <a:off x="5564188" y="2051050"/>
            <a:ext cx="0" cy="4206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43" name="Line 63"/>
          <p:cNvSpPr>
            <a:spLocks noChangeShapeType="1"/>
          </p:cNvSpPr>
          <p:nvPr/>
        </p:nvSpPr>
        <p:spPr bwMode="auto">
          <a:xfrm>
            <a:off x="4781550" y="1608138"/>
            <a:ext cx="776288"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44" name="Line 64"/>
          <p:cNvSpPr>
            <a:spLocks noChangeShapeType="1"/>
          </p:cNvSpPr>
          <p:nvPr/>
        </p:nvSpPr>
        <p:spPr bwMode="auto">
          <a:xfrm flipV="1">
            <a:off x="5573713" y="1597025"/>
            <a:ext cx="795337" cy="454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45" name="Rectangle 65"/>
          <p:cNvSpPr>
            <a:spLocks noChangeArrowheads="1"/>
          </p:cNvSpPr>
          <p:nvPr/>
        </p:nvSpPr>
        <p:spPr bwMode="auto">
          <a:xfrm>
            <a:off x="4770438" y="1733550"/>
            <a:ext cx="508000" cy="3937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DL</a:t>
            </a:r>
          </a:p>
        </p:txBody>
      </p:sp>
      <p:sp>
        <p:nvSpPr>
          <p:cNvPr id="97346" name="Rectangle 66"/>
          <p:cNvSpPr>
            <a:spLocks noChangeArrowheads="1"/>
          </p:cNvSpPr>
          <p:nvPr/>
        </p:nvSpPr>
        <p:spPr bwMode="auto">
          <a:xfrm>
            <a:off x="5381625" y="1574800"/>
            <a:ext cx="365125" cy="3937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R</a:t>
            </a:r>
          </a:p>
        </p:txBody>
      </p:sp>
      <p:sp>
        <p:nvSpPr>
          <p:cNvPr id="97347" name="Rectangle 67"/>
          <p:cNvSpPr>
            <a:spLocks noChangeArrowheads="1"/>
          </p:cNvSpPr>
          <p:nvPr/>
        </p:nvSpPr>
        <p:spPr bwMode="auto">
          <a:xfrm>
            <a:off x="5741988" y="1738313"/>
            <a:ext cx="606425" cy="244475"/>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48" name="Rectangle 68"/>
          <p:cNvSpPr>
            <a:spLocks noChangeArrowheads="1"/>
          </p:cNvSpPr>
          <p:nvPr/>
        </p:nvSpPr>
        <p:spPr bwMode="auto">
          <a:xfrm>
            <a:off x="5676900" y="1717675"/>
            <a:ext cx="747713" cy="3937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MAC</a:t>
            </a:r>
          </a:p>
        </p:txBody>
      </p:sp>
      <p:sp>
        <p:nvSpPr>
          <p:cNvPr id="97349" name="Rectangle 69"/>
          <p:cNvSpPr>
            <a:spLocks noChangeArrowheads="1"/>
          </p:cNvSpPr>
          <p:nvPr/>
        </p:nvSpPr>
        <p:spPr bwMode="auto">
          <a:xfrm>
            <a:off x="5502275" y="2078038"/>
            <a:ext cx="941388" cy="3937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物理层</a:t>
            </a:r>
          </a:p>
        </p:txBody>
      </p:sp>
      <p:sp>
        <p:nvSpPr>
          <p:cNvPr id="97350" name="Rectangle 70"/>
          <p:cNvSpPr>
            <a:spLocks noChangeArrowheads="1"/>
          </p:cNvSpPr>
          <p:nvPr/>
        </p:nvSpPr>
        <p:spPr bwMode="auto">
          <a:xfrm>
            <a:off x="4718050" y="2078038"/>
            <a:ext cx="944563" cy="3937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物理层</a:t>
            </a:r>
          </a:p>
        </p:txBody>
      </p:sp>
      <p:sp>
        <p:nvSpPr>
          <p:cNvPr id="97351" name="Rectangle 71"/>
          <p:cNvSpPr>
            <a:spLocks noChangeArrowheads="1"/>
          </p:cNvSpPr>
          <p:nvPr/>
        </p:nvSpPr>
        <p:spPr bwMode="auto">
          <a:xfrm>
            <a:off x="2695575" y="1606550"/>
            <a:ext cx="1716088" cy="868363"/>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7352" name="Line 72"/>
          <p:cNvSpPr>
            <a:spLocks noChangeShapeType="1"/>
          </p:cNvSpPr>
          <p:nvPr/>
        </p:nvSpPr>
        <p:spPr bwMode="auto">
          <a:xfrm>
            <a:off x="2698750" y="2044700"/>
            <a:ext cx="17081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53" name="Line 73"/>
          <p:cNvSpPr>
            <a:spLocks noChangeShapeType="1"/>
          </p:cNvSpPr>
          <p:nvPr/>
        </p:nvSpPr>
        <p:spPr bwMode="auto">
          <a:xfrm>
            <a:off x="3530600" y="2051050"/>
            <a:ext cx="0" cy="4206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54" name="Line 74"/>
          <p:cNvSpPr>
            <a:spLocks noChangeShapeType="1"/>
          </p:cNvSpPr>
          <p:nvPr/>
        </p:nvSpPr>
        <p:spPr bwMode="auto">
          <a:xfrm>
            <a:off x="2687638" y="1608138"/>
            <a:ext cx="836612"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55" name="Line 75"/>
          <p:cNvSpPr>
            <a:spLocks noChangeShapeType="1"/>
          </p:cNvSpPr>
          <p:nvPr/>
        </p:nvSpPr>
        <p:spPr bwMode="auto">
          <a:xfrm flipV="1">
            <a:off x="3538538" y="1597025"/>
            <a:ext cx="857250" cy="454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56" name="Rectangle 76"/>
          <p:cNvSpPr>
            <a:spLocks noChangeArrowheads="1"/>
          </p:cNvSpPr>
          <p:nvPr/>
        </p:nvSpPr>
        <p:spPr bwMode="auto">
          <a:xfrm>
            <a:off x="3868738" y="1717675"/>
            <a:ext cx="5048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DL</a:t>
            </a:r>
          </a:p>
        </p:txBody>
      </p:sp>
      <p:sp>
        <p:nvSpPr>
          <p:cNvPr id="97357" name="Rectangle 77"/>
          <p:cNvSpPr>
            <a:spLocks noChangeArrowheads="1"/>
          </p:cNvSpPr>
          <p:nvPr/>
        </p:nvSpPr>
        <p:spPr bwMode="auto">
          <a:xfrm>
            <a:off x="3365500" y="1590675"/>
            <a:ext cx="3667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R</a:t>
            </a:r>
          </a:p>
        </p:txBody>
      </p:sp>
      <p:grpSp>
        <p:nvGrpSpPr>
          <p:cNvPr id="97358" name="Group 78"/>
          <p:cNvGrpSpPr>
            <a:grpSpLocks/>
          </p:cNvGrpSpPr>
          <p:nvPr/>
        </p:nvGrpSpPr>
        <p:grpSpPr bwMode="auto">
          <a:xfrm>
            <a:off x="2627313" y="1700213"/>
            <a:ext cx="746125" cy="393700"/>
            <a:chOff x="1713" y="1174"/>
            <a:chExt cx="411" cy="271"/>
          </a:xfrm>
        </p:grpSpPr>
        <p:sp>
          <p:nvSpPr>
            <p:cNvPr id="97385" name="Rectangle 79"/>
            <p:cNvSpPr>
              <a:spLocks noChangeArrowheads="1"/>
            </p:cNvSpPr>
            <p:nvPr/>
          </p:nvSpPr>
          <p:spPr bwMode="auto">
            <a:xfrm>
              <a:off x="1752" y="1188"/>
              <a:ext cx="360" cy="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86" name="Rectangle 80"/>
            <p:cNvSpPr>
              <a:spLocks noChangeArrowheads="1"/>
            </p:cNvSpPr>
            <p:nvPr/>
          </p:nvSpPr>
          <p:spPr bwMode="auto">
            <a:xfrm>
              <a:off x="1713" y="1174"/>
              <a:ext cx="411"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MAC</a:t>
              </a:r>
            </a:p>
          </p:txBody>
        </p:sp>
      </p:grpSp>
      <p:sp>
        <p:nvSpPr>
          <p:cNvPr id="97359" name="Rectangle 81"/>
          <p:cNvSpPr>
            <a:spLocks noChangeArrowheads="1"/>
          </p:cNvSpPr>
          <p:nvPr/>
        </p:nvSpPr>
        <p:spPr bwMode="auto">
          <a:xfrm>
            <a:off x="3482975" y="2078038"/>
            <a:ext cx="9445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物理层</a:t>
            </a:r>
          </a:p>
        </p:txBody>
      </p:sp>
      <p:sp>
        <p:nvSpPr>
          <p:cNvPr id="97360" name="Rectangle 82"/>
          <p:cNvSpPr>
            <a:spLocks noChangeArrowheads="1"/>
          </p:cNvSpPr>
          <p:nvPr/>
        </p:nvSpPr>
        <p:spPr bwMode="auto">
          <a:xfrm>
            <a:off x="2625725" y="2078038"/>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物理层</a:t>
            </a:r>
          </a:p>
        </p:txBody>
      </p:sp>
      <p:grpSp>
        <p:nvGrpSpPr>
          <p:cNvPr id="97361" name="Group 83"/>
          <p:cNvGrpSpPr>
            <a:grpSpLocks/>
          </p:cNvGrpSpPr>
          <p:nvPr/>
        </p:nvGrpSpPr>
        <p:grpSpPr bwMode="auto">
          <a:xfrm>
            <a:off x="1673225" y="2170113"/>
            <a:ext cx="904875" cy="549275"/>
            <a:chOff x="1105" y="1444"/>
            <a:chExt cx="527" cy="380"/>
          </a:xfrm>
        </p:grpSpPr>
        <p:sp>
          <p:nvSpPr>
            <p:cNvPr id="97378" name="Oval 84"/>
            <p:cNvSpPr>
              <a:spLocks noChangeArrowheads="1"/>
            </p:cNvSpPr>
            <p:nvPr/>
          </p:nvSpPr>
          <p:spPr bwMode="auto">
            <a:xfrm rot="840000">
              <a:off x="1117" y="1484"/>
              <a:ext cx="116" cy="174"/>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79" name="Oval 85"/>
            <p:cNvSpPr>
              <a:spLocks noChangeArrowheads="1"/>
            </p:cNvSpPr>
            <p:nvPr/>
          </p:nvSpPr>
          <p:spPr bwMode="auto">
            <a:xfrm>
              <a:off x="1105" y="1620"/>
              <a:ext cx="127" cy="137"/>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80" name="Oval 86"/>
            <p:cNvSpPr>
              <a:spLocks noChangeArrowheads="1"/>
            </p:cNvSpPr>
            <p:nvPr/>
          </p:nvSpPr>
          <p:spPr bwMode="auto">
            <a:xfrm rot="420000">
              <a:off x="1162" y="1726"/>
              <a:ext cx="340" cy="98"/>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81" name="Oval 87"/>
            <p:cNvSpPr>
              <a:spLocks noChangeArrowheads="1"/>
            </p:cNvSpPr>
            <p:nvPr/>
          </p:nvSpPr>
          <p:spPr bwMode="auto">
            <a:xfrm>
              <a:off x="1196" y="1444"/>
              <a:ext cx="298" cy="191"/>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82" name="Oval 88"/>
            <p:cNvSpPr>
              <a:spLocks noChangeArrowheads="1"/>
            </p:cNvSpPr>
            <p:nvPr/>
          </p:nvSpPr>
          <p:spPr bwMode="auto">
            <a:xfrm rot="-1020000">
              <a:off x="1443" y="1498"/>
              <a:ext cx="189" cy="270"/>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83" name="Oval 89"/>
            <p:cNvSpPr>
              <a:spLocks noChangeArrowheads="1"/>
            </p:cNvSpPr>
            <p:nvPr/>
          </p:nvSpPr>
          <p:spPr bwMode="auto">
            <a:xfrm>
              <a:off x="1408" y="1706"/>
              <a:ext cx="166" cy="96"/>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84" name="Freeform 90"/>
            <p:cNvSpPr>
              <a:spLocks/>
            </p:cNvSpPr>
            <p:nvPr/>
          </p:nvSpPr>
          <p:spPr bwMode="auto">
            <a:xfrm>
              <a:off x="1172" y="1505"/>
              <a:ext cx="422" cy="309"/>
            </a:xfrm>
            <a:custGeom>
              <a:avLst/>
              <a:gdLst>
                <a:gd name="T0" fmla="*/ 38 w 334"/>
                <a:gd name="T1" fmla="*/ 1 h 478"/>
                <a:gd name="T2" fmla="*/ 85 w 334"/>
                <a:gd name="T3" fmla="*/ 2 h 478"/>
                <a:gd name="T4" fmla="*/ 138 w 334"/>
                <a:gd name="T5" fmla="*/ 2 h 478"/>
                <a:gd name="T6" fmla="*/ 200 w 334"/>
                <a:gd name="T7" fmla="*/ 2 h 478"/>
                <a:gd name="T8" fmla="*/ 286 w 334"/>
                <a:gd name="T9" fmla="*/ 2 h 478"/>
                <a:gd name="T10" fmla="*/ 377 w 334"/>
                <a:gd name="T11" fmla="*/ 2 h 478"/>
                <a:gd name="T12" fmla="*/ 454 w 334"/>
                <a:gd name="T13" fmla="*/ 1 h 478"/>
                <a:gd name="T14" fmla="*/ 541 w 334"/>
                <a:gd name="T15" fmla="*/ 1 h 478"/>
                <a:gd name="T16" fmla="*/ 601 w 334"/>
                <a:gd name="T17" fmla="*/ 1 h 478"/>
                <a:gd name="T18" fmla="*/ 648 w 334"/>
                <a:gd name="T19" fmla="*/ 0 h 478"/>
                <a:gd name="T20" fmla="*/ 696 w 334"/>
                <a:gd name="T21" fmla="*/ 1 h 478"/>
                <a:gd name="T22" fmla="*/ 734 w 334"/>
                <a:gd name="T23" fmla="*/ 2 h 478"/>
                <a:gd name="T24" fmla="*/ 783 w 334"/>
                <a:gd name="T25" fmla="*/ 3 h 478"/>
                <a:gd name="T26" fmla="*/ 823 w 334"/>
                <a:gd name="T27" fmla="*/ 6 h 478"/>
                <a:gd name="T28" fmla="*/ 879 w 334"/>
                <a:gd name="T29" fmla="*/ 9 h 478"/>
                <a:gd name="T30" fmla="*/ 917 w 334"/>
                <a:gd name="T31" fmla="*/ 12 h 478"/>
                <a:gd name="T32" fmla="*/ 956 w 334"/>
                <a:gd name="T33" fmla="*/ 16 h 478"/>
                <a:gd name="T34" fmla="*/ 988 w 334"/>
                <a:gd name="T35" fmla="*/ 19 h 478"/>
                <a:gd name="T36" fmla="*/ 1026 w 334"/>
                <a:gd name="T37" fmla="*/ 22 h 478"/>
                <a:gd name="T38" fmla="*/ 1040 w 334"/>
                <a:gd name="T39" fmla="*/ 24 h 478"/>
                <a:gd name="T40" fmla="*/ 1065 w 334"/>
                <a:gd name="T41" fmla="*/ 27 h 478"/>
                <a:gd name="T42" fmla="*/ 1073 w 334"/>
                <a:gd name="T43" fmla="*/ 29 h 478"/>
                <a:gd name="T44" fmla="*/ 1073 w 334"/>
                <a:gd name="T45" fmla="*/ 32 h 478"/>
                <a:gd name="T46" fmla="*/ 1073 w 334"/>
                <a:gd name="T47" fmla="*/ 35 h 478"/>
                <a:gd name="T48" fmla="*/ 1065 w 334"/>
                <a:gd name="T49" fmla="*/ 37 h 478"/>
                <a:gd name="T50" fmla="*/ 1055 w 334"/>
                <a:gd name="T51" fmla="*/ 39 h 478"/>
                <a:gd name="T52" fmla="*/ 1017 w 334"/>
                <a:gd name="T53" fmla="*/ 42 h 478"/>
                <a:gd name="T54" fmla="*/ 974 w 334"/>
                <a:gd name="T55" fmla="*/ 43 h 478"/>
                <a:gd name="T56" fmla="*/ 932 w 334"/>
                <a:gd name="T57" fmla="*/ 45 h 478"/>
                <a:gd name="T58" fmla="*/ 895 w 334"/>
                <a:gd name="T59" fmla="*/ 48 h 478"/>
                <a:gd name="T60" fmla="*/ 850 w 334"/>
                <a:gd name="T61" fmla="*/ 49 h 478"/>
                <a:gd name="T62" fmla="*/ 811 w 334"/>
                <a:gd name="T63" fmla="*/ 51 h 478"/>
                <a:gd name="T64" fmla="*/ 773 w 334"/>
                <a:gd name="T65" fmla="*/ 53 h 478"/>
                <a:gd name="T66" fmla="*/ 725 w 334"/>
                <a:gd name="T67" fmla="*/ 54 h 478"/>
                <a:gd name="T68" fmla="*/ 680 w 334"/>
                <a:gd name="T69" fmla="*/ 54 h 478"/>
                <a:gd name="T70" fmla="*/ 601 w 334"/>
                <a:gd name="T71" fmla="*/ 52 h 478"/>
                <a:gd name="T72" fmla="*/ 550 w 334"/>
                <a:gd name="T73" fmla="*/ 50 h 478"/>
                <a:gd name="T74" fmla="*/ 465 w 334"/>
                <a:gd name="T75" fmla="*/ 49 h 478"/>
                <a:gd name="T76" fmla="*/ 404 w 334"/>
                <a:gd name="T77" fmla="*/ 48 h 478"/>
                <a:gd name="T78" fmla="*/ 286 w 334"/>
                <a:gd name="T79" fmla="*/ 46 h 478"/>
                <a:gd name="T80" fmla="*/ 231 w 334"/>
                <a:gd name="T81" fmla="*/ 45 h 478"/>
                <a:gd name="T82" fmla="*/ 183 w 334"/>
                <a:gd name="T83" fmla="*/ 43 h 478"/>
                <a:gd name="T84" fmla="*/ 138 w 334"/>
                <a:gd name="T85" fmla="*/ 43 h 478"/>
                <a:gd name="T86" fmla="*/ 95 w 334"/>
                <a:gd name="T87" fmla="*/ 42 h 478"/>
                <a:gd name="T88" fmla="*/ 61 w 334"/>
                <a:gd name="T89" fmla="*/ 39 h 478"/>
                <a:gd name="T90" fmla="*/ 32 w 334"/>
                <a:gd name="T91" fmla="*/ 38 h 478"/>
                <a:gd name="T92" fmla="*/ 8 w 334"/>
                <a:gd name="T93" fmla="*/ 36 h 478"/>
                <a:gd name="T94" fmla="*/ 0 w 334"/>
                <a:gd name="T95" fmla="*/ 33 h 478"/>
                <a:gd name="T96" fmla="*/ 0 w 334"/>
                <a:gd name="T97" fmla="*/ 30 h 478"/>
                <a:gd name="T98" fmla="*/ 0 w 334"/>
                <a:gd name="T99" fmla="*/ 28 h 478"/>
                <a:gd name="T100" fmla="*/ 0 w 334"/>
                <a:gd name="T101" fmla="*/ 25 h 478"/>
                <a:gd name="T102" fmla="*/ 0 w 334"/>
                <a:gd name="T103" fmla="*/ 22 h 478"/>
                <a:gd name="T104" fmla="*/ 8 w 334"/>
                <a:gd name="T105" fmla="*/ 19 h 478"/>
                <a:gd name="T106" fmla="*/ 8 w 334"/>
                <a:gd name="T107" fmla="*/ 16 h 478"/>
                <a:gd name="T108" fmla="*/ 16 w 334"/>
                <a:gd name="T109" fmla="*/ 14 h 478"/>
                <a:gd name="T110" fmla="*/ 16 w 334"/>
                <a:gd name="T111" fmla="*/ 11 h 478"/>
                <a:gd name="T112" fmla="*/ 16 w 334"/>
                <a:gd name="T113" fmla="*/ 9 h 478"/>
                <a:gd name="T114" fmla="*/ 16 w 334"/>
                <a:gd name="T115" fmla="*/ 6 h 478"/>
                <a:gd name="T116" fmla="*/ 23 w 334"/>
                <a:gd name="T117" fmla="*/ 3 h 4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34" h="478">
                  <a:moveTo>
                    <a:pt x="5" y="12"/>
                  </a:moveTo>
                  <a:lnTo>
                    <a:pt x="12" y="12"/>
                  </a:lnTo>
                  <a:lnTo>
                    <a:pt x="19" y="19"/>
                  </a:lnTo>
                  <a:lnTo>
                    <a:pt x="26" y="19"/>
                  </a:lnTo>
                  <a:lnTo>
                    <a:pt x="34" y="19"/>
                  </a:lnTo>
                  <a:lnTo>
                    <a:pt x="43" y="19"/>
                  </a:lnTo>
                  <a:lnTo>
                    <a:pt x="53" y="19"/>
                  </a:lnTo>
                  <a:lnTo>
                    <a:pt x="62" y="19"/>
                  </a:lnTo>
                  <a:lnTo>
                    <a:pt x="79" y="19"/>
                  </a:lnTo>
                  <a:lnTo>
                    <a:pt x="89" y="19"/>
                  </a:lnTo>
                  <a:lnTo>
                    <a:pt x="108" y="19"/>
                  </a:lnTo>
                  <a:lnTo>
                    <a:pt x="117" y="16"/>
                  </a:lnTo>
                  <a:lnTo>
                    <a:pt x="125" y="12"/>
                  </a:lnTo>
                  <a:lnTo>
                    <a:pt x="141" y="12"/>
                  </a:lnTo>
                  <a:lnTo>
                    <a:pt x="158" y="8"/>
                  </a:lnTo>
                  <a:lnTo>
                    <a:pt x="168" y="8"/>
                  </a:lnTo>
                  <a:lnTo>
                    <a:pt x="177" y="4"/>
                  </a:lnTo>
                  <a:lnTo>
                    <a:pt x="187" y="4"/>
                  </a:lnTo>
                  <a:lnTo>
                    <a:pt x="194" y="0"/>
                  </a:lnTo>
                  <a:lnTo>
                    <a:pt x="201" y="0"/>
                  </a:lnTo>
                  <a:lnTo>
                    <a:pt x="208" y="0"/>
                  </a:lnTo>
                  <a:lnTo>
                    <a:pt x="216" y="4"/>
                  </a:lnTo>
                  <a:lnTo>
                    <a:pt x="220" y="16"/>
                  </a:lnTo>
                  <a:lnTo>
                    <a:pt x="228" y="16"/>
                  </a:lnTo>
                  <a:lnTo>
                    <a:pt x="235" y="23"/>
                  </a:lnTo>
                  <a:lnTo>
                    <a:pt x="244" y="31"/>
                  </a:lnTo>
                  <a:lnTo>
                    <a:pt x="254" y="39"/>
                  </a:lnTo>
                  <a:lnTo>
                    <a:pt x="256" y="50"/>
                  </a:lnTo>
                  <a:lnTo>
                    <a:pt x="264" y="62"/>
                  </a:lnTo>
                  <a:lnTo>
                    <a:pt x="273" y="78"/>
                  </a:lnTo>
                  <a:lnTo>
                    <a:pt x="278" y="105"/>
                  </a:lnTo>
                  <a:lnTo>
                    <a:pt x="285" y="112"/>
                  </a:lnTo>
                  <a:lnTo>
                    <a:pt x="292" y="128"/>
                  </a:lnTo>
                  <a:lnTo>
                    <a:pt x="297" y="140"/>
                  </a:lnTo>
                  <a:lnTo>
                    <a:pt x="302" y="151"/>
                  </a:lnTo>
                  <a:lnTo>
                    <a:pt x="307" y="167"/>
                  </a:lnTo>
                  <a:lnTo>
                    <a:pt x="314" y="178"/>
                  </a:lnTo>
                  <a:lnTo>
                    <a:pt x="319" y="190"/>
                  </a:lnTo>
                  <a:lnTo>
                    <a:pt x="321" y="202"/>
                  </a:lnTo>
                  <a:lnTo>
                    <a:pt x="323" y="213"/>
                  </a:lnTo>
                  <a:lnTo>
                    <a:pt x="326" y="225"/>
                  </a:lnTo>
                  <a:lnTo>
                    <a:pt x="331" y="237"/>
                  </a:lnTo>
                  <a:lnTo>
                    <a:pt x="331" y="248"/>
                  </a:lnTo>
                  <a:lnTo>
                    <a:pt x="333" y="260"/>
                  </a:lnTo>
                  <a:lnTo>
                    <a:pt x="333" y="271"/>
                  </a:lnTo>
                  <a:lnTo>
                    <a:pt x="333" y="283"/>
                  </a:lnTo>
                  <a:lnTo>
                    <a:pt x="333" y="295"/>
                  </a:lnTo>
                  <a:lnTo>
                    <a:pt x="333" y="306"/>
                  </a:lnTo>
                  <a:lnTo>
                    <a:pt x="333" y="318"/>
                  </a:lnTo>
                  <a:lnTo>
                    <a:pt x="331" y="330"/>
                  </a:lnTo>
                  <a:lnTo>
                    <a:pt x="331" y="341"/>
                  </a:lnTo>
                  <a:lnTo>
                    <a:pt x="328" y="353"/>
                  </a:lnTo>
                  <a:lnTo>
                    <a:pt x="321" y="361"/>
                  </a:lnTo>
                  <a:lnTo>
                    <a:pt x="316" y="372"/>
                  </a:lnTo>
                  <a:lnTo>
                    <a:pt x="309" y="376"/>
                  </a:lnTo>
                  <a:lnTo>
                    <a:pt x="302" y="384"/>
                  </a:lnTo>
                  <a:lnTo>
                    <a:pt x="295" y="392"/>
                  </a:lnTo>
                  <a:lnTo>
                    <a:pt x="290" y="403"/>
                  </a:lnTo>
                  <a:lnTo>
                    <a:pt x="283" y="411"/>
                  </a:lnTo>
                  <a:lnTo>
                    <a:pt x="278" y="423"/>
                  </a:lnTo>
                  <a:lnTo>
                    <a:pt x="271" y="430"/>
                  </a:lnTo>
                  <a:lnTo>
                    <a:pt x="264" y="438"/>
                  </a:lnTo>
                  <a:lnTo>
                    <a:pt x="259" y="450"/>
                  </a:lnTo>
                  <a:lnTo>
                    <a:pt x="252" y="454"/>
                  </a:lnTo>
                  <a:lnTo>
                    <a:pt x="247" y="465"/>
                  </a:lnTo>
                  <a:lnTo>
                    <a:pt x="240" y="469"/>
                  </a:lnTo>
                  <a:lnTo>
                    <a:pt x="232" y="477"/>
                  </a:lnTo>
                  <a:lnTo>
                    <a:pt x="225" y="477"/>
                  </a:lnTo>
                  <a:lnTo>
                    <a:pt x="218" y="477"/>
                  </a:lnTo>
                  <a:lnTo>
                    <a:pt x="211" y="473"/>
                  </a:lnTo>
                  <a:lnTo>
                    <a:pt x="204" y="469"/>
                  </a:lnTo>
                  <a:lnTo>
                    <a:pt x="187" y="461"/>
                  </a:lnTo>
                  <a:lnTo>
                    <a:pt x="177" y="454"/>
                  </a:lnTo>
                  <a:lnTo>
                    <a:pt x="170" y="446"/>
                  </a:lnTo>
                  <a:lnTo>
                    <a:pt x="151" y="442"/>
                  </a:lnTo>
                  <a:lnTo>
                    <a:pt x="144" y="434"/>
                  </a:lnTo>
                  <a:lnTo>
                    <a:pt x="134" y="427"/>
                  </a:lnTo>
                  <a:lnTo>
                    <a:pt x="125" y="423"/>
                  </a:lnTo>
                  <a:lnTo>
                    <a:pt x="105" y="411"/>
                  </a:lnTo>
                  <a:lnTo>
                    <a:pt x="89" y="407"/>
                  </a:lnTo>
                  <a:lnTo>
                    <a:pt x="81" y="399"/>
                  </a:lnTo>
                  <a:lnTo>
                    <a:pt x="72" y="396"/>
                  </a:lnTo>
                  <a:lnTo>
                    <a:pt x="65" y="392"/>
                  </a:lnTo>
                  <a:lnTo>
                    <a:pt x="57" y="384"/>
                  </a:lnTo>
                  <a:lnTo>
                    <a:pt x="50" y="384"/>
                  </a:lnTo>
                  <a:lnTo>
                    <a:pt x="43" y="380"/>
                  </a:lnTo>
                  <a:lnTo>
                    <a:pt x="36" y="376"/>
                  </a:lnTo>
                  <a:lnTo>
                    <a:pt x="29" y="368"/>
                  </a:lnTo>
                  <a:lnTo>
                    <a:pt x="22" y="365"/>
                  </a:lnTo>
                  <a:lnTo>
                    <a:pt x="19" y="353"/>
                  </a:lnTo>
                  <a:lnTo>
                    <a:pt x="12" y="349"/>
                  </a:lnTo>
                  <a:lnTo>
                    <a:pt x="10" y="337"/>
                  </a:lnTo>
                  <a:lnTo>
                    <a:pt x="5" y="326"/>
                  </a:lnTo>
                  <a:lnTo>
                    <a:pt x="2" y="314"/>
                  </a:lnTo>
                  <a:lnTo>
                    <a:pt x="2" y="302"/>
                  </a:lnTo>
                  <a:lnTo>
                    <a:pt x="0" y="291"/>
                  </a:lnTo>
                  <a:lnTo>
                    <a:pt x="0" y="279"/>
                  </a:lnTo>
                  <a:lnTo>
                    <a:pt x="0" y="268"/>
                  </a:lnTo>
                  <a:lnTo>
                    <a:pt x="0" y="256"/>
                  </a:lnTo>
                  <a:lnTo>
                    <a:pt x="0" y="244"/>
                  </a:lnTo>
                  <a:lnTo>
                    <a:pt x="0" y="233"/>
                  </a:lnTo>
                  <a:lnTo>
                    <a:pt x="0" y="221"/>
                  </a:lnTo>
                  <a:lnTo>
                    <a:pt x="0" y="209"/>
                  </a:lnTo>
                  <a:lnTo>
                    <a:pt x="0" y="194"/>
                  </a:lnTo>
                  <a:lnTo>
                    <a:pt x="0" y="182"/>
                  </a:lnTo>
                  <a:lnTo>
                    <a:pt x="2" y="171"/>
                  </a:lnTo>
                  <a:lnTo>
                    <a:pt x="2" y="159"/>
                  </a:lnTo>
                  <a:lnTo>
                    <a:pt x="2" y="147"/>
                  </a:lnTo>
                  <a:lnTo>
                    <a:pt x="5" y="136"/>
                  </a:lnTo>
                  <a:lnTo>
                    <a:pt x="5" y="124"/>
                  </a:lnTo>
                  <a:lnTo>
                    <a:pt x="5" y="112"/>
                  </a:lnTo>
                  <a:lnTo>
                    <a:pt x="5" y="101"/>
                  </a:lnTo>
                  <a:lnTo>
                    <a:pt x="5" y="89"/>
                  </a:lnTo>
                  <a:lnTo>
                    <a:pt x="5" y="78"/>
                  </a:lnTo>
                  <a:lnTo>
                    <a:pt x="5" y="62"/>
                  </a:lnTo>
                  <a:lnTo>
                    <a:pt x="5" y="50"/>
                  </a:lnTo>
                  <a:lnTo>
                    <a:pt x="5" y="39"/>
                  </a:lnTo>
                  <a:lnTo>
                    <a:pt x="7" y="27"/>
                  </a:lnTo>
                  <a:lnTo>
                    <a:pt x="5" y="12"/>
                  </a:lnTo>
                </a:path>
              </a:pathLst>
            </a:custGeom>
            <a:solidFill>
              <a:srgbClr val="99FF66"/>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7362" name="Rectangle 91"/>
          <p:cNvSpPr>
            <a:spLocks noChangeArrowheads="1"/>
          </p:cNvSpPr>
          <p:nvPr/>
        </p:nvSpPr>
        <p:spPr bwMode="auto">
          <a:xfrm>
            <a:off x="1773238" y="2290763"/>
            <a:ext cx="6762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LAN</a:t>
            </a:r>
          </a:p>
        </p:txBody>
      </p:sp>
      <p:grpSp>
        <p:nvGrpSpPr>
          <p:cNvPr id="97363" name="Group 92"/>
          <p:cNvGrpSpPr>
            <a:grpSpLocks/>
          </p:cNvGrpSpPr>
          <p:nvPr/>
        </p:nvGrpSpPr>
        <p:grpSpPr bwMode="auto">
          <a:xfrm>
            <a:off x="6637338" y="2182813"/>
            <a:ext cx="904875" cy="549275"/>
            <a:chOff x="1105" y="1444"/>
            <a:chExt cx="527" cy="380"/>
          </a:xfrm>
        </p:grpSpPr>
        <p:sp>
          <p:nvSpPr>
            <p:cNvPr id="97371" name="Oval 93"/>
            <p:cNvSpPr>
              <a:spLocks noChangeArrowheads="1"/>
            </p:cNvSpPr>
            <p:nvPr/>
          </p:nvSpPr>
          <p:spPr bwMode="auto">
            <a:xfrm rot="840000">
              <a:off x="1117" y="1484"/>
              <a:ext cx="116" cy="174"/>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72" name="Oval 94"/>
            <p:cNvSpPr>
              <a:spLocks noChangeArrowheads="1"/>
            </p:cNvSpPr>
            <p:nvPr/>
          </p:nvSpPr>
          <p:spPr bwMode="auto">
            <a:xfrm>
              <a:off x="1105" y="1620"/>
              <a:ext cx="127" cy="137"/>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73" name="Oval 95"/>
            <p:cNvSpPr>
              <a:spLocks noChangeArrowheads="1"/>
            </p:cNvSpPr>
            <p:nvPr/>
          </p:nvSpPr>
          <p:spPr bwMode="auto">
            <a:xfrm rot="420000">
              <a:off x="1162" y="1726"/>
              <a:ext cx="340" cy="98"/>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74" name="Oval 96"/>
            <p:cNvSpPr>
              <a:spLocks noChangeArrowheads="1"/>
            </p:cNvSpPr>
            <p:nvPr/>
          </p:nvSpPr>
          <p:spPr bwMode="auto">
            <a:xfrm>
              <a:off x="1196" y="1444"/>
              <a:ext cx="298" cy="191"/>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75" name="Oval 97"/>
            <p:cNvSpPr>
              <a:spLocks noChangeArrowheads="1"/>
            </p:cNvSpPr>
            <p:nvPr/>
          </p:nvSpPr>
          <p:spPr bwMode="auto">
            <a:xfrm rot="-1020000">
              <a:off x="1443" y="1498"/>
              <a:ext cx="189" cy="270"/>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76" name="Oval 98"/>
            <p:cNvSpPr>
              <a:spLocks noChangeArrowheads="1"/>
            </p:cNvSpPr>
            <p:nvPr/>
          </p:nvSpPr>
          <p:spPr bwMode="auto">
            <a:xfrm>
              <a:off x="1408" y="1706"/>
              <a:ext cx="166" cy="96"/>
            </a:xfrm>
            <a:prstGeom prst="ellipse">
              <a:avLst/>
            </a:prstGeom>
            <a:solidFill>
              <a:srgbClr val="99FF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77" name="Freeform 99"/>
            <p:cNvSpPr>
              <a:spLocks/>
            </p:cNvSpPr>
            <p:nvPr/>
          </p:nvSpPr>
          <p:spPr bwMode="auto">
            <a:xfrm>
              <a:off x="1172" y="1505"/>
              <a:ext cx="422" cy="309"/>
            </a:xfrm>
            <a:custGeom>
              <a:avLst/>
              <a:gdLst>
                <a:gd name="T0" fmla="*/ 38 w 334"/>
                <a:gd name="T1" fmla="*/ 1 h 478"/>
                <a:gd name="T2" fmla="*/ 85 w 334"/>
                <a:gd name="T3" fmla="*/ 2 h 478"/>
                <a:gd name="T4" fmla="*/ 138 w 334"/>
                <a:gd name="T5" fmla="*/ 2 h 478"/>
                <a:gd name="T6" fmla="*/ 200 w 334"/>
                <a:gd name="T7" fmla="*/ 2 h 478"/>
                <a:gd name="T8" fmla="*/ 286 w 334"/>
                <a:gd name="T9" fmla="*/ 2 h 478"/>
                <a:gd name="T10" fmla="*/ 377 w 334"/>
                <a:gd name="T11" fmla="*/ 2 h 478"/>
                <a:gd name="T12" fmla="*/ 454 w 334"/>
                <a:gd name="T13" fmla="*/ 1 h 478"/>
                <a:gd name="T14" fmla="*/ 541 w 334"/>
                <a:gd name="T15" fmla="*/ 1 h 478"/>
                <a:gd name="T16" fmla="*/ 601 w 334"/>
                <a:gd name="T17" fmla="*/ 1 h 478"/>
                <a:gd name="T18" fmla="*/ 648 w 334"/>
                <a:gd name="T19" fmla="*/ 0 h 478"/>
                <a:gd name="T20" fmla="*/ 696 w 334"/>
                <a:gd name="T21" fmla="*/ 1 h 478"/>
                <a:gd name="T22" fmla="*/ 734 w 334"/>
                <a:gd name="T23" fmla="*/ 2 h 478"/>
                <a:gd name="T24" fmla="*/ 783 w 334"/>
                <a:gd name="T25" fmla="*/ 3 h 478"/>
                <a:gd name="T26" fmla="*/ 823 w 334"/>
                <a:gd name="T27" fmla="*/ 6 h 478"/>
                <a:gd name="T28" fmla="*/ 879 w 334"/>
                <a:gd name="T29" fmla="*/ 9 h 478"/>
                <a:gd name="T30" fmla="*/ 917 w 334"/>
                <a:gd name="T31" fmla="*/ 12 h 478"/>
                <a:gd name="T32" fmla="*/ 956 w 334"/>
                <a:gd name="T33" fmla="*/ 16 h 478"/>
                <a:gd name="T34" fmla="*/ 988 w 334"/>
                <a:gd name="T35" fmla="*/ 19 h 478"/>
                <a:gd name="T36" fmla="*/ 1026 w 334"/>
                <a:gd name="T37" fmla="*/ 22 h 478"/>
                <a:gd name="T38" fmla="*/ 1040 w 334"/>
                <a:gd name="T39" fmla="*/ 24 h 478"/>
                <a:gd name="T40" fmla="*/ 1065 w 334"/>
                <a:gd name="T41" fmla="*/ 27 h 478"/>
                <a:gd name="T42" fmla="*/ 1073 w 334"/>
                <a:gd name="T43" fmla="*/ 29 h 478"/>
                <a:gd name="T44" fmla="*/ 1073 w 334"/>
                <a:gd name="T45" fmla="*/ 32 h 478"/>
                <a:gd name="T46" fmla="*/ 1073 w 334"/>
                <a:gd name="T47" fmla="*/ 35 h 478"/>
                <a:gd name="T48" fmla="*/ 1065 w 334"/>
                <a:gd name="T49" fmla="*/ 37 h 478"/>
                <a:gd name="T50" fmla="*/ 1055 w 334"/>
                <a:gd name="T51" fmla="*/ 39 h 478"/>
                <a:gd name="T52" fmla="*/ 1017 w 334"/>
                <a:gd name="T53" fmla="*/ 42 h 478"/>
                <a:gd name="T54" fmla="*/ 974 w 334"/>
                <a:gd name="T55" fmla="*/ 43 h 478"/>
                <a:gd name="T56" fmla="*/ 932 w 334"/>
                <a:gd name="T57" fmla="*/ 45 h 478"/>
                <a:gd name="T58" fmla="*/ 895 w 334"/>
                <a:gd name="T59" fmla="*/ 48 h 478"/>
                <a:gd name="T60" fmla="*/ 850 w 334"/>
                <a:gd name="T61" fmla="*/ 49 h 478"/>
                <a:gd name="T62" fmla="*/ 811 w 334"/>
                <a:gd name="T63" fmla="*/ 51 h 478"/>
                <a:gd name="T64" fmla="*/ 773 w 334"/>
                <a:gd name="T65" fmla="*/ 53 h 478"/>
                <a:gd name="T66" fmla="*/ 725 w 334"/>
                <a:gd name="T67" fmla="*/ 54 h 478"/>
                <a:gd name="T68" fmla="*/ 680 w 334"/>
                <a:gd name="T69" fmla="*/ 54 h 478"/>
                <a:gd name="T70" fmla="*/ 601 w 334"/>
                <a:gd name="T71" fmla="*/ 52 h 478"/>
                <a:gd name="T72" fmla="*/ 550 w 334"/>
                <a:gd name="T73" fmla="*/ 50 h 478"/>
                <a:gd name="T74" fmla="*/ 465 w 334"/>
                <a:gd name="T75" fmla="*/ 49 h 478"/>
                <a:gd name="T76" fmla="*/ 404 w 334"/>
                <a:gd name="T77" fmla="*/ 48 h 478"/>
                <a:gd name="T78" fmla="*/ 286 w 334"/>
                <a:gd name="T79" fmla="*/ 46 h 478"/>
                <a:gd name="T80" fmla="*/ 231 w 334"/>
                <a:gd name="T81" fmla="*/ 45 h 478"/>
                <a:gd name="T82" fmla="*/ 183 w 334"/>
                <a:gd name="T83" fmla="*/ 43 h 478"/>
                <a:gd name="T84" fmla="*/ 138 w 334"/>
                <a:gd name="T85" fmla="*/ 43 h 478"/>
                <a:gd name="T86" fmla="*/ 95 w 334"/>
                <a:gd name="T87" fmla="*/ 42 h 478"/>
                <a:gd name="T88" fmla="*/ 61 w 334"/>
                <a:gd name="T89" fmla="*/ 39 h 478"/>
                <a:gd name="T90" fmla="*/ 32 w 334"/>
                <a:gd name="T91" fmla="*/ 38 h 478"/>
                <a:gd name="T92" fmla="*/ 8 w 334"/>
                <a:gd name="T93" fmla="*/ 36 h 478"/>
                <a:gd name="T94" fmla="*/ 0 w 334"/>
                <a:gd name="T95" fmla="*/ 33 h 478"/>
                <a:gd name="T96" fmla="*/ 0 w 334"/>
                <a:gd name="T97" fmla="*/ 30 h 478"/>
                <a:gd name="T98" fmla="*/ 0 w 334"/>
                <a:gd name="T99" fmla="*/ 28 h 478"/>
                <a:gd name="T100" fmla="*/ 0 w 334"/>
                <a:gd name="T101" fmla="*/ 25 h 478"/>
                <a:gd name="T102" fmla="*/ 0 w 334"/>
                <a:gd name="T103" fmla="*/ 22 h 478"/>
                <a:gd name="T104" fmla="*/ 8 w 334"/>
                <a:gd name="T105" fmla="*/ 19 h 478"/>
                <a:gd name="T106" fmla="*/ 8 w 334"/>
                <a:gd name="T107" fmla="*/ 16 h 478"/>
                <a:gd name="T108" fmla="*/ 16 w 334"/>
                <a:gd name="T109" fmla="*/ 14 h 478"/>
                <a:gd name="T110" fmla="*/ 16 w 334"/>
                <a:gd name="T111" fmla="*/ 11 h 478"/>
                <a:gd name="T112" fmla="*/ 16 w 334"/>
                <a:gd name="T113" fmla="*/ 9 h 478"/>
                <a:gd name="T114" fmla="*/ 16 w 334"/>
                <a:gd name="T115" fmla="*/ 6 h 478"/>
                <a:gd name="T116" fmla="*/ 23 w 334"/>
                <a:gd name="T117" fmla="*/ 3 h 4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34" h="478">
                  <a:moveTo>
                    <a:pt x="5" y="12"/>
                  </a:moveTo>
                  <a:lnTo>
                    <a:pt x="12" y="12"/>
                  </a:lnTo>
                  <a:lnTo>
                    <a:pt x="19" y="19"/>
                  </a:lnTo>
                  <a:lnTo>
                    <a:pt x="26" y="19"/>
                  </a:lnTo>
                  <a:lnTo>
                    <a:pt x="34" y="19"/>
                  </a:lnTo>
                  <a:lnTo>
                    <a:pt x="43" y="19"/>
                  </a:lnTo>
                  <a:lnTo>
                    <a:pt x="53" y="19"/>
                  </a:lnTo>
                  <a:lnTo>
                    <a:pt x="62" y="19"/>
                  </a:lnTo>
                  <a:lnTo>
                    <a:pt x="79" y="19"/>
                  </a:lnTo>
                  <a:lnTo>
                    <a:pt x="89" y="19"/>
                  </a:lnTo>
                  <a:lnTo>
                    <a:pt x="108" y="19"/>
                  </a:lnTo>
                  <a:lnTo>
                    <a:pt x="117" y="16"/>
                  </a:lnTo>
                  <a:lnTo>
                    <a:pt x="125" y="12"/>
                  </a:lnTo>
                  <a:lnTo>
                    <a:pt x="141" y="12"/>
                  </a:lnTo>
                  <a:lnTo>
                    <a:pt x="158" y="8"/>
                  </a:lnTo>
                  <a:lnTo>
                    <a:pt x="168" y="8"/>
                  </a:lnTo>
                  <a:lnTo>
                    <a:pt x="177" y="4"/>
                  </a:lnTo>
                  <a:lnTo>
                    <a:pt x="187" y="4"/>
                  </a:lnTo>
                  <a:lnTo>
                    <a:pt x="194" y="0"/>
                  </a:lnTo>
                  <a:lnTo>
                    <a:pt x="201" y="0"/>
                  </a:lnTo>
                  <a:lnTo>
                    <a:pt x="208" y="0"/>
                  </a:lnTo>
                  <a:lnTo>
                    <a:pt x="216" y="4"/>
                  </a:lnTo>
                  <a:lnTo>
                    <a:pt x="220" y="16"/>
                  </a:lnTo>
                  <a:lnTo>
                    <a:pt x="228" y="16"/>
                  </a:lnTo>
                  <a:lnTo>
                    <a:pt x="235" y="23"/>
                  </a:lnTo>
                  <a:lnTo>
                    <a:pt x="244" y="31"/>
                  </a:lnTo>
                  <a:lnTo>
                    <a:pt x="254" y="39"/>
                  </a:lnTo>
                  <a:lnTo>
                    <a:pt x="256" y="50"/>
                  </a:lnTo>
                  <a:lnTo>
                    <a:pt x="264" y="62"/>
                  </a:lnTo>
                  <a:lnTo>
                    <a:pt x="273" y="78"/>
                  </a:lnTo>
                  <a:lnTo>
                    <a:pt x="278" y="105"/>
                  </a:lnTo>
                  <a:lnTo>
                    <a:pt x="285" y="112"/>
                  </a:lnTo>
                  <a:lnTo>
                    <a:pt x="292" y="128"/>
                  </a:lnTo>
                  <a:lnTo>
                    <a:pt x="297" y="140"/>
                  </a:lnTo>
                  <a:lnTo>
                    <a:pt x="302" y="151"/>
                  </a:lnTo>
                  <a:lnTo>
                    <a:pt x="307" y="167"/>
                  </a:lnTo>
                  <a:lnTo>
                    <a:pt x="314" y="178"/>
                  </a:lnTo>
                  <a:lnTo>
                    <a:pt x="319" y="190"/>
                  </a:lnTo>
                  <a:lnTo>
                    <a:pt x="321" y="202"/>
                  </a:lnTo>
                  <a:lnTo>
                    <a:pt x="323" y="213"/>
                  </a:lnTo>
                  <a:lnTo>
                    <a:pt x="326" y="225"/>
                  </a:lnTo>
                  <a:lnTo>
                    <a:pt x="331" y="237"/>
                  </a:lnTo>
                  <a:lnTo>
                    <a:pt x="331" y="248"/>
                  </a:lnTo>
                  <a:lnTo>
                    <a:pt x="333" y="260"/>
                  </a:lnTo>
                  <a:lnTo>
                    <a:pt x="333" y="271"/>
                  </a:lnTo>
                  <a:lnTo>
                    <a:pt x="333" y="283"/>
                  </a:lnTo>
                  <a:lnTo>
                    <a:pt x="333" y="295"/>
                  </a:lnTo>
                  <a:lnTo>
                    <a:pt x="333" y="306"/>
                  </a:lnTo>
                  <a:lnTo>
                    <a:pt x="333" y="318"/>
                  </a:lnTo>
                  <a:lnTo>
                    <a:pt x="331" y="330"/>
                  </a:lnTo>
                  <a:lnTo>
                    <a:pt x="331" y="341"/>
                  </a:lnTo>
                  <a:lnTo>
                    <a:pt x="328" y="353"/>
                  </a:lnTo>
                  <a:lnTo>
                    <a:pt x="321" y="361"/>
                  </a:lnTo>
                  <a:lnTo>
                    <a:pt x="316" y="372"/>
                  </a:lnTo>
                  <a:lnTo>
                    <a:pt x="309" y="376"/>
                  </a:lnTo>
                  <a:lnTo>
                    <a:pt x="302" y="384"/>
                  </a:lnTo>
                  <a:lnTo>
                    <a:pt x="295" y="392"/>
                  </a:lnTo>
                  <a:lnTo>
                    <a:pt x="290" y="403"/>
                  </a:lnTo>
                  <a:lnTo>
                    <a:pt x="283" y="411"/>
                  </a:lnTo>
                  <a:lnTo>
                    <a:pt x="278" y="423"/>
                  </a:lnTo>
                  <a:lnTo>
                    <a:pt x="271" y="430"/>
                  </a:lnTo>
                  <a:lnTo>
                    <a:pt x="264" y="438"/>
                  </a:lnTo>
                  <a:lnTo>
                    <a:pt x="259" y="450"/>
                  </a:lnTo>
                  <a:lnTo>
                    <a:pt x="252" y="454"/>
                  </a:lnTo>
                  <a:lnTo>
                    <a:pt x="247" y="465"/>
                  </a:lnTo>
                  <a:lnTo>
                    <a:pt x="240" y="469"/>
                  </a:lnTo>
                  <a:lnTo>
                    <a:pt x="232" y="477"/>
                  </a:lnTo>
                  <a:lnTo>
                    <a:pt x="225" y="477"/>
                  </a:lnTo>
                  <a:lnTo>
                    <a:pt x="218" y="477"/>
                  </a:lnTo>
                  <a:lnTo>
                    <a:pt x="211" y="473"/>
                  </a:lnTo>
                  <a:lnTo>
                    <a:pt x="204" y="469"/>
                  </a:lnTo>
                  <a:lnTo>
                    <a:pt x="187" y="461"/>
                  </a:lnTo>
                  <a:lnTo>
                    <a:pt x="177" y="454"/>
                  </a:lnTo>
                  <a:lnTo>
                    <a:pt x="170" y="446"/>
                  </a:lnTo>
                  <a:lnTo>
                    <a:pt x="151" y="442"/>
                  </a:lnTo>
                  <a:lnTo>
                    <a:pt x="144" y="434"/>
                  </a:lnTo>
                  <a:lnTo>
                    <a:pt x="134" y="427"/>
                  </a:lnTo>
                  <a:lnTo>
                    <a:pt x="125" y="423"/>
                  </a:lnTo>
                  <a:lnTo>
                    <a:pt x="105" y="411"/>
                  </a:lnTo>
                  <a:lnTo>
                    <a:pt x="89" y="407"/>
                  </a:lnTo>
                  <a:lnTo>
                    <a:pt x="81" y="399"/>
                  </a:lnTo>
                  <a:lnTo>
                    <a:pt x="72" y="396"/>
                  </a:lnTo>
                  <a:lnTo>
                    <a:pt x="65" y="392"/>
                  </a:lnTo>
                  <a:lnTo>
                    <a:pt x="57" y="384"/>
                  </a:lnTo>
                  <a:lnTo>
                    <a:pt x="50" y="384"/>
                  </a:lnTo>
                  <a:lnTo>
                    <a:pt x="43" y="380"/>
                  </a:lnTo>
                  <a:lnTo>
                    <a:pt x="36" y="376"/>
                  </a:lnTo>
                  <a:lnTo>
                    <a:pt x="29" y="368"/>
                  </a:lnTo>
                  <a:lnTo>
                    <a:pt x="22" y="365"/>
                  </a:lnTo>
                  <a:lnTo>
                    <a:pt x="19" y="353"/>
                  </a:lnTo>
                  <a:lnTo>
                    <a:pt x="12" y="349"/>
                  </a:lnTo>
                  <a:lnTo>
                    <a:pt x="10" y="337"/>
                  </a:lnTo>
                  <a:lnTo>
                    <a:pt x="5" y="326"/>
                  </a:lnTo>
                  <a:lnTo>
                    <a:pt x="2" y="314"/>
                  </a:lnTo>
                  <a:lnTo>
                    <a:pt x="2" y="302"/>
                  </a:lnTo>
                  <a:lnTo>
                    <a:pt x="0" y="291"/>
                  </a:lnTo>
                  <a:lnTo>
                    <a:pt x="0" y="279"/>
                  </a:lnTo>
                  <a:lnTo>
                    <a:pt x="0" y="268"/>
                  </a:lnTo>
                  <a:lnTo>
                    <a:pt x="0" y="256"/>
                  </a:lnTo>
                  <a:lnTo>
                    <a:pt x="0" y="244"/>
                  </a:lnTo>
                  <a:lnTo>
                    <a:pt x="0" y="233"/>
                  </a:lnTo>
                  <a:lnTo>
                    <a:pt x="0" y="221"/>
                  </a:lnTo>
                  <a:lnTo>
                    <a:pt x="0" y="209"/>
                  </a:lnTo>
                  <a:lnTo>
                    <a:pt x="0" y="194"/>
                  </a:lnTo>
                  <a:lnTo>
                    <a:pt x="0" y="182"/>
                  </a:lnTo>
                  <a:lnTo>
                    <a:pt x="2" y="171"/>
                  </a:lnTo>
                  <a:lnTo>
                    <a:pt x="2" y="159"/>
                  </a:lnTo>
                  <a:lnTo>
                    <a:pt x="2" y="147"/>
                  </a:lnTo>
                  <a:lnTo>
                    <a:pt x="5" y="136"/>
                  </a:lnTo>
                  <a:lnTo>
                    <a:pt x="5" y="124"/>
                  </a:lnTo>
                  <a:lnTo>
                    <a:pt x="5" y="112"/>
                  </a:lnTo>
                  <a:lnTo>
                    <a:pt x="5" y="101"/>
                  </a:lnTo>
                  <a:lnTo>
                    <a:pt x="5" y="89"/>
                  </a:lnTo>
                  <a:lnTo>
                    <a:pt x="5" y="78"/>
                  </a:lnTo>
                  <a:lnTo>
                    <a:pt x="5" y="62"/>
                  </a:lnTo>
                  <a:lnTo>
                    <a:pt x="5" y="50"/>
                  </a:lnTo>
                  <a:lnTo>
                    <a:pt x="5" y="39"/>
                  </a:lnTo>
                  <a:lnTo>
                    <a:pt x="7" y="27"/>
                  </a:lnTo>
                  <a:lnTo>
                    <a:pt x="5" y="12"/>
                  </a:lnTo>
                </a:path>
              </a:pathLst>
            </a:custGeom>
            <a:solidFill>
              <a:srgbClr val="99FF66"/>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7364" name="Rectangle 100"/>
          <p:cNvSpPr>
            <a:spLocks noChangeArrowheads="1"/>
          </p:cNvSpPr>
          <p:nvPr/>
        </p:nvSpPr>
        <p:spPr bwMode="auto">
          <a:xfrm>
            <a:off x="6750050" y="2303463"/>
            <a:ext cx="67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LAN</a:t>
            </a:r>
          </a:p>
        </p:txBody>
      </p:sp>
      <p:sp>
        <p:nvSpPr>
          <p:cNvPr id="461925" name="Text Box 101"/>
          <p:cNvSpPr txBox="1">
            <a:spLocks noChangeArrowheads="1"/>
          </p:cNvSpPr>
          <p:nvPr/>
        </p:nvSpPr>
        <p:spPr bwMode="auto">
          <a:xfrm>
            <a:off x="1403350" y="236538"/>
            <a:ext cx="6416675" cy="528637"/>
          </a:xfrm>
          <a:prstGeom prst="rect">
            <a:avLst/>
          </a:prstGeom>
          <a:solidFill>
            <a:srgbClr val="FFFF66"/>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2800">
                <a:solidFill>
                  <a:srgbClr val="333399"/>
                </a:solidFill>
                <a:latin typeface="黑体" pitchFamily="49" charset="-122"/>
                <a:ea typeface="黑体" pitchFamily="49" charset="-122"/>
              </a:rPr>
              <a:t>两个网桥之间还可使用一段点到点链路 </a:t>
            </a:r>
          </a:p>
        </p:txBody>
      </p:sp>
      <p:sp>
        <p:nvSpPr>
          <p:cNvPr id="461926" name="Text Box 102"/>
          <p:cNvSpPr txBox="1">
            <a:spLocks noChangeArrowheads="1"/>
          </p:cNvSpPr>
          <p:nvPr/>
        </p:nvSpPr>
        <p:spPr bwMode="auto">
          <a:xfrm>
            <a:off x="1641475" y="5627688"/>
            <a:ext cx="5883275" cy="588962"/>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sz="3200">
                <a:solidFill>
                  <a:srgbClr val="333399"/>
                </a:solidFill>
                <a:ea typeface="黑体" pitchFamily="49" charset="-122"/>
              </a:rPr>
              <a:t>网桥不改变它转发的帧的源地址</a:t>
            </a:r>
          </a:p>
        </p:txBody>
      </p:sp>
      <p:sp>
        <p:nvSpPr>
          <p:cNvPr id="97367" name="AutoShape 103"/>
          <p:cNvSpPr>
            <a:spLocks noChangeArrowheads="1"/>
          </p:cNvSpPr>
          <p:nvPr/>
        </p:nvSpPr>
        <p:spPr bwMode="auto">
          <a:xfrm>
            <a:off x="5580063" y="3429000"/>
            <a:ext cx="215900" cy="431800"/>
          </a:xfrm>
          <a:prstGeom prst="downArrow">
            <a:avLst>
              <a:gd name="adj1" fmla="val 50000"/>
              <a:gd name="adj2" fmla="val 50000"/>
            </a:avLst>
          </a:prstGeom>
          <a:solidFill>
            <a:srgbClr val="CCECFF"/>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68" name="AutoShape 104"/>
          <p:cNvSpPr>
            <a:spLocks noChangeArrowheads="1"/>
          </p:cNvSpPr>
          <p:nvPr/>
        </p:nvSpPr>
        <p:spPr bwMode="auto">
          <a:xfrm>
            <a:off x="5364163" y="4005263"/>
            <a:ext cx="215900" cy="431800"/>
          </a:xfrm>
          <a:prstGeom prst="downArrow">
            <a:avLst>
              <a:gd name="adj1" fmla="val 50000"/>
              <a:gd name="adj2" fmla="val 50000"/>
            </a:avLst>
          </a:prstGeom>
          <a:solidFill>
            <a:srgbClr val="FFFF66"/>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69" name="AutoShape 105"/>
          <p:cNvSpPr>
            <a:spLocks noChangeArrowheads="1"/>
          </p:cNvSpPr>
          <p:nvPr/>
        </p:nvSpPr>
        <p:spPr bwMode="auto">
          <a:xfrm>
            <a:off x="5076825" y="4581525"/>
            <a:ext cx="215900" cy="431800"/>
          </a:xfrm>
          <a:prstGeom prst="downArrow">
            <a:avLst>
              <a:gd name="adj1" fmla="val 50000"/>
              <a:gd name="adj2" fmla="val 50000"/>
            </a:avLst>
          </a:prstGeom>
          <a:solidFill>
            <a:srgbClr val="FFCCFF"/>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70" name="Freeform 106"/>
          <p:cNvSpPr>
            <a:spLocks/>
          </p:cNvSpPr>
          <p:nvPr/>
        </p:nvSpPr>
        <p:spPr bwMode="auto">
          <a:xfrm>
            <a:off x="1244600" y="981075"/>
            <a:ext cx="6637338" cy="1779588"/>
          </a:xfrm>
          <a:custGeom>
            <a:avLst/>
            <a:gdLst>
              <a:gd name="T0" fmla="*/ 2147483647 w 4181"/>
              <a:gd name="T1" fmla="*/ 0 h 1121"/>
              <a:gd name="T2" fmla="*/ 2147483647 w 4181"/>
              <a:gd name="T3" fmla="*/ 2147483647 h 1121"/>
              <a:gd name="T4" fmla="*/ 2147483647 w 4181"/>
              <a:gd name="T5" fmla="*/ 2147483647 h 1121"/>
              <a:gd name="T6" fmla="*/ 2147483647 w 4181"/>
              <a:gd name="T7" fmla="*/ 2147483647 h 1121"/>
              <a:gd name="T8" fmla="*/ 2147483647 w 4181"/>
              <a:gd name="T9" fmla="*/ 2147483647 h 1121"/>
              <a:gd name="T10" fmla="*/ 2147483647 w 4181"/>
              <a:gd name="T11" fmla="*/ 2147483647 h 1121"/>
              <a:gd name="T12" fmla="*/ 2147483647 w 4181"/>
              <a:gd name="T13" fmla="*/ 2147483647 h 1121"/>
              <a:gd name="T14" fmla="*/ 2147483647 w 4181"/>
              <a:gd name="T15" fmla="*/ 2147483647 h 1121"/>
              <a:gd name="T16" fmla="*/ 2147483647 w 4181"/>
              <a:gd name="T17" fmla="*/ 2147483647 h 1121"/>
              <a:gd name="T18" fmla="*/ 2147483647 w 4181"/>
              <a:gd name="T19" fmla="*/ 2147483647 h 1121"/>
              <a:gd name="T20" fmla="*/ 2147483647 w 4181"/>
              <a:gd name="T21" fmla="*/ 2147483647 h 1121"/>
              <a:gd name="T22" fmla="*/ 2147483647 w 4181"/>
              <a:gd name="T23" fmla="*/ 2147483647 h 1121"/>
              <a:gd name="T24" fmla="*/ 2147483647 w 4181"/>
              <a:gd name="T25" fmla="*/ 2147483647 h 1121"/>
              <a:gd name="T26" fmla="*/ 2147483647 w 4181"/>
              <a:gd name="T27" fmla="*/ 2147483647 h 1121"/>
              <a:gd name="T28" fmla="*/ 2147483647 w 4181"/>
              <a:gd name="T29" fmla="*/ 2147483647 h 1121"/>
              <a:gd name="T30" fmla="*/ 2147483647 w 4181"/>
              <a:gd name="T31" fmla="*/ 2147483647 h 1121"/>
              <a:gd name="T32" fmla="*/ 2147483647 w 4181"/>
              <a:gd name="T33" fmla="*/ 2147483647 h 1121"/>
              <a:gd name="T34" fmla="*/ 2147483647 w 4181"/>
              <a:gd name="T35" fmla="*/ 2147483647 h 1121"/>
              <a:gd name="T36" fmla="*/ 2147483647 w 4181"/>
              <a:gd name="T37" fmla="*/ 2147483647 h 1121"/>
              <a:gd name="T38" fmla="*/ 2147483647 w 4181"/>
              <a:gd name="T39" fmla="*/ 2147483647 h 1121"/>
              <a:gd name="T40" fmla="*/ 2147483647 w 4181"/>
              <a:gd name="T41" fmla="*/ 2147483647 h 1121"/>
              <a:gd name="T42" fmla="*/ 2147483647 w 4181"/>
              <a:gd name="T43" fmla="*/ 2147483647 h 1121"/>
              <a:gd name="T44" fmla="*/ 2147483647 w 4181"/>
              <a:gd name="T45" fmla="*/ 2147483647 h 1121"/>
              <a:gd name="T46" fmla="*/ 2147483647 w 4181"/>
              <a:gd name="T47" fmla="*/ 2147483647 h 112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181" h="1121">
                <a:moveTo>
                  <a:pt x="9" y="0"/>
                </a:moveTo>
                <a:cubicBezTo>
                  <a:pt x="9" y="140"/>
                  <a:pt x="9" y="280"/>
                  <a:pt x="9" y="408"/>
                </a:cubicBezTo>
                <a:cubicBezTo>
                  <a:pt x="9" y="536"/>
                  <a:pt x="6" y="671"/>
                  <a:pt x="9" y="771"/>
                </a:cubicBezTo>
                <a:cubicBezTo>
                  <a:pt x="12" y="871"/>
                  <a:pt x="0" y="952"/>
                  <a:pt x="28" y="1006"/>
                </a:cubicBezTo>
                <a:cubicBezTo>
                  <a:pt x="56" y="1060"/>
                  <a:pt x="47" y="1080"/>
                  <a:pt x="180" y="1094"/>
                </a:cubicBezTo>
                <a:cubicBezTo>
                  <a:pt x="313" y="1108"/>
                  <a:pt x="671" y="1108"/>
                  <a:pt x="824" y="1092"/>
                </a:cubicBezTo>
                <a:cubicBezTo>
                  <a:pt x="977" y="1076"/>
                  <a:pt x="1045" y="1086"/>
                  <a:pt x="1096" y="998"/>
                </a:cubicBezTo>
                <a:cubicBezTo>
                  <a:pt x="1147" y="910"/>
                  <a:pt x="1098" y="652"/>
                  <a:pt x="1132" y="562"/>
                </a:cubicBezTo>
                <a:cubicBezTo>
                  <a:pt x="1166" y="472"/>
                  <a:pt x="1215" y="469"/>
                  <a:pt x="1300" y="458"/>
                </a:cubicBezTo>
                <a:cubicBezTo>
                  <a:pt x="1385" y="447"/>
                  <a:pt x="1575" y="451"/>
                  <a:pt x="1640" y="494"/>
                </a:cubicBezTo>
                <a:cubicBezTo>
                  <a:pt x="1705" y="537"/>
                  <a:pt x="1682" y="645"/>
                  <a:pt x="1692" y="718"/>
                </a:cubicBezTo>
                <a:cubicBezTo>
                  <a:pt x="1702" y="791"/>
                  <a:pt x="1687" y="870"/>
                  <a:pt x="1700" y="930"/>
                </a:cubicBezTo>
                <a:cubicBezTo>
                  <a:pt x="1713" y="990"/>
                  <a:pt x="1700" y="1050"/>
                  <a:pt x="1768" y="1078"/>
                </a:cubicBezTo>
                <a:cubicBezTo>
                  <a:pt x="1836" y="1106"/>
                  <a:pt x="2011" y="1105"/>
                  <a:pt x="2108" y="1098"/>
                </a:cubicBezTo>
                <a:cubicBezTo>
                  <a:pt x="2205" y="1091"/>
                  <a:pt x="2301" y="1121"/>
                  <a:pt x="2352" y="1038"/>
                </a:cubicBezTo>
                <a:cubicBezTo>
                  <a:pt x="2403" y="955"/>
                  <a:pt x="2384" y="694"/>
                  <a:pt x="2412" y="598"/>
                </a:cubicBezTo>
                <a:cubicBezTo>
                  <a:pt x="2440" y="502"/>
                  <a:pt x="2429" y="482"/>
                  <a:pt x="2520" y="462"/>
                </a:cubicBezTo>
                <a:cubicBezTo>
                  <a:pt x="2611" y="442"/>
                  <a:pt x="2872" y="440"/>
                  <a:pt x="2956" y="478"/>
                </a:cubicBezTo>
                <a:cubicBezTo>
                  <a:pt x="3040" y="516"/>
                  <a:pt x="2998" y="594"/>
                  <a:pt x="3024" y="690"/>
                </a:cubicBezTo>
                <a:cubicBezTo>
                  <a:pt x="3050" y="786"/>
                  <a:pt x="3023" y="987"/>
                  <a:pt x="3112" y="1054"/>
                </a:cubicBezTo>
                <a:cubicBezTo>
                  <a:pt x="3201" y="1121"/>
                  <a:pt x="3399" y="1093"/>
                  <a:pt x="3556" y="1094"/>
                </a:cubicBezTo>
                <a:cubicBezTo>
                  <a:pt x="3713" y="1095"/>
                  <a:pt x="3955" y="1121"/>
                  <a:pt x="4056" y="1062"/>
                </a:cubicBezTo>
                <a:cubicBezTo>
                  <a:pt x="4157" y="1003"/>
                  <a:pt x="4147" y="915"/>
                  <a:pt x="4164" y="742"/>
                </a:cubicBezTo>
                <a:cubicBezTo>
                  <a:pt x="4181" y="569"/>
                  <a:pt x="4161" y="175"/>
                  <a:pt x="4160" y="26"/>
                </a:cubicBezTo>
              </a:path>
            </a:pathLst>
          </a:custGeom>
          <a:noFill/>
          <a:ln w="76200" cmpd="sng">
            <a:solidFill>
              <a:srgbClr val="663300">
                <a:alpha val="59999"/>
              </a:srgbClr>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92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0" nodeType="afterEffect">
                                  <p:stCondLst>
                                    <p:cond delay="1000"/>
                                  </p:stCondLst>
                                  <p:childTnLst>
                                    <p:anim calcmode="discrete" valueType="str">
                                      <p:cBhvr>
                                        <p:cTn id="9" dur="500" fill="hold"/>
                                        <p:tgtEl>
                                          <p:spTgt spid="461849"/>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2500"/>
                            </p:stCondLst>
                            <p:childTnLst>
                              <p:par>
                                <p:cTn id="11" presetID="1" presetClass="entr" presetSubtype="0" fill="hold" grpId="0" nodeType="afterEffect">
                                  <p:stCondLst>
                                    <p:cond delay="1000"/>
                                  </p:stCondLst>
                                  <p:childTnLst>
                                    <p:set>
                                      <p:cBhvr>
                                        <p:cTn id="12" dur="1" fill="hold">
                                          <p:stCondLst>
                                            <p:cond delay="0"/>
                                          </p:stCondLst>
                                        </p:cTn>
                                        <p:tgtEl>
                                          <p:spTgt spid="461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49" grpId="0" animBg="1"/>
      <p:bldP spid="461925" grpId="0" animBg="1"/>
      <p:bldP spid="461926"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body" idx="1"/>
          </p:nvPr>
        </p:nvSpPr>
        <p:spPr>
          <a:xfrm>
            <a:off x="1042988" y="2051050"/>
            <a:ext cx="7850187" cy="4257675"/>
          </a:xfrm>
        </p:spPr>
        <p:txBody>
          <a:bodyPr/>
          <a:lstStyle/>
          <a:p>
            <a:pPr eaLnBrk="1" hangingPunct="1"/>
            <a:r>
              <a:rPr lang="zh-CN" altLang="en-US" smtClean="0"/>
              <a:t>网桥在转发帧之前必须执行 </a:t>
            </a:r>
            <a:r>
              <a:rPr lang="en-US" altLang="zh-CN" smtClean="0"/>
              <a:t>CSMA/CD </a:t>
            </a:r>
            <a:r>
              <a:rPr lang="zh-CN" altLang="en-US" smtClean="0"/>
              <a:t>算法。</a:t>
            </a:r>
          </a:p>
          <a:p>
            <a:pPr lvl="1" eaLnBrk="1" hangingPunct="1"/>
            <a:r>
              <a:rPr lang="zh-CN" altLang="en-US" smtClean="0">
                <a:solidFill>
                  <a:srgbClr val="333399"/>
                </a:solidFill>
                <a:ea typeface="黑体" pitchFamily="49" charset="-122"/>
              </a:rPr>
              <a:t>若在发送过程中出现碰撞，就必须停止发送和进行退避。</a:t>
            </a:r>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285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285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body" idx="1"/>
          </p:nvPr>
        </p:nvSpPr>
        <p:spPr>
          <a:xfrm>
            <a:off x="1042988" y="2051050"/>
            <a:ext cx="7850187" cy="4257675"/>
          </a:xfrm>
        </p:spPr>
        <p:txBody>
          <a:bodyPr/>
          <a:lstStyle/>
          <a:p>
            <a:pPr eaLnBrk="1" hangingPunct="1"/>
            <a:r>
              <a:rPr lang="zh-CN" altLang="en-US" sz="2800" smtClean="0"/>
              <a:t>目前使用得最多的网桥是</a:t>
            </a:r>
            <a:r>
              <a:rPr lang="zh-CN" altLang="en-US" sz="2800" smtClean="0">
                <a:solidFill>
                  <a:schemeClr val="hlink"/>
                </a:solidFill>
              </a:rPr>
              <a:t>透明网桥</a:t>
            </a:r>
            <a:r>
              <a:rPr lang="en-US" altLang="zh-CN" sz="2800" smtClean="0"/>
              <a:t>(transparent bridge)</a:t>
            </a:r>
            <a:r>
              <a:rPr lang="zh-CN" altLang="en-US" sz="2800" smtClean="0"/>
              <a:t>。 </a:t>
            </a:r>
          </a:p>
          <a:p>
            <a:pPr eaLnBrk="1" hangingPunct="1"/>
            <a:r>
              <a:rPr lang="zh-CN" altLang="en-US" sz="2800" smtClean="0"/>
              <a:t>“透明”是指局域网上的站点并不知道所发送的帧将经过哪几个网桥，因为网桥对各站来说是看不见的。 </a:t>
            </a:r>
          </a:p>
          <a:p>
            <a:pPr eaLnBrk="1" hangingPunct="1"/>
            <a:r>
              <a:rPr lang="zh-CN" altLang="en-US" sz="2800" smtClean="0"/>
              <a:t>透明网桥是一种</a:t>
            </a:r>
            <a:r>
              <a:rPr lang="zh-CN" altLang="en-US" sz="2800" smtClean="0">
                <a:solidFill>
                  <a:schemeClr val="hlink"/>
                </a:solidFill>
              </a:rPr>
              <a:t>即插即用设备</a:t>
            </a:r>
            <a:r>
              <a:rPr lang="zh-CN" altLang="en-US" sz="2800" smtClean="0"/>
              <a:t>，其标准是 </a:t>
            </a:r>
            <a:r>
              <a:rPr lang="en-US" altLang="zh-CN" sz="2800" smtClean="0"/>
              <a:t>IEEE 802.1D</a:t>
            </a:r>
            <a:r>
              <a:rPr lang="zh-CN" altLang="en-US" sz="2800" smtClean="0"/>
              <a:t>。 自学习，不用预先进行任何设置</a:t>
            </a:r>
          </a:p>
        </p:txBody>
      </p:sp>
      <p:sp>
        <p:nvSpPr>
          <p:cNvPr id="99331" name="Rectangle 3"/>
          <p:cNvSpPr>
            <a:spLocks noGrp="1" noChangeArrowheads="1"/>
          </p:cNvSpPr>
          <p:nvPr>
            <p:ph type="title"/>
          </p:nvPr>
        </p:nvSpPr>
        <p:spPr>
          <a:xfrm>
            <a:off x="919163" y="214313"/>
            <a:ext cx="8116887" cy="1462087"/>
          </a:xfrm>
        </p:spPr>
        <p:txBody>
          <a:bodyPr/>
          <a:lstStyle/>
          <a:p>
            <a:pPr algn="ctr" eaLnBrk="1" hangingPunct="1"/>
            <a:r>
              <a:rPr lang="en-US" altLang="zh-CN" smtClean="0"/>
              <a:t>2. </a:t>
            </a:r>
            <a:r>
              <a:rPr lang="zh-CN" altLang="en-US" smtClean="0"/>
              <a:t>透明网桥</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body" idx="1"/>
          </p:nvPr>
        </p:nvSpPr>
        <p:spPr>
          <a:xfrm>
            <a:off x="611188" y="1916113"/>
            <a:ext cx="8281987" cy="4321175"/>
          </a:xfrm>
        </p:spPr>
        <p:txBody>
          <a:bodyPr/>
          <a:lstStyle/>
          <a:p>
            <a:pPr eaLnBrk="1" hangingPunct="1"/>
            <a:r>
              <a:rPr lang="zh-CN" altLang="en-US" smtClean="0"/>
              <a:t>若从 </a:t>
            </a:r>
            <a:r>
              <a:rPr lang="en-US" altLang="zh-CN" smtClean="0"/>
              <a:t>A </a:t>
            </a:r>
            <a:r>
              <a:rPr lang="zh-CN" altLang="en-US" smtClean="0"/>
              <a:t>发出的帧从接口 </a:t>
            </a:r>
            <a:r>
              <a:rPr lang="en-US" altLang="zh-CN" smtClean="0"/>
              <a:t>x </a:t>
            </a:r>
            <a:r>
              <a:rPr lang="zh-CN" altLang="en-US" smtClean="0"/>
              <a:t>进入了某网桥，那么从这个接口出发沿相反方向一定可把一个帧传送到 </a:t>
            </a:r>
            <a:r>
              <a:rPr lang="en-US" altLang="zh-CN" smtClean="0"/>
              <a:t>A</a:t>
            </a:r>
            <a:r>
              <a:rPr lang="zh-CN" altLang="en-US" smtClean="0"/>
              <a:t>。</a:t>
            </a:r>
          </a:p>
          <a:p>
            <a:pPr eaLnBrk="1" hangingPunct="1"/>
            <a:r>
              <a:rPr lang="zh-CN" altLang="en-US" smtClean="0"/>
              <a:t>网桥每收到一个帧，就记下其源地址和进入网桥的接口，作为转发表中的一个项目。</a:t>
            </a:r>
          </a:p>
        </p:txBody>
      </p:sp>
      <p:sp>
        <p:nvSpPr>
          <p:cNvPr id="100355"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035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0357" name="Rectangle 5"/>
          <p:cNvSpPr>
            <a:spLocks noGrp="1" noChangeArrowheads="1"/>
          </p:cNvSpPr>
          <p:nvPr>
            <p:ph type="title"/>
          </p:nvPr>
        </p:nvSpPr>
        <p:spPr>
          <a:xfrm>
            <a:off x="919163" y="214313"/>
            <a:ext cx="8116887" cy="1462087"/>
          </a:xfrm>
        </p:spPr>
        <p:txBody>
          <a:bodyPr/>
          <a:lstStyle/>
          <a:p>
            <a:pPr algn="ctr" eaLnBrk="1" hangingPunct="1"/>
            <a:r>
              <a:rPr lang="zh-CN" altLang="en-US" smtClean="0"/>
              <a:t>网桥应当按照以下自学习算法</a:t>
            </a:r>
            <a:br>
              <a:rPr lang="zh-CN" altLang="en-US" smtClean="0"/>
            </a:br>
            <a:r>
              <a:rPr lang="zh-CN" altLang="en-US" smtClean="0"/>
              <a:t>处理收到的帧和建立转发表 </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6"/>
          <p:cNvSpPr>
            <a:spLocks noChangeArrowheads="1"/>
          </p:cNvSpPr>
          <p:nvPr/>
        </p:nvSpPr>
        <p:spPr bwMode="auto">
          <a:xfrm>
            <a:off x="2224088" y="3949700"/>
            <a:ext cx="1476375"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pPr>
            <a:r>
              <a:rPr kumimoji="1" lang="zh-CN" altLang="en-US" sz="1800">
                <a:solidFill>
                  <a:schemeClr val="folHlink"/>
                </a:solidFill>
                <a:latin typeface="Arial" pitchFamily="34" charset="0"/>
                <a:ea typeface="黑体" pitchFamily="49" charset="-122"/>
              </a:rPr>
              <a:t>地址      接口</a:t>
            </a:r>
            <a:endParaRPr kumimoji="1" lang="zh-CN" altLang="en-US" sz="1800" baseline="-25000">
              <a:solidFill>
                <a:schemeClr val="folHlink"/>
              </a:solidFill>
              <a:latin typeface="Arial" pitchFamily="34" charset="0"/>
              <a:ea typeface="黑体" pitchFamily="49" charset="-122"/>
            </a:endParaRPr>
          </a:p>
        </p:txBody>
      </p:sp>
      <p:sp>
        <p:nvSpPr>
          <p:cNvPr id="101379" name="Rectangle 4"/>
          <p:cNvSpPr>
            <a:spLocks noGrp="1" noChangeArrowheads="1"/>
          </p:cNvSpPr>
          <p:nvPr>
            <p:ph type="title"/>
          </p:nvPr>
        </p:nvSpPr>
        <p:spPr>
          <a:xfrm>
            <a:off x="1150938" y="214313"/>
            <a:ext cx="7453312" cy="1462087"/>
          </a:xfrm>
        </p:spPr>
        <p:txBody>
          <a:bodyPr/>
          <a:lstStyle/>
          <a:p>
            <a:pPr algn="ctr" eaLnBrk="1" hangingPunct="1"/>
            <a:r>
              <a:rPr lang="zh-CN" altLang="en-US" smtClean="0"/>
              <a:t>转发表的建立过程举例</a:t>
            </a:r>
          </a:p>
        </p:txBody>
      </p:sp>
      <p:sp>
        <p:nvSpPr>
          <p:cNvPr id="101380" name="Line 5"/>
          <p:cNvSpPr>
            <a:spLocks noChangeShapeType="1"/>
          </p:cNvSpPr>
          <p:nvPr/>
        </p:nvSpPr>
        <p:spPr bwMode="auto">
          <a:xfrm>
            <a:off x="5099050" y="2630488"/>
            <a:ext cx="0" cy="5921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381" name="Line 7"/>
          <p:cNvSpPr>
            <a:spLocks noChangeShapeType="1"/>
          </p:cNvSpPr>
          <p:nvPr/>
        </p:nvSpPr>
        <p:spPr bwMode="auto">
          <a:xfrm>
            <a:off x="8631238" y="2647950"/>
            <a:ext cx="0" cy="5905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382" name="Line 8"/>
          <p:cNvSpPr>
            <a:spLocks noChangeShapeType="1"/>
          </p:cNvSpPr>
          <p:nvPr/>
        </p:nvSpPr>
        <p:spPr bwMode="auto">
          <a:xfrm flipV="1">
            <a:off x="6872288" y="2655888"/>
            <a:ext cx="2024062" cy="476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383" name="Rectangle 9"/>
          <p:cNvSpPr>
            <a:spLocks noChangeArrowheads="1"/>
          </p:cNvSpPr>
          <p:nvPr/>
        </p:nvSpPr>
        <p:spPr bwMode="auto">
          <a:xfrm>
            <a:off x="8848725" y="2576513"/>
            <a:ext cx="115888" cy="123825"/>
          </a:xfrm>
          <a:prstGeom prst="rect">
            <a:avLst/>
          </a:prstGeom>
          <a:solidFill>
            <a:schemeClr val="folHlink"/>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384" name="Line 10"/>
          <p:cNvSpPr>
            <a:spLocks noChangeShapeType="1"/>
          </p:cNvSpPr>
          <p:nvPr/>
        </p:nvSpPr>
        <p:spPr bwMode="auto">
          <a:xfrm>
            <a:off x="7480300" y="2660650"/>
            <a:ext cx="0" cy="5651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1385" name="Picture 1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00900" y="3195638"/>
            <a:ext cx="560388"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386"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28025" y="3192463"/>
            <a:ext cx="560388"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1387" name="Line 13"/>
          <p:cNvSpPr>
            <a:spLocks noChangeShapeType="1"/>
          </p:cNvSpPr>
          <p:nvPr/>
        </p:nvSpPr>
        <p:spPr bwMode="auto">
          <a:xfrm>
            <a:off x="3351213" y="2643188"/>
            <a:ext cx="2509837" cy="158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388" name="Line 14"/>
          <p:cNvSpPr>
            <a:spLocks noChangeShapeType="1"/>
          </p:cNvSpPr>
          <p:nvPr/>
        </p:nvSpPr>
        <p:spPr bwMode="auto">
          <a:xfrm>
            <a:off x="4043363" y="2643188"/>
            <a:ext cx="0" cy="5667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1389" name="Picture 1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65550" y="3178175"/>
            <a:ext cx="560388"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390" name="Picture 1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06950" y="3176588"/>
            <a:ext cx="560388"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1391" name="Line 17"/>
          <p:cNvSpPr>
            <a:spLocks noChangeShapeType="1"/>
          </p:cNvSpPr>
          <p:nvPr/>
        </p:nvSpPr>
        <p:spPr bwMode="auto">
          <a:xfrm>
            <a:off x="1985963" y="2651125"/>
            <a:ext cx="0" cy="5905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392" name="Rectangle 18"/>
          <p:cNvSpPr>
            <a:spLocks noChangeArrowheads="1"/>
          </p:cNvSpPr>
          <p:nvPr/>
        </p:nvSpPr>
        <p:spPr bwMode="auto">
          <a:xfrm>
            <a:off x="174625" y="2598738"/>
            <a:ext cx="115888" cy="122237"/>
          </a:xfrm>
          <a:prstGeom prst="rect">
            <a:avLst/>
          </a:prstGeom>
          <a:solidFill>
            <a:schemeClr val="folHlink"/>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393" name="Line 19"/>
          <p:cNvSpPr>
            <a:spLocks noChangeShapeType="1"/>
          </p:cNvSpPr>
          <p:nvPr/>
        </p:nvSpPr>
        <p:spPr bwMode="auto">
          <a:xfrm flipV="1">
            <a:off x="250825" y="2660650"/>
            <a:ext cx="2001838" cy="158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394" name="Line 20"/>
          <p:cNvSpPr>
            <a:spLocks noChangeShapeType="1"/>
          </p:cNvSpPr>
          <p:nvPr/>
        </p:nvSpPr>
        <p:spPr bwMode="auto">
          <a:xfrm>
            <a:off x="642938" y="2662238"/>
            <a:ext cx="0" cy="56832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1395"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5125" y="3197225"/>
            <a:ext cx="5588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396" name="Picture 2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4338" y="3195638"/>
            <a:ext cx="5588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1397" name="Rectangle 23"/>
          <p:cNvSpPr>
            <a:spLocks noChangeArrowheads="1"/>
          </p:cNvSpPr>
          <p:nvPr/>
        </p:nvSpPr>
        <p:spPr bwMode="auto">
          <a:xfrm>
            <a:off x="6100763" y="1989138"/>
            <a:ext cx="41751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B</a:t>
            </a:r>
            <a:r>
              <a:rPr kumimoji="1" lang="en-US" altLang="zh-CN" sz="1800" baseline="-25000">
                <a:solidFill>
                  <a:schemeClr val="folHlink"/>
                </a:solidFill>
                <a:latin typeface="Arial" pitchFamily="34" charset="0"/>
                <a:ea typeface="黑体" pitchFamily="49" charset="-122"/>
              </a:rPr>
              <a:t>2</a:t>
            </a:r>
          </a:p>
        </p:txBody>
      </p:sp>
      <p:pic>
        <p:nvPicPr>
          <p:cNvPr id="101398" name="Picture 2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4088" y="2085975"/>
            <a:ext cx="1201737"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1399" name="Picture 2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0713" y="2085975"/>
            <a:ext cx="1203325"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01400" name="Rectangle 26"/>
          <p:cNvSpPr>
            <a:spLocks noChangeArrowheads="1"/>
          </p:cNvSpPr>
          <p:nvPr/>
        </p:nvSpPr>
        <p:spPr bwMode="auto">
          <a:xfrm>
            <a:off x="2624138" y="1989138"/>
            <a:ext cx="41751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B</a:t>
            </a:r>
            <a:r>
              <a:rPr kumimoji="1" lang="en-US" altLang="zh-CN" sz="1800" baseline="-25000">
                <a:solidFill>
                  <a:schemeClr val="folHlink"/>
                </a:solidFill>
                <a:latin typeface="Arial" pitchFamily="34" charset="0"/>
                <a:ea typeface="黑体" pitchFamily="49" charset="-122"/>
              </a:rPr>
              <a:t>1</a:t>
            </a:r>
          </a:p>
        </p:txBody>
      </p:sp>
      <p:sp>
        <p:nvSpPr>
          <p:cNvPr id="101401" name="Rectangle 27"/>
          <p:cNvSpPr>
            <a:spLocks noChangeArrowheads="1"/>
          </p:cNvSpPr>
          <p:nvPr/>
        </p:nvSpPr>
        <p:spPr bwMode="auto">
          <a:xfrm>
            <a:off x="115888" y="3125788"/>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A</a:t>
            </a:r>
            <a:endParaRPr kumimoji="1" lang="en-US" altLang="zh-CN" sz="1800" baseline="-25000">
              <a:solidFill>
                <a:schemeClr val="folHlink"/>
              </a:solidFill>
              <a:latin typeface="Arial" pitchFamily="34" charset="0"/>
              <a:ea typeface="黑体" pitchFamily="49" charset="-122"/>
            </a:endParaRPr>
          </a:p>
        </p:txBody>
      </p:sp>
      <p:sp>
        <p:nvSpPr>
          <p:cNvPr id="101402" name="Rectangle 28"/>
          <p:cNvSpPr>
            <a:spLocks noChangeArrowheads="1"/>
          </p:cNvSpPr>
          <p:nvPr/>
        </p:nvSpPr>
        <p:spPr bwMode="auto">
          <a:xfrm>
            <a:off x="1458913" y="3125788"/>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B</a:t>
            </a:r>
            <a:endParaRPr kumimoji="1" lang="en-US" altLang="zh-CN" sz="1800" baseline="-25000">
              <a:solidFill>
                <a:schemeClr val="folHlink"/>
              </a:solidFill>
              <a:latin typeface="Arial" pitchFamily="34" charset="0"/>
              <a:ea typeface="黑体" pitchFamily="49" charset="-122"/>
            </a:endParaRPr>
          </a:p>
        </p:txBody>
      </p:sp>
      <p:sp>
        <p:nvSpPr>
          <p:cNvPr id="101403" name="Rectangle 29"/>
          <p:cNvSpPr>
            <a:spLocks noChangeArrowheads="1"/>
          </p:cNvSpPr>
          <p:nvPr/>
        </p:nvSpPr>
        <p:spPr bwMode="auto">
          <a:xfrm>
            <a:off x="3484563" y="3125788"/>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C</a:t>
            </a:r>
            <a:endParaRPr kumimoji="1" lang="en-US" altLang="zh-CN" sz="1800" baseline="-25000">
              <a:solidFill>
                <a:schemeClr val="folHlink"/>
              </a:solidFill>
              <a:latin typeface="Arial" pitchFamily="34" charset="0"/>
              <a:ea typeface="黑体" pitchFamily="49" charset="-122"/>
            </a:endParaRPr>
          </a:p>
        </p:txBody>
      </p:sp>
      <p:sp>
        <p:nvSpPr>
          <p:cNvPr id="101404" name="Rectangle 30"/>
          <p:cNvSpPr>
            <a:spLocks noChangeArrowheads="1"/>
          </p:cNvSpPr>
          <p:nvPr/>
        </p:nvSpPr>
        <p:spPr bwMode="auto">
          <a:xfrm>
            <a:off x="4583113" y="3125788"/>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D</a:t>
            </a:r>
            <a:endParaRPr kumimoji="1" lang="en-US" altLang="zh-CN" sz="1800" baseline="-25000">
              <a:solidFill>
                <a:schemeClr val="folHlink"/>
              </a:solidFill>
              <a:latin typeface="Arial" pitchFamily="34" charset="0"/>
              <a:ea typeface="黑体" pitchFamily="49" charset="-122"/>
            </a:endParaRPr>
          </a:p>
        </p:txBody>
      </p:sp>
      <p:sp>
        <p:nvSpPr>
          <p:cNvPr id="101405" name="Rectangle 31"/>
          <p:cNvSpPr>
            <a:spLocks noChangeArrowheads="1"/>
          </p:cNvSpPr>
          <p:nvPr/>
        </p:nvSpPr>
        <p:spPr bwMode="auto">
          <a:xfrm>
            <a:off x="6986588" y="3125788"/>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E</a:t>
            </a:r>
            <a:endParaRPr kumimoji="1" lang="en-US" altLang="zh-CN" sz="1800" baseline="-25000">
              <a:solidFill>
                <a:schemeClr val="folHlink"/>
              </a:solidFill>
              <a:latin typeface="Arial" pitchFamily="34" charset="0"/>
              <a:ea typeface="黑体" pitchFamily="49" charset="-122"/>
            </a:endParaRPr>
          </a:p>
        </p:txBody>
      </p:sp>
      <p:sp>
        <p:nvSpPr>
          <p:cNvPr id="101406" name="Rectangle 32"/>
          <p:cNvSpPr>
            <a:spLocks noChangeArrowheads="1"/>
          </p:cNvSpPr>
          <p:nvPr/>
        </p:nvSpPr>
        <p:spPr bwMode="auto">
          <a:xfrm>
            <a:off x="8104188" y="3125788"/>
            <a:ext cx="3206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F</a:t>
            </a:r>
            <a:endParaRPr kumimoji="1" lang="en-US" altLang="zh-CN" sz="1800" baseline="-25000">
              <a:solidFill>
                <a:schemeClr val="folHlink"/>
              </a:solidFill>
              <a:latin typeface="Arial" pitchFamily="34" charset="0"/>
              <a:ea typeface="黑体" pitchFamily="49" charset="-122"/>
            </a:endParaRPr>
          </a:p>
        </p:txBody>
      </p:sp>
      <p:sp>
        <p:nvSpPr>
          <p:cNvPr id="101407" name="Rectangle 33"/>
          <p:cNvSpPr>
            <a:spLocks noChangeArrowheads="1"/>
          </p:cNvSpPr>
          <p:nvPr/>
        </p:nvSpPr>
        <p:spPr bwMode="auto">
          <a:xfrm>
            <a:off x="1920875" y="2214563"/>
            <a:ext cx="307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1</a:t>
            </a:r>
            <a:endParaRPr kumimoji="1" lang="en-US" altLang="zh-CN" sz="1800" baseline="-25000">
              <a:solidFill>
                <a:schemeClr val="folHlink"/>
              </a:solidFill>
              <a:latin typeface="Arial" pitchFamily="34" charset="0"/>
              <a:ea typeface="黑体" pitchFamily="49" charset="-122"/>
            </a:endParaRPr>
          </a:p>
        </p:txBody>
      </p:sp>
      <p:sp>
        <p:nvSpPr>
          <p:cNvPr id="101408" name="Rectangle 34"/>
          <p:cNvSpPr>
            <a:spLocks noChangeArrowheads="1"/>
          </p:cNvSpPr>
          <p:nvPr/>
        </p:nvSpPr>
        <p:spPr bwMode="auto">
          <a:xfrm>
            <a:off x="3381375" y="2214563"/>
            <a:ext cx="307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2</a:t>
            </a:r>
            <a:endParaRPr kumimoji="1" lang="en-US" altLang="zh-CN" sz="1800" baseline="-25000">
              <a:solidFill>
                <a:schemeClr val="folHlink"/>
              </a:solidFill>
              <a:latin typeface="Arial" pitchFamily="34" charset="0"/>
              <a:ea typeface="黑体" pitchFamily="49" charset="-122"/>
            </a:endParaRPr>
          </a:p>
        </p:txBody>
      </p:sp>
      <p:sp>
        <p:nvSpPr>
          <p:cNvPr id="101409" name="Rectangle 35"/>
          <p:cNvSpPr>
            <a:spLocks noChangeArrowheads="1"/>
          </p:cNvSpPr>
          <p:nvPr/>
        </p:nvSpPr>
        <p:spPr bwMode="auto">
          <a:xfrm>
            <a:off x="5397500" y="2214563"/>
            <a:ext cx="307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1</a:t>
            </a:r>
            <a:endParaRPr kumimoji="1" lang="en-US" altLang="zh-CN" sz="1800" baseline="-25000">
              <a:solidFill>
                <a:schemeClr val="folHlink"/>
              </a:solidFill>
              <a:latin typeface="Arial" pitchFamily="34" charset="0"/>
              <a:ea typeface="黑体" pitchFamily="49" charset="-122"/>
            </a:endParaRPr>
          </a:p>
        </p:txBody>
      </p:sp>
      <p:sp>
        <p:nvSpPr>
          <p:cNvPr id="101410" name="Rectangle 36"/>
          <p:cNvSpPr>
            <a:spLocks noChangeArrowheads="1"/>
          </p:cNvSpPr>
          <p:nvPr/>
        </p:nvSpPr>
        <p:spPr bwMode="auto">
          <a:xfrm>
            <a:off x="6907213" y="2214563"/>
            <a:ext cx="307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2</a:t>
            </a:r>
            <a:endParaRPr kumimoji="1" lang="en-US" altLang="zh-CN" sz="1800" baseline="-25000">
              <a:solidFill>
                <a:schemeClr val="folHlink"/>
              </a:solidFill>
              <a:latin typeface="Arial" pitchFamily="34" charset="0"/>
              <a:ea typeface="黑体" pitchFamily="49" charset="-122"/>
            </a:endParaRPr>
          </a:p>
        </p:txBody>
      </p:sp>
      <p:sp>
        <p:nvSpPr>
          <p:cNvPr id="101411" name="Line 38"/>
          <p:cNvSpPr>
            <a:spLocks noChangeShapeType="1"/>
          </p:cNvSpPr>
          <p:nvPr/>
        </p:nvSpPr>
        <p:spPr bwMode="auto">
          <a:xfrm>
            <a:off x="2093913" y="4359275"/>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2" name="Line 39"/>
          <p:cNvSpPr>
            <a:spLocks noChangeShapeType="1"/>
          </p:cNvSpPr>
          <p:nvPr/>
        </p:nvSpPr>
        <p:spPr bwMode="auto">
          <a:xfrm>
            <a:off x="2093913" y="4737100"/>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3" name="Line 40"/>
          <p:cNvSpPr>
            <a:spLocks noChangeShapeType="1"/>
          </p:cNvSpPr>
          <p:nvPr/>
        </p:nvSpPr>
        <p:spPr bwMode="auto">
          <a:xfrm>
            <a:off x="2093913" y="5116513"/>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4" name="Line 41"/>
          <p:cNvSpPr>
            <a:spLocks noChangeShapeType="1"/>
          </p:cNvSpPr>
          <p:nvPr/>
        </p:nvSpPr>
        <p:spPr bwMode="auto">
          <a:xfrm>
            <a:off x="2951163" y="3981450"/>
            <a:ext cx="0" cy="18954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5" name="Rectangle 43"/>
          <p:cNvSpPr>
            <a:spLocks noChangeArrowheads="1"/>
          </p:cNvSpPr>
          <p:nvPr/>
        </p:nvSpPr>
        <p:spPr bwMode="auto">
          <a:xfrm>
            <a:off x="5629275" y="3965575"/>
            <a:ext cx="1476375"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pPr>
            <a:r>
              <a:rPr kumimoji="1" lang="zh-CN" altLang="en-US" sz="1800">
                <a:solidFill>
                  <a:schemeClr val="folHlink"/>
                </a:solidFill>
                <a:latin typeface="Arial" pitchFamily="34" charset="0"/>
                <a:ea typeface="黑体" pitchFamily="49" charset="-122"/>
              </a:rPr>
              <a:t>地址      接口</a:t>
            </a:r>
            <a:endParaRPr kumimoji="1" lang="zh-CN" altLang="en-US" sz="1800" baseline="-25000">
              <a:solidFill>
                <a:schemeClr val="folHlink"/>
              </a:solidFill>
              <a:latin typeface="Arial" pitchFamily="34" charset="0"/>
              <a:ea typeface="黑体" pitchFamily="49" charset="-122"/>
            </a:endParaRPr>
          </a:p>
        </p:txBody>
      </p:sp>
      <p:sp>
        <p:nvSpPr>
          <p:cNvPr id="101416" name="Line 45"/>
          <p:cNvSpPr>
            <a:spLocks noChangeShapeType="1"/>
          </p:cNvSpPr>
          <p:nvPr/>
        </p:nvSpPr>
        <p:spPr bwMode="auto">
          <a:xfrm>
            <a:off x="5529263" y="4359275"/>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7" name="Line 46"/>
          <p:cNvSpPr>
            <a:spLocks noChangeShapeType="1"/>
          </p:cNvSpPr>
          <p:nvPr/>
        </p:nvSpPr>
        <p:spPr bwMode="auto">
          <a:xfrm>
            <a:off x="5529263" y="4737100"/>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8" name="Line 47"/>
          <p:cNvSpPr>
            <a:spLocks noChangeShapeType="1"/>
          </p:cNvSpPr>
          <p:nvPr/>
        </p:nvSpPr>
        <p:spPr bwMode="auto">
          <a:xfrm>
            <a:off x="5529263" y="5116513"/>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9" name="Line 48"/>
          <p:cNvSpPr>
            <a:spLocks noChangeShapeType="1"/>
          </p:cNvSpPr>
          <p:nvPr/>
        </p:nvSpPr>
        <p:spPr bwMode="auto">
          <a:xfrm>
            <a:off x="6386513" y="3981450"/>
            <a:ext cx="1587" cy="15144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20" name="Freeform 50"/>
          <p:cNvSpPr>
            <a:spLocks/>
          </p:cNvSpPr>
          <p:nvPr/>
        </p:nvSpPr>
        <p:spPr bwMode="auto">
          <a:xfrm>
            <a:off x="2093913" y="2654300"/>
            <a:ext cx="1717675" cy="1327150"/>
          </a:xfrm>
          <a:custGeom>
            <a:avLst/>
            <a:gdLst>
              <a:gd name="T0" fmla="*/ 0 w 907"/>
              <a:gd name="T1" fmla="*/ 2147483647 h 635"/>
              <a:gd name="T2" fmla="*/ 2147483647 w 907"/>
              <a:gd name="T3" fmla="*/ 0 h 635"/>
              <a:gd name="T4" fmla="*/ 2147483647 w 907"/>
              <a:gd name="T5" fmla="*/ 0 h 635"/>
              <a:gd name="T6" fmla="*/ 2147483647 w 907"/>
              <a:gd name="T7" fmla="*/ 2147483647 h 635"/>
              <a:gd name="T8" fmla="*/ 0 w 907"/>
              <a:gd name="T9" fmla="*/ 2147483647 h 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767647"/>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21" name="Freeform 51"/>
          <p:cNvSpPr>
            <a:spLocks/>
          </p:cNvSpPr>
          <p:nvPr/>
        </p:nvSpPr>
        <p:spPr bwMode="auto">
          <a:xfrm>
            <a:off x="5529263" y="2654300"/>
            <a:ext cx="1717675" cy="1327150"/>
          </a:xfrm>
          <a:custGeom>
            <a:avLst/>
            <a:gdLst>
              <a:gd name="T0" fmla="*/ 0 w 907"/>
              <a:gd name="T1" fmla="*/ 2147483647 h 635"/>
              <a:gd name="T2" fmla="*/ 2147483647 w 907"/>
              <a:gd name="T3" fmla="*/ 0 h 635"/>
              <a:gd name="T4" fmla="*/ 2147483647 w 907"/>
              <a:gd name="T5" fmla="*/ 0 h 635"/>
              <a:gd name="T6" fmla="*/ 2147483647 w 907"/>
              <a:gd name="T7" fmla="*/ 2147483647 h 635"/>
              <a:gd name="T8" fmla="*/ 0 w 907"/>
              <a:gd name="T9" fmla="*/ 2147483647 h 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767647"/>
              </a:gs>
              <a:gs pos="100000">
                <a:srgbClr val="FFFF99"/>
              </a:gs>
            </a:gsLst>
            <a:lin ang="540000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8264" name="Group 72"/>
          <p:cNvGrpSpPr>
            <a:grpSpLocks/>
          </p:cNvGrpSpPr>
          <p:nvPr/>
        </p:nvGrpSpPr>
        <p:grpSpPr bwMode="auto">
          <a:xfrm>
            <a:off x="2246313" y="4921250"/>
            <a:ext cx="4768850" cy="887413"/>
            <a:chOff x="1415" y="3100"/>
            <a:chExt cx="3004" cy="559"/>
          </a:xfrm>
        </p:grpSpPr>
        <p:sp>
          <p:nvSpPr>
            <p:cNvPr id="101441" name="Rectangle 52"/>
            <p:cNvSpPr>
              <a:spLocks noChangeArrowheads="1"/>
            </p:cNvSpPr>
            <p:nvPr/>
          </p:nvSpPr>
          <p:spPr bwMode="auto">
            <a:xfrm>
              <a:off x="1415" y="3337"/>
              <a:ext cx="306"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pPr>
              <a:r>
                <a:rPr kumimoji="1" lang="en-US" altLang="zh-CN" sz="2400">
                  <a:solidFill>
                    <a:schemeClr val="folHlink"/>
                  </a:solidFill>
                  <a:latin typeface="Arial" pitchFamily="34" charset="0"/>
                  <a:ea typeface="黑体" pitchFamily="49" charset="-122"/>
                </a:rPr>
                <a:t>…</a:t>
              </a:r>
              <a:endParaRPr kumimoji="1" lang="en-US" altLang="zh-CN" sz="2400" baseline="-25000">
                <a:solidFill>
                  <a:schemeClr val="folHlink"/>
                </a:solidFill>
                <a:latin typeface="Arial" pitchFamily="34" charset="0"/>
                <a:ea typeface="黑体" pitchFamily="49" charset="-122"/>
              </a:endParaRPr>
            </a:p>
          </p:txBody>
        </p:sp>
        <p:sp>
          <p:nvSpPr>
            <p:cNvPr id="101442" name="Rectangle 53"/>
            <p:cNvSpPr>
              <a:spLocks noChangeArrowheads="1"/>
            </p:cNvSpPr>
            <p:nvPr/>
          </p:nvSpPr>
          <p:spPr bwMode="auto">
            <a:xfrm>
              <a:off x="1927" y="3337"/>
              <a:ext cx="305"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pPr>
              <a:r>
                <a:rPr kumimoji="1" lang="en-US" altLang="zh-CN" sz="2400">
                  <a:solidFill>
                    <a:schemeClr val="folHlink"/>
                  </a:solidFill>
                  <a:latin typeface="Arial" pitchFamily="34" charset="0"/>
                  <a:ea typeface="黑体" pitchFamily="49" charset="-122"/>
                </a:rPr>
                <a:t>…</a:t>
              </a:r>
              <a:endParaRPr kumimoji="1" lang="en-US" altLang="zh-CN" sz="2400" baseline="-25000">
                <a:solidFill>
                  <a:schemeClr val="folHlink"/>
                </a:solidFill>
                <a:latin typeface="Arial" pitchFamily="34" charset="0"/>
                <a:ea typeface="黑体" pitchFamily="49" charset="-122"/>
              </a:endParaRPr>
            </a:p>
          </p:txBody>
        </p:sp>
        <p:sp>
          <p:nvSpPr>
            <p:cNvPr id="101443" name="Rectangle 54"/>
            <p:cNvSpPr>
              <a:spLocks noChangeArrowheads="1"/>
            </p:cNvSpPr>
            <p:nvPr/>
          </p:nvSpPr>
          <p:spPr bwMode="auto">
            <a:xfrm>
              <a:off x="4113" y="3100"/>
              <a:ext cx="306"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pPr>
              <a:r>
                <a:rPr kumimoji="1" lang="en-US" altLang="zh-CN" sz="2400">
                  <a:solidFill>
                    <a:schemeClr val="folHlink"/>
                  </a:solidFill>
                  <a:latin typeface="Arial" pitchFamily="34" charset="0"/>
                  <a:ea typeface="黑体" pitchFamily="49" charset="-122"/>
                </a:rPr>
                <a:t>…</a:t>
              </a:r>
              <a:endParaRPr kumimoji="1" lang="en-US" altLang="zh-CN" sz="2400" baseline="-25000">
                <a:solidFill>
                  <a:schemeClr val="folHlink"/>
                </a:solidFill>
                <a:latin typeface="Arial" pitchFamily="34" charset="0"/>
                <a:ea typeface="黑体" pitchFamily="49" charset="-122"/>
              </a:endParaRPr>
            </a:p>
          </p:txBody>
        </p:sp>
        <p:sp>
          <p:nvSpPr>
            <p:cNvPr id="101444" name="Rectangle 55"/>
            <p:cNvSpPr>
              <a:spLocks noChangeArrowheads="1"/>
            </p:cNvSpPr>
            <p:nvPr/>
          </p:nvSpPr>
          <p:spPr bwMode="auto">
            <a:xfrm>
              <a:off x="3588" y="3100"/>
              <a:ext cx="306"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pPr>
              <a:r>
                <a:rPr kumimoji="1" lang="en-US" altLang="zh-CN" sz="2400">
                  <a:solidFill>
                    <a:schemeClr val="folHlink"/>
                  </a:solidFill>
                  <a:latin typeface="Arial" pitchFamily="34" charset="0"/>
                  <a:ea typeface="黑体" pitchFamily="49" charset="-122"/>
                </a:rPr>
                <a:t>…</a:t>
              </a:r>
              <a:endParaRPr kumimoji="1" lang="en-US" altLang="zh-CN" sz="2400" baseline="-25000">
                <a:solidFill>
                  <a:schemeClr val="folHlink"/>
                </a:solidFill>
                <a:latin typeface="Arial" pitchFamily="34" charset="0"/>
                <a:ea typeface="黑体" pitchFamily="49" charset="-122"/>
              </a:endParaRPr>
            </a:p>
          </p:txBody>
        </p:sp>
      </p:grpSp>
      <p:sp>
        <p:nvSpPr>
          <p:cNvPr id="101423" name="Line 56"/>
          <p:cNvSpPr>
            <a:spLocks noChangeShapeType="1"/>
          </p:cNvSpPr>
          <p:nvPr/>
        </p:nvSpPr>
        <p:spPr bwMode="auto">
          <a:xfrm>
            <a:off x="2093913" y="5494338"/>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8261" name="Group 69"/>
          <p:cNvGrpSpPr>
            <a:grpSpLocks/>
          </p:cNvGrpSpPr>
          <p:nvPr/>
        </p:nvGrpSpPr>
        <p:grpSpPr bwMode="auto">
          <a:xfrm>
            <a:off x="1187450" y="5111750"/>
            <a:ext cx="2328863" cy="404813"/>
            <a:chOff x="748" y="3220"/>
            <a:chExt cx="1467" cy="255"/>
          </a:xfrm>
        </p:grpSpPr>
        <p:sp>
          <p:nvSpPr>
            <p:cNvPr id="101439" name="Rectangle 57"/>
            <p:cNvSpPr>
              <a:spLocks noChangeArrowheads="1"/>
            </p:cNvSpPr>
            <p:nvPr/>
          </p:nvSpPr>
          <p:spPr bwMode="auto">
            <a:xfrm>
              <a:off x="1485" y="3233"/>
              <a:ext cx="73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B           1</a:t>
              </a:r>
              <a:endParaRPr kumimoji="1" lang="en-US" altLang="zh-CN" sz="1800" baseline="-25000">
                <a:solidFill>
                  <a:schemeClr val="folHlink"/>
                </a:solidFill>
                <a:latin typeface="Arial" pitchFamily="34" charset="0"/>
                <a:ea typeface="黑体" pitchFamily="49" charset="-122"/>
              </a:endParaRPr>
            </a:p>
          </p:txBody>
        </p:sp>
        <p:sp>
          <p:nvSpPr>
            <p:cNvPr id="101440" name="Rectangle 61"/>
            <p:cNvSpPr>
              <a:spLocks noChangeArrowheads="1"/>
            </p:cNvSpPr>
            <p:nvPr/>
          </p:nvSpPr>
          <p:spPr bwMode="auto">
            <a:xfrm>
              <a:off x="748" y="3220"/>
              <a:ext cx="530"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pPr>
              <a:r>
                <a:rPr kumimoji="1" lang="en-US" altLang="zh-CN" sz="1800">
                  <a:solidFill>
                    <a:schemeClr val="folHlink"/>
                  </a:solidFill>
                  <a:latin typeface="Arial" pitchFamily="34" charset="0"/>
                  <a:ea typeface="黑体" pitchFamily="49" charset="-122"/>
                </a:rPr>
                <a:t>B → A</a:t>
              </a:r>
              <a:endParaRPr kumimoji="1" lang="en-US" altLang="zh-CN" sz="1800" baseline="-25000">
                <a:solidFill>
                  <a:schemeClr val="folHlink"/>
                </a:solidFill>
                <a:latin typeface="Arial" pitchFamily="34" charset="0"/>
                <a:ea typeface="黑体" pitchFamily="49" charset="-122"/>
              </a:endParaRPr>
            </a:p>
          </p:txBody>
        </p:sp>
      </p:grpSp>
      <p:grpSp>
        <p:nvGrpSpPr>
          <p:cNvPr id="648259" name="Group 67"/>
          <p:cNvGrpSpPr>
            <a:grpSpLocks/>
          </p:cNvGrpSpPr>
          <p:nvPr/>
        </p:nvGrpSpPr>
        <p:grpSpPr bwMode="auto">
          <a:xfrm>
            <a:off x="1177925" y="4341813"/>
            <a:ext cx="2338388" cy="404812"/>
            <a:chOff x="742" y="2735"/>
            <a:chExt cx="1473" cy="255"/>
          </a:xfrm>
        </p:grpSpPr>
        <p:sp>
          <p:nvSpPr>
            <p:cNvPr id="101437" name="Rectangle 42"/>
            <p:cNvSpPr>
              <a:spLocks noChangeArrowheads="1"/>
            </p:cNvSpPr>
            <p:nvPr/>
          </p:nvSpPr>
          <p:spPr bwMode="auto">
            <a:xfrm>
              <a:off x="742" y="2735"/>
              <a:ext cx="530"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pPr>
              <a:r>
                <a:rPr kumimoji="1" lang="en-US" altLang="zh-CN" sz="1800">
                  <a:solidFill>
                    <a:schemeClr val="folHlink"/>
                  </a:solidFill>
                  <a:latin typeface="Arial" pitchFamily="34" charset="0"/>
                  <a:ea typeface="黑体" pitchFamily="49" charset="-122"/>
                </a:rPr>
                <a:t>A → B</a:t>
              </a:r>
              <a:endParaRPr kumimoji="1" lang="en-US" altLang="zh-CN" sz="1800" baseline="-25000">
                <a:solidFill>
                  <a:schemeClr val="folHlink"/>
                </a:solidFill>
                <a:latin typeface="Arial" pitchFamily="34" charset="0"/>
                <a:ea typeface="黑体" pitchFamily="49" charset="-122"/>
              </a:endParaRPr>
            </a:p>
          </p:txBody>
        </p:sp>
        <p:sp>
          <p:nvSpPr>
            <p:cNvPr id="101438" name="Rectangle 63"/>
            <p:cNvSpPr>
              <a:spLocks noChangeArrowheads="1"/>
            </p:cNvSpPr>
            <p:nvPr/>
          </p:nvSpPr>
          <p:spPr bwMode="auto">
            <a:xfrm>
              <a:off x="1485" y="2748"/>
              <a:ext cx="73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A           1</a:t>
              </a:r>
              <a:endParaRPr kumimoji="1" lang="en-US" altLang="zh-CN" sz="1800" baseline="-25000">
                <a:solidFill>
                  <a:schemeClr val="folHlink"/>
                </a:solidFill>
                <a:latin typeface="Arial" pitchFamily="34" charset="0"/>
                <a:ea typeface="黑体" pitchFamily="49" charset="-122"/>
              </a:endParaRPr>
            </a:p>
          </p:txBody>
        </p:sp>
      </p:grpSp>
      <p:grpSp>
        <p:nvGrpSpPr>
          <p:cNvPr id="648260" name="Group 68"/>
          <p:cNvGrpSpPr>
            <a:grpSpLocks/>
          </p:cNvGrpSpPr>
          <p:nvPr/>
        </p:nvGrpSpPr>
        <p:grpSpPr bwMode="auto">
          <a:xfrm>
            <a:off x="1187450" y="4724400"/>
            <a:ext cx="2322513" cy="404813"/>
            <a:chOff x="748" y="2976"/>
            <a:chExt cx="1463" cy="255"/>
          </a:xfrm>
        </p:grpSpPr>
        <p:sp>
          <p:nvSpPr>
            <p:cNvPr id="101435" name="Rectangle 60"/>
            <p:cNvSpPr>
              <a:spLocks noChangeArrowheads="1"/>
            </p:cNvSpPr>
            <p:nvPr/>
          </p:nvSpPr>
          <p:spPr bwMode="auto">
            <a:xfrm>
              <a:off x="748" y="2976"/>
              <a:ext cx="530"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pPr>
              <a:r>
                <a:rPr kumimoji="1" lang="en-US" altLang="zh-CN" sz="1800">
                  <a:solidFill>
                    <a:schemeClr val="folHlink"/>
                  </a:solidFill>
                  <a:latin typeface="Arial" pitchFamily="34" charset="0"/>
                  <a:ea typeface="黑体" pitchFamily="49" charset="-122"/>
                </a:rPr>
                <a:t>F → C</a:t>
              </a:r>
              <a:endParaRPr kumimoji="1" lang="en-US" altLang="zh-CN" sz="1800" baseline="-25000">
                <a:solidFill>
                  <a:schemeClr val="folHlink"/>
                </a:solidFill>
                <a:latin typeface="Arial" pitchFamily="34" charset="0"/>
                <a:ea typeface="黑体" pitchFamily="49" charset="-122"/>
              </a:endParaRPr>
            </a:p>
          </p:txBody>
        </p:sp>
        <p:sp>
          <p:nvSpPr>
            <p:cNvPr id="101436" name="Rectangle 64"/>
            <p:cNvSpPr>
              <a:spLocks noChangeArrowheads="1"/>
            </p:cNvSpPr>
            <p:nvPr/>
          </p:nvSpPr>
          <p:spPr bwMode="auto">
            <a:xfrm>
              <a:off x="1489" y="2989"/>
              <a:ext cx="722"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F           2</a:t>
              </a:r>
              <a:endParaRPr kumimoji="1" lang="en-US" altLang="zh-CN" sz="1800" baseline="-25000">
                <a:solidFill>
                  <a:schemeClr val="folHlink"/>
                </a:solidFill>
                <a:latin typeface="Arial" pitchFamily="34" charset="0"/>
                <a:ea typeface="黑体" pitchFamily="49" charset="-122"/>
              </a:endParaRPr>
            </a:p>
          </p:txBody>
        </p:sp>
      </p:grpSp>
      <p:grpSp>
        <p:nvGrpSpPr>
          <p:cNvPr id="648262" name="Group 70"/>
          <p:cNvGrpSpPr>
            <a:grpSpLocks/>
          </p:cNvGrpSpPr>
          <p:nvPr/>
        </p:nvGrpSpPr>
        <p:grpSpPr bwMode="auto">
          <a:xfrm>
            <a:off x="4614863" y="4319588"/>
            <a:ext cx="2333625" cy="404812"/>
            <a:chOff x="2907" y="2721"/>
            <a:chExt cx="1470" cy="255"/>
          </a:xfrm>
        </p:grpSpPr>
        <p:sp>
          <p:nvSpPr>
            <p:cNvPr id="101433" name="Rectangle 49"/>
            <p:cNvSpPr>
              <a:spLocks noChangeArrowheads="1"/>
            </p:cNvSpPr>
            <p:nvPr/>
          </p:nvSpPr>
          <p:spPr bwMode="auto">
            <a:xfrm>
              <a:off x="2907" y="2721"/>
              <a:ext cx="530"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pPr>
              <a:r>
                <a:rPr kumimoji="1" lang="en-US" altLang="zh-CN" sz="1800">
                  <a:solidFill>
                    <a:schemeClr val="folHlink"/>
                  </a:solidFill>
                  <a:latin typeface="Arial" pitchFamily="34" charset="0"/>
                  <a:ea typeface="黑体" pitchFamily="49" charset="-122"/>
                </a:rPr>
                <a:t>A → B</a:t>
              </a:r>
            </a:p>
          </p:txBody>
        </p:sp>
        <p:sp>
          <p:nvSpPr>
            <p:cNvPr id="101434" name="Rectangle 65"/>
            <p:cNvSpPr>
              <a:spLocks noChangeArrowheads="1"/>
            </p:cNvSpPr>
            <p:nvPr/>
          </p:nvSpPr>
          <p:spPr bwMode="auto">
            <a:xfrm>
              <a:off x="3647" y="2747"/>
              <a:ext cx="73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A           1</a:t>
              </a:r>
              <a:endParaRPr kumimoji="1" lang="en-US" altLang="zh-CN" sz="1800" baseline="-25000">
                <a:solidFill>
                  <a:schemeClr val="folHlink"/>
                </a:solidFill>
                <a:latin typeface="Arial" pitchFamily="34" charset="0"/>
                <a:ea typeface="黑体" pitchFamily="49" charset="-122"/>
              </a:endParaRPr>
            </a:p>
          </p:txBody>
        </p:sp>
      </p:grpSp>
      <p:grpSp>
        <p:nvGrpSpPr>
          <p:cNvPr id="648263" name="Group 71"/>
          <p:cNvGrpSpPr>
            <a:grpSpLocks/>
          </p:cNvGrpSpPr>
          <p:nvPr/>
        </p:nvGrpSpPr>
        <p:grpSpPr bwMode="auto">
          <a:xfrm>
            <a:off x="4643438" y="4738688"/>
            <a:ext cx="2305050" cy="404812"/>
            <a:chOff x="2925" y="2985"/>
            <a:chExt cx="1452" cy="255"/>
          </a:xfrm>
        </p:grpSpPr>
        <p:sp>
          <p:nvSpPr>
            <p:cNvPr id="101431" name="Rectangle 62"/>
            <p:cNvSpPr>
              <a:spLocks noChangeArrowheads="1"/>
            </p:cNvSpPr>
            <p:nvPr/>
          </p:nvSpPr>
          <p:spPr bwMode="auto">
            <a:xfrm>
              <a:off x="2925" y="2985"/>
              <a:ext cx="530"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pPr>
              <a:r>
                <a:rPr kumimoji="1" lang="en-US" altLang="zh-CN" sz="1800">
                  <a:solidFill>
                    <a:schemeClr val="folHlink"/>
                  </a:solidFill>
                  <a:latin typeface="Arial" pitchFamily="34" charset="0"/>
                  <a:ea typeface="黑体" pitchFamily="49" charset="-122"/>
                </a:rPr>
                <a:t>F → C</a:t>
              </a:r>
              <a:endParaRPr kumimoji="1" lang="en-US" altLang="zh-CN" sz="1800" baseline="-25000">
                <a:solidFill>
                  <a:schemeClr val="folHlink"/>
                </a:solidFill>
                <a:latin typeface="Arial" pitchFamily="34" charset="0"/>
                <a:ea typeface="黑体" pitchFamily="49" charset="-122"/>
              </a:endParaRPr>
            </a:p>
          </p:txBody>
        </p:sp>
        <p:sp>
          <p:nvSpPr>
            <p:cNvPr id="101432" name="Rectangle 66"/>
            <p:cNvSpPr>
              <a:spLocks noChangeArrowheads="1"/>
            </p:cNvSpPr>
            <p:nvPr/>
          </p:nvSpPr>
          <p:spPr bwMode="auto">
            <a:xfrm>
              <a:off x="3655" y="2998"/>
              <a:ext cx="722"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Arial" pitchFamily="34" charset="0"/>
                  <a:ea typeface="黑体" pitchFamily="49" charset="-122"/>
                </a:rPr>
                <a:t>F           2</a:t>
              </a:r>
              <a:endParaRPr kumimoji="1" lang="en-US" altLang="zh-CN" sz="1800" baseline="-25000">
                <a:solidFill>
                  <a:schemeClr val="folHlink"/>
                </a:solidFill>
                <a:latin typeface="Arial" pitchFamily="34" charset="0"/>
                <a:ea typeface="黑体" pitchFamily="49" charset="-122"/>
              </a:endParaRPr>
            </a:p>
          </p:txBody>
        </p:sp>
      </p:grpSp>
      <p:sp>
        <p:nvSpPr>
          <p:cNvPr id="101429" name="Rectangle 37"/>
          <p:cNvSpPr>
            <a:spLocks noChangeArrowheads="1"/>
          </p:cNvSpPr>
          <p:nvPr/>
        </p:nvSpPr>
        <p:spPr bwMode="auto">
          <a:xfrm>
            <a:off x="2093913" y="3981450"/>
            <a:ext cx="1717675" cy="189547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430" name="Rectangle 44"/>
          <p:cNvSpPr>
            <a:spLocks noChangeArrowheads="1"/>
          </p:cNvSpPr>
          <p:nvPr/>
        </p:nvSpPr>
        <p:spPr bwMode="auto">
          <a:xfrm>
            <a:off x="5529263" y="3981450"/>
            <a:ext cx="1717675" cy="151447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8259"/>
                                        </p:tgtEl>
                                        <p:attrNameLst>
                                          <p:attrName>style.visibility</p:attrName>
                                        </p:attrNameLst>
                                      </p:cBhvr>
                                      <p:to>
                                        <p:strVal val="visible"/>
                                      </p:to>
                                    </p:set>
                                    <p:animEffect transition="in" filter="wipe(left)">
                                      <p:cBhvr>
                                        <p:cTn id="7" dur="2000"/>
                                        <p:tgtEl>
                                          <p:spTgt spid="648259"/>
                                        </p:tgtEl>
                                      </p:cBhvr>
                                    </p:animEffect>
                                  </p:childTnLst>
                                </p:cTn>
                              </p:par>
                            </p:childTnLst>
                          </p:cTn>
                        </p:par>
                        <p:par>
                          <p:cTn id="8" fill="hold" nodeType="afterGroup">
                            <p:stCondLst>
                              <p:cond delay="2000"/>
                            </p:stCondLst>
                            <p:childTnLst>
                              <p:par>
                                <p:cTn id="9" presetID="22" presetClass="entr" presetSubtype="8" fill="hold" nodeType="afterEffect">
                                  <p:stCondLst>
                                    <p:cond delay="500"/>
                                  </p:stCondLst>
                                  <p:childTnLst>
                                    <p:set>
                                      <p:cBhvr>
                                        <p:cTn id="10" dur="1" fill="hold">
                                          <p:stCondLst>
                                            <p:cond delay="0"/>
                                          </p:stCondLst>
                                        </p:cTn>
                                        <p:tgtEl>
                                          <p:spTgt spid="648262"/>
                                        </p:tgtEl>
                                        <p:attrNameLst>
                                          <p:attrName>style.visibility</p:attrName>
                                        </p:attrNameLst>
                                      </p:cBhvr>
                                      <p:to>
                                        <p:strVal val="visible"/>
                                      </p:to>
                                    </p:set>
                                    <p:animEffect transition="in" filter="wipe(left)">
                                      <p:cBhvr>
                                        <p:cTn id="11" dur="2000"/>
                                        <p:tgtEl>
                                          <p:spTgt spid="648262"/>
                                        </p:tgtEl>
                                      </p:cBhvr>
                                    </p:animEffect>
                                  </p:childTnLst>
                                </p:cTn>
                              </p:par>
                            </p:childTnLst>
                          </p:cTn>
                        </p:par>
                        <p:par>
                          <p:cTn id="12" fill="hold" nodeType="afterGroup">
                            <p:stCondLst>
                              <p:cond delay="4500"/>
                            </p:stCondLst>
                            <p:childTnLst>
                              <p:par>
                                <p:cTn id="13" presetID="22" presetClass="entr" presetSubtype="8" fill="hold" nodeType="afterEffect">
                                  <p:stCondLst>
                                    <p:cond delay="500"/>
                                  </p:stCondLst>
                                  <p:childTnLst>
                                    <p:set>
                                      <p:cBhvr>
                                        <p:cTn id="14" dur="1" fill="hold">
                                          <p:stCondLst>
                                            <p:cond delay="0"/>
                                          </p:stCondLst>
                                        </p:cTn>
                                        <p:tgtEl>
                                          <p:spTgt spid="648260"/>
                                        </p:tgtEl>
                                        <p:attrNameLst>
                                          <p:attrName>style.visibility</p:attrName>
                                        </p:attrNameLst>
                                      </p:cBhvr>
                                      <p:to>
                                        <p:strVal val="visible"/>
                                      </p:to>
                                    </p:set>
                                    <p:animEffect transition="in" filter="wipe(left)">
                                      <p:cBhvr>
                                        <p:cTn id="15" dur="2000"/>
                                        <p:tgtEl>
                                          <p:spTgt spid="648260"/>
                                        </p:tgtEl>
                                      </p:cBhvr>
                                    </p:animEffect>
                                  </p:childTnLst>
                                </p:cTn>
                              </p:par>
                            </p:childTnLst>
                          </p:cTn>
                        </p:par>
                        <p:par>
                          <p:cTn id="16" fill="hold" nodeType="afterGroup">
                            <p:stCondLst>
                              <p:cond delay="7000"/>
                            </p:stCondLst>
                            <p:childTnLst>
                              <p:par>
                                <p:cTn id="17" presetID="22" presetClass="entr" presetSubtype="8" fill="hold" nodeType="afterEffect">
                                  <p:stCondLst>
                                    <p:cond delay="500"/>
                                  </p:stCondLst>
                                  <p:childTnLst>
                                    <p:set>
                                      <p:cBhvr>
                                        <p:cTn id="18" dur="1" fill="hold">
                                          <p:stCondLst>
                                            <p:cond delay="0"/>
                                          </p:stCondLst>
                                        </p:cTn>
                                        <p:tgtEl>
                                          <p:spTgt spid="648263"/>
                                        </p:tgtEl>
                                        <p:attrNameLst>
                                          <p:attrName>style.visibility</p:attrName>
                                        </p:attrNameLst>
                                      </p:cBhvr>
                                      <p:to>
                                        <p:strVal val="visible"/>
                                      </p:to>
                                    </p:set>
                                    <p:animEffect transition="in" filter="wipe(left)">
                                      <p:cBhvr>
                                        <p:cTn id="19" dur="2000"/>
                                        <p:tgtEl>
                                          <p:spTgt spid="648263"/>
                                        </p:tgtEl>
                                      </p:cBhvr>
                                    </p:animEffect>
                                  </p:childTnLst>
                                </p:cTn>
                              </p:par>
                            </p:childTnLst>
                          </p:cTn>
                        </p:par>
                        <p:par>
                          <p:cTn id="20" fill="hold" nodeType="afterGroup">
                            <p:stCondLst>
                              <p:cond delay="9500"/>
                            </p:stCondLst>
                            <p:childTnLst>
                              <p:par>
                                <p:cTn id="21" presetID="22" presetClass="entr" presetSubtype="8" fill="hold" nodeType="afterEffect">
                                  <p:stCondLst>
                                    <p:cond delay="500"/>
                                  </p:stCondLst>
                                  <p:childTnLst>
                                    <p:set>
                                      <p:cBhvr>
                                        <p:cTn id="22" dur="1" fill="hold">
                                          <p:stCondLst>
                                            <p:cond delay="0"/>
                                          </p:stCondLst>
                                        </p:cTn>
                                        <p:tgtEl>
                                          <p:spTgt spid="648261"/>
                                        </p:tgtEl>
                                        <p:attrNameLst>
                                          <p:attrName>style.visibility</p:attrName>
                                        </p:attrNameLst>
                                      </p:cBhvr>
                                      <p:to>
                                        <p:strVal val="visible"/>
                                      </p:to>
                                    </p:set>
                                    <p:animEffect transition="in" filter="wipe(left)">
                                      <p:cBhvr>
                                        <p:cTn id="23" dur="2000"/>
                                        <p:tgtEl>
                                          <p:spTgt spid="648261"/>
                                        </p:tgtEl>
                                      </p:cBhvr>
                                    </p:animEffect>
                                  </p:childTnLst>
                                </p:cTn>
                              </p:par>
                            </p:childTnLst>
                          </p:cTn>
                        </p:par>
                        <p:par>
                          <p:cTn id="24" fill="hold" nodeType="afterGroup">
                            <p:stCondLst>
                              <p:cond delay="12000"/>
                            </p:stCondLst>
                            <p:childTnLst>
                              <p:par>
                                <p:cTn id="25" presetID="22" presetClass="entr" presetSubtype="8" fill="hold" nodeType="afterEffect">
                                  <p:stCondLst>
                                    <p:cond delay="500"/>
                                  </p:stCondLst>
                                  <p:childTnLst>
                                    <p:set>
                                      <p:cBhvr>
                                        <p:cTn id="26" dur="1" fill="hold">
                                          <p:stCondLst>
                                            <p:cond delay="0"/>
                                          </p:stCondLst>
                                        </p:cTn>
                                        <p:tgtEl>
                                          <p:spTgt spid="648264"/>
                                        </p:tgtEl>
                                        <p:attrNameLst>
                                          <p:attrName>style.visibility</p:attrName>
                                        </p:attrNameLst>
                                      </p:cBhvr>
                                      <p:to>
                                        <p:strVal val="visible"/>
                                      </p:to>
                                    </p:set>
                                    <p:animEffect transition="in" filter="wipe(left)">
                                      <p:cBhvr>
                                        <p:cTn id="27" dur="2000"/>
                                        <p:tgtEl>
                                          <p:spTgt spid="648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body" idx="1"/>
          </p:nvPr>
        </p:nvSpPr>
        <p:spPr>
          <a:xfrm>
            <a:off x="1042988" y="1916113"/>
            <a:ext cx="7526337" cy="4752975"/>
          </a:xfrm>
        </p:spPr>
        <p:txBody>
          <a:bodyPr/>
          <a:lstStyle/>
          <a:p>
            <a:pPr marL="533400" indent="-533400" eaLnBrk="1" hangingPunct="1"/>
            <a:r>
              <a:rPr lang="zh-CN" altLang="en-US" sz="2800" smtClean="0"/>
              <a:t>在网桥的转发表中写入的信息除了</a:t>
            </a:r>
            <a:r>
              <a:rPr lang="zh-CN" altLang="en-US" sz="2800" smtClean="0">
                <a:solidFill>
                  <a:schemeClr val="hlink"/>
                </a:solidFill>
              </a:rPr>
              <a:t>地址</a:t>
            </a:r>
            <a:r>
              <a:rPr lang="zh-CN" altLang="en-US" sz="2800" smtClean="0"/>
              <a:t>和</a:t>
            </a:r>
            <a:r>
              <a:rPr lang="zh-CN" altLang="en-US" sz="2800" smtClean="0">
                <a:solidFill>
                  <a:schemeClr val="hlink"/>
                </a:solidFill>
              </a:rPr>
              <a:t>接口</a:t>
            </a:r>
            <a:r>
              <a:rPr lang="zh-CN" altLang="en-US" sz="2800" smtClean="0"/>
              <a:t>外，还有帧进入该网桥的</a:t>
            </a:r>
            <a:r>
              <a:rPr lang="zh-CN" altLang="en-US" sz="2800" smtClean="0">
                <a:solidFill>
                  <a:schemeClr val="hlink"/>
                </a:solidFill>
              </a:rPr>
              <a:t>时间</a:t>
            </a:r>
            <a:r>
              <a:rPr lang="zh-CN" altLang="en-US" sz="2800" smtClean="0"/>
              <a:t>。</a:t>
            </a:r>
          </a:p>
          <a:p>
            <a:pPr marL="533400" indent="-533400" eaLnBrk="1" hangingPunct="1"/>
            <a:r>
              <a:rPr lang="zh-CN" altLang="en-US" sz="2800" smtClean="0"/>
              <a:t>这是因为以太网的拓扑可能经常会发生变化，站点也可能会更换适配器（这就改变了站点的地址）。另外，以太网上的工作站并非总是接通电源的。</a:t>
            </a:r>
          </a:p>
          <a:p>
            <a:pPr marL="533400" indent="-533400" eaLnBrk="1" hangingPunct="1"/>
            <a:r>
              <a:rPr lang="zh-CN" altLang="en-US" sz="2800" smtClean="0"/>
              <a:t>把每个帧到达网桥的时间登记下来，就可以在转发表中只保留网络拓扑的</a:t>
            </a:r>
            <a:r>
              <a:rPr lang="zh-CN" altLang="en-US" sz="2800" smtClean="0">
                <a:solidFill>
                  <a:schemeClr val="hlink"/>
                </a:solidFill>
              </a:rPr>
              <a:t>最新状态信息</a:t>
            </a:r>
            <a:r>
              <a:rPr lang="zh-CN" altLang="en-US" sz="2800" smtClean="0"/>
              <a:t>。这样就使得网桥中的转发表能反映当前网络的最新拓扑状态。 </a:t>
            </a:r>
          </a:p>
        </p:txBody>
      </p:sp>
      <p:sp>
        <p:nvSpPr>
          <p:cNvPr id="102403"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240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2405" name="Rectangle 5"/>
          <p:cNvSpPr>
            <a:spLocks noGrp="1" noChangeArrowheads="1"/>
          </p:cNvSpPr>
          <p:nvPr>
            <p:ph type="title"/>
          </p:nvPr>
        </p:nvSpPr>
        <p:spPr>
          <a:xfrm>
            <a:off x="919163" y="214313"/>
            <a:ext cx="8116887" cy="1462087"/>
          </a:xfrm>
        </p:spPr>
        <p:txBody>
          <a:bodyPr/>
          <a:lstStyle/>
          <a:p>
            <a:pPr algn="ctr" eaLnBrk="1" hangingPunct="1"/>
            <a:r>
              <a:rPr lang="zh-CN" altLang="en-US" smtClean="0"/>
              <a:t>网桥在转发表中</a:t>
            </a:r>
            <a:br>
              <a:rPr lang="zh-CN" altLang="en-US" smtClean="0"/>
            </a:br>
            <a:r>
              <a:rPr lang="zh-CN" altLang="en-US" smtClean="0"/>
              <a:t>登记以下三个信息 </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algn="ctr" eaLnBrk="1" hangingPunct="1"/>
            <a:r>
              <a:rPr lang="zh-CN" altLang="en-US" sz="4000" smtClean="0"/>
              <a:t>网桥的自学习和转发帧</a:t>
            </a:r>
            <a:br>
              <a:rPr lang="zh-CN" altLang="en-US" sz="4000" smtClean="0"/>
            </a:br>
            <a:r>
              <a:rPr lang="zh-CN" altLang="en-US" sz="4000" smtClean="0"/>
              <a:t>的步骤归纳 </a:t>
            </a:r>
          </a:p>
        </p:txBody>
      </p:sp>
      <p:sp>
        <p:nvSpPr>
          <p:cNvPr id="103427" name="Rectangle 3"/>
          <p:cNvSpPr>
            <a:spLocks noGrp="1" noChangeArrowheads="1"/>
          </p:cNvSpPr>
          <p:nvPr>
            <p:ph type="body" idx="1"/>
          </p:nvPr>
        </p:nvSpPr>
        <p:spPr>
          <a:xfrm>
            <a:off x="1042988" y="1773238"/>
            <a:ext cx="7772400" cy="4895850"/>
          </a:xfrm>
        </p:spPr>
        <p:txBody>
          <a:bodyPr/>
          <a:lstStyle/>
          <a:p>
            <a:pPr eaLnBrk="1" hangingPunct="1"/>
            <a:r>
              <a:rPr lang="zh-CN" altLang="en-US" sz="2400" smtClean="0"/>
              <a:t>网桥收到一帧后先进行</a:t>
            </a:r>
            <a:r>
              <a:rPr lang="zh-CN" altLang="en-US" sz="2400" smtClean="0">
                <a:solidFill>
                  <a:schemeClr val="hlink"/>
                </a:solidFill>
              </a:rPr>
              <a:t>自学习</a:t>
            </a:r>
            <a:r>
              <a:rPr lang="zh-CN" altLang="en-US" sz="2400" smtClean="0"/>
              <a:t>。查找转发表中与收到帧的源地址有无相匹配的项目。如没有，就在转发表中增加一个项目（源地址、进入的接口和时间）。如有，则把原有的项目进行更新。</a:t>
            </a:r>
          </a:p>
          <a:p>
            <a:pPr eaLnBrk="1" hangingPunct="1"/>
            <a:r>
              <a:rPr lang="zh-CN" altLang="en-US" sz="2400" smtClean="0">
                <a:solidFill>
                  <a:schemeClr val="hlink"/>
                </a:solidFill>
              </a:rPr>
              <a:t>转发帧</a:t>
            </a:r>
            <a:r>
              <a:rPr lang="zh-CN" altLang="en-US" sz="2400" smtClean="0"/>
              <a:t>。查找转发表中与收到帧的目的地址有无相匹配的项目。</a:t>
            </a:r>
          </a:p>
          <a:p>
            <a:pPr lvl="1" eaLnBrk="1" hangingPunct="1"/>
            <a:r>
              <a:rPr lang="zh-CN" altLang="en-US" sz="2000" smtClean="0">
                <a:solidFill>
                  <a:schemeClr val="folHlink"/>
                </a:solidFill>
                <a:ea typeface="黑体" pitchFamily="49" charset="-122"/>
              </a:rPr>
              <a:t>如没有，则通过所有其他接口（但进入网桥的接口除外）按进行转发。</a:t>
            </a:r>
          </a:p>
          <a:p>
            <a:pPr lvl="1" eaLnBrk="1" hangingPunct="1"/>
            <a:r>
              <a:rPr lang="zh-CN" altLang="en-US" sz="2000" smtClean="0">
                <a:solidFill>
                  <a:schemeClr val="folHlink"/>
                </a:solidFill>
                <a:ea typeface="黑体" pitchFamily="49" charset="-122"/>
              </a:rPr>
              <a:t>如有，则按转发表中给出的接口进行转发。</a:t>
            </a:r>
          </a:p>
          <a:p>
            <a:pPr lvl="1" eaLnBrk="1" hangingPunct="1"/>
            <a:r>
              <a:rPr lang="zh-CN" altLang="en-US" sz="2000" smtClean="0">
                <a:solidFill>
                  <a:schemeClr val="folHlink"/>
                </a:solidFill>
                <a:ea typeface="黑体" pitchFamily="49" charset="-122"/>
              </a:rPr>
              <a:t>若转发表中给出的接口就是该帧进入网桥的接口，则应丢弃这个帧（因为这时不需要经过网桥进行转发）。</a:t>
            </a:r>
          </a:p>
          <a:p>
            <a:pPr lvl="1" eaLnBrk="1" hangingPunct="1"/>
            <a:r>
              <a:rPr lang="en-US" altLang="zh-CN" sz="2000" smtClean="0">
                <a:solidFill>
                  <a:schemeClr val="folHlink"/>
                </a:solidFill>
                <a:ea typeface="黑体" pitchFamily="49" charset="-122"/>
              </a:rPr>
              <a:t>P107</a:t>
            </a:r>
            <a:r>
              <a:rPr lang="en-US" altLang="moh-CA" sz="2000" smtClean="0">
                <a:solidFill>
                  <a:schemeClr val="folHlink"/>
                </a:solidFill>
                <a:ea typeface="黑体" pitchFamily="49" charset="-122"/>
              </a:rPr>
              <a:t> </a:t>
            </a:r>
            <a:r>
              <a:rPr lang="en-US" altLang="zh-CN" sz="2000" smtClean="0">
                <a:solidFill>
                  <a:schemeClr val="folHlink"/>
                </a:solidFill>
                <a:ea typeface="黑体" pitchFamily="49" charset="-122"/>
              </a:rPr>
              <a:t>3-32</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p:cNvSpPr>
            <a:spLocks noGrp="1" noChangeArrowheads="1"/>
          </p:cNvSpPr>
          <p:nvPr>
            <p:ph type="body" idx="1"/>
          </p:nvPr>
        </p:nvSpPr>
        <p:spPr>
          <a:xfrm>
            <a:off x="611188" y="1916113"/>
            <a:ext cx="8281987" cy="4321175"/>
          </a:xfrm>
        </p:spPr>
        <p:txBody>
          <a:bodyPr/>
          <a:lstStyle/>
          <a:p>
            <a:pPr marL="533400" indent="-533400" eaLnBrk="1" hangingPunct="1">
              <a:lnSpc>
                <a:spcPct val="90000"/>
              </a:lnSpc>
            </a:pPr>
            <a:r>
              <a:rPr lang="zh-CN" altLang="en-US" sz="3100" smtClean="0">
                <a:solidFill>
                  <a:schemeClr val="hlink"/>
                </a:solidFill>
              </a:rPr>
              <a:t>源路由</a:t>
            </a:r>
            <a:r>
              <a:rPr lang="en-US" altLang="zh-CN" sz="3100" smtClean="0"/>
              <a:t>(source route)</a:t>
            </a:r>
            <a:r>
              <a:rPr lang="zh-CN" altLang="en-US" sz="3100" smtClean="0"/>
              <a:t>网桥在发送帧时将详细的路由信息放在帧的首部中。</a:t>
            </a:r>
          </a:p>
          <a:p>
            <a:pPr marL="533400" indent="-533400" eaLnBrk="1" hangingPunct="1">
              <a:lnSpc>
                <a:spcPct val="90000"/>
              </a:lnSpc>
            </a:pPr>
            <a:r>
              <a:rPr lang="zh-CN" altLang="en-US" sz="3100" smtClean="0"/>
              <a:t>源站以广播方式向欲通信的目的站发送一个发现帧，每个发现帧都记录所经过的路由。</a:t>
            </a:r>
          </a:p>
          <a:p>
            <a:pPr marL="533400" indent="-533400" eaLnBrk="1" hangingPunct="1">
              <a:lnSpc>
                <a:spcPct val="90000"/>
              </a:lnSpc>
            </a:pPr>
            <a:r>
              <a:rPr lang="zh-CN" altLang="en-US" sz="3100" smtClean="0"/>
              <a:t>发现帧到达目的站时就沿各自的路由返回源站。源站在得知这些路由后，从所有可能的路由中选择出一个最佳路由。之后，凡从该源站向该目的站发送的帧的首部，都必须携带源站所确定的这一路由信息。    </a:t>
            </a:r>
          </a:p>
        </p:txBody>
      </p:sp>
      <p:sp>
        <p:nvSpPr>
          <p:cNvPr id="104451" name="Rectangle 3"/>
          <p:cNvSpPr>
            <a:spLocks noGrp="1" noChangeArrowheads="1"/>
          </p:cNvSpPr>
          <p:nvPr>
            <p:ph type="title"/>
          </p:nvPr>
        </p:nvSpPr>
        <p:spPr>
          <a:xfrm>
            <a:off x="919163" y="214313"/>
            <a:ext cx="8116887" cy="1462087"/>
          </a:xfrm>
        </p:spPr>
        <p:txBody>
          <a:bodyPr/>
          <a:lstStyle/>
          <a:p>
            <a:pPr algn="ctr" eaLnBrk="1" hangingPunct="1"/>
            <a:r>
              <a:rPr lang="en-US" altLang="zh-CN" smtClean="0"/>
              <a:t>3. </a:t>
            </a:r>
            <a:r>
              <a:rPr lang="zh-CN" altLang="en-US" smtClean="0"/>
              <a:t>源路由网桥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899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899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6899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body" idx="1"/>
          </p:nvPr>
        </p:nvSpPr>
        <p:spPr>
          <a:xfrm>
            <a:off x="395288" y="1916113"/>
            <a:ext cx="8497887" cy="4321175"/>
          </a:xfrm>
        </p:spPr>
        <p:txBody>
          <a:bodyPr/>
          <a:lstStyle/>
          <a:p>
            <a:pPr marL="533400" indent="-533400" eaLnBrk="1" hangingPunct="1"/>
            <a:r>
              <a:rPr lang="zh-CN" altLang="en-US" sz="2400" smtClean="0">
                <a:solidFill>
                  <a:schemeClr val="hlink"/>
                </a:solidFill>
              </a:rPr>
              <a:t>以太网交换机</a:t>
            </a:r>
            <a:r>
              <a:rPr lang="en-US" altLang="zh-CN" sz="2400" smtClean="0"/>
              <a:t>(switch)</a:t>
            </a:r>
            <a:r>
              <a:rPr lang="zh-CN" altLang="en-US" sz="2400" smtClean="0"/>
              <a:t>或第二层交换机（工作在数据链路层）。</a:t>
            </a:r>
          </a:p>
          <a:p>
            <a:pPr marL="533400" indent="-533400" eaLnBrk="1" hangingPunct="1"/>
            <a:r>
              <a:rPr lang="zh-CN" altLang="en-US" sz="2400" smtClean="0"/>
              <a:t>以太网交换机通常都有十几个接口。因此，以太网交换机实质上就是一个</a:t>
            </a:r>
            <a:r>
              <a:rPr lang="zh-CN" altLang="en-US" sz="2400" smtClean="0">
                <a:solidFill>
                  <a:schemeClr val="hlink"/>
                </a:solidFill>
              </a:rPr>
              <a:t>多接口的网桥</a:t>
            </a:r>
            <a:r>
              <a:rPr lang="zh-CN" altLang="en-US" sz="2400" smtClean="0"/>
              <a:t>，可见交换机工作在数据链路层。</a:t>
            </a:r>
          </a:p>
          <a:p>
            <a:pPr marL="533400" indent="-533400" eaLnBrk="1" hangingPunct="1"/>
            <a:r>
              <a:rPr lang="zh-CN" altLang="en-US" sz="2400" smtClean="0"/>
              <a:t>以太网交换机的每个接口都可直接与主机相连，并且一般都工作在</a:t>
            </a:r>
            <a:r>
              <a:rPr lang="zh-CN" altLang="en-US" sz="2400" smtClean="0">
                <a:solidFill>
                  <a:schemeClr val="hlink"/>
                </a:solidFill>
              </a:rPr>
              <a:t>全双工方式</a:t>
            </a:r>
            <a:r>
              <a:rPr lang="zh-CN" altLang="en-US" sz="2400" smtClean="0"/>
              <a:t>。也可与集线器相连。</a:t>
            </a:r>
          </a:p>
          <a:p>
            <a:pPr marL="533400" indent="-533400" eaLnBrk="1" hangingPunct="1"/>
            <a:r>
              <a:rPr lang="zh-CN" altLang="en-US" sz="2400" smtClean="0"/>
              <a:t>交换机能同时连通许多对的接口，使每一对相互通信的主机都能像独占通信媒体那样，进行无碰撞地传输数据。 </a:t>
            </a:r>
          </a:p>
          <a:p>
            <a:pPr marL="533400" indent="-533400" eaLnBrk="1" hangingPunct="1"/>
            <a:endParaRPr lang="en-US" altLang="zh-CN" sz="2800" smtClean="0"/>
          </a:p>
        </p:txBody>
      </p:sp>
      <p:sp>
        <p:nvSpPr>
          <p:cNvPr id="105475" name="Rectangle 3"/>
          <p:cNvSpPr>
            <a:spLocks noGrp="1" noChangeArrowheads="1"/>
          </p:cNvSpPr>
          <p:nvPr>
            <p:ph type="title"/>
          </p:nvPr>
        </p:nvSpPr>
        <p:spPr>
          <a:xfrm>
            <a:off x="919163" y="214313"/>
            <a:ext cx="8116887" cy="1462087"/>
          </a:xfrm>
        </p:spPr>
        <p:txBody>
          <a:bodyPr/>
          <a:lstStyle/>
          <a:p>
            <a:pPr algn="ctr" eaLnBrk="1" hangingPunct="1"/>
            <a:r>
              <a:rPr lang="zh-CN" altLang="en-US" smtClean="0"/>
              <a:t>以太网交换机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001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001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001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00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18"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type="body" idx="1"/>
          </p:nvPr>
        </p:nvSpPr>
        <p:spPr>
          <a:xfrm>
            <a:off x="395288" y="1916113"/>
            <a:ext cx="8497887" cy="4321175"/>
          </a:xfrm>
        </p:spPr>
        <p:txBody>
          <a:bodyPr/>
          <a:lstStyle/>
          <a:p>
            <a:pPr marL="533400" indent="-533400" eaLnBrk="1" hangingPunct="1"/>
            <a:r>
              <a:rPr lang="zh-CN" altLang="en-US" sz="2800" smtClean="0"/>
              <a:t>对于普通 </a:t>
            </a:r>
            <a:r>
              <a:rPr lang="en-US" altLang="zh-CN" sz="2800" smtClean="0"/>
              <a:t>10 Mb/s </a:t>
            </a:r>
            <a:r>
              <a:rPr lang="zh-CN" altLang="en-US" sz="2800" smtClean="0"/>
              <a:t>的共享式以太网，若共有 </a:t>
            </a:r>
            <a:r>
              <a:rPr lang="en-US" altLang="zh-CN" sz="2800" i="1" smtClean="0"/>
              <a:t>N </a:t>
            </a:r>
            <a:r>
              <a:rPr lang="zh-CN" altLang="en-US" sz="2800" smtClean="0"/>
              <a:t>个用户，则每个用户占有的平均带宽只有总带宽</a:t>
            </a:r>
            <a:r>
              <a:rPr lang="en-US" altLang="zh-CN" sz="2800" smtClean="0"/>
              <a:t>(10 Mb/s)</a:t>
            </a:r>
            <a:r>
              <a:rPr lang="zh-CN" altLang="en-US" sz="2800" smtClean="0"/>
              <a:t>的 </a:t>
            </a:r>
            <a:r>
              <a:rPr lang="en-US" altLang="zh-CN" sz="2800" i="1" smtClean="0"/>
              <a:t>N </a:t>
            </a:r>
            <a:r>
              <a:rPr lang="zh-CN" altLang="en-US" sz="2800" smtClean="0"/>
              <a:t>分之一。</a:t>
            </a:r>
          </a:p>
          <a:p>
            <a:pPr marL="533400" indent="-533400" eaLnBrk="1" hangingPunct="1"/>
            <a:r>
              <a:rPr lang="zh-CN" altLang="en-US" sz="2800" smtClean="0"/>
              <a:t>使用以太网交换机时，虽然在每个接口到主机的带宽还是 </a:t>
            </a:r>
            <a:r>
              <a:rPr lang="en-US" altLang="zh-CN" sz="2800" smtClean="0"/>
              <a:t>10 Mb/s</a:t>
            </a:r>
            <a:r>
              <a:rPr lang="zh-CN" altLang="en-US" sz="2800" smtClean="0"/>
              <a:t>，但由于一个用户在通信时是独占而不是和其他网络用户共享传输媒体的带宽，因此对于拥有 </a:t>
            </a:r>
            <a:r>
              <a:rPr lang="en-US" altLang="zh-CN" sz="2800" i="1" smtClean="0"/>
              <a:t>N </a:t>
            </a:r>
            <a:r>
              <a:rPr lang="zh-CN" altLang="en-US" sz="2800" smtClean="0"/>
              <a:t>对接口的交换机的总容量为 </a:t>
            </a:r>
            <a:r>
              <a:rPr lang="en-US" altLang="zh-CN" sz="2800" i="1" smtClean="0"/>
              <a:t>N</a:t>
            </a:r>
            <a:r>
              <a:rPr lang="en-US" altLang="zh-CN" sz="2800" smtClean="0">
                <a:sym typeface="Symbol" pitchFamily="18" charset="2"/>
              </a:rPr>
              <a:t></a:t>
            </a:r>
            <a:r>
              <a:rPr lang="en-US" altLang="zh-CN" sz="2800" smtClean="0"/>
              <a:t>10 Mb/s</a:t>
            </a:r>
            <a:r>
              <a:rPr lang="zh-CN" altLang="en-US" sz="2800" smtClean="0"/>
              <a:t>。这正是交换机的最大优点。  </a:t>
            </a:r>
          </a:p>
        </p:txBody>
      </p:sp>
      <p:sp>
        <p:nvSpPr>
          <p:cNvPr id="106499" name="Rectangle 3"/>
          <p:cNvSpPr>
            <a:spLocks noGrp="1" noChangeArrowheads="1"/>
          </p:cNvSpPr>
          <p:nvPr>
            <p:ph type="title"/>
          </p:nvPr>
        </p:nvSpPr>
        <p:spPr>
          <a:xfrm>
            <a:off x="919163" y="214313"/>
            <a:ext cx="8116887" cy="1462087"/>
          </a:xfrm>
        </p:spPr>
        <p:txBody>
          <a:bodyPr/>
          <a:lstStyle/>
          <a:p>
            <a:pPr algn="ctr" eaLnBrk="1" hangingPunct="1"/>
            <a:r>
              <a:rPr lang="zh-CN" altLang="en-US" smtClean="0"/>
              <a:t>独占传输媒体的带宽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206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6"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919163" y="214313"/>
            <a:ext cx="8116887" cy="1462087"/>
          </a:xfrm>
        </p:spPr>
        <p:txBody>
          <a:bodyPr/>
          <a:lstStyle/>
          <a:p>
            <a:pPr algn="ctr" eaLnBrk="1" hangingPunct="1"/>
            <a:r>
              <a:rPr lang="zh-CN" altLang="en-US" smtClean="0"/>
              <a:t>用以太网交换机扩展局域网 </a:t>
            </a:r>
          </a:p>
        </p:txBody>
      </p:sp>
      <p:sp>
        <p:nvSpPr>
          <p:cNvPr id="107523" name="Freeform 3"/>
          <p:cNvSpPr>
            <a:spLocks noChangeArrowheads="1"/>
          </p:cNvSpPr>
          <p:nvPr/>
        </p:nvSpPr>
        <p:spPr bwMode="auto">
          <a:xfrm flipV="1">
            <a:off x="5162550" y="3297238"/>
            <a:ext cx="2003425" cy="88900"/>
          </a:xfrm>
          <a:custGeom>
            <a:avLst/>
            <a:gdLst>
              <a:gd name="T0" fmla="*/ 2147483647 w 689"/>
              <a:gd name="T1" fmla="*/ 2147483647 h 178"/>
              <a:gd name="T2" fmla="*/ 0 w 689"/>
              <a:gd name="T3" fmla="*/ 0 h 178"/>
              <a:gd name="T4" fmla="*/ 0 60000 65536"/>
              <a:gd name="T5" fmla="*/ 0 60000 65536"/>
            </a:gdLst>
            <a:ahLst/>
            <a:cxnLst>
              <a:cxn ang="T4">
                <a:pos x="T0" y="T1"/>
              </a:cxn>
              <a:cxn ang="T5">
                <a:pos x="T2" y="T3"/>
              </a:cxn>
            </a:cxnLst>
            <a:rect l="0" t="0" r="r" b="b"/>
            <a:pathLst>
              <a:path w="689" h="178">
                <a:moveTo>
                  <a:pt x="689" y="178"/>
                </a:moveTo>
                <a:lnTo>
                  <a:pt x="0" y="0"/>
                </a:lnTo>
              </a:path>
            </a:pathLst>
          </a:custGeom>
          <a:noFill/>
          <a:ln w="38100" cmpd="sng">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24" name="Freeform 4"/>
          <p:cNvSpPr>
            <a:spLocks noChangeArrowheads="1"/>
          </p:cNvSpPr>
          <p:nvPr/>
        </p:nvSpPr>
        <p:spPr bwMode="auto">
          <a:xfrm rot="9955067">
            <a:off x="7359650" y="3040063"/>
            <a:ext cx="1382713" cy="144462"/>
          </a:xfrm>
          <a:custGeom>
            <a:avLst/>
            <a:gdLst>
              <a:gd name="T0" fmla="*/ 2147483647 w 956"/>
              <a:gd name="T1" fmla="*/ 2147483647 h 122"/>
              <a:gd name="T2" fmla="*/ 2147483647 w 956"/>
              <a:gd name="T3" fmla="*/ 2147483647 h 122"/>
              <a:gd name="T4" fmla="*/ 2147483647 w 956"/>
              <a:gd name="T5" fmla="*/ 2147483647 h 122"/>
              <a:gd name="T6" fmla="*/ 0 w 956"/>
              <a:gd name="T7" fmla="*/ 0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6" h="122">
                <a:moveTo>
                  <a:pt x="956" y="122"/>
                </a:moveTo>
                <a:lnTo>
                  <a:pt x="467" y="11"/>
                </a:lnTo>
                <a:lnTo>
                  <a:pt x="511" y="111"/>
                </a:lnTo>
                <a:lnTo>
                  <a:pt x="0" y="0"/>
                </a:lnTo>
              </a:path>
            </a:pathLst>
          </a:custGeom>
          <a:noFill/>
          <a:ln w="38100" cmpd="sng">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25" name="Line 5"/>
          <p:cNvSpPr>
            <a:spLocks noChangeShapeType="1"/>
          </p:cNvSpPr>
          <p:nvPr/>
        </p:nvSpPr>
        <p:spPr bwMode="auto">
          <a:xfrm flipH="1" flipV="1">
            <a:off x="2051050" y="2781300"/>
            <a:ext cx="219075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26" name="Line 6"/>
          <p:cNvSpPr>
            <a:spLocks noChangeShapeType="1"/>
          </p:cNvSpPr>
          <p:nvPr/>
        </p:nvSpPr>
        <p:spPr bwMode="auto">
          <a:xfrm flipH="1">
            <a:off x="2124075" y="3346450"/>
            <a:ext cx="2139950" cy="442913"/>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27" name="Line 7"/>
          <p:cNvSpPr>
            <a:spLocks noChangeShapeType="1"/>
          </p:cNvSpPr>
          <p:nvPr/>
        </p:nvSpPr>
        <p:spPr bwMode="auto">
          <a:xfrm flipH="1">
            <a:off x="3203575" y="3479800"/>
            <a:ext cx="1182688" cy="957263"/>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28" name="Line 8"/>
          <p:cNvSpPr>
            <a:spLocks noChangeShapeType="1"/>
          </p:cNvSpPr>
          <p:nvPr/>
        </p:nvSpPr>
        <p:spPr bwMode="auto">
          <a:xfrm>
            <a:off x="5087938" y="3389313"/>
            <a:ext cx="1212850" cy="97631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29" name="Line 9"/>
          <p:cNvSpPr>
            <a:spLocks noChangeShapeType="1"/>
          </p:cNvSpPr>
          <p:nvPr/>
        </p:nvSpPr>
        <p:spPr bwMode="auto">
          <a:xfrm flipH="1">
            <a:off x="4643438" y="3479800"/>
            <a:ext cx="12700" cy="88582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30" name="Text Box 37"/>
          <p:cNvSpPr txBox="1">
            <a:spLocks noChangeArrowheads="1"/>
          </p:cNvSpPr>
          <p:nvPr/>
        </p:nvSpPr>
        <p:spPr bwMode="auto">
          <a:xfrm>
            <a:off x="2339975" y="4221163"/>
            <a:ext cx="690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一系</a:t>
            </a:r>
          </a:p>
        </p:txBody>
      </p:sp>
      <p:sp>
        <p:nvSpPr>
          <p:cNvPr id="107531" name="Text Box 38"/>
          <p:cNvSpPr txBox="1">
            <a:spLocks noChangeArrowheads="1"/>
          </p:cNvSpPr>
          <p:nvPr/>
        </p:nvSpPr>
        <p:spPr bwMode="auto">
          <a:xfrm>
            <a:off x="5364163" y="42926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三系</a:t>
            </a:r>
          </a:p>
        </p:txBody>
      </p:sp>
      <p:sp>
        <p:nvSpPr>
          <p:cNvPr id="107532" name="Text Box 39"/>
          <p:cNvSpPr txBox="1">
            <a:spLocks noChangeArrowheads="1"/>
          </p:cNvSpPr>
          <p:nvPr/>
        </p:nvSpPr>
        <p:spPr bwMode="auto">
          <a:xfrm>
            <a:off x="3779838" y="42926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二系</a:t>
            </a:r>
          </a:p>
        </p:txBody>
      </p:sp>
      <p:sp>
        <p:nvSpPr>
          <p:cNvPr id="107533" name="Text Box 40"/>
          <p:cNvSpPr txBox="1">
            <a:spLocks noChangeArrowheads="1"/>
          </p:cNvSpPr>
          <p:nvPr/>
        </p:nvSpPr>
        <p:spPr bwMode="auto">
          <a:xfrm>
            <a:off x="6588125" y="4292600"/>
            <a:ext cx="13858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10BASE-T</a:t>
            </a:r>
          </a:p>
        </p:txBody>
      </p:sp>
      <p:pic>
        <p:nvPicPr>
          <p:cNvPr id="107534" name="Picture 4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9725" y="2954338"/>
            <a:ext cx="939800" cy="57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7535" name="Picture 4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5613" y="2193925"/>
            <a:ext cx="690562" cy="87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36" name="Picture 4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7825" y="3429000"/>
            <a:ext cx="69215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7537" name="Text Box 44"/>
          <p:cNvSpPr txBox="1">
            <a:spLocks noChangeArrowheads="1"/>
          </p:cNvSpPr>
          <p:nvPr/>
        </p:nvSpPr>
        <p:spPr bwMode="auto">
          <a:xfrm>
            <a:off x="7667625" y="2543175"/>
            <a:ext cx="1201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至因特网</a:t>
            </a:r>
          </a:p>
        </p:txBody>
      </p:sp>
      <p:sp>
        <p:nvSpPr>
          <p:cNvPr id="107538" name="Text Box 45"/>
          <p:cNvSpPr txBox="1">
            <a:spLocks noChangeArrowheads="1"/>
          </p:cNvSpPr>
          <p:nvPr/>
        </p:nvSpPr>
        <p:spPr bwMode="auto">
          <a:xfrm>
            <a:off x="5435600" y="2924175"/>
            <a:ext cx="12271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100 Mb/s</a:t>
            </a:r>
          </a:p>
        </p:txBody>
      </p:sp>
      <p:sp>
        <p:nvSpPr>
          <p:cNvPr id="107539" name="Text Box 46"/>
          <p:cNvSpPr txBox="1">
            <a:spLocks noChangeArrowheads="1"/>
          </p:cNvSpPr>
          <p:nvPr/>
        </p:nvSpPr>
        <p:spPr bwMode="auto">
          <a:xfrm>
            <a:off x="2408238" y="3176588"/>
            <a:ext cx="12271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100 Mb/s</a:t>
            </a:r>
          </a:p>
        </p:txBody>
      </p:sp>
      <p:sp>
        <p:nvSpPr>
          <p:cNvPr id="107540" name="Text Box 47"/>
          <p:cNvSpPr txBox="1">
            <a:spLocks noChangeArrowheads="1"/>
          </p:cNvSpPr>
          <p:nvPr/>
        </p:nvSpPr>
        <p:spPr bwMode="auto">
          <a:xfrm>
            <a:off x="2624138" y="2527300"/>
            <a:ext cx="12271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100 Mb/s</a:t>
            </a:r>
          </a:p>
        </p:txBody>
      </p:sp>
      <p:sp>
        <p:nvSpPr>
          <p:cNvPr id="107541" name="Text Box 48"/>
          <p:cNvSpPr txBox="1">
            <a:spLocks noChangeArrowheads="1"/>
          </p:cNvSpPr>
          <p:nvPr/>
        </p:nvSpPr>
        <p:spPr bwMode="auto">
          <a:xfrm>
            <a:off x="817563" y="2224088"/>
            <a:ext cx="946150" cy="70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万维网</a:t>
            </a:r>
          </a:p>
          <a:p>
            <a:pPr eaLnBrk="1" hangingPunct="1"/>
            <a:r>
              <a:rPr kumimoji="1" lang="zh-CN" altLang="en-US">
                <a:solidFill>
                  <a:srgbClr val="333399"/>
                </a:solidFill>
                <a:latin typeface="Arial" pitchFamily="34" charset="0"/>
                <a:ea typeface="黑体" pitchFamily="49" charset="-122"/>
              </a:rPr>
              <a:t>服务器</a:t>
            </a:r>
          </a:p>
        </p:txBody>
      </p:sp>
      <p:sp>
        <p:nvSpPr>
          <p:cNvPr id="107542" name="Text Box 49"/>
          <p:cNvSpPr txBox="1">
            <a:spLocks noChangeArrowheads="1"/>
          </p:cNvSpPr>
          <p:nvPr/>
        </p:nvSpPr>
        <p:spPr bwMode="auto">
          <a:xfrm>
            <a:off x="539750" y="3500438"/>
            <a:ext cx="1198563" cy="70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电子邮件</a:t>
            </a:r>
          </a:p>
          <a:p>
            <a:pPr eaLnBrk="1" hangingPunct="1"/>
            <a:r>
              <a:rPr kumimoji="1" lang="zh-CN" altLang="en-US">
                <a:solidFill>
                  <a:srgbClr val="333399"/>
                </a:solidFill>
                <a:latin typeface="Arial" pitchFamily="34" charset="0"/>
                <a:ea typeface="黑体" pitchFamily="49" charset="-122"/>
              </a:rPr>
              <a:t>  服务器</a:t>
            </a:r>
          </a:p>
        </p:txBody>
      </p:sp>
      <p:sp>
        <p:nvSpPr>
          <p:cNvPr id="107543" name="AutoShape 50"/>
          <p:cNvSpPr>
            <a:spLocks noChangeArrowheads="1"/>
          </p:cNvSpPr>
          <p:nvPr/>
        </p:nvSpPr>
        <p:spPr bwMode="auto">
          <a:xfrm>
            <a:off x="4138613" y="2659063"/>
            <a:ext cx="1303337" cy="1023937"/>
          </a:xfrm>
          <a:prstGeom prst="cube">
            <a:avLst>
              <a:gd name="adj" fmla="val 25000"/>
            </a:avLst>
          </a:prstGeom>
          <a:solidFill>
            <a:srgbClr val="CCECFF"/>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44" name="Text Box 51"/>
          <p:cNvSpPr txBox="1">
            <a:spLocks noChangeArrowheads="1"/>
          </p:cNvSpPr>
          <p:nvPr/>
        </p:nvSpPr>
        <p:spPr bwMode="auto">
          <a:xfrm>
            <a:off x="4186238" y="2924175"/>
            <a:ext cx="946150" cy="70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以太网</a:t>
            </a:r>
          </a:p>
          <a:p>
            <a:pPr eaLnBrk="1" hangingPunct="1"/>
            <a:r>
              <a:rPr kumimoji="1" lang="zh-CN" altLang="en-US">
                <a:solidFill>
                  <a:srgbClr val="333399"/>
                </a:solidFill>
                <a:latin typeface="Arial" pitchFamily="34" charset="0"/>
                <a:ea typeface="黑体" pitchFamily="49" charset="-122"/>
              </a:rPr>
              <a:t>交换机</a:t>
            </a:r>
          </a:p>
        </p:txBody>
      </p:sp>
      <p:sp>
        <p:nvSpPr>
          <p:cNvPr id="107545" name="Text Box 52"/>
          <p:cNvSpPr txBox="1">
            <a:spLocks noChangeArrowheads="1"/>
          </p:cNvSpPr>
          <p:nvPr/>
        </p:nvSpPr>
        <p:spPr bwMode="auto">
          <a:xfrm>
            <a:off x="6634163" y="2513013"/>
            <a:ext cx="944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zh-CN" altLang="en-US">
                <a:solidFill>
                  <a:srgbClr val="333399"/>
                </a:solidFill>
                <a:latin typeface="Arial" pitchFamily="34" charset="0"/>
                <a:ea typeface="黑体" pitchFamily="49" charset="-122"/>
              </a:rPr>
              <a:t>路由器</a:t>
            </a:r>
          </a:p>
        </p:txBody>
      </p:sp>
      <p:grpSp>
        <p:nvGrpSpPr>
          <p:cNvPr id="107546" name="Group 53"/>
          <p:cNvGrpSpPr>
            <a:grpSpLocks/>
          </p:cNvGrpSpPr>
          <p:nvPr/>
        </p:nvGrpSpPr>
        <p:grpSpPr bwMode="auto">
          <a:xfrm>
            <a:off x="2627313" y="4329113"/>
            <a:ext cx="1157287" cy="828675"/>
            <a:chOff x="1755" y="2723"/>
            <a:chExt cx="729" cy="522"/>
          </a:xfrm>
        </p:grpSpPr>
        <p:sp>
          <p:nvSpPr>
            <p:cNvPr id="107568" name="Line 54"/>
            <p:cNvSpPr>
              <a:spLocks noChangeShapeType="1"/>
            </p:cNvSpPr>
            <p:nvPr/>
          </p:nvSpPr>
          <p:spPr bwMode="auto">
            <a:xfrm flipH="1">
              <a:off x="1835" y="2871"/>
              <a:ext cx="217" cy="26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7569" name="Picture 5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07570" name="Line 56"/>
            <p:cNvSpPr>
              <a:spLocks noChangeShapeType="1"/>
            </p:cNvSpPr>
            <p:nvPr/>
          </p:nvSpPr>
          <p:spPr bwMode="auto">
            <a:xfrm>
              <a:off x="2171" y="2886"/>
              <a:ext cx="40" cy="2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71" name="Line 57"/>
            <p:cNvSpPr>
              <a:spLocks noChangeShapeType="1"/>
            </p:cNvSpPr>
            <p:nvPr/>
          </p:nvSpPr>
          <p:spPr bwMode="auto">
            <a:xfrm>
              <a:off x="2235" y="2892"/>
              <a:ext cx="177" cy="2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72" name="Line 58"/>
            <p:cNvSpPr>
              <a:spLocks noChangeShapeType="1"/>
            </p:cNvSpPr>
            <p:nvPr/>
          </p:nvSpPr>
          <p:spPr bwMode="auto">
            <a:xfrm flipH="1">
              <a:off x="2025" y="2881"/>
              <a:ext cx="76" cy="26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7573" name="Picture 5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7574" name="Picture 6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7575" name="Picture 6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7576" name="Picture 6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07547" name="Group 63"/>
          <p:cNvGrpSpPr>
            <a:grpSpLocks/>
          </p:cNvGrpSpPr>
          <p:nvPr/>
        </p:nvGrpSpPr>
        <p:grpSpPr bwMode="auto">
          <a:xfrm>
            <a:off x="4068763" y="4329113"/>
            <a:ext cx="1157287" cy="828675"/>
            <a:chOff x="1755" y="2723"/>
            <a:chExt cx="729" cy="522"/>
          </a:xfrm>
        </p:grpSpPr>
        <p:sp>
          <p:nvSpPr>
            <p:cNvPr id="107559" name="Line 64"/>
            <p:cNvSpPr>
              <a:spLocks noChangeShapeType="1"/>
            </p:cNvSpPr>
            <p:nvPr/>
          </p:nvSpPr>
          <p:spPr bwMode="auto">
            <a:xfrm flipH="1">
              <a:off x="1835" y="2871"/>
              <a:ext cx="217" cy="26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7560" name="Picture 6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07561" name="Line 66"/>
            <p:cNvSpPr>
              <a:spLocks noChangeShapeType="1"/>
            </p:cNvSpPr>
            <p:nvPr/>
          </p:nvSpPr>
          <p:spPr bwMode="auto">
            <a:xfrm>
              <a:off x="2171" y="2886"/>
              <a:ext cx="40" cy="2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62" name="Line 67"/>
            <p:cNvSpPr>
              <a:spLocks noChangeShapeType="1"/>
            </p:cNvSpPr>
            <p:nvPr/>
          </p:nvSpPr>
          <p:spPr bwMode="auto">
            <a:xfrm>
              <a:off x="2235" y="2892"/>
              <a:ext cx="177" cy="2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63" name="Line 68"/>
            <p:cNvSpPr>
              <a:spLocks noChangeShapeType="1"/>
            </p:cNvSpPr>
            <p:nvPr/>
          </p:nvSpPr>
          <p:spPr bwMode="auto">
            <a:xfrm flipH="1">
              <a:off x="2025" y="2881"/>
              <a:ext cx="76" cy="26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7564" name="Picture 6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7565" name="Picture 7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7566" name="Picture 7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7567" name="Picture 7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07548" name="Group 73"/>
          <p:cNvGrpSpPr>
            <a:grpSpLocks/>
          </p:cNvGrpSpPr>
          <p:nvPr/>
        </p:nvGrpSpPr>
        <p:grpSpPr bwMode="auto">
          <a:xfrm>
            <a:off x="5657850" y="4329113"/>
            <a:ext cx="1157288" cy="828675"/>
            <a:chOff x="1755" y="2723"/>
            <a:chExt cx="729" cy="522"/>
          </a:xfrm>
        </p:grpSpPr>
        <p:sp>
          <p:nvSpPr>
            <p:cNvPr id="107550" name="Line 74"/>
            <p:cNvSpPr>
              <a:spLocks noChangeShapeType="1"/>
            </p:cNvSpPr>
            <p:nvPr/>
          </p:nvSpPr>
          <p:spPr bwMode="auto">
            <a:xfrm flipH="1">
              <a:off x="1835" y="2871"/>
              <a:ext cx="217" cy="26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7551" name="Picture 7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07552" name="Line 76"/>
            <p:cNvSpPr>
              <a:spLocks noChangeShapeType="1"/>
            </p:cNvSpPr>
            <p:nvPr/>
          </p:nvSpPr>
          <p:spPr bwMode="auto">
            <a:xfrm>
              <a:off x="2171" y="2886"/>
              <a:ext cx="40" cy="2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53" name="Line 77"/>
            <p:cNvSpPr>
              <a:spLocks noChangeShapeType="1"/>
            </p:cNvSpPr>
            <p:nvPr/>
          </p:nvSpPr>
          <p:spPr bwMode="auto">
            <a:xfrm>
              <a:off x="2235" y="2892"/>
              <a:ext cx="177" cy="2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54" name="Line 78"/>
            <p:cNvSpPr>
              <a:spLocks noChangeShapeType="1"/>
            </p:cNvSpPr>
            <p:nvPr/>
          </p:nvSpPr>
          <p:spPr bwMode="auto">
            <a:xfrm flipH="1">
              <a:off x="2025" y="2881"/>
              <a:ext cx="76" cy="26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7555" name="Picture 7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7556" name="Picture 8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7557" name="Picture 8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7558" name="Picture 8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07549" name="Text Box 83"/>
          <p:cNvSpPr txBox="1">
            <a:spLocks noChangeArrowheads="1"/>
          </p:cNvSpPr>
          <p:nvPr/>
        </p:nvSpPr>
        <p:spPr bwMode="auto">
          <a:xfrm>
            <a:off x="1476375" y="5734050"/>
            <a:ext cx="678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lang="zh-CN" altLang="en-US"/>
              <a:t>交换机可以有多种不同速率的接口，以便接不同需求的终端</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body" idx="1"/>
          </p:nvPr>
        </p:nvSpPr>
        <p:spPr>
          <a:xfrm>
            <a:off x="395288" y="1916113"/>
            <a:ext cx="8497887" cy="4321175"/>
          </a:xfrm>
        </p:spPr>
        <p:txBody>
          <a:bodyPr/>
          <a:lstStyle/>
          <a:p>
            <a:pPr marL="533400" indent="-533400" algn="just" eaLnBrk="1" hangingPunct="1"/>
            <a:r>
              <a:rPr lang="zh-CN" altLang="en-US" sz="2800" smtClean="0">
                <a:solidFill>
                  <a:schemeClr val="hlink"/>
                </a:solidFill>
              </a:rPr>
              <a:t>虚拟局域网</a:t>
            </a:r>
            <a:r>
              <a:rPr lang="zh-CN" altLang="en-US" sz="2800" smtClean="0"/>
              <a:t> </a:t>
            </a:r>
            <a:r>
              <a:rPr lang="en-US" altLang="zh-CN" sz="2800" smtClean="0"/>
              <a:t>VLAN </a:t>
            </a:r>
            <a:r>
              <a:rPr lang="zh-CN" altLang="en-US" sz="2800" smtClean="0"/>
              <a:t>是由一些局域网网段构成的与物理位置无关的逻辑组。</a:t>
            </a:r>
          </a:p>
          <a:p>
            <a:pPr marL="914400" lvl="1" indent="-457200" algn="just" eaLnBrk="1" hangingPunct="1"/>
            <a:r>
              <a:rPr lang="zh-CN" altLang="en-US" sz="2400" smtClean="0">
                <a:solidFill>
                  <a:srgbClr val="333399"/>
                </a:solidFill>
                <a:latin typeface="Arial" pitchFamily="34" charset="0"/>
                <a:ea typeface="黑体" pitchFamily="49" charset="-122"/>
              </a:rPr>
              <a:t>这些网段具有某些共同的需求。</a:t>
            </a:r>
          </a:p>
          <a:p>
            <a:pPr marL="914400" lvl="1" indent="-457200" algn="just" eaLnBrk="1" hangingPunct="1"/>
            <a:r>
              <a:rPr lang="zh-CN" altLang="en-US" sz="2400" smtClean="0">
                <a:solidFill>
                  <a:srgbClr val="333399"/>
                </a:solidFill>
                <a:latin typeface="Arial" pitchFamily="34" charset="0"/>
                <a:ea typeface="黑体" pitchFamily="49" charset="-122"/>
              </a:rPr>
              <a:t>每一个 </a:t>
            </a:r>
            <a:r>
              <a:rPr lang="en-US" altLang="zh-CN" sz="2400" smtClean="0">
                <a:solidFill>
                  <a:srgbClr val="333399"/>
                </a:solidFill>
                <a:latin typeface="Arial" pitchFamily="34" charset="0"/>
                <a:ea typeface="黑体" pitchFamily="49" charset="-122"/>
              </a:rPr>
              <a:t>VLAN </a:t>
            </a:r>
            <a:r>
              <a:rPr lang="zh-CN" altLang="en-US" sz="2400" smtClean="0">
                <a:solidFill>
                  <a:srgbClr val="333399"/>
                </a:solidFill>
                <a:latin typeface="Arial" pitchFamily="34" charset="0"/>
                <a:ea typeface="黑体" pitchFamily="49" charset="-122"/>
              </a:rPr>
              <a:t>的帧都有一个明确的标识符，指明发送这个帧的工作站是属于哪一个 </a:t>
            </a:r>
            <a:r>
              <a:rPr lang="en-US" altLang="zh-CN" sz="2400" smtClean="0">
                <a:solidFill>
                  <a:srgbClr val="333399"/>
                </a:solidFill>
                <a:latin typeface="Arial" pitchFamily="34" charset="0"/>
                <a:ea typeface="黑体" pitchFamily="49" charset="-122"/>
              </a:rPr>
              <a:t>VLAN</a:t>
            </a:r>
            <a:r>
              <a:rPr lang="zh-CN" altLang="en-US" sz="2400" smtClean="0">
                <a:solidFill>
                  <a:srgbClr val="333399"/>
                </a:solidFill>
                <a:latin typeface="Arial" pitchFamily="34" charset="0"/>
                <a:ea typeface="黑体" pitchFamily="49" charset="-122"/>
              </a:rPr>
              <a:t>。</a:t>
            </a:r>
          </a:p>
          <a:p>
            <a:pPr marL="533400" indent="-533400" algn="just" eaLnBrk="1" hangingPunct="1"/>
            <a:r>
              <a:rPr lang="zh-CN" altLang="en-US" sz="2800" smtClean="0"/>
              <a:t>虚拟局域网其实只是局域网给用户提供的一种服务，而并不是一种新型局域网。 </a:t>
            </a:r>
          </a:p>
        </p:txBody>
      </p:sp>
      <p:sp>
        <p:nvSpPr>
          <p:cNvPr id="108547" name="Rectangle 3"/>
          <p:cNvSpPr>
            <a:spLocks noGrp="1" noChangeArrowheads="1"/>
          </p:cNvSpPr>
          <p:nvPr>
            <p:ph type="title"/>
          </p:nvPr>
        </p:nvSpPr>
        <p:spPr>
          <a:xfrm>
            <a:off x="919163" y="214313"/>
            <a:ext cx="8116887" cy="1462087"/>
          </a:xfrm>
        </p:spPr>
        <p:txBody>
          <a:bodyPr/>
          <a:lstStyle/>
          <a:p>
            <a:pPr algn="ctr" eaLnBrk="1" hangingPunct="1"/>
            <a:r>
              <a:rPr lang="zh-CN" altLang="en-US" sz="4000" smtClean="0"/>
              <a:t>利用以太网交换机可以很方便地</a:t>
            </a:r>
            <a:br>
              <a:rPr lang="zh-CN" altLang="en-US" sz="4000" smtClean="0"/>
            </a:br>
            <a:r>
              <a:rPr lang="zh-CN" altLang="en-US" sz="4000" smtClean="0"/>
              <a:t>实现虚拟局域网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41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4" grpId="0" build="p"/>
    </p:bld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AutoShape 2"/>
          <p:cNvSpPr>
            <a:spLocks noChangeArrowheads="1"/>
          </p:cNvSpPr>
          <p:nvPr/>
        </p:nvSpPr>
        <p:spPr bwMode="auto">
          <a:xfrm flipH="1">
            <a:off x="827088" y="4111625"/>
            <a:ext cx="7561262" cy="13985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1" name="Line 3"/>
          <p:cNvSpPr>
            <a:spLocks noChangeShapeType="1"/>
          </p:cNvSpPr>
          <p:nvPr/>
        </p:nvSpPr>
        <p:spPr bwMode="auto">
          <a:xfrm>
            <a:off x="2247900" y="6208713"/>
            <a:ext cx="1568450" cy="0"/>
          </a:xfrm>
          <a:prstGeom prst="line">
            <a:avLst/>
          </a:prstGeom>
          <a:noFill/>
          <a:ln w="762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2" name="AutoShape 4"/>
          <p:cNvSpPr>
            <a:spLocks noChangeArrowheads="1"/>
          </p:cNvSpPr>
          <p:nvPr/>
        </p:nvSpPr>
        <p:spPr bwMode="auto">
          <a:xfrm flipH="1">
            <a:off x="827088" y="2170113"/>
            <a:ext cx="7561262" cy="1397000"/>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3" name="AutoShape 5"/>
          <p:cNvSpPr>
            <a:spLocks noChangeArrowheads="1"/>
          </p:cNvSpPr>
          <p:nvPr/>
        </p:nvSpPr>
        <p:spPr bwMode="auto">
          <a:xfrm flipH="1">
            <a:off x="901700" y="304800"/>
            <a:ext cx="7412038" cy="13985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4" name="Line 6"/>
          <p:cNvSpPr>
            <a:spLocks noChangeShapeType="1"/>
          </p:cNvSpPr>
          <p:nvPr/>
        </p:nvSpPr>
        <p:spPr bwMode="auto">
          <a:xfrm>
            <a:off x="2679700" y="693738"/>
            <a:ext cx="391795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5" name="Line 7"/>
          <p:cNvSpPr>
            <a:spLocks noChangeShapeType="1"/>
          </p:cNvSpPr>
          <p:nvPr/>
        </p:nvSpPr>
        <p:spPr bwMode="auto">
          <a:xfrm>
            <a:off x="2828925" y="849313"/>
            <a:ext cx="23622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6" name="Line 8"/>
          <p:cNvSpPr>
            <a:spLocks noChangeShapeType="1"/>
          </p:cNvSpPr>
          <p:nvPr/>
        </p:nvSpPr>
        <p:spPr bwMode="auto">
          <a:xfrm>
            <a:off x="2976563" y="1003300"/>
            <a:ext cx="519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7" name="Line 9"/>
          <p:cNvSpPr>
            <a:spLocks noChangeShapeType="1"/>
          </p:cNvSpPr>
          <p:nvPr/>
        </p:nvSpPr>
        <p:spPr bwMode="auto">
          <a:xfrm>
            <a:off x="2976563" y="2946400"/>
            <a:ext cx="519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8" name="Line 10"/>
          <p:cNvSpPr>
            <a:spLocks noChangeShapeType="1"/>
          </p:cNvSpPr>
          <p:nvPr/>
        </p:nvSpPr>
        <p:spPr bwMode="auto">
          <a:xfrm>
            <a:off x="2828925" y="2713038"/>
            <a:ext cx="26162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9" name="Line 11"/>
          <p:cNvSpPr>
            <a:spLocks noChangeShapeType="1"/>
          </p:cNvSpPr>
          <p:nvPr/>
        </p:nvSpPr>
        <p:spPr bwMode="auto">
          <a:xfrm>
            <a:off x="2606675" y="2479675"/>
            <a:ext cx="397827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0" name="Line 12"/>
          <p:cNvSpPr>
            <a:spLocks noChangeShapeType="1"/>
          </p:cNvSpPr>
          <p:nvPr/>
        </p:nvSpPr>
        <p:spPr bwMode="auto">
          <a:xfrm>
            <a:off x="2754313" y="4732338"/>
            <a:ext cx="1408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1" name="Line 13"/>
          <p:cNvSpPr>
            <a:spLocks noChangeShapeType="1"/>
          </p:cNvSpPr>
          <p:nvPr/>
        </p:nvSpPr>
        <p:spPr bwMode="auto">
          <a:xfrm>
            <a:off x="2754313" y="4887913"/>
            <a:ext cx="7461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2" name="Line 14"/>
          <p:cNvSpPr>
            <a:spLocks noChangeShapeType="1"/>
          </p:cNvSpPr>
          <p:nvPr/>
        </p:nvSpPr>
        <p:spPr bwMode="auto">
          <a:xfrm>
            <a:off x="2405063" y="4422775"/>
            <a:ext cx="42418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3" name="Line 15"/>
          <p:cNvSpPr>
            <a:spLocks noChangeShapeType="1"/>
          </p:cNvSpPr>
          <p:nvPr/>
        </p:nvSpPr>
        <p:spPr bwMode="auto">
          <a:xfrm>
            <a:off x="2606675" y="4578350"/>
            <a:ext cx="2643188"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4" name="AutoShape 16"/>
          <p:cNvSpPr>
            <a:spLocks noChangeArrowheads="1"/>
          </p:cNvSpPr>
          <p:nvPr/>
        </p:nvSpPr>
        <p:spPr bwMode="auto">
          <a:xfrm flipH="1">
            <a:off x="1790700" y="4189413"/>
            <a:ext cx="1185863" cy="931862"/>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09585" name="AutoShape 17"/>
          <p:cNvSpPr>
            <a:spLocks noChangeArrowheads="1"/>
          </p:cNvSpPr>
          <p:nvPr/>
        </p:nvSpPr>
        <p:spPr bwMode="auto">
          <a:xfrm>
            <a:off x="4978400" y="538163"/>
            <a:ext cx="1111250" cy="4583112"/>
          </a:xfrm>
          <a:prstGeom prst="roundRect">
            <a:avLst>
              <a:gd name="adj" fmla="val 50000"/>
            </a:avLst>
          </a:prstGeom>
          <a:solidFill>
            <a:srgbClr val="FFFF66">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6" name="AutoShape 18"/>
          <p:cNvSpPr>
            <a:spLocks noChangeArrowheads="1"/>
          </p:cNvSpPr>
          <p:nvPr/>
        </p:nvSpPr>
        <p:spPr bwMode="auto">
          <a:xfrm>
            <a:off x="3273425" y="538163"/>
            <a:ext cx="1557338" cy="5127625"/>
          </a:xfrm>
          <a:prstGeom prst="roundRect">
            <a:avLst>
              <a:gd name="adj" fmla="val 50000"/>
            </a:avLst>
          </a:prstGeom>
          <a:solidFill>
            <a:srgbClr val="CCECFF">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7" name="Text Box 19"/>
          <p:cNvSpPr txBox="1">
            <a:spLocks noChangeArrowheads="1"/>
          </p:cNvSpPr>
          <p:nvPr/>
        </p:nvSpPr>
        <p:spPr bwMode="auto">
          <a:xfrm>
            <a:off x="3838575" y="858838"/>
            <a:ext cx="44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4</a:t>
            </a:r>
            <a:endParaRPr kumimoji="1" lang="en-US" altLang="zh-CN">
              <a:solidFill>
                <a:srgbClr val="333399"/>
              </a:solidFill>
              <a:latin typeface="Arial" pitchFamily="34" charset="0"/>
              <a:ea typeface="黑体" pitchFamily="49" charset="-122"/>
            </a:endParaRPr>
          </a:p>
        </p:txBody>
      </p:sp>
      <p:sp>
        <p:nvSpPr>
          <p:cNvPr id="109588" name="Text Box 20"/>
          <p:cNvSpPr txBox="1">
            <a:spLocks noChangeArrowheads="1"/>
          </p:cNvSpPr>
          <p:nvPr/>
        </p:nvSpPr>
        <p:spPr bwMode="auto">
          <a:xfrm>
            <a:off x="5646738" y="4457700"/>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09589" name="AutoShape 21"/>
          <p:cNvSpPr>
            <a:spLocks noChangeArrowheads="1"/>
          </p:cNvSpPr>
          <p:nvPr/>
        </p:nvSpPr>
        <p:spPr bwMode="auto">
          <a:xfrm>
            <a:off x="6313488" y="382588"/>
            <a:ext cx="1036637" cy="4583112"/>
          </a:xfrm>
          <a:prstGeom prst="roundRect">
            <a:avLst>
              <a:gd name="adj" fmla="val 50000"/>
            </a:avLst>
          </a:prstGeom>
          <a:solidFill>
            <a:srgbClr val="FF99CC">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90" name="AutoShape 22"/>
          <p:cNvSpPr>
            <a:spLocks noChangeArrowheads="1"/>
          </p:cNvSpPr>
          <p:nvPr/>
        </p:nvSpPr>
        <p:spPr bwMode="auto">
          <a:xfrm flipH="1">
            <a:off x="1790700" y="382588"/>
            <a:ext cx="1185863" cy="931862"/>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09591" name="Line 23"/>
          <p:cNvSpPr>
            <a:spLocks noChangeShapeType="1"/>
          </p:cNvSpPr>
          <p:nvPr/>
        </p:nvSpPr>
        <p:spPr bwMode="auto">
          <a:xfrm>
            <a:off x="1568450" y="938213"/>
            <a:ext cx="0" cy="5037137"/>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92" name="Line 24"/>
          <p:cNvSpPr>
            <a:spLocks noChangeShapeType="1"/>
          </p:cNvSpPr>
          <p:nvPr/>
        </p:nvSpPr>
        <p:spPr bwMode="auto">
          <a:xfrm>
            <a:off x="1554163" y="927100"/>
            <a:ext cx="458787"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93" name="Text Box 25"/>
          <p:cNvSpPr txBox="1">
            <a:spLocks noChangeArrowheads="1"/>
          </p:cNvSpPr>
          <p:nvPr/>
        </p:nvSpPr>
        <p:spPr bwMode="auto">
          <a:xfrm>
            <a:off x="6346825" y="1735138"/>
            <a:ext cx="941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09594" name="Text Box 26"/>
          <p:cNvSpPr txBox="1">
            <a:spLocks noChangeArrowheads="1"/>
          </p:cNvSpPr>
          <p:nvPr/>
        </p:nvSpPr>
        <p:spPr bwMode="auto">
          <a:xfrm>
            <a:off x="6865938" y="455613"/>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09595" name="Text Box 27"/>
          <p:cNvSpPr txBox="1">
            <a:spLocks noChangeArrowheads="1"/>
          </p:cNvSpPr>
          <p:nvPr/>
        </p:nvSpPr>
        <p:spPr bwMode="auto">
          <a:xfrm>
            <a:off x="5459413" y="735013"/>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09596" name="Text Box 28"/>
          <p:cNvSpPr txBox="1">
            <a:spLocks noChangeArrowheads="1"/>
          </p:cNvSpPr>
          <p:nvPr/>
        </p:nvSpPr>
        <p:spPr bwMode="auto">
          <a:xfrm>
            <a:off x="3495675" y="1738313"/>
            <a:ext cx="941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09597" name="Text Box 29"/>
          <p:cNvSpPr txBox="1">
            <a:spLocks noChangeArrowheads="1"/>
          </p:cNvSpPr>
          <p:nvPr/>
        </p:nvSpPr>
        <p:spPr bwMode="auto">
          <a:xfrm>
            <a:off x="5021263" y="1738313"/>
            <a:ext cx="9413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09598" name="Text Box 30"/>
          <p:cNvSpPr txBox="1">
            <a:spLocks noChangeArrowheads="1"/>
          </p:cNvSpPr>
          <p:nvPr/>
        </p:nvSpPr>
        <p:spPr bwMode="auto">
          <a:xfrm>
            <a:off x="6907213" y="4160838"/>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09599" name="Text Box 31"/>
          <p:cNvSpPr txBox="1">
            <a:spLocks noChangeArrowheads="1"/>
          </p:cNvSpPr>
          <p:nvPr/>
        </p:nvSpPr>
        <p:spPr bwMode="auto">
          <a:xfrm>
            <a:off x="4433888" y="4573588"/>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09600" name="Text Box 32"/>
          <p:cNvSpPr txBox="1">
            <a:spLocks noChangeArrowheads="1"/>
          </p:cNvSpPr>
          <p:nvPr/>
        </p:nvSpPr>
        <p:spPr bwMode="auto">
          <a:xfrm>
            <a:off x="3792538" y="5018088"/>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09601" name="Text Box 33"/>
          <p:cNvSpPr txBox="1">
            <a:spLocks noChangeArrowheads="1"/>
          </p:cNvSpPr>
          <p:nvPr/>
        </p:nvSpPr>
        <p:spPr bwMode="auto">
          <a:xfrm>
            <a:off x="3822700" y="2816225"/>
            <a:ext cx="44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09602" name="Text Box 34"/>
          <p:cNvSpPr txBox="1">
            <a:spLocks noChangeArrowheads="1"/>
          </p:cNvSpPr>
          <p:nvPr/>
        </p:nvSpPr>
        <p:spPr bwMode="auto">
          <a:xfrm>
            <a:off x="6932613" y="2301875"/>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09603" name="Text Box 35"/>
          <p:cNvSpPr txBox="1">
            <a:spLocks noChangeArrowheads="1"/>
          </p:cNvSpPr>
          <p:nvPr/>
        </p:nvSpPr>
        <p:spPr bwMode="auto">
          <a:xfrm>
            <a:off x="5688013" y="2454275"/>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pic>
        <p:nvPicPr>
          <p:cNvPr id="109604"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927100"/>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60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1125" y="538163"/>
            <a:ext cx="50958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606"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3013" y="77152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607"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0650" y="2324100"/>
            <a:ext cx="509588"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608"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4788" y="2557463"/>
            <a:ext cx="509587"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609"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2790825"/>
            <a:ext cx="509587"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610"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474027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611"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4788" y="4578350"/>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612"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6038" y="442277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613"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1125" y="4267200"/>
            <a:ext cx="50958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9614" name="AutoShape 46"/>
          <p:cNvSpPr>
            <a:spLocks noChangeArrowheads="1"/>
          </p:cNvSpPr>
          <p:nvPr/>
        </p:nvSpPr>
        <p:spPr bwMode="auto">
          <a:xfrm flipH="1">
            <a:off x="1790700" y="2246313"/>
            <a:ext cx="1185863" cy="933450"/>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09615" name="Line 47"/>
          <p:cNvSpPr>
            <a:spLocks noChangeShapeType="1"/>
          </p:cNvSpPr>
          <p:nvPr/>
        </p:nvSpPr>
        <p:spPr bwMode="auto">
          <a:xfrm>
            <a:off x="1716088" y="2784475"/>
            <a:ext cx="0" cy="334645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16" name="Line 48"/>
          <p:cNvSpPr>
            <a:spLocks noChangeShapeType="1"/>
          </p:cNvSpPr>
          <p:nvPr/>
        </p:nvSpPr>
        <p:spPr bwMode="auto">
          <a:xfrm>
            <a:off x="1703388" y="2790825"/>
            <a:ext cx="27622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17" name="Line 49"/>
          <p:cNvSpPr>
            <a:spLocks noChangeShapeType="1"/>
          </p:cNvSpPr>
          <p:nvPr/>
        </p:nvSpPr>
        <p:spPr bwMode="auto">
          <a:xfrm>
            <a:off x="1865313" y="4772025"/>
            <a:ext cx="0" cy="1514475"/>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18" name="Line 50"/>
          <p:cNvSpPr>
            <a:spLocks noChangeShapeType="1"/>
          </p:cNvSpPr>
          <p:nvPr/>
        </p:nvSpPr>
        <p:spPr bwMode="auto">
          <a:xfrm>
            <a:off x="1851025" y="4772025"/>
            <a:ext cx="15240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19" name="AutoShape 51"/>
          <p:cNvSpPr>
            <a:spLocks noChangeArrowheads="1"/>
          </p:cNvSpPr>
          <p:nvPr/>
        </p:nvSpPr>
        <p:spPr bwMode="auto">
          <a:xfrm flipH="1">
            <a:off x="1196975" y="5665788"/>
            <a:ext cx="1187450" cy="931862"/>
          </a:xfrm>
          <a:prstGeom prst="cube">
            <a:avLst>
              <a:gd name="adj" fmla="val 28329"/>
            </a:avLst>
          </a:prstGeom>
          <a:solidFill>
            <a:srgbClr val="99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09620" name="Text Box 52"/>
          <p:cNvSpPr txBox="1">
            <a:spLocks noChangeArrowheads="1"/>
          </p:cNvSpPr>
          <p:nvPr/>
        </p:nvSpPr>
        <p:spPr bwMode="auto">
          <a:xfrm>
            <a:off x="4675188" y="5805488"/>
            <a:ext cx="36115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rgbClr val="333399"/>
                </a:solidFill>
                <a:latin typeface="Arial" pitchFamily="34" charset="0"/>
                <a:ea typeface="黑体" pitchFamily="49" charset="-122"/>
              </a:rPr>
              <a:t>三个虚拟局域网</a:t>
            </a:r>
            <a:r>
              <a:rPr lang="en-US" altLang="zh-CN" sz="2400">
                <a:solidFill>
                  <a:srgbClr val="333399"/>
                </a:solidFill>
                <a:latin typeface="Arial" pitchFamily="34" charset="0"/>
                <a:ea typeface="黑体" pitchFamily="49" charset="-122"/>
              </a:rPr>
              <a:t>:</a:t>
            </a:r>
          </a:p>
          <a:p>
            <a:pPr algn="ctr" eaLnBrk="1" hangingPunct="1"/>
            <a:r>
              <a:rPr lang="en-US" altLang="zh-CN" sz="2400">
                <a:solidFill>
                  <a:srgbClr val="333399"/>
                </a:solidFill>
                <a:latin typeface="Arial" pitchFamily="34" charset="0"/>
                <a:ea typeface="黑体" pitchFamily="49" charset="-122"/>
              </a:rPr>
              <a:t> VLAN</a:t>
            </a:r>
            <a:r>
              <a:rPr lang="en-US" altLang="zh-CN" sz="2400" baseline="-25000">
                <a:solidFill>
                  <a:srgbClr val="333399"/>
                </a:solidFill>
                <a:latin typeface="Arial" pitchFamily="34" charset="0"/>
                <a:ea typeface="黑体" pitchFamily="49" charset="-122"/>
              </a:rPr>
              <a:t>1</a:t>
            </a:r>
            <a:r>
              <a:rPr lang="en-US" altLang="zh-CN" sz="2400">
                <a:solidFill>
                  <a:srgbClr val="333399"/>
                </a:solidFill>
                <a:latin typeface="Arial" pitchFamily="34" charset="0"/>
                <a:ea typeface="黑体" pitchFamily="49" charset="-122"/>
              </a:rPr>
              <a:t>, VLAN</a:t>
            </a:r>
            <a:r>
              <a:rPr lang="en-US" altLang="zh-CN" sz="2400" baseline="-25000">
                <a:solidFill>
                  <a:srgbClr val="333399"/>
                </a:solidFill>
                <a:latin typeface="Arial" pitchFamily="34" charset="0"/>
                <a:ea typeface="黑体" pitchFamily="49" charset="-122"/>
              </a:rPr>
              <a:t>2 </a:t>
            </a:r>
            <a:r>
              <a:rPr lang="zh-CN" altLang="en-US" sz="2400">
                <a:solidFill>
                  <a:srgbClr val="333399"/>
                </a:solidFill>
                <a:latin typeface="Arial" pitchFamily="34" charset="0"/>
                <a:ea typeface="黑体" pitchFamily="49" charset="-122"/>
              </a:rPr>
              <a:t>和 </a:t>
            </a:r>
            <a:r>
              <a:rPr lang="en-US" altLang="zh-CN" sz="2400">
                <a:solidFill>
                  <a:srgbClr val="333399"/>
                </a:solidFill>
                <a:latin typeface="Arial" pitchFamily="34" charset="0"/>
                <a:ea typeface="黑体" pitchFamily="49" charset="-122"/>
              </a:rPr>
              <a:t>VLAN</a:t>
            </a:r>
            <a:r>
              <a:rPr lang="en-US" altLang="zh-CN" sz="2400" baseline="-25000">
                <a:solidFill>
                  <a:srgbClr val="333399"/>
                </a:solidFill>
                <a:latin typeface="Arial" pitchFamily="34" charset="0"/>
                <a:ea typeface="黑体" pitchFamily="49" charset="-122"/>
              </a:rPr>
              <a:t>3</a:t>
            </a:r>
            <a:endParaRPr lang="en-US" altLang="zh-CN" sz="2400">
              <a:solidFill>
                <a:srgbClr val="333399"/>
              </a:solidFill>
              <a:latin typeface="Arial" pitchFamily="34" charset="0"/>
              <a:ea typeface="黑体" pitchFamily="49" charset="-122"/>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AutoShape 2"/>
          <p:cNvSpPr>
            <a:spLocks noChangeArrowheads="1"/>
          </p:cNvSpPr>
          <p:nvPr/>
        </p:nvSpPr>
        <p:spPr bwMode="auto">
          <a:xfrm flipH="1">
            <a:off x="827088" y="4111625"/>
            <a:ext cx="7561262" cy="13985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5" name="Line 3"/>
          <p:cNvSpPr>
            <a:spLocks noChangeShapeType="1"/>
          </p:cNvSpPr>
          <p:nvPr/>
        </p:nvSpPr>
        <p:spPr bwMode="auto">
          <a:xfrm>
            <a:off x="2247900" y="6208713"/>
            <a:ext cx="1568450" cy="0"/>
          </a:xfrm>
          <a:prstGeom prst="line">
            <a:avLst/>
          </a:prstGeom>
          <a:noFill/>
          <a:ln w="762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6" name="AutoShape 4"/>
          <p:cNvSpPr>
            <a:spLocks noChangeArrowheads="1"/>
          </p:cNvSpPr>
          <p:nvPr/>
        </p:nvSpPr>
        <p:spPr bwMode="auto">
          <a:xfrm flipH="1">
            <a:off x="827088" y="2170113"/>
            <a:ext cx="7561262" cy="1397000"/>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7" name="AutoShape 5"/>
          <p:cNvSpPr>
            <a:spLocks noChangeArrowheads="1"/>
          </p:cNvSpPr>
          <p:nvPr/>
        </p:nvSpPr>
        <p:spPr bwMode="auto">
          <a:xfrm flipH="1">
            <a:off x="901700" y="304800"/>
            <a:ext cx="7412038" cy="13985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8" name="Line 6"/>
          <p:cNvSpPr>
            <a:spLocks noChangeShapeType="1"/>
          </p:cNvSpPr>
          <p:nvPr/>
        </p:nvSpPr>
        <p:spPr bwMode="auto">
          <a:xfrm>
            <a:off x="2679700" y="693738"/>
            <a:ext cx="391795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9" name="Line 7"/>
          <p:cNvSpPr>
            <a:spLocks noChangeShapeType="1"/>
          </p:cNvSpPr>
          <p:nvPr/>
        </p:nvSpPr>
        <p:spPr bwMode="auto">
          <a:xfrm>
            <a:off x="2828925" y="849313"/>
            <a:ext cx="23622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0" name="Line 8"/>
          <p:cNvSpPr>
            <a:spLocks noChangeShapeType="1"/>
          </p:cNvSpPr>
          <p:nvPr/>
        </p:nvSpPr>
        <p:spPr bwMode="auto">
          <a:xfrm>
            <a:off x="2976563" y="1003300"/>
            <a:ext cx="519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1" name="Line 9"/>
          <p:cNvSpPr>
            <a:spLocks noChangeShapeType="1"/>
          </p:cNvSpPr>
          <p:nvPr/>
        </p:nvSpPr>
        <p:spPr bwMode="auto">
          <a:xfrm>
            <a:off x="2976563" y="2946400"/>
            <a:ext cx="519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2" name="Line 10"/>
          <p:cNvSpPr>
            <a:spLocks noChangeShapeType="1"/>
          </p:cNvSpPr>
          <p:nvPr/>
        </p:nvSpPr>
        <p:spPr bwMode="auto">
          <a:xfrm>
            <a:off x="2828925" y="2713038"/>
            <a:ext cx="26162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3" name="Line 11"/>
          <p:cNvSpPr>
            <a:spLocks noChangeShapeType="1"/>
          </p:cNvSpPr>
          <p:nvPr/>
        </p:nvSpPr>
        <p:spPr bwMode="auto">
          <a:xfrm>
            <a:off x="2606675" y="2479675"/>
            <a:ext cx="397827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4" name="Line 12"/>
          <p:cNvSpPr>
            <a:spLocks noChangeShapeType="1"/>
          </p:cNvSpPr>
          <p:nvPr/>
        </p:nvSpPr>
        <p:spPr bwMode="auto">
          <a:xfrm>
            <a:off x="2754313" y="4732338"/>
            <a:ext cx="1408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5" name="Line 13"/>
          <p:cNvSpPr>
            <a:spLocks noChangeShapeType="1"/>
          </p:cNvSpPr>
          <p:nvPr/>
        </p:nvSpPr>
        <p:spPr bwMode="auto">
          <a:xfrm>
            <a:off x="2754313" y="4887913"/>
            <a:ext cx="7461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6" name="Line 14"/>
          <p:cNvSpPr>
            <a:spLocks noChangeShapeType="1"/>
          </p:cNvSpPr>
          <p:nvPr/>
        </p:nvSpPr>
        <p:spPr bwMode="auto">
          <a:xfrm>
            <a:off x="2405063" y="4422775"/>
            <a:ext cx="42418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7" name="Line 15"/>
          <p:cNvSpPr>
            <a:spLocks noChangeShapeType="1"/>
          </p:cNvSpPr>
          <p:nvPr/>
        </p:nvSpPr>
        <p:spPr bwMode="auto">
          <a:xfrm>
            <a:off x="2606675" y="4578350"/>
            <a:ext cx="2643188"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8" name="AutoShape 16"/>
          <p:cNvSpPr>
            <a:spLocks noChangeArrowheads="1"/>
          </p:cNvSpPr>
          <p:nvPr/>
        </p:nvSpPr>
        <p:spPr bwMode="auto">
          <a:xfrm flipH="1">
            <a:off x="1790700" y="4189413"/>
            <a:ext cx="1185863" cy="931862"/>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0609" name="AutoShape 17"/>
          <p:cNvSpPr>
            <a:spLocks noChangeArrowheads="1"/>
          </p:cNvSpPr>
          <p:nvPr/>
        </p:nvSpPr>
        <p:spPr bwMode="auto">
          <a:xfrm>
            <a:off x="4978400" y="538163"/>
            <a:ext cx="1111250" cy="4583112"/>
          </a:xfrm>
          <a:prstGeom prst="roundRect">
            <a:avLst>
              <a:gd name="adj" fmla="val 50000"/>
            </a:avLst>
          </a:prstGeom>
          <a:solidFill>
            <a:srgbClr val="FFFF66">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0" name="AutoShape 18"/>
          <p:cNvSpPr>
            <a:spLocks noChangeArrowheads="1"/>
          </p:cNvSpPr>
          <p:nvPr/>
        </p:nvSpPr>
        <p:spPr bwMode="auto">
          <a:xfrm>
            <a:off x="3273425" y="538163"/>
            <a:ext cx="1557338" cy="5127625"/>
          </a:xfrm>
          <a:prstGeom prst="roundRect">
            <a:avLst>
              <a:gd name="adj" fmla="val 50000"/>
            </a:avLst>
          </a:prstGeom>
          <a:solidFill>
            <a:srgbClr val="CCECFF">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1" name="Text Box 19"/>
          <p:cNvSpPr txBox="1">
            <a:spLocks noChangeArrowheads="1"/>
          </p:cNvSpPr>
          <p:nvPr/>
        </p:nvSpPr>
        <p:spPr bwMode="auto">
          <a:xfrm>
            <a:off x="3838575" y="858838"/>
            <a:ext cx="44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4</a:t>
            </a:r>
            <a:endParaRPr kumimoji="1" lang="en-US" altLang="zh-CN">
              <a:solidFill>
                <a:srgbClr val="333399"/>
              </a:solidFill>
              <a:latin typeface="Arial" pitchFamily="34" charset="0"/>
              <a:ea typeface="黑体" pitchFamily="49" charset="-122"/>
            </a:endParaRPr>
          </a:p>
        </p:txBody>
      </p:sp>
      <p:sp>
        <p:nvSpPr>
          <p:cNvPr id="110612" name="Text Box 20"/>
          <p:cNvSpPr txBox="1">
            <a:spLocks noChangeArrowheads="1"/>
          </p:cNvSpPr>
          <p:nvPr/>
        </p:nvSpPr>
        <p:spPr bwMode="auto">
          <a:xfrm>
            <a:off x="5646738" y="4457700"/>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0613" name="AutoShape 21"/>
          <p:cNvSpPr>
            <a:spLocks noChangeArrowheads="1"/>
          </p:cNvSpPr>
          <p:nvPr/>
        </p:nvSpPr>
        <p:spPr bwMode="auto">
          <a:xfrm>
            <a:off x="6313488" y="382588"/>
            <a:ext cx="1036637" cy="4583112"/>
          </a:xfrm>
          <a:prstGeom prst="roundRect">
            <a:avLst>
              <a:gd name="adj" fmla="val 50000"/>
            </a:avLst>
          </a:prstGeom>
          <a:solidFill>
            <a:srgbClr val="FF99CC">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4" name="AutoShape 22"/>
          <p:cNvSpPr>
            <a:spLocks noChangeArrowheads="1"/>
          </p:cNvSpPr>
          <p:nvPr/>
        </p:nvSpPr>
        <p:spPr bwMode="auto">
          <a:xfrm flipH="1">
            <a:off x="1790700" y="382588"/>
            <a:ext cx="1185863" cy="931862"/>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0615" name="Line 23"/>
          <p:cNvSpPr>
            <a:spLocks noChangeShapeType="1"/>
          </p:cNvSpPr>
          <p:nvPr/>
        </p:nvSpPr>
        <p:spPr bwMode="auto">
          <a:xfrm>
            <a:off x="1568450" y="938213"/>
            <a:ext cx="0" cy="5037137"/>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6" name="Line 24"/>
          <p:cNvSpPr>
            <a:spLocks noChangeShapeType="1"/>
          </p:cNvSpPr>
          <p:nvPr/>
        </p:nvSpPr>
        <p:spPr bwMode="auto">
          <a:xfrm>
            <a:off x="1554163" y="927100"/>
            <a:ext cx="458787"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7" name="Text Box 25"/>
          <p:cNvSpPr txBox="1">
            <a:spLocks noChangeArrowheads="1"/>
          </p:cNvSpPr>
          <p:nvPr/>
        </p:nvSpPr>
        <p:spPr bwMode="auto">
          <a:xfrm>
            <a:off x="6346825" y="1735138"/>
            <a:ext cx="941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0618" name="Text Box 26"/>
          <p:cNvSpPr txBox="1">
            <a:spLocks noChangeArrowheads="1"/>
          </p:cNvSpPr>
          <p:nvPr/>
        </p:nvSpPr>
        <p:spPr bwMode="auto">
          <a:xfrm>
            <a:off x="6865938" y="455613"/>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0619" name="Text Box 27"/>
          <p:cNvSpPr txBox="1">
            <a:spLocks noChangeArrowheads="1"/>
          </p:cNvSpPr>
          <p:nvPr/>
        </p:nvSpPr>
        <p:spPr bwMode="auto">
          <a:xfrm>
            <a:off x="5459413" y="735013"/>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0620" name="Text Box 28"/>
          <p:cNvSpPr txBox="1">
            <a:spLocks noChangeArrowheads="1"/>
          </p:cNvSpPr>
          <p:nvPr/>
        </p:nvSpPr>
        <p:spPr bwMode="auto">
          <a:xfrm>
            <a:off x="3495675" y="1738313"/>
            <a:ext cx="941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0621" name="Text Box 29"/>
          <p:cNvSpPr txBox="1">
            <a:spLocks noChangeArrowheads="1"/>
          </p:cNvSpPr>
          <p:nvPr/>
        </p:nvSpPr>
        <p:spPr bwMode="auto">
          <a:xfrm>
            <a:off x="5021263" y="1738313"/>
            <a:ext cx="9413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10622" name="Text Box 30"/>
          <p:cNvSpPr txBox="1">
            <a:spLocks noChangeArrowheads="1"/>
          </p:cNvSpPr>
          <p:nvPr/>
        </p:nvSpPr>
        <p:spPr bwMode="auto">
          <a:xfrm>
            <a:off x="6907213" y="4160838"/>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0623" name="Text Box 31"/>
          <p:cNvSpPr txBox="1">
            <a:spLocks noChangeArrowheads="1"/>
          </p:cNvSpPr>
          <p:nvPr/>
        </p:nvSpPr>
        <p:spPr bwMode="auto">
          <a:xfrm>
            <a:off x="4433888" y="4573588"/>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10624" name="Text Box 32"/>
          <p:cNvSpPr txBox="1">
            <a:spLocks noChangeArrowheads="1"/>
          </p:cNvSpPr>
          <p:nvPr/>
        </p:nvSpPr>
        <p:spPr bwMode="auto">
          <a:xfrm>
            <a:off x="3792538" y="5018088"/>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0625" name="Text Box 33"/>
          <p:cNvSpPr txBox="1">
            <a:spLocks noChangeArrowheads="1"/>
          </p:cNvSpPr>
          <p:nvPr/>
        </p:nvSpPr>
        <p:spPr bwMode="auto">
          <a:xfrm>
            <a:off x="3822700" y="2816225"/>
            <a:ext cx="44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0626" name="Text Box 34"/>
          <p:cNvSpPr txBox="1">
            <a:spLocks noChangeArrowheads="1"/>
          </p:cNvSpPr>
          <p:nvPr/>
        </p:nvSpPr>
        <p:spPr bwMode="auto">
          <a:xfrm>
            <a:off x="6932613" y="2301875"/>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10627" name="Text Box 35"/>
          <p:cNvSpPr txBox="1">
            <a:spLocks noChangeArrowheads="1"/>
          </p:cNvSpPr>
          <p:nvPr/>
        </p:nvSpPr>
        <p:spPr bwMode="auto">
          <a:xfrm>
            <a:off x="5688013" y="2454275"/>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pic>
        <p:nvPicPr>
          <p:cNvPr id="110628"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927100"/>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29"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1125" y="538163"/>
            <a:ext cx="50958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30"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3013" y="77152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31"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0650" y="2324100"/>
            <a:ext cx="509588"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32"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4788" y="2557463"/>
            <a:ext cx="509587"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33"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2790825"/>
            <a:ext cx="509587"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34"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474027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4788" y="4578350"/>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36"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6038" y="442277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37"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1125" y="4267200"/>
            <a:ext cx="50958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0638" name="AutoShape 46"/>
          <p:cNvSpPr>
            <a:spLocks noChangeArrowheads="1"/>
          </p:cNvSpPr>
          <p:nvPr/>
        </p:nvSpPr>
        <p:spPr bwMode="auto">
          <a:xfrm flipH="1">
            <a:off x="1790700" y="2246313"/>
            <a:ext cx="1185863" cy="933450"/>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0639" name="Line 47"/>
          <p:cNvSpPr>
            <a:spLocks noChangeShapeType="1"/>
          </p:cNvSpPr>
          <p:nvPr/>
        </p:nvSpPr>
        <p:spPr bwMode="auto">
          <a:xfrm>
            <a:off x="1716088" y="2784475"/>
            <a:ext cx="0" cy="334645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40" name="Line 48"/>
          <p:cNvSpPr>
            <a:spLocks noChangeShapeType="1"/>
          </p:cNvSpPr>
          <p:nvPr/>
        </p:nvSpPr>
        <p:spPr bwMode="auto">
          <a:xfrm>
            <a:off x="1703388" y="2790825"/>
            <a:ext cx="27622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41" name="Line 49"/>
          <p:cNvSpPr>
            <a:spLocks noChangeShapeType="1"/>
          </p:cNvSpPr>
          <p:nvPr/>
        </p:nvSpPr>
        <p:spPr bwMode="auto">
          <a:xfrm>
            <a:off x="1865313" y="4772025"/>
            <a:ext cx="0" cy="1514475"/>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42" name="Line 50"/>
          <p:cNvSpPr>
            <a:spLocks noChangeShapeType="1"/>
          </p:cNvSpPr>
          <p:nvPr/>
        </p:nvSpPr>
        <p:spPr bwMode="auto">
          <a:xfrm>
            <a:off x="1851025" y="4772025"/>
            <a:ext cx="15240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43" name="AutoShape 51"/>
          <p:cNvSpPr>
            <a:spLocks noChangeArrowheads="1"/>
          </p:cNvSpPr>
          <p:nvPr/>
        </p:nvSpPr>
        <p:spPr bwMode="auto">
          <a:xfrm flipH="1">
            <a:off x="1196975" y="5665788"/>
            <a:ext cx="1187450" cy="931862"/>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0644" name="Text Box 52"/>
          <p:cNvSpPr txBox="1">
            <a:spLocks noChangeArrowheads="1"/>
          </p:cNvSpPr>
          <p:nvPr/>
        </p:nvSpPr>
        <p:spPr bwMode="auto">
          <a:xfrm>
            <a:off x="4286250" y="5805488"/>
            <a:ext cx="43894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rgbClr val="333399"/>
                </a:solidFill>
                <a:latin typeface="Arial" pitchFamily="34" charset="0"/>
                <a:ea typeface="黑体" pitchFamily="49" charset="-122"/>
              </a:rPr>
              <a:t>三个虚拟局域网 </a:t>
            </a:r>
            <a:r>
              <a:rPr lang="en-US" altLang="zh-CN" sz="2400">
                <a:solidFill>
                  <a:srgbClr val="333399"/>
                </a:solidFill>
                <a:latin typeface="Arial" pitchFamily="34" charset="0"/>
                <a:ea typeface="黑体" pitchFamily="49" charset="-122"/>
              </a:rPr>
              <a:t>VLAN</a:t>
            </a:r>
            <a:r>
              <a:rPr lang="en-US" altLang="zh-CN" sz="2400" baseline="-25000">
                <a:solidFill>
                  <a:srgbClr val="333399"/>
                </a:solidFill>
                <a:latin typeface="Arial" pitchFamily="34" charset="0"/>
                <a:ea typeface="黑体" pitchFamily="49" charset="-122"/>
              </a:rPr>
              <a:t>1</a:t>
            </a:r>
            <a:r>
              <a:rPr lang="en-US" altLang="zh-CN" sz="2400">
                <a:solidFill>
                  <a:srgbClr val="333399"/>
                </a:solidFill>
                <a:latin typeface="Arial" pitchFamily="34" charset="0"/>
                <a:ea typeface="黑体" pitchFamily="49" charset="-122"/>
              </a:rPr>
              <a:t>, VLAN</a:t>
            </a:r>
            <a:r>
              <a:rPr lang="en-US" altLang="zh-CN" sz="2400" baseline="-25000">
                <a:solidFill>
                  <a:srgbClr val="333399"/>
                </a:solidFill>
                <a:latin typeface="Arial" pitchFamily="34" charset="0"/>
                <a:ea typeface="黑体" pitchFamily="49" charset="-122"/>
              </a:rPr>
              <a:t>2</a:t>
            </a:r>
          </a:p>
          <a:p>
            <a:pPr algn="ctr" eaLnBrk="1" hangingPunct="1"/>
            <a:r>
              <a:rPr lang="zh-CN" altLang="en-US" sz="2400">
                <a:solidFill>
                  <a:srgbClr val="333399"/>
                </a:solidFill>
                <a:latin typeface="Arial" pitchFamily="34" charset="0"/>
                <a:ea typeface="黑体" pitchFamily="49" charset="-122"/>
              </a:rPr>
              <a:t>和 </a:t>
            </a:r>
            <a:r>
              <a:rPr lang="en-US" altLang="zh-CN" sz="2400">
                <a:solidFill>
                  <a:srgbClr val="333399"/>
                </a:solidFill>
                <a:latin typeface="Arial" pitchFamily="34" charset="0"/>
                <a:ea typeface="黑体" pitchFamily="49" charset="-122"/>
              </a:rPr>
              <a:t>VLAN</a:t>
            </a:r>
            <a:r>
              <a:rPr lang="en-US" altLang="zh-CN" sz="2400" baseline="-25000">
                <a:solidFill>
                  <a:srgbClr val="333399"/>
                </a:solidFill>
                <a:latin typeface="Arial" pitchFamily="34" charset="0"/>
                <a:ea typeface="黑体" pitchFamily="49" charset="-122"/>
              </a:rPr>
              <a:t>3</a:t>
            </a:r>
            <a:r>
              <a:rPr lang="en-US" altLang="zh-CN" sz="2400">
                <a:solidFill>
                  <a:srgbClr val="333399"/>
                </a:solidFill>
                <a:latin typeface="Arial" pitchFamily="34" charset="0"/>
                <a:ea typeface="黑体" pitchFamily="49" charset="-122"/>
              </a:rPr>
              <a:t> </a:t>
            </a:r>
            <a:r>
              <a:rPr lang="zh-CN" altLang="en-US" sz="2400">
                <a:solidFill>
                  <a:srgbClr val="333399"/>
                </a:solidFill>
                <a:latin typeface="Arial" pitchFamily="34" charset="0"/>
                <a:ea typeface="黑体" pitchFamily="49" charset="-122"/>
              </a:rPr>
              <a:t>的构成 </a:t>
            </a:r>
          </a:p>
        </p:txBody>
      </p:sp>
      <p:sp>
        <p:nvSpPr>
          <p:cNvPr id="476213" name="Text Box 53"/>
          <p:cNvSpPr txBox="1">
            <a:spLocks noChangeArrowheads="1"/>
          </p:cNvSpPr>
          <p:nvPr/>
        </p:nvSpPr>
        <p:spPr bwMode="auto">
          <a:xfrm>
            <a:off x="395288" y="5692775"/>
            <a:ext cx="8353425" cy="831850"/>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rgbClr val="333399"/>
                </a:solidFill>
                <a:latin typeface="Arial" pitchFamily="34" charset="0"/>
                <a:ea typeface="黑体" pitchFamily="49" charset="-122"/>
              </a:rPr>
              <a:t>当 </a:t>
            </a:r>
            <a:r>
              <a:rPr lang="en-US" altLang="zh-CN" sz="2400">
                <a:solidFill>
                  <a:srgbClr val="333399"/>
                </a:solidFill>
                <a:latin typeface="Arial" pitchFamily="34" charset="0"/>
                <a:ea typeface="黑体" pitchFamily="49" charset="-122"/>
              </a:rPr>
              <a:t>B</a:t>
            </a:r>
            <a:r>
              <a:rPr lang="en-US" altLang="zh-CN" sz="2400" baseline="-25000">
                <a:solidFill>
                  <a:srgbClr val="333399"/>
                </a:solidFill>
                <a:latin typeface="Arial" pitchFamily="34" charset="0"/>
                <a:ea typeface="黑体" pitchFamily="49" charset="-122"/>
              </a:rPr>
              <a:t>1</a:t>
            </a:r>
            <a:r>
              <a:rPr lang="en-US" altLang="zh-CN" sz="2400">
                <a:solidFill>
                  <a:srgbClr val="333399"/>
                </a:solidFill>
                <a:latin typeface="Arial" pitchFamily="34" charset="0"/>
                <a:ea typeface="黑体" pitchFamily="49" charset="-122"/>
              </a:rPr>
              <a:t> </a:t>
            </a:r>
            <a:r>
              <a:rPr lang="zh-CN" altLang="en-US" sz="2400">
                <a:solidFill>
                  <a:srgbClr val="333399"/>
                </a:solidFill>
                <a:latin typeface="Arial" pitchFamily="34" charset="0"/>
                <a:ea typeface="黑体" pitchFamily="49" charset="-122"/>
              </a:rPr>
              <a:t>向 </a:t>
            </a:r>
            <a:r>
              <a:rPr lang="en-US" altLang="zh-CN" sz="2400">
                <a:solidFill>
                  <a:srgbClr val="333399"/>
                </a:solidFill>
                <a:latin typeface="Arial" pitchFamily="34" charset="0"/>
                <a:ea typeface="黑体" pitchFamily="49" charset="-122"/>
              </a:rPr>
              <a:t>VLAN</a:t>
            </a:r>
            <a:r>
              <a:rPr lang="en-US" altLang="zh-CN" sz="2400" baseline="-25000">
                <a:solidFill>
                  <a:srgbClr val="333399"/>
                </a:solidFill>
                <a:latin typeface="Arial" pitchFamily="34" charset="0"/>
                <a:ea typeface="黑体" pitchFamily="49" charset="-122"/>
              </a:rPr>
              <a:t>2</a:t>
            </a:r>
            <a:r>
              <a:rPr lang="en-US" altLang="zh-CN" sz="2400">
                <a:solidFill>
                  <a:srgbClr val="333399"/>
                </a:solidFill>
                <a:latin typeface="Arial" pitchFamily="34" charset="0"/>
                <a:ea typeface="黑体" pitchFamily="49" charset="-122"/>
              </a:rPr>
              <a:t> </a:t>
            </a:r>
            <a:r>
              <a:rPr lang="zh-CN" altLang="en-US" sz="2400">
                <a:solidFill>
                  <a:srgbClr val="333399"/>
                </a:solidFill>
                <a:latin typeface="Arial" pitchFamily="34" charset="0"/>
                <a:ea typeface="黑体" pitchFamily="49" charset="-122"/>
              </a:rPr>
              <a:t>工作组内成员发送数据时，</a:t>
            </a:r>
          </a:p>
          <a:p>
            <a:pPr algn="ctr" eaLnBrk="1" hangingPunct="1"/>
            <a:r>
              <a:rPr lang="zh-CN" altLang="en-US" sz="2400">
                <a:solidFill>
                  <a:srgbClr val="333399"/>
                </a:solidFill>
                <a:latin typeface="Arial" pitchFamily="34" charset="0"/>
                <a:ea typeface="黑体" pitchFamily="49" charset="-122"/>
              </a:rPr>
              <a:t>工作站 </a:t>
            </a:r>
            <a:r>
              <a:rPr lang="en-US" altLang="zh-CN" sz="2400">
                <a:solidFill>
                  <a:srgbClr val="333399"/>
                </a:solidFill>
                <a:latin typeface="Arial" pitchFamily="34" charset="0"/>
                <a:ea typeface="黑体" pitchFamily="49" charset="-122"/>
              </a:rPr>
              <a:t>B</a:t>
            </a:r>
            <a:r>
              <a:rPr lang="en-US" altLang="zh-CN" sz="2400" baseline="-25000">
                <a:solidFill>
                  <a:srgbClr val="333399"/>
                </a:solidFill>
                <a:latin typeface="Arial" pitchFamily="34" charset="0"/>
                <a:ea typeface="黑体" pitchFamily="49" charset="-122"/>
              </a:rPr>
              <a:t>2 </a:t>
            </a:r>
            <a:r>
              <a:rPr lang="zh-CN" altLang="en-US" sz="2400">
                <a:solidFill>
                  <a:srgbClr val="333399"/>
                </a:solidFill>
                <a:latin typeface="Arial" pitchFamily="34" charset="0"/>
                <a:ea typeface="黑体" pitchFamily="49" charset="-122"/>
              </a:rPr>
              <a:t>和 </a:t>
            </a:r>
            <a:r>
              <a:rPr lang="en-US" altLang="zh-CN" sz="2400">
                <a:solidFill>
                  <a:srgbClr val="333399"/>
                </a:solidFill>
                <a:latin typeface="Arial" pitchFamily="34" charset="0"/>
                <a:ea typeface="黑体" pitchFamily="49" charset="-122"/>
              </a:rPr>
              <a:t>B</a:t>
            </a:r>
            <a:r>
              <a:rPr lang="en-US" altLang="zh-CN" sz="2400" baseline="-25000">
                <a:solidFill>
                  <a:srgbClr val="333399"/>
                </a:solidFill>
                <a:latin typeface="Arial" pitchFamily="34" charset="0"/>
                <a:ea typeface="黑体" pitchFamily="49" charset="-122"/>
              </a:rPr>
              <a:t>3 </a:t>
            </a:r>
            <a:r>
              <a:rPr lang="zh-CN" altLang="en-US" sz="2400">
                <a:solidFill>
                  <a:srgbClr val="333399"/>
                </a:solidFill>
                <a:latin typeface="Arial" pitchFamily="34" charset="0"/>
                <a:ea typeface="黑体" pitchFamily="49" charset="-122"/>
              </a:rPr>
              <a:t>将会收到广播的信息。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6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213" grpId="0" animBg="1"/>
    </p:bld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8" name="AutoShape 2"/>
          <p:cNvSpPr>
            <a:spLocks noChangeArrowheads="1"/>
          </p:cNvSpPr>
          <p:nvPr/>
        </p:nvSpPr>
        <p:spPr bwMode="auto">
          <a:xfrm flipH="1">
            <a:off x="827088" y="4111625"/>
            <a:ext cx="7561262" cy="13985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19" name="Line 3"/>
          <p:cNvSpPr>
            <a:spLocks noChangeShapeType="1"/>
          </p:cNvSpPr>
          <p:nvPr/>
        </p:nvSpPr>
        <p:spPr bwMode="auto">
          <a:xfrm>
            <a:off x="2247900" y="6208713"/>
            <a:ext cx="1568450" cy="0"/>
          </a:xfrm>
          <a:prstGeom prst="line">
            <a:avLst/>
          </a:prstGeom>
          <a:noFill/>
          <a:ln w="762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0" name="AutoShape 4"/>
          <p:cNvSpPr>
            <a:spLocks noChangeArrowheads="1"/>
          </p:cNvSpPr>
          <p:nvPr/>
        </p:nvSpPr>
        <p:spPr bwMode="auto">
          <a:xfrm flipH="1">
            <a:off x="827088" y="2170113"/>
            <a:ext cx="7561262" cy="1397000"/>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1" name="AutoShape 5"/>
          <p:cNvSpPr>
            <a:spLocks noChangeArrowheads="1"/>
          </p:cNvSpPr>
          <p:nvPr/>
        </p:nvSpPr>
        <p:spPr bwMode="auto">
          <a:xfrm flipH="1">
            <a:off x="901700" y="304800"/>
            <a:ext cx="7412038" cy="13985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2" name="Line 6"/>
          <p:cNvSpPr>
            <a:spLocks noChangeShapeType="1"/>
          </p:cNvSpPr>
          <p:nvPr/>
        </p:nvSpPr>
        <p:spPr bwMode="auto">
          <a:xfrm>
            <a:off x="2679700" y="693738"/>
            <a:ext cx="391795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3" name="Line 7"/>
          <p:cNvSpPr>
            <a:spLocks noChangeShapeType="1"/>
          </p:cNvSpPr>
          <p:nvPr/>
        </p:nvSpPr>
        <p:spPr bwMode="auto">
          <a:xfrm>
            <a:off x="2828925" y="849313"/>
            <a:ext cx="23622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4" name="Line 8"/>
          <p:cNvSpPr>
            <a:spLocks noChangeShapeType="1"/>
          </p:cNvSpPr>
          <p:nvPr/>
        </p:nvSpPr>
        <p:spPr bwMode="auto">
          <a:xfrm>
            <a:off x="2976563" y="1003300"/>
            <a:ext cx="519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5" name="Line 9"/>
          <p:cNvSpPr>
            <a:spLocks noChangeShapeType="1"/>
          </p:cNvSpPr>
          <p:nvPr/>
        </p:nvSpPr>
        <p:spPr bwMode="auto">
          <a:xfrm>
            <a:off x="2976563" y="2946400"/>
            <a:ext cx="519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6" name="Line 10"/>
          <p:cNvSpPr>
            <a:spLocks noChangeShapeType="1"/>
          </p:cNvSpPr>
          <p:nvPr/>
        </p:nvSpPr>
        <p:spPr bwMode="auto">
          <a:xfrm>
            <a:off x="2828925" y="2713038"/>
            <a:ext cx="26162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7" name="Line 11"/>
          <p:cNvSpPr>
            <a:spLocks noChangeShapeType="1"/>
          </p:cNvSpPr>
          <p:nvPr/>
        </p:nvSpPr>
        <p:spPr bwMode="auto">
          <a:xfrm>
            <a:off x="2606675" y="2479675"/>
            <a:ext cx="397827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8" name="Line 12"/>
          <p:cNvSpPr>
            <a:spLocks noChangeShapeType="1"/>
          </p:cNvSpPr>
          <p:nvPr/>
        </p:nvSpPr>
        <p:spPr bwMode="auto">
          <a:xfrm>
            <a:off x="2754313" y="4732338"/>
            <a:ext cx="1408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9" name="Line 13"/>
          <p:cNvSpPr>
            <a:spLocks noChangeShapeType="1"/>
          </p:cNvSpPr>
          <p:nvPr/>
        </p:nvSpPr>
        <p:spPr bwMode="auto">
          <a:xfrm>
            <a:off x="2754313" y="4887913"/>
            <a:ext cx="7461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0" name="Line 14"/>
          <p:cNvSpPr>
            <a:spLocks noChangeShapeType="1"/>
          </p:cNvSpPr>
          <p:nvPr/>
        </p:nvSpPr>
        <p:spPr bwMode="auto">
          <a:xfrm>
            <a:off x="2405063" y="4422775"/>
            <a:ext cx="42418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1" name="Line 15"/>
          <p:cNvSpPr>
            <a:spLocks noChangeShapeType="1"/>
          </p:cNvSpPr>
          <p:nvPr/>
        </p:nvSpPr>
        <p:spPr bwMode="auto">
          <a:xfrm>
            <a:off x="2606675" y="4578350"/>
            <a:ext cx="2643188"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2" name="AutoShape 16"/>
          <p:cNvSpPr>
            <a:spLocks noChangeArrowheads="1"/>
          </p:cNvSpPr>
          <p:nvPr/>
        </p:nvSpPr>
        <p:spPr bwMode="auto">
          <a:xfrm flipH="1">
            <a:off x="1790700" y="4189413"/>
            <a:ext cx="1185863" cy="931862"/>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1633" name="AutoShape 17"/>
          <p:cNvSpPr>
            <a:spLocks noChangeArrowheads="1"/>
          </p:cNvSpPr>
          <p:nvPr/>
        </p:nvSpPr>
        <p:spPr bwMode="auto">
          <a:xfrm>
            <a:off x="4978400" y="538163"/>
            <a:ext cx="1111250" cy="4583112"/>
          </a:xfrm>
          <a:prstGeom prst="roundRect">
            <a:avLst>
              <a:gd name="adj" fmla="val 50000"/>
            </a:avLst>
          </a:prstGeom>
          <a:solidFill>
            <a:srgbClr val="FFFF66">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4" name="AutoShape 18"/>
          <p:cNvSpPr>
            <a:spLocks noChangeArrowheads="1"/>
          </p:cNvSpPr>
          <p:nvPr/>
        </p:nvSpPr>
        <p:spPr bwMode="auto">
          <a:xfrm>
            <a:off x="3273425" y="538163"/>
            <a:ext cx="1557338" cy="5127625"/>
          </a:xfrm>
          <a:prstGeom prst="roundRect">
            <a:avLst>
              <a:gd name="adj" fmla="val 50000"/>
            </a:avLst>
          </a:prstGeom>
          <a:solidFill>
            <a:srgbClr val="CCECFF">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5" name="Text Box 19"/>
          <p:cNvSpPr txBox="1">
            <a:spLocks noChangeArrowheads="1"/>
          </p:cNvSpPr>
          <p:nvPr/>
        </p:nvSpPr>
        <p:spPr bwMode="auto">
          <a:xfrm>
            <a:off x="3838575" y="858838"/>
            <a:ext cx="44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4</a:t>
            </a:r>
            <a:endParaRPr kumimoji="1" lang="en-US" altLang="zh-CN">
              <a:solidFill>
                <a:srgbClr val="333399"/>
              </a:solidFill>
              <a:latin typeface="Arial" pitchFamily="34" charset="0"/>
              <a:ea typeface="黑体" pitchFamily="49" charset="-122"/>
            </a:endParaRPr>
          </a:p>
        </p:txBody>
      </p:sp>
      <p:sp>
        <p:nvSpPr>
          <p:cNvPr id="111636" name="Text Box 20"/>
          <p:cNvSpPr txBox="1">
            <a:spLocks noChangeArrowheads="1"/>
          </p:cNvSpPr>
          <p:nvPr/>
        </p:nvSpPr>
        <p:spPr bwMode="auto">
          <a:xfrm>
            <a:off x="5646738" y="4457700"/>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1637" name="AutoShape 21"/>
          <p:cNvSpPr>
            <a:spLocks noChangeArrowheads="1"/>
          </p:cNvSpPr>
          <p:nvPr/>
        </p:nvSpPr>
        <p:spPr bwMode="auto">
          <a:xfrm>
            <a:off x="6313488" y="382588"/>
            <a:ext cx="1036637" cy="4583112"/>
          </a:xfrm>
          <a:prstGeom prst="roundRect">
            <a:avLst>
              <a:gd name="adj" fmla="val 50000"/>
            </a:avLst>
          </a:prstGeom>
          <a:solidFill>
            <a:srgbClr val="FF99CC">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8" name="AutoShape 22"/>
          <p:cNvSpPr>
            <a:spLocks noChangeArrowheads="1"/>
          </p:cNvSpPr>
          <p:nvPr/>
        </p:nvSpPr>
        <p:spPr bwMode="auto">
          <a:xfrm flipH="1">
            <a:off x="1790700" y="382588"/>
            <a:ext cx="1185863" cy="931862"/>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1639" name="Line 23"/>
          <p:cNvSpPr>
            <a:spLocks noChangeShapeType="1"/>
          </p:cNvSpPr>
          <p:nvPr/>
        </p:nvSpPr>
        <p:spPr bwMode="auto">
          <a:xfrm>
            <a:off x="1568450" y="938213"/>
            <a:ext cx="0" cy="5037137"/>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40" name="Line 24"/>
          <p:cNvSpPr>
            <a:spLocks noChangeShapeType="1"/>
          </p:cNvSpPr>
          <p:nvPr/>
        </p:nvSpPr>
        <p:spPr bwMode="auto">
          <a:xfrm>
            <a:off x="1554163" y="927100"/>
            <a:ext cx="458787"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41" name="Text Box 25"/>
          <p:cNvSpPr txBox="1">
            <a:spLocks noChangeArrowheads="1"/>
          </p:cNvSpPr>
          <p:nvPr/>
        </p:nvSpPr>
        <p:spPr bwMode="auto">
          <a:xfrm>
            <a:off x="6346825" y="1735138"/>
            <a:ext cx="941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1642" name="Text Box 26"/>
          <p:cNvSpPr txBox="1">
            <a:spLocks noChangeArrowheads="1"/>
          </p:cNvSpPr>
          <p:nvPr/>
        </p:nvSpPr>
        <p:spPr bwMode="auto">
          <a:xfrm>
            <a:off x="6865938" y="455613"/>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1643" name="Text Box 27"/>
          <p:cNvSpPr txBox="1">
            <a:spLocks noChangeArrowheads="1"/>
          </p:cNvSpPr>
          <p:nvPr/>
        </p:nvSpPr>
        <p:spPr bwMode="auto">
          <a:xfrm>
            <a:off x="5459413" y="735013"/>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1644" name="Text Box 28"/>
          <p:cNvSpPr txBox="1">
            <a:spLocks noChangeArrowheads="1"/>
          </p:cNvSpPr>
          <p:nvPr/>
        </p:nvSpPr>
        <p:spPr bwMode="auto">
          <a:xfrm>
            <a:off x="3495675" y="1738313"/>
            <a:ext cx="941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1645" name="Text Box 29"/>
          <p:cNvSpPr txBox="1">
            <a:spLocks noChangeArrowheads="1"/>
          </p:cNvSpPr>
          <p:nvPr/>
        </p:nvSpPr>
        <p:spPr bwMode="auto">
          <a:xfrm>
            <a:off x="5021263" y="1738313"/>
            <a:ext cx="9413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11646" name="Text Box 30"/>
          <p:cNvSpPr txBox="1">
            <a:spLocks noChangeArrowheads="1"/>
          </p:cNvSpPr>
          <p:nvPr/>
        </p:nvSpPr>
        <p:spPr bwMode="auto">
          <a:xfrm>
            <a:off x="6907213" y="4160838"/>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1647" name="Text Box 31"/>
          <p:cNvSpPr txBox="1">
            <a:spLocks noChangeArrowheads="1"/>
          </p:cNvSpPr>
          <p:nvPr/>
        </p:nvSpPr>
        <p:spPr bwMode="auto">
          <a:xfrm>
            <a:off x="4433888" y="4573588"/>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11648" name="Text Box 32"/>
          <p:cNvSpPr txBox="1">
            <a:spLocks noChangeArrowheads="1"/>
          </p:cNvSpPr>
          <p:nvPr/>
        </p:nvSpPr>
        <p:spPr bwMode="auto">
          <a:xfrm>
            <a:off x="3792538" y="5018088"/>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1649" name="Text Box 33"/>
          <p:cNvSpPr txBox="1">
            <a:spLocks noChangeArrowheads="1"/>
          </p:cNvSpPr>
          <p:nvPr/>
        </p:nvSpPr>
        <p:spPr bwMode="auto">
          <a:xfrm>
            <a:off x="3822700" y="2816225"/>
            <a:ext cx="44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1650" name="Text Box 34"/>
          <p:cNvSpPr txBox="1">
            <a:spLocks noChangeArrowheads="1"/>
          </p:cNvSpPr>
          <p:nvPr/>
        </p:nvSpPr>
        <p:spPr bwMode="auto">
          <a:xfrm>
            <a:off x="6932613" y="2301875"/>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11651" name="Text Box 35"/>
          <p:cNvSpPr txBox="1">
            <a:spLocks noChangeArrowheads="1"/>
          </p:cNvSpPr>
          <p:nvPr/>
        </p:nvSpPr>
        <p:spPr bwMode="auto">
          <a:xfrm>
            <a:off x="5688013" y="2454275"/>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pic>
        <p:nvPicPr>
          <p:cNvPr id="111652"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927100"/>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53"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1125" y="538163"/>
            <a:ext cx="50958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54"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3013" y="77152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55"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0650" y="2324100"/>
            <a:ext cx="509588"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56"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4788" y="2557463"/>
            <a:ext cx="509587"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57"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2790825"/>
            <a:ext cx="509587"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58"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474027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59"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4788" y="4578350"/>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60"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6038" y="442277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61"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1125" y="4267200"/>
            <a:ext cx="50958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1662" name="AutoShape 46"/>
          <p:cNvSpPr>
            <a:spLocks noChangeArrowheads="1"/>
          </p:cNvSpPr>
          <p:nvPr/>
        </p:nvSpPr>
        <p:spPr bwMode="auto">
          <a:xfrm flipH="1">
            <a:off x="1790700" y="2246313"/>
            <a:ext cx="1185863" cy="933450"/>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1663" name="Line 47"/>
          <p:cNvSpPr>
            <a:spLocks noChangeShapeType="1"/>
          </p:cNvSpPr>
          <p:nvPr/>
        </p:nvSpPr>
        <p:spPr bwMode="auto">
          <a:xfrm>
            <a:off x="1716088" y="2784475"/>
            <a:ext cx="0" cy="334645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64" name="Line 48"/>
          <p:cNvSpPr>
            <a:spLocks noChangeShapeType="1"/>
          </p:cNvSpPr>
          <p:nvPr/>
        </p:nvSpPr>
        <p:spPr bwMode="auto">
          <a:xfrm>
            <a:off x="1703388" y="2790825"/>
            <a:ext cx="27622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65" name="Line 49"/>
          <p:cNvSpPr>
            <a:spLocks noChangeShapeType="1"/>
          </p:cNvSpPr>
          <p:nvPr/>
        </p:nvSpPr>
        <p:spPr bwMode="auto">
          <a:xfrm>
            <a:off x="1865313" y="4772025"/>
            <a:ext cx="0" cy="1514475"/>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66" name="Line 50"/>
          <p:cNvSpPr>
            <a:spLocks noChangeShapeType="1"/>
          </p:cNvSpPr>
          <p:nvPr/>
        </p:nvSpPr>
        <p:spPr bwMode="auto">
          <a:xfrm>
            <a:off x="1851025" y="4772025"/>
            <a:ext cx="15240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67" name="AutoShape 51"/>
          <p:cNvSpPr>
            <a:spLocks noChangeArrowheads="1"/>
          </p:cNvSpPr>
          <p:nvPr/>
        </p:nvSpPr>
        <p:spPr bwMode="auto">
          <a:xfrm flipH="1">
            <a:off x="1196975" y="5665788"/>
            <a:ext cx="1187450" cy="931862"/>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1668" name="Text Box 52"/>
          <p:cNvSpPr txBox="1">
            <a:spLocks noChangeArrowheads="1"/>
          </p:cNvSpPr>
          <p:nvPr/>
        </p:nvSpPr>
        <p:spPr bwMode="auto">
          <a:xfrm>
            <a:off x="4286250" y="5805488"/>
            <a:ext cx="43894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rgbClr val="333399"/>
                </a:solidFill>
                <a:latin typeface="Arial" pitchFamily="34" charset="0"/>
                <a:ea typeface="黑体" pitchFamily="49" charset="-122"/>
              </a:rPr>
              <a:t>三个虚拟局域网 </a:t>
            </a:r>
            <a:r>
              <a:rPr lang="en-US" altLang="zh-CN" sz="2400">
                <a:solidFill>
                  <a:srgbClr val="333399"/>
                </a:solidFill>
                <a:latin typeface="Arial" pitchFamily="34" charset="0"/>
                <a:ea typeface="黑体" pitchFamily="49" charset="-122"/>
              </a:rPr>
              <a:t>VLAN</a:t>
            </a:r>
            <a:r>
              <a:rPr lang="en-US" altLang="zh-CN" sz="2400" baseline="-25000">
                <a:solidFill>
                  <a:srgbClr val="333399"/>
                </a:solidFill>
                <a:latin typeface="Arial" pitchFamily="34" charset="0"/>
                <a:ea typeface="黑体" pitchFamily="49" charset="-122"/>
              </a:rPr>
              <a:t>1</a:t>
            </a:r>
            <a:r>
              <a:rPr lang="en-US" altLang="zh-CN" sz="2400">
                <a:solidFill>
                  <a:srgbClr val="333399"/>
                </a:solidFill>
                <a:latin typeface="Arial" pitchFamily="34" charset="0"/>
                <a:ea typeface="黑体" pitchFamily="49" charset="-122"/>
              </a:rPr>
              <a:t>, VLAN</a:t>
            </a:r>
            <a:r>
              <a:rPr lang="en-US" altLang="zh-CN" sz="2400" baseline="-25000">
                <a:solidFill>
                  <a:srgbClr val="333399"/>
                </a:solidFill>
                <a:latin typeface="Arial" pitchFamily="34" charset="0"/>
                <a:ea typeface="黑体" pitchFamily="49" charset="-122"/>
              </a:rPr>
              <a:t>2</a:t>
            </a:r>
          </a:p>
          <a:p>
            <a:pPr algn="ctr" eaLnBrk="1" hangingPunct="1"/>
            <a:r>
              <a:rPr lang="zh-CN" altLang="en-US" sz="2400">
                <a:solidFill>
                  <a:srgbClr val="333399"/>
                </a:solidFill>
                <a:latin typeface="Arial" pitchFamily="34" charset="0"/>
                <a:ea typeface="黑体" pitchFamily="49" charset="-122"/>
              </a:rPr>
              <a:t>和 </a:t>
            </a:r>
            <a:r>
              <a:rPr lang="en-US" altLang="zh-CN" sz="2400">
                <a:solidFill>
                  <a:srgbClr val="333399"/>
                </a:solidFill>
                <a:latin typeface="Arial" pitchFamily="34" charset="0"/>
                <a:ea typeface="黑体" pitchFamily="49" charset="-122"/>
              </a:rPr>
              <a:t>VLAN</a:t>
            </a:r>
            <a:r>
              <a:rPr lang="en-US" altLang="zh-CN" sz="2400" baseline="-25000">
                <a:solidFill>
                  <a:srgbClr val="333399"/>
                </a:solidFill>
                <a:latin typeface="Arial" pitchFamily="34" charset="0"/>
                <a:ea typeface="黑体" pitchFamily="49" charset="-122"/>
              </a:rPr>
              <a:t>3</a:t>
            </a:r>
            <a:r>
              <a:rPr lang="en-US" altLang="zh-CN" sz="2400">
                <a:solidFill>
                  <a:srgbClr val="333399"/>
                </a:solidFill>
                <a:latin typeface="Arial" pitchFamily="34" charset="0"/>
                <a:ea typeface="黑体" pitchFamily="49" charset="-122"/>
              </a:rPr>
              <a:t> </a:t>
            </a:r>
            <a:r>
              <a:rPr lang="zh-CN" altLang="en-US" sz="2400">
                <a:solidFill>
                  <a:srgbClr val="333399"/>
                </a:solidFill>
                <a:latin typeface="Arial" pitchFamily="34" charset="0"/>
                <a:ea typeface="黑体" pitchFamily="49" charset="-122"/>
              </a:rPr>
              <a:t>的构成 </a:t>
            </a:r>
          </a:p>
        </p:txBody>
      </p:sp>
      <p:sp>
        <p:nvSpPr>
          <p:cNvPr id="477237" name="Text Box 53"/>
          <p:cNvSpPr txBox="1">
            <a:spLocks noChangeArrowheads="1"/>
          </p:cNvSpPr>
          <p:nvPr/>
        </p:nvSpPr>
        <p:spPr bwMode="auto">
          <a:xfrm>
            <a:off x="395288" y="5692775"/>
            <a:ext cx="8353425" cy="831850"/>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en-US" altLang="zh-CN" sz="2400">
                <a:solidFill>
                  <a:srgbClr val="333399"/>
                </a:solidFill>
                <a:latin typeface="Arial" pitchFamily="34" charset="0"/>
                <a:ea typeface="黑体" pitchFamily="49" charset="-122"/>
              </a:rPr>
              <a:t>B</a:t>
            </a:r>
            <a:r>
              <a:rPr lang="en-US" altLang="zh-CN" sz="2400" baseline="-25000">
                <a:solidFill>
                  <a:srgbClr val="333399"/>
                </a:solidFill>
                <a:latin typeface="Arial" pitchFamily="34" charset="0"/>
                <a:ea typeface="黑体" pitchFamily="49" charset="-122"/>
              </a:rPr>
              <a:t>1 </a:t>
            </a:r>
            <a:r>
              <a:rPr lang="zh-CN" altLang="en-US" sz="2400">
                <a:solidFill>
                  <a:srgbClr val="333399"/>
                </a:solidFill>
                <a:latin typeface="Arial" pitchFamily="34" charset="0"/>
                <a:ea typeface="黑体" pitchFamily="49" charset="-122"/>
              </a:rPr>
              <a:t>发送数据时，工作站 </a:t>
            </a:r>
            <a:r>
              <a:rPr lang="en-US" altLang="zh-CN" sz="2400">
                <a:solidFill>
                  <a:srgbClr val="333399"/>
                </a:solidFill>
                <a:latin typeface="Arial" pitchFamily="34" charset="0"/>
                <a:ea typeface="黑体" pitchFamily="49" charset="-122"/>
              </a:rPr>
              <a:t>A</a:t>
            </a:r>
            <a:r>
              <a:rPr lang="en-US" altLang="zh-CN" sz="2400" baseline="-25000">
                <a:solidFill>
                  <a:srgbClr val="333399"/>
                </a:solidFill>
                <a:latin typeface="Arial" pitchFamily="34" charset="0"/>
                <a:ea typeface="黑体" pitchFamily="49" charset="-122"/>
              </a:rPr>
              <a:t>1</a:t>
            </a:r>
            <a:r>
              <a:rPr lang="en-US" altLang="zh-CN" sz="2400">
                <a:solidFill>
                  <a:srgbClr val="333399"/>
                </a:solidFill>
                <a:latin typeface="Arial" pitchFamily="34" charset="0"/>
                <a:ea typeface="黑体" pitchFamily="49" charset="-122"/>
              </a:rPr>
              <a:t>, A</a:t>
            </a:r>
            <a:r>
              <a:rPr lang="en-US" altLang="zh-CN" sz="2400" baseline="-25000">
                <a:solidFill>
                  <a:srgbClr val="333399"/>
                </a:solidFill>
                <a:latin typeface="Arial" pitchFamily="34" charset="0"/>
                <a:ea typeface="黑体" pitchFamily="49" charset="-122"/>
              </a:rPr>
              <a:t>2 </a:t>
            </a:r>
            <a:r>
              <a:rPr lang="zh-CN" altLang="en-US" sz="2400">
                <a:solidFill>
                  <a:srgbClr val="333399"/>
                </a:solidFill>
                <a:latin typeface="Arial" pitchFamily="34" charset="0"/>
                <a:ea typeface="黑体" pitchFamily="49" charset="-122"/>
              </a:rPr>
              <a:t>和 </a:t>
            </a:r>
            <a:r>
              <a:rPr lang="en-US" altLang="zh-CN" sz="2400">
                <a:solidFill>
                  <a:srgbClr val="333399"/>
                </a:solidFill>
                <a:latin typeface="Arial" pitchFamily="34" charset="0"/>
                <a:ea typeface="黑体" pitchFamily="49" charset="-122"/>
              </a:rPr>
              <a:t>C</a:t>
            </a:r>
            <a:r>
              <a:rPr lang="en-US" altLang="zh-CN" sz="2400" baseline="-25000">
                <a:solidFill>
                  <a:srgbClr val="333399"/>
                </a:solidFill>
                <a:latin typeface="Arial" pitchFamily="34" charset="0"/>
                <a:ea typeface="黑体" pitchFamily="49" charset="-122"/>
              </a:rPr>
              <a:t>1</a:t>
            </a:r>
          </a:p>
          <a:p>
            <a:pPr algn="ctr" eaLnBrk="1" hangingPunct="1"/>
            <a:r>
              <a:rPr lang="zh-CN" altLang="en-US" sz="2400">
                <a:solidFill>
                  <a:srgbClr val="333399"/>
                </a:solidFill>
                <a:latin typeface="Arial" pitchFamily="34" charset="0"/>
                <a:ea typeface="黑体" pitchFamily="49" charset="-122"/>
              </a:rPr>
              <a:t>都不会收到 </a:t>
            </a:r>
            <a:r>
              <a:rPr lang="en-US" altLang="zh-CN" sz="2400">
                <a:solidFill>
                  <a:srgbClr val="333399"/>
                </a:solidFill>
                <a:latin typeface="Arial" pitchFamily="34" charset="0"/>
                <a:ea typeface="黑体" pitchFamily="49" charset="-122"/>
              </a:rPr>
              <a:t>B</a:t>
            </a:r>
            <a:r>
              <a:rPr lang="en-US" altLang="zh-CN" sz="2400" baseline="-25000">
                <a:solidFill>
                  <a:srgbClr val="333399"/>
                </a:solidFill>
                <a:latin typeface="Arial" pitchFamily="34" charset="0"/>
                <a:ea typeface="黑体" pitchFamily="49" charset="-122"/>
              </a:rPr>
              <a:t>1 </a:t>
            </a:r>
            <a:r>
              <a:rPr lang="zh-CN" altLang="en-US" sz="2400">
                <a:solidFill>
                  <a:srgbClr val="333399"/>
                </a:solidFill>
                <a:latin typeface="Arial" pitchFamily="34" charset="0"/>
                <a:ea typeface="黑体" pitchFamily="49" charset="-122"/>
              </a:rPr>
              <a:t>发出的广播信息。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72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237" grpId="0" animBg="1"/>
    </p:bld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AutoShape 2"/>
          <p:cNvSpPr>
            <a:spLocks noChangeArrowheads="1"/>
          </p:cNvSpPr>
          <p:nvPr/>
        </p:nvSpPr>
        <p:spPr bwMode="auto">
          <a:xfrm flipH="1">
            <a:off x="827088" y="4111625"/>
            <a:ext cx="7561262" cy="13985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3" name="Line 3"/>
          <p:cNvSpPr>
            <a:spLocks noChangeShapeType="1"/>
          </p:cNvSpPr>
          <p:nvPr/>
        </p:nvSpPr>
        <p:spPr bwMode="auto">
          <a:xfrm>
            <a:off x="2247900" y="6208713"/>
            <a:ext cx="1568450" cy="0"/>
          </a:xfrm>
          <a:prstGeom prst="line">
            <a:avLst/>
          </a:prstGeom>
          <a:noFill/>
          <a:ln w="762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4" name="AutoShape 4"/>
          <p:cNvSpPr>
            <a:spLocks noChangeArrowheads="1"/>
          </p:cNvSpPr>
          <p:nvPr/>
        </p:nvSpPr>
        <p:spPr bwMode="auto">
          <a:xfrm flipH="1">
            <a:off x="827088" y="2170113"/>
            <a:ext cx="7561262" cy="1397000"/>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5" name="AutoShape 5"/>
          <p:cNvSpPr>
            <a:spLocks noChangeArrowheads="1"/>
          </p:cNvSpPr>
          <p:nvPr/>
        </p:nvSpPr>
        <p:spPr bwMode="auto">
          <a:xfrm flipH="1">
            <a:off x="901700" y="304800"/>
            <a:ext cx="7412038" cy="13985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6" name="Line 6"/>
          <p:cNvSpPr>
            <a:spLocks noChangeShapeType="1"/>
          </p:cNvSpPr>
          <p:nvPr/>
        </p:nvSpPr>
        <p:spPr bwMode="auto">
          <a:xfrm>
            <a:off x="2679700" y="693738"/>
            <a:ext cx="391795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7" name="Line 7"/>
          <p:cNvSpPr>
            <a:spLocks noChangeShapeType="1"/>
          </p:cNvSpPr>
          <p:nvPr/>
        </p:nvSpPr>
        <p:spPr bwMode="auto">
          <a:xfrm>
            <a:off x="2828925" y="849313"/>
            <a:ext cx="23622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8" name="Line 8"/>
          <p:cNvSpPr>
            <a:spLocks noChangeShapeType="1"/>
          </p:cNvSpPr>
          <p:nvPr/>
        </p:nvSpPr>
        <p:spPr bwMode="auto">
          <a:xfrm>
            <a:off x="2976563" y="1003300"/>
            <a:ext cx="519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9" name="Line 9"/>
          <p:cNvSpPr>
            <a:spLocks noChangeShapeType="1"/>
          </p:cNvSpPr>
          <p:nvPr/>
        </p:nvSpPr>
        <p:spPr bwMode="auto">
          <a:xfrm>
            <a:off x="2976563" y="2946400"/>
            <a:ext cx="519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0" name="Line 10"/>
          <p:cNvSpPr>
            <a:spLocks noChangeShapeType="1"/>
          </p:cNvSpPr>
          <p:nvPr/>
        </p:nvSpPr>
        <p:spPr bwMode="auto">
          <a:xfrm>
            <a:off x="2828925" y="2713038"/>
            <a:ext cx="26162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1" name="Line 11"/>
          <p:cNvSpPr>
            <a:spLocks noChangeShapeType="1"/>
          </p:cNvSpPr>
          <p:nvPr/>
        </p:nvSpPr>
        <p:spPr bwMode="auto">
          <a:xfrm>
            <a:off x="2606675" y="2479675"/>
            <a:ext cx="397827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2" name="Line 12"/>
          <p:cNvSpPr>
            <a:spLocks noChangeShapeType="1"/>
          </p:cNvSpPr>
          <p:nvPr/>
        </p:nvSpPr>
        <p:spPr bwMode="auto">
          <a:xfrm>
            <a:off x="2754313" y="4732338"/>
            <a:ext cx="1408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3" name="Line 13"/>
          <p:cNvSpPr>
            <a:spLocks noChangeShapeType="1"/>
          </p:cNvSpPr>
          <p:nvPr/>
        </p:nvSpPr>
        <p:spPr bwMode="auto">
          <a:xfrm>
            <a:off x="2754313" y="4887913"/>
            <a:ext cx="7461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4" name="Line 14"/>
          <p:cNvSpPr>
            <a:spLocks noChangeShapeType="1"/>
          </p:cNvSpPr>
          <p:nvPr/>
        </p:nvSpPr>
        <p:spPr bwMode="auto">
          <a:xfrm>
            <a:off x="2405063" y="4422775"/>
            <a:ext cx="42418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5" name="Line 15"/>
          <p:cNvSpPr>
            <a:spLocks noChangeShapeType="1"/>
          </p:cNvSpPr>
          <p:nvPr/>
        </p:nvSpPr>
        <p:spPr bwMode="auto">
          <a:xfrm>
            <a:off x="2606675" y="4578350"/>
            <a:ext cx="2643188"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6" name="AutoShape 16"/>
          <p:cNvSpPr>
            <a:spLocks noChangeArrowheads="1"/>
          </p:cNvSpPr>
          <p:nvPr/>
        </p:nvSpPr>
        <p:spPr bwMode="auto">
          <a:xfrm flipH="1">
            <a:off x="1790700" y="4189413"/>
            <a:ext cx="1185863" cy="931862"/>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2657" name="AutoShape 17"/>
          <p:cNvSpPr>
            <a:spLocks noChangeArrowheads="1"/>
          </p:cNvSpPr>
          <p:nvPr/>
        </p:nvSpPr>
        <p:spPr bwMode="auto">
          <a:xfrm>
            <a:off x="4978400" y="538163"/>
            <a:ext cx="1111250" cy="4583112"/>
          </a:xfrm>
          <a:prstGeom prst="roundRect">
            <a:avLst>
              <a:gd name="adj" fmla="val 50000"/>
            </a:avLst>
          </a:prstGeom>
          <a:solidFill>
            <a:srgbClr val="FFFF66">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8" name="AutoShape 18"/>
          <p:cNvSpPr>
            <a:spLocks noChangeArrowheads="1"/>
          </p:cNvSpPr>
          <p:nvPr/>
        </p:nvSpPr>
        <p:spPr bwMode="auto">
          <a:xfrm>
            <a:off x="3273425" y="538163"/>
            <a:ext cx="1557338" cy="5127625"/>
          </a:xfrm>
          <a:prstGeom prst="roundRect">
            <a:avLst>
              <a:gd name="adj" fmla="val 50000"/>
            </a:avLst>
          </a:prstGeom>
          <a:solidFill>
            <a:srgbClr val="CCECFF">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9" name="Text Box 19"/>
          <p:cNvSpPr txBox="1">
            <a:spLocks noChangeArrowheads="1"/>
          </p:cNvSpPr>
          <p:nvPr/>
        </p:nvSpPr>
        <p:spPr bwMode="auto">
          <a:xfrm>
            <a:off x="3838575" y="858838"/>
            <a:ext cx="44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4</a:t>
            </a:r>
            <a:endParaRPr kumimoji="1" lang="en-US" altLang="zh-CN">
              <a:solidFill>
                <a:srgbClr val="333399"/>
              </a:solidFill>
              <a:latin typeface="Arial" pitchFamily="34" charset="0"/>
              <a:ea typeface="黑体" pitchFamily="49" charset="-122"/>
            </a:endParaRPr>
          </a:p>
        </p:txBody>
      </p:sp>
      <p:sp>
        <p:nvSpPr>
          <p:cNvPr id="112660" name="Text Box 20"/>
          <p:cNvSpPr txBox="1">
            <a:spLocks noChangeArrowheads="1"/>
          </p:cNvSpPr>
          <p:nvPr/>
        </p:nvSpPr>
        <p:spPr bwMode="auto">
          <a:xfrm>
            <a:off x="5646738" y="4457700"/>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2661" name="AutoShape 21"/>
          <p:cNvSpPr>
            <a:spLocks noChangeArrowheads="1"/>
          </p:cNvSpPr>
          <p:nvPr/>
        </p:nvSpPr>
        <p:spPr bwMode="auto">
          <a:xfrm>
            <a:off x="6313488" y="382588"/>
            <a:ext cx="1036637" cy="4583112"/>
          </a:xfrm>
          <a:prstGeom prst="roundRect">
            <a:avLst>
              <a:gd name="adj" fmla="val 50000"/>
            </a:avLst>
          </a:prstGeom>
          <a:solidFill>
            <a:srgbClr val="FF99CC">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2" name="AutoShape 22"/>
          <p:cNvSpPr>
            <a:spLocks noChangeArrowheads="1"/>
          </p:cNvSpPr>
          <p:nvPr/>
        </p:nvSpPr>
        <p:spPr bwMode="auto">
          <a:xfrm flipH="1">
            <a:off x="1790700" y="382588"/>
            <a:ext cx="1185863" cy="931862"/>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2663" name="Line 23"/>
          <p:cNvSpPr>
            <a:spLocks noChangeShapeType="1"/>
          </p:cNvSpPr>
          <p:nvPr/>
        </p:nvSpPr>
        <p:spPr bwMode="auto">
          <a:xfrm>
            <a:off x="1568450" y="938213"/>
            <a:ext cx="0" cy="5037137"/>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4" name="Line 24"/>
          <p:cNvSpPr>
            <a:spLocks noChangeShapeType="1"/>
          </p:cNvSpPr>
          <p:nvPr/>
        </p:nvSpPr>
        <p:spPr bwMode="auto">
          <a:xfrm>
            <a:off x="1554163" y="927100"/>
            <a:ext cx="458787"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5" name="Text Box 25"/>
          <p:cNvSpPr txBox="1">
            <a:spLocks noChangeArrowheads="1"/>
          </p:cNvSpPr>
          <p:nvPr/>
        </p:nvSpPr>
        <p:spPr bwMode="auto">
          <a:xfrm>
            <a:off x="6346825" y="1735138"/>
            <a:ext cx="941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2666" name="Text Box 26"/>
          <p:cNvSpPr txBox="1">
            <a:spLocks noChangeArrowheads="1"/>
          </p:cNvSpPr>
          <p:nvPr/>
        </p:nvSpPr>
        <p:spPr bwMode="auto">
          <a:xfrm>
            <a:off x="6865938" y="455613"/>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2667" name="Text Box 27"/>
          <p:cNvSpPr txBox="1">
            <a:spLocks noChangeArrowheads="1"/>
          </p:cNvSpPr>
          <p:nvPr/>
        </p:nvSpPr>
        <p:spPr bwMode="auto">
          <a:xfrm>
            <a:off x="5459413" y="735013"/>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2668" name="Text Box 28"/>
          <p:cNvSpPr txBox="1">
            <a:spLocks noChangeArrowheads="1"/>
          </p:cNvSpPr>
          <p:nvPr/>
        </p:nvSpPr>
        <p:spPr bwMode="auto">
          <a:xfrm>
            <a:off x="3495675" y="1738313"/>
            <a:ext cx="941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2669" name="Text Box 29"/>
          <p:cNvSpPr txBox="1">
            <a:spLocks noChangeArrowheads="1"/>
          </p:cNvSpPr>
          <p:nvPr/>
        </p:nvSpPr>
        <p:spPr bwMode="auto">
          <a:xfrm>
            <a:off x="5021263" y="1738313"/>
            <a:ext cx="9413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VLAN</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12670" name="Text Box 30"/>
          <p:cNvSpPr txBox="1">
            <a:spLocks noChangeArrowheads="1"/>
          </p:cNvSpPr>
          <p:nvPr/>
        </p:nvSpPr>
        <p:spPr bwMode="auto">
          <a:xfrm>
            <a:off x="6907213" y="4160838"/>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2671" name="Text Box 31"/>
          <p:cNvSpPr txBox="1">
            <a:spLocks noChangeArrowheads="1"/>
          </p:cNvSpPr>
          <p:nvPr/>
        </p:nvSpPr>
        <p:spPr bwMode="auto">
          <a:xfrm>
            <a:off x="4433888" y="4573588"/>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12672" name="Text Box 32"/>
          <p:cNvSpPr txBox="1">
            <a:spLocks noChangeArrowheads="1"/>
          </p:cNvSpPr>
          <p:nvPr/>
        </p:nvSpPr>
        <p:spPr bwMode="auto">
          <a:xfrm>
            <a:off x="3792538" y="5018088"/>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1</a:t>
            </a:r>
            <a:endParaRPr kumimoji="1" lang="en-US" altLang="zh-CN">
              <a:solidFill>
                <a:srgbClr val="333399"/>
              </a:solidFill>
              <a:latin typeface="Arial" pitchFamily="34" charset="0"/>
              <a:ea typeface="黑体" pitchFamily="49" charset="-122"/>
            </a:endParaRPr>
          </a:p>
        </p:txBody>
      </p:sp>
      <p:sp>
        <p:nvSpPr>
          <p:cNvPr id="112673" name="Text Box 33"/>
          <p:cNvSpPr txBox="1">
            <a:spLocks noChangeArrowheads="1"/>
          </p:cNvSpPr>
          <p:nvPr/>
        </p:nvSpPr>
        <p:spPr bwMode="auto">
          <a:xfrm>
            <a:off x="3822700" y="2816225"/>
            <a:ext cx="44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A</a:t>
            </a:r>
            <a:r>
              <a:rPr kumimoji="1" lang="en-US" altLang="zh-CN" baseline="-25000">
                <a:solidFill>
                  <a:srgbClr val="333399"/>
                </a:solidFill>
                <a:latin typeface="Arial" pitchFamily="34" charset="0"/>
                <a:ea typeface="黑体" pitchFamily="49" charset="-122"/>
              </a:rPr>
              <a:t>3</a:t>
            </a:r>
            <a:endParaRPr kumimoji="1" lang="en-US" altLang="zh-CN">
              <a:solidFill>
                <a:srgbClr val="333399"/>
              </a:solidFill>
              <a:latin typeface="Arial" pitchFamily="34" charset="0"/>
              <a:ea typeface="黑体" pitchFamily="49" charset="-122"/>
            </a:endParaRPr>
          </a:p>
        </p:txBody>
      </p:sp>
      <p:sp>
        <p:nvSpPr>
          <p:cNvPr id="112674" name="Text Box 34"/>
          <p:cNvSpPr txBox="1">
            <a:spLocks noChangeArrowheads="1"/>
          </p:cNvSpPr>
          <p:nvPr/>
        </p:nvSpPr>
        <p:spPr bwMode="auto">
          <a:xfrm>
            <a:off x="6932613" y="2301875"/>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C</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sp>
        <p:nvSpPr>
          <p:cNvPr id="112675" name="Text Box 35"/>
          <p:cNvSpPr txBox="1">
            <a:spLocks noChangeArrowheads="1"/>
          </p:cNvSpPr>
          <p:nvPr/>
        </p:nvSpPr>
        <p:spPr bwMode="auto">
          <a:xfrm>
            <a:off x="5688013" y="2454275"/>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r>
              <a:rPr kumimoji="1" lang="en-US" altLang="zh-CN">
                <a:solidFill>
                  <a:srgbClr val="333399"/>
                </a:solidFill>
                <a:latin typeface="Arial" pitchFamily="34" charset="0"/>
                <a:ea typeface="黑体" pitchFamily="49" charset="-122"/>
              </a:rPr>
              <a:t>B</a:t>
            </a:r>
            <a:r>
              <a:rPr kumimoji="1" lang="en-US" altLang="zh-CN" baseline="-25000">
                <a:solidFill>
                  <a:srgbClr val="333399"/>
                </a:solidFill>
                <a:latin typeface="Arial" pitchFamily="34" charset="0"/>
                <a:ea typeface="黑体" pitchFamily="49" charset="-122"/>
              </a:rPr>
              <a:t>2</a:t>
            </a:r>
            <a:endParaRPr kumimoji="1" lang="en-US" altLang="zh-CN">
              <a:solidFill>
                <a:srgbClr val="333399"/>
              </a:solidFill>
              <a:latin typeface="Arial" pitchFamily="34" charset="0"/>
              <a:ea typeface="黑体" pitchFamily="49" charset="-122"/>
            </a:endParaRPr>
          </a:p>
        </p:txBody>
      </p:sp>
      <p:pic>
        <p:nvPicPr>
          <p:cNvPr id="112676"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927100"/>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7"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1125" y="538163"/>
            <a:ext cx="50958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8"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3013" y="77152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9"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0650" y="2324100"/>
            <a:ext cx="509588"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0"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4788" y="2557463"/>
            <a:ext cx="509587"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1"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2790825"/>
            <a:ext cx="509587"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2"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8038" y="474027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3"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4788" y="4578350"/>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4"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6038" y="4422775"/>
            <a:ext cx="509587"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5"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1125" y="4267200"/>
            <a:ext cx="50958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86" name="AutoShape 46"/>
          <p:cNvSpPr>
            <a:spLocks noChangeArrowheads="1"/>
          </p:cNvSpPr>
          <p:nvPr/>
        </p:nvSpPr>
        <p:spPr bwMode="auto">
          <a:xfrm flipH="1">
            <a:off x="1790700" y="2246313"/>
            <a:ext cx="1185863" cy="933450"/>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2687" name="Line 47"/>
          <p:cNvSpPr>
            <a:spLocks noChangeShapeType="1"/>
          </p:cNvSpPr>
          <p:nvPr/>
        </p:nvSpPr>
        <p:spPr bwMode="auto">
          <a:xfrm>
            <a:off x="1716088" y="2784475"/>
            <a:ext cx="0" cy="334645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8" name="Line 48"/>
          <p:cNvSpPr>
            <a:spLocks noChangeShapeType="1"/>
          </p:cNvSpPr>
          <p:nvPr/>
        </p:nvSpPr>
        <p:spPr bwMode="auto">
          <a:xfrm>
            <a:off x="1703388" y="2790825"/>
            <a:ext cx="27622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9" name="Line 49"/>
          <p:cNvSpPr>
            <a:spLocks noChangeShapeType="1"/>
          </p:cNvSpPr>
          <p:nvPr/>
        </p:nvSpPr>
        <p:spPr bwMode="auto">
          <a:xfrm>
            <a:off x="1865313" y="4772025"/>
            <a:ext cx="0" cy="1514475"/>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90" name="Line 50"/>
          <p:cNvSpPr>
            <a:spLocks noChangeShapeType="1"/>
          </p:cNvSpPr>
          <p:nvPr/>
        </p:nvSpPr>
        <p:spPr bwMode="auto">
          <a:xfrm>
            <a:off x="1851025" y="4772025"/>
            <a:ext cx="15240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91" name="AutoShape 51"/>
          <p:cNvSpPr>
            <a:spLocks noChangeArrowheads="1"/>
          </p:cNvSpPr>
          <p:nvPr/>
        </p:nvSpPr>
        <p:spPr bwMode="auto">
          <a:xfrm flipH="1">
            <a:off x="1196975" y="5665788"/>
            <a:ext cx="1187450" cy="931862"/>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rgbClr val="333399"/>
                </a:solidFill>
                <a:latin typeface="Arial" pitchFamily="34" charset="0"/>
                <a:ea typeface="黑体" pitchFamily="49" charset="-122"/>
              </a:rPr>
              <a:t>以太网</a:t>
            </a:r>
          </a:p>
          <a:p>
            <a:pPr algn="ctr"/>
            <a:r>
              <a:rPr kumimoji="1" lang="zh-CN" altLang="en-US">
                <a:solidFill>
                  <a:srgbClr val="333399"/>
                </a:solidFill>
                <a:latin typeface="Arial" pitchFamily="34" charset="0"/>
                <a:ea typeface="黑体" pitchFamily="49" charset="-122"/>
              </a:rPr>
              <a:t>交换机</a:t>
            </a:r>
          </a:p>
        </p:txBody>
      </p:sp>
      <p:sp>
        <p:nvSpPr>
          <p:cNvPr id="112692" name="Text Box 52"/>
          <p:cNvSpPr txBox="1">
            <a:spLocks noChangeArrowheads="1"/>
          </p:cNvSpPr>
          <p:nvPr/>
        </p:nvSpPr>
        <p:spPr bwMode="auto">
          <a:xfrm>
            <a:off x="4286250" y="5805488"/>
            <a:ext cx="43894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rgbClr val="333399"/>
                </a:solidFill>
                <a:latin typeface="Arial" pitchFamily="34" charset="0"/>
                <a:ea typeface="黑体" pitchFamily="49" charset="-122"/>
              </a:rPr>
              <a:t>三个虚拟局域网 </a:t>
            </a:r>
            <a:r>
              <a:rPr lang="en-US" altLang="zh-CN" sz="2400">
                <a:solidFill>
                  <a:srgbClr val="333399"/>
                </a:solidFill>
                <a:latin typeface="Arial" pitchFamily="34" charset="0"/>
                <a:ea typeface="黑体" pitchFamily="49" charset="-122"/>
              </a:rPr>
              <a:t>VLAN</a:t>
            </a:r>
            <a:r>
              <a:rPr lang="en-US" altLang="zh-CN" sz="2400" baseline="-25000">
                <a:solidFill>
                  <a:srgbClr val="333399"/>
                </a:solidFill>
                <a:latin typeface="Arial" pitchFamily="34" charset="0"/>
                <a:ea typeface="黑体" pitchFamily="49" charset="-122"/>
              </a:rPr>
              <a:t>1</a:t>
            </a:r>
            <a:r>
              <a:rPr lang="en-US" altLang="zh-CN" sz="2400">
                <a:solidFill>
                  <a:srgbClr val="333399"/>
                </a:solidFill>
                <a:latin typeface="Arial" pitchFamily="34" charset="0"/>
                <a:ea typeface="黑体" pitchFamily="49" charset="-122"/>
              </a:rPr>
              <a:t>, VLAN</a:t>
            </a:r>
            <a:r>
              <a:rPr lang="en-US" altLang="zh-CN" sz="2400" baseline="-25000">
                <a:solidFill>
                  <a:srgbClr val="333399"/>
                </a:solidFill>
                <a:latin typeface="Arial" pitchFamily="34" charset="0"/>
                <a:ea typeface="黑体" pitchFamily="49" charset="-122"/>
              </a:rPr>
              <a:t>2</a:t>
            </a:r>
          </a:p>
          <a:p>
            <a:pPr algn="ctr" eaLnBrk="1" hangingPunct="1"/>
            <a:r>
              <a:rPr lang="zh-CN" altLang="en-US" sz="2400">
                <a:solidFill>
                  <a:srgbClr val="333399"/>
                </a:solidFill>
                <a:latin typeface="Arial" pitchFamily="34" charset="0"/>
                <a:ea typeface="黑体" pitchFamily="49" charset="-122"/>
              </a:rPr>
              <a:t>和 </a:t>
            </a:r>
            <a:r>
              <a:rPr lang="en-US" altLang="zh-CN" sz="2400">
                <a:solidFill>
                  <a:srgbClr val="333399"/>
                </a:solidFill>
                <a:latin typeface="Arial" pitchFamily="34" charset="0"/>
                <a:ea typeface="黑体" pitchFamily="49" charset="-122"/>
              </a:rPr>
              <a:t>VLAN</a:t>
            </a:r>
            <a:r>
              <a:rPr lang="en-US" altLang="zh-CN" sz="2400" baseline="-25000">
                <a:solidFill>
                  <a:srgbClr val="333399"/>
                </a:solidFill>
                <a:latin typeface="Arial" pitchFamily="34" charset="0"/>
                <a:ea typeface="黑体" pitchFamily="49" charset="-122"/>
              </a:rPr>
              <a:t>3</a:t>
            </a:r>
            <a:r>
              <a:rPr lang="en-US" altLang="zh-CN" sz="2400">
                <a:solidFill>
                  <a:srgbClr val="333399"/>
                </a:solidFill>
                <a:latin typeface="Arial" pitchFamily="34" charset="0"/>
                <a:ea typeface="黑体" pitchFamily="49" charset="-122"/>
              </a:rPr>
              <a:t> </a:t>
            </a:r>
            <a:r>
              <a:rPr lang="zh-CN" altLang="en-US" sz="2400">
                <a:solidFill>
                  <a:srgbClr val="333399"/>
                </a:solidFill>
                <a:latin typeface="Arial" pitchFamily="34" charset="0"/>
                <a:ea typeface="黑体" pitchFamily="49" charset="-122"/>
              </a:rPr>
              <a:t>的构成 </a:t>
            </a:r>
          </a:p>
        </p:txBody>
      </p:sp>
      <p:sp>
        <p:nvSpPr>
          <p:cNvPr id="478261" name="Text Box 53"/>
          <p:cNvSpPr txBox="1">
            <a:spLocks noChangeArrowheads="1"/>
          </p:cNvSpPr>
          <p:nvPr/>
        </p:nvSpPr>
        <p:spPr bwMode="auto">
          <a:xfrm>
            <a:off x="395288" y="5692775"/>
            <a:ext cx="8353425" cy="831850"/>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algn="ctr" eaLnBrk="1" hangingPunct="1"/>
            <a:r>
              <a:rPr lang="zh-CN" altLang="en-US" sz="2400">
                <a:solidFill>
                  <a:srgbClr val="333399"/>
                </a:solidFill>
                <a:latin typeface="黑体" pitchFamily="49" charset="-122"/>
                <a:ea typeface="黑体" pitchFamily="49" charset="-122"/>
              </a:rPr>
              <a:t>虚拟局域网限制了接收广播信息的工作站数，使得网络</a:t>
            </a:r>
          </a:p>
          <a:p>
            <a:pPr algn="ctr" eaLnBrk="1" hangingPunct="1"/>
            <a:r>
              <a:rPr lang="zh-CN" altLang="en-US" sz="2400">
                <a:solidFill>
                  <a:srgbClr val="333399"/>
                </a:solidFill>
                <a:latin typeface="黑体" pitchFamily="49" charset="-122"/>
                <a:ea typeface="黑体" pitchFamily="49" charset="-122"/>
              </a:rPr>
              <a:t>不会因传播过多的广播信息</a:t>
            </a:r>
            <a:r>
              <a:rPr lang="en-US" altLang="zh-CN" sz="2400">
                <a:solidFill>
                  <a:srgbClr val="333399"/>
                </a:solidFill>
                <a:latin typeface="黑体" pitchFamily="49" charset="-122"/>
                <a:ea typeface="黑体" pitchFamily="49" charset="-122"/>
              </a:rPr>
              <a:t>(</a:t>
            </a:r>
            <a:r>
              <a:rPr lang="zh-CN" altLang="en-US" sz="2400">
                <a:solidFill>
                  <a:srgbClr val="333399"/>
                </a:solidFill>
                <a:latin typeface="黑体" pitchFamily="49" charset="-122"/>
                <a:ea typeface="黑体" pitchFamily="49" charset="-122"/>
              </a:rPr>
              <a:t>即</a:t>
            </a:r>
            <a:r>
              <a:rPr lang="zh-CN" altLang="en-US" sz="2400">
                <a:solidFill>
                  <a:srgbClr val="333399"/>
                </a:solidFill>
                <a:latin typeface="Arial" pitchFamily="34" charset="0"/>
                <a:ea typeface="黑体" pitchFamily="49" charset="-122"/>
              </a:rPr>
              <a:t>“</a:t>
            </a:r>
            <a:r>
              <a:rPr lang="zh-CN" altLang="en-US" sz="2400">
                <a:solidFill>
                  <a:srgbClr val="333399"/>
                </a:solidFill>
                <a:latin typeface="黑体" pitchFamily="49" charset="-122"/>
                <a:ea typeface="黑体" pitchFamily="49" charset="-122"/>
              </a:rPr>
              <a:t>广播风暴</a:t>
            </a:r>
            <a:r>
              <a:rPr lang="zh-CN" altLang="en-US" sz="2400">
                <a:solidFill>
                  <a:srgbClr val="333399"/>
                </a:solidFill>
                <a:latin typeface="Arial" pitchFamily="34" charset="0"/>
                <a:ea typeface="黑体" pitchFamily="49" charset="-122"/>
              </a:rPr>
              <a:t>”</a:t>
            </a:r>
            <a:r>
              <a:rPr lang="en-US" altLang="zh-CN" sz="2400">
                <a:solidFill>
                  <a:srgbClr val="333399"/>
                </a:solidFill>
                <a:latin typeface="黑体" pitchFamily="49" charset="-122"/>
                <a:ea typeface="黑体" pitchFamily="49" charset="-122"/>
              </a:rPr>
              <a:t>)</a:t>
            </a:r>
            <a:r>
              <a:rPr lang="zh-CN" altLang="en-US" sz="2400">
                <a:solidFill>
                  <a:srgbClr val="333399"/>
                </a:solidFill>
                <a:latin typeface="黑体" pitchFamily="49" charset="-122"/>
                <a:ea typeface="黑体" pitchFamily="49" charset="-122"/>
              </a:rPr>
              <a:t>而引起性能恶化。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8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61"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body" idx="1"/>
          </p:nvPr>
        </p:nvSpPr>
        <p:spPr>
          <a:xfrm>
            <a:off x="395288" y="1916113"/>
            <a:ext cx="8497887" cy="1584325"/>
          </a:xfrm>
        </p:spPr>
        <p:txBody>
          <a:bodyPr/>
          <a:lstStyle/>
          <a:p>
            <a:pPr marL="533400" indent="-533400" algn="just" eaLnBrk="1" hangingPunct="1">
              <a:lnSpc>
                <a:spcPct val="80000"/>
              </a:lnSpc>
            </a:pPr>
            <a:r>
              <a:rPr lang="zh-CN" altLang="en-US" sz="2800" smtClean="0"/>
              <a:t>虚拟局域网协议允许在以太网的帧格式中插入一个 </a:t>
            </a:r>
            <a:r>
              <a:rPr lang="en-US" altLang="zh-CN" sz="2800" smtClean="0"/>
              <a:t>4 </a:t>
            </a:r>
            <a:r>
              <a:rPr lang="zh-CN" altLang="en-US" sz="2800" smtClean="0"/>
              <a:t>字节的标识符，称为 </a:t>
            </a:r>
            <a:r>
              <a:rPr lang="en-US" altLang="zh-CN" sz="2800" smtClean="0"/>
              <a:t>VLAN </a:t>
            </a:r>
            <a:r>
              <a:rPr lang="zh-CN" altLang="en-US" sz="2800" smtClean="0">
                <a:solidFill>
                  <a:schemeClr val="hlink"/>
                </a:solidFill>
              </a:rPr>
              <a:t>标记</a:t>
            </a:r>
            <a:r>
              <a:rPr lang="en-US" altLang="zh-CN" sz="2800" smtClean="0"/>
              <a:t>(tag)</a:t>
            </a:r>
            <a:r>
              <a:rPr lang="zh-CN" altLang="en-US" sz="2800" smtClean="0"/>
              <a:t>，用来指明发送该帧的工作站属于哪一个虚拟局域网。</a:t>
            </a:r>
            <a:r>
              <a:rPr lang="en-US" altLang="zh-CN" sz="2800" smtClean="0"/>
              <a:t>P100 </a:t>
            </a:r>
          </a:p>
        </p:txBody>
      </p:sp>
      <p:sp>
        <p:nvSpPr>
          <p:cNvPr id="113667" name="Rectangle 3"/>
          <p:cNvSpPr>
            <a:spLocks noGrp="1" noChangeArrowheads="1"/>
          </p:cNvSpPr>
          <p:nvPr>
            <p:ph type="title"/>
          </p:nvPr>
        </p:nvSpPr>
        <p:spPr>
          <a:xfrm>
            <a:off x="919163" y="214313"/>
            <a:ext cx="8116887" cy="1462087"/>
          </a:xfrm>
        </p:spPr>
        <p:txBody>
          <a:bodyPr/>
          <a:lstStyle/>
          <a:p>
            <a:pPr algn="ctr" eaLnBrk="1" hangingPunct="1"/>
            <a:r>
              <a:rPr lang="zh-CN" altLang="en-US" smtClean="0"/>
              <a:t>虚拟局域网使用的</a:t>
            </a:r>
            <a:br>
              <a:rPr lang="zh-CN" altLang="en-US" smtClean="0"/>
            </a:br>
            <a:r>
              <a:rPr lang="zh-CN" altLang="en-US" smtClean="0"/>
              <a:t>以太网帧格式</a:t>
            </a:r>
          </a:p>
        </p:txBody>
      </p:sp>
      <p:sp>
        <p:nvSpPr>
          <p:cNvPr id="113668" name="Rectangle 5"/>
          <p:cNvSpPr>
            <a:spLocks noChangeArrowheads="1"/>
          </p:cNvSpPr>
          <p:nvPr/>
        </p:nvSpPr>
        <p:spPr bwMode="auto">
          <a:xfrm>
            <a:off x="1760538" y="5110163"/>
            <a:ext cx="5483225" cy="669925"/>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13669" name="Rectangle 6"/>
          <p:cNvSpPr>
            <a:spLocks noChangeArrowheads="1"/>
          </p:cNvSpPr>
          <p:nvPr/>
        </p:nvSpPr>
        <p:spPr bwMode="auto">
          <a:xfrm>
            <a:off x="452438" y="4133850"/>
            <a:ext cx="8969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0000"/>
              </a:lnSpc>
            </a:pPr>
            <a:r>
              <a:rPr kumimoji="1" lang="en-US" altLang="zh-CN" sz="1600">
                <a:solidFill>
                  <a:srgbClr val="333399"/>
                </a:solidFill>
                <a:latin typeface="Times New Roman" pitchFamily="18" charset="0"/>
                <a:ea typeface="黑体" pitchFamily="49" charset="-122"/>
              </a:rPr>
              <a:t>  802.3</a:t>
            </a:r>
          </a:p>
          <a:p>
            <a:pPr defTabSz="762000" eaLnBrk="0" hangingPunct="0">
              <a:lnSpc>
                <a:spcPct val="80000"/>
              </a:lnSpc>
            </a:pPr>
            <a:r>
              <a:rPr kumimoji="1" lang="en-US" altLang="zh-CN" sz="1600">
                <a:solidFill>
                  <a:srgbClr val="333399"/>
                </a:solidFill>
                <a:latin typeface="Times New Roman" pitchFamily="18" charset="0"/>
                <a:ea typeface="黑体" pitchFamily="49" charset="-122"/>
              </a:rPr>
              <a:t>MAC </a:t>
            </a:r>
            <a:r>
              <a:rPr kumimoji="1" lang="zh-CN" altLang="en-US" sz="1600">
                <a:solidFill>
                  <a:srgbClr val="333399"/>
                </a:solidFill>
                <a:latin typeface="Times New Roman" pitchFamily="18" charset="0"/>
                <a:ea typeface="黑体" pitchFamily="49" charset="-122"/>
              </a:rPr>
              <a:t>帧</a:t>
            </a:r>
          </a:p>
        </p:txBody>
      </p:sp>
      <p:sp>
        <p:nvSpPr>
          <p:cNvPr id="113670" name="Rectangle 7"/>
          <p:cNvSpPr>
            <a:spLocks noChangeArrowheads="1"/>
          </p:cNvSpPr>
          <p:nvPr/>
        </p:nvSpPr>
        <p:spPr bwMode="auto">
          <a:xfrm>
            <a:off x="908050" y="3871913"/>
            <a:ext cx="5873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ea typeface="黑体" pitchFamily="49" charset="-122"/>
              </a:rPr>
              <a:t>字节</a:t>
            </a:r>
          </a:p>
        </p:txBody>
      </p:sp>
      <p:sp>
        <p:nvSpPr>
          <p:cNvPr id="113671" name="Rectangle 8"/>
          <p:cNvSpPr>
            <a:spLocks noChangeArrowheads="1"/>
          </p:cNvSpPr>
          <p:nvPr/>
        </p:nvSpPr>
        <p:spPr bwMode="auto">
          <a:xfrm>
            <a:off x="1751013" y="3856038"/>
            <a:ext cx="282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ea typeface="黑体" pitchFamily="49" charset="-122"/>
              </a:rPr>
              <a:t>6</a:t>
            </a:r>
          </a:p>
        </p:txBody>
      </p:sp>
      <p:sp>
        <p:nvSpPr>
          <p:cNvPr id="113672" name="Rectangle 9"/>
          <p:cNvSpPr>
            <a:spLocks noChangeArrowheads="1"/>
          </p:cNvSpPr>
          <p:nvPr/>
        </p:nvSpPr>
        <p:spPr bwMode="auto">
          <a:xfrm>
            <a:off x="2713038" y="3856038"/>
            <a:ext cx="282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ea typeface="黑体" pitchFamily="49" charset="-122"/>
              </a:rPr>
              <a:t>6</a:t>
            </a:r>
          </a:p>
        </p:txBody>
      </p:sp>
      <p:sp>
        <p:nvSpPr>
          <p:cNvPr id="113673" name="Rectangle 10"/>
          <p:cNvSpPr>
            <a:spLocks noChangeArrowheads="1"/>
          </p:cNvSpPr>
          <p:nvPr/>
        </p:nvSpPr>
        <p:spPr bwMode="auto">
          <a:xfrm>
            <a:off x="4683125" y="3856038"/>
            <a:ext cx="282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ea typeface="黑体" pitchFamily="49" charset="-122"/>
              </a:rPr>
              <a:t>2</a:t>
            </a:r>
          </a:p>
        </p:txBody>
      </p:sp>
      <p:sp>
        <p:nvSpPr>
          <p:cNvPr id="113674" name="Rectangle 11"/>
          <p:cNvSpPr>
            <a:spLocks noChangeArrowheads="1"/>
          </p:cNvSpPr>
          <p:nvPr/>
        </p:nvSpPr>
        <p:spPr bwMode="auto">
          <a:xfrm>
            <a:off x="5737225" y="3856038"/>
            <a:ext cx="1001713"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ea typeface="黑体" pitchFamily="49" charset="-122"/>
              </a:rPr>
              <a:t>46 ~ 1500</a:t>
            </a:r>
          </a:p>
        </p:txBody>
      </p:sp>
      <p:sp>
        <p:nvSpPr>
          <p:cNvPr id="113675" name="Rectangle 12"/>
          <p:cNvSpPr>
            <a:spLocks noChangeArrowheads="1"/>
          </p:cNvSpPr>
          <p:nvPr/>
        </p:nvSpPr>
        <p:spPr bwMode="auto">
          <a:xfrm>
            <a:off x="7556500" y="3856038"/>
            <a:ext cx="282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ea typeface="黑体" pitchFamily="49" charset="-122"/>
              </a:rPr>
              <a:t>4</a:t>
            </a:r>
          </a:p>
        </p:txBody>
      </p:sp>
      <p:sp>
        <p:nvSpPr>
          <p:cNvPr id="113676" name="Line 13"/>
          <p:cNvSpPr>
            <a:spLocks noChangeShapeType="1"/>
          </p:cNvSpPr>
          <p:nvPr/>
        </p:nvSpPr>
        <p:spPr bwMode="auto">
          <a:xfrm>
            <a:off x="1335088" y="4411663"/>
            <a:ext cx="577215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3677" name="Group 14"/>
          <p:cNvGrpSpPr>
            <a:grpSpLocks/>
          </p:cNvGrpSpPr>
          <p:nvPr/>
        </p:nvGrpSpPr>
        <p:grpSpPr bwMode="auto">
          <a:xfrm>
            <a:off x="4679950" y="4194175"/>
            <a:ext cx="968375" cy="411163"/>
            <a:chOff x="2494" y="1932"/>
            <a:chExt cx="677" cy="295"/>
          </a:xfrm>
        </p:grpSpPr>
        <p:sp>
          <p:nvSpPr>
            <p:cNvPr id="113704" name="Rectangle 15"/>
            <p:cNvSpPr>
              <a:spLocks noChangeArrowheads="1"/>
            </p:cNvSpPr>
            <p:nvPr/>
          </p:nvSpPr>
          <p:spPr bwMode="auto">
            <a:xfrm>
              <a:off x="2513" y="1932"/>
              <a:ext cx="658" cy="28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705" name="Rectangle 16"/>
            <p:cNvSpPr>
              <a:spLocks noChangeArrowheads="1"/>
            </p:cNvSpPr>
            <p:nvPr/>
          </p:nvSpPr>
          <p:spPr bwMode="auto">
            <a:xfrm>
              <a:off x="2494" y="1988"/>
              <a:ext cx="627"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ea typeface="黑体" pitchFamily="49" charset="-122"/>
                </a:rPr>
                <a:t>MAC </a:t>
              </a:r>
              <a:r>
                <a:rPr kumimoji="1" lang="zh-CN" altLang="en-US" sz="1600">
                  <a:solidFill>
                    <a:srgbClr val="333399"/>
                  </a:solidFill>
                  <a:latin typeface="Times New Roman" pitchFamily="18" charset="0"/>
                  <a:ea typeface="黑体" pitchFamily="49" charset="-122"/>
                </a:rPr>
                <a:t>帧</a:t>
              </a:r>
            </a:p>
          </p:txBody>
        </p:sp>
      </p:grpSp>
      <p:sp>
        <p:nvSpPr>
          <p:cNvPr id="113678" name="Rectangle 17"/>
          <p:cNvSpPr>
            <a:spLocks noChangeArrowheads="1"/>
          </p:cNvSpPr>
          <p:nvPr/>
        </p:nvSpPr>
        <p:spPr bwMode="auto">
          <a:xfrm>
            <a:off x="1330325" y="4176713"/>
            <a:ext cx="6746875" cy="401637"/>
          </a:xfrm>
          <a:prstGeom prst="rect">
            <a:avLst/>
          </a:prstGeom>
          <a:solidFill>
            <a:schemeClr val="bg1"/>
          </a:solidFill>
          <a:ln w="12700">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13679" name="Freeform 18"/>
          <p:cNvSpPr>
            <a:spLocks/>
          </p:cNvSpPr>
          <p:nvPr/>
        </p:nvSpPr>
        <p:spPr bwMode="auto">
          <a:xfrm>
            <a:off x="1795463" y="4597400"/>
            <a:ext cx="5411787" cy="501650"/>
          </a:xfrm>
          <a:custGeom>
            <a:avLst/>
            <a:gdLst>
              <a:gd name="T0" fmla="*/ 2147483647 w 3784"/>
              <a:gd name="T1" fmla="*/ 2147483647 h 360"/>
              <a:gd name="T2" fmla="*/ 2147483647 w 3784"/>
              <a:gd name="T3" fmla="*/ 0 h 360"/>
              <a:gd name="T4" fmla="*/ 2147483647 w 3784"/>
              <a:gd name="T5" fmla="*/ 2147483647 h 360"/>
              <a:gd name="T6" fmla="*/ 0 w 3784"/>
              <a:gd name="T7" fmla="*/ 2147483647 h 360"/>
              <a:gd name="T8" fmla="*/ 2147483647 w 3784"/>
              <a:gd name="T9" fmla="*/ 2147483647 h 3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84" h="360">
                <a:moveTo>
                  <a:pt x="1100" y="4"/>
                </a:moveTo>
                <a:lnTo>
                  <a:pt x="1800" y="0"/>
                </a:lnTo>
                <a:lnTo>
                  <a:pt x="3784" y="360"/>
                </a:lnTo>
                <a:lnTo>
                  <a:pt x="0" y="360"/>
                </a:lnTo>
                <a:lnTo>
                  <a:pt x="1100" y="4"/>
                </a:lnTo>
                <a:close/>
              </a:path>
            </a:pathLst>
          </a:custGeom>
          <a:gradFill rotWithShape="1">
            <a:gsLst>
              <a:gs pos="0">
                <a:srgbClr val="5E6D76"/>
              </a:gs>
              <a:gs pos="100000">
                <a:srgbClr val="CCEC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80" name="Rectangle 19"/>
          <p:cNvSpPr>
            <a:spLocks noChangeArrowheads="1"/>
          </p:cNvSpPr>
          <p:nvPr/>
        </p:nvSpPr>
        <p:spPr bwMode="auto">
          <a:xfrm>
            <a:off x="3397250" y="4192588"/>
            <a:ext cx="973138" cy="3905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1" name="Line 20"/>
          <p:cNvSpPr>
            <a:spLocks noChangeShapeType="1"/>
          </p:cNvSpPr>
          <p:nvPr/>
        </p:nvSpPr>
        <p:spPr bwMode="auto">
          <a:xfrm>
            <a:off x="2360613" y="4176713"/>
            <a:ext cx="0" cy="4016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2" name="Line 21"/>
          <p:cNvSpPr>
            <a:spLocks noChangeShapeType="1"/>
          </p:cNvSpPr>
          <p:nvPr/>
        </p:nvSpPr>
        <p:spPr bwMode="auto">
          <a:xfrm>
            <a:off x="3390900" y="4176713"/>
            <a:ext cx="0" cy="4016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3" name="Line 22"/>
          <p:cNvSpPr>
            <a:spLocks noChangeShapeType="1"/>
          </p:cNvSpPr>
          <p:nvPr/>
        </p:nvSpPr>
        <p:spPr bwMode="auto">
          <a:xfrm>
            <a:off x="5368925" y="4176713"/>
            <a:ext cx="0" cy="4016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4" name="Line 23"/>
          <p:cNvSpPr>
            <a:spLocks noChangeShapeType="1"/>
          </p:cNvSpPr>
          <p:nvPr/>
        </p:nvSpPr>
        <p:spPr bwMode="auto">
          <a:xfrm>
            <a:off x="7361238" y="4176713"/>
            <a:ext cx="0" cy="401637"/>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5" name="Rectangle 24"/>
          <p:cNvSpPr>
            <a:spLocks noChangeArrowheads="1"/>
          </p:cNvSpPr>
          <p:nvPr/>
        </p:nvSpPr>
        <p:spPr bwMode="auto">
          <a:xfrm>
            <a:off x="1368425" y="4211638"/>
            <a:ext cx="9937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ea typeface="黑体" pitchFamily="49" charset="-122"/>
              </a:rPr>
              <a:t>目地地址</a:t>
            </a:r>
          </a:p>
        </p:txBody>
      </p:sp>
      <p:sp>
        <p:nvSpPr>
          <p:cNvPr id="113686" name="Rectangle 25"/>
          <p:cNvSpPr>
            <a:spLocks noChangeArrowheads="1"/>
          </p:cNvSpPr>
          <p:nvPr/>
        </p:nvSpPr>
        <p:spPr bwMode="auto">
          <a:xfrm>
            <a:off x="2481263" y="4224338"/>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ea typeface="黑体" pitchFamily="49" charset="-122"/>
              </a:rPr>
              <a:t>源地址</a:t>
            </a:r>
          </a:p>
        </p:txBody>
      </p:sp>
      <p:sp>
        <p:nvSpPr>
          <p:cNvPr id="113687" name="Rectangle 26"/>
          <p:cNvSpPr>
            <a:spLocks noChangeArrowheads="1"/>
          </p:cNvSpPr>
          <p:nvPr/>
        </p:nvSpPr>
        <p:spPr bwMode="auto">
          <a:xfrm>
            <a:off x="4351338" y="4224338"/>
            <a:ext cx="5873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ea typeface="黑体" pitchFamily="49" charset="-122"/>
              </a:rPr>
              <a:t>类型</a:t>
            </a:r>
          </a:p>
        </p:txBody>
      </p:sp>
      <p:sp>
        <p:nvSpPr>
          <p:cNvPr id="113688" name="Rectangle 27"/>
          <p:cNvSpPr>
            <a:spLocks noChangeArrowheads="1"/>
          </p:cNvSpPr>
          <p:nvPr/>
        </p:nvSpPr>
        <p:spPr bwMode="auto">
          <a:xfrm>
            <a:off x="5903913" y="4237038"/>
            <a:ext cx="8921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ea typeface="黑体" pitchFamily="49" charset="-122"/>
              </a:rPr>
              <a:t>数      据</a:t>
            </a:r>
          </a:p>
        </p:txBody>
      </p:sp>
      <p:sp>
        <p:nvSpPr>
          <p:cNvPr id="113689" name="Rectangle 28"/>
          <p:cNvSpPr>
            <a:spLocks noChangeArrowheads="1"/>
          </p:cNvSpPr>
          <p:nvPr/>
        </p:nvSpPr>
        <p:spPr bwMode="auto">
          <a:xfrm>
            <a:off x="7442200" y="4225925"/>
            <a:ext cx="54133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ea typeface="黑体" pitchFamily="49" charset="-122"/>
              </a:rPr>
              <a:t>FCS</a:t>
            </a:r>
          </a:p>
        </p:txBody>
      </p:sp>
      <p:sp>
        <p:nvSpPr>
          <p:cNvPr id="113690" name="Line 29"/>
          <p:cNvSpPr>
            <a:spLocks noChangeShapeType="1"/>
          </p:cNvSpPr>
          <p:nvPr/>
        </p:nvSpPr>
        <p:spPr bwMode="auto">
          <a:xfrm>
            <a:off x="4370388" y="4171950"/>
            <a:ext cx="0" cy="4079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91" name="Text Box 30"/>
          <p:cNvSpPr txBox="1">
            <a:spLocks noChangeArrowheads="1"/>
          </p:cNvSpPr>
          <p:nvPr/>
        </p:nvSpPr>
        <p:spPr bwMode="auto">
          <a:xfrm>
            <a:off x="1763713" y="5053013"/>
            <a:ext cx="6384925"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ahoma" pitchFamily="34" charset="0"/>
                <a:ea typeface="宋体" pitchFamily="2" charset="-122"/>
              </a:defRPr>
            </a:lvl1pPr>
            <a:lvl2pPr marL="742950" indent="-285750" eaLnBrk="0" hangingPunct="0">
              <a:defRPr sz="2000">
                <a:solidFill>
                  <a:schemeClr val="tx1"/>
                </a:solidFill>
                <a:latin typeface="Tahoma" pitchFamily="34" charset="0"/>
                <a:ea typeface="宋体" pitchFamily="2" charset="-122"/>
              </a:defRPr>
            </a:lvl2pPr>
            <a:lvl3pPr marL="1143000" indent="-228600" eaLnBrk="0" hangingPunct="0">
              <a:defRPr sz="2000">
                <a:solidFill>
                  <a:schemeClr val="tx1"/>
                </a:solidFill>
                <a:latin typeface="Tahoma" pitchFamily="34" charset="0"/>
                <a:ea typeface="宋体" pitchFamily="2" charset="-122"/>
              </a:defRPr>
            </a:lvl3pPr>
            <a:lvl4pPr marL="1600200" indent="-228600" eaLnBrk="0" hangingPunct="0">
              <a:defRPr sz="2000">
                <a:solidFill>
                  <a:schemeClr val="tx1"/>
                </a:solidFill>
                <a:latin typeface="Tahoma" pitchFamily="34" charset="0"/>
                <a:ea typeface="宋体" pitchFamily="2" charset="-122"/>
              </a:defRPr>
            </a:lvl4pPr>
            <a:lvl5pPr marL="2057400" indent="-228600" eaLnBrk="0" hangingPunct="0">
              <a:defRPr sz="20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Tahoma" pitchFamily="34" charset="0"/>
                <a:ea typeface="宋体" pitchFamily="2" charset="-122"/>
              </a:defRPr>
            </a:lvl9pPr>
          </a:lstStyle>
          <a:p>
            <a:pPr eaLnBrk="1" hangingPunct="1">
              <a:lnSpc>
                <a:spcPct val="135000"/>
              </a:lnSpc>
            </a:pPr>
            <a:r>
              <a:rPr kumimoji="1" lang="en-US" altLang="zh-CN" sz="1600">
                <a:solidFill>
                  <a:srgbClr val="333399"/>
                </a:solidFill>
                <a:latin typeface="Times New Roman" pitchFamily="18" charset="0"/>
                <a:ea typeface="黑体" pitchFamily="49" charset="-122"/>
              </a:rPr>
              <a:t>802.1Q </a:t>
            </a:r>
            <a:r>
              <a:rPr kumimoji="1" lang="zh-CN" altLang="en-US" sz="1600">
                <a:solidFill>
                  <a:srgbClr val="333399"/>
                </a:solidFill>
                <a:latin typeface="Times New Roman" pitchFamily="18" charset="0"/>
                <a:ea typeface="黑体" pitchFamily="49" charset="-122"/>
              </a:rPr>
              <a:t>标记类型                                            标记控制信息</a:t>
            </a:r>
          </a:p>
          <a:p>
            <a:pPr eaLnBrk="1" hangingPunct="1">
              <a:lnSpc>
                <a:spcPct val="135000"/>
              </a:lnSpc>
            </a:pPr>
            <a:r>
              <a:rPr kumimoji="1" lang="zh-CN" altLang="en-US" sz="1600">
                <a:solidFill>
                  <a:srgbClr val="333399"/>
                </a:solidFill>
                <a:latin typeface="Times New Roman" pitchFamily="18" charset="0"/>
                <a:ea typeface="黑体" pitchFamily="49" charset="-122"/>
              </a:rPr>
              <a:t> </a:t>
            </a:r>
            <a:r>
              <a:rPr kumimoji="1" lang="en-US" altLang="zh-CN" sz="1600">
                <a:solidFill>
                  <a:srgbClr val="333399"/>
                </a:solidFill>
                <a:latin typeface="Times New Roman" pitchFamily="18" charset="0"/>
                <a:ea typeface="黑体" pitchFamily="49" charset="-122"/>
              </a:rPr>
              <a:t>1 0 0 0 0 0 0 1  0 0 0 0 0 0 0 0                             VID   (VLAN ID)               </a:t>
            </a:r>
          </a:p>
        </p:txBody>
      </p:sp>
      <p:sp>
        <p:nvSpPr>
          <p:cNvPr id="113692" name="Line 31"/>
          <p:cNvSpPr>
            <a:spLocks noChangeShapeType="1"/>
          </p:cNvSpPr>
          <p:nvPr/>
        </p:nvSpPr>
        <p:spPr bwMode="auto">
          <a:xfrm>
            <a:off x="4506913" y="5110163"/>
            <a:ext cx="0" cy="669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93" name="Rectangle 32"/>
          <p:cNvSpPr>
            <a:spLocks noChangeArrowheads="1"/>
          </p:cNvSpPr>
          <p:nvPr/>
        </p:nvSpPr>
        <p:spPr bwMode="auto">
          <a:xfrm>
            <a:off x="2778125" y="5780088"/>
            <a:ext cx="739775"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ea typeface="黑体" pitchFamily="49" charset="-122"/>
              </a:rPr>
              <a:t>2 </a:t>
            </a:r>
            <a:r>
              <a:rPr kumimoji="1" lang="zh-CN" altLang="en-US" sz="1600">
                <a:solidFill>
                  <a:srgbClr val="333399"/>
                </a:solidFill>
                <a:latin typeface="Times New Roman" pitchFamily="18" charset="0"/>
                <a:ea typeface="黑体" pitchFamily="49" charset="-122"/>
              </a:rPr>
              <a:t>字节</a:t>
            </a:r>
          </a:p>
        </p:txBody>
      </p:sp>
      <p:sp>
        <p:nvSpPr>
          <p:cNvPr id="113694" name="Rectangle 33"/>
          <p:cNvSpPr>
            <a:spLocks noChangeArrowheads="1"/>
          </p:cNvSpPr>
          <p:nvPr/>
        </p:nvSpPr>
        <p:spPr bwMode="auto">
          <a:xfrm>
            <a:off x="5456238" y="5780088"/>
            <a:ext cx="739775"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ea typeface="黑体" pitchFamily="49" charset="-122"/>
              </a:rPr>
              <a:t>2 </a:t>
            </a:r>
            <a:r>
              <a:rPr kumimoji="1" lang="zh-CN" altLang="en-US" sz="1600">
                <a:solidFill>
                  <a:srgbClr val="333399"/>
                </a:solidFill>
                <a:latin typeface="Times New Roman" pitchFamily="18" charset="0"/>
                <a:ea typeface="黑体" pitchFamily="49" charset="-122"/>
              </a:rPr>
              <a:t>字节</a:t>
            </a:r>
          </a:p>
        </p:txBody>
      </p:sp>
      <p:sp>
        <p:nvSpPr>
          <p:cNvPr id="113695" name="AutoShape 34"/>
          <p:cNvSpPr>
            <a:spLocks noChangeArrowheads="1"/>
          </p:cNvSpPr>
          <p:nvPr/>
        </p:nvSpPr>
        <p:spPr bwMode="auto">
          <a:xfrm>
            <a:off x="1281113" y="3368675"/>
            <a:ext cx="2744787" cy="357188"/>
          </a:xfrm>
          <a:prstGeom prst="wedgeRoundRectCallout">
            <a:avLst>
              <a:gd name="adj1" fmla="val 41616"/>
              <a:gd name="adj2" fmla="val 203907"/>
              <a:gd name="adj3" fmla="val 16667"/>
            </a:avLst>
          </a:prstGeom>
          <a:solidFill>
            <a:schemeClr val="bg1"/>
          </a:solidFill>
          <a:ln w="9525">
            <a:solidFill>
              <a:schemeClr val="folHlink"/>
            </a:solidFill>
            <a:miter lim="800000"/>
            <a:headEnd/>
            <a:tailEnd/>
          </a:ln>
          <a:effectLst>
            <a:outerShdw dist="35921" dir="2700000" algn="ctr" rotWithShape="0">
              <a:schemeClr val="bg2"/>
            </a:outerShdw>
          </a:effectLst>
        </p:spPr>
        <p:txBody>
          <a:bodyPr/>
          <a:lstStyle/>
          <a:p>
            <a:pPr algn="ctr"/>
            <a:r>
              <a:rPr kumimoji="1" lang="zh-CN" altLang="en-US" sz="1600">
                <a:solidFill>
                  <a:srgbClr val="333399"/>
                </a:solidFill>
                <a:latin typeface="Times New Roman" pitchFamily="18" charset="0"/>
                <a:ea typeface="黑体" pitchFamily="49" charset="-122"/>
              </a:rPr>
              <a:t>插入 </a:t>
            </a:r>
            <a:r>
              <a:rPr kumimoji="1" lang="en-US" altLang="zh-CN" sz="1600">
                <a:solidFill>
                  <a:srgbClr val="333399"/>
                </a:solidFill>
                <a:latin typeface="Times New Roman" pitchFamily="18" charset="0"/>
                <a:ea typeface="黑体" pitchFamily="49" charset="-122"/>
              </a:rPr>
              <a:t>4 </a:t>
            </a:r>
            <a:r>
              <a:rPr kumimoji="1" lang="zh-CN" altLang="en-US" sz="1600">
                <a:solidFill>
                  <a:srgbClr val="333399"/>
                </a:solidFill>
                <a:latin typeface="Times New Roman" pitchFamily="18" charset="0"/>
                <a:ea typeface="黑体" pitchFamily="49" charset="-122"/>
              </a:rPr>
              <a:t>字节的 </a:t>
            </a:r>
            <a:r>
              <a:rPr kumimoji="1" lang="en-US" altLang="zh-CN" sz="1600">
                <a:solidFill>
                  <a:srgbClr val="333399"/>
                </a:solidFill>
                <a:latin typeface="Times New Roman" pitchFamily="18" charset="0"/>
                <a:ea typeface="黑体" pitchFamily="49" charset="-122"/>
              </a:rPr>
              <a:t>VLAN </a:t>
            </a:r>
            <a:r>
              <a:rPr kumimoji="1" lang="zh-CN" altLang="en-US" sz="1600">
                <a:solidFill>
                  <a:srgbClr val="333399"/>
                </a:solidFill>
                <a:latin typeface="Times New Roman" pitchFamily="18" charset="0"/>
                <a:ea typeface="黑体" pitchFamily="49" charset="-122"/>
              </a:rPr>
              <a:t>标记</a:t>
            </a:r>
          </a:p>
        </p:txBody>
      </p:sp>
      <p:sp>
        <p:nvSpPr>
          <p:cNvPr id="113696" name="Rectangle 35"/>
          <p:cNvSpPr>
            <a:spLocks noChangeArrowheads="1"/>
          </p:cNvSpPr>
          <p:nvPr/>
        </p:nvSpPr>
        <p:spPr bwMode="auto">
          <a:xfrm>
            <a:off x="3752850" y="3852863"/>
            <a:ext cx="282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ea typeface="黑体" pitchFamily="49" charset="-122"/>
              </a:rPr>
              <a:t>4</a:t>
            </a:r>
          </a:p>
        </p:txBody>
      </p:sp>
      <p:sp>
        <p:nvSpPr>
          <p:cNvPr id="113697" name="Line 36"/>
          <p:cNvSpPr>
            <a:spLocks noChangeShapeType="1"/>
          </p:cNvSpPr>
          <p:nvPr/>
        </p:nvSpPr>
        <p:spPr bwMode="auto">
          <a:xfrm>
            <a:off x="1760538" y="5467350"/>
            <a:ext cx="549275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98" name="Line 37"/>
          <p:cNvSpPr>
            <a:spLocks noChangeShapeType="1"/>
          </p:cNvSpPr>
          <p:nvPr/>
        </p:nvSpPr>
        <p:spPr bwMode="auto">
          <a:xfrm>
            <a:off x="5102225" y="5467350"/>
            <a:ext cx="0" cy="334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99" name="Line 38"/>
          <p:cNvSpPr>
            <a:spLocks noChangeShapeType="1"/>
          </p:cNvSpPr>
          <p:nvPr/>
        </p:nvSpPr>
        <p:spPr bwMode="auto">
          <a:xfrm>
            <a:off x="4965700" y="5467350"/>
            <a:ext cx="0" cy="334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00" name="Rectangle 39"/>
          <p:cNvSpPr>
            <a:spLocks noChangeArrowheads="1"/>
          </p:cNvSpPr>
          <p:nvPr/>
        </p:nvSpPr>
        <p:spPr bwMode="auto">
          <a:xfrm>
            <a:off x="3478213" y="6048375"/>
            <a:ext cx="1196975"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Times New Roman" pitchFamily="18" charset="0"/>
                <a:ea typeface="黑体" pitchFamily="49" charset="-122"/>
              </a:rPr>
              <a:t>用户优先级</a:t>
            </a:r>
          </a:p>
        </p:txBody>
      </p:sp>
      <p:sp>
        <p:nvSpPr>
          <p:cNvPr id="113701" name="Line 40"/>
          <p:cNvSpPr>
            <a:spLocks noChangeShapeType="1"/>
          </p:cNvSpPr>
          <p:nvPr/>
        </p:nvSpPr>
        <p:spPr bwMode="auto">
          <a:xfrm flipV="1">
            <a:off x="4232275" y="5646738"/>
            <a:ext cx="481013" cy="468312"/>
          </a:xfrm>
          <a:prstGeom prst="line">
            <a:avLst/>
          </a:prstGeom>
          <a:noFill/>
          <a:ln w="952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02" name="Line 41"/>
          <p:cNvSpPr>
            <a:spLocks noChangeShapeType="1"/>
          </p:cNvSpPr>
          <p:nvPr/>
        </p:nvSpPr>
        <p:spPr bwMode="auto">
          <a:xfrm flipV="1">
            <a:off x="5010150" y="5646738"/>
            <a:ext cx="46038" cy="412750"/>
          </a:xfrm>
          <a:prstGeom prst="line">
            <a:avLst/>
          </a:prstGeom>
          <a:noFill/>
          <a:ln w="952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03" name="Rectangle 42"/>
          <p:cNvSpPr>
            <a:spLocks noChangeArrowheads="1"/>
          </p:cNvSpPr>
          <p:nvPr/>
        </p:nvSpPr>
        <p:spPr bwMode="auto">
          <a:xfrm>
            <a:off x="4713288" y="6048375"/>
            <a:ext cx="378460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Times New Roman" pitchFamily="18" charset="0"/>
                <a:ea typeface="黑体" pitchFamily="49" charset="-122"/>
              </a:rPr>
              <a:t>CFI</a:t>
            </a:r>
            <a:r>
              <a:rPr kumimoji="1" lang="zh-CN" altLang="en-US" sz="1600">
                <a:solidFill>
                  <a:srgbClr val="333399"/>
                </a:solidFill>
                <a:latin typeface="Times New Roman" pitchFamily="18" charset="0"/>
                <a:ea typeface="黑体" pitchFamily="49" charset="-122"/>
              </a:rPr>
              <a:t>规范格式指示符：最低位在左还是右</a:t>
            </a:r>
            <a:endParaRPr kumimoji="1" lang="en-US" altLang="zh-CN" sz="1600">
              <a:solidFill>
                <a:srgbClr val="333399"/>
              </a:solidFill>
              <a:latin typeface="Times New Roman" pitchFamily="18" charset="0"/>
              <a:ea typeface="黑体" pitchFamily="49" charset="-122"/>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919163" y="214313"/>
            <a:ext cx="8116887" cy="1462087"/>
          </a:xfrm>
        </p:spPr>
        <p:txBody>
          <a:bodyPr/>
          <a:lstStyle/>
          <a:p>
            <a:pPr algn="ctr" eaLnBrk="1" hangingPunct="1"/>
            <a:r>
              <a:rPr lang="en-US" altLang="zh-CN" smtClean="0"/>
              <a:t>3.6   </a:t>
            </a:r>
            <a:r>
              <a:rPr lang="zh-CN" altLang="en-US" smtClean="0"/>
              <a:t>高速以太网</a:t>
            </a:r>
            <a:br>
              <a:rPr lang="zh-CN" altLang="en-US" smtClean="0"/>
            </a:br>
            <a:r>
              <a:rPr lang="en-US" altLang="zh-CN" sz="3600" smtClean="0"/>
              <a:t>3.6.1  100BASE-T </a:t>
            </a:r>
            <a:r>
              <a:rPr lang="zh-CN" altLang="en-US" sz="3600" smtClean="0"/>
              <a:t>以太网</a:t>
            </a:r>
          </a:p>
        </p:txBody>
      </p:sp>
      <p:sp>
        <p:nvSpPr>
          <p:cNvPr id="480259" name="Rectangle 3"/>
          <p:cNvSpPr>
            <a:spLocks noGrp="1" noChangeArrowheads="1"/>
          </p:cNvSpPr>
          <p:nvPr>
            <p:ph type="body" idx="1"/>
          </p:nvPr>
        </p:nvSpPr>
        <p:spPr>
          <a:xfrm>
            <a:off x="971550" y="1916113"/>
            <a:ext cx="7772400" cy="4114800"/>
          </a:xfrm>
        </p:spPr>
        <p:txBody>
          <a:bodyPr/>
          <a:lstStyle/>
          <a:p>
            <a:pPr eaLnBrk="1" hangingPunct="1">
              <a:lnSpc>
                <a:spcPct val="80000"/>
              </a:lnSpc>
            </a:pPr>
            <a:r>
              <a:rPr lang="zh-CN" altLang="en-US" sz="2800" smtClean="0"/>
              <a:t>速率达到或超过 </a:t>
            </a:r>
            <a:r>
              <a:rPr lang="en-US" altLang="zh-CN" sz="2800" smtClean="0"/>
              <a:t>100 Mb/s </a:t>
            </a:r>
            <a:r>
              <a:rPr lang="zh-CN" altLang="en-US" sz="2800" smtClean="0"/>
              <a:t>的以太网称为</a:t>
            </a:r>
            <a:r>
              <a:rPr lang="zh-CN" altLang="en-US" sz="2800" smtClean="0">
                <a:solidFill>
                  <a:schemeClr val="hlink"/>
                </a:solidFill>
              </a:rPr>
              <a:t>高速以太网</a:t>
            </a:r>
            <a:r>
              <a:rPr lang="zh-CN" altLang="en-US" sz="2800" smtClean="0"/>
              <a:t>。</a:t>
            </a:r>
          </a:p>
          <a:p>
            <a:pPr eaLnBrk="1" hangingPunct="1">
              <a:lnSpc>
                <a:spcPct val="80000"/>
              </a:lnSpc>
            </a:pPr>
            <a:r>
              <a:rPr lang="zh-CN" altLang="en-US" sz="2800" smtClean="0"/>
              <a:t>在双绞线上传送 </a:t>
            </a:r>
            <a:r>
              <a:rPr lang="en-US" altLang="zh-CN" sz="2800" smtClean="0"/>
              <a:t>100 Mb/s </a:t>
            </a:r>
            <a:r>
              <a:rPr lang="zh-CN" altLang="en-US" sz="2800" smtClean="0"/>
              <a:t>基带信号的星型拓扑以太网，仍使用 </a:t>
            </a:r>
            <a:r>
              <a:rPr lang="en-US" altLang="zh-CN" sz="2800" smtClean="0"/>
              <a:t>IEEE 802.3 </a:t>
            </a:r>
            <a:r>
              <a:rPr lang="zh-CN" altLang="en-US" sz="2800" smtClean="0"/>
              <a:t>的</a:t>
            </a:r>
            <a:r>
              <a:rPr lang="en-US" altLang="zh-CN" sz="2800" smtClean="0"/>
              <a:t>CSMA/CD </a:t>
            </a:r>
            <a:r>
              <a:rPr lang="zh-CN" altLang="en-US" sz="2800" smtClean="0"/>
              <a:t>协议。</a:t>
            </a:r>
            <a:r>
              <a:rPr lang="en-US" altLang="zh-CN" sz="2800" smtClean="0"/>
              <a:t>100BASE-T </a:t>
            </a:r>
            <a:r>
              <a:rPr lang="zh-CN" altLang="en-US" sz="2800" smtClean="0"/>
              <a:t>以太网又称为</a:t>
            </a:r>
            <a:r>
              <a:rPr lang="zh-CN" altLang="en-US" sz="2800" smtClean="0">
                <a:solidFill>
                  <a:schemeClr val="hlink"/>
                </a:solidFill>
              </a:rPr>
              <a:t>快速以太网</a:t>
            </a:r>
            <a:r>
              <a:rPr lang="en-US" altLang="zh-CN" sz="2800" smtClean="0"/>
              <a:t>(Fast Ethernet)</a:t>
            </a:r>
            <a:r>
              <a:rPr lang="zh-CN" altLang="en-US" sz="2800" smtClean="0"/>
              <a:t>。 </a:t>
            </a:r>
          </a:p>
          <a:p>
            <a:pPr eaLnBrk="1" hangingPunct="1">
              <a:lnSpc>
                <a:spcPct val="80000"/>
              </a:lnSpc>
            </a:pPr>
            <a:r>
              <a:rPr lang="en-US" altLang="zh-CN" sz="2800" smtClean="0"/>
              <a:t>100</a:t>
            </a:r>
            <a:r>
              <a:rPr lang="zh-CN" altLang="en-US" sz="2800" smtClean="0"/>
              <a:t>标识传输速率为</a:t>
            </a:r>
            <a:r>
              <a:rPr lang="en-US" altLang="zh-CN" sz="2800" smtClean="0"/>
              <a:t>100Mbit/s</a:t>
            </a:r>
            <a:r>
              <a:rPr lang="zh-CN" altLang="en-US" sz="2800" smtClean="0"/>
              <a:t>；</a:t>
            </a:r>
          </a:p>
          <a:p>
            <a:pPr eaLnBrk="1" hangingPunct="1">
              <a:lnSpc>
                <a:spcPct val="80000"/>
              </a:lnSpc>
            </a:pPr>
            <a:r>
              <a:rPr lang="en-US" altLang="zh-CN" sz="2800" smtClean="0"/>
              <a:t>base</a:t>
            </a:r>
            <a:r>
              <a:rPr lang="zh-CN" altLang="en-US" sz="2800" smtClean="0"/>
              <a:t>标识采用基带传输；</a:t>
            </a:r>
          </a:p>
          <a:p>
            <a:pPr eaLnBrk="1" hangingPunct="1">
              <a:lnSpc>
                <a:spcPct val="80000"/>
              </a:lnSpc>
            </a:pPr>
            <a:r>
              <a:rPr lang="en-US" altLang="zh-CN" sz="2800" smtClean="0"/>
              <a:t>T</a:t>
            </a:r>
            <a:r>
              <a:rPr lang="zh-CN" altLang="en-US" sz="2800" smtClean="0"/>
              <a:t>标识传输介质，</a:t>
            </a:r>
            <a:r>
              <a:rPr lang="en-US" altLang="zh-CN" sz="2800" smtClean="0"/>
              <a:t>2</a:t>
            </a:r>
            <a:r>
              <a:rPr lang="zh-CN" altLang="en-US" sz="2800" smtClean="0"/>
              <a:t>对</a:t>
            </a:r>
            <a:r>
              <a:rPr lang="en-US" altLang="zh-CN" sz="2800" smtClean="0"/>
              <a:t>5</a:t>
            </a:r>
            <a:r>
              <a:rPr lang="zh-CN" altLang="en-US" sz="2800" smtClean="0"/>
              <a:t>类</a:t>
            </a:r>
            <a:r>
              <a:rPr lang="en-US" altLang="zh-CN" sz="2800" smtClean="0"/>
              <a:t>UTP</a:t>
            </a:r>
            <a:r>
              <a:rPr lang="zh-CN" altLang="en-US" sz="2800" smtClean="0"/>
              <a:t>，当为</a:t>
            </a:r>
            <a:r>
              <a:rPr lang="en-US" altLang="zh-CN" sz="2800" smtClean="0"/>
              <a:t>F</a:t>
            </a:r>
            <a:r>
              <a:rPr lang="zh-CN" altLang="en-US" sz="2800" smtClean="0"/>
              <a:t>时，代表为光纤。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02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0259">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025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802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919163" y="214313"/>
            <a:ext cx="8116887" cy="1462087"/>
          </a:xfrm>
        </p:spPr>
        <p:txBody>
          <a:bodyPr/>
          <a:lstStyle/>
          <a:p>
            <a:pPr algn="ctr" eaLnBrk="1" hangingPunct="1"/>
            <a:r>
              <a:rPr lang="en-US" altLang="zh-CN" smtClean="0"/>
              <a:t>100BASE-T </a:t>
            </a:r>
            <a:r>
              <a:rPr lang="zh-CN" altLang="en-US" smtClean="0"/>
              <a:t>以太网的特点</a:t>
            </a:r>
          </a:p>
        </p:txBody>
      </p:sp>
      <p:sp>
        <p:nvSpPr>
          <p:cNvPr id="481283" name="Rectangle 3"/>
          <p:cNvSpPr>
            <a:spLocks noGrp="1" noChangeArrowheads="1"/>
          </p:cNvSpPr>
          <p:nvPr>
            <p:ph type="body" idx="1"/>
          </p:nvPr>
        </p:nvSpPr>
        <p:spPr/>
        <p:txBody>
          <a:bodyPr/>
          <a:lstStyle/>
          <a:p>
            <a:pPr eaLnBrk="1" hangingPunct="1">
              <a:lnSpc>
                <a:spcPct val="90000"/>
              </a:lnSpc>
            </a:pPr>
            <a:r>
              <a:rPr lang="zh-CN" altLang="en-US" sz="2400" smtClean="0"/>
              <a:t>使用交换机组网时，可在全双工方式下工作而无冲突发生。因此，不使用 </a:t>
            </a:r>
            <a:r>
              <a:rPr lang="en-US" altLang="zh-CN" sz="2400" smtClean="0"/>
              <a:t>CSMA/CD </a:t>
            </a:r>
            <a:r>
              <a:rPr lang="zh-CN" altLang="en-US" sz="2400" smtClean="0"/>
              <a:t>协议。</a:t>
            </a:r>
          </a:p>
          <a:p>
            <a:pPr eaLnBrk="1" hangingPunct="1">
              <a:lnSpc>
                <a:spcPct val="90000"/>
              </a:lnSpc>
            </a:pPr>
            <a:r>
              <a:rPr lang="en-US" altLang="zh-CN" sz="2400" smtClean="0"/>
              <a:t>MAC </a:t>
            </a:r>
            <a:r>
              <a:rPr lang="zh-CN" altLang="en-US" sz="2400" smtClean="0"/>
              <a:t>帧格式仍然是 </a:t>
            </a:r>
            <a:r>
              <a:rPr lang="en-US" altLang="zh-CN" sz="2400" smtClean="0"/>
              <a:t>802.3 </a:t>
            </a:r>
            <a:r>
              <a:rPr lang="zh-CN" altLang="en-US" sz="2400" smtClean="0"/>
              <a:t>标准规定的。</a:t>
            </a:r>
          </a:p>
          <a:p>
            <a:pPr eaLnBrk="1" hangingPunct="1">
              <a:lnSpc>
                <a:spcPct val="90000"/>
              </a:lnSpc>
            </a:pPr>
            <a:r>
              <a:rPr lang="zh-CN" altLang="en-US" sz="2400" smtClean="0"/>
              <a:t>也可使用</a:t>
            </a:r>
            <a:r>
              <a:rPr lang="en-US" altLang="zh-CN" sz="2400" smtClean="0"/>
              <a:t>100Mbps</a:t>
            </a:r>
            <a:r>
              <a:rPr lang="zh-CN" altLang="en-US" sz="2400" smtClean="0"/>
              <a:t>的集线器，工作在半双式方式，仍然使用</a:t>
            </a:r>
            <a:r>
              <a:rPr lang="en-US" altLang="zh-CN" sz="2400" smtClean="0"/>
              <a:t>CSMA/CD </a:t>
            </a:r>
            <a:r>
              <a:rPr lang="zh-CN" altLang="en-US" sz="2400" smtClean="0"/>
              <a:t>协议。</a:t>
            </a:r>
          </a:p>
          <a:p>
            <a:pPr eaLnBrk="1" hangingPunct="1">
              <a:lnSpc>
                <a:spcPct val="90000"/>
              </a:lnSpc>
            </a:pPr>
            <a:r>
              <a:rPr lang="zh-CN" altLang="en-US" sz="2400" smtClean="0"/>
              <a:t> </a:t>
            </a:r>
            <a:r>
              <a:rPr lang="en-US" altLang="zh-CN" sz="2400" smtClean="0"/>
              <a:t>a= </a:t>
            </a:r>
            <a:r>
              <a:rPr kumimoji="1" lang="en-US" altLang="zh-CN" sz="2400" b="1" smtClean="0">
                <a:sym typeface="Symbol" pitchFamily="18" charset="2"/>
              </a:rPr>
              <a:t>/T= C/L           p100</a:t>
            </a:r>
            <a:endParaRPr lang="en-US" altLang="zh-CN" sz="2400" smtClean="0"/>
          </a:p>
          <a:p>
            <a:pPr eaLnBrk="1" hangingPunct="1">
              <a:lnSpc>
                <a:spcPct val="90000"/>
              </a:lnSpc>
            </a:pPr>
            <a:r>
              <a:rPr lang="zh-CN" altLang="en-US" sz="2400" smtClean="0"/>
              <a:t>保持最短帧长不变，但将一个网段的最大电缆长度减小到 </a:t>
            </a:r>
            <a:r>
              <a:rPr lang="en-US" altLang="zh-CN" sz="2400" smtClean="0"/>
              <a:t>100 m</a:t>
            </a:r>
            <a:r>
              <a:rPr lang="zh-CN" altLang="en-US" sz="2400" smtClean="0"/>
              <a:t>。</a:t>
            </a:r>
          </a:p>
          <a:p>
            <a:pPr eaLnBrk="1" hangingPunct="1">
              <a:lnSpc>
                <a:spcPct val="90000"/>
              </a:lnSpc>
            </a:pPr>
            <a:r>
              <a:rPr lang="zh-CN" altLang="en-US" sz="2400" smtClean="0"/>
              <a:t>帧间时间间隔从原来的 </a:t>
            </a:r>
            <a:r>
              <a:rPr lang="en-US" altLang="zh-CN" sz="2400" smtClean="0"/>
              <a:t>9.6 </a:t>
            </a:r>
            <a:r>
              <a:rPr lang="en-US" altLang="zh-CN" sz="2400" smtClean="0">
                <a:sym typeface="Symbol" pitchFamily="18" charset="2"/>
              </a:rPr>
              <a:t></a:t>
            </a:r>
            <a:r>
              <a:rPr lang="en-US" altLang="zh-CN" sz="2400" smtClean="0"/>
              <a:t>s </a:t>
            </a:r>
            <a:r>
              <a:rPr lang="zh-CN" altLang="en-US" sz="2400" smtClean="0"/>
              <a:t>改为现在的 </a:t>
            </a:r>
            <a:r>
              <a:rPr lang="en-US" altLang="zh-CN" sz="2400" smtClean="0"/>
              <a:t>0.96 </a:t>
            </a:r>
            <a:r>
              <a:rPr lang="en-US" altLang="zh-CN" sz="2400" smtClean="0">
                <a:sym typeface="Symbol" pitchFamily="18" charset="2"/>
              </a:rPr>
              <a:t></a:t>
            </a:r>
            <a:r>
              <a:rPr lang="en-US" altLang="zh-CN" sz="2400" smtClean="0"/>
              <a:t>s</a:t>
            </a:r>
            <a:r>
              <a:rPr lang="zh-CN" altLang="en-US" sz="2400" smtClean="0"/>
              <a:t>。</a:t>
            </a:r>
            <a:r>
              <a:rPr lang="en-US" altLang="zh-CN" sz="2400" smtClean="0"/>
              <a:t>96bit</a:t>
            </a:r>
            <a:r>
              <a:rPr lang="zh-CN" altLang="en-US" sz="2400" smtClean="0"/>
              <a:t>不变，</a:t>
            </a:r>
            <a:r>
              <a:rPr lang="en-US" altLang="zh-CN" sz="2400" smtClean="0"/>
              <a:t>96bit/100Mbps</a:t>
            </a:r>
            <a:r>
              <a:rPr lang="zh-CN" altLang="en-US" sz="2400" smtClean="0"/>
              <a:t>    </a:t>
            </a:r>
          </a:p>
          <a:p>
            <a:pPr eaLnBrk="1" hangingPunct="1">
              <a:lnSpc>
                <a:spcPct val="90000"/>
              </a:lnSpc>
            </a:pPr>
            <a:r>
              <a:rPr lang="en-US" altLang="zh-CN" sz="2400" smtClean="0"/>
              <a:t>P106 3-22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12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12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128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8128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8128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8128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919163" y="214313"/>
            <a:ext cx="8116887" cy="1462087"/>
          </a:xfrm>
        </p:spPr>
        <p:txBody>
          <a:bodyPr/>
          <a:lstStyle/>
          <a:p>
            <a:pPr algn="ctr" eaLnBrk="1" hangingPunct="1"/>
            <a:r>
              <a:rPr lang="zh-CN" altLang="en-US" smtClean="0"/>
              <a:t>三种不同的物理层标准 </a:t>
            </a:r>
          </a:p>
        </p:txBody>
      </p:sp>
      <p:sp>
        <p:nvSpPr>
          <p:cNvPr id="116739" name="Rectangle 3"/>
          <p:cNvSpPr>
            <a:spLocks noGrp="1" noChangeArrowheads="1"/>
          </p:cNvSpPr>
          <p:nvPr>
            <p:ph type="body" idx="1"/>
          </p:nvPr>
        </p:nvSpPr>
        <p:spPr>
          <a:xfrm>
            <a:off x="1042988" y="1978025"/>
            <a:ext cx="7772400" cy="4114800"/>
          </a:xfrm>
        </p:spPr>
        <p:txBody>
          <a:bodyPr/>
          <a:lstStyle/>
          <a:p>
            <a:pPr eaLnBrk="1" hangingPunct="1"/>
            <a:r>
              <a:rPr lang="en-US" altLang="zh-CN" smtClean="0"/>
              <a:t>100BASE-TX</a:t>
            </a:r>
          </a:p>
          <a:p>
            <a:pPr lvl="1" eaLnBrk="1" hangingPunct="1"/>
            <a:r>
              <a:rPr lang="zh-CN" altLang="en-US" smtClean="0">
                <a:solidFill>
                  <a:srgbClr val="333399"/>
                </a:solidFill>
                <a:latin typeface="Arial" pitchFamily="34" charset="0"/>
                <a:ea typeface="黑体" pitchFamily="49" charset="-122"/>
              </a:rPr>
              <a:t>使用 </a:t>
            </a:r>
            <a:r>
              <a:rPr lang="en-US" altLang="zh-CN" smtClean="0">
                <a:solidFill>
                  <a:srgbClr val="333399"/>
                </a:solidFill>
                <a:latin typeface="Arial" pitchFamily="34" charset="0"/>
                <a:ea typeface="黑体" pitchFamily="49" charset="-122"/>
              </a:rPr>
              <a:t>2 </a:t>
            </a:r>
            <a:r>
              <a:rPr lang="zh-CN" altLang="en-US" smtClean="0">
                <a:solidFill>
                  <a:srgbClr val="333399"/>
                </a:solidFill>
                <a:latin typeface="Arial" pitchFamily="34" charset="0"/>
                <a:ea typeface="黑体" pitchFamily="49" charset="-122"/>
              </a:rPr>
              <a:t>对 </a:t>
            </a:r>
            <a:r>
              <a:rPr lang="en-US" altLang="zh-CN" smtClean="0">
                <a:solidFill>
                  <a:srgbClr val="333399"/>
                </a:solidFill>
                <a:latin typeface="Arial" pitchFamily="34" charset="0"/>
                <a:ea typeface="黑体" pitchFamily="49" charset="-122"/>
              </a:rPr>
              <a:t>UTP</a:t>
            </a:r>
            <a:r>
              <a:rPr lang="zh-CN" altLang="en-US" smtClean="0">
                <a:solidFill>
                  <a:srgbClr val="333399"/>
                </a:solidFill>
                <a:latin typeface="Arial" pitchFamily="34" charset="0"/>
                <a:ea typeface="黑体" pitchFamily="49" charset="-122"/>
              </a:rPr>
              <a:t>（非屏蔽双绞线</a:t>
            </a:r>
            <a:r>
              <a:rPr lang="zh-CN" altLang="en-US" smtClean="0"/>
              <a:t> ）</a:t>
            </a:r>
            <a:r>
              <a:rPr lang="en-US" altLang="zh-CN" smtClean="0">
                <a:solidFill>
                  <a:srgbClr val="333399"/>
                </a:solidFill>
                <a:latin typeface="Arial" pitchFamily="34" charset="0"/>
                <a:ea typeface="黑体" pitchFamily="49" charset="-122"/>
              </a:rPr>
              <a:t>5 </a:t>
            </a:r>
            <a:r>
              <a:rPr lang="zh-CN" altLang="en-US" smtClean="0">
                <a:solidFill>
                  <a:srgbClr val="333399"/>
                </a:solidFill>
                <a:latin typeface="Arial" pitchFamily="34" charset="0"/>
                <a:ea typeface="黑体" pitchFamily="49" charset="-122"/>
              </a:rPr>
              <a:t>类线或屏蔽双绞线 </a:t>
            </a:r>
            <a:r>
              <a:rPr lang="en-US" altLang="zh-CN" smtClean="0">
                <a:solidFill>
                  <a:srgbClr val="333399"/>
                </a:solidFill>
                <a:latin typeface="Arial" pitchFamily="34" charset="0"/>
                <a:ea typeface="黑体" pitchFamily="49" charset="-122"/>
              </a:rPr>
              <a:t>STP</a:t>
            </a:r>
            <a:r>
              <a:rPr lang="zh-CN" altLang="en-US" smtClean="0">
                <a:solidFill>
                  <a:srgbClr val="333399"/>
                </a:solidFill>
                <a:latin typeface="Arial" pitchFamily="34" charset="0"/>
                <a:ea typeface="黑体" pitchFamily="49" charset="-122"/>
              </a:rPr>
              <a:t>。</a:t>
            </a:r>
            <a:r>
              <a:rPr lang="zh-CN" altLang="en-US" smtClean="0"/>
              <a:t>  </a:t>
            </a:r>
          </a:p>
          <a:p>
            <a:pPr eaLnBrk="1" hangingPunct="1"/>
            <a:r>
              <a:rPr lang="en-US" altLang="zh-CN" smtClean="0"/>
              <a:t>100BASE-FX </a:t>
            </a:r>
          </a:p>
          <a:p>
            <a:pPr lvl="1" eaLnBrk="1" hangingPunct="1"/>
            <a:r>
              <a:rPr lang="zh-CN" altLang="en-US" smtClean="0">
                <a:solidFill>
                  <a:srgbClr val="333399"/>
                </a:solidFill>
                <a:latin typeface="Arial" pitchFamily="34" charset="0"/>
                <a:ea typeface="黑体" pitchFamily="49" charset="-122"/>
              </a:rPr>
              <a:t>使用 </a:t>
            </a:r>
            <a:r>
              <a:rPr lang="en-US" altLang="zh-CN" smtClean="0">
                <a:solidFill>
                  <a:srgbClr val="333399"/>
                </a:solidFill>
                <a:latin typeface="Arial" pitchFamily="34" charset="0"/>
                <a:ea typeface="黑体" pitchFamily="49" charset="-122"/>
              </a:rPr>
              <a:t>2 </a:t>
            </a:r>
            <a:r>
              <a:rPr lang="zh-CN" altLang="en-US" smtClean="0">
                <a:solidFill>
                  <a:srgbClr val="333399"/>
                </a:solidFill>
                <a:latin typeface="Arial" pitchFamily="34" charset="0"/>
                <a:ea typeface="黑体" pitchFamily="49" charset="-122"/>
              </a:rPr>
              <a:t>对光纤。</a:t>
            </a:r>
            <a:r>
              <a:rPr lang="zh-CN" altLang="en-US" smtClean="0"/>
              <a:t> </a:t>
            </a:r>
          </a:p>
          <a:p>
            <a:pPr eaLnBrk="1" hangingPunct="1"/>
            <a:r>
              <a:rPr lang="en-US" altLang="zh-CN" smtClean="0"/>
              <a:t>100BASE-T4</a:t>
            </a:r>
          </a:p>
          <a:p>
            <a:pPr lvl="1" eaLnBrk="1" hangingPunct="1"/>
            <a:r>
              <a:rPr lang="zh-CN" altLang="en-US" smtClean="0">
                <a:solidFill>
                  <a:srgbClr val="333399"/>
                </a:solidFill>
                <a:latin typeface="Arial" pitchFamily="34" charset="0"/>
                <a:ea typeface="黑体" pitchFamily="49" charset="-122"/>
              </a:rPr>
              <a:t>使用 </a:t>
            </a:r>
            <a:r>
              <a:rPr lang="en-US" altLang="zh-CN" smtClean="0">
                <a:solidFill>
                  <a:srgbClr val="333399"/>
                </a:solidFill>
                <a:latin typeface="Arial" pitchFamily="34" charset="0"/>
                <a:ea typeface="黑体" pitchFamily="49" charset="-122"/>
              </a:rPr>
              <a:t>4 </a:t>
            </a:r>
            <a:r>
              <a:rPr lang="zh-CN" altLang="en-US" smtClean="0">
                <a:solidFill>
                  <a:srgbClr val="333399"/>
                </a:solidFill>
                <a:latin typeface="Arial" pitchFamily="34" charset="0"/>
                <a:ea typeface="黑体" pitchFamily="49" charset="-122"/>
              </a:rPr>
              <a:t>对 </a:t>
            </a:r>
            <a:r>
              <a:rPr lang="en-US" altLang="zh-CN" smtClean="0">
                <a:solidFill>
                  <a:srgbClr val="333399"/>
                </a:solidFill>
                <a:latin typeface="Arial" pitchFamily="34" charset="0"/>
                <a:ea typeface="黑体" pitchFamily="49" charset="-122"/>
              </a:rPr>
              <a:t>UTP 3 </a:t>
            </a:r>
            <a:r>
              <a:rPr lang="zh-CN" altLang="en-US" smtClean="0">
                <a:solidFill>
                  <a:srgbClr val="333399"/>
                </a:solidFill>
                <a:latin typeface="Arial" pitchFamily="34" charset="0"/>
                <a:ea typeface="黑体" pitchFamily="49" charset="-122"/>
              </a:rPr>
              <a:t>类线或 </a:t>
            </a:r>
            <a:r>
              <a:rPr lang="en-US" altLang="zh-CN" smtClean="0">
                <a:solidFill>
                  <a:srgbClr val="333399"/>
                </a:solidFill>
                <a:latin typeface="Arial" pitchFamily="34" charset="0"/>
                <a:ea typeface="黑体" pitchFamily="49" charset="-122"/>
              </a:rPr>
              <a:t>5 </a:t>
            </a:r>
            <a:r>
              <a:rPr lang="zh-CN" altLang="en-US" smtClean="0">
                <a:solidFill>
                  <a:srgbClr val="333399"/>
                </a:solidFill>
                <a:latin typeface="Arial" pitchFamily="34" charset="0"/>
                <a:ea typeface="黑体" pitchFamily="49" charset="-122"/>
              </a:rPr>
              <a:t>类线。</a:t>
            </a:r>
            <a:r>
              <a:rPr lang="zh-CN" altLang="en-US" smtClean="0"/>
              <a:t> </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919163" y="214313"/>
            <a:ext cx="8116887" cy="1462087"/>
          </a:xfrm>
        </p:spPr>
        <p:txBody>
          <a:bodyPr/>
          <a:lstStyle/>
          <a:p>
            <a:pPr algn="ctr" eaLnBrk="1" hangingPunct="1"/>
            <a:r>
              <a:rPr lang="en-US" altLang="zh-CN" smtClean="0"/>
              <a:t>3.6.2  </a:t>
            </a:r>
            <a:r>
              <a:rPr lang="zh-CN" altLang="en-US" smtClean="0"/>
              <a:t>吉比特以太网</a:t>
            </a:r>
          </a:p>
        </p:txBody>
      </p:sp>
      <p:sp>
        <p:nvSpPr>
          <p:cNvPr id="483331" name="Rectangle 3"/>
          <p:cNvSpPr>
            <a:spLocks noGrp="1" noChangeArrowheads="1"/>
          </p:cNvSpPr>
          <p:nvPr>
            <p:ph type="body" idx="1"/>
          </p:nvPr>
        </p:nvSpPr>
        <p:spPr>
          <a:xfrm>
            <a:off x="1042988" y="1978025"/>
            <a:ext cx="7772400" cy="4114800"/>
          </a:xfrm>
        </p:spPr>
        <p:txBody>
          <a:bodyPr/>
          <a:lstStyle/>
          <a:p>
            <a:pPr marL="609600" indent="-609600" eaLnBrk="1" hangingPunct="1">
              <a:lnSpc>
                <a:spcPct val="90000"/>
              </a:lnSpc>
            </a:pPr>
            <a:r>
              <a:rPr lang="zh-CN" altLang="en-US" smtClean="0"/>
              <a:t>允许在 </a:t>
            </a:r>
            <a:r>
              <a:rPr lang="en-US" altLang="zh-CN" smtClean="0"/>
              <a:t>1 Gb/s </a:t>
            </a:r>
            <a:r>
              <a:rPr lang="zh-CN" altLang="en-US" smtClean="0"/>
              <a:t>下全双工和半双工两种方式工作。</a:t>
            </a:r>
          </a:p>
          <a:p>
            <a:pPr marL="609600" indent="-609600" eaLnBrk="1" hangingPunct="1">
              <a:lnSpc>
                <a:spcPct val="90000"/>
              </a:lnSpc>
            </a:pPr>
            <a:r>
              <a:rPr lang="zh-CN" altLang="en-US" smtClean="0"/>
              <a:t>使用 </a:t>
            </a:r>
            <a:r>
              <a:rPr lang="en-US" altLang="zh-CN" smtClean="0"/>
              <a:t>802.3 </a:t>
            </a:r>
            <a:r>
              <a:rPr lang="zh-CN" altLang="en-US" smtClean="0"/>
              <a:t>协议规定的帧格式。</a:t>
            </a:r>
          </a:p>
          <a:p>
            <a:pPr marL="609600" indent="-609600" eaLnBrk="1" hangingPunct="1">
              <a:lnSpc>
                <a:spcPct val="90000"/>
              </a:lnSpc>
            </a:pPr>
            <a:r>
              <a:rPr lang="zh-CN" altLang="en-US" smtClean="0"/>
              <a:t>在半双工方式下使用 </a:t>
            </a:r>
            <a:r>
              <a:rPr lang="en-US" altLang="zh-CN" smtClean="0"/>
              <a:t>CSMA/CD </a:t>
            </a:r>
            <a:r>
              <a:rPr lang="zh-CN" altLang="en-US" smtClean="0"/>
              <a:t>协议（全双工方式不需要使用 </a:t>
            </a:r>
            <a:r>
              <a:rPr lang="en-US" altLang="zh-CN" smtClean="0"/>
              <a:t>CSMA/CD </a:t>
            </a:r>
            <a:r>
              <a:rPr lang="zh-CN" altLang="en-US" smtClean="0"/>
              <a:t>协议）。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3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33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919163" y="214313"/>
            <a:ext cx="8116887" cy="1462087"/>
          </a:xfrm>
        </p:spPr>
        <p:txBody>
          <a:bodyPr/>
          <a:lstStyle/>
          <a:p>
            <a:pPr algn="ctr" eaLnBrk="1" hangingPunct="1"/>
            <a:r>
              <a:rPr lang="zh-CN" altLang="en-US" smtClean="0"/>
              <a:t>吉比特以太网的物理层 </a:t>
            </a:r>
          </a:p>
        </p:txBody>
      </p:sp>
      <p:sp>
        <p:nvSpPr>
          <p:cNvPr id="118787" name="Rectangle 3"/>
          <p:cNvSpPr>
            <a:spLocks noGrp="1" noChangeArrowheads="1"/>
          </p:cNvSpPr>
          <p:nvPr>
            <p:ph type="body" idx="1"/>
          </p:nvPr>
        </p:nvSpPr>
        <p:spPr>
          <a:xfrm>
            <a:off x="1042988" y="1978025"/>
            <a:ext cx="7772400" cy="4114800"/>
          </a:xfrm>
        </p:spPr>
        <p:txBody>
          <a:bodyPr/>
          <a:lstStyle/>
          <a:p>
            <a:pPr marL="609600" indent="-609600" eaLnBrk="1" hangingPunct="1"/>
            <a:r>
              <a:rPr lang="en-US" altLang="zh-CN" smtClean="0"/>
              <a:t>1000BASE-X      </a:t>
            </a:r>
            <a:r>
              <a:rPr lang="zh-CN" altLang="en-US" smtClean="0"/>
              <a:t>基于光纤通道的物理层：</a:t>
            </a:r>
          </a:p>
          <a:p>
            <a:pPr marL="990600" lvl="1" indent="-533400" eaLnBrk="1" hangingPunct="1"/>
            <a:r>
              <a:rPr lang="en-US" altLang="zh-CN" smtClean="0">
                <a:solidFill>
                  <a:srgbClr val="333399"/>
                </a:solidFill>
                <a:latin typeface="Arial" pitchFamily="34" charset="0"/>
                <a:ea typeface="黑体" pitchFamily="49" charset="-122"/>
              </a:rPr>
              <a:t>1000BASE-SX   SX</a:t>
            </a:r>
            <a:r>
              <a:rPr lang="zh-CN" altLang="en-US" smtClean="0">
                <a:solidFill>
                  <a:srgbClr val="333399"/>
                </a:solidFill>
                <a:latin typeface="Arial" pitchFamily="34" charset="0"/>
                <a:ea typeface="黑体" pitchFamily="49" charset="-122"/>
              </a:rPr>
              <a:t>表示短波长</a:t>
            </a:r>
          </a:p>
          <a:p>
            <a:pPr marL="990600" lvl="1" indent="-533400" eaLnBrk="1" hangingPunct="1"/>
            <a:r>
              <a:rPr lang="en-US" altLang="zh-CN" smtClean="0">
                <a:solidFill>
                  <a:srgbClr val="333399"/>
                </a:solidFill>
                <a:latin typeface="Arial" pitchFamily="34" charset="0"/>
                <a:ea typeface="黑体" pitchFamily="49" charset="-122"/>
              </a:rPr>
              <a:t>1000BASE-LX   LX</a:t>
            </a:r>
            <a:r>
              <a:rPr lang="zh-CN" altLang="en-US" smtClean="0">
                <a:solidFill>
                  <a:srgbClr val="333399"/>
                </a:solidFill>
                <a:latin typeface="Arial" pitchFamily="34" charset="0"/>
                <a:ea typeface="黑体" pitchFamily="49" charset="-122"/>
              </a:rPr>
              <a:t>表示长波长</a:t>
            </a:r>
          </a:p>
          <a:p>
            <a:pPr marL="609600" indent="-609600" eaLnBrk="1" hangingPunct="1"/>
            <a:r>
              <a:rPr lang="en-US" altLang="zh-CN" smtClean="0"/>
              <a:t>1000BASE-CX   CX</a:t>
            </a:r>
            <a:r>
              <a:rPr lang="zh-CN" altLang="en-US" smtClean="0"/>
              <a:t>表示铜线</a:t>
            </a:r>
          </a:p>
          <a:p>
            <a:pPr marL="609600" indent="-609600" eaLnBrk="1" hangingPunct="1"/>
            <a:r>
              <a:rPr lang="en-US" altLang="zh-CN" smtClean="0"/>
              <a:t>1000BASE-T </a:t>
            </a:r>
          </a:p>
          <a:p>
            <a:pPr marL="990600" lvl="1" indent="-533400" eaLnBrk="1" hangingPunct="1"/>
            <a:r>
              <a:rPr lang="zh-CN" altLang="en-US" smtClean="0">
                <a:solidFill>
                  <a:srgbClr val="333399"/>
                </a:solidFill>
                <a:latin typeface="Arial" pitchFamily="34" charset="0"/>
                <a:ea typeface="黑体" pitchFamily="49" charset="-122"/>
              </a:rPr>
              <a:t>使用 </a:t>
            </a:r>
            <a:r>
              <a:rPr lang="en-US" altLang="zh-CN" smtClean="0">
                <a:solidFill>
                  <a:srgbClr val="333399"/>
                </a:solidFill>
                <a:latin typeface="Arial" pitchFamily="34" charset="0"/>
                <a:ea typeface="黑体" pitchFamily="49" charset="-122"/>
              </a:rPr>
              <a:t>4</a:t>
            </a:r>
            <a:r>
              <a:rPr lang="zh-CN" altLang="en-US" smtClean="0">
                <a:solidFill>
                  <a:srgbClr val="333399"/>
                </a:solidFill>
                <a:latin typeface="Arial" pitchFamily="34" charset="0"/>
                <a:ea typeface="黑体" pitchFamily="49" charset="-122"/>
              </a:rPr>
              <a:t>对 </a:t>
            </a:r>
            <a:r>
              <a:rPr lang="en-US" altLang="zh-CN" smtClean="0">
                <a:solidFill>
                  <a:srgbClr val="333399"/>
                </a:solidFill>
                <a:latin typeface="Arial" pitchFamily="34" charset="0"/>
                <a:ea typeface="黑体" pitchFamily="49" charset="-122"/>
              </a:rPr>
              <a:t>5 </a:t>
            </a:r>
            <a:r>
              <a:rPr lang="zh-CN" altLang="en-US" smtClean="0">
                <a:solidFill>
                  <a:srgbClr val="333399"/>
                </a:solidFill>
                <a:latin typeface="Arial" pitchFamily="34" charset="0"/>
                <a:ea typeface="黑体" pitchFamily="49" charset="-122"/>
              </a:rPr>
              <a:t>类线 </a:t>
            </a:r>
            <a:r>
              <a:rPr lang="en-US" altLang="zh-CN" smtClean="0">
                <a:solidFill>
                  <a:srgbClr val="333399"/>
                </a:solidFill>
                <a:latin typeface="Arial" pitchFamily="34" charset="0"/>
                <a:ea typeface="黑体" pitchFamily="49" charset="-122"/>
              </a:rPr>
              <a:t>UTP</a:t>
            </a:r>
            <a:r>
              <a:rPr lang="en-US" altLang="zh-CN" smtClean="0"/>
              <a:t> </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919163" y="214313"/>
            <a:ext cx="8116887" cy="1462087"/>
          </a:xfrm>
        </p:spPr>
        <p:txBody>
          <a:bodyPr/>
          <a:lstStyle/>
          <a:p>
            <a:pPr algn="ctr" eaLnBrk="1" hangingPunct="1"/>
            <a:r>
              <a:rPr lang="en-US" altLang="zh-CN" smtClean="0"/>
              <a:t>3.6.3   10</a:t>
            </a:r>
            <a:r>
              <a:rPr lang="en-US" altLang="zh-CN" sz="2800" smtClean="0"/>
              <a:t> </a:t>
            </a:r>
            <a:r>
              <a:rPr lang="zh-CN" altLang="en-US" smtClean="0"/>
              <a:t>吉比特以太网</a:t>
            </a:r>
          </a:p>
        </p:txBody>
      </p:sp>
      <p:sp>
        <p:nvSpPr>
          <p:cNvPr id="490499" name="Rectangle 3"/>
          <p:cNvSpPr>
            <a:spLocks noGrp="1" noChangeArrowheads="1"/>
          </p:cNvSpPr>
          <p:nvPr>
            <p:ph type="body" idx="1"/>
          </p:nvPr>
        </p:nvSpPr>
        <p:spPr>
          <a:xfrm>
            <a:off x="1042988" y="1773238"/>
            <a:ext cx="7416800" cy="4608512"/>
          </a:xfrm>
        </p:spPr>
        <p:txBody>
          <a:bodyPr/>
          <a:lstStyle/>
          <a:p>
            <a:pPr eaLnBrk="1" hangingPunct="1"/>
            <a:r>
              <a:rPr lang="en-US" altLang="zh-CN" sz="2800" smtClean="0"/>
              <a:t>10 </a:t>
            </a:r>
            <a:r>
              <a:rPr lang="zh-CN" altLang="en-US" sz="2800" smtClean="0"/>
              <a:t>吉比特以太网与 </a:t>
            </a:r>
            <a:r>
              <a:rPr lang="en-US" altLang="zh-CN" sz="2800" smtClean="0"/>
              <a:t>10 Mb/s</a:t>
            </a:r>
            <a:r>
              <a:rPr lang="zh-CN" altLang="en-US" sz="2800" smtClean="0"/>
              <a:t>，</a:t>
            </a:r>
            <a:r>
              <a:rPr lang="en-US" altLang="zh-CN" sz="2800" smtClean="0"/>
              <a:t>100 Mb/s </a:t>
            </a:r>
            <a:r>
              <a:rPr lang="zh-CN" altLang="en-US" sz="2800" smtClean="0"/>
              <a:t>和 </a:t>
            </a:r>
            <a:r>
              <a:rPr lang="en-US" altLang="zh-CN" sz="2800" smtClean="0"/>
              <a:t>1 Gb/s </a:t>
            </a:r>
            <a:r>
              <a:rPr lang="zh-CN" altLang="en-US" sz="2800" smtClean="0"/>
              <a:t>以太网的帧格式完全相同。</a:t>
            </a:r>
          </a:p>
          <a:p>
            <a:pPr eaLnBrk="1" hangingPunct="1"/>
            <a:r>
              <a:rPr lang="en-US" altLang="zh-CN" sz="2800" smtClean="0"/>
              <a:t>10 </a:t>
            </a:r>
            <a:r>
              <a:rPr lang="zh-CN" altLang="en-US" sz="2800" smtClean="0"/>
              <a:t>吉比特以太网还保留了 </a:t>
            </a:r>
            <a:r>
              <a:rPr lang="en-US" altLang="zh-CN" sz="2800" smtClean="0"/>
              <a:t>802.3 </a:t>
            </a:r>
            <a:r>
              <a:rPr lang="zh-CN" altLang="en-US" sz="2800" smtClean="0"/>
              <a:t>标准规定的以太网最小和最大帧长，便于升级。</a:t>
            </a:r>
          </a:p>
          <a:p>
            <a:pPr eaLnBrk="1" hangingPunct="1"/>
            <a:r>
              <a:rPr lang="en-US" altLang="zh-CN" sz="2800" smtClean="0"/>
              <a:t>10 </a:t>
            </a:r>
            <a:r>
              <a:rPr lang="zh-CN" altLang="en-US" sz="2800" smtClean="0"/>
              <a:t>吉比特以太网不再使用铜线而只使用光纤作为传输媒体。</a:t>
            </a:r>
          </a:p>
          <a:p>
            <a:pPr eaLnBrk="1" hangingPunct="1"/>
            <a:r>
              <a:rPr lang="en-US" altLang="zh-CN" sz="2800" smtClean="0"/>
              <a:t>10 </a:t>
            </a:r>
            <a:r>
              <a:rPr lang="zh-CN" altLang="en-US" sz="2800" smtClean="0"/>
              <a:t>吉比特以太网</a:t>
            </a:r>
            <a:r>
              <a:rPr lang="zh-CN" altLang="en-US" sz="2800" smtClean="0">
                <a:solidFill>
                  <a:schemeClr val="hlink"/>
                </a:solidFill>
              </a:rPr>
              <a:t>只工作在全双工方式</a:t>
            </a:r>
            <a:r>
              <a:rPr lang="zh-CN" altLang="en-US" sz="2800" smtClean="0"/>
              <a:t>，因此没有争用问题，也不使用 </a:t>
            </a:r>
            <a:r>
              <a:rPr lang="en-US" altLang="zh-CN" sz="2800" smtClean="0"/>
              <a:t>CSMA/CD </a:t>
            </a:r>
            <a:r>
              <a:rPr lang="zh-CN" altLang="en-US" sz="2800" smtClean="0"/>
              <a:t>协议。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04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9049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90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内容占位符 2"/>
          <p:cNvSpPr>
            <a:spLocks noGrp="1"/>
          </p:cNvSpPr>
          <p:nvPr>
            <p:ph idx="1"/>
          </p:nvPr>
        </p:nvSpPr>
        <p:spPr>
          <a:xfrm>
            <a:off x="1371600" y="33338"/>
            <a:ext cx="7521575" cy="1666875"/>
          </a:xfrm>
        </p:spPr>
        <p:txBody>
          <a:bodyPr/>
          <a:lstStyle/>
          <a:p>
            <a:r>
              <a:rPr lang="en-US" altLang="zh-CN" sz="2000" b="1" smtClean="0"/>
              <a:t>3-32</a:t>
            </a:r>
            <a:r>
              <a:rPr lang="zh-CN" altLang="zh-CN" sz="2000" b="1" smtClean="0"/>
              <a:t>现有五个站分别连接在三个局域网上，并且用两个透明网桥连接起来，如下图所示。每一个网桥的两个端口号都标明在图上。在一开始，两个网桥中的转发表都是空的。以后有以下各站向其他的站发送了数据帧，即</a:t>
            </a:r>
            <a:r>
              <a:rPr lang="en-US" altLang="zh-CN" sz="2000" b="1" smtClean="0"/>
              <a:t>H1</a:t>
            </a:r>
            <a:r>
              <a:rPr lang="zh-CN" altLang="zh-CN" sz="2000" b="1" smtClean="0"/>
              <a:t>发送给</a:t>
            </a:r>
            <a:r>
              <a:rPr lang="en-US" altLang="zh-CN" sz="2000" b="1" smtClean="0"/>
              <a:t>H5</a:t>
            </a:r>
            <a:r>
              <a:rPr lang="zh-CN" altLang="zh-CN" sz="2000" b="1" smtClean="0"/>
              <a:t>，</a:t>
            </a:r>
            <a:r>
              <a:rPr lang="en-US" altLang="zh-CN" sz="2000" b="1" smtClean="0"/>
              <a:t>H3</a:t>
            </a:r>
            <a:r>
              <a:rPr lang="zh-CN" altLang="zh-CN" sz="2000" b="1" smtClean="0"/>
              <a:t>发送给</a:t>
            </a:r>
            <a:r>
              <a:rPr lang="en-US" altLang="zh-CN" sz="2000" b="1" smtClean="0"/>
              <a:t>H2</a:t>
            </a:r>
            <a:r>
              <a:rPr lang="zh-CN" altLang="zh-CN" sz="2000" b="1" smtClean="0"/>
              <a:t>，</a:t>
            </a:r>
            <a:r>
              <a:rPr lang="en-US" altLang="zh-CN" sz="2000" b="1" smtClean="0"/>
              <a:t>H4</a:t>
            </a:r>
            <a:r>
              <a:rPr lang="zh-CN" altLang="zh-CN" sz="2000" b="1" smtClean="0"/>
              <a:t>发送给</a:t>
            </a:r>
            <a:r>
              <a:rPr lang="en-US" altLang="zh-CN" sz="2000" b="1" smtClean="0"/>
              <a:t>H3</a:t>
            </a:r>
            <a:r>
              <a:rPr lang="zh-CN" altLang="zh-CN" sz="2000" b="1" smtClean="0"/>
              <a:t>，</a:t>
            </a:r>
            <a:r>
              <a:rPr lang="en-US" altLang="zh-CN" sz="2000" b="1" smtClean="0"/>
              <a:t>H2</a:t>
            </a:r>
            <a:r>
              <a:rPr lang="zh-CN" altLang="zh-CN" sz="2000" b="1" smtClean="0"/>
              <a:t>发送给</a:t>
            </a:r>
            <a:r>
              <a:rPr lang="en-US" altLang="zh-CN" sz="2000" b="1" smtClean="0"/>
              <a:t>H1</a:t>
            </a:r>
            <a:r>
              <a:rPr lang="zh-CN" altLang="zh-CN" sz="2000" b="1" smtClean="0"/>
              <a:t>。试将有关数据填写在下表中</a:t>
            </a:r>
            <a:endParaRPr lang="zh-CN" altLang="zh-CN" sz="2000" smtClean="0"/>
          </a:p>
          <a:p>
            <a:endParaRPr lang="zh-CN" altLang="en-US" smtClean="0"/>
          </a:p>
        </p:txBody>
      </p:sp>
      <p:sp>
        <p:nvSpPr>
          <p:cNvPr id="12083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20836" name="对象 4"/>
          <p:cNvGraphicFramePr>
            <a:graphicFrameLocks noChangeAspect="1"/>
          </p:cNvGraphicFramePr>
          <p:nvPr/>
        </p:nvGraphicFramePr>
        <p:xfrm>
          <a:off x="1476375" y="1773238"/>
          <a:ext cx="7112000" cy="2016125"/>
        </p:xfrm>
        <a:graphic>
          <a:graphicData uri="http://schemas.openxmlformats.org/presentationml/2006/ole">
            <mc:AlternateContent xmlns:mc="http://schemas.openxmlformats.org/markup-compatibility/2006">
              <mc:Choice xmlns:v="urn:schemas-microsoft-com:vml" Requires="v">
                <p:oleObj spid="_x0000_s120891" r:id="rId3" imgW="5453280" imgH="1775520" progId="Visio.Drawing.6">
                  <p:embed/>
                </p:oleObj>
              </mc:Choice>
              <mc:Fallback>
                <p:oleObj r:id="rId3" imgW="5453280" imgH="1775520" progId="Visio.Drawing.6">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773238"/>
                        <a:ext cx="7112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表格 5"/>
          <p:cNvGraphicFramePr>
            <a:graphicFrameLocks noGrp="1"/>
          </p:cNvGraphicFramePr>
          <p:nvPr/>
        </p:nvGraphicFramePr>
        <p:xfrm>
          <a:off x="125413" y="4149725"/>
          <a:ext cx="8893175" cy="2592388"/>
        </p:xfrm>
        <a:graphic>
          <a:graphicData uri="http://schemas.openxmlformats.org/drawingml/2006/table">
            <a:tbl>
              <a:tblPr/>
              <a:tblGrid>
                <a:gridCol w="1275341">
                  <a:extLst>
                    <a:ext uri="{9D8B030D-6E8A-4147-A177-3AD203B41FA5}">
                      <a16:colId xmlns:a16="http://schemas.microsoft.com/office/drawing/2014/main" val="20000"/>
                    </a:ext>
                  </a:extLst>
                </a:gridCol>
                <a:gridCol w="1267858">
                  <a:extLst>
                    <a:ext uri="{9D8B030D-6E8A-4147-A177-3AD203B41FA5}">
                      <a16:colId xmlns:a16="http://schemas.microsoft.com/office/drawing/2014/main" val="20001"/>
                    </a:ext>
                  </a:extLst>
                </a:gridCol>
                <a:gridCol w="1154541">
                  <a:extLst>
                    <a:ext uri="{9D8B030D-6E8A-4147-A177-3AD203B41FA5}">
                      <a16:colId xmlns:a16="http://schemas.microsoft.com/office/drawing/2014/main" val="20002"/>
                    </a:ext>
                  </a:extLst>
                </a:gridCol>
                <a:gridCol w="1154541">
                  <a:extLst>
                    <a:ext uri="{9D8B030D-6E8A-4147-A177-3AD203B41FA5}">
                      <a16:colId xmlns:a16="http://schemas.microsoft.com/office/drawing/2014/main" val="20003"/>
                    </a:ext>
                  </a:extLst>
                </a:gridCol>
                <a:gridCol w="769694">
                  <a:extLst>
                    <a:ext uri="{9D8B030D-6E8A-4147-A177-3AD203B41FA5}">
                      <a16:colId xmlns:a16="http://schemas.microsoft.com/office/drawing/2014/main" val="20004"/>
                    </a:ext>
                  </a:extLst>
                </a:gridCol>
                <a:gridCol w="1731811">
                  <a:extLst>
                    <a:ext uri="{9D8B030D-6E8A-4147-A177-3AD203B41FA5}">
                      <a16:colId xmlns:a16="http://schemas.microsoft.com/office/drawing/2014/main" val="20005"/>
                    </a:ext>
                  </a:extLst>
                </a:gridCol>
                <a:gridCol w="1539389">
                  <a:extLst>
                    <a:ext uri="{9D8B030D-6E8A-4147-A177-3AD203B41FA5}">
                      <a16:colId xmlns:a16="http://schemas.microsoft.com/office/drawing/2014/main" val="20006"/>
                    </a:ext>
                  </a:extLst>
                </a:gridCol>
              </a:tblGrid>
              <a:tr h="370341">
                <a:tc rowSpan="2">
                  <a:txBody>
                    <a:bodyPr/>
                    <a:lstStyle/>
                    <a:p>
                      <a:pPr algn="ctr">
                        <a:spcAft>
                          <a:spcPts val="0"/>
                        </a:spcAft>
                      </a:pPr>
                      <a:r>
                        <a:rPr lang="zh-CN" sz="1600" kern="100" dirty="0">
                          <a:effectLst/>
                          <a:latin typeface="Times New Roman"/>
                          <a:ea typeface="宋体"/>
                        </a:rPr>
                        <a:t>发送的帧</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zh-CN" sz="1600" kern="100">
                          <a:effectLst/>
                          <a:latin typeface="Times New Roman"/>
                          <a:ea typeface="宋体"/>
                        </a:rPr>
                        <a:t>网桥</a:t>
                      </a:r>
                      <a:r>
                        <a:rPr lang="en-US" sz="1600" kern="100">
                          <a:effectLst/>
                          <a:latin typeface="Times New Roman"/>
                          <a:ea typeface="宋体"/>
                        </a:rPr>
                        <a:t>1</a:t>
                      </a:r>
                      <a:r>
                        <a:rPr lang="zh-CN" sz="1600" kern="100">
                          <a:effectLst/>
                          <a:latin typeface="Times New Roman"/>
                          <a:ea typeface="宋体"/>
                        </a:rPr>
                        <a:t>的转发表</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a:spcAft>
                          <a:spcPts val="0"/>
                        </a:spcAft>
                      </a:pPr>
                      <a:r>
                        <a:rPr lang="zh-CN" sz="1600" kern="100">
                          <a:effectLst/>
                          <a:latin typeface="Times New Roman"/>
                          <a:ea typeface="宋体"/>
                        </a:rPr>
                        <a:t>网桥</a:t>
                      </a:r>
                      <a:r>
                        <a:rPr lang="en-US" sz="1600" kern="100">
                          <a:effectLst/>
                          <a:latin typeface="Times New Roman"/>
                          <a:ea typeface="宋体"/>
                        </a:rPr>
                        <a:t>2</a:t>
                      </a:r>
                      <a:r>
                        <a:rPr lang="zh-CN" sz="1600" kern="100">
                          <a:effectLst/>
                          <a:latin typeface="Times New Roman"/>
                          <a:ea typeface="宋体"/>
                        </a:rPr>
                        <a:t>的转发表</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marL="92075" indent="-160020" algn="ctr">
                        <a:spcAft>
                          <a:spcPts val="0"/>
                        </a:spcAft>
                      </a:pPr>
                      <a:r>
                        <a:rPr lang="zh-CN" sz="1600" kern="100">
                          <a:effectLst/>
                          <a:latin typeface="Times New Roman"/>
                          <a:ea typeface="宋体"/>
                        </a:rPr>
                        <a:t>网桥</a:t>
                      </a:r>
                      <a:r>
                        <a:rPr lang="en-US" sz="1600" kern="100">
                          <a:effectLst/>
                          <a:latin typeface="Times New Roman"/>
                          <a:ea typeface="宋体"/>
                        </a:rPr>
                        <a:t>1</a:t>
                      </a:r>
                      <a:r>
                        <a:rPr lang="zh-CN" sz="1600" kern="100">
                          <a:effectLst/>
                          <a:latin typeface="Times New Roman"/>
                          <a:ea typeface="宋体"/>
                        </a:rPr>
                        <a:t>的处理</a:t>
                      </a:r>
                    </a:p>
                    <a:p>
                      <a:pPr marL="92075" indent="-160020" algn="ctr">
                        <a:spcAft>
                          <a:spcPts val="0"/>
                        </a:spcAft>
                      </a:pPr>
                      <a:r>
                        <a:rPr lang="zh-CN" sz="1600" kern="100">
                          <a:effectLst/>
                          <a:latin typeface="Times New Roman"/>
                          <a:ea typeface="宋体"/>
                        </a:rPr>
                        <a:t>（转发？丢弃？登记？）</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zh-CN" sz="1600" kern="100">
                          <a:effectLst/>
                          <a:latin typeface="Times New Roman"/>
                          <a:ea typeface="宋体"/>
                        </a:rPr>
                        <a:t>网桥</a:t>
                      </a:r>
                      <a:r>
                        <a:rPr lang="en-US" sz="1600" kern="100">
                          <a:effectLst/>
                          <a:latin typeface="Times New Roman"/>
                          <a:ea typeface="宋体"/>
                        </a:rPr>
                        <a:t>2</a:t>
                      </a:r>
                      <a:r>
                        <a:rPr lang="zh-CN" sz="1600" kern="100">
                          <a:effectLst/>
                          <a:latin typeface="Times New Roman"/>
                          <a:ea typeface="宋体"/>
                        </a:rPr>
                        <a:t>的处理</a:t>
                      </a:r>
                    </a:p>
                    <a:p>
                      <a:pPr algn="just">
                        <a:spcAft>
                          <a:spcPts val="0"/>
                        </a:spcAft>
                      </a:pPr>
                      <a:r>
                        <a:rPr lang="zh-CN" sz="1600" kern="100">
                          <a:effectLst/>
                          <a:latin typeface="Times New Roman"/>
                          <a:ea typeface="宋体"/>
                        </a:rPr>
                        <a:t>（转发？丢弃？登记？）</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40682">
                <a:tc vMerge="1">
                  <a:txBody>
                    <a:bodyPr/>
                    <a:lstStyle/>
                    <a:p>
                      <a:endParaRPr lang="zh-CN" altLang="en-US"/>
                    </a:p>
                  </a:txBody>
                  <a:tcPr/>
                </a:tc>
                <a:tc>
                  <a:txBody>
                    <a:bodyPr/>
                    <a:lstStyle/>
                    <a:p>
                      <a:pPr algn="ctr">
                        <a:spcAft>
                          <a:spcPts val="0"/>
                        </a:spcAft>
                      </a:pPr>
                      <a:r>
                        <a:rPr lang="zh-CN" sz="1600" kern="100">
                          <a:effectLst/>
                          <a:latin typeface="Times New Roman"/>
                          <a:ea typeface="宋体"/>
                        </a:rPr>
                        <a:t>站地址</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Times New Roman"/>
                          <a:ea typeface="宋体"/>
                        </a:rPr>
                        <a:t>端口</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Times New Roman"/>
                          <a:ea typeface="宋体"/>
                        </a:rPr>
                        <a:t>站地址</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Times New Roman"/>
                          <a:ea typeface="宋体"/>
                        </a:rPr>
                        <a:t>端口</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370341">
                <a:tc>
                  <a:txBody>
                    <a:bodyPr/>
                    <a:lstStyle/>
                    <a:p>
                      <a:pPr algn="ctr">
                        <a:spcAft>
                          <a:spcPts val="0"/>
                        </a:spcAft>
                      </a:pPr>
                      <a:r>
                        <a:rPr lang="en-US" sz="1600" kern="100">
                          <a:effectLst/>
                          <a:latin typeface="宋体"/>
                          <a:ea typeface="宋体"/>
                        </a:rPr>
                        <a:t>H1</a:t>
                      </a:r>
                      <a:r>
                        <a:rPr lang="en-US" sz="1600" kern="100">
                          <a:effectLst/>
                          <a:latin typeface="宋体"/>
                          <a:ea typeface="宋体"/>
                          <a:sym typeface="Wingdings"/>
                        </a:rPr>
                        <a:t></a:t>
                      </a:r>
                      <a:r>
                        <a:rPr lang="en-US" sz="1600" kern="100">
                          <a:effectLst/>
                          <a:latin typeface="宋体"/>
                          <a:ea typeface="宋体"/>
                        </a:rPr>
                        <a:t>H5</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0341">
                <a:tc>
                  <a:txBody>
                    <a:bodyPr/>
                    <a:lstStyle/>
                    <a:p>
                      <a:pPr algn="ctr">
                        <a:spcAft>
                          <a:spcPts val="0"/>
                        </a:spcAft>
                      </a:pPr>
                      <a:r>
                        <a:rPr lang="en-US" sz="1600" kern="100">
                          <a:effectLst/>
                          <a:latin typeface="宋体"/>
                          <a:ea typeface="宋体"/>
                        </a:rPr>
                        <a:t>H3</a:t>
                      </a:r>
                      <a:r>
                        <a:rPr lang="en-US" sz="1600" kern="100">
                          <a:effectLst/>
                          <a:latin typeface="宋体"/>
                          <a:ea typeface="宋体"/>
                          <a:sym typeface="Wingdings"/>
                        </a:rPr>
                        <a:t></a:t>
                      </a:r>
                      <a:r>
                        <a:rPr lang="en-US" sz="1600" kern="100">
                          <a:effectLst/>
                          <a:latin typeface="宋体"/>
                          <a:ea typeface="宋体"/>
                        </a:rPr>
                        <a:t>H2</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宋体"/>
                          <a:ea typeface="宋体"/>
                        </a:rPr>
                        <a:t> </a:t>
                      </a:r>
                      <a:endParaRPr lang="zh-CN" sz="1600" kern="100" dirty="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0341">
                <a:tc>
                  <a:txBody>
                    <a:bodyPr/>
                    <a:lstStyle/>
                    <a:p>
                      <a:pPr algn="ctr">
                        <a:spcAft>
                          <a:spcPts val="0"/>
                        </a:spcAft>
                      </a:pPr>
                      <a:r>
                        <a:rPr lang="en-US" sz="1600" kern="100">
                          <a:effectLst/>
                          <a:latin typeface="宋体"/>
                          <a:ea typeface="宋体"/>
                        </a:rPr>
                        <a:t>H4</a:t>
                      </a:r>
                      <a:r>
                        <a:rPr lang="en-US" sz="1600" kern="100">
                          <a:effectLst/>
                          <a:latin typeface="宋体"/>
                          <a:ea typeface="宋体"/>
                          <a:sym typeface="Wingdings"/>
                        </a:rPr>
                        <a:t></a:t>
                      </a:r>
                      <a:r>
                        <a:rPr lang="en-US" sz="1600" kern="100">
                          <a:effectLst/>
                          <a:latin typeface="宋体"/>
                          <a:ea typeface="宋体"/>
                        </a:rPr>
                        <a:t>H3</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0341">
                <a:tc>
                  <a:txBody>
                    <a:bodyPr/>
                    <a:lstStyle/>
                    <a:p>
                      <a:pPr algn="ctr">
                        <a:spcAft>
                          <a:spcPts val="0"/>
                        </a:spcAft>
                      </a:pPr>
                      <a:r>
                        <a:rPr lang="en-US" sz="1600" kern="100">
                          <a:effectLst/>
                          <a:latin typeface="宋体"/>
                          <a:ea typeface="宋体"/>
                        </a:rPr>
                        <a:t>H2</a:t>
                      </a:r>
                      <a:r>
                        <a:rPr lang="en-US" sz="1600" kern="100">
                          <a:effectLst/>
                          <a:latin typeface="宋体"/>
                          <a:ea typeface="宋体"/>
                          <a:sym typeface="Wingdings"/>
                        </a:rPr>
                        <a:t></a:t>
                      </a:r>
                      <a:r>
                        <a:rPr lang="en-US" sz="1600" kern="100">
                          <a:effectLst/>
                          <a:latin typeface="宋体"/>
                          <a:ea typeface="宋体"/>
                        </a:rPr>
                        <a:t>H1</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a:ea typeface="宋体"/>
                        </a:rPr>
                        <a:t> </a:t>
                      </a:r>
                      <a:endParaRPr lang="zh-CN" sz="1600" kern="10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宋体"/>
                          <a:ea typeface="宋体"/>
                        </a:rPr>
                        <a:t> </a:t>
                      </a:r>
                      <a:endParaRPr lang="zh-CN" sz="1600" kern="100" dirty="0">
                        <a:effectLst/>
                        <a:latin typeface="Times New Roman"/>
                        <a:ea typeface="宋体"/>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
          <p:cNvSpPr>
            <a:spLocks noGrp="1"/>
          </p:cNvSpPr>
          <p:nvPr>
            <p:ph type="title"/>
          </p:nvPr>
        </p:nvSpPr>
        <p:spPr/>
        <p:txBody>
          <a:bodyPr/>
          <a:lstStyle/>
          <a:p>
            <a:endParaRPr lang="zh-CN" altLang="en-US" smtClean="0"/>
          </a:p>
        </p:txBody>
      </p:sp>
      <p:sp>
        <p:nvSpPr>
          <p:cNvPr id="121859" name="内容占位符 2"/>
          <p:cNvSpPr>
            <a:spLocks noGrp="1"/>
          </p:cNvSpPr>
          <p:nvPr>
            <p:ph idx="1"/>
          </p:nvPr>
        </p:nvSpPr>
        <p:spPr/>
        <p:txBody>
          <a:bodyPr/>
          <a:lstStyle/>
          <a:p>
            <a:r>
              <a:rPr lang="en-US" altLang="zh-CN" sz="2000" b="1" smtClean="0"/>
              <a:t>3-28 </a:t>
            </a:r>
            <a:r>
              <a:rPr lang="zh-CN" altLang="zh-CN" sz="2000" b="1" smtClean="0"/>
              <a:t>有</a:t>
            </a:r>
            <a:r>
              <a:rPr lang="en-US" altLang="zh-CN" sz="2000" b="1" smtClean="0"/>
              <a:t>10</a:t>
            </a:r>
            <a:r>
              <a:rPr lang="zh-CN" altLang="zh-CN" sz="2000" b="1" smtClean="0"/>
              <a:t>个站连接到以太网上，试计算以下三种情况下每一个站所能得到带宽。　　</a:t>
            </a:r>
            <a:endParaRPr lang="zh-CN" altLang="zh-CN" sz="2000" smtClean="0"/>
          </a:p>
          <a:p>
            <a:r>
              <a:rPr lang="zh-CN" altLang="zh-CN" sz="2000" b="1" smtClean="0"/>
              <a:t>（</a:t>
            </a:r>
            <a:r>
              <a:rPr lang="en-US" altLang="zh-CN" sz="2000" b="1" smtClean="0"/>
              <a:t>1</a:t>
            </a:r>
            <a:r>
              <a:rPr lang="zh-CN" altLang="zh-CN" sz="2000" b="1" smtClean="0"/>
              <a:t>）</a:t>
            </a:r>
            <a:r>
              <a:rPr lang="en-US" altLang="zh-CN" sz="2000" b="1" smtClean="0"/>
              <a:t>10</a:t>
            </a:r>
            <a:r>
              <a:rPr lang="zh-CN" altLang="zh-CN" sz="2000" b="1" smtClean="0"/>
              <a:t>个站点连接到一个</a:t>
            </a:r>
            <a:r>
              <a:rPr lang="en-US" altLang="zh-CN" sz="2000" b="1" smtClean="0"/>
              <a:t>10Mbit/s</a:t>
            </a:r>
            <a:r>
              <a:rPr lang="zh-CN" altLang="zh-CN" sz="2000" b="1" smtClean="0"/>
              <a:t>以太网集线器；　　</a:t>
            </a:r>
            <a:endParaRPr lang="zh-CN" altLang="zh-CN" sz="2000" smtClean="0"/>
          </a:p>
          <a:p>
            <a:r>
              <a:rPr lang="zh-CN" altLang="zh-CN" sz="2000" b="1" smtClean="0"/>
              <a:t>（</a:t>
            </a:r>
            <a:r>
              <a:rPr lang="en-US" altLang="zh-CN" sz="2000" b="1" smtClean="0"/>
              <a:t>2</a:t>
            </a:r>
            <a:r>
              <a:rPr lang="zh-CN" altLang="zh-CN" sz="2000" b="1" smtClean="0"/>
              <a:t>）</a:t>
            </a:r>
            <a:r>
              <a:rPr lang="en-US" altLang="zh-CN" sz="2000" b="1" smtClean="0"/>
              <a:t>10</a:t>
            </a:r>
            <a:r>
              <a:rPr lang="zh-CN" altLang="zh-CN" sz="2000" b="1" smtClean="0"/>
              <a:t>站点连接到一个</a:t>
            </a:r>
            <a:r>
              <a:rPr lang="en-US" altLang="zh-CN" sz="2000" b="1" smtClean="0"/>
              <a:t>100Mbit/s</a:t>
            </a:r>
            <a:r>
              <a:rPr lang="zh-CN" altLang="zh-CN" sz="2000" b="1" smtClean="0"/>
              <a:t>以太网集线器；　　</a:t>
            </a:r>
            <a:endParaRPr lang="zh-CN" altLang="zh-CN" sz="2000" smtClean="0"/>
          </a:p>
          <a:p>
            <a:r>
              <a:rPr lang="zh-CN" altLang="zh-CN" sz="2000" b="1" smtClean="0"/>
              <a:t>（</a:t>
            </a:r>
            <a:r>
              <a:rPr lang="en-US" altLang="zh-CN" sz="2000" b="1" smtClean="0"/>
              <a:t>3</a:t>
            </a:r>
            <a:r>
              <a:rPr lang="zh-CN" altLang="zh-CN" sz="2000" b="1" smtClean="0"/>
              <a:t>）</a:t>
            </a:r>
            <a:r>
              <a:rPr lang="en-US" altLang="zh-CN" sz="2000" b="1" smtClean="0"/>
              <a:t>10</a:t>
            </a:r>
            <a:r>
              <a:rPr lang="zh-CN" altLang="zh-CN" sz="2000" b="1" smtClean="0"/>
              <a:t>个站点连接到一个</a:t>
            </a:r>
            <a:r>
              <a:rPr lang="en-US" altLang="zh-CN" sz="2000" b="1" smtClean="0"/>
              <a:t>10Mbit/s</a:t>
            </a:r>
            <a:r>
              <a:rPr lang="zh-CN" altLang="zh-CN" sz="2000" b="1" smtClean="0"/>
              <a:t>以太网交换机。</a:t>
            </a:r>
            <a:r>
              <a:rPr lang="zh-CN" altLang="zh-CN" sz="2000" smtClean="0"/>
              <a:t>　　</a:t>
            </a:r>
          </a:p>
          <a:p>
            <a:endParaRPr lang="zh-CN" altLang="en-US" sz="2000" smtClean="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
          <p:cNvSpPr>
            <a:spLocks noGrp="1"/>
          </p:cNvSpPr>
          <p:nvPr>
            <p:ph type="title"/>
          </p:nvPr>
        </p:nvSpPr>
        <p:spPr/>
        <p:txBody>
          <a:bodyPr/>
          <a:lstStyle/>
          <a:p>
            <a:endParaRPr lang="zh-CN" altLang="en-US" smtClean="0"/>
          </a:p>
        </p:txBody>
      </p:sp>
      <p:sp>
        <p:nvSpPr>
          <p:cNvPr id="122883" name="内容占位符 2"/>
          <p:cNvSpPr>
            <a:spLocks noGrp="1"/>
          </p:cNvSpPr>
          <p:nvPr>
            <p:ph idx="1"/>
          </p:nvPr>
        </p:nvSpPr>
        <p:spPr/>
        <p:txBody>
          <a:bodyPr/>
          <a:lstStyle/>
          <a:p>
            <a:r>
              <a:rPr lang="en-US" altLang="zh-CN" sz="2000" b="1" smtClean="0"/>
              <a:t>3-25</a:t>
            </a:r>
            <a:r>
              <a:rPr lang="zh-CN" altLang="zh-CN" sz="2000" b="1" smtClean="0"/>
              <a:t>假定站点</a:t>
            </a:r>
            <a:r>
              <a:rPr lang="en-US" altLang="zh-CN" sz="2000" b="1" smtClean="0"/>
              <a:t>A</a:t>
            </a:r>
            <a:r>
              <a:rPr lang="zh-CN" altLang="zh-CN" sz="2000" b="1" smtClean="0"/>
              <a:t>和</a:t>
            </a:r>
            <a:r>
              <a:rPr lang="en-US" altLang="zh-CN" sz="2000" b="1" smtClean="0"/>
              <a:t>B</a:t>
            </a:r>
            <a:r>
              <a:rPr lang="zh-CN" altLang="zh-CN" sz="2000" b="1" smtClean="0"/>
              <a:t>在同一个</a:t>
            </a:r>
            <a:r>
              <a:rPr lang="en-US" altLang="zh-CN" sz="2000" b="1" smtClean="0"/>
              <a:t>10Mb/s</a:t>
            </a:r>
            <a:r>
              <a:rPr lang="zh-CN" altLang="zh-CN" sz="2000" b="1" smtClean="0"/>
              <a:t>以太网网段上。这两个站点之间的时延为</a:t>
            </a:r>
            <a:r>
              <a:rPr lang="en-US" altLang="zh-CN" sz="2000" b="1" smtClean="0"/>
              <a:t>225</a:t>
            </a:r>
            <a:r>
              <a:rPr lang="zh-CN" altLang="zh-CN" sz="2000" b="1" smtClean="0"/>
              <a:t>比特时间。站点</a:t>
            </a:r>
            <a:r>
              <a:rPr lang="en-US" altLang="zh-CN" sz="2000" b="1" smtClean="0"/>
              <a:t>A</a:t>
            </a:r>
            <a:r>
              <a:rPr lang="zh-CN" altLang="zh-CN" sz="2000" b="1" smtClean="0"/>
              <a:t>和</a:t>
            </a:r>
            <a:r>
              <a:rPr lang="en-US" altLang="zh-CN" sz="2000" b="1" smtClean="0"/>
              <a:t>B</a:t>
            </a:r>
            <a:r>
              <a:rPr lang="zh-CN" altLang="zh-CN" sz="2000" b="1" smtClean="0"/>
              <a:t>在</a:t>
            </a:r>
            <a:r>
              <a:rPr lang="en-US" altLang="zh-CN" sz="2000" b="1" smtClean="0"/>
              <a:t>t=0</a:t>
            </a:r>
            <a:r>
              <a:rPr lang="zh-CN" altLang="zh-CN" sz="2000" b="1" smtClean="0"/>
              <a:t>时同时发送了数据帧。当</a:t>
            </a:r>
            <a:r>
              <a:rPr lang="en-US" altLang="zh-CN" sz="2000" b="1" smtClean="0"/>
              <a:t>t=255</a:t>
            </a:r>
            <a:r>
              <a:rPr lang="zh-CN" altLang="zh-CN" sz="2000" b="1" smtClean="0"/>
              <a:t>比特时间，</a:t>
            </a:r>
            <a:r>
              <a:rPr lang="en-US" altLang="zh-CN" sz="2000" b="1" smtClean="0"/>
              <a:t>A</a:t>
            </a:r>
            <a:r>
              <a:rPr lang="zh-CN" altLang="zh-CN" sz="2000" b="1" smtClean="0"/>
              <a:t>和</a:t>
            </a:r>
            <a:r>
              <a:rPr lang="en-US" altLang="zh-CN" sz="2000" b="1" smtClean="0"/>
              <a:t>B</a:t>
            </a:r>
            <a:r>
              <a:rPr lang="zh-CN" altLang="zh-CN" sz="2000" b="1" smtClean="0"/>
              <a:t>同时检测到发</a:t>
            </a:r>
            <a:r>
              <a:rPr lang="zh-CN" altLang="en-US" sz="2000" b="1" smtClean="0"/>
              <a:t>生</a:t>
            </a:r>
            <a:r>
              <a:rPr lang="zh-CN" altLang="zh-CN" sz="2000" b="1" smtClean="0"/>
              <a:t>了碰撞，并且在</a:t>
            </a:r>
            <a:r>
              <a:rPr lang="en-US" altLang="zh-CN" sz="2000" b="1" smtClean="0"/>
              <a:t>t=225+48=273</a:t>
            </a:r>
            <a:r>
              <a:rPr lang="zh-CN" altLang="zh-CN" sz="2000" b="1" smtClean="0"/>
              <a:t>比特时间完成了干扰信号的传输。</a:t>
            </a:r>
            <a:r>
              <a:rPr lang="en-US" altLang="zh-CN" sz="2000" b="1" smtClean="0"/>
              <a:t>A</a:t>
            </a:r>
            <a:r>
              <a:rPr lang="zh-CN" altLang="zh-CN" sz="2000" b="1" smtClean="0"/>
              <a:t>和</a:t>
            </a:r>
            <a:r>
              <a:rPr lang="en-US" altLang="zh-CN" sz="2000" b="1" smtClean="0"/>
              <a:t>B</a:t>
            </a:r>
            <a:r>
              <a:rPr lang="zh-CN" altLang="zh-CN" sz="2000" b="1" smtClean="0"/>
              <a:t>在</a:t>
            </a:r>
            <a:r>
              <a:rPr lang="en-US" altLang="zh-CN" sz="2000" b="1" smtClean="0"/>
              <a:t>CSMA/CD</a:t>
            </a:r>
            <a:r>
              <a:rPr lang="zh-CN" altLang="zh-CN" sz="2000" b="1" smtClean="0"/>
              <a:t>算法中选择不同的</a:t>
            </a:r>
            <a:r>
              <a:rPr lang="en-US" altLang="zh-CN" sz="2000" b="1" smtClean="0"/>
              <a:t>r</a:t>
            </a:r>
            <a:r>
              <a:rPr lang="zh-CN" altLang="zh-CN" sz="2000" b="1" smtClean="0"/>
              <a:t>值退避。假定</a:t>
            </a:r>
            <a:r>
              <a:rPr lang="en-US" altLang="zh-CN" sz="2000" b="1" smtClean="0"/>
              <a:t>A</a:t>
            </a:r>
            <a:r>
              <a:rPr lang="zh-CN" altLang="zh-CN" sz="2000" b="1" smtClean="0"/>
              <a:t>和</a:t>
            </a:r>
            <a:r>
              <a:rPr lang="en-US" altLang="zh-CN" sz="2000" b="1" smtClean="0"/>
              <a:t>B</a:t>
            </a:r>
            <a:r>
              <a:rPr lang="zh-CN" altLang="zh-CN" sz="2000" b="1" smtClean="0"/>
              <a:t>选择的随机数分别是</a:t>
            </a:r>
            <a:r>
              <a:rPr lang="en-US" altLang="zh-CN" b="1" smtClean="0"/>
              <a:t>r</a:t>
            </a:r>
            <a:r>
              <a:rPr lang="en-US" altLang="zh-CN" sz="1400" b="1" smtClean="0"/>
              <a:t>A</a:t>
            </a:r>
            <a:r>
              <a:rPr lang="en-US" altLang="zh-CN" sz="2000" b="1" smtClean="0"/>
              <a:t>=0</a:t>
            </a:r>
            <a:r>
              <a:rPr lang="zh-CN" altLang="zh-CN" sz="2000" b="1" smtClean="0"/>
              <a:t>和</a:t>
            </a:r>
            <a:r>
              <a:rPr lang="en-US" altLang="zh-CN" b="1" smtClean="0"/>
              <a:t>r</a:t>
            </a:r>
            <a:r>
              <a:rPr lang="en-US" altLang="zh-CN" sz="1400" b="1" smtClean="0"/>
              <a:t>B</a:t>
            </a:r>
            <a:r>
              <a:rPr lang="en-US" altLang="zh-CN" sz="2000" b="1" smtClean="0"/>
              <a:t>=1.</a:t>
            </a:r>
            <a:r>
              <a:rPr lang="zh-CN" altLang="zh-CN" sz="2000" b="1" smtClean="0"/>
              <a:t>。试问</a:t>
            </a:r>
            <a:r>
              <a:rPr lang="en-US" altLang="zh-CN" sz="2000" b="1" smtClean="0"/>
              <a:t>A</a:t>
            </a:r>
            <a:r>
              <a:rPr lang="zh-CN" altLang="zh-CN" sz="2000" b="1" smtClean="0"/>
              <a:t>和</a:t>
            </a:r>
            <a:r>
              <a:rPr lang="en-US" altLang="zh-CN" sz="2000" b="1" smtClean="0"/>
              <a:t>B</a:t>
            </a:r>
            <a:r>
              <a:rPr lang="zh-CN" altLang="zh-CN" sz="2000" b="1" smtClean="0"/>
              <a:t>各在什么时间开始重传其数据帧？</a:t>
            </a:r>
            <a:r>
              <a:rPr lang="en-US" altLang="zh-CN" sz="2000" b="1" smtClean="0"/>
              <a:t>A</a:t>
            </a:r>
            <a:r>
              <a:rPr lang="zh-CN" altLang="zh-CN" sz="2000" b="1" smtClean="0"/>
              <a:t>重传的数据帧在什么时间到达</a:t>
            </a:r>
            <a:r>
              <a:rPr lang="en-US" altLang="zh-CN" sz="2000" b="1" smtClean="0"/>
              <a:t>B?A</a:t>
            </a:r>
            <a:r>
              <a:rPr lang="zh-CN" altLang="zh-CN" sz="2000" b="1" smtClean="0"/>
              <a:t>重传的数据会不会和</a:t>
            </a:r>
            <a:r>
              <a:rPr lang="en-US" altLang="zh-CN" sz="2000" b="1" smtClean="0"/>
              <a:t>B</a:t>
            </a:r>
            <a:r>
              <a:rPr lang="zh-CN" altLang="zh-CN" sz="2000" b="1" smtClean="0"/>
              <a:t>重传的数据再次发送碰撞？</a:t>
            </a:r>
            <a:r>
              <a:rPr lang="en-US" altLang="zh-CN" sz="2000" b="1" smtClean="0"/>
              <a:t>B</a:t>
            </a:r>
            <a:r>
              <a:rPr lang="zh-CN" altLang="zh-CN" sz="2000" b="1" smtClean="0"/>
              <a:t>会不会在预定的重传时间停止发送数据？</a:t>
            </a:r>
            <a:endParaRPr lang="zh-CN" altLang="zh-CN" sz="2000" smtClean="0"/>
          </a:p>
          <a:p>
            <a:endParaRPr lang="zh-CN" altLang="en-US" sz="2000" smtClean="0"/>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5185</TotalTime>
  <Words>8454</Words>
  <Application>Microsoft Office PowerPoint</Application>
  <PresentationFormat>全屏显示(4:3)</PresentationFormat>
  <Paragraphs>1387</Paragraphs>
  <Slides>118</Slides>
  <Notes>103</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118</vt:i4>
      </vt:variant>
    </vt:vector>
  </HeadingPairs>
  <TitlesOfParts>
    <vt:vector size="129" baseType="lpstr">
      <vt:lpstr>Arial Unicode MS</vt:lpstr>
      <vt:lpstr>黑体</vt:lpstr>
      <vt:lpstr>宋体</vt:lpstr>
      <vt:lpstr>Arial</vt:lpstr>
      <vt:lpstr>Symbol</vt:lpstr>
      <vt:lpstr>Tahoma</vt:lpstr>
      <vt:lpstr>Times New Roman</vt:lpstr>
      <vt:lpstr>Wingdings</vt:lpstr>
      <vt:lpstr>Blends</vt:lpstr>
      <vt:lpstr>公式</vt:lpstr>
      <vt:lpstr>Visio.Drawing.6</vt:lpstr>
      <vt:lpstr>计算机网络</vt:lpstr>
      <vt:lpstr>第 3 章  数据链路层</vt:lpstr>
      <vt:lpstr>第 3 章  数据链路层（续）</vt:lpstr>
      <vt:lpstr>第 3 章  数据链路层（续）</vt:lpstr>
      <vt:lpstr>数据链路层</vt:lpstr>
      <vt:lpstr>数据链路层的简单模型</vt:lpstr>
      <vt:lpstr>数据链路层的简单模型( 续）</vt:lpstr>
      <vt:lpstr>3.1 使用点对点信道的数据链路层 3.1.1  数据链路和帧  </vt:lpstr>
      <vt:lpstr>PowerPoint 演示文稿</vt:lpstr>
      <vt:lpstr>数据链路层像个数字管道 </vt:lpstr>
      <vt:lpstr>3.1.2  三个基本问题 </vt:lpstr>
      <vt:lpstr>1.  封装成帧</vt:lpstr>
      <vt:lpstr>用控制字符进行帧定界的方法举例 </vt:lpstr>
      <vt:lpstr>2.  透明传输</vt:lpstr>
      <vt:lpstr>解决透明传输问题</vt:lpstr>
      <vt:lpstr>用字节填充法解决透明传输的问题 </vt:lpstr>
      <vt:lpstr>3.  差错检测</vt:lpstr>
      <vt:lpstr>循环冗余检验的原理 </vt:lpstr>
      <vt:lpstr>冗余码的计算 </vt:lpstr>
      <vt:lpstr>冗余码的计算举例 </vt:lpstr>
      <vt:lpstr>循环冗余检验的原理说明 </vt:lpstr>
      <vt:lpstr>模二运算规则</vt:lpstr>
      <vt:lpstr>帧检验序列 FCS </vt:lpstr>
      <vt:lpstr>接收端对收到的每一帧进行 CRC 检验 </vt:lpstr>
      <vt:lpstr>应当注意 </vt:lpstr>
      <vt:lpstr>3.2  点对点协议 PPP  3.2.1 PPP 协议的特点 </vt:lpstr>
      <vt:lpstr>用户到 ISP 的链路使用 PPP 协议 </vt:lpstr>
      <vt:lpstr>3.  PPP 协议的组成 </vt:lpstr>
      <vt:lpstr>3.2.2   PPP 协议的帧格式</vt:lpstr>
      <vt:lpstr>PPP 协议的帧格式</vt:lpstr>
      <vt:lpstr>透明传输问题 </vt:lpstr>
      <vt:lpstr>字符填充 （异步传输）</vt:lpstr>
      <vt:lpstr>零比特填充 </vt:lpstr>
      <vt:lpstr>PowerPoint 演示文稿</vt:lpstr>
      <vt:lpstr> 不提供使用序号和确认 的可靠传输 </vt:lpstr>
      <vt:lpstr> 3.2.3   PPP 协议的工作状态 </vt:lpstr>
      <vt:lpstr>PowerPoint 演示文稿</vt:lpstr>
      <vt:lpstr>3.3  使用广播信道的数据链路层 3.3.1  局域网的数据链路层 </vt:lpstr>
      <vt:lpstr>局域网的拓扑 </vt:lpstr>
      <vt:lpstr>媒体共享技术</vt:lpstr>
      <vt:lpstr>适配器的作用  </vt:lpstr>
      <vt:lpstr>计算机通过适配器 和局域网进行通信p79 </vt:lpstr>
      <vt:lpstr>3.3.2   CSMA/CD 协议 </vt:lpstr>
      <vt:lpstr>以太网的广播方式发送 </vt:lpstr>
      <vt:lpstr>为了通信的简便 以太网采取了两种重要的措施 </vt:lpstr>
      <vt:lpstr>以太网提供的服务 </vt:lpstr>
      <vt:lpstr>以太网发送的数据都使用 曼彻斯特(Manchester)编码 </vt:lpstr>
      <vt:lpstr>载波监听多点接入/碰撞检测  CSMA/CD 协议</vt:lpstr>
      <vt:lpstr>碰撞检测</vt:lpstr>
      <vt:lpstr>检测到碰撞后</vt:lpstr>
      <vt:lpstr>电磁波在总线上的 有限传播速率的影响 </vt:lpstr>
      <vt:lpstr>PowerPoint 演示文稿</vt:lpstr>
      <vt:lpstr>PowerPoint 演示文稿</vt:lpstr>
      <vt:lpstr>重要特性</vt:lpstr>
      <vt:lpstr>争用期</vt:lpstr>
      <vt:lpstr>二进制指数类型退避算法 (truncated binary exponential type)</vt:lpstr>
      <vt:lpstr>争用期的长度 </vt:lpstr>
      <vt:lpstr>备注</vt:lpstr>
      <vt:lpstr>最短有效帧长 </vt:lpstr>
      <vt:lpstr>强化碰撞 </vt:lpstr>
      <vt:lpstr>人为干扰信号 </vt:lpstr>
      <vt:lpstr>帧间最小间隔</vt:lpstr>
      <vt:lpstr>协议要点：</vt:lpstr>
      <vt:lpstr>使用集线器的双绞线以太网 </vt:lpstr>
      <vt:lpstr>星形网 10BASE-T </vt:lpstr>
      <vt:lpstr>集线器的一些特点 </vt:lpstr>
      <vt:lpstr>具有三个接口的集线器 </vt:lpstr>
      <vt:lpstr>3.4.2  以太网的信道利用率 </vt:lpstr>
      <vt:lpstr>以太网的信道利用率 </vt:lpstr>
      <vt:lpstr>参数 a </vt:lpstr>
      <vt:lpstr>对以太网参数的要求</vt:lpstr>
      <vt:lpstr>信道利用率的最大值 Smax </vt:lpstr>
      <vt:lpstr>3.4.3   以太网的 MAC 层（数据链路层） 1.  MAC 层的硬件地址 </vt:lpstr>
      <vt:lpstr>48 位的 MAC 地址</vt:lpstr>
      <vt:lpstr>适配器检查 MAC 地址 </vt:lpstr>
      <vt:lpstr>2. MAC 帧的格式 </vt:lpstr>
      <vt:lpstr>PowerPoint 演示文稿</vt:lpstr>
      <vt:lpstr>以太网 V2 的 MAC 帧格式</vt:lpstr>
      <vt:lpstr>以太网 V2 的 MAC 帧格式</vt:lpstr>
      <vt:lpstr>以太网 V2 的 MAC 帧格式</vt:lpstr>
      <vt:lpstr>以太网 V2 的 MAC 帧格式</vt:lpstr>
      <vt:lpstr>以太网 V2 的 MAC 帧格式</vt:lpstr>
      <vt:lpstr>以太网 V2 的 MAC 帧格式</vt:lpstr>
      <vt:lpstr>无效的 MAC 帧 </vt:lpstr>
      <vt:lpstr>3.5  扩展的局域网 3.5.1  在物理层扩展局域网</vt:lpstr>
      <vt:lpstr>用多个集线器可连成更大的局域网</vt:lpstr>
      <vt:lpstr>用集线器组成更大的局域网 都在一个碰撞域中</vt:lpstr>
      <vt:lpstr>用集线器扩展局域网 </vt:lpstr>
      <vt:lpstr>3.5.2  在数据链路层扩展局域网 </vt:lpstr>
      <vt:lpstr>1. 网桥的内部结构 </vt:lpstr>
      <vt:lpstr>网桥使各网段成为 隔离开的碰撞域 </vt:lpstr>
      <vt:lpstr>使用网桥带来的缺点 </vt:lpstr>
      <vt:lpstr>PowerPoint 演示文稿</vt:lpstr>
      <vt:lpstr>PowerPoint 演示文稿</vt:lpstr>
      <vt:lpstr>2. 透明网桥</vt:lpstr>
      <vt:lpstr>网桥应当按照以下自学习算法 处理收到的帧和建立转发表 </vt:lpstr>
      <vt:lpstr>转发表的建立过程举例</vt:lpstr>
      <vt:lpstr>网桥在转发表中 登记以下三个信息 </vt:lpstr>
      <vt:lpstr>网桥的自学习和转发帧 的步骤归纳 </vt:lpstr>
      <vt:lpstr>3. 源路由网桥</vt:lpstr>
      <vt:lpstr>以太网交换机 </vt:lpstr>
      <vt:lpstr>独占传输媒体的带宽 </vt:lpstr>
      <vt:lpstr>用以太网交换机扩展局域网 </vt:lpstr>
      <vt:lpstr>利用以太网交换机可以很方便地 实现虚拟局域网 </vt:lpstr>
      <vt:lpstr>PowerPoint 演示文稿</vt:lpstr>
      <vt:lpstr>PowerPoint 演示文稿</vt:lpstr>
      <vt:lpstr>PowerPoint 演示文稿</vt:lpstr>
      <vt:lpstr>PowerPoint 演示文稿</vt:lpstr>
      <vt:lpstr>虚拟局域网使用的 以太网帧格式</vt:lpstr>
      <vt:lpstr>3.6   高速以太网 3.6.1  100BASE-T 以太网</vt:lpstr>
      <vt:lpstr>100BASE-T 以太网的特点</vt:lpstr>
      <vt:lpstr>三种不同的物理层标准 </vt:lpstr>
      <vt:lpstr>3.6.2  吉比特以太网</vt:lpstr>
      <vt:lpstr>吉比特以太网的物理层 </vt:lpstr>
      <vt:lpstr>3.6.3   10 吉比特以太网</vt:lpstr>
      <vt:lpstr>PowerPoint 演示文稿</vt:lpstr>
      <vt:lpstr>PowerPoint 演示文稿</vt:lpstr>
      <vt:lpstr>PowerPoint 演示文稿</vt:lpstr>
    </vt:vector>
  </TitlesOfParts>
  <Company>NICE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XXR</dc:creator>
  <cp:lastModifiedBy>Administrator</cp:lastModifiedBy>
  <cp:revision>429</cp:revision>
  <dcterms:created xsi:type="dcterms:W3CDTF">2004-03-02T12:35:10Z</dcterms:created>
  <dcterms:modified xsi:type="dcterms:W3CDTF">2023-11-21T11:02:43Z</dcterms:modified>
</cp:coreProperties>
</file>