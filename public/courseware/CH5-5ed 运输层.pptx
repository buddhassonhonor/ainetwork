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27"/>
  </p:notesMasterIdLst>
  <p:sldIdLst>
    <p:sldId id="282" r:id="rId2"/>
    <p:sldId id="283" r:id="rId3"/>
    <p:sldId id="286" r:id="rId4"/>
    <p:sldId id="593" r:id="rId5"/>
    <p:sldId id="594" r:id="rId6"/>
    <p:sldId id="285" r:id="rId7"/>
    <p:sldId id="288" r:id="rId8"/>
    <p:sldId id="292" r:id="rId9"/>
    <p:sldId id="493" r:id="rId10"/>
    <p:sldId id="494" r:id="rId11"/>
    <p:sldId id="595" r:id="rId12"/>
    <p:sldId id="301" r:id="rId13"/>
    <p:sldId id="419" r:id="rId14"/>
    <p:sldId id="420" r:id="rId15"/>
    <p:sldId id="421" r:id="rId16"/>
    <p:sldId id="423" r:id="rId17"/>
    <p:sldId id="303" r:id="rId18"/>
    <p:sldId id="597" r:id="rId19"/>
    <p:sldId id="598" r:id="rId20"/>
    <p:sldId id="302" r:id="rId21"/>
    <p:sldId id="304" r:id="rId22"/>
    <p:sldId id="503" r:id="rId23"/>
    <p:sldId id="601" r:id="rId24"/>
    <p:sldId id="602" r:id="rId25"/>
    <p:sldId id="603" r:id="rId26"/>
    <p:sldId id="537" r:id="rId27"/>
    <p:sldId id="604" r:id="rId28"/>
    <p:sldId id="504" r:id="rId29"/>
    <p:sldId id="538" r:id="rId30"/>
    <p:sldId id="445" r:id="rId31"/>
    <p:sldId id="674" r:id="rId32"/>
    <p:sldId id="605" r:id="rId33"/>
    <p:sldId id="326" r:id="rId34"/>
    <p:sldId id="606" r:id="rId35"/>
    <p:sldId id="607" r:id="rId36"/>
    <p:sldId id="608" r:id="rId37"/>
    <p:sldId id="609" r:id="rId38"/>
    <p:sldId id="610" r:id="rId39"/>
    <p:sldId id="611" r:id="rId40"/>
    <p:sldId id="612" r:id="rId41"/>
    <p:sldId id="613" r:id="rId42"/>
    <p:sldId id="614" r:id="rId43"/>
    <p:sldId id="615" r:id="rId44"/>
    <p:sldId id="616" r:id="rId45"/>
    <p:sldId id="617" r:id="rId46"/>
    <p:sldId id="618" r:id="rId47"/>
    <p:sldId id="619" r:id="rId48"/>
    <p:sldId id="620" r:id="rId49"/>
    <p:sldId id="539" r:id="rId50"/>
    <p:sldId id="540" r:id="rId51"/>
    <p:sldId id="541" r:id="rId52"/>
    <p:sldId id="542" r:id="rId53"/>
    <p:sldId id="543" r:id="rId54"/>
    <p:sldId id="544" r:id="rId55"/>
    <p:sldId id="545" r:id="rId56"/>
    <p:sldId id="546" r:id="rId57"/>
    <p:sldId id="547" r:id="rId58"/>
    <p:sldId id="548" r:id="rId59"/>
    <p:sldId id="549" r:id="rId60"/>
    <p:sldId id="550" r:id="rId61"/>
    <p:sldId id="551" r:id="rId62"/>
    <p:sldId id="552" r:id="rId63"/>
    <p:sldId id="553" r:id="rId64"/>
    <p:sldId id="554" r:id="rId65"/>
    <p:sldId id="621" r:id="rId66"/>
    <p:sldId id="555" r:id="rId67"/>
    <p:sldId id="622" r:id="rId68"/>
    <p:sldId id="623" r:id="rId69"/>
    <p:sldId id="624" r:id="rId70"/>
    <p:sldId id="625" r:id="rId71"/>
    <p:sldId id="626" r:id="rId72"/>
    <p:sldId id="627" r:id="rId73"/>
    <p:sldId id="675" r:id="rId74"/>
    <p:sldId id="628" r:id="rId75"/>
    <p:sldId id="629" r:id="rId76"/>
    <p:sldId id="638" r:id="rId77"/>
    <p:sldId id="639" r:id="rId78"/>
    <p:sldId id="633" r:id="rId79"/>
    <p:sldId id="634" r:id="rId80"/>
    <p:sldId id="635" r:id="rId81"/>
    <p:sldId id="636" r:id="rId82"/>
    <p:sldId id="637" r:id="rId83"/>
    <p:sldId id="640" r:id="rId84"/>
    <p:sldId id="641" r:id="rId85"/>
    <p:sldId id="630" r:id="rId86"/>
    <p:sldId id="631" r:id="rId87"/>
    <p:sldId id="632" r:id="rId88"/>
    <p:sldId id="644" r:id="rId89"/>
    <p:sldId id="646" r:id="rId90"/>
    <p:sldId id="647" r:id="rId91"/>
    <p:sldId id="676" r:id="rId92"/>
    <p:sldId id="677" r:id="rId93"/>
    <p:sldId id="651" r:id="rId94"/>
    <p:sldId id="444" r:id="rId95"/>
    <p:sldId id="354" r:id="rId96"/>
    <p:sldId id="654" r:id="rId97"/>
    <p:sldId id="655" r:id="rId98"/>
    <p:sldId id="656" r:id="rId99"/>
    <p:sldId id="657" r:id="rId100"/>
    <p:sldId id="560" r:id="rId101"/>
    <p:sldId id="567" r:id="rId102"/>
    <p:sldId id="568" r:id="rId103"/>
    <p:sldId id="454" r:id="rId104"/>
    <p:sldId id="459" r:id="rId105"/>
    <p:sldId id="570" r:id="rId106"/>
    <p:sldId id="571" r:id="rId107"/>
    <p:sldId id="572" r:id="rId108"/>
    <p:sldId id="658" r:id="rId109"/>
    <p:sldId id="673" r:id="rId110"/>
    <p:sldId id="581" r:id="rId111"/>
    <p:sldId id="582" r:id="rId112"/>
    <p:sldId id="583" r:id="rId113"/>
    <p:sldId id="584" r:id="rId114"/>
    <p:sldId id="585" r:id="rId115"/>
    <p:sldId id="586" r:id="rId116"/>
    <p:sldId id="660" r:id="rId117"/>
    <p:sldId id="661" r:id="rId118"/>
    <p:sldId id="662" r:id="rId119"/>
    <p:sldId id="663" r:id="rId120"/>
    <p:sldId id="659" r:id="rId121"/>
    <p:sldId id="665" r:id="rId122"/>
    <p:sldId id="666" r:id="rId123"/>
    <p:sldId id="670" r:id="rId124"/>
    <p:sldId id="671" r:id="rId125"/>
    <p:sldId id="667" r:id="rId126"/>
  </p:sldIdLst>
  <p:sldSz cx="9144000" cy="6858000" type="screen4x3"/>
  <p:notesSz cx="6858000" cy="9144000"/>
  <p:defaultTextStyle>
    <a:defPPr>
      <a:defRPr lang="zh-CN"/>
    </a:defPPr>
    <a:lvl1pPr algn="l" rtl="0" fontAlgn="base">
      <a:spcBef>
        <a:spcPct val="0"/>
      </a:spcBef>
      <a:spcAft>
        <a:spcPct val="0"/>
      </a:spcAft>
      <a:defRPr sz="2800"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sz="2800"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sz="2800"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sz="2800"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sz="2800" kern="1200">
        <a:solidFill>
          <a:schemeClr val="tx1"/>
        </a:solidFill>
        <a:latin typeface="Tahoma" pitchFamily="34" charset="0"/>
        <a:ea typeface="宋体" pitchFamily="2" charset="-122"/>
        <a:cs typeface="+mn-cs"/>
      </a:defRPr>
    </a:lvl5pPr>
    <a:lvl6pPr marL="2286000" algn="l" defTabSz="914400" rtl="0" eaLnBrk="1" latinLnBrk="0" hangingPunct="1">
      <a:defRPr sz="2800" kern="1200">
        <a:solidFill>
          <a:schemeClr val="tx1"/>
        </a:solidFill>
        <a:latin typeface="Tahoma" pitchFamily="34" charset="0"/>
        <a:ea typeface="宋体" pitchFamily="2" charset="-122"/>
        <a:cs typeface="+mn-cs"/>
      </a:defRPr>
    </a:lvl6pPr>
    <a:lvl7pPr marL="2743200" algn="l" defTabSz="914400" rtl="0" eaLnBrk="1" latinLnBrk="0" hangingPunct="1">
      <a:defRPr sz="2800" kern="1200">
        <a:solidFill>
          <a:schemeClr val="tx1"/>
        </a:solidFill>
        <a:latin typeface="Tahoma" pitchFamily="34" charset="0"/>
        <a:ea typeface="宋体" pitchFamily="2" charset="-122"/>
        <a:cs typeface="+mn-cs"/>
      </a:defRPr>
    </a:lvl7pPr>
    <a:lvl8pPr marL="3200400" algn="l" defTabSz="914400" rtl="0" eaLnBrk="1" latinLnBrk="0" hangingPunct="1">
      <a:defRPr sz="2800" kern="1200">
        <a:solidFill>
          <a:schemeClr val="tx1"/>
        </a:solidFill>
        <a:latin typeface="Tahoma" pitchFamily="34" charset="0"/>
        <a:ea typeface="宋体" pitchFamily="2" charset="-122"/>
        <a:cs typeface="+mn-cs"/>
      </a:defRPr>
    </a:lvl8pPr>
    <a:lvl9pPr marL="3657600" algn="l" defTabSz="914400" rtl="0" eaLnBrk="1" latinLnBrk="0" hangingPunct="1">
      <a:defRPr sz="2800"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66"/>
    <a:srgbClr val="FFCCFF"/>
    <a:srgbClr val="FFFF99"/>
    <a:srgbClr val="CCECFF"/>
    <a:srgbClr val="CCFF99"/>
    <a:srgbClr val="CCCC00"/>
    <a:srgbClr val="00FFFF"/>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97" autoAdjust="0"/>
    <p:restoredTop sz="94511" autoAdjust="0"/>
  </p:normalViewPr>
  <p:slideViewPr>
    <p:cSldViewPr>
      <p:cViewPr varScale="1">
        <p:scale>
          <a:sx n="59" d="100"/>
          <a:sy n="59" d="100"/>
        </p:scale>
        <p:origin x="1440"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014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93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altLang="zh-CN"/>
          </a:p>
        </p:txBody>
      </p:sp>
      <p:sp>
        <p:nvSpPr>
          <p:cNvPr id="5693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altLang="zh-CN"/>
          </a:p>
        </p:txBody>
      </p:sp>
      <p:sp>
        <p:nvSpPr>
          <p:cNvPr id="131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693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693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altLang="zh-CN"/>
          </a:p>
        </p:txBody>
      </p:sp>
      <p:sp>
        <p:nvSpPr>
          <p:cNvPr id="5693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pPr>
              <a:defRPr/>
            </a:pPr>
            <a:fld id="{5DF78647-7DE0-431F-9DC5-840A50779DBC}" type="slidenum">
              <a:rPr lang="en-US" altLang="zh-CN"/>
              <a:pPr>
                <a:defRPr/>
              </a:pPr>
              <a:t>‹#›</a:t>
            </a:fld>
            <a:endParaRPr lang="en-US" altLang="zh-CN"/>
          </a:p>
        </p:txBody>
      </p:sp>
    </p:spTree>
    <p:extLst>
      <p:ext uri="{BB962C8B-B14F-4D97-AF65-F5344CB8AC3E}">
        <p14:creationId xmlns:p14="http://schemas.microsoft.com/office/powerpoint/2010/main" val="22050190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5F25DF0-B4B3-418B-8BE5-C5033500E425}" type="slidenum">
              <a:rPr lang="en-US" altLang="zh-CN" sz="1200">
                <a:latin typeface="Arial" pitchFamily="34" charset="0"/>
              </a:rPr>
              <a:pPr eaLnBrk="1" hangingPunct="1"/>
              <a:t>1</a:t>
            </a:fld>
            <a:endParaRPr lang="en-US" altLang="zh-CN" sz="1200">
              <a:latin typeface="Arial" pitchFamily="3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8FDBBE8-86FF-402B-AC13-4AF5F5A52AB0}" type="slidenum">
              <a:rPr lang="en-US" altLang="zh-CN" sz="1200">
                <a:latin typeface="Arial" pitchFamily="34" charset="0"/>
              </a:rPr>
              <a:pPr eaLnBrk="1" hangingPunct="1"/>
              <a:t>2</a:t>
            </a:fld>
            <a:endParaRPr lang="en-US" altLang="zh-CN" sz="1200">
              <a:latin typeface="Arial" pitchFamily="34"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35AC0FC-55D4-468A-AC85-D66A2E95457E}" type="slidenum">
              <a:rPr lang="en-US" altLang="zh-CN" sz="1200">
                <a:latin typeface="Arial" pitchFamily="34" charset="0"/>
              </a:rPr>
              <a:pPr eaLnBrk="1" hangingPunct="1"/>
              <a:t>3</a:t>
            </a:fld>
            <a:endParaRPr lang="en-US" altLang="zh-CN" sz="1200">
              <a:latin typeface="Arial" pitchFamily="34"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7BB9B37-A8B1-45BA-B0B2-27AA0408F105}" type="slidenum">
              <a:rPr lang="en-US" altLang="zh-CN" sz="1200">
                <a:latin typeface="Arial" pitchFamily="34" charset="0"/>
              </a:rPr>
              <a:pPr eaLnBrk="1" hangingPunct="1"/>
              <a:t>4</a:t>
            </a:fld>
            <a:endParaRPr lang="en-US" altLang="zh-CN" sz="1200">
              <a:latin typeface="Arial" pitchFamily="34"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F9D4831-4EE8-4843-AA70-B3D7880206DE}" type="slidenum">
              <a:rPr lang="en-US" altLang="zh-CN" sz="1200">
                <a:latin typeface="Arial" pitchFamily="34" charset="0"/>
              </a:rPr>
              <a:pPr eaLnBrk="1" hangingPunct="1"/>
              <a:t>5</a:t>
            </a:fld>
            <a:endParaRPr lang="en-US" altLang="zh-CN" sz="1200">
              <a:latin typeface="Arial" pitchFamily="3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BF41813-A4E5-4294-BDD6-EE3D25448D65}" type="slidenum">
              <a:rPr lang="en-US" altLang="zh-CN" sz="1200">
                <a:latin typeface="Arial" pitchFamily="34" charset="0"/>
              </a:rPr>
              <a:pPr eaLnBrk="1" hangingPunct="1"/>
              <a:t>6</a:t>
            </a:fld>
            <a:endParaRPr lang="en-US" altLang="zh-CN" sz="1200">
              <a:latin typeface="Arial"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7EE99AF-BEAB-4B17-9DB5-D74C8F000DA7}" type="slidenum">
              <a:rPr lang="en-US" altLang="zh-CN" sz="1200">
                <a:latin typeface="Arial" pitchFamily="34" charset="0"/>
              </a:rPr>
              <a:pPr eaLnBrk="1" hangingPunct="1"/>
              <a:t>7</a:t>
            </a:fld>
            <a:endParaRPr lang="en-US" altLang="zh-CN" sz="1200">
              <a:latin typeface="Arial" pitchFamily="34"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28C77CB-86BE-45EA-81F2-A79CDE699523}" type="slidenum">
              <a:rPr lang="en-US" altLang="zh-CN" sz="1200">
                <a:latin typeface="Arial" pitchFamily="34" charset="0"/>
              </a:rPr>
              <a:pPr eaLnBrk="1" hangingPunct="1"/>
              <a:t>8</a:t>
            </a:fld>
            <a:endParaRPr lang="en-US" altLang="zh-CN" sz="1200">
              <a:latin typeface="Arial" pitchFamily="34"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4FB5CE8-417C-4022-BD72-882621FA21D7}" type="slidenum">
              <a:rPr lang="en-US" altLang="zh-CN" sz="1200">
                <a:latin typeface="Arial" pitchFamily="34" charset="0"/>
              </a:rPr>
              <a:pPr eaLnBrk="1" hangingPunct="1"/>
              <a:t>9</a:t>
            </a:fld>
            <a:endParaRPr lang="en-US" altLang="zh-CN" sz="1200">
              <a:latin typeface="Arial" pitchFamily="34"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A6B7CD06-41E1-4BF8-B6CC-22C143ADAF60}" type="slidenum">
              <a:rPr lang="en-US" altLang="zh-CN" sz="1200">
                <a:latin typeface="Arial" pitchFamily="34" charset="0"/>
              </a:rPr>
              <a:pPr eaLnBrk="1" hangingPunct="1"/>
              <a:t>10</a:t>
            </a:fld>
            <a:endParaRPr lang="en-US" altLang="zh-CN" sz="1200">
              <a:latin typeface="Arial" pitchFamily="34"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F292050-9596-42D2-8660-86037ED3FB35}" type="slidenum">
              <a:rPr lang="en-US" altLang="zh-CN" sz="1200">
                <a:latin typeface="Arial" pitchFamily="34" charset="0"/>
              </a:rPr>
              <a:pPr eaLnBrk="1" hangingPunct="1"/>
              <a:t>11</a:t>
            </a:fld>
            <a:endParaRPr lang="en-US" altLang="zh-CN" sz="1200">
              <a:latin typeface="Arial" pitchFamily="3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14EE178-5311-4310-87B8-477260A6DE7F}" type="slidenum">
              <a:rPr lang="en-US" altLang="zh-CN" sz="1200">
                <a:latin typeface="Arial" pitchFamily="34" charset="0"/>
              </a:rPr>
              <a:pPr eaLnBrk="1" hangingPunct="1"/>
              <a:t>12</a:t>
            </a:fld>
            <a:endParaRPr lang="en-US" altLang="zh-CN" sz="1200">
              <a:latin typeface="Arial" pitchFamily="34" charset="0"/>
            </a:endParaRP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8E5C6DF-54F7-4062-9E66-D5264082F7D3}" type="slidenum">
              <a:rPr lang="en-US" altLang="zh-CN" sz="1200">
                <a:latin typeface="Arial" pitchFamily="34" charset="0"/>
              </a:rPr>
              <a:pPr eaLnBrk="1" hangingPunct="1"/>
              <a:t>13</a:t>
            </a:fld>
            <a:endParaRPr lang="en-US" altLang="zh-CN" sz="1200">
              <a:latin typeface="Arial" pitchFamily="34" charset="0"/>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42448B2-0846-480A-B3F3-9931CCE4B57C}" type="slidenum">
              <a:rPr lang="en-US" altLang="zh-CN" sz="1200">
                <a:latin typeface="Arial" pitchFamily="34" charset="0"/>
              </a:rPr>
              <a:pPr eaLnBrk="1" hangingPunct="1"/>
              <a:t>14</a:t>
            </a:fld>
            <a:endParaRPr lang="en-US" altLang="zh-CN" sz="1200">
              <a:latin typeface="Arial" pitchFamily="34" charset="0"/>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A81A73D-CDB0-4B7E-A0F8-5D8BEA3B8115}" type="slidenum">
              <a:rPr lang="en-US" altLang="zh-CN" sz="1200">
                <a:latin typeface="Arial" pitchFamily="34" charset="0"/>
              </a:rPr>
              <a:pPr eaLnBrk="1" hangingPunct="1"/>
              <a:t>15</a:t>
            </a:fld>
            <a:endParaRPr lang="en-US" altLang="zh-CN" sz="1200">
              <a:latin typeface="Arial" pitchFamily="34"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61D3F24-931B-4C3C-ABF8-815BD915A840}" type="slidenum">
              <a:rPr lang="en-US" altLang="zh-CN" sz="1200">
                <a:latin typeface="Arial" pitchFamily="34" charset="0"/>
              </a:rPr>
              <a:pPr eaLnBrk="1" hangingPunct="1"/>
              <a:t>16</a:t>
            </a:fld>
            <a:endParaRPr lang="en-US" altLang="zh-CN" sz="1200">
              <a:latin typeface="Arial" pitchFamily="34" charset="0"/>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47A82B8-9B38-47BF-BDEE-4BB3F998EBCA}" type="slidenum">
              <a:rPr lang="en-US" altLang="zh-CN" sz="1200">
                <a:latin typeface="Arial" pitchFamily="34" charset="0"/>
              </a:rPr>
              <a:pPr eaLnBrk="1" hangingPunct="1"/>
              <a:t>17</a:t>
            </a:fld>
            <a:endParaRPr lang="en-US" altLang="zh-CN" sz="1200">
              <a:latin typeface="Arial" pitchFamily="34" charset="0"/>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2C10239A-21AB-48D8-BD05-20FDE31B05B3}" type="slidenum">
              <a:rPr lang="en-US" altLang="zh-CN" sz="1200">
                <a:latin typeface="Arial" pitchFamily="34" charset="0"/>
              </a:rPr>
              <a:pPr eaLnBrk="1" hangingPunct="1"/>
              <a:t>18</a:t>
            </a:fld>
            <a:endParaRPr lang="en-US" altLang="zh-CN" sz="1200">
              <a:latin typeface="Arial" pitchFamily="34" charset="0"/>
            </a:endParaRP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52BE070-DF60-4F9F-8CE3-A3269CC157A9}" type="slidenum">
              <a:rPr lang="en-US" altLang="zh-CN" sz="1200">
                <a:latin typeface="Arial" pitchFamily="34" charset="0"/>
              </a:rPr>
              <a:pPr eaLnBrk="1" hangingPunct="1"/>
              <a:t>19</a:t>
            </a:fld>
            <a:endParaRPr lang="en-US" altLang="zh-CN" sz="1200">
              <a:latin typeface="Arial" pitchFamily="34" charset="0"/>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4F31A35-52CE-4BAD-8981-D1DA91A6C407}" type="slidenum">
              <a:rPr lang="en-US" altLang="zh-CN" sz="1200">
                <a:latin typeface="Arial" pitchFamily="34" charset="0"/>
              </a:rPr>
              <a:pPr eaLnBrk="1" hangingPunct="1"/>
              <a:t>20</a:t>
            </a:fld>
            <a:endParaRPr lang="en-US" altLang="zh-CN" sz="1200">
              <a:latin typeface="Arial" pitchFamily="34" charset="0"/>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B428FE5-A7AB-4F01-A8D7-A824F1E9AF44}" type="slidenum">
              <a:rPr lang="en-US" altLang="zh-CN" sz="1200">
                <a:latin typeface="Arial" pitchFamily="34" charset="0"/>
              </a:rPr>
              <a:pPr eaLnBrk="1" hangingPunct="1"/>
              <a:t>21</a:t>
            </a:fld>
            <a:endParaRPr lang="en-US" altLang="zh-CN" sz="1200">
              <a:latin typeface="Arial" pitchFamily="34" charset="0"/>
            </a:endParaRPr>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998FA85-ED52-42A4-BF31-915B3DF64718}" type="slidenum">
              <a:rPr lang="en-US" altLang="zh-CN" sz="1200">
                <a:latin typeface="Arial" pitchFamily="34" charset="0"/>
              </a:rPr>
              <a:pPr eaLnBrk="1" hangingPunct="1"/>
              <a:t>22</a:t>
            </a:fld>
            <a:endParaRPr lang="en-US" altLang="zh-CN" sz="1200">
              <a:latin typeface="Arial" pitchFamily="34"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CB7D866-523A-46BE-906E-409E24C933E9}" type="slidenum">
              <a:rPr lang="en-US" altLang="zh-CN" sz="1200">
                <a:latin typeface="Arial" pitchFamily="34" charset="0"/>
              </a:rPr>
              <a:pPr eaLnBrk="1" hangingPunct="1"/>
              <a:t>23</a:t>
            </a:fld>
            <a:endParaRPr lang="en-US" altLang="zh-CN" sz="1200">
              <a:latin typeface="Arial" pitchFamily="34" charset="0"/>
            </a:endParaRP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DF10316-59C7-4240-92F0-7F1D071CFB2B}" type="slidenum">
              <a:rPr lang="en-US" altLang="zh-CN" sz="1200">
                <a:latin typeface="Arial" pitchFamily="34" charset="0"/>
              </a:rPr>
              <a:pPr eaLnBrk="1" hangingPunct="1"/>
              <a:t>24</a:t>
            </a:fld>
            <a:endParaRPr lang="en-US" altLang="zh-CN" sz="1200">
              <a:latin typeface="Arial" pitchFamily="34" charset="0"/>
            </a:endParaRP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1231167-5F6C-4EB5-8440-CFBA001C84C3}" type="slidenum">
              <a:rPr lang="en-US" altLang="zh-CN" sz="1200">
                <a:latin typeface="Arial" pitchFamily="34" charset="0"/>
              </a:rPr>
              <a:pPr eaLnBrk="1" hangingPunct="1"/>
              <a:t>25</a:t>
            </a:fld>
            <a:endParaRPr lang="en-US" altLang="zh-CN" sz="1200">
              <a:latin typeface="Arial" pitchFamily="34"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50D50AA-2BF3-409F-9435-C42FA45C3A9B}" type="slidenum">
              <a:rPr lang="en-US" altLang="zh-CN" sz="1200">
                <a:latin typeface="Arial" pitchFamily="34" charset="0"/>
              </a:rPr>
              <a:pPr eaLnBrk="1" hangingPunct="1"/>
              <a:t>26</a:t>
            </a:fld>
            <a:endParaRPr lang="en-US" altLang="zh-CN" sz="1200">
              <a:latin typeface="Arial" pitchFamily="34"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21233D7-E17E-4B2F-8CED-496B1DCE80CA}" type="slidenum">
              <a:rPr lang="en-US" altLang="zh-CN" sz="1200">
                <a:latin typeface="Arial" pitchFamily="34" charset="0"/>
              </a:rPr>
              <a:pPr eaLnBrk="1" hangingPunct="1"/>
              <a:t>27</a:t>
            </a:fld>
            <a:endParaRPr lang="en-US" altLang="zh-CN" sz="1200">
              <a:latin typeface="Arial" pitchFamily="34" charset="0"/>
            </a:endParaRP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123B63B-8A3E-4758-94B0-0FE8DD7247CB}" type="slidenum">
              <a:rPr lang="en-US" altLang="zh-CN" sz="1200">
                <a:latin typeface="Arial" pitchFamily="34" charset="0"/>
              </a:rPr>
              <a:pPr eaLnBrk="1" hangingPunct="1"/>
              <a:t>28</a:t>
            </a:fld>
            <a:endParaRPr lang="en-US" altLang="zh-CN" sz="1200">
              <a:latin typeface="Arial" pitchFamily="34"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061B70C-A1D7-448A-9C99-6E42AC0CE348}" type="slidenum">
              <a:rPr lang="en-US" altLang="zh-CN" sz="1200">
                <a:latin typeface="Arial" pitchFamily="34" charset="0"/>
              </a:rPr>
              <a:pPr eaLnBrk="1" hangingPunct="1"/>
              <a:t>29</a:t>
            </a:fld>
            <a:endParaRPr lang="en-US" altLang="zh-CN" sz="1200">
              <a:latin typeface="Arial" pitchFamily="34"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47163C2-910C-459D-8A87-7A13513CE6E2}" type="slidenum">
              <a:rPr lang="en-US" altLang="zh-CN" sz="1200">
                <a:latin typeface="Arial" pitchFamily="34" charset="0"/>
              </a:rPr>
              <a:pPr eaLnBrk="1" hangingPunct="1"/>
              <a:t>30</a:t>
            </a:fld>
            <a:endParaRPr lang="en-US" altLang="zh-CN" sz="1200">
              <a:latin typeface="Arial" pitchFamily="34" charset="0"/>
            </a:endParaRP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2860D612-C03E-4CF3-B824-563CF951CAE7}" type="slidenum">
              <a:rPr lang="en-US" altLang="zh-CN" sz="1200">
                <a:latin typeface="Arial" pitchFamily="34" charset="0"/>
              </a:rPr>
              <a:pPr eaLnBrk="1" hangingPunct="1"/>
              <a:t>32</a:t>
            </a:fld>
            <a:endParaRPr lang="en-US" altLang="zh-CN" sz="1200">
              <a:latin typeface="Arial" pitchFamily="34" charset="0"/>
            </a:endParaRP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9A187AA-BCC0-49AD-A0C7-2BCD8DFD9732}" type="slidenum">
              <a:rPr lang="en-US" altLang="zh-CN" sz="1200">
                <a:latin typeface="Arial" pitchFamily="34" charset="0"/>
              </a:rPr>
              <a:pPr eaLnBrk="1" hangingPunct="1"/>
              <a:t>33</a:t>
            </a:fld>
            <a:endParaRPr lang="en-US" altLang="zh-CN" sz="1200">
              <a:latin typeface="Arial" pitchFamily="34" charset="0"/>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EF13ACA-230D-4E2A-8762-A81BB0460177}" type="slidenum">
              <a:rPr lang="en-US" altLang="zh-CN" sz="1200">
                <a:latin typeface="Arial" pitchFamily="34" charset="0"/>
              </a:rPr>
              <a:pPr eaLnBrk="1" hangingPunct="1"/>
              <a:t>34</a:t>
            </a:fld>
            <a:endParaRPr lang="en-US" altLang="zh-CN" sz="1200">
              <a:latin typeface="Arial" pitchFamily="34" charset="0"/>
            </a:endParaRPr>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A48F0C7-1679-49DE-BB49-B57AAB2E93D3}" type="slidenum">
              <a:rPr lang="en-US" altLang="zh-CN" sz="1200">
                <a:latin typeface="Arial" pitchFamily="34" charset="0"/>
              </a:rPr>
              <a:pPr eaLnBrk="1" hangingPunct="1"/>
              <a:t>35</a:t>
            </a:fld>
            <a:endParaRPr lang="en-US" altLang="zh-CN" sz="1200">
              <a:latin typeface="Arial" pitchFamily="34" charset="0"/>
            </a:endParaRP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579EB2A-A79C-428E-8007-8F1261E7BF92}" type="slidenum">
              <a:rPr lang="en-US" altLang="zh-CN" sz="1200">
                <a:latin typeface="Arial" pitchFamily="34" charset="0"/>
              </a:rPr>
              <a:pPr eaLnBrk="1" hangingPunct="1"/>
              <a:t>36</a:t>
            </a:fld>
            <a:endParaRPr lang="en-US" altLang="zh-CN" sz="1200">
              <a:latin typeface="Arial" pitchFamily="34"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96B3BA7-2B4D-496C-AE76-436703421FA1}" type="slidenum">
              <a:rPr lang="en-US" altLang="zh-CN" sz="1200">
                <a:latin typeface="Arial" pitchFamily="34" charset="0"/>
              </a:rPr>
              <a:pPr eaLnBrk="1" hangingPunct="1"/>
              <a:t>37</a:t>
            </a:fld>
            <a:endParaRPr lang="en-US" altLang="zh-CN" sz="1200">
              <a:latin typeface="Arial" pitchFamily="34" charset="0"/>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7C41555-E2F9-46C9-AFD3-6B81785C97EB}" type="slidenum">
              <a:rPr lang="en-US" altLang="zh-CN" sz="1200">
                <a:latin typeface="Arial" pitchFamily="34" charset="0"/>
              </a:rPr>
              <a:pPr eaLnBrk="1" hangingPunct="1"/>
              <a:t>38</a:t>
            </a:fld>
            <a:endParaRPr lang="en-US" altLang="zh-CN" sz="1200">
              <a:latin typeface="Arial" pitchFamily="34" charset="0"/>
            </a:endParaRP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B96C9D0-494B-4E48-9B23-FB0A9519C119}" type="slidenum">
              <a:rPr lang="en-US" altLang="zh-CN" sz="1200">
                <a:latin typeface="Arial" pitchFamily="34" charset="0"/>
              </a:rPr>
              <a:pPr eaLnBrk="1" hangingPunct="1"/>
              <a:t>39</a:t>
            </a:fld>
            <a:endParaRPr lang="en-US" altLang="zh-CN" sz="1200">
              <a:latin typeface="Arial" pitchFamily="34" charset="0"/>
            </a:endParaRPr>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2AD0C98-2DD5-47C0-8AC0-51AA6FC8C794}" type="slidenum">
              <a:rPr lang="en-US" altLang="zh-CN" sz="1200">
                <a:latin typeface="Arial" pitchFamily="34" charset="0"/>
              </a:rPr>
              <a:pPr eaLnBrk="1" hangingPunct="1"/>
              <a:t>40</a:t>
            </a:fld>
            <a:endParaRPr lang="en-US" altLang="zh-CN" sz="1200">
              <a:latin typeface="Arial" pitchFamily="34"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FDC005A2-44F3-4940-8CAB-8C0B36257370}" type="slidenum">
              <a:rPr lang="en-US" altLang="zh-CN" sz="1200">
                <a:latin typeface="Arial" pitchFamily="34" charset="0"/>
              </a:rPr>
              <a:pPr eaLnBrk="1" hangingPunct="1"/>
              <a:t>41</a:t>
            </a:fld>
            <a:endParaRPr lang="en-US" altLang="zh-CN" sz="1200">
              <a:latin typeface="Arial" pitchFamily="34"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4FEF388-E800-4551-AC37-ACA334645F4B}" type="slidenum">
              <a:rPr lang="en-US" altLang="zh-CN" sz="1200">
                <a:latin typeface="Arial" pitchFamily="34" charset="0"/>
              </a:rPr>
              <a:pPr eaLnBrk="1" hangingPunct="1"/>
              <a:t>42</a:t>
            </a:fld>
            <a:endParaRPr lang="en-US" altLang="zh-CN" sz="1200">
              <a:latin typeface="Arial" pitchFamily="34" charset="0"/>
            </a:endParaRPr>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C895DB4-2936-4326-A5B7-858C222AB8F7}" type="slidenum">
              <a:rPr lang="en-US" altLang="zh-CN" sz="1200">
                <a:latin typeface="Arial" pitchFamily="34" charset="0"/>
              </a:rPr>
              <a:pPr eaLnBrk="1" hangingPunct="1"/>
              <a:t>43</a:t>
            </a:fld>
            <a:endParaRPr lang="en-US" altLang="zh-CN" sz="1200">
              <a:latin typeface="Arial" pitchFamily="34" charset="0"/>
            </a:endParaRPr>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B81F14A-F02B-4DDA-AD5A-82DF8618B955}" type="slidenum">
              <a:rPr lang="en-US" altLang="zh-CN" sz="1200">
                <a:latin typeface="Arial" pitchFamily="34" charset="0"/>
              </a:rPr>
              <a:pPr eaLnBrk="1" hangingPunct="1"/>
              <a:t>44</a:t>
            </a:fld>
            <a:endParaRPr lang="en-US" altLang="zh-CN" sz="1200">
              <a:latin typeface="Arial" pitchFamily="34" charset="0"/>
            </a:endParaRPr>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25687BE-87A4-479E-9CEB-5CDA75ED262A}" type="slidenum">
              <a:rPr lang="en-US" altLang="zh-CN" sz="1200">
                <a:latin typeface="Arial" pitchFamily="34" charset="0"/>
              </a:rPr>
              <a:pPr eaLnBrk="1" hangingPunct="1"/>
              <a:t>45</a:t>
            </a:fld>
            <a:endParaRPr lang="en-US" altLang="zh-CN" sz="1200">
              <a:latin typeface="Arial" pitchFamily="34" charset="0"/>
            </a:endParaRPr>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5293690-F667-4892-A664-150411C553B8}" type="slidenum">
              <a:rPr lang="en-US" altLang="zh-CN" sz="1200">
                <a:latin typeface="Arial" pitchFamily="34" charset="0"/>
              </a:rPr>
              <a:pPr eaLnBrk="1" hangingPunct="1"/>
              <a:t>46</a:t>
            </a:fld>
            <a:endParaRPr lang="en-US" altLang="zh-CN" sz="1200">
              <a:latin typeface="Arial" pitchFamily="34" charset="0"/>
            </a:endParaRPr>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20AA1D0-FCA5-4F20-8711-98187EC1B758}" type="slidenum">
              <a:rPr lang="en-US" altLang="zh-CN" sz="1200">
                <a:latin typeface="Arial" pitchFamily="34" charset="0"/>
              </a:rPr>
              <a:pPr eaLnBrk="1" hangingPunct="1"/>
              <a:t>47</a:t>
            </a:fld>
            <a:endParaRPr lang="en-US" altLang="zh-CN" sz="1200">
              <a:latin typeface="Arial" pitchFamily="34" charset="0"/>
            </a:endParaRPr>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4BD045A-177B-4B86-9276-8CFE2421056E}" type="slidenum">
              <a:rPr lang="en-US" altLang="zh-CN" sz="1200">
                <a:latin typeface="Arial" pitchFamily="34" charset="0"/>
              </a:rPr>
              <a:pPr eaLnBrk="1" hangingPunct="1"/>
              <a:t>48</a:t>
            </a:fld>
            <a:endParaRPr lang="en-US" altLang="zh-CN" sz="1200">
              <a:latin typeface="Arial" pitchFamily="34" charset="0"/>
            </a:endParaRPr>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30B15B5-0CF8-4A57-B5B4-B5F6B0AA5703}" type="slidenum">
              <a:rPr lang="en-US" altLang="zh-CN" sz="1200">
                <a:latin typeface="Arial" pitchFamily="34" charset="0"/>
              </a:rPr>
              <a:pPr eaLnBrk="1" hangingPunct="1"/>
              <a:t>49</a:t>
            </a:fld>
            <a:endParaRPr lang="en-US" altLang="zh-CN" sz="1200">
              <a:latin typeface="Arial" pitchFamily="34" charset="0"/>
            </a:endParaRPr>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A7AF9821-BA74-4D40-A35E-F5BCF79ACFF7}" type="slidenum">
              <a:rPr lang="en-US" altLang="zh-CN" sz="1200">
                <a:latin typeface="Arial" pitchFamily="34" charset="0"/>
              </a:rPr>
              <a:pPr eaLnBrk="1" hangingPunct="1"/>
              <a:t>50</a:t>
            </a:fld>
            <a:endParaRPr lang="en-US" altLang="zh-CN" sz="1200">
              <a:latin typeface="Arial" pitchFamily="34"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88B7F83-6DAA-4BAD-91CA-58C3E8976B52}" type="slidenum">
              <a:rPr lang="en-US" altLang="zh-CN" sz="1200">
                <a:latin typeface="Arial" pitchFamily="34" charset="0"/>
              </a:rPr>
              <a:pPr eaLnBrk="1" hangingPunct="1"/>
              <a:t>51</a:t>
            </a:fld>
            <a:endParaRPr lang="en-US" altLang="zh-CN" sz="1200">
              <a:latin typeface="Arial" pitchFamily="34" charset="0"/>
            </a:endParaRPr>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2987096-8251-4BE1-936E-9E609589F2A5}" type="slidenum">
              <a:rPr lang="en-US" altLang="zh-CN" sz="1200">
                <a:latin typeface="Arial" pitchFamily="34" charset="0"/>
              </a:rPr>
              <a:pPr eaLnBrk="1" hangingPunct="1"/>
              <a:t>52</a:t>
            </a:fld>
            <a:endParaRPr lang="en-US" altLang="zh-CN" sz="1200">
              <a:latin typeface="Arial" pitchFamily="34" charset="0"/>
            </a:endParaRPr>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A914669-7316-41D3-8AFA-CAA195D63C8D}" type="slidenum">
              <a:rPr lang="en-US" altLang="zh-CN" sz="1200">
                <a:latin typeface="Arial" pitchFamily="34" charset="0"/>
              </a:rPr>
              <a:pPr eaLnBrk="1" hangingPunct="1"/>
              <a:t>53</a:t>
            </a:fld>
            <a:endParaRPr lang="en-US" altLang="zh-CN" sz="1200">
              <a:latin typeface="Arial" pitchFamily="34" charset="0"/>
            </a:endParaRPr>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51C6EB0-B829-4882-B03E-3E465466376E}" type="slidenum">
              <a:rPr lang="en-US" altLang="zh-CN" sz="1200">
                <a:latin typeface="Arial" pitchFamily="34" charset="0"/>
              </a:rPr>
              <a:pPr eaLnBrk="1" hangingPunct="1"/>
              <a:t>54</a:t>
            </a:fld>
            <a:endParaRPr lang="en-US" altLang="zh-CN" sz="1200">
              <a:latin typeface="Arial" pitchFamily="34" charset="0"/>
            </a:endParaRPr>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60B5A5A-A9C0-4A3F-B730-740280A13ACC}" type="slidenum">
              <a:rPr lang="en-US" altLang="zh-CN" sz="1200">
                <a:latin typeface="Arial" pitchFamily="34" charset="0"/>
              </a:rPr>
              <a:pPr eaLnBrk="1" hangingPunct="1"/>
              <a:t>55</a:t>
            </a:fld>
            <a:endParaRPr lang="en-US" altLang="zh-CN" sz="1200">
              <a:latin typeface="Arial" pitchFamily="34" charset="0"/>
            </a:endParaRPr>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D43A668-54D8-45F4-9431-E2CFA94DF4AB}" type="slidenum">
              <a:rPr lang="en-US" altLang="zh-CN" sz="1200">
                <a:latin typeface="Arial" pitchFamily="34" charset="0"/>
              </a:rPr>
              <a:pPr eaLnBrk="1" hangingPunct="1"/>
              <a:t>56</a:t>
            </a:fld>
            <a:endParaRPr lang="en-US" altLang="zh-CN" sz="1200">
              <a:latin typeface="Arial" pitchFamily="34" charset="0"/>
            </a:endParaRPr>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60DEAD1-7C36-4DA0-BBA7-0F63ECBEC0FC}" type="slidenum">
              <a:rPr lang="en-US" altLang="zh-CN" sz="1200">
                <a:latin typeface="Arial" pitchFamily="34" charset="0"/>
              </a:rPr>
              <a:pPr eaLnBrk="1" hangingPunct="1"/>
              <a:t>57</a:t>
            </a:fld>
            <a:endParaRPr lang="en-US" altLang="zh-CN" sz="1200">
              <a:latin typeface="Arial" pitchFamily="34" charset="0"/>
            </a:endParaRPr>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15C52F9-4C8A-4AC2-AE0A-2687D0121AA4}" type="slidenum">
              <a:rPr lang="en-US" altLang="zh-CN" sz="1200">
                <a:latin typeface="Arial" pitchFamily="34" charset="0"/>
              </a:rPr>
              <a:pPr eaLnBrk="1" hangingPunct="1"/>
              <a:t>58</a:t>
            </a:fld>
            <a:endParaRPr lang="en-US" altLang="zh-CN" sz="1200">
              <a:latin typeface="Arial" pitchFamily="34" charset="0"/>
            </a:endParaRPr>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BF2AB3B-10B1-4217-9773-EB4850BBBE25}" type="slidenum">
              <a:rPr lang="en-US" altLang="zh-CN" sz="1200">
                <a:latin typeface="Arial" pitchFamily="34" charset="0"/>
              </a:rPr>
              <a:pPr eaLnBrk="1" hangingPunct="1"/>
              <a:t>59</a:t>
            </a:fld>
            <a:endParaRPr lang="en-US" altLang="zh-CN" sz="1200">
              <a:latin typeface="Arial" pitchFamily="34" charset="0"/>
            </a:endParaRPr>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D603668-B094-4221-AECA-E8F5F1D04082}" type="slidenum">
              <a:rPr lang="en-US" altLang="zh-CN" sz="1200">
                <a:latin typeface="Arial" pitchFamily="34" charset="0"/>
              </a:rPr>
              <a:pPr eaLnBrk="1" hangingPunct="1"/>
              <a:t>60</a:t>
            </a:fld>
            <a:endParaRPr lang="en-US" altLang="zh-CN" sz="1200">
              <a:latin typeface="Arial" pitchFamily="34" charset="0"/>
            </a:endParaRPr>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E41C0F2-AFB8-4053-A282-83303ADC22B6}" type="slidenum">
              <a:rPr lang="en-US" altLang="zh-CN" sz="1200">
                <a:latin typeface="Arial" pitchFamily="34" charset="0"/>
              </a:rPr>
              <a:pPr eaLnBrk="1" hangingPunct="1"/>
              <a:t>61</a:t>
            </a:fld>
            <a:endParaRPr lang="en-US" altLang="zh-CN" sz="1200">
              <a:latin typeface="Arial" pitchFamily="34" charset="0"/>
            </a:endParaRPr>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D61123B-295B-47D6-AAA6-C20FC36C7B29}" type="slidenum">
              <a:rPr lang="en-US" altLang="zh-CN" sz="1200">
                <a:latin typeface="Arial" pitchFamily="34" charset="0"/>
              </a:rPr>
              <a:pPr eaLnBrk="1" hangingPunct="1"/>
              <a:t>62</a:t>
            </a:fld>
            <a:endParaRPr lang="en-US" altLang="zh-CN" sz="1200">
              <a:latin typeface="Arial" pitchFamily="34" charset="0"/>
            </a:endParaRPr>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24867B32-9887-47DD-A8F5-26D8387C51BB}" type="slidenum">
              <a:rPr lang="en-US" altLang="zh-CN" sz="1200">
                <a:latin typeface="Arial" pitchFamily="34" charset="0"/>
              </a:rPr>
              <a:pPr eaLnBrk="1" hangingPunct="1"/>
              <a:t>63</a:t>
            </a:fld>
            <a:endParaRPr lang="en-US" altLang="zh-CN" sz="1200">
              <a:latin typeface="Arial" pitchFamily="34" charset="0"/>
            </a:endParaRPr>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F44F7E7-1228-4341-82AC-223FD1922139}" type="slidenum">
              <a:rPr lang="en-US" altLang="zh-CN" sz="1200">
                <a:latin typeface="Arial" pitchFamily="34" charset="0"/>
              </a:rPr>
              <a:pPr eaLnBrk="1" hangingPunct="1"/>
              <a:t>64</a:t>
            </a:fld>
            <a:endParaRPr lang="en-US" altLang="zh-CN" sz="1200">
              <a:latin typeface="Arial" pitchFamily="34" charset="0"/>
            </a:endParaRP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01B57CD-9101-41E1-80CE-C6BAA268FD3E}" type="slidenum">
              <a:rPr lang="en-US" altLang="zh-CN" sz="1200">
                <a:latin typeface="Arial" pitchFamily="34" charset="0"/>
              </a:rPr>
              <a:pPr eaLnBrk="1" hangingPunct="1"/>
              <a:t>65</a:t>
            </a:fld>
            <a:endParaRPr lang="en-US" altLang="zh-CN" sz="1200">
              <a:latin typeface="Arial" pitchFamily="34" charset="0"/>
            </a:endParaRPr>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8148809-0DF2-4CDE-87C6-0C0B60867796}" type="slidenum">
              <a:rPr lang="en-US" altLang="zh-CN" sz="1200">
                <a:latin typeface="Arial" pitchFamily="34" charset="0"/>
              </a:rPr>
              <a:pPr eaLnBrk="1" hangingPunct="1"/>
              <a:t>66</a:t>
            </a:fld>
            <a:endParaRPr lang="en-US" altLang="zh-CN" sz="1200">
              <a:latin typeface="Arial" pitchFamily="34" charset="0"/>
            </a:endParaRPr>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5C02E76-88A2-4383-96CC-1CB08204478B}" type="slidenum">
              <a:rPr lang="en-US" altLang="zh-CN" sz="1200">
                <a:latin typeface="Arial" pitchFamily="34" charset="0"/>
              </a:rPr>
              <a:pPr eaLnBrk="1" hangingPunct="1"/>
              <a:t>67</a:t>
            </a:fld>
            <a:endParaRPr lang="en-US" altLang="zh-CN" sz="1200">
              <a:latin typeface="Arial" pitchFamily="34" charset="0"/>
            </a:endParaRPr>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B9555D5-24E4-4EEE-AD2C-5ABF00724D48}" type="slidenum">
              <a:rPr lang="en-US" altLang="zh-CN" sz="1200">
                <a:latin typeface="Arial" pitchFamily="34" charset="0"/>
              </a:rPr>
              <a:pPr eaLnBrk="1" hangingPunct="1"/>
              <a:t>68</a:t>
            </a:fld>
            <a:endParaRPr lang="en-US" altLang="zh-CN" sz="1200">
              <a:latin typeface="Arial" pitchFamily="34" charset="0"/>
            </a:endParaRPr>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70789E7-4974-4409-A70D-277AD3672703}" type="slidenum">
              <a:rPr lang="en-US" altLang="zh-CN" sz="1200">
                <a:latin typeface="Arial" pitchFamily="34" charset="0"/>
              </a:rPr>
              <a:pPr eaLnBrk="1" hangingPunct="1"/>
              <a:t>69</a:t>
            </a:fld>
            <a:endParaRPr lang="en-US" altLang="zh-CN" sz="1200">
              <a:latin typeface="Arial" pitchFamily="34" charset="0"/>
            </a:endParaRPr>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AB8D6BE-7275-44E3-92C7-F95D94D7B963}" type="slidenum">
              <a:rPr lang="en-US" altLang="zh-CN" sz="1200">
                <a:latin typeface="Arial" pitchFamily="34" charset="0"/>
              </a:rPr>
              <a:pPr eaLnBrk="1" hangingPunct="1"/>
              <a:t>70</a:t>
            </a:fld>
            <a:endParaRPr lang="en-US" altLang="zh-CN" sz="1200">
              <a:latin typeface="Arial" pitchFamily="34" charset="0"/>
            </a:endParaRPr>
          </a:p>
        </p:txBody>
      </p:sp>
      <p:sp>
        <p:nvSpPr>
          <p:cNvPr id="201731" name="Rectangle 2"/>
          <p:cNvSpPr>
            <a:spLocks noGrp="1" noRot="1" noChangeAspect="1" noChangeArrowheads="1" noTextEdit="1"/>
          </p:cNvSpPr>
          <p:nvPr>
            <p:ph type="sldImg"/>
          </p:nvPr>
        </p:nvSpPr>
        <p:spPr>
          <a:ln/>
        </p:spPr>
      </p:sp>
      <p:sp>
        <p:nvSpPr>
          <p:cNvPr id="2017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0F20370-43B6-4AA1-8D6F-D9CA9A21AF76}" type="slidenum">
              <a:rPr lang="en-US" altLang="zh-CN" sz="1200">
                <a:latin typeface="Arial" pitchFamily="34" charset="0"/>
              </a:rPr>
              <a:pPr eaLnBrk="1" hangingPunct="1"/>
              <a:t>71</a:t>
            </a:fld>
            <a:endParaRPr lang="en-US" altLang="zh-CN" sz="1200">
              <a:latin typeface="Arial" pitchFamily="34" charset="0"/>
            </a:endParaRPr>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577DD1A-1164-44F5-AC5B-337A584F0E02}" type="slidenum">
              <a:rPr lang="en-US" altLang="zh-CN" sz="1200">
                <a:latin typeface="Arial" pitchFamily="34" charset="0"/>
              </a:rPr>
              <a:pPr eaLnBrk="1" hangingPunct="1"/>
              <a:t>72</a:t>
            </a:fld>
            <a:endParaRPr lang="en-US" altLang="zh-CN" sz="1200">
              <a:latin typeface="Arial" pitchFamily="34" charset="0"/>
            </a:endParaRPr>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8759CFE-A311-4F76-86DD-020C3BE438EF}" type="slidenum">
              <a:rPr lang="en-US" altLang="zh-CN" sz="1200">
                <a:latin typeface="Arial" pitchFamily="34" charset="0"/>
              </a:rPr>
              <a:pPr eaLnBrk="1" hangingPunct="1"/>
              <a:t>74</a:t>
            </a:fld>
            <a:endParaRPr lang="en-US" altLang="zh-CN" sz="1200">
              <a:latin typeface="Arial" pitchFamily="34" charset="0"/>
            </a:endParaRPr>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050E962-0AC8-4C08-8EA4-2EC332B15CBC}" type="slidenum">
              <a:rPr lang="en-US" altLang="zh-CN" sz="1200">
                <a:latin typeface="Arial" pitchFamily="34" charset="0"/>
              </a:rPr>
              <a:pPr eaLnBrk="1" hangingPunct="1"/>
              <a:t>75</a:t>
            </a:fld>
            <a:endParaRPr lang="en-US" altLang="zh-CN" sz="1200">
              <a:latin typeface="Arial" pitchFamily="34" charset="0"/>
            </a:endParaRPr>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2FF0BE4B-48CF-4B78-AB9C-CA6B1181C84B}" type="slidenum">
              <a:rPr lang="en-US" altLang="zh-CN" sz="1200">
                <a:latin typeface="Arial" pitchFamily="34" charset="0"/>
              </a:rPr>
              <a:pPr eaLnBrk="1" hangingPunct="1"/>
              <a:t>76</a:t>
            </a:fld>
            <a:endParaRPr lang="en-US" altLang="zh-CN" sz="1200">
              <a:latin typeface="Arial" pitchFamily="34" charset="0"/>
            </a:endParaRPr>
          </a:p>
        </p:txBody>
      </p:sp>
      <p:sp>
        <p:nvSpPr>
          <p:cNvPr id="206851" name="Rectangle 2"/>
          <p:cNvSpPr>
            <a:spLocks noGrp="1" noRot="1" noChangeAspect="1" noChangeArrowheads="1" noTextEdit="1"/>
          </p:cNvSpPr>
          <p:nvPr>
            <p:ph type="sldImg"/>
          </p:nvPr>
        </p:nvSpPr>
        <p:spPr>
          <a:ln/>
        </p:spPr>
      </p:sp>
      <p:sp>
        <p:nvSpPr>
          <p:cNvPr id="2068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181734E-8B0F-41E3-BFB8-FCCC787A291D}" type="slidenum">
              <a:rPr lang="en-US" altLang="zh-CN" sz="1200">
                <a:latin typeface="Arial" pitchFamily="34" charset="0"/>
              </a:rPr>
              <a:pPr eaLnBrk="1" hangingPunct="1"/>
              <a:t>77</a:t>
            </a:fld>
            <a:endParaRPr lang="en-US" altLang="zh-CN" sz="1200">
              <a:latin typeface="Arial" pitchFamily="34" charset="0"/>
            </a:endParaRPr>
          </a:p>
        </p:txBody>
      </p:sp>
      <p:sp>
        <p:nvSpPr>
          <p:cNvPr id="207875" name="Rectangle 2"/>
          <p:cNvSpPr>
            <a:spLocks noGrp="1" noRot="1" noChangeAspect="1" noChangeArrowheads="1" noTextEdit="1"/>
          </p:cNvSpPr>
          <p:nvPr>
            <p:ph type="sldImg"/>
          </p:nvPr>
        </p:nvSpPr>
        <p:spPr>
          <a:ln/>
        </p:spPr>
      </p:sp>
      <p:sp>
        <p:nvSpPr>
          <p:cNvPr id="2078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2B194E0-AAC2-4739-A033-4C5147006749}" type="slidenum">
              <a:rPr lang="en-US" altLang="zh-CN" sz="1200">
                <a:latin typeface="Arial" pitchFamily="34" charset="0"/>
              </a:rPr>
              <a:pPr eaLnBrk="1" hangingPunct="1"/>
              <a:t>80</a:t>
            </a:fld>
            <a:endParaRPr lang="en-US" altLang="zh-CN" sz="1200">
              <a:latin typeface="Arial" pitchFamily="34" charset="0"/>
            </a:endParaRPr>
          </a:p>
        </p:txBody>
      </p:sp>
      <p:sp>
        <p:nvSpPr>
          <p:cNvPr id="208899" name="Rectangle 2"/>
          <p:cNvSpPr>
            <a:spLocks noGrp="1" noRot="1" noChangeAspect="1" noChangeArrowheads="1" noTextEdit="1"/>
          </p:cNvSpPr>
          <p:nvPr>
            <p:ph type="sldImg"/>
          </p:nvPr>
        </p:nvSpPr>
        <p:spPr>
          <a:ln/>
        </p:spPr>
      </p:sp>
      <p:sp>
        <p:nvSpPr>
          <p:cNvPr id="20890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57BFD63-E38E-4064-84D7-FEB8D81BF684}" type="slidenum">
              <a:rPr lang="en-US" altLang="zh-CN" sz="1200">
                <a:latin typeface="Arial" pitchFamily="34" charset="0"/>
              </a:rPr>
              <a:pPr eaLnBrk="1" hangingPunct="1"/>
              <a:t>81</a:t>
            </a:fld>
            <a:endParaRPr lang="en-US" altLang="zh-CN" sz="1200">
              <a:latin typeface="Arial" pitchFamily="34" charset="0"/>
            </a:endParaRPr>
          </a:p>
        </p:txBody>
      </p:sp>
      <p:sp>
        <p:nvSpPr>
          <p:cNvPr id="209923" name="Rectangle 2"/>
          <p:cNvSpPr>
            <a:spLocks noGrp="1" noRot="1" noChangeAspect="1" noChangeArrowheads="1" noTextEdit="1"/>
          </p:cNvSpPr>
          <p:nvPr>
            <p:ph type="sldImg"/>
          </p:nvPr>
        </p:nvSpPr>
        <p:spPr>
          <a:ln/>
        </p:spPr>
      </p:sp>
      <p:sp>
        <p:nvSpPr>
          <p:cNvPr id="20992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FECF126C-F122-4C38-A417-EA3D688F6852}" type="slidenum">
              <a:rPr lang="en-US" altLang="zh-CN" sz="1200">
                <a:latin typeface="Arial" pitchFamily="34" charset="0"/>
              </a:rPr>
              <a:pPr eaLnBrk="1" hangingPunct="1"/>
              <a:t>82</a:t>
            </a:fld>
            <a:endParaRPr lang="en-US" altLang="zh-CN" sz="1200">
              <a:latin typeface="Arial" pitchFamily="34" charset="0"/>
            </a:endParaRPr>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757C5F5-7EE1-4070-A34E-24086213D720}" type="slidenum">
              <a:rPr lang="en-US" altLang="zh-CN" sz="1200">
                <a:latin typeface="Arial" pitchFamily="34" charset="0"/>
              </a:rPr>
              <a:pPr eaLnBrk="1" hangingPunct="1"/>
              <a:t>85</a:t>
            </a:fld>
            <a:endParaRPr lang="en-US" altLang="zh-CN" sz="1200">
              <a:latin typeface="Arial" pitchFamily="34" charset="0"/>
            </a:endParaRPr>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80B3F24-D4DE-4202-B409-11A6F8877B11}" type="slidenum">
              <a:rPr lang="en-US" altLang="zh-CN" sz="1200">
                <a:latin typeface="Arial" pitchFamily="34" charset="0"/>
              </a:rPr>
              <a:pPr eaLnBrk="1" hangingPunct="1"/>
              <a:t>94</a:t>
            </a:fld>
            <a:endParaRPr lang="en-US" altLang="zh-CN" sz="1200">
              <a:latin typeface="Arial" pitchFamily="34" charset="0"/>
            </a:endParaRPr>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FF77C04A-082C-4407-976E-EFA7FFF4690D}" type="slidenum">
              <a:rPr lang="en-US" altLang="zh-CN" sz="1200">
                <a:latin typeface="Arial" pitchFamily="34" charset="0"/>
              </a:rPr>
              <a:pPr eaLnBrk="1" hangingPunct="1"/>
              <a:t>95</a:t>
            </a:fld>
            <a:endParaRPr lang="en-US" altLang="zh-CN" sz="1200">
              <a:latin typeface="Arial" pitchFamily="34" charset="0"/>
            </a:endParaRPr>
          </a:p>
        </p:txBody>
      </p:sp>
      <p:sp>
        <p:nvSpPr>
          <p:cNvPr id="214019" name="Rectangle 2"/>
          <p:cNvSpPr>
            <a:spLocks noGrp="1" noRot="1" noChangeAspect="1" noChangeArrowheads="1" noTextEdit="1"/>
          </p:cNvSpPr>
          <p:nvPr>
            <p:ph type="sldImg"/>
          </p:nvPr>
        </p:nvSpPr>
        <p:spPr>
          <a:ln/>
        </p:spPr>
      </p:sp>
      <p:sp>
        <p:nvSpPr>
          <p:cNvPr id="21402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E6717B9-8499-4DF1-B5F3-3E3357411D86}" type="slidenum">
              <a:rPr lang="en-US" altLang="zh-CN" sz="1200">
                <a:latin typeface="Arial" pitchFamily="34" charset="0"/>
              </a:rPr>
              <a:pPr eaLnBrk="1" hangingPunct="1"/>
              <a:t>100</a:t>
            </a:fld>
            <a:endParaRPr lang="en-US" altLang="zh-CN" sz="1200">
              <a:latin typeface="Arial" pitchFamily="34" charset="0"/>
            </a:endParaRPr>
          </a:p>
        </p:txBody>
      </p:sp>
      <p:sp>
        <p:nvSpPr>
          <p:cNvPr id="215043" name="Rectangle 2"/>
          <p:cNvSpPr>
            <a:spLocks noGrp="1" noRot="1" noChangeAspect="1" noChangeArrowheads="1" noTextEdit="1"/>
          </p:cNvSpPr>
          <p:nvPr>
            <p:ph type="sldImg"/>
          </p:nvPr>
        </p:nvSpPr>
        <p:spPr>
          <a:ln/>
        </p:spPr>
      </p:sp>
      <p:sp>
        <p:nvSpPr>
          <p:cNvPr id="21504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7514D18-1F3C-431D-8DBB-D84910B07C4D}" type="slidenum">
              <a:rPr lang="en-US" altLang="zh-CN" sz="1200">
                <a:latin typeface="Arial" pitchFamily="34" charset="0"/>
              </a:rPr>
              <a:pPr eaLnBrk="1" hangingPunct="1"/>
              <a:t>101</a:t>
            </a:fld>
            <a:endParaRPr lang="en-US" altLang="zh-CN" sz="1200">
              <a:latin typeface="Arial" pitchFamily="34" charset="0"/>
            </a:endParaRPr>
          </a:p>
        </p:txBody>
      </p:sp>
      <p:sp>
        <p:nvSpPr>
          <p:cNvPr id="216067" name="Rectangle 2"/>
          <p:cNvSpPr>
            <a:spLocks noGrp="1" noRot="1" noChangeAspect="1" noChangeArrowheads="1" noTextEdit="1"/>
          </p:cNvSpPr>
          <p:nvPr>
            <p:ph type="sldImg"/>
          </p:nvPr>
        </p:nvSpPr>
        <p:spPr>
          <a:ln/>
        </p:spPr>
      </p:sp>
      <p:sp>
        <p:nvSpPr>
          <p:cNvPr id="21606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F773B742-F571-4BDC-AB88-9F843EDFA471}" type="slidenum">
              <a:rPr lang="en-US" altLang="zh-CN" sz="1200">
                <a:latin typeface="Arial" pitchFamily="34" charset="0"/>
              </a:rPr>
              <a:pPr eaLnBrk="1" hangingPunct="1"/>
              <a:t>102</a:t>
            </a:fld>
            <a:endParaRPr lang="en-US" altLang="zh-CN" sz="1200">
              <a:latin typeface="Arial" pitchFamily="34" charset="0"/>
            </a:endParaRPr>
          </a:p>
        </p:txBody>
      </p:sp>
      <p:sp>
        <p:nvSpPr>
          <p:cNvPr id="217091" name="Rectangle 2"/>
          <p:cNvSpPr>
            <a:spLocks noGrp="1" noRot="1" noChangeAspect="1" noChangeArrowheads="1" noTextEdit="1"/>
          </p:cNvSpPr>
          <p:nvPr>
            <p:ph type="sldImg"/>
          </p:nvPr>
        </p:nvSpPr>
        <p:spPr>
          <a:ln/>
        </p:spPr>
      </p:sp>
      <p:sp>
        <p:nvSpPr>
          <p:cNvPr id="21709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A414590-ED8D-4095-952D-E8A5C4F704A7}" type="slidenum">
              <a:rPr lang="en-US" altLang="zh-CN" sz="1200">
                <a:latin typeface="Arial" pitchFamily="34" charset="0"/>
              </a:rPr>
              <a:pPr eaLnBrk="1" hangingPunct="1"/>
              <a:t>103</a:t>
            </a:fld>
            <a:endParaRPr lang="en-US" altLang="zh-CN" sz="1200">
              <a:latin typeface="Arial" pitchFamily="34" charset="0"/>
            </a:endParaRPr>
          </a:p>
        </p:txBody>
      </p:sp>
      <p:sp>
        <p:nvSpPr>
          <p:cNvPr id="218115" name="Rectangle 2"/>
          <p:cNvSpPr>
            <a:spLocks noGrp="1" noRot="1" noChangeAspect="1" noChangeArrowheads="1" noTextEdit="1"/>
          </p:cNvSpPr>
          <p:nvPr>
            <p:ph type="sldImg"/>
          </p:nvPr>
        </p:nvSpPr>
        <p:spPr>
          <a:ln/>
        </p:spPr>
      </p:sp>
      <p:sp>
        <p:nvSpPr>
          <p:cNvPr id="21811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534F491-6381-4EB1-BD9B-008EABBE875C}" type="slidenum">
              <a:rPr lang="en-US" altLang="zh-CN" sz="1200">
                <a:latin typeface="Arial" pitchFamily="34" charset="0"/>
              </a:rPr>
              <a:pPr eaLnBrk="1" hangingPunct="1"/>
              <a:t>104</a:t>
            </a:fld>
            <a:endParaRPr lang="en-US" altLang="zh-CN" sz="1200">
              <a:latin typeface="Arial" pitchFamily="34" charset="0"/>
            </a:endParaRPr>
          </a:p>
        </p:txBody>
      </p:sp>
      <p:sp>
        <p:nvSpPr>
          <p:cNvPr id="219139" name="Rectangle 2"/>
          <p:cNvSpPr>
            <a:spLocks noGrp="1" noRot="1" noChangeAspect="1" noChangeArrowheads="1" noTextEdit="1"/>
          </p:cNvSpPr>
          <p:nvPr>
            <p:ph type="sldImg"/>
          </p:nvPr>
        </p:nvSpPr>
        <p:spPr>
          <a:ln/>
        </p:spPr>
      </p:sp>
      <p:sp>
        <p:nvSpPr>
          <p:cNvPr id="21914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10718A6-CD50-4AAE-B393-56EDC39A035E}" type="slidenum">
              <a:rPr lang="en-US" altLang="zh-CN" sz="1200">
                <a:latin typeface="Arial" pitchFamily="34" charset="0"/>
              </a:rPr>
              <a:pPr eaLnBrk="1" hangingPunct="1"/>
              <a:t>105</a:t>
            </a:fld>
            <a:endParaRPr lang="en-US" altLang="zh-CN" sz="1200">
              <a:latin typeface="Arial" pitchFamily="34" charset="0"/>
            </a:endParaRPr>
          </a:p>
        </p:txBody>
      </p:sp>
      <p:sp>
        <p:nvSpPr>
          <p:cNvPr id="220163" name="Rectangle 2"/>
          <p:cNvSpPr>
            <a:spLocks noGrp="1" noRot="1" noChangeAspect="1" noChangeArrowheads="1" noTextEdit="1"/>
          </p:cNvSpPr>
          <p:nvPr>
            <p:ph type="sldImg"/>
          </p:nvPr>
        </p:nvSpPr>
        <p:spPr>
          <a:ln/>
        </p:spPr>
      </p:sp>
      <p:sp>
        <p:nvSpPr>
          <p:cNvPr id="22016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A999D1D-5FF9-4838-997A-C07B8B913602}" type="slidenum">
              <a:rPr lang="en-US" altLang="zh-CN" sz="1200">
                <a:latin typeface="Arial" pitchFamily="34" charset="0"/>
              </a:rPr>
              <a:pPr eaLnBrk="1" hangingPunct="1"/>
              <a:t>106</a:t>
            </a:fld>
            <a:endParaRPr lang="en-US" altLang="zh-CN" sz="1200">
              <a:latin typeface="Arial" pitchFamily="34" charset="0"/>
            </a:endParaRPr>
          </a:p>
        </p:txBody>
      </p:sp>
      <p:sp>
        <p:nvSpPr>
          <p:cNvPr id="221187" name="Rectangle 2"/>
          <p:cNvSpPr>
            <a:spLocks noGrp="1" noRot="1" noChangeAspect="1" noChangeArrowheads="1" noTextEdit="1"/>
          </p:cNvSpPr>
          <p:nvPr>
            <p:ph type="sldImg"/>
          </p:nvPr>
        </p:nvSpPr>
        <p:spPr>
          <a:ln/>
        </p:spPr>
      </p:sp>
      <p:sp>
        <p:nvSpPr>
          <p:cNvPr id="22118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1259394-D775-4DFA-B2B9-50D961D9040D}" type="slidenum">
              <a:rPr lang="en-US" altLang="zh-CN" sz="1200">
                <a:latin typeface="Arial" pitchFamily="34" charset="0"/>
              </a:rPr>
              <a:pPr eaLnBrk="1" hangingPunct="1"/>
              <a:t>107</a:t>
            </a:fld>
            <a:endParaRPr lang="en-US" altLang="zh-CN" sz="1200">
              <a:latin typeface="Arial" pitchFamily="34" charset="0"/>
            </a:endParaRPr>
          </a:p>
        </p:txBody>
      </p:sp>
      <p:sp>
        <p:nvSpPr>
          <p:cNvPr id="222211" name="Rectangle 2"/>
          <p:cNvSpPr>
            <a:spLocks noGrp="1" noRot="1" noChangeAspect="1" noChangeArrowheads="1" noTextEdit="1"/>
          </p:cNvSpPr>
          <p:nvPr>
            <p:ph type="sldImg"/>
          </p:nvPr>
        </p:nvSpPr>
        <p:spPr>
          <a:ln/>
        </p:spPr>
      </p:sp>
      <p:sp>
        <p:nvSpPr>
          <p:cNvPr id="22221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A92DC41A-5802-4BDA-8688-CD003C702593}" type="slidenum">
              <a:rPr lang="en-US" altLang="zh-CN" sz="1200">
                <a:latin typeface="Arial" pitchFamily="34" charset="0"/>
              </a:rPr>
              <a:pPr eaLnBrk="1" hangingPunct="1"/>
              <a:t>109</a:t>
            </a:fld>
            <a:endParaRPr lang="en-US" altLang="zh-CN" sz="1200">
              <a:latin typeface="Arial" pitchFamily="34" charset="0"/>
            </a:endParaRPr>
          </a:p>
        </p:txBody>
      </p:sp>
      <p:sp>
        <p:nvSpPr>
          <p:cNvPr id="223235" name="Rectangle 2"/>
          <p:cNvSpPr>
            <a:spLocks noGrp="1" noRot="1" noChangeAspect="1" noChangeArrowheads="1" noTextEdit="1"/>
          </p:cNvSpPr>
          <p:nvPr>
            <p:ph type="sldImg"/>
          </p:nvPr>
        </p:nvSpPr>
        <p:spPr>
          <a:ln/>
        </p:spPr>
      </p:sp>
      <p:sp>
        <p:nvSpPr>
          <p:cNvPr id="22323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FA5B4B7-FDE0-44BA-ADC9-D0CC078CFFC3}" type="slidenum">
              <a:rPr lang="en-US" altLang="zh-CN" sz="1200">
                <a:latin typeface="Arial" pitchFamily="34" charset="0"/>
              </a:rPr>
              <a:pPr eaLnBrk="1" hangingPunct="1"/>
              <a:t>110</a:t>
            </a:fld>
            <a:endParaRPr lang="en-US" altLang="zh-CN" sz="1200">
              <a:latin typeface="Arial" pitchFamily="34" charset="0"/>
            </a:endParaRPr>
          </a:p>
        </p:txBody>
      </p:sp>
      <p:sp>
        <p:nvSpPr>
          <p:cNvPr id="224259" name="Rectangle 2"/>
          <p:cNvSpPr>
            <a:spLocks noGrp="1" noRot="1" noChangeAspect="1" noChangeArrowheads="1" noTextEdit="1"/>
          </p:cNvSpPr>
          <p:nvPr>
            <p:ph type="sldImg"/>
          </p:nvPr>
        </p:nvSpPr>
        <p:spPr>
          <a:ln/>
        </p:spPr>
      </p:sp>
      <p:sp>
        <p:nvSpPr>
          <p:cNvPr id="22426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6950336-7A79-4BE1-B63F-DF53C4867E1A}" type="slidenum">
              <a:rPr lang="en-US" altLang="zh-CN" sz="1200">
                <a:latin typeface="Arial" pitchFamily="34" charset="0"/>
              </a:rPr>
              <a:pPr eaLnBrk="1" hangingPunct="1"/>
              <a:t>111</a:t>
            </a:fld>
            <a:endParaRPr lang="en-US" altLang="zh-CN" sz="1200">
              <a:latin typeface="Arial" pitchFamily="34" charset="0"/>
            </a:endParaRPr>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749DCA4-4000-4F98-B9B1-19FAC0698CFE}" type="slidenum">
              <a:rPr lang="en-US" altLang="zh-CN" sz="1200">
                <a:latin typeface="Arial" pitchFamily="34" charset="0"/>
              </a:rPr>
              <a:pPr eaLnBrk="1" hangingPunct="1"/>
              <a:t>112</a:t>
            </a:fld>
            <a:endParaRPr lang="en-US" altLang="zh-CN" sz="1200">
              <a:latin typeface="Arial" pitchFamily="34" charset="0"/>
            </a:endParaRPr>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08EEF73-D71A-4EB2-A506-91A3A47F32BF}" type="slidenum">
              <a:rPr lang="en-US" altLang="zh-CN" sz="1200">
                <a:latin typeface="Arial" pitchFamily="34" charset="0"/>
              </a:rPr>
              <a:pPr eaLnBrk="1" hangingPunct="1"/>
              <a:t>113</a:t>
            </a:fld>
            <a:endParaRPr lang="en-US" altLang="zh-CN" sz="1200">
              <a:latin typeface="Arial" pitchFamily="34" charset="0"/>
            </a:endParaRPr>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294BB96-ADC8-4B8A-A9FA-E040A57410AD}" type="slidenum">
              <a:rPr lang="en-US" altLang="zh-CN" sz="1200">
                <a:latin typeface="Arial" pitchFamily="34" charset="0"/>
              </a:rPr>
              <a:pPr eaLnBrk="1" hangingPunct="1"/>
              <a:t>114</a:t>
            </a:fld>
            <a:endParaRPr lang="en-US" altLang="zh-CN" sz="1200">
              <a:latin typeface="Arial" pitchFamily="34" charset="0"/>
            </a:endParaRPr>
          </a:p>
        </p:txBody>
      </p:sp>
      <p:sp>
        <p:nvSpPr>
          <p:cNvPr id="228355" name="Rectangle 2"/>
          <p:cNvSpPr>
            <a:spLocks noGrp="1" noRot="1" noChangeAspect="1" noChangeArrowheads="1" noTextEdit="1"/>
          </p:cNvSpPr>
          <p:nvPr>
            <p:ph type="sldImg"/>
          </p:nvPr>
        </p:nvSpPr>
        <p:spPr>
          <a:ln/>
        </p:spPr>
      </p:sp>
      <p:sp>
        <p:nvSpPr>
          <p:cNvPr id="22835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A652BED2-6B99-4191-A3D5-E56ED3B99431}" type="slidenum">
              <a:rPr lang="en-US" altLang="zh-CN" sz="1200">
                <a:latin typeface="Arial" pitchFamily="34" charset="0"/>
              </a:rPr>
              <a:pPr eaLnBrk="1" hangingPunct="1"/>
              <a:t>115</a:t>
            </a:fld>
            <a:endParaRPr lang="en-US" altLang="zh-CN" sz="1200">
              <a:latin typeface="Arial" pitchFamily="34" charset="0"/>
            </a:endParaRPr>
          </a:p>
        </p:txBody>
      </p:sp>
      <p:sp>
        <p:nvSpPr>
          <p:cNvPr id="229379" name="Rectangle 2"/>
          <p:cNvSpPr>
            <a:spLocks noGrp="1" noRot="1" noChangeAspect="1" noChangeArrowheads="1" noTextEdit="1"/>
          </p:cNvSpPr>
          <p:nvPr>
            <p:ph type="sldImg"/>
          </p:nvPr>
        </p:nvSpPr>
        <p:spPr>
          <a:ln/>
        </p:spPr>
      </p:sp>
      <p:sp>
        <p:nvSpPr>
          <p:cNvPr id="229380"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E1A8C9A-381E-430F-B28B-604BC9B344BE}" type="slidenum">
              <a:rPr lang="en-US" altLang="zh-CN" sz="1200">
                <a:latin typeface="Arial" pitchFamily="34" charset="0"/>
              </a:rPr>
              <a:pPr eaLnBrk="1" hangingPunct="1"/>
              <a:t>116</a:t>
            </a:fld>
            <a:endParaRPr lang="en-US" altLang="zh-CN" sz="1200">
              <a:latin typeface="Arial" pitchFamily="34" charset="0"/>
            </a:endParaRPr>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14B94D2-FB9E-48C4-A2E0-728027F28834}" type="slidenum">
              <a:rPr lang="en-US" altLang="zh-CN" sz="1200">
                <a:latin typeface="Arial" pitchFamily="34" charset="0"/>
              </a:rPr>
              <a:pPr eaLnBrk="1" hangingPunct="1"/>
              <a:t>117</a:t>
            </a:fld>
            <a:endParaRPr lang="en-US" altLang="zh-CN" sz="1200">
              <a:latin typeface="Arial" pitchFamily="34" charset="0"/>
            </a:endParaRPr>
          </a:p>
        </p:txBody>
      </p:sp>
      <p:sp>
        <p:nvSpPr>
          <p:cNvPr id="231427" name="Rectangle 2"/>
          <p:cNvSpPr>
            <a:spLocks noGrp="1" noRot="1" noChangeAspect="1" noChangeArrowheads="1" noTextEdit="1"/>
          </p:cNvSpPr>
          <p:nvPr>
            <p:ph type="sldImg"/>
          </p:nvPr>
        </p:nvSpPr>
        <p:spPr>
          <a:ln/>
        </p:spPr>
      </p:sp>
      <p:sp>
        <p:nvSpPr>
          <p:cNvPr id="231428"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16D5ABD-0719-4716-990C-9903EE746CE1}" type="slidenum">
              <a:rPr lang="en-US" altLang="zh-CN" sz="1200">
                <a:latin typeface="Arial" pitchFamily="34" charset="0"/>
              </a:rPr>
              <a:pPr eaLnBrk="1" hangingPunct="1"/>
              <a:t>118</a:t>
            </a:fld>
            <a:endParaRPr lang="en-US" altLang="zh-CN" sz="1200">
              <a:latin typeface="Arial" pitchFamily="34" charset="0"/>
            </a:endParaRPr>
          </a:p>
        </p:txBody>
      </p:sp>
      <p:sp>
        <p:nvSpPr>
          <p:cNvPr id="232451" name="Rectangle 2"/>
          <p:cNvSpPr>
            <a:spLocks noGrp="1" noRot="1" noChangeAspect="1" noChangeArrowheads="1" noTextEdit="1"/>
          </p:cNvSpPr>
          <p:nvPr>
            <p:ph type="sldImg"/>
          </p:nvPr>
        </p:nvSpPr>
        <p:spPr>
          <a:ln/>
        </p:spPr>
      </p:sp>
      <p:sp>
        <p:nvSpPr>
          <p:cNvPr id="232452"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347F77F-462F-412A-A3F6-847B2093496B}" type="slidenum">
              <a:rPr lang="en-US" altLang="zh-CN" sz="1200">
                <a:latin typeface="Arial" pitchFamily="34" charset="0"/>
              </a:rPr>
              <a:pPr eaLnBrk="1" hangingPunct="1"/>
              <a:t>119</a:t>
            </a:fld>
            <a:endParaRPr lang="en-US" altLang="zh-CN" sz="1200">
              <a:latin typeface="Arial" pitchFamily="34" charset="0"/>
            </a:endParaRPr>
          </a:p>
        </p:txBody>
      </p:sp>
      <p:sp>
        <p:nvSpPr>
          <p:cNvPr id="233475" name="Rectangle 2"/>
          <p:cNvSpPr>
            <a:spLocks noGrp="1" noRot="1" noChangeAspect="1" noChangeArrowheads="1" noTextEdit="1"/>
          </p:cNvSpPr>
          <p:nvPr>
            <p:ph type="sldImg"/>
          </p:nvPr>
        </p:nvSpPr>
        <p:spPr>
          <a:ln/>
        </p:spPr>
      </p:sp>
      <p:sp>
        <p:nvSpPr>
          <p:cNvPr id="233476" name="Rectangle 3"/>
          <p:cNvSpPr>
            <a:spLocks noGrp="1" noChangeArrowheads="1"/>
          </p:cNvSpPr>
          <p:nvPr>
            <p:ph type="body" idx="1"/>
          </p:nvPr>
        </p:nvSpPr>
        <p:spPr>
          <a:noFill/>
        </p:spPr>
        <p:txBody>
          <a:bodyPr/>
          <a:lstStyle/>
          <a:p>
            <a:pPr eaLnBrk="1" hangingPunct="1"/>
            <a:endParaRPr lang="zh-CN" altLang="zh-CN"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12"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smtClean="0"/>
              <a:t>单击此处编辑母版标题样式</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endParaRPr lang="en-US" altLang="zh-CN"/>
          </a:p>
        </p:txBody>
      </p:sp>
      <p:sp>
        <p:nvSpPr>
          <p:cNvPr id="15" name="Rectangle 16"/>
          <p:cNvSpPr>
            <a:spLocks noGrp="1" noChangeArrowheads="1"/>
          </p:cNvSpPr>
          <p:nvPr>
            <p:ph type="sldNum" sz="quarter" idx="11"/>
          </p:nvPr>
        </p:nvSpPr>
        <p:spPr>
          <a:xfrm>
            <a:off x="6858000" y="6248400"/>
            <a:ext cx="1905000" cy="457200"/>
          </a:xfrm>
        </p:spPr>
        <p:txBody>
          <a:bodyPr/>
          <a:lstStyle>
            <a:lvl1pPr>
              <a:defRPr smtClean="0">
                <a:solidFill>
                  <a:schemeClr val="bg2"/>
                </a:solidFill>
              </a:defRPr>
            </a:lvl1pPr>
          </a:lstStyle>
          <a:p>
            <a:pPr>
              <a:defRPr/>
            </a:pPr>
            <a:fld id="{CABB6614-76FE-4B95-8055-B232D0D938CE}" type="slidenum">
              <a:rPr lang="en-US" altLang="zh-CN"/>
              <a:pPr>
                <a:defRPr/>
              </a:pPr>
              <a:t>‹#›</a:t>
            </a:fld>
            <a:endParaRPr lang="en-US" altLang="zh-CN"/>
          </a:p>
        </p:txBody>
      </p:sp>
    </p:spTree>
    <p:extLst>
      <p:ext uri="{BB962C8B-B14F-4D97-AF65-F5344CB8AC3E}">
        <p14:creationId xmlns:p14="http://schemas.microsoft.com/office/powerpoint/2010/main" val="1444113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381A4A52-E0B3-4F66-958F-1EDBF3DA33C6}" type="slidenum">
              <a:rPr lang="en-US" altLang="zh-CN"/>
              <a:pPr>
                <a:defRPr/>
              </a:pPr>
              <a:t>‹#›</a:t>
            </a:fld>
            <a:endParaRPr lang="en-US" altLang="zh-CN"/>
          </a:p>
        </p:txBody>
      </p:sp>
    </p:spTree>
    <p:extLst>
      <p:ext uri="{BB962C8B-B14F-4D97-AF65-F5344CB8AC3E}">
        <p14:creationId xmlns:p14="http://schemas.microsoft.com/office/powerpoint/2010/main" val="4103739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07876FD8-478C-4505-BA1D-4C0A0FE2CB59}" type="slidenum">
              <a:rPr lang="en-US" altLang="zh-CN"/>
              <a:pPr>
                <a:defRPr/>
              </a:pPr>
              <a:t>‹#›</a:t>
            </a:fld>
            <a:endParaRPr lang="en-US" altLang="zh-CN"/>
          </a:p>
        </p:txBody>
      </p:sp>
    </p:spTree>
    <p:extLst>
      <p:ext uri="{BB962C8B-B14F-4D97-AF65-F5344CB8AC3E}">
        <p14:creationId xmlns:p14="http://schemas.microsoft.com/office/powerpoint/2010/main" val="978981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0429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005388" y="177323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FA7F5E09-EC7A-4CE9-876C-BDBA0FF9D84E}" type="slidenum">
              <a:rPr lang="en-US" altLang="zh-CN"/>
              <a:pPr>
                <a:defRPr/>
              </a:pPr>
              <a:t>‹#›</a:t>
            </a:fld>
            <a:endParaRPr lang="en-US" altLang="zh-CN"/>
          </a:p>
        </p:txBody>
      </p:sp>
    </p:spTree>
    <p:extLst>
      <p:ext uri="{BB962C8B-B14F-4D97-AF65-F5344CB8AC3E}">
        <p14:creationId xmlns:p14="http://schemas.microsoft.com/office/powerpoint/2010/main" val="637086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3"/>
          <p:cNvSpPr>
            <a:spLocks noGrp="1" noChangeArrowheads="1"/>
          </p:cNvSpPr>
          <p:nvPr>
            <p:ph type="sldNum" sz="quarter" idx="11"/>
          </p:nvPr>
        </p:nvSpPr>
        <p:spPr>
          <a:ln/>
        </p:spPr>
        <p:txBody>
          <a:bodyPr/>
          <a:lstStyle>
            <a:lvl1pPr>
              <a:defRPr/>
            </a:lvl1pPr>
          </a:lstStyle>
          <a:p>
            <a:pPr>
              <a:defRPr/>
            </a:pPr>
            <a:fld id="{6DABFBB5-8AB6-4724-8443-B80DBAD9C951}" type="slidenum">
              <a:rPr lang="en-US" altLang="zh-CN"/>
              <a:pPr>
                <a:defRPr/>
              </a:pPr>
              <a:t>‹#›</a:t>
            </a:fld>
            <a:endParaRPr lang="en-US" altLang="zh-CN"/>
          </a:p>
        </p:txBody>
      </p:sp>
    </p:spTree>
    <p:extLst>
      <p:ext uri="{BB962C8B-B14F-4D97-AF65-F5344CB8AC3E}">
        <p14:creationId xmlns:p14="http://schemas.microsoft.com/office/powerpoint/2010/main" val="3559284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1"/>
          </p:nvPr>
        </p:nvSpPr>
        <p:spPr>
          <a:ln/>
        </p:spPr>
        <p:txBody>
          <a:bodyPr/>
          <a:lstStyle>
            <a:lvl1pPr>
              <a:defRPr/>
            </a:lvl1pPr>
          </a:lstStyle>
          <a:p>
            <a:pPr>
              <a:defRPr/>
            </a:pPr>
            <a:fld id="{465AFB52-8906-41F1-9EA5-FD37949A61ED}" type="slidenum">
              <a:rPr lang="en-US" altLang="zh-CN"/>
              <a:pPr>
                <a:defRPr/>
              </a:pPr>
              <a:t>‹#›</a:t>
            </a:fld>
            <a:endParaRPr lang="en-US" altLang="zh-CN"/>
          </a:p>
        </p:txBody>
      </p:sp>
    </p:spTree>
    <p:extLst>
      <p:ext uri="{BB962C8B-B14F-4D97-AF65-F5344CB8AC3E}">
        <p14:creationId xmlns:p14="http://schemas.microsoft.com/office/powerpoint/2010/main" val="3756320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3"/>
          <p:cNvSpPr>
            <a:spLocks noGrp="1" noChangeArrowheads="1"/>
          </p:cNvSpPr>
          <p:nvPr>
            <p:ph type="sldNum" sz="quarter" idx="11"/>
          </p:nvPr>
        </p:nvSpPr>
        <p:spPr>
          <a:ln/>
        </p:spPr>
        <p:txBody>
          <a:bodyPr/>
          <a:lstStyle>
            <a:lvl1pPr>
              <a:defRPr/>
            </a:lvl1pPr>
          </a:lstStyle>
          <a:p>
            <a:pPr>
              <a:defRPr/>
            </a:pPr>
            <a:fld id="{5C04E670-830A-4848-A914-BE63E8F4A175}" type="slidenum">
              <a:rPr lang="en-US" altLang="zh-CN"/>
              <a:pPr>
                <a:defRPr/>
              </a:pPr>
              <a:t>‹#›</a:t>
            </a:fld>
            <a:endParaRPr lang="en-US" altLang="zh-CN"/>
          </a:p>
        </p:txBody>
      </p:sp>
    </p:spTree>
    <p:extLst>
      <p:ext uri="{BB962C8B-B14F-4D97-AF65-F5344CB8AC3E}">
        <p14:creationId xmlns:p14="http://schemas.microsoft.com/office/powerpoint/2010/main" val="170235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EA7BD6F7-E70F-43C6-84C9-3DBCC3324706}" type="slidenum">
              <a:rPr lang="en-US" altLang="zh-CN"/>
              <a:pPr>
                <a:defRPr/>
              </a:pPr>
              <a:t>‹#›</a:t>
            </a:fld>
            <a:endParaRPr lang="en-US" altLang="zh-CN"/>
          </a:p>
        </p:txBody>
      </p:sp>
    </p:spTree>
    <p:extLst>
      <p:ext uri="{BB962C8B-B14F-4D97-AF65-F5344CB8AC3E}">
        <p14:creationId xmlns:p14="http://schemas.microsoft.com/office/powerpoint/2010/main" val="1084782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5C7862DC-0AE2-4DF2-8D40-3311CC97A799}" type="slidenum">
              <a:rPr lang="en-US" altLang="zh-CN"/>
              <a:pPr>
                <a:defRPr/>
              </a:pPr>
              <a:t>‹#›</a:t>
            </a:fld>
            <a:endParaRPr lang="en-US" altLang="zh-CN"/>
          </a:p>
        </p:txBody>
      </p:sp>
    </p:spTree>
    <p:extLst>
      <p:ext uri="{BB962C8B-B14F-4D97-AF65-F5344CB8AC3E}">
        <p14:creationId xmlns:p14="http://schemas.microsoft.com/office/powerpoint/2010/main" val="2723995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95C68A1F-A5CC-4127-B007-256F8596CECD}" type="slidenum">
              <a:rPr lang="en-US" altLang="zh-CN"/>
              <a:pPr>
                <a:defRPr/>
              </a:pPr>
              <a:t>‹#›</a:t>
            </a:fld>
            <a:endParaRPr lang="en-US" altLang="zh-CN"/>
          </a:p>
        </p:txBody>
      </p:sp>
    </p:spTree>
    <p:extLst>
      <p:ext uri="{BB962C8B-B14F-4D97-AF65-F5344CB8AC3E}">
        <p14:creationId xmlns:p14="http://schemas.microsoft.com/office/powerpoint/2010/main" val="730173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69125" y="214313"/>
            <a:ext cx="1974850" cy="56737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042988" y="214313"/>
            <a:ext cx="5773737" cy="56737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E2F2302A-9264-4EEF-A0EA-8EDE94F20473}" type="slidenum">
              <a:rPr lang="en-US" altLang="zh-CN"/>
              <a:pPr>
                <a:defRPr/>
              </a:pPr>
              <a:t>‹#›</a:t>
            </a:fld>
            <a:endParaRPr lang="en-US" altLang="zh-CN"/>
          </a:p>
        </p:txBody>
      </p:sp>
    </p:spTree>
    <p:extLst>
      <p:ext uri="{BB962C8B-B14F-4D97-AF65-F5344CB8AC3E}">
        <p14:creationId xmlns:p14="http://schemas.microsoft.com/office/powerpoint/2010/main" val="3357972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34" name="Rectangle 10"/>
          <p:cNvSpPr>
            <a:spLocks noGrp="1" noChangeArrowheads="1"/>
          </p:cNvSpPr>
          <p:nvPr>
            <p:ph type="body" idx="1"/>
          </p:nvPr>
        </p:nvSpPr>
        <p:spPr bwMode="auto">
          <a:xfrm>
            <a:off x="1042988" y="17732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4587"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smtClean="0"/>
            </a:lvl1pPr>
          </a:lstStyle>
          <a:p>
            <a:pPr>
              <a:defRPr/>
            </a:pPr>
            <a:endParaRPr lang="en-US" altLang="zh-CN"/>
          </a:p>
        </p:txBody>
      </p:sp>
      <p:sp>
        <p:nvSpPr>
          <p:cNvPr id="24589"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smtClean="0"/>
            </a:lvl1pPr>
          </a:lstStyle>
          <a:p>
            <a:pPr>
              <a:defRPr/>
            </a:pPr>
            <a:fld id="{51AB0093-7DF8-466F-9908-FA2CBA51D07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spcBef>
          <a:spcPct val="0"/>
        </a:spcBef>
        <a:spcAft>
          <a:spcPct val="0"/>
        </a:spcAft>
        <a:defRPr sz="4400">
          <a:solidFill>
            <a:srgbClr val="333399"/>
          </a:solidFill>
          <a:latin typeface="+mj-lt"/>
          <a:ea typeface="+mj-ea"/>
          <a:cs typeface="+mj-cs"/>
        </a:defRPr>
      </a:lvl1pPr>
      <a:lvl2pPr algn="l" rtl="0" eaLnBrk="0" fontAlgn="base" hangingPunct="0">
        <a:spcBef>
          <a:spcPct val="0"/>
        </a:spcBef>
        <a:spcAft>
          <a:spcPct val="0"/>
        </a:spcAft>
        <a:defRPr sz="4400">
          <a:solidFill>
            <a:srgbClr val="333399"/>
          </a:solidFill>
          <a:latin typeface="Arial" charset="0"/>
          <a:ea typeface="黑体" pitchFamily="2" charset="-122"/>
        </a:defRPr>
      </a:lvl2pPr>
      <a:lvl3pPr algn="l" rtl="0" eaLnBrk="0" fontAlgn="base" hangingPunct="0">
        <a:spcBef>
          <a:spcPct val="0"/>
        </a:spcBef>
        <a:spcAft>
          <a:spcPct val="0"/>
        </a:spcAft>
        <a:defRPr sz="4400">
          <a:solidFill>
            <a:srgbClr val="333399"/>
          </a:solidFill>
          <a:latin typeface="Arial" charset="0"/>
          <a:ea typeface="黑体" pitchFamily="2" charset="-122"/>
        </a:defRPr>
      </a:lvl3pPr>
      <a:lvl4pPr algn="l" rtl="0" eaLnBrk="0" fontAlgn="base" hangingPunct="0">
        <a:spcBef>
          <a:spcPct val="0"/>
        </a:spcBef>
        <a:spcAft>
          <a:spcPct val="0"/>
        </a:spcAft>
        <a:defRPr sz="4400">
          <a:solidFill>
            <a:srgbClr val="333399"/>
          </a:solidFill>
          <a:latin typeface="Arial" charset="0"/>
          <a:ea typeface="黑体" pitchFamily="2" charset="-122"/>
        </a:defRPr>
      </a:lvl4pPr>
      <a:lvl5pPr algn="l" rtl="0" eaLnBrk="0" fontAlgn="base" hangingPunct="0">
        <a:spcBef>
          <a:spcPct val="0"/>
        </a:spcBef>
        <a:spcAft>
          <a:spcPct val="0"/>
        </a:spcAft>
        <a:defRPr sz="4400">
          <a:solidFill>
            <a:srgbClr val="333399"/>
          </a:solidFill>
          <a:latin typeface="Arial" charset="0"/>
          <a:ea typeface="黑体" pitchFamily="2" charset="-122"/>
        </a:defRPr>
      </a:lvl5pPr>
      <a:lvl6pPr marL="457200" algn="l" rtl="0" fontAlgn="base">
        <a:spcBef>
          <a:spcPct val="0"/>
        </a:spcBef>
        <a:spcAft>
          <a:spcPct val="0"/>
        </a:spcAft>
        <a:defRPr sz="4400">
          <a:solidFill>
            <a:srgbClr val="333399"/>
          </a:solidFill>
          <a:latin typeface="Arial" charset="0"/>
          <a:ea typeface="黑体" pitchFamily="2" charset="-122"/>
        </a:defRPr>
      </a:lvl6pPr>
      <a:lvl7pPr marL="914400" algn="l" rtl="0" fontAlgn="base">
        <a:spcBef>
          <a:spcPct val="0"/>
        </a:spcBef>
        <a:spcAft>
          <a:spcPct val="0"/>
        </a:spcAft>
        <a:defRPr sz="4400">
          <a:solidFill>
            <a:srgbClr val="333399"/>
          </a:solidFill>
          <a:latin typeface="Arial" charset="0"/>
          <a:ea typeface="黑体" pitchFamily="2" charset="-122"/>
        </a:defRPr>
      </a:lvl7pPr>
      <a:lvl8pPr marL="1371600" algn="l" rtl="0" fontAlgn="base">
        <a:spcBef>
          <a:spcPct val="0"/>
        </a:spcBef>
        <a:spcAft>
          <a:spcPct val="0"/>
        </a:spcAft>
        <a:defRPr sz="4400">
          <a:solidFill>
            <a:srgbClr val="333399"/>
          </a:solidFill>
          <a:latin typeface="Arial" charset="0"/>
          <a:ea typeface="黑体" pitchFamily="2" charset="-122"/>
        </a:defRPr>
      </a:lvl8pPr>
      <a:lvl9pPr marL="1828800" algn="l" rtl="0" fontAlgn="base">
        <a:spcBef>
          <a:spcPct val="0"/>
        </a:spcBef>
        <a:spcAft>
          <a:spcPct val="0"/>
        </a:spcAft>
        <a:defRPr sz="4400">
          <a:solidFill>
            <a:srgbClr val="333399"/>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rgbClr val="333399"/>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1.bin"/><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6"/>
          <p:cNvSpPr>
            <a:spLocks noGrp="1" noChangeArrowheads="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F502616A-4E76-4148-A1E3-45BD58AC323A}" type="slidenum">
              <a:rPr lang="en-US" altLang="zh-CN" sz="1400">
                <a:solidFill>
                  <a:schemeClr val="bg2"/>
                </a:solidFill>
              </a:rPr>
              <a:pPr eaLnBrk="1" hangingPunct="1"/>
              <a:t>1</a:t>
            </a:fld>
            <a:endParaRPr lang="en-US" altLang="zh-CN" sz="1400">
              <a:solidFill>
                <a:schemeClr val="bg2"/>
              </a:solidFill>
            </a:endParaRPr>
          </a:p>
        </p:txBody>
      </p:sp>
      <p:sp>
        <p:nvSpPr>
          <p:cNvPr id="3075" name="Rectangle 2"/>
          <p:cNvSpPr>
            <a:spLocks noGrp="1" noChangeArrowheads="1"/>
          </p:cNvSpPr>
          <p:nvPr>
            <p:ph type="ctrTitle"/>
          </p:nvPr>
        </p:nvSpPr>
        <p:spPr>
          <a:xfrm>
            <a:off x="990600" y="1676400"/>
            <a:ext cx="7253288" cy="1462088"/>
          </a:xfrm>
        </p:spPr>
        <p:txBody>
          <a:bodyPr/>
          <a:lstStyle/>
          <a:p>
            <a:pPr algn="ctr" eaLnBrk="1" hangingPunct="1"/>
            <a:r>
              <a:rPr lang="zh-CN" altLang="en-US" smtClean="0"/>
              <a:t>计算机网络</a:t>
            </a:r>
            <a:endParaRPr lang="zh-CN" altLang="en-US" dirty="0" smtClean="0"/>
          </a:p>
        </p:txBody>
      </p:sp>
      <p:sp>
        <p:nvSpPr>
          <p:cNvPr id="3076" name="Rectangle 3"/>
          <p:cNvSpPr>
            <a:spLocks noGrp="1" noChangeArrowheads="1"/>
          </p:cNvSpPr>
          <p:nvPr>
            <p:ph type="subTitle" idx="1"/>
          </p:nvPr>
        </p:nvSpPr>
        <p:spPr/>
        <p:txBody>
          <a:bodyPr/>
          <a:lstStyle/>
          <a:p>
            <a:pPr eaLnBrk="1" hangingPunct="1"/>
            <a:r>
              <a:rPr lang="zh-CN" altLang="en-US" smtClean="0"/>
              <a:t>第 </a:t>
            </a:r>
            <a:r>
              <a:rPr lang="en-US" altLang="zh-CN" smtClean="0"/>
              <a:t>5 </a:t>
            </a:r>
            <a:r>
              <a:rPr lang="zh-CN" altLang="en-US" smtClean="0"/>
              <a:t>章  运输层</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CD33818-6791-4E5A-BCC8-9D1E08744055}" type="slidenum">
              <a:rPr lang="en-US" altLang="zh-CN" sz="1400"/>
              <a:pPr eaLnBrk="1" hangingPunct="1"/>
              <a:t>2</a:t>
            </a:fld>
            <a:endParaRPr lang="en-US" altLang="zh-CN" sz="1400"/>
          </a:p>
        </p:txBody>
      </p:sp>
      <p:sp>
        <p:nvSpPr>
          <p:cNvPr id="4099" name="Rectangle 2"/>
          <p:cNvSpPr>
            <a:spLocks noGrp="1" noChangeArrowheads="1"/>
          </p:cNvSpPr>
          <p:nvPr>
            <p:ph type="title"/>
          </p:nvPr>
        </p:nvSpPr>
        <p:spPr>
          <a:xfrm>
            <a:off x="1100138" y="931863"/>
            <a:ext cx="6856412" cy="768350"/>
          </a:xfrm>
        </p:spPr>
        <p:txBody>
          <a:bodyPr/>
          <a:lstStyle/>
          <a:p>
            <a:pPr algn="ctr" eaLnBrk="1" hangingPunct="1"/>
            <a:r>
              <a:rPr lang="zh-CN" altLang="en-US" smtClean="0">
                <a:ea typeface="Arial Unicode MS" pitchFamily="34" charset="-122"/>
                <a:cs typeface="Arial Unicode MS" pitchFamily="34" charset="-122"/>
              </a:rPr>
              <a:t>第 </a:t>
            </a:r>
            <a:r>
              <a:rPr lang="en-US" altLang="zh-CN" smtClean="0">
                <a:ea typeface="Arial Unicode MS" pitchFamily="34" charset="-122"/>
                <a:cs typeface="Arial Unicode MS" pitchFamily="34" charset="-122"/>
              </a:rPr>
              <a:t>5 </a:t>
            </a:r>
            <a:r>
              <a:rPr lang="zh-CN" altLang="en-US" smtClean="0">
                <a:ea typeface="Arial Unicode MS" pitchFamily="34" charset="-122"/>
                <a:cs typeface="Arial Unicode MS" pitchFamily="34" charset="-122"/>
              </a:rPr>
              <a:t>章  </a:t>
            </a:r>
            <a:r>
              <a:rPr lang="zh-CN" altLang="en-US" smtClean="0"/>
              <a:t>运输层</a:t>
            </a:r>
          </a:p>
        </p:txBody>
      </p:sp>
      <p:sp>
        <p:nvSpPr>
          <p:cNvPr id="4100" name="Rectangle 3"/>
          <p:cNvSpPr>
            <a:spLocks noGrp="1" noChangeArrowheads="1"/>
          </p:cNvSpPr>
          <p:nvPr>
            <p:ph type="body" idx="1"/>
          </p:nvPr>
        </p:nvSpPr>
        <p:spPr>
          <a:xfrm>
            <a:off x="755650" y="2017713"/>
            <a:ext cx="8204200" cy="4003675"/>
          </a:xfrm>
        </p:spPr>
        <p:txBody>
          <a:bodyPr/>
          <a:lstStyle/>
          <a:p>
            <a:pPr eaLnBrk="1" hangingPunct="1">
              <a:lnSpc>
                <a:spcPct val="90000"/>
              </a:lnSpc>
              <a:buFont typeface="Wingdings" pitchFamily="2" charset="2"/>
              <a:buNone/>
            </a:pPr>
            <a:r>
              <a:rPr lang="en-US" altLang="zh-CN" sz="600" smtClean="0"/>
              <a:t> </a:t>
            </a:r>
            <a:r>
              <a:rPr lang="en-US" altLang="zh-CN" sz="2800" smtClean="0"/>
              <a:t>5.1  </a:t>
            </a:r>
            <a:r>
              <a:rPr lang="zh-CN" altLang="en-US" sz="2800" smtClean="0"/>
              <a:t>运输层协议概述</a:t>
            </a:r>
          </a:p>
          <a:p>
            <a:pPr eaLnBrk="1" hangingPunct="1">
              <a:lnSpc>
                <a:spcPct val="90000"/>
              </a:lnSpc>
              <a:buFont typeface="Wingdings" pitchFamily="2" charset="2"/>
              <a:buNone/>
            </a:pPr>
            <a:r>
              <a:rPr lang="zh-CN" altLang="en-US" sz="2800" smtClean="0"/>
              <a:t>        </a:t>
            </a:r>
            <a:r>
              <a:rPr lang="en-US" altLang="zh-CN" sz="2800" smtClean="0"/>
              <a:t>5.1.1  </a:t>
            </a:r>
            <a:r>
              <a:rPr lang="zh-CN" altLang="en-US" sz="2800" smtClean="0"/>
              <a:t>进程之间的通信</a:t>
            </a:r>
          </a:p>
          <a:p>
            <a:pPr eaLnBrk="1" hangingPunct="1">
              <a:lnSpc>
                <a:spcPct val="90000"/>
              </a:lnSpc>
              <a:buFont typeface="Wingdings" pitchFamily="2" charset="2"/>
              <a:buNone/>
            </a:pPr>
            <a:r>
              <a:rPr lang="zh-CN" altLang="en-US" sz="2800" smtClean="0"/>
              <a:t>	     </a:t>
            </a:r>
            <a:r>
              <a:rPr lang="en-US" altLang="zh-CN" sz="2800" smtClean="0"/>
              <a:t>5.1.2  </a:t>
            </a:r>
            <a:r>
              <a:rPr lang="zh-CN" altLang="en-US" sz="2800" smtClean="0"/>
              <a:t>运输层的两个主要协议</a:t>
            </a:r>
          </a:p>
          <a:p>
            <a:pPr eaLnBrk="1" hangingPunct="1">
              <a:lnSpc>
                <a:spcPct val="90000"/>
              </a:lnSpc>
              <a:buFont typeface="Wingdings" pitchFamily="2" charset="2"/>
              <a:buNone/>
            </a:pPr>
            <a:r>
              <a:rPr lang="zh-CN" altLang="en-US" sz="2800" smtClean="0"/>
              <a:t>        </a:t>
            </a:r>
            <a:r>
              <a:rPr lang="en-US" altLang="zh-CN" sz="2800" smtClean="0"/>
              <a:t>5.1.3  </a:t>
            </a:r>
            <a:r>
              <a:rPr lang="zh-CN" altLang="en-US" sz="2800" smtClean="0"/>
              <a:t>运输层的端口</a:t>
            </a:r>
          </a:p>
          <a:p>
            <a:pPr eaLnBrk="1" hangingPunct="1">
              <a:lnSpc>
                <a:spcPct val="90000"/>
              </a:lnSpc>
              <a:buFont typeface="Wingdings" pitchFamily="2" charset="2"/>
              <a:buNone/>
            </a:pPr>
            <a:r>
              <a:rPr lang="en-US" altLang="zh-CN" sz="2800" smtClean="0"/>
              <a:t>5.2  </a:t>
            </a:r>
            <a:r>
              <a:rPr lang="zh-CN" altLang="en-US" sz="2800" smtClean="0"/>
              <a:t>用户数据报协议 </a:t>
            </a:r>
            <a:r>
              <a:rPr lang="en-US" altLang="zh-CN" sz="2800" smtClean="0"/>
              <a:t>UDP </a:t>
            </a:r>
          </a:p>
          <a:p>
            <a:pPr eaLnBrk="1" hangingPunct="1">
              <a:lnSpc>
                <a:spcPct val="90000"/>
              </a:lnSpc>
              <a:buFont typeface="Wingdings" pitchFamily="2" charset="2"/>
              <a:buNone/>
            </a:pPr>
            <a:r>
              <a:rPr lang="en-US" altLang="zh-CN" sz="2800" smtClean="0"/>
              <a:t>		5.2.1  UDP </a:t>
            </a:r>
            <a:r>
              <a:rPr lang="zh-CN" altLang="en-US" sz="2800" smtClean="0"/>
              <a:t>概述</a:t>
            </a:r>
          </a:p>
          <a:p>
            <a:pPr eaLnBrk="1" hangingPunct="1">
              <a:lnSpc>
                <a:spcPct val="90000"/>
              </a:lnSpc>
              <a:buFont typeface="Wingdings" pitchFamily="2" charset="2"/>
              <a:buNone/>
            </a:pPr>
            <a:r>
              <a:rPr lang="zh-CN" altLang="en-US" sz="2800" smtClean="0"/>
              <a:t>		</a:t>
            </a:r>
            <a:r>
              <a:rPr lang="en-US" altLang="zh-CN" sz="2800" smtClean="0"/>
              <a:t>5.2.2  UDP </a:t>
            </a:r>
            <a:r>
              <a:rPr lang="zh-CN" altLang="en-US" sz="2800" smtClean="0"/>
              <a:t>的首部格式</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F47C2347-0BBB-41C7-AA32-7974C52590FE}" type="slidenum">
              <a:rPr lang="en-US" altLang="zh-CN" sz="1400"/>
              <a:pPr eaLnBrk="1" hangingPunct="1"/>
              <a:t>3</a:t>
            </a:fld>
            <a:endParaRPr lang="en-US" altLang="zh-CN" sz="1400"/>
          </a:p>
        </p:txBody>
      </p:sp>
      <p:sp>
        <p:nvSpPr>
          <p:cNvPr id="5123" name="Rectangle 2"/>
          <p:cNvSpPr>
            <a:spLocks noGrp="1" noChangeArrowheads="1"/>
          </p:cNvSpPr>
          <p:nvPr>
            <p:ph type="title"/>
          </p:nvPr>
        </p:nvSpPr>
        <p:spPr>
          <a:xfrm>
            <a:off x="1100138" y="931863"/>
            <a:ext cx="6856412" cy="768350"/>
          </a:xfrm>
        </p:spPr>
        <p:txBody>
          <a:bodyPr/>
          <a:lstStyle/>
          <a:p>
            <a:pPr algn="ctr" eaLnBrk="1" hangingPunct="1"/>
            <a:r>
              <a:rPr lang="zh-CN" altLang="en-US" smtClean="0">
                <a:ea typeface="Arial Unicode MS" pitchFamily="34" charset="-122"/>
                <a:cs typeface="Arial Unicode MS" pitchFamily="34" charset="-122"/>
              </a:rPr>
              <a:t>第 </a:t>
            </a:r>
            <a:r>
              <a:rPr lang="en-US" altLang="zh-CN" smtClean="0">
                <a:ea typeface="Arial Unicode MS" pitchFamily="34" charset="-122"/>
                <a:cs typeface="Arial Unicode MS" pitchFamily="34" charset="-122"/>
              </a:rPr>
              <a:t>5 </a:t>
            </a:r>
            <a:r>
              <a:rPr lang="zh-CN" altLang="en-US" smtClean="0">
                <a:ea typeface="Arial Unicode MS" pitchFamily="34" charset="-122"/>
                <a:cs typeface="Arial Unicode MS" pitchFamily="34" charset="-122"/>
              </a:rPr>
              <a:t>章  </a:t>
            </a:r>
            <a:r>
              <a:rPr lang="zh-CN" altLang="en-US" smtClean="0"/>
              <a:t>运输层（续）</a:t>
            </a:r>
          </a:p>
        </p:txBody>
      </p:sp>
      <p:sp>
        <p:nvSpPr>
          <p:cNvPr id="5124" name="Rectangle 3"/>
          <p:cNvSpPr>
            <a:spLocks noGrp="1" noChangeArrowheads="1"/>
          </p:cNvSpPr>
          <p:nvPr>
            <p:ph type="body" idx="1"/>
          </p:nvPr>
        </p:nvSpPr>
        <p:spPr>
          <a:xfrm>
            <a:off x="755650" y="2017713"/>
            <a:ext cx="8204200" cy="4506912"/>
          </a:xfrm>
        </p:spPr>
        <p:txBody>
          <a:bodyPr/>
          <a:lstStyle/>
          <a:p>
            <a:pPr eaLnBrk="1" hangingPunct="1">
              <a:buFont typeface="Wingdings" pitchFamily="2" charset="2"/>
              <a:buNone/>
            </a:pPr>
            <a:r>
              <a:rPr lang="en-US" altLang="zh-CN" sz="2800" smtClean="0"/>
              <a:t>5.3  </a:t>
            </a:r>
            <a:r>
              <a:rPr lang="zh-CN" altLang="en-US" sz="2800" smtClean="0"/>
              <a:t>传输控制协议 </a:t>
            </a:r>
            <a:r>
              <a:rPr lang="en-US" altLang="zh-CN" sz="2800" smtClean="0"/>
              <a:t>TCP </a:t>
            </a:r>
            <a:r>
              <a:rPr lang="zh-CN" altLang="en-US" sz="2800" smtClean="0"/>
              <a:t>概述</a:t>
            </a:r>
          </a:p>
          <a:p>
            <a:pPr eaLnBrk="1" hangingPunct="1">
              <a:buFont typeface="Wingdings" pitchFamily="2" charset="2"/>
              <a:buNone/>
            </a:pPr>
            <a:r>
              <a:rPr lang="zh-CN" altLang="en-US" sz="2800" smtClean="0"/>
              <a:t>		 </a:t>
            </a:r>
            <a:r>
              <a:rPr lang="en-US" altLang="zh-CN" sz="2800" smtClean="0"/>
              <a:t>5.3.1  TCP </a:t>
            </a:r>
            <a:r>
              <a:rPr lang="zh-CN" altLang="en-US" sz="2800" smtClean="0"/>
              <a:t>最主要的特点</a:t>
            </a:r>
          </a:p>
          <a:p>
            <a:pPr eaLnBrk="1" hangingPunct="1">
              <a:buFont typeface="Wingdings" pitchFamily="2" charset="2"/>
              <a:buNone/>
            </a:pPr>
            <a:r>
              <a:rPr lang="zh-CN" altLang="en-US" sz="2800" smtClean="0"/>
              <a:t>		 </a:t>
            </a:r>
            <a:r>
              <a:rPr lang="en-US" altLang="zh-CN" sz="2800" smtClean="0"/>
              <a:t>5.3.2  TCP </a:t>
            </a:r>
            <a:r>
              <a:rPr lang="zh-CN" altLang="en-US" sz="2800" smtClean="0"/>
              <a:t>的连接</a:t>
            </a:r>
          </a:p>
          <a:p>
            <a:pPr eaLnBrk="1" hangingPunct="1">
              <a:buFont typeface="Wingdings" pitchFamily="2" charset="2"/>
              <a:buNone/>
            </a:pPr>
            <a:r>
              <a:rPr lang="en-US" altLang="zh-CN" sz="2800" smtClean="0"/>
              <a:t>5.4  </a:t>
            </a:r>
            <a:r>
              <a:rPr lang="zh-CN" altLang="en-US" sz="2800" smtClean="0"/>
              <a:t>可靠传输的工作原理</a:t>
            </a:r>
          </a:p>
          <a:p>
            <a:pPr eaLnBrk="1" hangingPunct="1">
              <a:buFont typeface="Wingdings" pitchFamily="2" charset="2"/>
              <a:buNone/>
            </a:pPr>
            <a:r>
              <a:rPr lang="zh-CN" altLang="en-US" sz="2800" smtClean="0"/>
              <a:t>          </a:t>
            </a:r>
            <a:r>
              <a:rPr lang="en-US" altLang="zh-CN" sz="2800" smtClean="0"/>
              <a:t>5.4.1  </a:t>
            </a:r>
            <a:r>
              <a:rPr lang="zh-CN" altLang="en-US" sz="2800" smtClean="0"/>
              <a:t>停止等待协议</a:t>
            </a:r>
          </a:p>
          <a:p>
            <a:pPr eaLnBrk="1" hangingPunct="1">
              <a:buFont typeface="Wingdings" pitchFamily="2" charset="2"/>
              <a:buNone/>
            </a:pPr>
            <a:r>
              <a:rPr lang="zh-CN" altLang="en-US" sz="2800" smtClean="0"/>
              <a:t>          </a:t>
            </a:r>
            <a:r>
              <a:rPr lang="en-US" altLang="zh-CN" sz="2800" smtClean="0"/>
              <a:t>5.4.2  </a:t>
            </a:r>
            <a:r>
              <a:rPr lang="zh-CN" altLang="en-US" sz="2800" smtClean="0"/>
              <a:t>连续 </a:t>
            </a:r>
            <a:r>
              <a:rPr lang="en-US" altLang="zh-CN" sz="2800" smtClean="0"/>
              <a:t>ARQ </a:t>
            </a:r>
            <a:r>
              <a:rPr lang="zh-CN" altLang="en-US" sz="2800" smtClean="0"/>
              <a:t>协议</a:t>
            </a:r>
          </a:p>
          <a:p>
            <a:pPr eaLnBrk="1" hangingPunct="1">
              <a:buFont typeface="Wingdings" pitchFamily="2" charset="2"/>
              <a:buNone/>
            </a:pPr>
            <a:r>
              <a:rPr lang="en-US" altLang="zh-CN" sz="2800" smtClean="0"/>
              <a:t>5.5   TCP </a:t>
            </a:r>
            <a:r>
              <a:rPr lang="zh-CN" altLang="en-US" sz="2800" smtClean="0"/>
              <a:t>报文段的首部格式</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1BA1555-2DE3-4856-8E17-851D316BA9BD}" type="slidenum">
              <a:rPr lang="en-US" altLang="zh-CN" sz="1400"/>
              <a:pPr eaLnBrk="1" hangingPunct="1"/>
              <a:t>4</a:t>
            </a:fld>
            <a:endParaRPr lang="en-US" altLang="zh-CN" sz="1400"/>
          </a:p>
        </p:txBody>
      </p:sp>
      <p:sp>
        <p:nvSpPr>
          <p:cNvPr id="6147" name="Rectangle 2"/>
          <p:cNvSpPr>
            <a:spLocks noGrp="1" noChangeArrowheads="1"/>
          </p:cNvSpPr>
          <p:nvPr>
            <p:ph type="title"/>
          </p:nvPr>
        </p:nvSpPr>
        <p:spPr/>
        <p:txBody>
          <a:bodyPr/>
          <a:lstStyle/>
          <a:p>
            <a:pPr algn="ctr" eaLnBrk="1" hangingPunct="1"/>
            <a:r>
              <a:rPr lang="zh-CN" altLang="en-US" smtClean="0">
                <a:ea typeface="Arial Unicode MS" pitchFamily="34" charset="-122"/>
                <a:cs typeface="Arial Unicode MS" pitchFamily="34" charset="-122"/>
              </a:rPr>
              <a:t>第 </a:t>
            </a:r>
            <a:r>
              <a:rPr lang="en-US" altLang="zh-CN" smtClean="0">
                <a:ea typeface="Arial Unicode MS" pitchFamily="34" charset="-122"/>
                <a:cs typeface="Arial Unicode MS" pitchFamily="34" charset="-122"/>
              </a:rPr>
              <a:t>5 </a:t>
            </a:r>
            <a:r>
              <a:rPr lang="zh-CN" altLang="en-US" smtClean="0">
                <a:ea typeface="Arial Unicode MS" pitchFamily="34" charset="-122"/>
                <a:cs typeface="Arial Unicode MS" pitchFamily="34" charset="-122"/>
              </a:rPr>
              <a:t>章  </a:t>
            </a:r>
            <a:r>
              <a:rPr lang="zh-CN" altLang="en-US" smtClean="0"/>
              <a:t>运输层（续）</a:t>
            </a:r>
          </a:p>
        </p:txBody>
      </p:sp>
      <p:sp>
        <p:nvSpPr>
          <p:cNvPr id="6148" name="Text Box 5"/>
          <p:cNvSpPr txBox="1">
            <a:spLocks noChangeArrowheads="1"/>
          </p:cNvSpPr>
          <p:nvPr/>
        </p:nvSpPr>
        <p:spPr bwMode="auto">
          <a:xfrm>
            <a:off x="971550" y="2030413"/>
            <a:ext cx="8172450"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200">
                <a:solidFill>
                  <a:srgbClr val="333399"/>
                </a:solidFill>
                <a:latin typeface="Arial" pitchFamily="34" charset="0"/>
                <a:ea typeface="黑体" pitchFamily="49" charset="-122"/>
              </a:rPr>
              <a:t>5.6  TCP </a:t>
            </a:r>
            <a:r>
              <a:rPr lang="zh-CN" altLang="en-US" sz="3200">
                <a:solidFill>
                  <a:srgbClr val="333399"/>
                </a:solidFill>
                <a:latin typeface="Arial" pitchFamily="34" charset="0"/>
                <a:ea typeface="黑体" pitchFamily="49" charset="-122"/>
              </a:rPr>
              <a:t>可靠传输的实现</a:t>
            </a:r>
          </a:p>
          <a:p>
            <a:pPr eaLnBrk="1" hangingPunct="1"/>
            <a:r>
              <a:rPr lang="zh-CN" altLang="en-US" sz="3200">
                <a:solidFill>
                  <a:schemeClr val="folHlink"/>
                </a:solidFill>
                <a:latin typeface="Arial" pitchFamily="34" charset="0"/>
                <a:ea typeface="黑体" pitchFamily="49" charset="-122"/>
              </a:rPr>
              <a:t>           </a:t>
            </a:r>
            <a:r>
              <a:rPr lang="en-US" altLang="zh-CN" sz="3200">
                <a:solidFill>
                  <a:schemeClr val="folHlink"/>
                </a:solidFill>
                <a:latin typeface="Arial" pitchFamily="34" charset="0"/>
                <a:ea typeface="黑体" pitchFamily="49" charset="-122"/>
              </a:rPr>
              <a:t>5.6.1  </a:t>
            </a:r>
            <a:r>
              <a:rPr lang="zh-CN" altLang="en-US" sz="3200">
                <a:solidFill>
                  <a:schemeClr val="folHlink"/>
                </a:solidFill>
                <a:latin typeface="Arial" pitchFamily="34" charset="0"/>
                <a:ea typeface="黑体" pitchFamily="49" charset="-122"/>
              </a:rPr>
              <a:t>以字节为单位的滑动窗口</a:t>
            </a:r>
            <a:r>
              <a:rPr lang="zh-CN" altLang="en-US" sz="3200">
                <a:latin typeface="Arial" pitchFamily="34" charset="0"/>
                <a:ea typeface="黑体" pitchFamily="49" charset="-122"/>
              </a:rPr>
              <a:t> </a:t>
            </a:r>
            <a:r>
              <a:rPr lang="zh-CN" altLang="en-US" sz="3200">
                <a:solidFill>
                  <a:srgbClr val="333399"/>
                </a:solidFill>
                <a:latin typeface="Arial" pitchFamily="34" charset="0"/>
                <a:ea typeface="黑体" pitchFamily="49" charset="-122"/>
              </a:rPr>
              <a:t>           </a:t>
            </a:r>
          </a:p>
          <a:p>
            <a:pPr eaLnBrk="1" hangingPunct="1"/>
            <a:r>
              <a:rPr lang="zh-CN" altLang="en-US" sz="3200">
                <a:solidFill>
                  <a:srgbClr val="333399"/>
                </a:solidFill>
                <a:latin typeface="Arial" pitchFamily="34" charset="0"/>
                <a:ea typeface="黑体" pitchFamily="49" charset="-122"/>
              </a:rPr>
              <a:t>           </a:t>
            </a:r>
            <a:r>
              <a:rPr lang="en-US" altLang="zh-CN" sz="3200">
                <a:solidFill>
                  <a:srgbClr val="333399"/>
                </a:solidFill>
                <a:latin typeface="Arial" pitchFamily="34" charset="0"/>
                <a:ea typeface="黑体" pitchFamily="49" charset="-122"/>
              </a:rPr>
              <a:t>5.6.2  </a:t>
            </a:r>
            <a:r>
              <a:rPr lang="zh-CN" altLang="en-US" sz="3200">
                <a:solidFill>
                  <a:srgbClr val="333399"/>
                </a:solidFill>
                <a:latin typeface="Arial" pitchFamily="34" charset="0"/>
                <a:ea typeface="黑体" pitchFamily="49" charset="-122"/>
              </a:rPr>
              <a:t>超时重传时间的选择</a:t>
            </a:r>
          </a:p>
          <a:p>
            <a:pPr eaLnBrk="1" hangingPunct="1"/>
            <a:r>
              <a:rPr lang="zh-CN" altLang="en-US" sz="3200">
                <a:solidFill>
                  <a:srgbClr val="333399"/>
                </a:solidFill>
                <a:latin typeface="Arial" pitchFamily="34" charset="0"/>
                <a:ea typeface="黑体" pitchFamily="49" charset="-122"/>
              </a:rPr>
              <a:t>           </a:t>
            </a:r>
            <a:r>
              <a:rPr lang="en-US" altLang="zh-CN" sz="3200">
                <a:solidFill>
                  <a:srgbClr val="333399"/>
                </a:solidFill>
                <a:latin typeface="Arial" pitchFamily="34" charset="0"/>
                <a:ea typeface="黑体" pitchFamily="49" charset="-122"/>
              </a:rPr>
              <a:t>5.6.3  </a:t>
            </a:r>
            <a:r>
              <a:rPr lang="zh-CN" altLang="en-US" sz="3200">
                <a:solidFill>
                  <a:srgbClr val="333399"/>
                </a:solidFill>
                <a:latin typeface="Arial" pitchFamily="34" charset="0"/>
                <a:ea typeface="黑体" pitchFamily="49" charset="-122"/>
              </a:rPr>
              <a:t>选择确认 </a:t>
            </a:r>
            <a:r>
              <a:rPr lang="en-US" altLang="zh-CN" sz="3200">
                <a:solidFill>
                  <a:srgbClr val="333399"/>
                </a:solidFill>
                <a:latin typeface="Arial" pitchFamily="34" charset="0"/>
                <a:ea typeface="黑体" pitchFamily="49" charset="-122"/>
              </a:rPr>
              <a:t>SACK</a:t>
            </a:r>
          </a:p>
          <a:p>
            <a:pPr eaLnBrk="1" hangingPunct="1"/>
            <a:r>
              <a:rPr lang="en-US" altLang="zh-CN" sz="3200">
                <a:solidFill>
                  <a:srgbClr val="333399"/>
                </a:solidFill>
                <a:latin typeface="Arial" pitchFamily="34" charset="0"/>
                <a:ea typeface="黑体" pitchFamily="49" charset="-122"/>
              </a:rPr>
              <a:t>5.7  TCP</a:t>
            </a:r>
            <a:r>
              <a:rPr lang="zh-CN" altLang="en-US" sz="3200">
                <a:solidFill>
                  <a:srgbClr val="333399"/>
                </a:solidFill>
                <a:latin typeface="Arial" pitchFamily="34" charset="0"/>
                <a:ea typeface="黑体" pitchFamily="49" charset="-122"/>
              </a:rPr>
              <a:t>的流量控制</a:t>
            </a:r>
          </a:p>
          <a:p>
            <a:pPr eaLnBrk="1" hangingPunct="1"/>
            <a:r>
              <a:rPr lang="zh-CN" altLang="en-US" sz="3200">
                <a:solidFill>
                  <a:srgbClr val="333399"/>
                </a:solidFill>
                <a:latin typeface="Arial" pitchFamily="34" charset="0"/>
                <a:ea typeface="黑体" pitchFamily="49" charset="-122"/>
              </a:rPr>
              <a:t>          </a:t>
            </a:r>
            <a:r>
              <a:rPr lang="en-US" altLang="zh-CN" sz="3200">
                <a:solidFill>
                  <a:srgbClr val="333399"/>
                </a:solidFill>
                <a:latin typeface="Arial" pitchFamily="34" charset="0"/>
                <a:ea typeface="黑体" pitchFamily="49" charset="-122"/>
              </a:rPr>
              <a:t>5.7.1  </a:t>
            </a:r>
            <a:r>
              <a:rPr lang="zh-CN" altLang="en-US" sz="3200">
                <a:solidFill>
                  <a:srgbClr val="333399"/>
                </a:solidFill>
                <a:latin typeface="Arial" pitchFamily="34" charset="0"/>
                <a:ea typeface="黑体" pitchFamily="49" charset="-122"/>
              </a:rPr>
              <a:t>利用滑动窗口实现流量控制</a:t>
            </a:r>
          </a:p>
          <a:p>
            <a:pPr eaLnBrk="1" hangingPunct="1"/>
            <a:r>
              <a:rPr lang="zh-CN" altLang="en-US" sz="3200">
                <a:solidFill>
                  <a:srgbClr val="333399"/>
                </a:solidFill>
                <a:latin typeface="Arial" pitchFamily="34" charset="0"/>
                <a:ea typeface="黑体" pitchFamily="49" charset="-122"/>
              </a:rPr>
              <a:t>          </a:t>
            </a:r>
            <a:r>
              <a:rPr lang="en-US" altLang="zh-CN" sz="3200">
                <a:solidFill>
                  <a:srgbClr val="333399"/>
                </a:solidFill>
                <a:latin typeface="Arial" pitchFamily="34" charset="0"/>
                <a:ea typeface="黑体" pitchFamily="49" charset="-122"/>
              </a:rPr>
              <a:t>5.7.1  </a:t>
            </a:r>
            <a:r>
              <a:rPr lang="zh-CN" altLang="en-US" sz="3200">
                <a:solidFill>
                  <a:srgbClr val="333399"/>
                </a:solidFill>
                <a:latin typeface="Arial" pitchFamily="34" charset="0"/>
                <a:ea typeface="黑体" pitchFamily="49" charset="-122"/>
              </a:rPr>
              <a:t>必须考虑传输效率</a:t>
            </a:r>
          </a:p>
          <a:p>
            <a:pPr eaLnBrk="1" hangingPunct="1"/>
            <a:r>
              <a:rPr lang="zh-CN" altLang="en-US" sz="3200">
                <a:solidFill>
                  <a:srgbClr val="333399"/>
                </a:solidFill>
                <a:latin typeface="Arial" pitchFamily="34" charset="0"/>
                <a:ea typeface="黑体" pitchFamily="49" charset="-122"/>
              </a:rPr>
              <a:t>		</a:t>
            </a:r>
            <a:endParaRPr lang="zh-CN" altLang="en-US" sz="3200">
              <a:latin typeface="Arial" pitchFamily="34" charset="0"/>
              <a:ea typeface="黑体"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CEB5F7F-DF47-449A-9354-4C20D1171620}" type="slidenum">
              <a:rPr lang="en-US" altLang="zh-CN" sz="1400"/>
              <a:pPr eaLnBrk="1" hangingPunct="1"/>
              <a:t>5</a:t>
            </a:fld>
            <a:endParaRPr lang="en-US" altLang="zh-CN" sz="1400"/>
          </a:p>
        </p:txBody>
      </p:sp>
      <p:sp>
        <p:nvSpPr>
          <p:cNvPr id="7171" name="Rectangle 2"/>
          <p:cNvSpPr>
            <a:spLocks noGrp="1" noChangeArrowheads="1"/>
          </p:cNvSpPr>
          <p:nvPr>
            <p:ph type="title"/>
          </p:nvPr>
        </p:nvSpPr>
        <p:spPr/>
        <p:txBody>
          <a:bodyPr/>
          <a:lstStyle/>
          <a:p>
            <a:pPr algn="ctr" eaLnBrk="1" hangingPunct="1"/>
            <a:r>
              <a:rPr lang="zh-CN" altLang="en-US" smtClean="0">
                <a:ea typeface="Arial Unicode MS" pitchFamily="34" charset="-122"/>
                <a:cs typeface="Arial Unicode MS" pitchFamily="34" charset="-122"/>
              </a:rPr>
              <a:t>第 </a:t>
            </a:r>
            <a:r>
              <a:rPr lang="en-US" altLang="zh-CN" smtClean="0">
                <a:ea typeface="Arial Unicode MS" pitchFamily="34" charset="-122"/>
                <a:cs typeface="Arial Unicode MS" pitchFamily="34" charset="-122"/>
              </a:rPr>
              <a:t>5 </a:t>
            </a:r>
            <a:r>
              <a:rPr lang="zh-CN" altLang="en-US" smtClean="0">
                <a:ea typeface="Arial Unicode MS" pitchFamily="34" charset="-122"/>
                <a:cs typeface="Arial Unicode MS" pitchFamily="34" charset="-122"/>
              </a:rPr>
              <a:t>章  </a:t>
            </a:r>
            <a:r>
              <a:rPr lang="zh-CN" altLang="en-US" smtClean="0"/>
              <a:t>运输层（续）</a:t>
            </a:r>
          </a:p>
        </p:txBody>
      </p:sp>
      <p:sp>
        <p:nvSpPr>
          <p:cNvPr id="7172" name="Rectangle 3"/>
          <p:cNvSpPr>
            <a:spLocks noGrp="1" noChangeArrowheads="1"/>
          </p:cNvSpPr>
          <p:nvPr>
            <p:ph type="body" idx="1"/>
          </p:nvPr>
        </p:nvSpPr>
        <p:spPr/>
        <p:txBody>
          <a:bodyPr/>
          <a:lstStyle/>
          <a:p>
            <a:pPr marL="533400" indent="-533400" eaLnBrk="1" hangingPunct="1">
              <a:buFont typeface="Wingdings" pitchFamily="2" charset="2"/>
              <a:buNone/>
            </a:pPr>
            <a:r>
              <a:rPr lang="en-US" altLang="zh-CN" sz="2800" smtClean="0"/>
              <a:t>5.8  TCP </a:t>
            </a:r>
            <a:r>
              <a:rPr lang="zh-CN" altLang="en-US" sz="2800" smtClean="0"/>
              <a:t>的拥塞控制</a:t>
            </a:r>
          </a:p>
          <a:p>
            <a:pPr marL="533400" indent="-533400" eaLnBrk="1" hangingPunct="1">
              <a:buFont typeface="Wingdings" pitchFamily="2" charset="2"/>
              <a:buNone/>
            </a:pPr>
            <a:r>
              <a:rPr lang="zh-CN" altLang="en-US" sz="2800" smtClean="0"/>
              <a:t>           </a:t>
            </a:r>
            <a:r>
              <a:rPr lang="en-US" altLang="zh-CN" sz="2800" smtClean="0"/>
              <a:t>5.8.1  </a:t>
            </a:r>
            <a:r>
              <a:rPr lang="zh-CN" altLang="en-US" sz="2800" smtClean="0"/>
              <a:t>拥塞控制的一般原理</a:t>
            </a:r>
          </a:p>
          <a:p>
            <a:pPr marL="533400" indent="-533400" eaLnBrk="1" hangingPunct="1">
              <a:buFont typeface="Wingdings" pitchFamily="2" charset="2"/>
              <a:buNone/>
            </a:pPr>
            <a:r>
              <a:rPr lang="zh-CN" altLang="en-US" sz="2800" smtClean="0"/>
              <a:t>           </a:t>
            </a:r>
            <a:r>
              <a:rPr lang="en-US" altLang="zh-CN" sz="2800" smtClean="0"/>
              <a:t>5.8.2  </a:t>
            </a:r>
            <a:r>
              <a:rPr lang="zh-CN" altLang="en-US" sz="2800" smtClean="0"/>
              <a:t>几种拥塞控制方法</a:t>
            </a:r>
          </a:p>
          <a:p>
            <a:pPr marL="533400" indent="-533400" eaLnBrk="1" hangingPunct="1">
              <a:buFont typeface="Wingdings" pitchFamily="2" charset="2"/>
              <a:buNone/>
            </a:pPr>
            <a:r>
              <a:rPr lang="zh-CN" altLang="en-US" sz="2800" smtClean="0"/>
              <a:t>	      </a:t>
            </a:r>
            <a:r>
              <a:rPr lang="en-US" altLang="zh-CN" sz="2800" smtClean="0"/>
              <a:t>5.8.3  </a:t>
            </a:r>
            <a:r>
              <a:rPr lang="zh-CN" altLang="en-US" sz="2800" smtClean="0"/>
              <a:t>随机早期检测 </a:t>
            </a:r>
            <a:r>
              <a:rPr lang="en-US" altLang="zh-CN" sz="2800" smtClean="0"/>
              <a:t>RED</a:t>
            </a:r>
          </a:p>
          <a:p>
            <a:pPr marL="533400" indent="-533400" eaLnBrk="1" hangingPunct="1">
              <a:buFont typeface="Wingdings" pitchFamily="2" charset="2"/>
              <a:buNone/>
            </a:pPr>
            <a:r>
              <a:rPr lang="en-US" altLang="zh-CN" sz="2800" smtClean="0"/>
              <a:t>5.9  TCP </a:t>
            </a:r>
            <a:r>
              <a:rPr lang="zh-CN" altLang="en-US" sz="2800" smtClean="0"/>
              <a:t>的运输连接管理</a:t>
            </a:r>
          </a:p>
          <a:p>
            <a:pPr marL="533400" indent="-533400" eaLnBrk="1" hangingPunct="1">
              <a:buFont typeface="Wingdings" pitchFamily="2" charset="2"/>
              <a:buNone/>
            </a:pPr>
            <a:r>
              <a:rPr lang="zh-CN" altLang="en-US" sz="2800" smtClean="0"/>
              <a:t>	     </a:t>
            </a:r>
            <a:r>
              <a:rPr lang="en-US" altLang="zh-CN" sz="2800" smtClean="0"/>
              <a:t>5.9.1  TCP </a:t>
            </a:r>
            <a:r>
              <a:rPr lang="zh-CN" altLang="en-US" sz="2800" smtClean="0"/>
              <a:t>的连接建立</a:t>
            </a:r>
          </a:p>
          <a:p>
            <a:pPr marL="533400" indent="-533400" eaLnBrk="1" hangingPunct="1">
              <a:buFont typeface="Wingdings" pitchFamily="2" charset="2"/>
              <a:buNone/>
            </a:pPr>
            <a:r>
              <a:rPr lang="zh-CN" altLang="en-US" sz="2800" smtClean="0"/>
              <a:t>          </a:t>
            </a:r>
            <a:r>
              <a:rPr lang="en-US" altLang="zh-CN" sz="2800" smtClean="0"/>
              <a:t>5.9.2  TCP </a:t>
            </a:r>
            <a:r>
              <a:rPr lang="zh-CN" altLang="en-US" sz="2800" smtClean="0"/>
              <a:t>的连接释放</a:t>
            </a:r>
          </a:p>
          <a:p>
            <a:pPr marL="533400" indent="-533400" eaLnBrk="1" hangingPunct="1">
              <a:buFont typeface="Wingdings" pitchFamily="2" charset="2"/>
              <a:buNone/>
            </a:pPr>
            <a:r>
              <a:rPr lang="zh-CN" altLang="en-US" sz="2800" smtClean="0"/>
              <a:t>          </a:t>
            </a:r>
            <a:r>
              <a:rPr lang="en-US" altLang="zh-CN" sz="2800" smtClean="0"/>
              <a:t>5.9.3  TCP </a:t>
            </a:r>
            <a:r>
              <a:rPr lang="zh-CN" altLang="en-US" sz="2800" smtClean="0"/>
              <a:t>的有限状态机 </a:t>
            </a:r>
          </a:p>
          <a:p>
            <a:pPr marL="533400" indent="-533400" eaLnBrk="1" hangingPunct="1"/>
            <a:endParaRPr lang="zh-CN" altLang="en-US" sz="2800" smtClean="0">
              <a:solidFill>
                <a:schemeClr val="tx1"/>
              </a:solidFill>
            </a:endParaRPr>
          </a:p>
          <a:p>
            <a:pPr marL="533400" indent="-533400" eaLnBrk="1" hangingPunct="1"/>
            <a:endParaRPr lang="en-US" altLang="zh-CN" sz="280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D7CDF02-8CAA-45F4-B1DD-59415892587D}" type="slidenum">
              <a:rPr lang="en-US" altLang="zh-CN" sz="1400"/>
              <a:pPr eaLnBrk="1" hangingPunct="1"/>
              <a:t>6</a:t>
            </a:fld>
            <a:endParaRPr lang="en-US" altLang="zh-CN" sz="1400"/>
          </a:p>
        </p:txBody>
      </p:sp>
      <p:sp>
        <p:nvSpPr>
          <p:cNvPr id="8195" name="Rectangle 2"/>
          <p:cNvSpPr>
            <a:spLocks noGrp="1" noChangeArrowheads="1"/>
          </p:cNvSpPr>
          <p:nvPr>
            <p:ph type="title"/>
          </p:nvPr>
        </p:nvSpPr>
        <p:spPr>
          <a:xfrm>
            <a:off x="1100138" y="931863"/>
            <a:ext cx="6856412" cy="768350"/>
          </a:xfrm>
        </p:spPr>
        <p:txBody>
          <a:bodyPr/>
          <a:lstStyle/>
          <a:p>
            <a:pPr algn="ctr" eaLnBrk="1" hangingPunct="1"/>
            <a:r>
              <a:rPr lang="en-US" altLang="zh-CN" sz="4000" smtClean="0"/>
              <a:t>5.1 </a:t>
            </a:r>
            <a:r>
              <a:rPr lang="zh-CN" altLang="en-US" sz="4000" smtClean="0"/>
              <a:t>运输层协议概述</a:t>
            </a:r>
            <a:br>
              <a:rPr lang="zh-CN" altLang="en-US" sz="4000" smtClean="0"/>
            </a:br>
            <a:r>
              <a:rPr lang="en-US" altLang="zh-CN" sz="4000" smtClean="0"/>
              <a:t>5.1.1  </a:t>
            </a:r>
            <a:r>
              <a:rPr lang="zh-CN" altLang="en-US" sz="4000" smtClean="0"/>
              <a:t>进程之间的通信</a:t>
            </a:r>
          </a:p>
        </p:txBody>
      </p:sp>
      <p:sp>
        <p:nvSpPr>
          <p:cNvPr id="8196" name="Rectangle 3"/>
          <p:cNvSpPr>
            <a:spLocks noGrp="1" noChangeArrowheads="1"/>
          </p:cNvSpPr>
          <p:nvPr>
            <p:ph type="body" idx="1"/>
          </p:nvPr>
        </p:nvSpPr>
        <p:spPr>
          <a:xfrm>
            <a:off x="1182688" y="1844675"/>
            <a:ext cx="7772400" cy="5013325"/>
          </a:xfrm>
        </p:spPr>
        <p:txBody>
          <a:bodyPr/>
          <a:lstStyle/>
          <a:p>
            <a:pPr algn="just" eaLnBrk="1" hangingPunct="1">
              <a:lnSpc>
                <a:spcPct val="90000"/>
              </a:lnSpc>
            </a:pPr>
            <a:r>
              <a:rPr lang="zh-CN" altLang="en-US" smtClean="0"/>
              <a:t>从通信和信息处理的角度看，</a:t>
            </a:r>
            <a:r>
              <a:rPr lang="zh-CN" altLang="en-US" smtClean="0">
                <a:solidFill>
                  <a:schemeClr val="hlink"/>
                </a:solidFill>
              </a:rPr>
              <a:t>运输层向它上面的应用层提供通信服务</a:t>
            </a:r>
            <a:r>
              <a:rPr lang="zh-CN" altLang="en-US" smtClean="0"/>
              <a:t>，它属于面向通信部分的最高层，同时也是用户功能中的最低层。</a:t>
            </a:r>
          </a:p>
          <a:p>
            <a:pPr algn="just" eaLnBrk="1" hangingPunct="1"/>
            <a:r>
              <a:rPr lang="zh-CN" altLang="en-US" smtClean="0"/>
              <a:t>当网络的边缘部分中的两个主机使用网络的核心部分的功能进行端到端的通信时，只有位于网络边缘部分的主机的协议栈才有运输层，而网络核心部分中的路由器在转发分组时都只用到下三层的功能。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314"/>
          <p:cNvSpPr>
            <a:spLocks noChangeArrowheads="1"/>
          </p:cNvSpPr>
          <p:nvPr/>
        </p:nvSpPr>
        <p:spPr bwMode="auto">
          <a:xfrm>
            <a:off x="180975" y="1349375"/>
            <a:ext cx="1449388" cy="2538413"/>
          </a:xfrm>
          <a:prstGeom prst="rect">
            <a:avLst/>
          </a:prstGeom>
          <a:solidFill>
            <a:srgbClr val="FFFF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19" name="Rectangle 324"/>
          <p:cNvSpPr>
            <a:spLocks noChangeArrowheads="1"/>
          </p:cNvSpPr>
          <p:nvPr/>
        </p:nvSpPr>
        <p:spPr bwMode="auto">
          <a:xfrm>
            <a:off x="7429500" y="1349375"/>
            <a:ext cx="1452563" cy="2538413"/>
          </a:xfrm>
          <a:prstGeom prst="rect">
            <a:avLst/>
          </a:prstGeom>
          <a:solidFill>
            <a:srgbClr val="FFFF99"/>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0" name="Rectangle 313"/>
          <p:cNvSpPr>
            <a:spLocks noChangeArrowheads="1"/>
          </p:cNvSpPr>
          <p:nvPr/>
        </p:nvSpPr>
        <p:spPr bwMode="auto">
          <a:xfrm>
            <a:off x="198438" y="2459038"/>
            <a:ext cx="8688387" cy="469900"/>
          </a:xfrm>
          <a:prstGeom prst="rect">
            <a:avLst/>
          </a:prstGeom>
          <a:solidFill>
            <a:srgbClr val="CCECFF">
              <a:alpha val="67842"/>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1" name="Rectangle 2"/>
          <p:cNvSpPr>
            <a:spLocks noGrp="1" noChangeArrowheads="1"/>
          </p:cNvSpPr>
          <p:nvPr>
            <p:ph type="title"/>
          </p:nvPr>
        </p:nvSpPr>
        <p:spPr>
          <a:xfrm>
            <a:off x="1100138" y="192088"/>
            <a:ext cx="6856412" cy="933450"/>
          </a:xfrm>
        </p:spPr>
        <p:txBody>
          <a:bodyPr/>
          <a:lstStyle/>
          <a:p>
            <a:pPr algn="ctr" eaLnBrk="1" hangingPunct="1"/>
            <a:r>
              <a:rPr lang="zh-CN" altLang="en-US" sz="3200" smtClean="0"/>
              <a:t>运输层为相互通信的应用进程提供了逻辑通信 </a:t>
            </a:r>
          </a:p>
        </p:txBody>
      </p:sp>
      <p:sp>
        <p:nvSpPr>
          <p:cNvPr id="9222" name="Line 315"/>
          <p:cNvSpPr>
            <a:spLocks noChangeShapeType="1"/>
          </p:cNvSpPr>
          <p:nvPr/>
        </p:nvSpPr>
        <p:spPr bwMode="auto">
          <a:xfrm>
            <a:off x="1620838" y="5141913"/>
            <a:ext cx="5789612" cy="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3" name="Line 316"/>
          <p:cNvSpPr>
            <a:spLocks noChangeShapeType="1"/>
          </p:cNvSpPr>
          <p:nvPr/>
        </p:nvSpPr>
        <p:spPr bwMode="auto">
          <a:xfrm>
            <a:off x="180975" y="2935288"/>
            <a:ext cx="1447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317"/>
          <p:cNvSpPr>
            <a:spLocks noChangeShapeType="1"/>
          </p:cNvSpPr>
          <p:nvPr/>
        </p:nvSpPr>
        <p:spPr bwMode="auto">
          <a:xfrm>
            <a:off x="180975" y="3414713"/>
            <a:ext cx="1447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Rectangle 318"/>
          <p:cNvSpPr>
            <a:spLocks noChangeArrowheads="1"/>
          </p:cNvSpPr>
          <p:nvPr/>
        </p:nvSpPr>
        <p:spPr bwMode="auto">
          <a:xfrm>
            <a:off x="187325" y="2011363"/>
            <a:ext cx="1439863" cy="447675"/>
          </a:xfrm>
          <a:prstGeom prst="rect">
            <a:avLst/>
          </a:prstGeom>
          <a:solidFill>
            <a:srgbClr val="99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Rectangle 319"/>
          <p:cNvSpPr>
            <a:spLocks noChangeArrowheads="1"/>
          </p:cNvSpPr>
          <p:nvPr/>
        </p:nvSpPr>
        <p:spPr bwMode="auto">
          <a:xfrm>
            <a:off x="146050" y="1470025"/>
            <a:ext cx="322263"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50000"/>
              </a:lnSpc>
            </a:pPr>
            <a:r>
              <a:rPr kumimoji="1" lang="en-US" altLang="zh-CN" sz="2000">
                <a:solidFill>
                  <a:srgbClr val="333399"/>
                </a:solidFill>
                <a:latin typeface="Arial" pitchFamily="34" charset="0"/>
                <a:ea typeface="黑体" pitchFamily="49" charset="-122"/>
              </a:rPr>
              <a:t>5</a:t>
            </a:r>
          </a:p>
          <a:p>
            <a:pPr defTabSz="762000" eaLnBrk="0" hangingPunct="0">
              <a:lnSpc>
                <a:spcPct val="150000"/>
              </a:lnSpc>
            </a:pPr>
            <a:r>
              <a:rPr kumimoji="1" lang="en-US" altLang="zh-CN" sz="2000">
                <a:solidFill>
                  <a:srgbClr val="333399"/>
                </a:solidFill>
                <a:latin typeface="Arial" pitchFamily="34" charset="0"/>
                <a:ea typeface="黑体" pitchFamily="49" charset="-122"/>
              </a:rPr>
              <a:t>4</a:t>
            </a:r>
          </a:p>
          <a:p>
            <a:pPr defTabSz="762000" eaLnBrk="0" hangingPunct="0">
              <a:lnSpc>
                <a:spcPct val="150000"/>
              </a:lnSpc>
            </a:pPr>
            <a:r>
              <a:rPr kumimoji="1" lang="en-US" altLang="zh-CN" sz="2000">
                <a:solidFill>
                  <a:srgbClr val="333399"/>
                </a:solidFill>
                <a:latin typeface="Arial" pitchFamily="34" charset="0"/>
                <a:ea typeface="黑体" pitchFamily="49" charset="-122"/>
              </a:rPr>
              <a:t>3</a:t>
            </a:r>
          </a:p>
          <a:p>
            <a:pPr defTabSz="762000" eaLnBrk="0" hangingPunct="0">
              <a:lnSpc>
                <a:spcPct val="150000"/>
              </a:lnSpc>
            </a:pPr>
            <a:r>
              <a:rPr kumimoji="1" lang="en-US" altLang="zh-CN" sz="2000">
                <a:solidFill>
                  <a:srgbClr val="333399"/>
                </a:solidFill>
                <a:latin typeface="Arial" pitchFamily="34" charset="0"/>
                <a:ea typeface="黑体" pitchFamily="49" charset="-122"/>
              </a:rPr>
              <a:t>2</a:t>
            </a:r>
          </a:p>
          <a:p>
            <a:pPr defTabSz="762000" eaLnBrk="0" hangingPunct="0">
              <a:lnSpc>
                <a:spcPct val="150000"/>
              </a:lnSpc>
            </a:pPr>
            <a:r>
              <a:rPr kumimoji="1" lang="en-US" altLang="zh-CN" sz="2000">
                <a:solidFill>
                  <a:srgbClr val="333399"/>
                </a:solidFill>
                <a:latin typeface="Arial" pitchFamily="34" charset="0"/>
                <a:ea typeface="黑体" pitchFamily="49" charset="-122"/>
              </a:rPr>
              <a:t>1</a:t>
            </a:r>
          </a:p>
        </p:txBody>
      </p:sp>
      <p:grpSp>
        <p:nvGrpSpPr>
          <p:cNvPr id="9227" name="Group 320"/>
          <p:cNvGrpSpPr>
            <a:grpSpLocks/>
          </p:cNvGrpSpPr>
          <p:nvPr/>
        </p:nvGrpSpPr>
        <p:grpSpPr bwMode="auto">
          <a:xfrm>
            <a:off x="2894013" y="2468563"/>
            <a:ext cx="1062037" cy="1419225"/>
            <a:chOff x="2017" y="1543"/>
            <a:chExt cx="619" cy="922"/>
          </a:xfrm>
        </p:grpSpPr>
        <p:sp>
          <p:nvSpPr>
            <p:cNvPr id="9304" name="Rectangle 321"/>
            <p:cNvSpPr>
              <a:spLocks noChangeArrowheads="1"/>
            </p:cNvSpPr>
            <p:nvPr/>
          </p:nvSpPr>
          <p:spPr bwMode="auto">
            <a:xfrm>
              <a:off x="2017" y="1543"/>
              <a:ext cx="619" cy="922"/>
            </a:xfrm>
            <a:prstGeom prst="rect">
              <a:avLst/>
            </a:prstGeom>
            <a:solidFill>
              <a:srgbClr val="CC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5" name="Line 322"/>
            <p:cNvSpPr>
              <a:spLocks noChangeShapeType="1"/>
            </p:cNvSpPr>
            <p:nvPr/>
          </p:nvSpPr>
          <p:spPr bwMode="auto">
            <a:xfrm>
              <a:off x="2017" y="1845"/>
              <a:ext cx="6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6" name="Line 323"/>
            <p:cNvSpPr>
              <a:spLocks noChangeShapeType="1"/>
            </p:cNvSpPr>
            <p:nvPr/>
          </p:nvSpPr>
          <p:spPr bwMode="auto">
            <a:xfrm>
              <a:off x="2017" y="2157"/>
              <a:ext cx="6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28" name="Line 325"/>
          <p:cNvSpPr>
            <a:spLocks noChangeShapeType="1"/>
          </p:cNvSpPr>
          <p:nvPr/>
        </p:nvSpPr>
        <p:spPr bwMode="auto">
          <a:xfrm>
            <a:off x="7429500" y="2935288"/>
            <a:ext cx="14509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Line 326"/>
          <p:cNvSpPr>
            <a:spLocks noChangeShapeType="1"/>
          </p:cNvSpPr>
          <p:nvPr/>
        </p:nvSpPr>
        <p:spPr bwMode="auto">
          <a:xfrm>
            <a:off x="7429500" y="3414713"/>
            <a:ext cx="14509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Rectangle 327"/>
          <p:cNvSpPr>
            <a:spLocks noChangeArrowheads="1"/>
          </p:cNvSpPr>
          <p:nvPr/>
        </p:nvSpPr>
        <p:spPr bwMode="auto">
          <a:xfrm>
            <a:off x="7434263" y="2011363"/>
            <a:ext cx="1447800" cy="447675"/>
          </a:xfrm>
          <a:prstGeom prst="rect">
            <a:avLst/>
          </a:prstGeom>
          <a:solidFill>
            <a:srgbClr val="99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31" name="Group 328"/>
          <p:cNvGrpSpPr>
            <a:grpSpLocks/>
          </p:cNvGrpSpPr>
          <p:nvPr/>
        </p:nvGrpSpPr>
        <p:grpSpPr bwMode="auto">
          <a:xfrm>
            <a:off x="5087938" y="2468563"/>
            <a:ext cx="1062037" cy="1419225"/>
            <a:chOff x="3295" y="1543"/>
            <a:chExt cx="619" cy="922"/>
          </a:xfrm>
        </p:grpSpPr>
        <p:sp>
          <p:nvSpPr>
            <p:cNvPr id="9301" name="Rectangle 329"/>
            <p:cNvSpPr>
              <a:spLocks noChangeArrowheads="1"/>
            </p:cNvSpPr>
            <p:nvPr/>
          </p:nvSpPr>
          <p:spPr bwMode="auto">
            <a:xfrm>
              <a:off x="3295" y="1543"/>
              <a:ext cx="619" cy="922"/>
            </a:xfrm>
            <a:prstGeom prst="rect">
              <a:avLst/>
            </a:prstGeom>
            <a:solidFill>
              <a:srgbClr val="CC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2" name="Line 330"/>
            <p:cNvSpPr>
              <a:spLocks noChangeShapeType="1"/>
            </p:cNvSpPr>
            <p:nvPr/>
          </p:nvSpPr>
          <p:spPr bwMode="auto">
            <a:xfrm>
              <a:off x="3295" y="1845"/>
              <a:ext cx="6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3" name="Line 331"/>
            <p:cNvSpPr>
              <a:spLocks noChangeShapeType="1"/>
            </p:cNvSpPr>
            <p:nvPr/>
          </p:nvSpPr>
          <p:spPr bwMode="auto">
            <a:xfrm>
              <a:off x="3295" y="2157"/>
              <a:ext cx="61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32" name="Rectangle 332"/>
          <p:cNvSpPr>
            <a:spLocks noChangeArrowheads="1"/>
          </p:cNvSpPr>
          <p:nvPr/>
        </p:nvSpPr>
        <p:spPr bwMode="auto">
          <a:xfrm>
            <a:off x="2498725" y="1666875"/>
            <a:ext cx="4089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运输层提供应用进程</a:t>
            </a:r>
            <a:r>
              <a:rPr kumimoji="1" lang="zh-CN" altLang="zh-CN" sz="2000">
                <a:solidFill>
                  <a:srgbClr val="333399"/>
                </a:solidFill>
                <a:latin typeface="Arial" pitchFamily="34" charset="0"/>
                <a:ea typeface="黑体" pitchFamily="49" charset="-122"/>
              </a:rPr>
              <a:t>间的逻辑</a:t>
            </a:r>
            <a:r>
              <a:rPr kumimoji="1" lang="zh-CN" altLang="en-US" sz="2000">
                <a:solidFill>
                  <a:srgbClr val="333399"/>
                </a:solidFill>
                <a:latin typeface="Arial" pitchFamily="34" charset="0"/>
                <a:ea typeface="黑体" pitchFamily="49" charset="-122"/>
              </a:rPr>
              <a:t>通信</a:t>
            </a:r>
          </a:p>
        </p:txBody>
      </p:sp>
      <p:sp>
        <p:nvSpPr>
          <p:cNvPr id="9233" name="Rectangle 333"/>
          <p:cNvSpPr>
            <a:spLocks noChangeArrowheads="1"/>
          </p:cNvSpPr>
          <p:nvPr/>
        </p:nvSpPr>
        <p:spPr bwMode="auto">
          <a:xfrm>
            <a:off x="180975" y="4673600"/>
            <a:ext cx="144780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234" name="Freeform 334"/>
          <p:cNvSpPr>
            <a:spLocks/>
          </p:cNvSpPr>
          <p:nvPr/>
        </p:nvSpPr>
        <p:spPr bwMode="auto">
          <a:xfrm>
            <a:off x="976313" y="4967288"/>
            <a:ext cx="655637" cy="165100"/>
          </a:xfrm>
          <a:custGeom>
            <a:avLst/>
            <a:gdLst>
              <a:gd name="T0" fmla="*/ 0 w 382"/>
              <a:gd name="T1" fmla="*/ 0 h 277"/>
              <a:gd name="T2" fmla="*/ 15447 w 382"/>
              <a:gd name="T3" fmla="*/ 0 h 277"/>
              <a:gd name="T4" fmla="*/ 30894 w 382"/>
              <a:gd name="T5" fmla="*/ 3576 h 277"/>
              <a:gd name="T6" fmla="*/ 46341 w 382"/>
              <a:gd name="T7" fmla="*/ 3576 h 277"/>
              <a:gd name="T8" fmla="*/ 61788 w 382"/>
              <a:gd name="T9" fmla="*/ 5364 h 277"/>
              <a:gd name="T10" fmla="*/ 82384 w 382"/>
              <a:gd name="T11" fmla="*/ 7152 h 277"/>
              <a:gd name="T12" fmla="*/ 97831 w 382"/>
              <a:gd name="T13" fmla="*/ 8940 h 277"/>
              <a:gd name="T14" fmla="*/ 113278 w 382"/>
              <a:gd name="T15" fmla="*/ 10729 h 277"/>
              <a:gd name="T16" fmla="*/ 128725 w 382"/>
              <a:gd name="T17" fmla="*/ 12517 h 277"/>
              <a:gd name="T18" fmla="*/ 144171 w 382"/>
              <a:gd name="T19" fmla="*/ 14305 h 277"/>
              <a:gd name="T20" fmla="*/ 159618 w 382"/>
              <a:gd name="T21" fmla="*/ 17881 h 277"/>
              <a:gd name="T22" fmla="*/ 175065 w 382"/>
              <a:gd name="T23" fmla="*/ 19669 h 277"/>
              <a:gd name="T24" fmla="*/ 190512 w 382"/>
              <a:gd name="T25" fmla="*/ 21457 h 277"/>
              <a:gd name="T26" fmla="*/ 205959 w 382"/>
              <a:gd name="T27" fmla="*/ 25033 h 277"/>
              <a:gd name="T28" fmla="*/ 226555 w 382"/>
              <a:gd name="T29" fmla="*/ 26821 h 277"/>
              <a:gd name="T30" fmla="*/ 247151 w 382"/>
              <a:gd name="T31" fmla="*/ 32186 h 277"/>
              <a:gd name="T32" fmla="*/ 262598 w 382"/>
              <a:gd name="T33" fmla="*/ 33974 h 277"/>
              <a:gd name="T34" fmla="*/ 278045 w 382"/>
              <a:gd name="T35" fmla="*/ 39338 h 277"/>
              <a:gd name="T36" fmla="*/ 293492 w 382"/>
              <a:gd name="T37" fmla="*/ 39338 h 277"/>
              <a:gd name="T38" fmla="*/ 308939 w 382"/>
              <a:gd name="T39" fmla="*/ 42914 h 277"/>
              <a:gd name="T40" fmla="*/ 329535 w 382"/>
              <a:gd name="T41" fmla="*/ 46490 h 277"/>
              <a:gd name="T42" fmla="*/ 365578 w 382"/>
              <a:gd name="T43" fmla="*/ 50066 h 277"/>
              <a:gd name="T44" fmla="*/ 386174 w 382"/>
              <a:gd name="T45" fmla="*/ 53643 h 277"/>
              <a:gd name="T46" fmla="*/ 401621 w 382"/>
              <a:gd name="T47" fmla="*/ 57219 h 277"/>
              <a:gd name="T48" fmla="*/ 417068 w 382"/>
              <a:gd name="T49" fmla="*/ 62583 h 277"/>
              <a:gd name="T50" fmla="*/ 432514 w 382"/>
              <a:gd name="T51" fmla="*/ 66159 h 277"/>
              <a:gd name="T52" fmla="*/ 447961 w 382"/>
              <a:gd name="T53" fmla="*/ 69735 h 277"/>
              <a:gd name="T54" fmla="*/ 458259 w 382"/>
              <a:gd name="T55" fmla="*/ 75100 h 277"/>
              <a:gd name="T56" fmla="*/ 473706 w 382"/>
              <a:gd name="T57" fmla="*/ 78676 h 277"/>
              <a:gd name="T58" fmla="*/ 489153 w 382"/>
              <a:gd name="T59" fmla="*/ 82252 h 277"/>
              <a:gd name="T60" fmla="*/ 504600 w 382"/>
              <a:gd name="T61" fmla="*/ 85828 h 277"/>
              <a:gd name="T62" fmla="*/ 514898 w 382"/>
              <a:gd name="T63" fmla="*/ 91192 h 277"/>
              <a:gd name="T64" fmla="*/ 520047 w 382"/>
              <a:gd name="T65" fmla="*/ 96557 h 277"/>
              <a:gd name="T66" fmla="*/ 535494 w 382"/>
              <a:gd name="T67" fmla="*/ 100133 h 277"/>
              <a:gd name="T68" fmla="*/ 550941 w 382"/>
              <a:gd name="T69" fmla="*/ 105497 h 277"/>
              <a:gd name="T70" fmla="*/ 571537 w 382"/>
              <a:gd name="T71" fmla="*/ 110861 h 277"/>
              <a:gd name="T72" fmla="*/ 592133 w 382"/>
              <a:gd name="T73" fmla="*/ 116226 h 277"/>
              <a:gd name="T74" fmla="*/ 597282 w 382"/>
              <a:gd name="T75" fmla="*/ 121590 h 277"/>
              <a:gd name="T76" fmla="*/ 612729 w 382"/>
              <a:gd name="T77" fmla="*/ 125166 h 277"/>
              <a:gd name="T78" fmla="*/ 617878 w 382"/>
              <a:gd name="T79" fmla="*/ 130530 h 277"/>
              <a:gd name="T80" fmla="*/ 628176 w 382"/>
              <a:gd name="T81" fmla="*/ 135895 h 277"/>
              <a:gd name="T82" fmla="*/ 633325 w 382"/>
              <a:gd name="T83" fmla="*/ 141259 h 277"/>
              <a:gd name="T84" fmla="*/ 638474 w 382"/>
              <a:gd name="T85" fmla="*/ 146623 h 277"/>
              <a:gd name="T86" fmla="*/ 638474 w 382"/>
              <a:gd name="T87" fmla="*/ 153775 h 277"/>
              <a:gd name="T88" fmla="*/ 648772 w 382"/>
              <a:gd name="T89" fmla="*/ 159140 h 277"/>
              <a:gd name="T90" fmla="*/ 653921 w 382"/>
              <a:gd name="T91" fmla="*/ 164504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5" name="Freeform 335"/>
          <p:cNvSpPr>
            <a:spLocks/>
          </p:cNvSpPr>
          <p:nvPr/>
        </p:nvSpPr>
        <p:spPr bwMode="auto">
          <a:xfrm>
            <a:off x="914400" y="5154613"/>
            <a:ext cx="712788" cy="184150"/>
          </a:xfrm>
          <a:custGeom>
            <a:avLst/>
            <a:gdLst>
              <a:gd name="T0" fmla="*/ 0 w 334"/>
              <a:gd name="T1" fmla="*/ 183395 h 244"/>
              <a:gd name="T2" fmla="*/ 25609 w 334"/>
              <a:gd name="T3" fmla="*/ 183395 h 244"/>
              <a:gd name="T4" fmla="*/ 66157 w 334"/>
              <a:gd name="T5" fmla="*/ 178867 h 244"/>
              <a:gd name="T6" fmla="*/ 85364 w 334"/>
              <a:gd name="T7" fmla="*/ 176603 h 244"/>
              <a:gd name="T8" fmla="*/ 104571 w 334"/>
              <a:gd name="T9" fmla="*/ 174339 h 244"/>
              <a:gd name="T10" fmla="*/ 125912 w 334"/>
              <a:gd name="T11" fmla="*/ 169810 h 244"/>
              <a:gd name="T12" fmla="*/ 151521 w 334"/>
              <a:gd name="T13" fmla="*/ 167546 h 244"/>
              <a:gd name="T14" fmla="*/ 170728 w 334"/>
              <a:gd name="T15" fmla="*/ 163018 h 244"/>
              <a:gd name="T16" fmla="*/ 189935 w 334"/>
              <a:gd name="T17" fmla="*/ 158490 h 244"/>
              <a:gd name="T18" fmla="*/ 211275 w 334"/>
              <a:gd name="T19" fmla="*/ 153961 h 244"/>
              <a:gd name="T20" fmla="*/ 230482 w 334"/>
              <a:gd name="T21" fmla="*/ 149433 h 244"/>
              <a:gd name="T22" fmla="*/ 249689 w 334"/>
              <a:gd name="T23" fmla="*/ 147169 h 244"/>
              <a:gd name="T24" fmla="*/ 268896 w 334"/>
              <a:gd name="T25" fmla="*/ 142641 h 244"/>
              <a:gd name="T26" fmla="*/ 290237 w 334"/>
              <a:gd name="T27" fmla="*/ 138113 h 244"/>
              <a:gd name="T28" fmla="*/ 309444 w 334"/>
              <a:gd name="T29" fmla="*/ 133584 h 244"/>
              <a:gd name="T30" fmla="*/ 328651 w 334"/>
              <a:gd name="T31" fmla="*/ 131320 h 244"/>
              <a:gd name="T32" fmla="*/ 347858 w 334"/>
              <a:gd name="T33" fmla="*/ 129056 h 244"/>
              <a:gd name="T34" fmla="*/ 369199 w 334"/>
              <a:gd name="T35" fmla="*/ 124528 h 244"/>
              <a:gd name="T36" fmla="*/ 388405 w 334"/>
              <a:gd name="T37" fmla="*/ 122264 h 244"/>
              <a:gd name="T38" fmla="*/ 414015 w 334"/>
              <a:gd name="T39" fmla="*/ 117735 h 244"/>
              <a:gd name="T40" fmla="*/ 441758 w 334"/>
              <a:gd name="T41" fmla="*/ 113207 h 244"/>
              <a:gd name="T42" fmla="*/ 454562 w 334"/>
              <a:gd name="T43" fmla="*/ 106415 h 244"/>
              <a:gd name="T44" fmla="*/ 473769 w 334"/>
              <a:gd name="T45" fmla="*/ 104150 h 244"/>
              <a:gd name="T46" fmla="*/ 492976 w 334"/>
              <a:gd name="T47" fmla="*/ 97358 h 244"/>
              <a:gd name="T48" fmla="*/ 514317 w 334"/>
              <a:gd name="T49" fmla="*/ 90566 h 244"/>
              <a:gd name="T50" fmla="*/ 527122 w 334"/>
              <a:gd name="T51" fmla="*/ 83773 h 244"/>
              <a:gd name="T52" fmla="*/ 546329 w 334"/>
              <a:gd name="T53" fmla="*/ 76981 h 244"/>
              <a:gd name="T54" fmla="*/ 552731 w 334"/>
              <a:gd name="T55" fmla="*/ 70188 h 244"/>
              <a:gd name="T56" fmla="*/ 571938 w 334"/>
              <a:gd name="T57" fmla="*/ 65660 h 244"/>
              <a:gd name="T58" fmla="*/ 578340 w 334"/>
              <a:gd name="T59" fmla="*/ 58868 h 244"/>
              <a:gd name="T60" fmla="*/ 593279 w 334"/>
              <a:gd name="T61" fmla="*/ 52075 h 244"/>
              <a:gd name="T62" fmla="*/ 606083 w 334"/>
              <a:gd name="T63" fmla="*/ 45283 h 244"/>
              <a:gd name="T64" fmla="*/ 618888 w 334"/>
              <a:gd name="T65" fmla="*/ 38490 h 244"/>
              <a:gd name="T66" fmla="*/ 625290 w 334"/>
              <a:gd name="T67" fmla="*/ 31698 h 244"/>
              <a:gd name="T68" fmla="*/ 638095 w 334"/>
              <a:gd name="T69" fmla="*/ 24906 h 244"/>
              <a:gd name="T70" fmla="*/ 657302 w 334"/>
              <a:gd name="T71" fmla="*/ 20377 h 244"/>
              <a:gd name="T72" fmla="*/ 663704 w 334"/>
              <a:gd name="T73" fmla="*/ 13585 h 244"/>
              <a:gd name="T74" fmla="*/ 685045 w 334"/>
              <a:gd name="T75" fmla="*/ 11321 h 244"/>
              <a:gd name="T76" fmla="*/ 691447 w 334"/>
              <a:gd name="T77" fmla="*/ 4528 h 244"/>
              <a:gd name="T78" fmla="*/ 710654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6" name="Rectangle 336"/>
          <p:cNvSpPr>
            <a:spLocks noChangeArrowheads="1"/>
          </p:cNvSpPr>
          <p:nvPr/>
        </p:nvSpPr>
        <p:spPr bwMode="auto">
          <a:xfrm>
            <a:off x="411163" y="4306888"/>
            <a:ext cx="928687"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主机 </a:t>
            </a:r>
            <a:r>
              <a:rPr kumimoji="1" lang="en-US" altLang="zh-CN" sz="2000">
                <a:solidFill>
                  <a:srgbClr val="333399"/>
                </a:solidFill>
                <a:latin typeface="Arial" pitchFamily="34" charset="0"/>
                <a:ea typeface="黑体" pitchFamily="49" charset="-122"/>
              </a:rPr>
              <a:t>A</a:t>
            </a:r>
          </a:p>
        </p:txBody>
      </p:sp>
      <p:sp>
        <p:nvSpPr>
          <p:cNvPr id="9237" name="Rectangle 337"/>
          <p:cNvSpPr>
            <a:spLocks noChangeArrowheads="1"/>
          </p:cNvSpPr>
          <p:nvPr/>
        </p:nvSpPr>
        <p:spPr bwMode="auto">
          <a:xfrm>
            <a:off x="7654925" y="4306888"/>
            <a:ext cx="930275"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主机 </a:t>
            </a:r>
            <a:r>
              <a:rPr kumimoji="1" lang="en-US" altLang="zh-CN" sz="2000">
                <a:solidFill>
                  <a:srgbClr val="333399"/>
                </a:solidFill>
                <a:latin typeface="Arial" pitchFamily="34" charset="0"/>
                <a:ea typeface="黑体" pitchFamily="49" charset="-122"/>
              </a:rPr>
              <a:t>B</a:t>
            </a:r>
          </a:p>
        </p:txBody>
      </p:sp>
      <p:sp>
        <p:nvSpPr>
          <p:cNvPr id="9238" name="Freeform 338"/>
          <p:cNvSpPr>
            <a:spLocks/>
          </p:cNvSpPr>
          <p:nvPr/>
        </p:nvSpPr>
        <p:spPr bwMode="auto">
          <a:xfrm>
            <a:off x="873125" y="2459038"/>
            <a:ext cx="7332663" cy="1751012"/>
          </a:xfrm>
          <a:custGeom>
            <a:avLst/>
            <a:gdLst>
              <a:gd name="T0" fmla="*/ 0 w 4272"/>
              <a:gd name="T1" fmla="*/ 0 h 1138"/>
              <a:gd name="T2" fmla="*/ 0 w 4272"/>
              <a:gd name="T3" fmla="*/ 1532520 h 1138"/>
              <a:gd name="T4" fmla="*/ 15448 w 4272"/>
              <a:gd name="T5" fmla="*/ 1624841 h 1138"/>
              <a:gd name="T6" fmla="*/ 61792 w 4272"/>
              <a:gd name="T7" fmla="*/ 1683310 h 1138"/>
              <a:gd name="T8" fmla="*/ 128734 w 4272"/>
              <a:gd name="T9" fmla="*/ 1707929 h 1138"/>
              <a:gd name="T10" fmla="*/ 217989 w 4272"/>
              <a:gd name="T11" fmla="*/ 1717161 h 1138"/>
              <a:gd name="T12" fmla="*/ 2078618 w 4272"/>
              <a:gd name="T13" fmla="*/ 1717161 h 1138"/>
              <a:gd name="T14" fmla="*/ 2145559 w 4272"/>
              <a:gd name="T15" fmla="*/ 1717161 h 1138"/>
              <a:gd name="T16" fmla="*/ 2209068 w 4272"/>
              <a:gd name="T17" fmla="*/ 1692542 h 1138"/>
              <a:gd name="T18" fmla="*/ 2239964 w 4272"/>
              <a:gd name="T19" fmla="*/ 1624841 h 1138"/>
              <a:gd name="T20" fmla="*/ 2245113 w 4272"/>
              <a:gd name="T21" fmla="*/ 1572526 h 1138"/>
              <a:gd name="T22" fmla="*/ 2245113 w 4272"/>
              <a:gd name="T23" fmla="*/ 472373 h 1138"/>
              <a:gd name="T24" fmla="*/ 2250262 w 4272"/>
              <a:gd name="T25" fmla="*/ 401594 h 1138"/>
              <a:gd name="T26" fmla="*/ 2361832 w 4272"/>
              <a:gd name="T27" fmla="*/ 293887 h 1138"/>
              <a:gd name="T28" fmla="*/ 2780645 w 4272"/>
              <a:gd name="T29" fmla="*/ 293887 h 1138"/>
              <a:gd name="T30" fmla="*/ 2876766 w 4272"/>
              <a:gd name="T31" fmla="*/ 387746 h 1138"/>
              <a:gd name="T32" fmla="*/ 2883632 w 4272"/>
              <a:gd name="T33" fmla="*/ 430829 h 1138"/>
              <a:gd name="T34" fmla="*/ 2883632 w 4272"/>
              <a:gd name="T35" fmla="*/ 1560216 h 1138"/>
              <a:gd name="T36" fmla="*/ 2888781 w 4272"/>
              <a:gd name="T37" fmla="*/ 1610993 h 1138"/>
              <a:gd name="T38" fmla="*/ 2919677 w 4272"/>
              <a:gd name="T39" fmla="*/ 1692542 h 1138"/>
              <a:gd name="T40" fmla="*/ 3012365 w 4272"/>
              <a:gd name="T41" fmla="*/ 1717161 h 1138"/>
              <a:gd name="T42" fmla="*/ 3103337 w 4272"/>
              <a:gd name="T43" fmla="*/ 1717161 h 1138"/>
              <a:gd name="T44" fmla="*/ 4267088 w 4272"/>
              <a:gd name="T45" fmla="*/ 1717161 h 1138"/>
              <a:gd name="T46" fmla="*/ 4400971 w 4272"/>
              <a:gd name="T47" fmla="*/ 1717161 h 1138"/>
              <a:gd name="T48" fmla="*/ 4462763 w 4272"/>
              <a:gd name="T49" fmla="*/ 1678694 h 1138"/>
              <a:gd name="T50" fmla="*/ 4476495 w 4272"/>
              <a:gd name="T51" fmla="*/ 1537136 h 1138"/>
              <a:gd name="T52" fmla="*/ 4476495 w 4272"/>
              <a:gd name="T53" fmla="*/ 406210 h 1138"/>
              <a:gd name="T54" fmla="*/ 4490226 w 4272"/>
              <a:gd name="T55" fmla="*/ 349279 h 1138"/>
              <a:gd name="T56" fmla="*/ 4593213 w 4272"/>
              <a:gd name="T57" fmla="*/ 293887 h 1138"/>
              <a:gd name="T58" fmla="*/ 4922771 w 4272"/>
              <a:gd name="T59" fmla="*/ 300042 h 1138"/>
              <a:gd name="T60" fmla="*/ 5025758 w 4272"/>
              <a:gd name="T61" fmla="*/ 386207 h 1138"/>
              <a:gd name="T62" fmla="*/ 5025758 w 4272"/>
              <a:gd name="T63" fmla="*/ 430829 h 1138"/>
              <a:gd name="T64" fmla="*/ 5025758 w 4272"/>
              <a:gd name="T65" fmla="*/ 1541752 h 1138"/>
              <a:gd name="T66" fmla="*/ 5053221 w 4272"/>
              <a:gd name="T67" fmla="*/ 1672540 h 1138"/>
              <a:gd name="T68" fmla="*/ 5173372 w 4272"/>
              <a:gd name="T69" fmla="*/ 1717161 h 1138"/>
              <a:gd name="T70" fmla="*/ 5271210 w 4272"/>
              <a:gd name="T71" fmla="*/ 1717161 h 1138"/>
              <a:gd name="T72" fmla="*/ 7066614 w 4272"/>
              <a:gd name="T73" fmla="*/ 1717161 h 1138"/>
              <a:gd name="T74" fmla="*/ 7191914 w 4272"/>
              <a:gd name="T75" fmla="*/ 1717161 h 1138"/>
              <a:gd name="T76" fmla="*/ 7296618 w 4272"/>
              <a:gd name="T77" fmla="*/ 1687926 h 1138"/>
              <a:gd name="T78" fmla="*/ 7327514 w 4272"/>
              <a:gd name="T79" fmla="*/ 1606377 h 1138"/>
              <a:gd name="T80" fmla="*/ 7330947 w 4272"/>
              <a:gd name="T81" fmla="*/ 1529443 h 1138"/>
              <a:gd name="T82" fmla="*/ 7332663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cap="flat" cmpd="sng">
            <a:solidFill>
              <a:srgbClr val="FF0000"/>
            </a:solidFill>
            <a:prstDash val="sysDot"/>
            <a:round/>
            <a:headEnd type="non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9" name="Rectangle 339"/>
          <p:cNvSpPr>
            <a:spLocks noChangeArrowheads="1"/>
          </p:cNvSpPr>
          <p:nvPr/>
        </p:nvSpPr>
        <p:spPr bwMode="auto">
          <a:xfrm>
            <a:off x="1820863" y="1201738"/>
            <a:ext cx="1196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应用进程</a:t>
            </a:r>
          </a:p>
        </p:txBody>
      </p:sp>
      <p:sp>
        <p:nvSpPr>
          <p:cNvPr id="9240" name="Freeform 340"/>
          <p:cNvSpPr>
            <a:spLocks/>
          </p:cNvSpPr>
          <p:nvPr/>
        </p:nvSpPr>
        <p:spPr bwMode="auto">
          <a:xfrm>
            <a:off x="7011988" y="1492250"/>
            <a:ext cx="538162" cy="161925"/>
          </a:xfrm>
          <a:custGeom>
            <a:avLst/>
            <a:gdLst>
              <a:gd name="T0" fmla="*/ 0 w 297"/>
              <a:gd name="T1" fmla="*/ 0 h 105"/>
              <a:gd name="T2" fmla="*/ 538162 w 297"/>
              <a:gd name="T3" fmla="*/ 161925 h 105"/>
              <a:gd name="T4" fmla="*/ 0 60000 65536"/>
              <a:gd name="T5" fmla="*/ 0 60000 65536"/>
            </a:gdLst>
            <a:ahLst/>
            <a:cxnLst>
              <a:cxn ang="T4">
                <a:pos x="T0" y="T1"/>
              </a:cxn>
              <a:cxn ang="T5">
                <a:pos x="T2" y="T3"/>
              </a:cxn>
            </a:cxnLst>
            <a:rect l="0" t="0" r="r" b="b"/>
            <a:pathLst>
              <a:path w="297" h="105">
                <a:moveTo>
                  <a:pt x="0" y="0"/>
                </a:moveTo>
                <a:lnTo>
                  <a:pt x="297" y="105"/>
                </a:lnTo>
              </a:path>
            </a:pathLst>
          </a:custGeom>
          <a:noFill/>
          <a:ln w="28575" cmpd="sng">
            <a:solidFill>
              <a:srgbClr val="333399"/>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341"/>
          <p:cNvSpPr>
            <a:spLocks noChangeArrowheads="1"/>
          </p:cNvSpPr>
          <p:nvPr/>
        </p:nvSpPr>
        <p:spPr bwMode="auto">
          <a:xfrm>
            <a:off x="5929313" y="1201738"/>
            <a:ext cx="11985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应用进程</a:t>
            </a:r>
          </a:p>
        </p:txBody>
      </p:sp>
      <p:sp>
        <p:nvSpPr>
          <p:cNvPr id="9242" name="AutoShape 342"/>
          <p:cNvSpPr>
            <a:spLocks noChangeArrowheads="1"/>
          </p:cNvSpPr>
          <p:nvPr/>
        </p:nvSpPr>
        <p:spPr bwMode="auto">
          <a:xfrm>
            <a:off x="1609725" y="2016125"/>
            <a:ext cx="5815013" cy="368300"/>
          </a:xfrm>
          <a:prstGeom prst="leftRightArrow">
            <a:avLst>
              <a:gd name="adj1" fmla="val 59167"/>
              <a:gd name="adj2" fmla="val 215634"/>
            </a:avLst>
          </a:prstGeom>
          <a:solidFill>
            <a:srgbClr val="99FF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3" name="Rectangle 343"/>
          <p:cNvSpPr>
            <a:spLocks noChangeArrowheads="1"/>
          </p:cNvSpPr>
          <p:nvPr/>
        </p:nvSpPr>
        <p:spPr bwMode="auto">
          <a:xfrm>
            <a:off x="2947988" y="4586288"/>
            <a:ext cx="1155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路由器 </a:t>
            </a:r>
            <a:r>
              <a:rPr kumimoji="1" lang="en-US" altLang="zh-CN" sz="2000">
                <a:solidFill>
                  <a:srgbClr val="333399"/>
                </a:solidFill>
                <a:latin typeface="Arial" pitchFamily="34" charset="0"/>
                <a:ea typeface="黑体" pitchFamily="49" charset="-122"/>
              </a:rPr>
              <a:t>1</a:t>
            </a:r>
          </a:p>
        </p:txBody>
      </p:sp>
      <p:pic>
        <p:nvPicPr>
          <p:cNvPr id="9244" name="Picture 34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5775" y="4933950"/>
            <a:ext cx="72390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245" name="Rectangle 345"/>
          <p:cNvSpPr>
            <a:spLocks noChangeArrowheads="1"/>
          </p:cNvSpPr>
          <p:nvPr/>
        </p:nvSpPr>
        <p:spPr bwMode="auto">
          <a:xfrm>
            <a:off x="5154613" y="4586288"/>
            <a:ext cx="1155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路由器 </a:t>
            </a:r>
            <a:r>
              <a:rPr kumimoji="1" lang="en-US" altLang="zh-CN" sz="2000">
                <a:solidFill>
                  <a:srgbClr val="333399"/>
                </a:solidFill>
                <a:latin typeface="Arial" pitchFamily="34" charset="0"/>
                <a:ea typeface="黑体" pitchFamily="49" charset="-122"/>
              </a:rPr>
              <a:t>2</a:t>
            </a:r>
          </a:p>
        </p:txBody>
      </p:sp>
      <p:sp>
        <p:nvSpPr>
          <p:cNvPr id="9246" name="Oval 346"/>
          <p:cNvSpPr>
            <a:spLocks noChangeArrowheads="1"/>
          </p:cNvSpPr>
          <p:nvPr/>
        </p:nvSpPr>
        <p:spPr bwMode="auto">
          <a:xfrm>
            <a:off x="434975" y="4783138"/>
            <a:ext cx="631825"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7" name="Rectangle 347"/>
          <p:cNvSpPr>
            <a:spLocks noChangeArrowheads="1"/>
          </p:cNvSpPr>
          <p:nvPr/>
        </p:nvSpPr>
        <p:spPr bwMode="auto">
          <a:xfrm>
            <a:off x="479425" y="4732338"/>
            <a:ext cx="6127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AP</a:t>
            </a:r>
            <a:r>
              <a:rPr kumimoji="1" lang="en-US" altLang="zh-CN" sz="2000" baseline="-25000">
                <a:solidFill>
                  <a:srgbClr val="333399"/>
                </a:solidFill>
                <a:latin typeface="Arial" pitchFamily="34" charset="0"/>
                <a:ea typeface="黑体" pitchFamily="49" charset="-122"/>
              </a:rPr>
              <a:t>1</a:t>
            </a:r>
            <a:endParaRPr kumimoji="1" lang="en-US" altLang="zh-CN" sz="2000">
              <a:solidFill>
                <a:srgbClr val="333399"/>
              </a:solidFill>
              <a:latin typeface="Arial" pitchFamily="34" charset="0"/>
              <a:ea typeface="黑体" pitchFamily="49" charset="-122"/>
            </a:endParaRPr>
          </a:p>
        </p:txBody>
      </p:sp>
      <p:sp>
        <p:nvSpPr>
          <p:cNvPr id="9248" name="Oval 348"/>
          <p:cNvSpPr>
            <a:spLocks noChangeArrowheads="1"/>
          </p:cNvSpPr>
          <p:nvPr/>
        </p:nvSpPr>
        <p:spPr bwMode="auto">
          <a:xfrm>
            <a:off x="8128000" y="1376363"/>
            <a:ext cx="631825" cy="355600"/>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349"/>
          <p:cNvSpPr>
            <a:spLocks noChangeShapeType="1"/>
          </p:cNvSpPr>
          <p:nvPr/>
        </p:nvSpPr>
        <p:spPr bwMode="auto">
          <a:xfrm rot="5400000">
            <a:off x="2941638" y="3409950"/>
            <a:ext cx="9461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Line 350"/>
          <p:cNvSpPr>
            <a:spLocks noChangeShapeType="1"/>
          </p:cNvSpPr>
          <p:nvPr/>
        </p:nvSpPr>
        <p:spPr bwMode="auto">
          <a:xfrm rot="5400000">
            <a:off x="5131594" y="3407569"/>
            <a:ext cx="957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251" name="Picture 35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625" y="4846638"/>
            <a:ext cx="90487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52" name="Rectangle 352"/>
          <p:cNvSpPr>
            <a:spLocks noChangeArrowheads="1"/>
          </p:cNvSpPr>
          <p:nvPr/>
        </p:nvSpPr>
        <p:spPr bwMode="auto">
          <a:xfrm>
            <a:off x="6340475" y="4927600"/>
            <a:ext cx="7667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LAN</a:t>
            </a:r>
            <a:r>
              <a:rPr kumimoji="1" lang="en-US" altLang="zh-CN" sz="2000" baseline="-25000">
                <a:solidFill>
                  <a:srgbClr val="333399"/>
                </a:solidFill>
                <a:latin typeface="Arial" pitchFamily="34" charset="0"/>
                <a:ea typeface="黑体" pitchFamily="49" charset="-122"/>
              </a:rPr>
              <a:t>2</a:t>
            </a:r>
            <a:endParaRPr kumimoji="1" lang="en-US" altLang="zh-CN" sz="2000">
              <a:solidFill>
                <a:srgbClr val="333399"/>
              </a:solidFill>
              <a:latin typeface="Arial" pitchFamily="34" charset="0"/>
              <a:ea typeface="黑体" pitchFamily="49" charset="-122"/>
            </a:endParaRPr>
          </a:p>
        </p:txBody>
      </p:sp>
      <p:pic>
        <p:nvPicPr>
          <p:cNvPr id="9253" name="Picture 35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4950" y="4846638"/>
            <a:ext cx="989013"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54" name="Rectangle 354"/>
          <p:cNvSpPr>
            <a:spLocks noChangeArrowheads="1"/>
          </p:cNvSpPr>
          <p:nvPr/>
        </p:nvSpPr>
        <p:spPr bwMode="auto">
          <a:xfrm>
            <a:off x="4159250" y="4938713"/>
            <a:ext cx="7747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WAN</a:t>
            </a:r>
          </a:p>
        </p:txBody>
      </p:sp>
      <p:sp>
        <p:nvSpPr>
          <p:cNvPr id="9255" name="Oval 355"/>
          <p:cNvSpPr>
            <a:spLocks noChangeArrowheads="1"/>
          </p:cNvSpPr>
          <p:nvPr/>
        </p:nvSpPr>
        <p:spPr bwMode="auto">
          <a:xfrm>
            <a:off x="1552575" y="5067300"/>
            <a:ext cx="153988" cy="138113"/>
          </a:xfrm>
          <a:prstGeom prst="ellipse">
            <a:avLst/>
          </a:prstGeom>
          <a:solidFill>
            <a:schemeClr val="bg1"/>
          </a:solidFill>
          <a:ln w="2857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Oval 356"/>
          <p:cNvSpPr>
            <a:spLocks noChangeArrowheads="1"/>
          </p:cNvSpPr>
          <p:nvPr/>
        </p:nvSpPr>
        <p:spPr bwMode="auto">
          <a:xfrm>
            <a:off x="419100" y="5153025"/>
            <a:ext cx="633413"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Rectangle 357"/>
          <p:cNvSpPr>
            <a:spLocks noChangeArrowheads="1"/>
          </p:cNvSpPr>
          <p:nvPr/>
        </p:nvSpPr>
        <p:spPr bwMode="auto">
          <a:xfrm>
            <a:off x="438150" y="5102225"/>
            <a:ext cx="6127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AP</a:t>
            </a:r>
            <a:r>
              <a:rPr kumimoji="1" lang="en-US" altLang="zh-CN" sz="2000" baseline="-25000">
                <a:solidFill>
                  <a:srgbClr val="333399"/>
                </a:solidFill>
                <a:latin typeface="Arial" pitchFamily="34" charset="0"/>
                <a:ea typeface="黑体" pitchFamily="49" charset="-122"/>
              </a:rPr>
              <a:t>2</a:t>
            </a:r>
            <a:endParaRPr kumimoji="1" lang="en-US" altLang="zh-CN" sz="2000">
              <a:solidFill>
                <a:srgbClr val="333399"/>
              </a:solidFill>
              <a:latin typeface="Arial" pitchFamily="34" charset="0"/>
              <a:ea typeface="黑体" pitchFamily="49" charset="-122"/>
            </a:endParaRPr>
          </a:p>
        </p:txBody>
      </p:sp>
      <p:sp>
        <p:nvSpPr>
          <p:cNvPr id="9258" name="Rectangle 358"/>
          <p:cNvSpPr>
            <a:spLocks noChangeArrowheads="1"/>
          </p:cNvSpPr>
          <p:nvPr/>
        </p:nvSpPr>
        <p:spPr bwMode="auto">
          <a:xfrm flipH="1">
            <a:off x="7424738" y="4673600"/>
            <a:ext cx="1447800" cy="885825"/>
          </a:xfrm>
          <a:prstGeom prst="rect">
            <a:avLst/>
          </a:prstGeom>
          <a:solidFill>
            <a:srgbClr val="FFFF99"/>
          </a:solidFill>
          <a:ln w="19050">
            <a:solidFill>
              <a:srgbClr val="333399"/>
            </a:solidFill>
            <a:miter lim="800000"/>
            <a:headEnd/>
            <a:tailEnd/>
          </a:ln>
          <a:effectLst>
            <a:outerShdw dist="35921" dir="2700000" algn="ctr" rotWithShape="0">
              <a:schemeClr val="bg2"/>
            </a:outerShdw>
          </a:effectLst>
        </p:spPr>
        <p:txBody>
          <a:bodyPr wrap="none" anchor="ctr"/>
          <a:lstStyle/>
          <a:p>
            <a:endParaRPr lang="zh-CN" altLang="en-US"/>
          </a:p>
        </p:txBody>
      </p:sp>
      <p:sp>
        <p:nvSpPr>
          <p:cNvPr id="9259" name="Freeform 359"/>
          <p:cNvSpPr>
            <a:spLocks/>
          </p:cNvSpPr>
          <p:nvPr/>
        </p:nvSpPr>
        <p:spPr bwMode="auto">
          <a:xfrm flipH="1">
            <a:off x="7424738" y="4967288"/>
            <a:ext cx="655637" cy="165100"/>
          </a:xfrm>
          <a:custGeom>
            <a:avLst/>
            <a:gdLst>
              <a:gd name="T0" fmla="*/ 0 w 382"/>
              <a:gd name="T1" fmla="*/ 0 h 277"/>
              <a:gd name="T2" fmla="*/ 15447 w 382"/>
              <a:gd name="T3" fmla="*/ 0 h 277"/>
              <a:gd name="T4" fmla="*/ 30894 w 382"/>
              <a:gd name="T5" fmla="*/ 3576 h 277"/>
              <a:gd name="T6" fmla="*/ 46341 w 382"/>
              <a:gd name="T7" fmla="*/ 3576 h 277"/>
              <a:gd name="T8" fmla="*/ 61788 w 382"/>
              <a:gd name="T9" fmla="*/ 5364 h 277"/>
              <a:gd name="T10" fmla="*/ 82384 w 382"/>
              <a:gd name="T11" fmla="*/ 7152 h 277"/>
              <a:gd name="T12" fmla="*/ 97831 w 382"/>
              <a:gd name="T13" fmla="*/ 8940 h 277"/>
              <a:gd name="T14" fmla="*/ 113278 w 382"/>
              <a:gd name="T15" fmla="*/ 10729 h 277"/>
              <a:gd name="T16" fmla="*/ 128725 w 382"/>
              <a:gd name="T17" fmla="*/ 12517 h 277"/>
              <a:gd name="T18" fmla="*/ 144171 w 382"/>
              <a:gd name="T19" fmla="*/ 14305 h 277"/>
              <a:gd name="T20" fmla="*/ 159618 w 382"/>
              <a:gd name="T21" fmla="*/ 17881 h 277"/>
              <a:gd name="T22" fmla="*/ 175065 w 382"/>
              <a:gd name="T23" fmla="*/ 19669 h 277"/>
              <a:gd name="T24" fmla="*/ 190512 w 382"/>
              <a:gd name="T25" fmla="*/ 21457 h 277"/>
              <a:gd name="T26" fmla="*/ 205959 w 382"/>
              <a:gd name="T27" fmla="*/ 25033 h 277"/>
              <a:gd name="T28" fmla="*/ 226555 w 382"/>
              <a:gd name="T29" fmla="*/ 26821 h 277"/>
              <a:gd name="T30" fmla="*/ 247151 w 382"/>
              <a:gd name="T31" fmla="*/ 32186 h 277"/>
              <a:gd name="T32" fmla="*/ 262598 w 382"/>
              <a:gd name="T33" fmla="*/ 33974 h 277"/>
              <a:gd name="T34" fmla="*/ 278045 w 382"/>
              <a:gd name="T35" fmla="*/ 39338 h 277"/>
              <a:gd name="T36" fmla="*/ 293492 w 382"/>
              <a:gd name="T37" fmla="*/ 39338 h 277"/>
              <a:gd name="T38" fmla="*/ 308939 w 382"/>
              <a:gd name="T39" fmla="*/ 42914 h 277"/>
              <a:gd name="T40" fmla="*/ 329535 w 382"/>
              <a:gd name="T41" fmla="*/ 46490 h 277"/>
              <a:gd name="T42" fmla="*/ 365578 w 382"/>
              <a:gd name="T43" fmla="*/ 50066 h 277"/>
              <a:gd name="T44" fmla="*/ 386174 w 382"/>
              <a:gd name="T45" fmla="*/ 53643 h 277"/>
              <a:gd name="T46" fmla="*/ 401621 w 382"/>
              <a:gd name="T47" fmla="*/ 57219 h 277"/>
              <a:gd name="T48" fmla="*/ 417068 w 382"/>
              <a:gd name="T49" fmla="*/ 62583 h 277"/>
              <a:gd name="T50" fmla="*/ 432514 w 382"/>
              <a:gd name="T51" fmla="*/ 66159 h 277"/>
              <a:gd name="T52" fmla="*/ 447961 w 382"/>
              <a:gd name="T53" fmla="*/ 69735 h 277"/>
              <a:gd name="T54" fmla="*/ 458259 w 382"/>
              <a:gd name="T55" fmla="*/ 75100 h 277"/>
              <a:gd name="T56" fmla="*/ 473706 w 382"/>
              <a:gd name="T57" fmla="*/ 78676 h 277"/>
              <a:gd name="T58" fmla="*/ 489153 w 382"/>
              <a:gd name="T59" fmla="*/ 82252 h 277"/>
              <a:gd name="T60" fmla="*/ 504600 w 382"/>
              <a:gd name="T61" fmla="*/ 85828 h 277"/>
              <a:gd name="T62" fmla="*/ 514898 w 382"/>
              <a:gd name="T63" fmla="*/ 91192 h 277"/>
              <a:gd name="T64" fmla="*/ 520047 w 382"/>
              <a:gd name="T65" fmla="*/ 96557 h 277"/>
              <a:gd name="T66" fmla="*/ 535494 w 382"/>
              <a:gd name="T67" fmla="*/ 100133 h 277"/>
              <a:gd name="T68" fmla="*/ 550941 w 382"/>
              <a:gd name="T69" fmla="*/ 105497 h 277"/>
              <a:gd name="T70" fmla="*/ 571537 w 382"/>
              <a:gd name="T71" fmla="*/ 110861 h 277"/>
              <a:gd name="T72" fmla="*/ 592133 w 382"/>
              <a:gd name="T73" fmla="*/ 116226 h 277"/>
              <a:gd name="T74" fmla="*/ 597282 w 382"/>
              <a:gd name="T75" fmla="*/ 121590 h 277"/>
              <a:gd name="T76" fmla="*/ 612729 w 382"/>
              <a:gd name="T77" fmla="*/ 125166 h 277"/>
              <a:gd name="T78" fmla="*/ 617878 w 382"/>
              <a:gd name="T79" fmla="*/ 130530 h 277"/>
              <a:gd name="T80" fmla="*/ 628176 w 382"/>
              <a:gd name="T81" fmla="*/ 135895 h 277"/>
              <a:gd name="T82" fmla="*/ 633325 w 382"/>
              <a:gd name="T83" fmla="*/ 141259 h 277"/>
              <a:gd name="T84" fmla="*/ 638474 w 382"/>
              <a:gd name="T85" fmla="*/ 146623 h 277"/>
              <a:gd name="T86" fmla="*/ 638474 w 382"/>
              <a:gd name="T87" fmla="*/ 153775 h 277"/>
              <a:gd name="T88" fmla="*/ 648772 w 382"/>
              <a:gd name="T89" fmla="*/ 159140 h 277"/>
              <a:gd name="T90" fmla="*/ 653921 w 382"/>
              <a:gd name="T91" fmla="*/ 164504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0" name="Freeform 360"/>
          <p:cNvSpPr>
            <a:spLocks/>
          </p:cNvSpPr>
          <p:nvPr/>
        </p:nvSpPr>
        <p:spPr bwMode="auto">
          <a:xfrm flipH="1">
            <a:off x="7424738" y="5154613"/>
            <a:ext cx="711200" cy="184150"/>
          </a:xfrm>
          <a:custGeom>
            <a:avLst/>
            <a:gdLst>
              <a:gd name="T0" fmla="*/ 0 w 334"/>
              <a:gd name="T1" fmla="*/ 183395 h 244"/>
              <a:gd name="T2" fmla="*/ 25552 w 334"/>
              <a:gd name="T3" fmla="*/ 183395 h 244"/>
              <a:gd name="T4" fmla="*/ 66010 w 334"/>
              <a:gd name="T5" fmla="*/ 178867 h 244"/>
              <a:gd name="T6" fmla="*/ 85174 w 334"/>
              <a:gd name="T7" fmla="*/ 176603 h 244"/>
              <a:gd name="T8" fmla="*/ 104338 w 334"/>
              <a:gd name="T9" fmla="*/ 174339 h 244"/>
              <a:gd name="T10" fmla="*/ 125631 w 334"/>
              <a:gd name="T11" fmla="*/ 169810 h 244"/>
              <a:gd name="T12" fmla="*/ 151183 w 334"/>
              <a:gd name="T13" fmla="*/ 167546 h 244"/>
              <a:gd name="T14" fmla="*/ 170347 w 334"/>
              <a:gd name="T15" fmla="*/ 163018 h 244"/>
              <a:gd name="T16" fmla="*/ 189511 w 334"/>
              <a:gd name="T17" fmla="*/ 158490 h 244"/>
              <a:gd name="T18" fmla="*/ 210805 w 334"/>
              <a:gd name="T19" fmla="*/ 153961 h 244"/>
              <a:gd name="T20" fmla="*/ 229969 w 334"/>
              <a:gd name="T21" fmla="*/ 149433 h 244"/>
              <a:gd name="T22" fmla="*/ 249133 w 334"/>
              <a:gd name="T23" fmla="*/ 147169 h 244"/>
              <a:gd name="T24" fmla="*/ 268297 w 334"/>
              <a:gd name="T25" fmla="*/ 142641 h 244"/>
              <a:gd name="T26" fmla="*/ 289590 w 334"/>
              <a:gd name="T27" fmla="*/ 138113 h 244"/>
              <a:gd name="T28" fmla="*/ 308754 w 334"/>
              <a:gd name="T29" fmla="*/ 133584 h 244"/>
              <a:gd name="T30" fmla="*/ 327919 w 334"/>
              <a:gd name="T31" fmla="*/ 131320 h 244"/>
              <a:gd name="T32" fmla="*/ 347083 w 334"/>
              <a:gd name="T33" fmla="*/ 129056 h 244"/>
              <a:gd name="T34" fmla="*/ 368376 w 334"/>
              <a:gd name="T35" fmla="*/ 124528 h 244"/>
              <a:gd name="T36" fmla="*/ 387540 w 334"/>
              <a:gd name="T37" fmla="*/ 122264 h 244"/>
              <a:gd name="T38" fmla="*/ 413092 w 334"/>
              <a:gd name="T39" fmla="*/ 117735 h 244"/>
              <a:gd name="T40" fmla="*/ 440774 w 334"/>
              <a:gd name="T41" fmla="*/ 113207 h 244"/>
              <a:gd name="T42" fmla="*/ 453550 w 334"/>
              <a:gd name="T43" fmla="*/ 106415 h 244"/>
              <a:gd name="T44" fmla="*/ 472714 w 334"/>
              <a:gd name="T45" fmla="*/ 104150 h 244"/>
              <a:gd name="T46" fmla="*/ 491878 w 334"/>
              <a:gd name="T47" fmla="*/ 97358 h 244"/>
              <a:gd name="T48" fmla="*/ 513171 w 334"/>
              <a:gd name="T49" fmla="*/ 90566 h 244"/>
              <a:gd name="T50" fmla="*/ 525947 w 334"/>
              <a:gd name="T51" fmla="*/ 83773 h 244"/>
              <a:gd name="T52" fmla="*/ 545111 w 334"/>
              <a:gd name="T53" fmla="*/ 76981 h 244"/>
              <a:gd name="T54" fmla="*/ 551499 w 334"/>
              <a:gd name="T55" fmla="*/ 70188 h 244"/>
              <a:gd name="T56" fmla="*/ 570663 w 334"/>
              <a:gd name="T57" fmla="*/ 65660 h 244"/>
              <a:gd name="T58" fmla="*/ 577051 w 334"/>
              <a:gd name="T59" fmla="*/ 58868 h 244"/>
              <a:gd name="T60" fmla="*/ 591957 w 334"/>
              <a:gd name="T61" fmla="*/ 52075 h 244"/>
              <a:gd name="T62" fmla="*/ 604733 w 334"/>
              <a:gd name="T63" fmla="*/ 45283 h 244"/>
              <a:gd name="T64" fmla="*/ 617509 w 334"/>
              <a:gd name="T65" fmla="*/ 38490 h 244"/>
              <a:gd name="T66" fmla="*/ 623897 w 334"/>
              <a:gd name="T67" fmla="*/ 31698 h 244"/>
              <a:gd name="T68" fmla="*/ 636673 w 334"/>
              <a:gd name="T69" fmla="*/ 24906 h 244"/>
              <a:gd name="T70" fmla="*/ 655837 w 334"/>
              <a:gd name="T71" fmla="*/ 20377 h 244"/>
              <a:gd name="T72" fmla="*/ 662225 w 334"/>
              <a:gd name="T73" fmla="*/ 13585 h 244"/>
              <a:gd name="T74" fmla="*/ 683519 w 334"/>
              <a:gd name="T75" fmla="*/ 11321 h 244"/>
              <a:gd name="T76" fmla="*/ 689907 w 334"/>
              <a:gd name="T77" fmla="*/ 4528 h 244"/>
              <a:gd name="T78" fmla="*/ 709071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1" name="Oval 361"/>
          <p:cNvSpPr>
            <a:spLocks noChangeArrowheads="1"/>
          </p:cNvSpPr>
          <p:nvPr/>
        </p:nvSpPr>
        <p:spPr bwMode="auto">
          <a:xfrm flipH="1">
            <a:off x="7881938" y="4783138"/>
            <a:ext cx="631825"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Rectangle 362"/>
          <p:cNvSpPr>
            <a:spLocks noChangeArrowheads="1"/>
          </p:cNvSpPr>
          <p:nvPr/>
        </p:nvSpPr>
        <p:spPr bwMode="auto">
          <a:xfrm flipH="1">
            <a:off x="7893050" y="4732338"/>
            <a:ext cx="6127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AP</a:t>
            </a:r>
            <a:r>
              <a:rPr kumimoji="1" lang="en-US" altLang="zh-CN" sz="2000" baseline="-25000">
                <a:solidFill>
                  <a:srgbClr val="333399"/>
                </a:solidFill>
                <a:latin typeface="Arial" pitchFamily="34" charset="0"/>
                <a:ea typeface="黑体" pitchFamily="49" charset="-122"/>
              </a:rPr>
              <a:t>3</a:t>
            </a:r>
            <a:endParaRPr kumimoji="1" lang="en-US" altLang="zh-CN" sz="2000">
              <a:solidFill>
                <a:srgbClr val="333399"/>
              </a:solidFill>
              <a:latin typeface="Arial" pitchFamily="34" charset="0"/>
              <a:ea typeface="黑体" pitchFamily="49" charset="-122"/>
            </a:endParaRPr>
          </a:p>
        </p:txBody>
      </p:sp>
      <p:sp>
        <p:nvSpPr>
          <p:cNvPr id="9263" name="Oval 364"/>
          <p:cNvSpPr>
            <a:spLocks noChangeArrowheads="1"/>
          </p:cNvSpPr>
          <p:nvPr/>
        </p:nvSpPr>
        <p:spPr bwMode="auto">
          <a:xfrm flipH="1">
            <a:off x="7867650" y="5153025"/>
            <a:ext cx="631825" cy="3143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4" name="Rectangle 365"/>
          <p:cNvSpPr>
            <a:spLocks noChangeArrowheads="1"/>
          </p:cNvSpPr>
          <p:nvPr/>
        </p:nvSpPr>
        <p:spPr bwMode="auto">
          <a:xfrm flipH="1">
            <a:off x="7893050" y="5116513"/>
            <a:ext cx="6127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AP</a:t>
            </a:r>
            <a:r>
              <a:rPr kumimoji="1" lang="en-US" altLang="zh-CN" sz="2000" baseline="-25000">
                <a:solidFill>
                  <a:srgbClr val="333399"/>
                </a:solidFill>
                <a:latin typeface="Arial" pitchFamily="34" charset="0"/>
                <a:ea typeface="黑体" pitchFamily="49" charset="-122"/>
              </a:rPr>
              <a:t>4</a:t>
            </a:r>
            <a:endParaRPr kumimoji="1" lang="en-US" altLang="zh-CN" sz="2000">
              <a:solidFill>
                <a:srgbClr val="333399"/>
              </a:solidFill>
              <a:latin typeface="Arial" pitchFamily="34" charset="0"/>
              <a:ea typeface="黑体" pitchFamily="49" charset="-122"/>
            </a:endParaRPr>
          </a:p>
        </p:txBody>
      </p:sp>
      <p:sp>
        <p:nvSpPr>
          <p:cNvPr id="9265" name="Rectangle 366"/>
          <p:cNvSpPr>
            <a:spLocks noChangeArrowheads="1"/>
          </p:cNvSpPr>
          <p:nvPr/>
        </p:nvSpPr>
        <p:spPr bwMode="auto">
          <a:xfrm>
            <a:off x="4171950" y="2501900"/>
            <a:ext cx="746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层</a:t>
            </a:r>
          </a:p>
        </p:txBody>
      </p:sp>
      <p:pic>
        <p:nvPicPr>
          <p:cNvPr id="9266" name="Picture 36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863" y="4846638"/>
            <a:ext cx="906462"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67" name="Rectangle 368"/>
          <p:cNvSpPr>
            <a:spLocks noChangeArrowheads="1"/>
          </p:cNvSpPr>
          <p:nvPr/>
        </p:nvSpPr>
        <p:spPr bwMode="auto">
          <a:xfrm>
            <a:off x="1952625" y="4926013"/>
            <a:ext cx="7683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LAN</a:t>
            </a:r>
            <a:r>
              <a:rPr kumimoji="1" lang="en-US" altLang="zh-CN" sz="2000" baseline="-25000">
                <a:solidFill>
                  <a:srgbClr val="333399"/>
                </a:solidFill>
                <a:latin typeface="Arial" pitchFamily="34" charset="0"/>
                <a:ea typeface="黑体" pitchFamily="49" charset="-122"/>
              </a:rPr>
              <a:t>1</a:t>
            </a:r>
            <a:endParaRPr kumimoji="1" lang="en-US" altLang="zh-CN" sz="2000">
              <a:solidFill>
                <a:srgbClr val="333399"/>
              </a:solidFill>
              <a:latin typeface="Arial" pitchFamily="34" charset="0"/>
              <a:ea typeface="黑体" pitchFamily="49" charset="-122"/>
            </a:endParaRPr>
          </a:p>
        </p:txBody>
      </p:sp>
      <p:sp>
        <p:nvSpPr>
          <p:cNvPr id="9268" name="Freeform 370"/>
          <p:cNvSpPr>
            <a:spLocks/>
          </p:cNvSpPr>
          <p:nvPr/>
        </p:nvSpPr>
        <p:spPr bwMode="auto">
          <a:xfrm>
            <a:off x="1546225" y="1506538"/>
            <a:ext cx="327025" cy="128587"/>
          </a:xfrm>
          <a:custGeom>
            <a:avLst/>
            <a:gdLst>
              <a:gd name="T0" fmla="*/ 327025 w 174"/>
              <a:gd name="T1" fmla="*/ 0 h 84"/>
              <a:gd name="T2" fmla="*/ 0 w 174"/>
              <a:gd name="T3" fmla="*/ 128587 h 84"/>
              <a:gd name="T4" fmla="*/ 0 60000 65536"/>
              <a:gd name="T5" fmla="*/ 0 60000 65536"/>
            </a:gdLst>
            <a:ahLst/>
            <a:cxnLst>
              <a:cxn ang="T4">
                <a:pos x="T0" y="T1"/>
              </a:cxn>
              <a:cxn ang="T5">
                <a:pos x="T2" y="T3"/>
              </a:cxn>
            </a:cxnLst>
            <a:rect l="0" t="0" r="r" b="b"/>
            <a:pathLst>
              <a:path w="174" h="84">
                <a:moveTo>
                  <a:pt x="174" y="0"/>
                </a:moveTo>
                <a:lnTo>
                  <a:pt x="0" y="84"/>
                </a:lnTo>
              </a:path>
            </a:pathLst>
          </a:custGeom>
          <a:noFill/>
          <a:ln w="28575" cmpd="sng">
            <a:solidFill>
              <a:srgbClr val="333399"/>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9" name="Oval 384"/>
          <p:cNvSpPr>
            <a:spLocks noChangeArrowheads="1"/>
          </p:cNvSpPr>
          <p:nvPr/>
        </p:nvSpPr>
        <p:spPr bwMode="auto">
          <a:xfrm>
            <a:off x="257175" y="1373188"/>
            <a:ext cx="633413" cy="354012"/>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0" name="Rectangle 385"/>
          <p:cNvSpPr>
            <a:spLocks noChangeArrowheads="1"/>
          </p:cNvSpPr>
          <p:nvPr/>
        </p:nvSpPr>
        <p:spPr bwMode="auto">
          <a:xfrm>
            <a:off x="304800" y="1333500"/>
            <a:ext cx="6127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AP</a:t>
            </a:r>
            <a:r>
              <a:rPr kumimoji="1" lang="en-US" altLang="zh-CN" sz="2000" baseline="-25000">
                <a:solidFill>
                  <a:srgbClr val="333399"/>
                </a:solidFill>
                <a:latin typeface="Arial" pitchFamily="34" charset="0"/>
                <a:ea typeface="黑体" pitchFamily="49" charset="-122"/>
              </a:rPr>
              <a:t>1</a:t>
            </a:r>
            <a:endParaRPr kumimoji="1" lang="en-US" altLang="zh-CN" sz="2000">
              <a:solidFill>
                <a:srgbClr val="333399"/>
              </a:solidFill>
              <a:latin typeface="Arial" pitchFamily="34" charset="0"/>
              <a:ea typeface="黑体" pitchFamily="49" charset="-122"/>
            </a:endParaRPr>
          </a:p>
        </p:txBody>
      </p:sp>
      <p:sp>
        <p:nvSpPr>
          <p:cNvPr id="9271" name="Oval 387"/>
          <p:cNvSpPr>
            <a:spLocks noChangeArrowheads="1"/>
          </p:cNvSpPr>
          <p:nvPr/>
        </p:nvSpPr>
        <p:spPr bwMode="auto">
          <a:xfrm>
            <a:off x="939800" y="1447800"/>
            <a:ext cx="633413" cy="376238"/>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2" name="Rectangle 388"/>
          <p:cNvSpPr>
            <a:spLocks noChangeArrowheads="1"/>
          </p:cNvSpPr>
          <p:nvPr/>
        </p:nvSpPr>
        <p:spPr bwMode="auto">
          <a:xfrm>
            <a:off x="969963" y="1422400"/>
            <a:ext cx="611187" cy="3937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AP</a:t>
            </a:r>
            <a:r>
              <a:rPr kumimoji="1" lang="en-US" altLang="zh-CN" sz="2000" baseline="-25000">
                <a:solidFill>
                  <a:srgbClr val="333399"/>
                </a:solidFill>
                <a:latin typeface="Arial" pitchFamily="34" charset="0"/>
                <a:ea typeface="黑体" pitchFamily="49" charset="-122"/>
              </a:rPr>
              <a:t>2</a:t>
            </a:r>
            <a:endParaRPr kumimoji="1" lang="en-US" altLang="zh-CN" sz="2000">
              <a:solidFill>
                <a:srgbClr val="333399"/>
              </a:solidFill>
              <a:latin typeface="Arial" pitchFamily="34" charset="0"/>
              <a:ea typeface="黑体" pitchFamily="49" charset="-122"/>
            </a:endParaRPr>
          </a:p>
        </p:txBody>
      </p:sp>
      <p:sp>
        <p:nvSpPr>
          <p:cNvPr id="9273" name="Oval 389"/>
          <p:cNvSpPr>
            <a:spLocks noChangeArrowheads="1"/>
          </p:cNvSpPr>
          <p:nvPr/>
        </p:nvSpPr>
        <p:spPr bwMode="auto">
          <a:xfrm>
            <a:off x="790575" y="2395538"/>
            <a:ext cx="153988" cy="136525"/>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4" name="Rectangle 392"/>
          <p:cNvSpPr>
            <a:spLocks noChangeArrowheads="1"/>
          </p:cNvSpPr>
          <p:nvPr/>
        </p:nvSpPr>
        <p:spPr bwMode="auto">
          <a:xfrm>
            <a:off x="8169275" y="1327150"/>
            <a:ext cx="61118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AP</a:t>
            </a:r>
            <a:r>
              <a:rPr kumimoji="1" lang="en-US" altLang="zh-CN" sz="2000" baseline="-25000">
                <a:solidFill>
                  <a:srgbClr val="333399"/>
                </a:solidFill>
                <a:latin typeface="Arial" pitchFamily="34" charset="0"/>
                <a:ea typeface="黑体" pitchFamily="49" charset="-122"/>
              </a:rPr>
              <a:t>4</a:t>
            </a:r>
            <a:endParaRPr kumimoji="1" lang="en-US" altLang="zh-CN" sz="2000">
              <a:solidFill>
                <a:srgbClr val="333399"/>
              </a:solidFill>
              <a:latin typeface="Arial" pitchFamily="34" charset="0"/>
              <a:ea typeface="黑体" pitchFamily="49" charset="-122"/>
            </a:endParaRPr>
          </a:p>
        </p:txBody>
      </p:sp>
      <p:sp>
        <p:nvSpPr>
          <p:cNvPr id="9275" name="Oval 393"/>
          <p:cNvSpPr>
            <a:spLocks noChangeArrowheads="1"/>
          </p:cNvSpPr>
          <p:nvPr/>
        </p:nvSpPr>
        <p:spPr bwMode="auto">
          <a:xfrm>
            <a:off x="8120063" y="2395538"/>
            <a:ext cx="150812" cy="136525"/>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76" name="Rectangle 396"/>
          <p:cNvSpPr>
            <a:spLocks noChangeArrowheads="1"/>
          </p:cNvSpPr>
          <p:nvPr/>
        </p:nvSpPr>
        <p:spPr bwMode="auto">
          <a:xfrm>
            <a:off x="1820863" y="1662113"/>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端口</a:t>
            </a:r>
          </a:p>
        </p:txBody>
      </p:sp>
      <p:sp>
        <p:nvSpPr>
          <p:cNvPr id="9277" name="Rectangle 397"/>
          <p:cNvSpPr>
            <a:spLocks noChangeArrowheads="1"/>
          </p:cNvSpPr>
          <p:nvPr/>
        </p:nvSpPr>
        <p:spPr bwMode="auto">
          <a:xfrm>
            <a:off x="6569075" y="1571625"/>
            <a:ext cx="69056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端口</a:t>
            </a:r>
          </a:p>
        </p:txBody>
      </p:sp>
      <p:sp>
        <p:nvSpPr>
          <p:cNvPr id="9278" name="Line 398"/>
          <p:cNvSpPr>
            <a:spLocks noChangeShapeType="1"/>
          </p:cNvSpPr>
          <p:nvPr/>
        </p:nvSpPr>
        <p:spPr bwMode="auto">
          <a:xfrm>
            <a:off x="7135813" y="1814513"/>
            <a:ext cx="577850" cy="1365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79" name="Line 399"/>
          <p:cNvSpPr>
            <a:spLocks noChangeShapeType="1"/>
          </p:cNvSpPr>
          <p:nvPr/>
        </p:nvSpPr>
        <p:spPr bwMode="auto">
          <a:xfrm flipH="1">
            <a:off x="1306513" y="1828800"/>
            <a:ext cx="544512" cy="12223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0" name="Rectangle 400"/>
          <p:cNvSpPr>
            <a:spLocks noChangeArrowheads="1"/>
          </p:cNvSpPr>
          <p:nvPr/>
        </p:nvSpPr>
        <p:spPr bwMode="auto">
          <a:xfrm>
            <a:off x="8574088" y="1454150"/>
            <a:ext cx="322262"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50000"/>
              </a:lnSpc>
            </a:pPr>
            <a:r>
              <a:rPr kumimoji="1" lang="en-US" altLang="zh-CN" sz="2000">
                <a:solidFill>
                  <a:srgbClr val="333399"/>
                </a:solidFill>
                <a:latin typeface="Arial" pitchFamily="34" charset="0"/>
                <a:ea typeface="黑体" pitchFamily="49" charset="-122"/>
              </a:rPr>
              <a:t>5</a:t>
            </a:r>
          </a:p>
          <a:p>
            <a:pPr defTabSz="762000" eaLnBrk="0" hangingPunct="0">
              <a:lnSpc>
                <a:spcPct val="150000"/>
              </a:lnSpc>
            </a:pPr>
            <a:r>
              <a:rPr kumimoji="1" lang="en-US" altLang="zh-CN" sz="2000">
                <a:solidFill>
                  <a:srgbClr val="333399"/>
                </a:solidFill>
                <a:latin typeface="Arial" pitchFamily="34" charset="0"/>
                <a:ea typeface="黑体" pitchFamily="49" charset="-122"/>
              </a:rPr>
              <a:t>4</a:t>
            </a:r>
          </a:p>
          <a:p>
            <a:pPr defTabSz="762000" eaLnBrk="0" hangingPunct="0">
              <a:lnSpc>
                <a:spcPct val="150000"/>
              </a:lnSpc>
            </a:pPr>
            <a:r>
              <a:rPr kumimoji="1" lang="en-US" altLang="zh-CN" sz="2000">
                <a:solidFill>
                  <a:srgbClr val="333399"/>
                </a:solidFill>
                <a:latin typeface="Arial" pitchFamily="34" charset="0"/>
                <a:ea typeface="黑体" pitchFamily="49" charset="-122"/>
              </a:rPr>
              <a:t>3</a:t>
            </a:r>
          </a:p>
          <a:p>
            <a:pPr defTabSz="762000" eaLnBrk="0" hangingPunct="0">
              <a:lnSpc>
                <a:spcPct val="150000"/>
              </a:lnSpc>
            </a:pPr>
            <a:r>
              <a:rPr kumimoji="1" lang="en-US" altLang="zh-CN" sz="2000">
                <a:solidFill>
                  <a:srgbClr val="333399"/>
                </a:solidFill>
                <a:latin typeface="Arial" pitchFamily="34" charset="0"/>
                <a:ea typeface="黑体" pitchFamily="49" charset="-122"/>
              </a:rPr>
              <a:t>2</a:t>
            </a:r>
          </a:p>
          <a:p>
            <a:pPr defTabSz="762000" eaLnBrk="0" hangingPunct="0">
              <a:lnSpc>
                <a:spcPct val="150000"/>
              </a:lnSpc>
            </a:pPr>
            <a:r>
              <a:rPr kumimoji="1" lang="en-US" altLang="zh-CN" sz="2000">
                <a:solidFill>
                  <a:srgbClr val="333399"/>
                </a:solidFill>
                <a:latin typeface="Arial" pitchFamily="34" charset="0"/>
                <a:ea typeface="黑体" pitchFamily="49" charset="-122"/>
              </a:rPr>
              <a:t>1</a:t>
            </a:r>
          </a:p>
        </p:txBody>
      </p:sp>
      <p:sp>
        <p:nvSpPr>
          <p:cNvPr id="9281" name="Line 401"/>
          <p:cNvSpPr>
            <a:spLocks noChangeShapeType="1"/>
          </p:cNvSpPr>
          <p:nvPr/>
        </p:nvSpPr>
        <p:spPr bwMode="auto">
          <a:xfrm>
            <a:off x="1655763" y="5759450"/>
            <a:ext cx="5765800"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2" name="Line 402"/>
          <p:cNvSpPr>
            <a:spLocks noChangeShapeType="1"/>
          </p:cNvSpPr>
          <p:nvPr/>
        </p:nvSpPr>
        <p:spPr bwMode="auto">
          <a:xfrm flipH="1">
            <a:off x="1655763" y="5635625"/>
            <a:ext cx="0" cy="300038"/>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3" name="Line 403"/>
          <p:cNvSpPr>
            <a:spLocks noChangeShapeType="1"/>
          </p:cNvSpPr>
          <p:nvPr/>
        </p:nvSpPr>
        <p:spPr bwMode="auto">
          <a:xfrm>
            <a:off x="7424738" y="5635625"/>
            <a:ext cx="7937" cy="228600"/>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4" name="Rectangle 404"/>
          <p:cNvSpPr>
            <a:spLocks noChangeArrowheads="1"/>
          </p:cNvSpPr>
          <p:nvPr/>
        </p:nvSpPr>
        <p:spPr bwMode="auto">
          <a:xfrm>
            <a:off x="3386138" y="5556250"/>
            <a:ext cx="2268537" cy="3937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协议的作用范围</a:t>
            </a:r>
          </a:p>
        </p:txBody>
      </p:sp>
      <p:sp>
        <p:nvSpPr>
          <p:cNvPr id="9285" name="Line 405"/>
          <p:cNvSpPr>
            <a:spLocks noChangeShapeType="1"/>
          </p:cNvSpPr>
          <p:nvPr/>
        </p:nvSpPr>
        <p:spPr bwMode="auto">
          <a:xfrm>
            <a:off x="666750" y="5486400"/>
            <a:ext cx="0" cy="849313"/>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6" name="Line 406"/>
          <p:cNvSpPr>
            <a:spLocks noChangeShapeType="1"/>
          </p:cNvSpPr>
          <p:nvPr/>
        </p:nvSpPr>
        <p:spPr bwMode="auto">
          <a:xfrm>
            <a:off x="8164513" y="5413375"/>
            <a:ext cx="0" cy="904875"/>
          </a:xfrm>
          <a:prstGeom prst="line">
            <a:avLst/>
          </a:prstGeom>
          <a:noFill/>
          <a:ln w="12700">
            <a:solidFill>
              <a:schemeClr val="tx1"/>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7" name="Line 407"/>
          <p:cNvSpPr>
            <a:spLocks noChangeShapeType="1"/>
          </p:cNvSpPr>
          <p:nvPr/>
        </p:nvSpPr>
        <p:spPr bwMode="auto">
          <a:xfrm>
            <a:off x="666750" y="6159500"/>
            <a:ext cx="7497763"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88" name="Rectangle 408"/>
          <p:cNvSpPr>
            <a:spLocks noChangeArrowheads="1"/>
          </p:cNvSpPr>
          <p:nvPr/>
        </p:nvSpPr>
        <p:spPr bwMode="auto">
          <a:xfrm>
            <a:off x="2314575" y="5949950"/>
            <a:ext cx="4302125" cy="3937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运输层协议 </a:t>
            </a:r>
            <a:r>
              <a:rPr kumimoji="1" lang="en-US" altLang="zh-CN" sz="2000">
                <a:solidFill>
                  <a:srgbClr val="333399"/>
                </a:solidFill>
                <a:latin typeface="Arial" pitchFamily="34" charset="0"/>
                <a:ea typeface="黑体" pitchFamily="49" charset="-122"/>
              </a:rPr>
              <a:t>TCP </a:t>
            </a:r>
            <a:r>
              <a:rPr kumimoji="1" lang="zh-CN" altLang="en-US" sz="2000">
                <a:solidFill>
                  <a:srgbClr val="333399"/>
                </a:solidFill>
                <a:latin typeface="Arial" pitchFamily="34" charset="0"/>
                <a:ea typeface="黑体" pitchFamily="49" charset="-122"/>
              </a:rPr>
              <a:t>和 </a:t>
            </a:r>
            <a:r>
              <a:rPr kumimoji="1" lang="en-US" altLang="zh-CN" sz="2000">
                <a:solidFill>
                  <a:srgbClr val="333399"/>
                </a:solidFill>
                <a:latin typeface="Arial" pitchFamily="34" charset="0"/>
                <a:ea typeface="黑体" pitchFamily="49" charset="-122"/>
              </a:rPr>
              <a:t>UDP </a:t>
            </a:r>
            <a:r>
              <a:rPr kumimoji="1" lang="zh-CN" altLang="en-US" sz="2000">
                <a:solidFill>
                  <a:srgbClr val="333399"/>
                </a:solidFill>
                <a:latin typeface="Arial" pitchFamily="34" charset="0"/>
                <a:ea typeface="黑体" pitchFamily="49" charset="-122"/>
              </a:rPr>
              <a:t>的作用范围</a:t>
            </a:r>
          </a:p>
        </p:txBody>
      </p:sp>
      <p:pic>
        <p:nvPicPr>
          <p:cNvPr id="9289" name="Picture 40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3675" y="4933950"/>
            <a:ext cx="72390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290" name="Rectangle 411"/>
          <p:cNvSpPr>
            <a:spLocks noChangeArrowheads="1"/>
          </p:cNvSpPr>
          <p:nvPr/>
        </p:nvSpPr>
        <p:spPr bwMode="auto">
          <a:xfrm>
            <a:off x="511175" y="1890713"/>
            <a:ext cx="215900"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1" name="Rectangle 412"/>
          <p:cNvSpPr>
            <a:spLocks noChangeArrowheads="1"/>
          </p:cNvSpPr>
          <p:nvPr/>
        </p:nvSpPr>
        <p:spPr bwMode="auto">
          <a:xfrm>
            <a:off x="1095375" y="1890713"/>
            <a:ext cx="215900"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2" name="Rectangle 413"/>
          <p:cNvSpPr>
            <a:spLocks noChangeArrowheads="1"/>
          </p:cNvSpPr>
          <p:nvPr/>
        </p:nvSpPr>
        <p:spPr bwMode="auto">
          <a:xfrm>
            <a:off x="7686675" y="1903413"/>
            <a:ext cx="215900"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3" name="Rectangle 414"/>
          <p:cNvSpPr>
            <a:spLocks noChangeArrowheads="1"/>
          </p:cNvSpPr>
          <p:nvPr/>
        </p:nvSpPr>
        <p:spPr bwMode="auto">
          <a:xfrm>
            <a:off x="8423275" y="1903413"/>
            <a:ext cx="215900" cy="215900"/>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4" name="Freeform 390"/>
          <p:cNvSpPr>
            <a:spLocks/>
          </p:cNvSpPr>
          <p:nvPr/>
        </p:nvSpPr>
        <p:spPr bwMode="auto">
          <a:xfrm>
            <a:off x="7797800" y="1733550"/>
            <a:ext cx="331788" cy="695325"/>
          </a:xfrm>
          <a:custGeom>
            <a:avLst/>
            <a:gdLst>
              <a:gd name="T0" fmla="*/ 6876 w 193"/>
              <a:gd name="T1" fmla="*/ 0 h 453"/>
              <a:gd name="T2" fmla="*/ 22348 w 193"/>
              <a:gd name="T3" fmla="*/ 469690 h 453"/>
              <a:gd name="T4" fmla="*/ 146124 w 193"/>
              <a:gd name="T5" fmla="*/ 612439 h 453"/>
              <a:gd name="T6" fmla="*/ 269900 w 193"/>
              <a:gd name="T7" fmla="*/ 681511 h 453"/>
              <a:gd name="T8" fmla="*/ 331788 w 193"/>
              <a:gd name="T9" fmla="*/ 695325 h 4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5" name="Freeform 391"/>
          <p:cNvSpPr>
            <a:spLocks/>
          </p:cNvSpPr>
          <p:nvPr/>
        </p:nvSpPr>
        <p:spPr bwMode="auto">
          <a:xfrm>
            <a:off x="8248650" y="1736725"/>
            <a:ext cx="292100" cy="688975"/>
          </a:xfrm>
          <a:custGeom>
            <a:avLst/>
            <a:gdLst>
              <a:gd name="T0" fmla="*/ 290392 w 171"/>
              <a:gd name="T1" fmla="*/ 0 h 447"/>
              <a:gd name="T2" fmla="*/ 281851 w 171"/>
              <a:gd name="T3" fmla="*/ 406911 h 447"/>
              <a:gd name="T4" fmla="*/ 230605 w 171"/>
              <a:gd name="T5" fmla="*/ 541007 h 447"/>
              <a:gd name="T6" fmla="*/ 138363 w 171"/>
              <a:gd name="T7" fmla="*/ 633487 h 447"/>
              <a:gd name="T8" fmla="*/ 0 w 171"/>
              <a:gd name="T9" fmla="*/ 688975 h 4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6" name="Oval 394"/>
          <p:cNvSpPr>
            <a:spLocks noChangeArrowheads="1"/>
          </p:cNvSpPr>
          <p:nvPr/>
        </p:nvSpPr>
        <p:spPr bwMode="auto">
          <a:xfrm>
            <a:off x="7502525" y="1511300"/>
            <a:ext cx="630238" cy="352425"/>
          </a:xfrm>
          <a:prstGeom prst="ellipse">
            <a:avLst/>
          </a:prstGeom>
          <a:solidFill>
            <a:srgbClr val="FFCC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7" name="Rectangle 395"/>
          <p:cNvSpPr>
            <a:spLocks noChangeArrowheads="1"/>
          </p:cNvSpPr>
          <p:nvPr/>
        </p:nvSpPr>
        <p:spPr bwMode="auto">
          <a:xfrm>
            <a:off x="7527925" y="1463675"/>
            <a:ext cx="61118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AP</a:t>
            </a:r>
            <a:r>
              <a:rPr kumimoji="1" lang="en-US" altLang="zh-CN" sz="2000" baseline="-25000">
                <a:solidFill>
                  <a:srgbClr val="333399"/>
                </a:solidFill>
                <a:latin typeface="Arial" pitchFamily="34" charset="0"/>
                <a:ea typeface="黑体" pitchFamily="49" charset="-122"/>
              </a:rPr>
              <a:t>3</a:t>
            </a:r>
            <a:endParaRPr kumimoji="1" lang="en-US" altLang="zh-CN" sz="2000">
              <a:solidFill>
                <a:srgbClr val="333399"/>
              </a:solidFill>
              <a:latin typeface="Arial" pitchFamily="34" charset="0"/>
              <a:ea typeface="黑体" pitchFamily="49" charset="-122"/>
            </a:endParaRPr>
          </a:p>
        </p:txBody>
      </p:sp>
      <p:sp>
        <p:nvSpPr>
          <p:cNvPr id="9298" name="Freeform 386"/>
          <p:cNvSpPr>
            <a:spLocks/>
          </p:cNvSpPr>
          <p:nvPr/>
        </p:nvSpPr>
        <p:spPr bwMode="auto">
          <a:xfrm>
            <a:off x="946150" y="1797050"/>
            <a:ext cx="271463" cy="628650"/>
          </a:xfrm>
          <a:custGeom>
            <a:avLst/>
            <a:gdLst>
              <a:gd name="T0" fmla="*/ 266341 w 159"/>
              <a:gd name="T1" fmla="*/ 0 h 408"/>
              <a:gd name="T2" fmla="*/ 250975 w 159"/>
              <a:gd name="T3" fmla="*/ 429886 h 408"/>
              <a:gd name="T4" fmla="*/ 138292 w 159"/>
              <a:gd name="T5" fmla="*/ 573181 h 408"/>
              <a:gd name="T6" fmla="*/ 0 w 159"/>
              <a:gd name="T7" fmla="*/ 62865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9" name="Freeform 383"/>
          <p:cNvSpPr>
            <a:spLocks/>
          </p:cNvSpPr>
          <p:nvPr/>
        </p:nvSpPr>
        <p:spPr bwMode="auto">
          <a:xfrm>
            <a:off x="601663" y="1709738"/>
            <a:ext cx="255587" cy="757237"/>
          </a:xfrm>
          <a:custGeom>
            <a:avLst/>
            <a:gdLst>
              <a:gd name="T0" fmla="*/ 13723 w 149"/>
              <a:gd name="T1" fmla="*/ 0 h 492"/>
              <a:gd name="T2" fmla="*/ 8577 w 149"/>
              <a:gd name="T3" fmla="*/ 438643 h 492"/>
              <a:gd name="T4" fmla="*/ 65183 w 149"/>
              <a:gd name="T5" fmla="*/ 637187 h 492"/>
              <a:gd name="T6" fmla="*/ 255587 w 149"/>
              <a:gd name="T7" fmla="*/ 757237 h 4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cap="flat" cmpd="sng">
            <a:solidFill>
              <a:srgbClr val="333399"/>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0" name="Oval 363"/>
          <p:cNvSpPr>
            <a:spLocks noChangeArrowheads="1"/>
          </p:cNvSpPr>
          <p:nvPr/>
        </p:nvSpPr>
        <p:spPr bwMode="auto">
          <a:xfrm flipH="1">
            <a:off x="7342188" y="5067300"/>
            <a:ext cx="152400" cy="138113"/>
          </a:xfrm>
          <a:prstGeom prst="ellipse">
            <a:avLst/>
          </a:prstGeom>
          <a:solidFill>
            <a:schemeClr val="bg1"/>
          </a:solidFill>
          <a:ln w="28575">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DAB43A2-6FA7-4081-8F95-D59FD89DAAD5}" type="slidenum">
              <a:rPr lang="en-US" altLang="zh-CN" sz="1400"/>
              <a:pPr eaLnBrk="1" hangingPunct="1"/>
              <a:t>8</a:t>
            </a:fld>
            <a:endParaRPr lang="en-US" altLang="zh-CN" sz="1400"/>
          </a:p>
        </p:txBody>
      </p:sp>
      <p:sp>
        <p:nvSpPr>
          <p:cNvPr id="10243" name="Rectangle 2"/>
          <p:cNvSpPr>
            <a:spLocks noGrp="1" noChangeArrowheads="1"/>
          </p:cNvSpPr>
          <p:nvPr>
            <p:ph type="title"/>
          </p:nvPr>
        </p:nvSpPr>
        <p:spPr>
          <a:xfrm>
            <a:off x="1387475" y="931863"/>
            <a:ext cx="6856413" cy="768350"/>
          </a:xfrm>
        </p:spPr>
        <p:txBody>
          <a:bodyPr/>
          <a:lstStyle/>
          <a:p>
            <a:pPr algn="ctr" eaLnBrk="1" hangingPunct="1"/>
            <a:r>
              <a:rPr lang="zh-CN" altLang="en-US" smtClean="0"/>
              <a:t>应用进程之间的通信</a:t>
            </a:r>
          </a:p>
        </p:txBody>
      </p:sp>
      <p:sp>
        <p:nvSpPr>
          <p:cNvPr id="131136" name="Rectangle 64"/>
          <p:cNvSpPr>
            <a:spLocks noGrp="1" noChangeArrowheads="1"/>
          </p:cNvSpPr>
          <p:nvPr>
            <p:ph type="body" idx="1"/>
          </p:nvPr>
        </p:nvSpPr>
        <p:spPr>
          <a:xfrm>
            <a:off x="1042988" y="1844675"/>
            <a:ext cx="7772400" cy="5013325"/>
          </a:xfrm>
        </p:spPr>
        <p:txBody>
          <a:bodyPr/>
          <a:lstStyle/>
          <a:p>
            <a:pPr algn="just" eaLnBrk="1" hangingPunct="1"/>
            <a:r>
              <a:rPr lang="zh-CN" altLang="en-US" sz="2800" smtClean="0"/>
              <a:t>两个主机进行通信实际上就是两个主机中的</a:t>
            </a:r>
            <a:r>
              <a:rPr lang="zh-CN" altLang="en-US" sz="2800" smtClean="0">
                <a:solidFill>
                  <a:schemeClr val="hlink"/>
                </a:solidFill>
              </a:rPr>
              <a:t>应用进程互相通信</a:t>
            </a:r>
            <a:r>
              <a:rPr lang="zh-CN" altLang="en-US" sz="2800" smtClean="0"/>
              <a:t>。 </a:t>
            </a:r>
          </a:p>
          <a:p>
            <a:pPr algn="just" eaLnBrk="1" hangingPunct="1"/>
            <a:r>
              <a:rPr lang="zh-CN" altLang="en-US" sz="2800" smtClean="0"/>
              <a:t>应用进程之间的通信又称为</a:t>
            </a:r>
            <a:r>
              <a:rPr lang="zh-CN" altLang="en-US" sz="2800" smtClean="0">
                <a:solidFill>
                  <a:schemeClr val="hlink"/>
                </a:solidFill>
              </a:rPr>
              <a:t>端到端的通信</a:t>
            </a:r>
            <a:r>
              <a:rPr lang="zh-CN" altLang="en-US" sz="2800" smtClean="0"/>
              <a:t>。 </a:t>
            </a:r>
          </a:p>
          <a:p>
            <a:pPr algn="just" eaLnBrk="1" hangingPunct="1"/>
            <a:r>
              <a:rPr lang="zh-CN" altLang="en-US" sz="2800" smtClean="0"/>
              <a:t>运输层的一个很重要的功能就是</a:t>
            </a:r>
            <a:r>
              <a:rPr lang="zh-CN" altLang="en-US" sz="2800" smtClean="0">
                <a:solidFill>
                  <a:schemeClr val="hlink"/>
                </a:solidFill>
              </a:rPr>
              <a:t>复用</a:t>
            </a:r>
            <a:r>
              <a:rPr lang="zh-CN" altLang="en-US" sz="2800" smtClean="0"/>
              <a:t>和</a:t>
            </a:r>
            <a:r>
              <a:rPr lang="zh-CN" altLang="en-US" sz="2800" smtClean="0">
                <a:solidFill>
                  <a:schemeClr val="hlink"/>
                </a:solidFill>
              </a:rPr>
              <a:t>分用</a:t>
            </a:r>
            <a:r>
              <a:rPr lang="zh-CN" altLang="en-US" sz="2800" smtClean="0"/>
              <a:t>。应用层不同进程的报文通过不同的端口向下交到运输层，再往下就共用网络层提供的服务。</a:t>
            </a:r>
          </a:p>
          <a:p>
            <a:pPr algn="just" eaLnBrk="1" hangingPunct="1"/>
            <a:r>
              <a:rPr lang="zh-CN" altLang="en-US" sz="2800" smtClean="0"/>
              <a:t>“</a:t>
            </a:r>
            <a:r>
              <a:rPr lang="zh-CN" altLang="en-US" sz="2800" smtClean="0">
                <a:solidFill>
                  <a:schemeClr val="hlink"/>
                </a:solidFill>
              </a:rPr>
              <a:t>运输层提供应用进程间的逻辑通信</a:t>
            </a:r>
            <a:r>
              <a:rPr lang="zh-CN" altLang="en-US" sz="2800" smtClean="0"/>
              <a:t>”。“逻辑通信”的意思是：运输层之间的通信</a:t>
            </a:r>
            <a:r>
              <a:rPr lang="zh-CN" altLang="en-US" sz="2800" smtClean="0">
                <a:solidFill>
                  <a:schemeClr val="hlink"/>
                </a:solidFill>
              </a:rPr>
              <a:t>好像</a:t>
            </a:r>
            <a:r>
              <a:rPr lang="zh-CN" altLang="en-US" sz="2800" smtClean="0"/>
              <a:t>是沿水平方向传送数据。但事实上这两个运输层之间并没有一条水平方向的物理连接。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113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113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27D337C-8CD3-48A6-B174-E42646705C88}" type="slidenum">
              <a:rPr lang="en-US" altLang="zh-CN" sz="1400"/>
              <a:pPr eaLnBrk="1" hangingPunct="1"/>
              <a:t>9</a:t>
            </a:fld>
            <a:endParaRPr lang="en-US" altLang="zh-CN" sz="1400"/>
          </a:p>
        </p:txBody>
      </p:sp>
      <p:sp>
        <p:nvSpPr>
          <p:cNvPr id="11267" name="Line 41"/>
          <p:cNvSpPr>
            <a:spLocks noChangeShapeType="1"/>
          </p:cNvSpPr>
          <p:nvPr/>
        </p:nvSpPr>
        <p:spPr bwMode="auto">
          <a:xfrm>
            <a:off x="2217738" y="4076700"/>
            <a:ext cx="4926012"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8" name="Rectangle 30"/>
          <p:cNvSpPr>
            <a:spLocks noChangeArrowheads="1"/>
          </p:cNvSpPr>
          <p:nvPr/>
        </p:nvSpPr>
        <p:spPr bwMode="auto">
          <a:xfrm>
            <a:off x="1206500" y="2379663"/>
            <a:ext cx="1781175" cy="103346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 name="Rectangle 36"/>
          <p:cNvSpPr>
            <a:spLocks noChangeArrowheads="1"/>
          </p:cNvSpPr>
          <p:nvPr/>
        </p:nvSpPr>
        <p:spPr bwMode="auto">
          <a:xfrm>
            <a:off x="6302375" y="2379663"/>
            <a:ext cx="1781175" cy="103346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0" name="Rectangle 2"/>
          <p:cNvSpPr>
            <a:spLocks noGrp="1" noChangeArrowheads="1"/>
          </p:cNvSpPr>
          <p:nvPr>
            <p:ph type="title"/>
          </p:nvPr>
        </p:nvSpPr>
        <p:spPr>
          <a:xfrm>
            <a:off x="1387475" y="931863"/>
            <a:ext cx="6856413" cy="768350"/>
          </a:xfrm>
        </p:spPr>
        <p:txBody>
          <a:bodyPr/>
          <a:lstStyle/>
          <a:p>
            <a:pPr algn="ctr" eaLnBrk="1" hangingPunct="1"/>
            <a:r>
              <a:rPr lang="zh-CN" altLang="en-US" smtClean="0"/>
              <a:t>运输层协议和网络层协议的主要区别 </a:t>
            </a:r>
          </a:p>
        </p:txBody>
      </p:sp>
      <p:sp>
        <p:nvSpPr>
          <p:cNvPr id="11271" name="Text Box 29"/>
          <p:cNvSpPr txBox="1">
            <a:spLocks noChangeArrowheads="1"/>
          </p:cNvSpPr>
          <p:nvPr/>
        </p:nvSpPr>
        <p:spPr bwMode="auto">
          <a:xfrm>
            <a:off x="1206500" y="2276475"/>
            <a:ext cx="822325"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7200">
                <a:solidFill>
                  <a:srgbClr val="333399"/>
                </a:solidFill>
                <a:latin typeface="Arial" pitchFamily="34" charset="0"/>
                <a:ea typeface="黑体" pitchFamily="49" charset="-122"/>
                <a:sym typeface="Wingdings" pitchFamily="2" charset="2"/>
              </a:rPr>
              <a:t></a:t>
            </a:r>
            <a:endParaRPr kumimoji="1" lang="en-US" altLang="zh-CN" sz="7200">
              <a:solidFill>
                <a:srgbClr val="333399"/>
              </a:solidFill>
              <a:latin typeface="Arial" pitchFamily="34" charset="0"/>
              <a:ea typeface="黑体" pitchFamily="49" charset="-122"/>
            </a:endParaRPr>
          </a:p>
        </p:txBody>
      </p:sp>
      <p:sp>
        <p:nvSpPr>
          <p:cNvPr id="11272" name="Rectangle 31"/>
          <p:cNvSpPr>
            <a:spLocks noChangeArrowheads="1"/>
          </p:cNvSpPr>
          <p:nvPr/>
        </p:nvSpPr>
        <p:spPr bwMode="auto">
          <a:xfrm>
            <a:off x="1476375" y="1924050"/>
            <a:ext cx="14001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rgbClr val="333399"/>
                </a:solidFill>
                <a:latin typeface="Arial" pitchFamily="34" charset="0"/>
                <a:ea typeface="黑体" pitchFamily="49" charset="-122"/>
              </a:rPr>
              <a:t>应用进程</a:t>
            </a:r>
          </a:p>
        </p:txBody>
      </p:sp>
      <p:sp>
        <p:nvSpPr>
          <p:cNvPr id="11273" name="Rectangle 32"/>
          <p:cNvSpPr>
            <a:spLocks noChangeArrowheads="1"/>
          </p:cNvSpPr>
          <p:nvPr/>
        </p:nvSpPr>
        <p:spPr bwMode="auto">
          <a:xfrm>
            <a:off x="1889125" y="2849563"/>
            <a:ext cx="43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333399"/>
                </a:solidFill>
                <a:latin typeface="Arial" pitchFamily="34" charset="0"/>
                <a:ea typeface="黑体" pitchFamily="49" charset="-122"/>
              </a:rPr>
              <a:t>…</a:t>
            </a:r>
          </a:p>
        </p:txBody>
      </p:sp>
      <p:sp>
        <p:nvSpPr>
          <p:cNvPr id="11274" name="Text Box 33"/>
          <p:cNvSpPr txBox="1">
            <a:spLocks noChangeArrowheads="1"/>
          </p:cNvSpPr>
          <p:nvPr/>
        </p:nvSpPr>
        <p:spPr bwMode="auto">
          <a:xfrm>
            <a:off x="2185988" y="2276475"/>
            <a:ext cx="822325"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7200">
                <a:solidFill>
                  <a:srgbClr val="333399"/>
                </a:solidFill>
                <a:latin typeface="Arial" pitchFamily="34" charset="0"/>
                <a:ea typeface="黑体" pitchFamily="49" charset="-122"/>
                <a:sym typeface="Wingdings" pitchFamily="2" charset="2"/>
              </a:rPr>
              <a:t></a:t>
            </a:r>
            <a:endParaRPr kumimoji="1" lang="en-US" altLang="zh-CN" sz="7200">
              <a:solidFill>
                <a:srgbClr val="333399"/>
              </a:solidFill>
              <a:latin typeface="Arial" pitchFamily="34" charset="0"/>
              <a:ea typeface="黑体" pitchFamily="49" charset="-122"/>
            </a:endParaRPr>
          </a:p>
        </p:txBody>
      </p:sp>
      <p:sp>
        <p:nvSpPr>
          <p:cNvPr id="11275" name="Text Box 35"/>
          <p:cNvSpPr txBox="1">
            <a:spLocks noChangeArrowheads="1"/>
          </p:cNvSpPr>
          <p:nvPr/>
        </p:nvSpPr>
        <p:spPr bwMode="auto">
          <a:xfrm>
            <a:off x="6302375" y="2276475"/>
            <a:ext cx="822325"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7200">
                <a:solidFill>
                  <a:srgbClr val="333399"/>
                </a:solidFill>
                <a:latin typeface="Arial" pitchFamily="34" charset="0"/>
                <a:ea typeface="黑体" pitchFamily="49" charset="-122"/>
                <a:sym typeface="Wingdings" pitchFamily="2" charset="2"/>
              </a:rPr>
              <a:t></a:t>
            </a:r>
            <a:endParaRPr kumimoji="1" lang="en-US" altLang="zh-CN" sz="7200">
              <a:solidFill>
                <a:srgbClr val="333399"/>
              </a:solidFill>
              <a:latin typeface="Arial" pitchFamily="34" charset="0"/>
              <a:ea typeface="黑体" pitchFamily="49" charset="-122"/>
            </a:endParaRPr>
          </a:p>
        </p:txBody>
      </p:sp>
      <p:sp>
        <p:nvSpPr>
          <p:cNvPr id="11276" name="Rectangle 37"/>
          <p:cNvSpPr>
            <a:spLocks noChangeArrowheads="1"/>
          </p:cNvSpPr>
          <p:nvPr/>
        </p:nvSpPr>
        <p:spPr bwMode="auto">
          <a:xfrm>
            <a:off x="6572250" y="1924050"/>
            <a:ext cx="14001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rgbClr val="333399"/>
                </a:solidFill>
                <a:latin typeface="Arial" pitchFamily="34" charset="0"/>
                <a:ea typeface="黑体" pitchFamily="49" charset="-122"/>
              </a:rPr>
              <a:t>应用进程</a:t>
            </a:r>
          </a:p>
        </p:txBody>
      </p:sp>
      <p:sp>
        <p:nvSpPr>
          <p:cNvPr id="11277" name="Rectangle 38"/>
          <p:cNvSpPr>
            <a:spLocks noChangeArrowheads="1"/>
          </p:cNvSpPr>
          <p:nvPr/>
        </p:nvSpPr>
        <p:spPr bwMode="auto">
          <a:xfrm>
            <a:off x="6985000" y="2849563"/>
            <a:ext cx="434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333399"/>
                </a:solidFill>
                <a:latin typeface="Arial" pitchFamily="34" charset="0"/>
                <a:ea typeface="黑体" pitchFamily="49" charset="-122"/>
              </a:rPr>
              <a:t>…</a:t>
            </a:r>
          </a:p>
        </p:txBody>
      </p:sp>
      <p:sp>
        <p:nvSpPr>
          <p:cNvPr id="11278" name="Text Box 39"/>
          <p:cNvSpPr txBox="1">
            <a:spLocks noChangeArrowheads="1"/>
          </p:cNvSpPr>
          <p:nvPr/>
        </p:nvSpPr>
        <p:spPr bwMode="auto">
          <a:xfrm>
            <a:off x="7281863" y="2276475"/>
            <a:ext cx="822325"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7200">
                <a:solidFill>
                  <a:srgbClr val="333399"/>
                </a:solidFill>
                <a:latin typeface="Arial" pitchFamily="34" charset="0"/>
                <a:ea typeface="黑体" pitchFamily="49" charset="-122"/>
                <a:sym typeface="Wingdings" pitchFamily="2" charset="2"/>
              </a:rPr>
              <a:t></a:t>
            </a:r>
            <a:endParaRPr kumimoji="1" lang="en-US" altLang="zh-CN" sz="7200">
              <a:solidFill>
                <a:srgbClr val="333399"/>
              </a:solidFill>
              <a:latin typeface="Arial" pitchFamily="34" charset="0"/>
              <a:ea typeface="黑体" pitchFamily="49" charset="-122"/>
            </a:endParaRPr>
          </a:p>
        </p:txBody>
      </p:sp>
      <p:pic>
        <p:nvPicPr>
          <p:cNvPr id="11279"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0550" y="3651250"/>
            <a:ext cx="533400"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80" name="Picture 4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4363" y="3651250"/>
            <a:ext cx="534987"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81" name="AutoShape 43"/>
          <p:cNvSpPr>
            <a:spLocks noChangeArrowheads="1"/>
          </p:cNvSpPr>
          <p:nvPr/>
        </p:nvSpPr>
        <p:spPr bwMode="auto">
          <a:xfrm>
            <a:off x="7073900" y="3262313"/>
            <a:ext cx="255588" cy="573087"/>
          </a:xfrm>
          <a:prstGeom prst="upDownArrow">
            <a:avLst>
              <a:gd name="adj1" fmla="val 50000"/>
              <a:gd name="adj2" fmla="val 448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2" name="Line 44"/>
          <p:cNvSpPr>
            <a:spLocks noChangeShapeType="1"/>
          </p:cNvSpPr>
          <p:nvPr/>
        </p:nvSpPr>
        <p:spPr bwMode="auto">
          <a:xfrm>
            <a:off x="2132013" y="4160838"/>
            <a:ext cx="0" cy="11096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3" name="Line 45"/>
          <p:cNvSpPr>
            <a:spLocks noChangeShapeType="1"/>
          </p:cNvSpPr>
          <p:nvPr/>
        </p:nvSpPr>
        <p:spPr bwMode="auto">
          <a:xfrm>
            <a:off x="7229475" y="4160838"/>
            <a:ext cx="0" cy="11096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4" name="Line 46"/>
          <p:cNvSpPr>
            <a:spLocks noChangeShapeType="1"/>
          </p:cNvSpPr>
          <p:nvPr/>
        </p:nvSpPr>
        <p:spPr bwMode="auto">
          <a:xfrm>
            <a:off x="2132013" y="5014913"/>
            <a:ext cx="5097462"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5" name="Rectangle 47"/>
          <p:cNvSpPr>
            <a:spLocks noChangeArrowheads="1"/>
          </p:cNvSpPr>
          <p:nvPr/>
        </p:nvSpPr>
        <p:spPr bwMode="auto">
          <a:xfrm>
            <a:off x="2605088" y="4557713"/>
            <a:ext cx="4143375" cy="8191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400">
                <a:solidFill>
                  <a:srgbClr val="333399"/>
                </a:solidFill>
                <a:latin typeface="Arial" pitchFamily="34" charset="0"/>
                <a:ea typeface="黑体" pitchFamily="49" charset="-122"/>
              </a:rPr>
              <a:t>IP </a:t>
            </a:r>
            <a:r>
              <a:rPr kumimoji="1" lang="zh-CN" altLang="en-US" sz="2400">
                <a:solidFill>
                  <a:srgbClr val="333399"/>
                </a:solidFill>
                <a:latin typeface="Arial" pitchFamily="34" charset="0"/>
                <a:ea typeface="黑体" pitchFamily="49" charset="-122"/>
              </a:rPr>
              <a:t>协议的作用范围</a:t>
            </a:r>
          </a:p>
          <a:p>
            <a:pPr algn="ctr" defTabSz="762000" eaLnBrk="0" hangingPunct="0"/>
            <a:r>
              <a:rPr kumimoji="1" lang="zh-CN" altLang="en-US" sz="2400">
                <a:solidFill>
                  <a:srgbClr val="333399"/>
                </a:solidFill>
                <a:latin typeface="Arial" pitchFamily="34" charset="0"/>
                <a:ea typeface="黑体" pitchFamily="49" charset="-122"/>
              </a:rPr>
              <a:t>（提供主机之间的逻辑通信）</a:t>
            </a:r>
          </a:p>
        </p:txBody>
      </p:sp>
      <p:sp>
        <p:nvSpPr>
          <p:cNvPr id="11286" name="Line 48"/>
          <p:cNvSpPr>
            <a:spLocks noChangeShapeType="1"/>
          </p:cNvSpPr>
          <p:nvPr/>
        </p:nvSpPr>
        <p:spPr bwMode="auto">
          <a:xfrm>
            <a:off x="1535113" y="3262313"/>
            <a:ext cx="3175" cy="28622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7" name="Line 49"/>
          <p:cNvSpPr>
            <a:spLocks noChangeShapeType="1"/>
          </p:cNvSpPr>
          <p:nvPr/>
        </p:nvSpPr>
        <p:spPr bwMode="auto">
          <a:xfrm>
            <a:off x="7799388" y="3308350"/>
            <a:ext cx="6350" cy="277018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8" name="Line 50"/>
          <p:cNvSpPr>
            <a:spLocks noChangeShapeType="1"/>
          </p:cNvSpPr>
          <p:nvPr/>
        </p:nvSpPr>
        <p:spPr bwMode="auto">
          <a:xfrm>
            <a:off x="1538288" y="5781675"/>
            <a:ext cx="6284912"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9" name="Rectangle 51"/>
          <p:cNvSpPr>
            <a:spLocks noChangeArrowheads="1"/>
          </p:cNvSpPr>
          <p:nvPr/>
        </p:nvSpPr>
        <p:spPr bwMode="auto">
          <a:xfrm>
            <a:off x="2684463" y="5418138"/>
            <a:ext cx="4143375" cy="8191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400">
                <a:solidFill>
                  <a:srgbClr val="333399"/>
                </a:solidFill>
                <a:latin typeface="Arial" pitchFamily="34" charset="0"/>
                <a:ea typeface="黑体" pitchFamily="49" charset="-122"/>
              </a:rPr>
              <a:t>TCP </a:t>
            </a:r>
            <a:r>
              <a:rPr kumimoji="1" lang="zh-CN" altLang="en-US" sz="2400">
                <a:solidFill>
                  <a:srgbClr val="333399"/>
                </a:solidFill>
                <a:latin typeface="Arial" pitchFamily="34" charset="0"/>
                <a:ea typeface="黑体" pitchFamily="49" charset="-122"/>
              </a:rPr>
              <a:t>和 </a:t>
            </a:r>
            <a:r>
              <a:rPr kumimoji="1" lang="en-US" altLang="zh-CN" sz="2400">
                <a:solidFill>
                  <a:srgbClr val="333399"/>
                </a:solidFill>
                <a:latin typeface="Arial" pitchFamily="34" charset="0"/>
                <a:ea typeface="黑体" pitchFamily="49" charset="-122"/>
              </a:rPr>
              <a:t>UDP </a:t>
            </a:r>
            <a:r>
              <a:rPr kumimoji="1" lang="zh-CN" altLang="en-US" sz="2400">
                <a:solidFill>
                  <a:srgbClr val="333399"/>
                </a:solidFill>
                <a:latin typeface="Arial" pitchFamily="34" charset="0"/>
                <a:ea typeface="黑体" pitchFamily="49" charset="-122"/>
              </a:rPr>
              <a:t>协议的作用范围</a:t>
            </a:r>
          </a:p>
          <a:p>
            <a:pPr algn="ctr" defTabSz="762000" eaLnBrk="0" hangingPunct="0"/>
            <a:r>
              <a:rPr kumimoji="1" lang="zh-CN" altLang="en-US" sz="2400">
                <a:solidFill>
                  <a:srgbClr val="333399"/>
                </a:solidFill>
                <a:latin typeface="Arial" pitchFamily="34" charset="0"/>
                <a:ea typeface="黑体" pitchFamily="49" charset="-122"/>
              </a:rPr>
              <a:t>（提供进程之间的逻辑通信）</a:t>
            </a:r>
          </a:p>
        </p:txBody>
      </p:sp>
      <p:sp>
        <p:nvSpPr>
          <p:cNvPr id="11290" name="AutoShape 52"/>
          <p:cNvSpPr>
            <a:spLocks noChangeArrowheads="1"/>
          </p:cNvSpPr>
          <p:nvPr/>
        </p:nvSpPr>
        <p:spPr bwMode="auto">
          <a:xfrm>
            <a:off x="1984375" y="3279775"/>
            <a:ext cx="255588" cy="573088"/>
          </a:xfrm>
          <a:prstGeom prst="upDownArrow">
            <a:avLst>
              <a:gd name="adj1" fmla="val 50000"/>
              <a:gd name="adj2" fmla="val 448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291" name="Object 53"/>
          <p:cNvGraphicFramePr>
            <a:graphicFrameLocks noChangeAspect="1"/>
          </p:cNvGraphicFramePr>
          <p:nvPr/>
        </p:nvGraphicFramePr>
        <p:xfrm>
          <a:off x="3036888" y="3081338"/>
          <a:ext cx="3200400" cy="1525587"/>
        </p:xfrm>
        <a:graphic>
          <a:graphicData uri="http://schemas.openxmlformats.org/presentationml/2006/ole">
            <mc:AlternateContent xmlns:mc="http://schemas.openxmlformats.org/markup-compatibility/2006">
              <mc:Choice xmlns:v="urn:schemas-microsoft-com:vml" Requires="v">
                <p:oleObj spid="_x0000_s11294" name="VISIO" r:id="rId5" imgW="1687068" imgH="964692" progId="Visio.Drawing.6">
                  <p:embed/>
                </p:oleObj>
              </mc:Choice>
              <mc:Fallback>
                <p:oleObj name="VISIO" r:id="rId5" imgW="1687068" imgH="964692" progId="Visio.Drawing.6">
                  <p:embed/>
                  <p:pic>
                    <p:nvPicPr>
                      <p:cNvPr id="0"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6888" y="3081338"/>
                        <a:ext cx="3200400" cy="1525587"/>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292" name="Rectangle 54"/>
          <p:cNvSpPr>
            <a:spLocks noChangeArrowheads="1"/>
          </p:cNvSpPr>
          <p:nvPr/>
        </p:nvSpPr>
        <p:spPr bwMode="auto">
          <a:xfrm>
            <a:off x="3851275" y="3594100"/>
            <a:ext cx="164147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a:solidFill>
                  <a:srgbClr val="333399"/>
                </a:solidFill>
                <a:latin typeface="Arial" pitchFamily="34" charset="0"/>
                <a:ea typeface="黑体" pitchFamily="49" charset="-122"/>
              </a:rPr>
              <a:t>因  特  网</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314A0E7-5DC7-49E2-8740-2E706FAE81E8}" type="slidenum">
              <a:rPr lang="en-US" altLang="zh-CN" sz="1400"/>
              <a:pPr eaLnBrk="1" hangingPunct="1"/>
              <a:t>10</a:t>
            </a:fld>
            <a:endParaRPr lang="en-US" altLang="zh-CN" sz="1400"/>
          </a:p>
        </p:txBody>
      </p:sp>
      <p:sp>
        <p:nvSpPr>
          <p:cNvPr id="12291" name="Rectangle 2"/>
          <p:cNvSpPr>
            <a:spLocks noGrp="1" noChangeArrowheads="1"/>
          </p:cNvSpPr>
          <p:nvPr>
            <p:ph type="title"/>
          </p:nvPr>
        </p:nvSpPr>
        <p:spPr>
          <a:xfrm>
            <a:off x="1387475" y="931863"/>
            <a:ext cx="6856413" cy="768350"/>
          </a:xfrm>
        </p:spPr>
        <p:txBody>
          <a:bodyPr/>
          <a:lstStyle/>
          <a:p>
            <a:pPr algn="ctr" eaLnBrk="1" hangingPunct="1"/>
            <a:r>
              <a:rPr lang="zh-CN" altLang="en-US" smtClean="0"/>
              <a:t>运输层的主要功能 </a:t>
            </a:r>
          </a:p>
        </p:txBody>
      </p:sp>
      <p:sp>
        <p:nvSpPr>
          <p:cNvPr id="435203" name="Rectangle 3"/>
          <p:cNvSpPr>
            <a:spLocks noGrp="1" noChangeArrowheads="1"/>
          </p:cNvSpPr>
          <p:nvPr>
            <p:ph type="body" idx="1"/>
          </p:nvPr>
        </p:nvSpPr>
        <p:spPr>
          <a:xfrm>
            <a:off x="1042988" y="1916113"/>
            <a:ext cx="7772400" cy="4465637"/>
          </a:xfrm>
        </p:spPr>
        <p:txBody>
          <a:bodyPr/>
          <a:lstStyle/>
          <a:p>
            <a:pPr algn="just" eaLnBrk="1" hangingPunct="1"/>
            <a:r>
              <a:rPr lang="zh-CN" altLang="en-US" sz="2800" smtClean="0"/>
              <a:t>运输层为</a:t>
            </a:r>
            <a:r>
              <a:rPr lang="zh-CN" altLang="en-US" sz="2800" smtClean="0">
                <a:solidFill>
                  <a:schemeClr val="hlink"/>
                </a:solidFill>
              </a:rPr>
              <a:t>应用进程之间</a:t>
            </a:r>
            <a:r>
              <a:rPr lang="zh-CN" altLang="en-US" sz="2800" smtClean="0"/>
              <a:t>提供</a:t>
            </a:r>
            <a:r>
              <a:rPr lang="zh-CN" altLang="en-US" sz="2800" smtClean="0">
                <a:solidFill>
                  <a:schemeClr val="hlink"/>
                </a:solidFill>
              </a:rPr>
              <a:t>端到端的</a:t>
            </a:r>
            <a:r>
              <a:rPr lang="zh-CN" altLang="en-US" sz="2800" smtClean="0"/>
              <a:t>逻辑通信（但网络层是为</a:t>
            </a:r>
            <a:r>
              <a:rPr lang="zh-CN" altLang="en-US" sz="2800" smtClean="0">
                <a:solidFill>
                  <a:schemeClr val="hlink"/>
                </a:solidFill>
              </a:rPr>
              <a:t>主机之间</a:t>
            </a:r>
            <a:r>
              <a:rPr lang="zh-CN" altLang="en-US" sz="2800" smtClean="0"/>
              <a:t>提供逻辑通信）。</a:t>
            </a:r>
          </a:p>
          <a:p>
            <a:pPr algn="just" eaLnBrk="1" hangingPunct="1"/>
            <a:r>
              <a:rPr lang="zh-CN" altLang="en-US" sz="2800" smtClean="0"/>
              <a:t>运输层还要对收到的报文进行差错检测。</a:t>
            </a:r>
          </a:p>
          <a:p>
            <a:pPr algn="just" eaLnBrk="1" hangingPunct="1"/>
            <a:r>
              <a:rPr lang="zh-CN" altLang="en-US" sz="2800" smtClean="0"/>
              <a:t>运输层需要有两种不同的运输协议，即面向连接的 </a:t>
            </a:r>
            <a:r>
              <a:rPr lang="en-US" altLang="zh-CN" sz="2800" smtClean="0"/>
              <a:t>TCP </a:t>
            </a:r>
            <a:r>
              <a:rPr lang="zh-CN" altLang="en-US" sz="2800" smtClean="0"/>
              <a:t>和无连接的 </a:t>
            </a:r>
            <a:r>
              <a:rPr lang="en-US" altLang="zh-CN" sz="2800" smtClean="0"/>
              <a:t>UDP</a:t>
            </a:r>
            <a:r>
              <a:rPr lang="zh-CN" altLang="en-US" sz="2800" smtClean="0"/>
              <a:t>。</a:t>
            </a:r>
            <a:r>
              <a:rPr lang="zh-CN" altLang="en-US" smtClean="0"/>
              <a:t>  </a:t>
            </a:r>
            <a:r>
              <a:rPr lang="zh-CN" alt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52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52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344FF90-A653-437A-8060-A088A02237D4}" type="slidenum">
              <a:rPr lang="en-US" altLang="zh-CN" sz="1400"/>
              <a:pPr eaLnBrk="1" hangingPunct="1"/>
              <a:t>11</a:t>
            </a:fld>
            <a:endParaRPr lang="en-US" altLang="zh-CN" sz="1400"/>
          </a:p>
        </p:txBody>
      </p:sp>
      <p:sp>
        <p:nvSpPr>
          <p:cNvPr id="13315" name="Rectangle 2"/>
          <p:cNvSpPr>
            <a:spLocks noGrp="1" noChangeArrowheads="1"/>
          </p:cNvSpPr>
          <p:nvPr>
            <p:ph type="title"/>
          </p:nvPr>
        </p:nvSpPr>
        <p:spPr/>
        <p:txBody>
          <a:bodyPr/>
          <a:lstStyle/>
          <a:p>
            <a:pPr algn="ctr" eaLnBrk="1" hangingPunct="1"/>
            <a:r>
              <a:rPr lang="zh-CN" altLang="en-US" sz="4000" smtClean="0"/>
              <a:t>两种不同的运输协议</a:t>
            </a:r>
          </a:p>
        </p:txBody>
      </p:sp>
      <p:sp>
        <p:nvSpPr>
          <p:cNvPr id="13316" name="Rectangle 3"/>
          <p:cNvSpPr>
            <a:spLocks noGrp="1" noChangeArrowheads="1"/>
          </p:cNvSpPr>
          <p:nvPr>
            <p:ph type="body" idx="1"/>
          </p:nvPr>
        </p:nvSpPr>
        <p:spPr>
          <a:xfrm>
            <a:off x="1042988" y="1773238"/>
            <a:ext cx="7772400" cy="4679950"/>
          </a:xfrm>
        </p:spPr>
        <p:txBody>
          <a:bodyPr/>
          <a:lstStyle/>
          <a:p>
            <a:pPr eaLnBrk="1" hangingPunct="1"/>
            <a:r>
              <a:rPr lang="zh-CN" altLang="en-US" sz="2800" smtClean="0"/>
              <a:t>运输层向高层用户</a:t>
            </a:r>
            <a:r>
              <a:rPr lang="zh-CN" altLang="en-US" sz="2800" smtClean="0">
                <a:solidFill>
                  <a:schemeClr val="hlink"/>
                </a:solidFill>
              </a:rPr>
              <a:t>屏蔽</a:t>
            </a:r>
            <a:r>
              <a:rPr lang="zh-CN" altLang="en-US" sz="2800" smtClean="0"/>
              <a:t>了下面网络核心的细节（如网络拓扑、所采用的路由选择协议等），它使应用进程看见的就是好像在两个运输层实体之间有一条端到端的逻辑通信信道。</a:t>
            </a:r>
          </a:p>
          <a:p>
            <a:pPr eaLnBrk="1" hangingPunct="1"/>
            <a:r>
              <a:rPr lang="zh-CN" altLang="en-US" sz="2800" smtClean="0"/>
              <a:t>当运输层采用面向连接的 </a:t>
            </a:r>
            <a:r>
              <a:rPr lang="en-US" altLang="zh-CN" sz="2800" smtClean="0"/>
              <a:t>TCP </a:t>
            </a:r>
            <a:r>
              <a:rPr lang="zh-CN" altLang="en-US" sz="2800" smtClean="0"/>
              <a:t>协议时，尽管下面的网络是不可靠的（只提供尽最大努力服务），但这种逻辑通信信道就相当于一条全双工的</a:t>
            </a:r>
            <a:r>
              <a:rPr lang="zh-CN" altLang="en-US" sz="2800" smtClean="0">
                <a:solidFill>
                  <a:schemeClr val="hlink"/>
                </a:solidFill>
              </a:rPr>
              <a:t>可靠信道</a:t>
            </a:r>
            <a:r>
              <a:rPr lang="zh-CN" altLang="en-US" sz="2800" smtClean="0"/>
              <a:t>。</a:t>
            </a:r>
          </a:p>
          <a:p>
            <a:pPr eaLnBrk="1" hangingPunct="1"/>
            <a:r>
              <a:rPr lang="zh-CN" altLang="en-US" sz="2800" smtClean="0"/>
              <a:t>当运输层采用无连接的 </a:t>
            </a:r>
            <a:r>
              <a:rPr lang="en-US" altLang="zh-CN" sz="2800" smtClean="0"/>
              <a:t>UDP</a:t>
            </a:r>
            <a:r>
              <a:rPr lang="en-US" altLang="zh-CN" sz="2800" b="1" smtClean="0"/>
              <a:t> </a:t>
            </a:r>
            <a:r>
              <a:rPr lang="zh-CN" altLang="en-US" sz="2800" smtClean="0"/>
              <a:t>协议时，这种逻辑通信信道是一条</a:t>
            </a:r>
            <a:r>
              <a:rPr lang="zh-CN" altLang="en-US" sz="2800" smtClean="0">
                <a:solidFill>
                  <a:schemeClr val="hlink"/>
                </a:solidFill>
              </a:rPr>
              <a:t>不可靠信道</a:t>
            </a:r>
            <a:r>
              <a:rPr lang="zh-CN" altLang="en-US" sz="2800" smtClean="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296C8B5-F46A-4811-AC14-B8230DB46B57}" type="slidenum">
              <a:rPr lang="en-US" altLang="zh-CN" sz="1400"/>
              <a:pPr eaLnBrk="1" hangingPunct="1"/>
              <a:t>12</a:t>
            </a:fld>
            <a:endParaRPr lang="en-US" altLang="zh-CN" sz="1400"/>
          </a:p>
        </p:txBody>
      </p:sp>
      <p:sp>
        <p:nvSpPr>
          <p:cNvPr id="14339" name="Rectangle 3"/>
          <p:cNvSpPr>
            <a:spLocks noGrp="1" noChangeArrowheads="1"/>
          </p:cNvSpPr>
          <p:nvPr>
            <p:ph type="body" idx="1"/>
          </p:nvPr>
        </p:nvSpPr>
        <p:spPr>
          <a:xfrm>
            <a:off x="1042988" y="1916113"/>
            <a:ext cx="7772400" cy="4537075"/>
          </a:xfrm>
        </p:spPr>
        <p:txBody>
          <a:bodyPr/>
          <a:lstStyle/>
          <a:p>
            <a:pPr eaLnBrk="1" hangingPunct="1">
              <a:lnSpc>
                <a:spcPct val="90000"/>
              </a:lnSpc>
              <a:buFont typeface="Wingdings" pitchFamily="2" charset="2"/>
              <a:buNone/>
            </a:pPr>
            <a:r>
              <a:rPr lang="en-US" altLang="zh-CN" sz="3600" smtClean="0"/>
              <a:t>TCP/IP </a:t>
            </a:r>
            <a:r>
              <a:rPr lang="zh-CN" altLang="en-US" sz="3600" smtClean="0"/>
              <a:t>的运输层有两个不同的协议：</a:t>
            </a:r>
          </a:p>
          <a:p>
            <a:pPr eaLnBrk="1" hangingPunct="1">
              <a:lnSpc>
                <a:spcPct val="90000"/>
              </a:lnSpc>
              <a:buFont typeface="Wingdings" pitchFamily="2" charset="2"/>
              <a:buNone/>
            </a:pPr>
            <a:r>
              <a:rPr lang="en-US" altLang="zh-CN" sz="3600" smtClean="0"/>
              <a:t>(1) </a:t>
            </a:r>
            <a:r>
              <a:rPr lang="zh-CN" altLang="en-US" sz="3600" smtClean="0"/>
              <a:t>用户数据报协议 </a:t>
            </a:r>
            <a:r>
              <a:rPr lang="en-US" altLang="zh-CN" sz="3600" smtClean="0"/>
              <a:t>UDP             	(User Datagram Protocol)</a:t>
            </a:r>
          </a:p>
          <a:p>
            <a:pPr eaLnBrk="1" hangingPunct="1">
              <a:lnSpc>
                <a:spcPct val="90000"/>
              </a:lnSpc>
              <a:buFont typeface="Wingdings" pitchFamily="2" charset="2"/>
              <a:buNone/>
            </a:pPr>
            <a:r>
              <a:rPr lang="en-US" altLang="zh-CN" sz="3600" smtClean="0"/>
              <a:t>(2) </a:t>
            </a:r>
            <a:r>
              <a:rPr lang="zh-CN" altLang="en-US" sz="3600" smtClean="0"/>
              <a:t>传输控制协议 </a:t>
            </a:r>
            <a:r>
              <a:rPr lang="en-US" altLang="zh-CN" sz="3600" smtClean="0"/>
              <a:t>TCP     	(Transmission Control Protocol)</a:t>
            </a:r>
          </a:p>
        </p:txBody>
      </p:sp>
      <p:sp>
        <p:nvSpPr>
          <p:cNvPr id="14340" name="Rectangle 2"/>
          <p:cNvSpPr>
            <a:spLocks noGrp="1" noChangeArrowheads="1"/>
          </p:cNvSpPr>
          <p:nvPr>
            <p:ph type="title"/>
          </p:nvPr>
        </p:nvSpPr>
        <p:spPr/>
        <p:txBody>
          <a:bodyPr/>
          <a:lstStyle/>
          <a:p>
            <a:pPr algn="ctr" eaLnBrk="1" hangingPunct="1"/>
            <a:r>
              <a:rPr lang="en-US" altLang="zh-CN" smtClean="0"/>
              <a:t>5.1.2 </a:t>
            </a:r>
            <a:r>
              <a:rPr lang="zh-CN" altLang="en-US" smtClean="0"/>
              <a:t>运输层的两个主要协议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BC37ADE-DA86-48E3-B800-A2A0F668781C}" type="slidenum">
              <a:rPr lang="en-US" altLang="zh-CN" sz="1400"/>
              <a:pPr eaLnBrk="1" hangingPunct="1"/>
              <a:t>13</a:t>
            </a:fld>
            <a:endParaRPr lang="en-US" altLang="zh-CN" sz="1400"/>
          </a:p>
        </p:txBody>
      </p:sp>
      <p:sp>
        <p:nvSpPr>
          <p:cNvPr id="351234" name="Rectangle 2"/>
          <p:cNvSpPr>
            <a:spLocks noGrp="1" noChangeArrowheads="1"/>
          </p:cNvSpPr>
          <p:nvPr>
            <p:ph type="body" idx="1"/>
          </p:nvPr>
        </p:nvSpPr>
        <p:spPr>
          <a:xfrm>
            <a:off x="468313" y="2132013"/>
            <a:ext cx="8207375" cy="4321175"/>
          </a:xfrm>
        </p:spPr>
        <p:txBody>
          <a:bodyPr/>
          <a:lstStyle/>
          <a:p>
            <a:pPr eaLnBrk="1" hangingPunct="1">
              <a:lnSpc>
                <a:spcPct val="120000"/>
              </a:lnSpc>
            </a:pPr>
            <a:r>
              <a:rPr lang="zh-CN" altLang="en-US" sz="2800" smtClean="0"/>
              <a:t>两个对等运输实体在通信时传送的数据单位叫作</a:t>
            </a:r>
            <a:r>
              <a:rPr lang="zh-CN" altLang="en-US" sz="2800" smtClean="0">
                <a:solidFill>
                  <a:srgbClr val="FF0000"/>
                </a:solidFill>
              </a:rPr>
              <a:t>运输协议数据单元</a:t>
            </a:r>
            <a:r>
              <a:rPr lang="zh-CN" altLang="en-US" sz="2800" smtClean="0"/>
              <a:t> </a:t>
            </a:r>
            <a:r>
              <a:rPr lang="en-US" altLang="zh-CN" sz="2800" smtClean="0"/>
              <a:t>TPDU (Transport Protocol Data Unit)</a:t>
            </a:r>
            <a:r>
              <a:rPr lang="zh-CN" altLang="en-US" sz="2800" smtClean="0"/>
              <a:t>。</a:t>
            </a:r>
          </a:p>
          <a:p>
            <a:pPr eaLnBrk="1" hangingPunct="1">
              <a:lnSpc>
                <a:spcPct val="120000"/>
              </a:lnSpc>
            </a:pPr>
            <a:r>
              <a:rPr lang="en-US" altLang="zh-CN" sz="2800" smtClean="0"/>
              <a:t>TCP </a:t>
            </a:r>
            <a:r>
              <a:rPr lang="zh-CN" altLang="en-US" sz="2800" smtClean="0"/>
              <a:t>传送的数据单位协议是 </a:t>
            </a:r>
            <a:r>
              <a:rPr lang="en-US" altLang="zh-CN" sz="2800" smtClean="0">
                <a:solidFill>
                  <a:srgbClr val="FF0000"/>
                </a:solidFill>
              </a:rPr>
              <a:t>TCP </a:t>
            </a:r>
            <a:r>
              <a:rPr lang="zh-CN" altLang="en-US" sz="2800" smtClean="0">
                <a:solidFill>
                  <a:srgbClr val="FF0000"/>
                </a:solidFill>
              </a:rPr>
              <a:t>报文段</a:t>
            </a:r>
            <a:r>
              <a:rPr lang="en-US" altLang="zh-CN" sz="2800" smtClean="0"/>
              <a:t>(segment)</a:t>
            </a:r>
          </a:p>
          <a:p>
            <a:pPr eaLnBrk="1" hangingPunct="1">
              <a:lnSpc>
                <a:spcPct val="120000"/>
              </a:lnSpc>
            </a:pPr>
            <a:r>
              <a:rPr lang="en-US" altLang="zh-CN" sz="2800" smtClean="0"/>
              <a:t> UDP </a:t>
            </a:r>
            <a:r>
              <a:rPr lang="zh-CN" altLang="en-US" sz="2800" smtClean="0"/>
              <a:t>传送的数据单位协议是 </a:t>
            </a:r>
            <a:r>
              <a:rPr lang="en-US" altLang="zh-CN" sz="2800" smtClean="0">
                <a:solidFill>
                  <a:srgbClr val="FF0000"/>
                </a:solidFill>
              </a:rPr>
              <a:t>UDP </a:t>
            </a:r>
            <a:r>
              <a:rPr lang="zh-CN" altLang="en-US" sz="2800" smtClean="0">
                <a:solidFill>
                  <a:srgbClr val="FF0000"/>
                </a:solidFill>
              </a:rPr>
              <a:t>报文</a:t>
            </a:r>
            <a:r>
              <a:rPr lang="zh-CN" altLang="en-US" sz="2800" smtClean="0"/>
              <a:t>或</a:t>
            </a:r>
            <a:r>
              <a:rPr lang="zh-CN" altLang="en-US" sz="2800" smtClean="0">
                <a:solidFill>
                  <a:srgbClr val="FF0000"/>
                </a:solidFill>
              </a:rPr>
              <a:t>用户数据报</a:t>
            </a:r>
            <a:r>
              <a:rPr lang="zh-CN" altLang="en-US" sz="2800" smtClean="0"/>
              <a:t>。 </a:t>
            </a:r>
          </a:p>
        </p:txBody>
      </p:sp>
      <p:sp>
        <p:nvSpPr>
          <p:cNvPr id="15364" name="Rectangle 3"/>
          <p:cNvSpPr>
            <a:spLocks noGrp="1" noChangeArrowheads="1"/>
          </p:cNvSpPr>
          <p:nvPr>
            <p:ph type="title"/>
          </p:nvPr>
        </p:nvSpPr>
        <p:spPr/>
        <p:txBody>
          <a:bodyPr/>
          <a:lstStyle/>
          <a:p>
            <a:pPr algn="ctr" eaLnBrk="1" hangingPunct="1"/>
            <a:r>
              <a:rPr lang="en-US" altLang="zh-CN" smtClean="0"/>
              <a:t>TCP </a:t>
            </a:r>
            <a:r>
              <a:rPr lang="zh-CN" altLang="en-US" smtClean="0"/>
              <a:t>与 </a:t>
            </a:r>
            <a:r>
              <a:rPr lang="en-US" altLang="zh-CN" smtClean="0"/>
              <a:t>UDP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58FBBE7-4ED1-48F8-AC98-C7F90814D669}" type="slidenum">
              <a:rPr lang="en-US" altLang="zh-CN" sz="1400"/>
              <a:pPr eaLnBrk="1" hangingPunct="1"/>
              <a:t>14</a:t>
            </a:fld>
            <a:endParaRPr lang="en-US" altLang="zh-CN" sz="1400"/>
          </a:p>
        </p:txBody>
      </p:sp>
      <p:sp>
        <p:nvSpPr>
          <p:cNvPr id="16387" name="Rectangle 3"/>
          <p:cNvSpPr>
            <a:spLocks noGrp="1" noChangeArrowheads="1"/>
          </p:cNvSpPr>
          <p:nvPr>
            <p:ph type="title"/>
          </p:nvPr>
        </p:nvSpPr>
        <p:spPr/>
        <p:txBody>
          <a:bodyPr/>
          <a:lstStyle/>
          <a:p>
            <a:pPr algn="ctr" eaLnBrk="1" hangingPunct="1"/>
            <a:r>
              <a:rPr lang="en-US" altLang="zh-CN" smtClean="0"/>
              <a:t>TCP/IP </a:t>
            </a:r>
            <a:r>
              <a:rPr lang="zh-CN" altLang="en-US" smtClean="0"/>
              <a:t>体系中的运输层协议 </a:t>
            </a:r>
          </a:p>
        </p:txBody>
      </p:sp>
      <p:sp>
        <p:nvSpPr>
          <p:cNvPr id="16388" name="Rectangle 5"/>
          <p:cNvSpPr>
            <a:spLocks noChangeArrowheads="1"/>
          </p:cNvSpPr>
          <p:nvPr/>
        </p:nvSpPr>
        <p:spPr bwMode="auto">
          <a:xfrm>
            <a:off x="3057525" y="2197100"/>
            <a:ext cx="3021013" cy="2417763"/>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89" name="Line 6"/>
          <p:cNvSpPr>
            <a:spLocks noChangeShapeType="1"/>
          </p:cNvSpPr>
          <p:nvPr/>
        </p:nvSpPr>
        <p:spPr bwMode="auto">
          <a:xfrm>
            <a:off x="3055938" y="2706688"/>
            <a:ext cx="301783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0" name="Line 7"/>
          <p:cNvSpPr>
            <a:spLocks noChangeShapeType="1"/>
          </p:cNvSpPr>
          <p:nvPr/>
        </p:nvSpPr>
        <p:spPr bwMode="auto">
          <a:xfrm>
            <a:off x="3055938" y="3225800"/>
            <a:ext cx="30289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1" name="Rectangle 8"/>
          <p:cNvSpPr>
            <a:spLocks noChangeArrowheads="1"/>
          </p:cNvSpPr>
          <p:nvPr/>
        </p:nvSpPr>
        <p:spPr bwMode="auto">
          <a:xfrm>
            <a:off x="3081338" y="2224088"/>
            <a:ext cx="2986087" cy="461962"/>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2" name="Rectangle 9"/>
          <p:cNvSpPr>
            <a:spLocks noChangeArrowheads="1"/>
          </p:cNvSpPr>
          <p:nvPr/>
        </p:nvSpPr>
        <p:spPr bwMode="auto">
          <a:xfrm>
            <a:off x="3081338" y="3244850"/>
            <a:ext cx="2978150" cy="1346200"/>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Line 10"/>
          <p:cNvSpPr>
            <a:spLocks noChangeShapeType="1"/>
          </p:cNvSpPr>
          <p:nvPr/>
        </p:nvSpPr>
        <p:spPr bwMode="auto">
          <a:xfrm>
            <a:off x="4554538" y="2711450"/>
            <a:ext cx="0" cy="50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1"/>
          <p:cNvSpPr>
            <a:spLocks noChangeArrowheads="1"/>
          </p:cNvSpPr>
          <p:nvPr/>
        </p:nvSpPr>
        <p:spPr bwMode="auto">
          <a:xfrm>
            <a:off x="4859338" y="2708275"/>
            <a:ext cx="892175"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TCP</a:t>
            </a:r>
          </a:p>
        </p:txBody>
      </p:sp>
      <p:sp>
        <p:nvSpPr>
          <p:cNvPr id="16395" name="Rectangle 12"/>
          <p:cNvSpPr>
            <a:spLocks noChangeArrowheads="1"/>
          </p:cNvSpPr>
          <p:nvPr/>
        </p:nvSpPr>
        <p:spPr bwMode="auto">
          <a:xfrm>
            <a:off x="3348038" y="2708275"/>
            <a:ext cx="931862"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a:solidFill>
                  <a:srgbClr val="333399"/>
                </a:solidFill>
                <a:latin typeface="Arial" pitchFamily="34" charset="0"/>
                <a:ea typeface="黑体" pitchFamily="49" charset="-122"/>
              </a:rPr>
              <a:t>UDP</a:t>
            </a:r>
          </a:p>
        </p:txBody>
      </p:sp>
      <p:sp>
        <p:nvSpPr>
          <p:cNvPr id="16396" name="Rectangle 15"/>
          <p:cNvSpPr>
            <a:spLocks noChangeArrowheads="1"/>
          </p:cNvSpPr>
          <p:nvPr/>
        </p:nvSpPr>
        <p:spPr bwMode="auto">
          <a:xfrm>
            <a:off x="4316413" y="3260725"/>
            <a:ext cx="420687" cy="393700"/>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rgbClr val="333399"/>
                </a:solidFill>
                <a:latin typeface="Arial" pitchFamily="34" charset="0"/>
                <a:ea typeface="黑体" pitchFamily="49" charset="-122"/>
              </a:rPr>
              <a:t>IP</a:t>
            </a:r>
          </a:p>
        </p:txBody>
      </p:sp>
      <p:sp>
        <p:nvSpPr>
          <p:cNvPr id="16397" name="Rectangle 18"/>
          <p:cNvSpPr>
            <a:spLocks noChangeArrowheads="1"/>
          </p:cNvSpPr>
          <p:nvPr/>
        </p:nvSpPr>
        <p:spPr bwMode="auto">
          <a:xfrm>
            <a:off x="4067175" y="2276475"/>
            <a:ext cx="944563" cy="3952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应用层</a:t>
            </a:r>
          </a:p>
        </p:txBody>
      </p:sp>
      <p:sp>
        <p:nvSpPr>
          <p:cNvPr id="16398" name="Rectangle 19"/>
          <p:cNvSpPr>
            <a:spLocks noChangeArrowheads="1"/>
          </p:cNvSpPr>
          <p:nvPr/>
        </p:nvSpPr>
        <p:spPr bwMode="auto">
          <a:xfrm>
            <a:off x="3494088" y="3932238"/>
            <a:ext cx="23034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与各种网络接口</a:t>
            </a:r>
          </a:p>
        </p:txBody>
      </p:sp>
      <p:sp>
        <p:nvSpPr>
          <p:cNvPr id="16399" name="Line 20"/>
          <p:cNvSpPr>
            <a:spLocks noChangeShapeType="1"/>
          </p:cNvSpPr>
          <p:nvPr/>
        </p:nvSpPr>
        <p:spPr bwMode="auto">
          <a:xfrm>
            <a:off x="3055938" y="3725863"/>
            <a:ext cx="301783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0" name="Text Box 22"/>
          <p:cNvSpPr txBox="1">
            <a:spLocks noChangeArrowheads="1"/>
          </p:cNvSpPr>
          <p:nvPr/>
        </p:nvSpPr>
        <p:spPr bwMode="auto">
          <a:xfrm>
            <a:off x="1692275" y="2708275"/>
            <a:ext cx="1250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ea typeface="黑体" pitchFamily="49" charset="-122"/>
              </a:rPr>
              <a:t>运输层</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FE394CE-6637-4D7E-BED1-7490181823DA}" type="slidenum">
              <a:rPr lang="en-US" altLang="zh-CN" sz="1400"/>
              <a:pPr eaLnBrk="1" hangingPunct="1"/>
              <a:t>15</a:t>
            </a:fld>
            <a:endParaRPr lang="en-US" altLang="zh-CN" sz="1400"/>
          </a:p>
        </p:txBody>
      </p:sp>
      <p:sp>
        <p:nvSpPr>
          <p:cNvPr id="17411" name="Rectangle 3"/>
          <p:cNvSpPr>
            <a:spLocks noGrp="1" noChangeArrowheads="1"/>
          </p:cNvSpPr>
          <p:nvPr>
            <p:ph type="title"/>
          </p:nvPr>
        </p:nvSpPr>
        <p:spPr/>
        <p:txBody>
          <a:bodyPr/>
          <a:lstStyle/>
          <a:p>
            <a:pPr algn="ctr" eaLnBrk="1" hangingPunct="1"/>
            <a:r>
              <a:rPr lang="en-US" altLang="zh-CN" smtClean="0"/>
              <a:t>TCP </a:t>
            </a:r>
            <a:r>
              <a:rPr lang="zh-CN" altLang="en-US" smtClean="0"/>
              <a:t>与 </a:t>
            </a:r>
            <a:r>
              <a:rPr lang="en-US" altLang="zh-CN" smtClean="0"/>
              <a:t>UDP </a:t>
            </a:r>
          </a:p>
        </p:txBody>
      </p:sp>
      <p:sp>
        <p:nvSpPr>
          <p:cNvPr id="353295" name="Rectangle 15"/>
          <p:cNvSpPr>
            <a:spLocks noGrp="1" noChangeArrowheads="1"/>
          </p:cNvSpPr>
          <p:nvPr>
            <p:ph type="body" idx="1"/>
          </p:nvPr>
        </p:nvSpPr>
        <p:spPr>
          <a:xfrm>
            <a:off x="1042988" y="1844675"/>
            <a:ext cx="7772400" cy="4679950"/>
          </a:xfrm>
        </p:spPr>
        <p:txBody>
          <a:bodyPr/>
          <a:lstStyle/>
          <a:p>
            <a:pPr algn="just" eaLnBrk="1" hangingPunct="1">
              <a:lnSpc>
                <a:spcPct val="105000"/>
              </a:lnSpc>
            </a:pPr>
            <a:r>
              <a:rPr lang="en-US" altLang="zh-CN" sz="2800" smtClean="0"/>
              <a:t>UDP </a:t>
            </a:r>
            <a:r>
              <a:rPr lang="zh-CN" altLang="en-US" sz="2800" smtClean="0"/>
              <a:t>在传送数据之前不需要先建立连接。对方的运输层在收到 </a:t>
            </a:r>
            <a:r>
              <a:rPr lang="en-US" altLang="zh-CN" sz="2800" smtClean="0"/>
              <a:t>UDP </a:t>
            </a:r>
            <a:r>
              <a:rPr lang="zh-CN" altLang="en-US" sz="2800" smtClean="0"/>
              <a:t>报文后，不需要给出任何确认。虽然 </a:t>
            </a:r>
            <a:r>
              <a:rPr lang="en-US" altLang="zh-CN" sz="2800" smtClean="0"/>
              <a:t>UDP </a:t>
            </a:r>
            <a:r>
              <a:rPr lang="zh-CN" altLang="en-US" sz="2800" smtClean="0"/>
              <a:t>不提供可靠交付，但在某些情况下 </a:t>
            </a:r>
            <a:r>
              <a:rPr lang="en-US" altLang="zh-CN" sz="2800" smtClean="0"/>
              <a:t>UDP </a:t>
            </a:r>
            <a:r>
              <a:rPr lang="zh-CN" altLang="en-US" sz="2800" smtClean="0"/>
              <a:t>是一种最有效的工作方式。（视频）</a:t>
            </a:r>
          </a:p>
          <a:p>
            <a:pPr algn="just" eaLnBrk="1" hangingPunct="1">
              <a:lnSpc>
                <a:spcPct val="105000"/>
              </a:lnSpc>
            </a:pPr>
            <a:r>
              <a:rPr lang="en-US" altLang="zh-CN" sz="2800" smtClean="0"/>
              <a:t>TCP </a:t>
            </a:r>
            <a:r>
              <a:rPr lang="zh-CN" altLang="en-US" sz="2800" smtClean="0"/>
              <a:t>则提供面向连接的服务。</a:t>
            </a:r>
            <a:r>
              <a:rPr lang="en-US" altLang="zh-CN" sz="2800" smtClean="0"/>
              <a:t>TCP </a:t>
            </a:r>
            <a:r>
              <a:rPr lang="zh-CN" altLang="en-US" sz="2800" smtClean="0"/>
              <a:t>不提供广播或多播服务。由于 </a:t>
            </a:r>
            <a:r>
              <a:rPr lang="en-US" altLang="zh-CN" sz="2800" smtClean="0"/>
              <a:t>TCP </a:t>
            </a:r>
            <a:r>
              <a:rPr lang="zh-CN" altLang="en-US" sz="2800" smtClean="0"/>
              <a:t>要提供可靠的、面向连接的运输服务，因此不可避免地增加了许多的开销。这不仅使协议数据单元的首部增大很多，还要占用许多的处理机资源。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32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6098547-626E-4F60-9655-98A7E7C79D5B}" type="slidenum">
              <a:rPr lang="en-US" altLang="zh-CN" sz="1400"/>
              <a:pPr eaLnBrk="1" hangingPunct="1"/>
              <a:t>16</a:t>
            </a:fld>
            <a:endParaRPr lang="en-US" altLang="zh-CN" sz="1400"/>
          </a:p>
        </p:txBody>
      </p:sp>
      <p:sp>
        <p:nvSpPr>
          <p:cNvPr id="18435" name="Rectangle 2"/>
          <p:cNvSpPr>
            <a:spLocks noGrp="1" noChangeArrowheads="1"/>
          </p:cNvSpPr>
          <p:nvPr>
            <p:ph type="title"/>
          </p:nvPr>
        </p:nvSpPr>
        <p:spPr/>
        <p:txBody>
          <a:bodyPr/>
          <a:lstStyle/>
          <a:p>
            <a:pPr algn="ctr" eaLnBrk="1" hangingPunct="1"/>
            <a:r>
              <a:rPr lang="zh-CN" altLang="en-US" smtClean="0"/>
              <a:t>还要强调两点 </a:t>
            </a:r>
          </a:p>
        </p:txBody>
      </p:sp>
      <p:sp>
        <p:nvSpPr>
          <p:cNvPr id="355339" name="Rectangle 11"/>
          <p:cNvSpPr>
            <a:spLocks noGrp="1" noChangeArrowheads="1"/>
          </p:cNvSpPr>
          <p:nvPr>
            <p:ph type="body" idx="1"/>
          </p:nvPr>
        </p:nvSpPr>
        <p:spPr>
          <a:xfrm>
            <a:off x="1042988" y="1906588"/>
            <a:ext cx="7772400" cy="4475162"/>
          </a:xfrm>
        </p:spPr>
        <p:txBody>
          <a:bodyPr/>
          <a:lstStyle/>
          <a:p>
            <a:pPr algn="just" eaLnBrk="1" hangingPunct="1">
              <a:lnSpc>
                <a:spcPct val="110000"/>
              </a:lnSpc>
            </a:pPr>
            <a:r>
              <a:rPr lang="zh-CN" altLang="en-US" sz="2800" smtClean="0"/>
              <a:t>运输层的</a:t>
            </a:r>
            <a:r>
              <a:rPr lang="zh-CN" altLang="en-US" sz="1400" smtClean="0"/>
              <a:t> </a:t>
            </a:r>
            <a:r>
              <a:rPr lang="en-US" altLang="zh-CN" sz="2800" smtClean="0"/>
              <a:t>UDP</a:t>
            </a:r>
            <a:r>
              <a:rPr lang="en-US" altLang="zh-CN" sz="700" smtClean="0"/>
              <a:t> </a:t>
            </a:r>
            <a:r>
              <a:rPr lang="zh-CN" altLang="en-US" sz="2800" smtClean="0"/>
              <a:t>用户数据报与网际层的</a:t>
            </a:r>
            <a:r>
              <a:rPr lang="en-US" altLang="zh-CN" sz="2800" smtClean="0"/>
              <a:t>IP</a:t>
            </a:r>
            <a:r>
              <a:rPr lang="zh-CN" altLang="en-US" sz="2800" smtClean="0"/>
              <a:t>数据报有很大区别。</a:t>
            </a:r>
            <a:r>
              <a:rPr lang="en-US" altLang="zh-CN" sz="2800" smtClean="0"/>
              <a:t>IP</a:t>
            </a:r>
            <a:r>
              <a:rPr lang="en-US" altLang="zh-CN" sz="700" smtClean="0"/>
              <a:t> </a:t>
            </a:r>
            <a:r>
              <a:rPr lang="zh-CN" altLang="en-US" sz="2800" smtClean="0"/>
              <a:t>数据报要经过互连网中许多路由器的存储转发，但</a:t>
            </a:r>
            <a:r>
              <a:rPr lang="zh-CN" altLang="en-US" sz="900" smtClean="0"/>
              <a:t> </a:t>
            </a:r>
            <a:r>
              <a:rPr lang="en-US" altLang="zh-CN" sz="2800" smtClean="0"/>
              <a:t>UDP</a:t>
            </a:r>
            <a:r>
              <a:rPr lang="en-US" altLang="zh-CN" sz="1000" smtClean="0"/>
              <a:t> </a:t>
            </a:r>
            <a:r>
              <a:rPr lang="zh-CN" altLang="en-US" sz="2800" smtClean="0"/>
              <a:t>用户数据报是在运输层的端到端抽象的逻辑信道中传送的。</a:t>
            </a:r>
          </a:p>
          <a:p>
            <a:pPr algn="just" eaLnBrk="1" hangingPunct="1">
              <a:lnSpc>
                <a:spcPct val="110000"/>
              </a:lnSpc>
            </a:pPr>
            <a:r>
              <a:rPr lang="en-US" altLang="zh-CN" sz="2800" smtClean="0"/>
              <a:t>TCP</a:t>
            </a:r>
            <a:r>
              <a:rPr lang="en-US" altLang="zh-CN" sz="1600" smtClean="0"/>
              <a:t> </a:t>
            </a:r>
            <a:r>
              <a:rPr lang="zh-CN" altLang="en-US" sz="2800" smtClean="0"/>
              <a:t>报文段是在运输层抽象的端到端逻辑信道中传送，这种信道是可靠的全双工信道。但这样的信道却不知道究竟经过了哪些路由器，而这些路由器也根本不知道上面的运输层是否建立了 </a:t>
            </a:r>
            <a:r>
              <a:rPr lang="en-US" altLang="zh-CN" sz="2800" smtClean="0"/>
              <a:t>TCP </a:t>
            </a:r>
            <a:r>
              <a:rPr lang="zh-CN" altLang="en-US" sz="2800" smtClean="0"/>
              <a:t>连接。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5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9E57C7D-AB29-472F-8BBC-204B633FBFCB}" type="slidenum">
              <a:rPr lang="en-US" altLang="zh-CN" sz="1400"/>
              <a:pPr eaLnBrk="1" hangingPunct="1"/>
              <a:t>17</a:t>
            </a:fld>
            <a:endParaRPr lang="en-US" altLang="zh-CN" sz="1400"/>
          </a:p>
        </p:txBody>
      </p:sp>
      <p:sp>
        <p:nvSpPr>
          <p:cNvPr id="19459" name="Rectangle 2"/>
          <p:cNvSpPr>
            <a:spLocks noGrp="1" noChangeArrowheads="1"/>
          </p:cNvSpPr>
          <p:nvPr>
            <p:ph type="title"/>
          </p:nvPr>
        </p:nvSpPr>
        <p:spPr/>
        <p:txBody>
          <a:bodyPr/>
          <a:lstStyle/>
          <a:p>
            <a:pPr algn="ctr" eaLnBrk="1" hangingPunct="1"/>
            <a:r>
              <a:rPr lang="en-US" altLang="zh-CN" smtClean="0"/>
              <a:t>5.1.3  </a:t>
            </a:r>
            <a:r>
              <a:rPr lang="zh-CN" altLang="en-US" smtClean="0"/>
              <a:t>运输层的端口 </a:t>
            </a:r>
          </a:p>
        </p:txBody>
      </p:sp>
      <p:sp>
        <p:nvSpPr>
          <p:cNvPr id="19460" name="Rectangle 3"/>
          <p:cNvSpPr>
            <a:spLocks noGrp="1" noChangeArrowheads="1"/>
          </p:cNvSpPr>
          <p:nvPr>
            <p:ph type="body" idx="1"/>
          </p:nvPr>
        </p:nvSpPr>
        <p:spPr>
          <a:xfrm>
            <a:off x="468313" y="1916113"/>
            <a:ext cx="8604250" cy="4752975"/>
          </a:xfrm>
        </p:spPr>
        <p:txBody>
          <a:bodyPr/>
          <a:lstStyle/>
          <a:p>
            <a:pPr eaLnBrk="1" hangingPunct="1"/>
            <a:r>
              <a:rPr lang="zh-CN" altLang="en-US" sz="2800" smtClean="0"/>
              <a:t>运行在计算机中的进程是用</a:t>
            </a:r>
            <a:r>
              <a:rPr lang="zh-CN" altLang="en-US" sz="2800" smtClean="0">
                <a:solidFill>
                  <a:schemeClr val="hlink"/>
                </a:solidFill>
              </a:rPr>
              <a:t>进程标识符</a:t>
            </a:r>
            <a:r>
              <a:rPr lang="zh-CN" altLang="en-US" sz="2800" smtClean="0"/>
              <a:t>来标志的。</a:t>
            </a:r>
          </a:p>
          <a:p>
            <a:pPr eaLnBrk="1" hangingPunct="1"/>
            <a:r>
              <a:rPr lang="zh-CN" altLang="en-US" sz="2800" smtClean="0"/>
              <a:t>运行在应用层的各种应用进程却不应当让计算机操作系统指派它的进程标识符。这是因为在因特网上使用的计算机的操作系统种类很多，而不同的操作系统又使用不同格式的进程标识符。</a:t>
            </a:r>
          </a:p>
          <a:p>
            <a:pPr eaLnBrk="1" hangingPunct="1"/>
            <a:r>
              <a:rPr lang="zh-CN" altLang="en-US" sz="2800" smtClean="0"/>
              <a:t>为了使运行不同操作系统的计算机的应用进程能够互相通信，就</a:t>
            </a:r>
            <a:r>
              <a:rPr lang="zh-CN" altLang="en-US" sz="2800" smtClean="0">
                <a:solidFill>
                  <a:schemeClr val="hlink"/>
                </a:solidFill>
              </a:rPr>
              <a:t>必须用统一的方法</a:t>
            </a:r>
            <a:r>
              <a:rPr lang="zh-CN" altLang="en-US" sz="2800" smtClean="0"/>
              <a:t>对 </a:t>
            </a:r>
            <a:r>
              <a:rPr lang="en-US" altLang="zh-CN" sz="2800" smtClean="0"/>
              <a:t>TCP/IP </a:t>
            </a:r>
            <a:r>
              <a:rPr lang="zh-CN" altLang="en-US" sz="2800" smtClean="0"/>
              <a:t>体系的应用进程进行标志。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243C69D-B30D-4C22-B796-75B86E9C424A}" type="slidenum">
              <a:rPr lang="en-US" altLang="zh-CN" sz="1400"/>
              <a:pPr eaLnBrk="1" hangingPunct="1"/>
              <a:t>18</a:t>
            </a:fld>
            <a:endParaRPr lang="en-US" altLang="zh-CN" sz="1400"/>
          </a:p>
        </p:txBody>
      </p:sp>
      <p:sp>
        <p:nvSpPr>
          <p:cNvPr id="20483" name="Rectangle 2"/>
          <p:cNvSpPr>
            <a:spLocks noGrp="1" noChangeArrowheads="1"/>
          </p:cNvSpPr>
          <p:nvPr>
            <p:ph type="title"/>
          </p:nvPr>
        </p:nvSpPr>
        <p:spPr/>
        <p:txBody>
          <a:bodyPr/>
          <a:lstStyle/>
          <a:p>
            <a:pPr algn="ctr" eaLnBrk="1" hangingPunct="1"/>
            <a:r>
              <a:rPr lang="zh-CN" altLang="en-US" sz="4000" smtClean="0"/>
              <a:t>端口号</a:t>
            </a:r>
            <a:r>
              <a:rPr lang="en-US" altLang="zh-CN" sz="4000" smtClean="0"/>
              <a:t>(protocol port number)</a:t>
            </a:r>
            <a:br>
              <a:rPr lang="en-US" altLang="zh-CN" sz="4000" smtClean="0"/>
            </a:br>
            <a:r>
              <a:rPr lang="zh-CN" altLang="en-US" sz="4000" smtClean="0"/>
              <a:t>简称为端口</a:t>
            </a:r>
            <a:r>
              <a:rPr lang="en-US" altLang="zh-CN" sz="4000" smtClean="0"/>
              <a:t>(port)</a:t>
            </a:r>
          </a:p>
        </p:txBody>
      </p:sp>
      <p:sp>
        <p:nvSpPr>
          <p:cNvPr id="20484" name="Rectangle 3"/>
          <p:cNvSpPr>
            <a:spLocks noGrp="1" noChangeArrowheads="1"/>
          </p:cNvSpPr>
          <p:nvPr>
            <p:ph type="body" idx="1"/>
          </p:nvPr>
        </p:nvSpPr>
        <p:spPr>
          <a:xfrm>
            <a:off x="1042988" y="1906588"/>
            <a:ext cx="7772400" cy="4114800"/>
          </a:xfrm>
        </p:spPr>
        <p:txBody>
          <a:bodyPr/>
          <a:lstStyle/>
          <a:p>
            <a:pPr eaLnBrk="1" hangingPunct="1"/>
            <a:r>
              <a:rPr lang="zh-CN" altLang="en-US" sz="2800" smtClean="0"/>
              <a:t>解决这个问题的方法就是在运输层使用</a:t>
            </a:r>
            <a:r>
              <a:rPr lang="zh-CN" altLang="en-US" sz="2800" smtClean="0">
                <a:solidFill>
                  <a:schemeClr val="hlink"/>
                </a:solidFill>
              </a:rPr>
              <a:t>协议端口号</a:t>
            </a:r>
            <a:r>
              <a:rPr lang="en-US" altLang="zh-CN" sz="2800" smtClean="0"/>
              <a:t>(protocol port number)</a:t>
            </a:r>
            <a:r>
              <a:rPr lang="zh-CN" altLang="en-US" sz="2800" smtClean="0"/>
              <a:t>，或通常简称为</a:t>
            </a:r>
            <a:r>
              <a:rPr lang="zh-CN" altLang="en-US" sz="2800" smtClean="0">
                <a:solidFill>
                  <a:schemeClr val="hlink"/>
                </a:solidFill>
              </a:rPr>
              <a:t>端口</a:t>
            </a:r>
            <a:r>
              <a:rPr lang="en-US" altLang="zh-CN" sz="2800" smtClean="0"/>
              <a:t>(port)</a:t>
            </a:r>
            <a:r>
              <a:rPr lang="zh-CN" altLang="en-US" sz="2800" smtClean="0"/>
              <a:t>。</a:t>
            </a:r>
          </a:p>
          <a:p>
            <a:pPr eaLnBrk="1" hangingPunct="1"/>
            <a:r>
              <a:rPr lang="zh-CN" altLang="en-US" sz="2800" smtClean="0"/>
              <a:t>虽然通信的终点是应用进程，但我们可以把端口想象是通信的终点，因为我们只要把要传送的报文交到目的主机的某一个合适的目的端口，剩下的工作（即最后交付目的进程）就由 </a:t>
            </a:r>
            <a:r>
              <a:rPr lang="en-US" altLang="zh-CN" sz="2800" smtClean="0"/>
              <a:t>TCP </a:t>
            </a:r>
            <a:r>
              <a:rPr lang="zh-CN" altLang="en-US" sz="2800" smtClean="0"/>
              <a:t>来完成。</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F4B66F1-63D3-4044-AE05-269B4718C01A}" type="slidenum">
              <a:rPr lang="en-US" altLang="zh-CN" sz="1400"/>
              <a:pPr eaLnBrk="1" hangingPunct="1"/>
              <a:t>19</a:t>
            </a:fld>
            <a:endParaRPr lang="en-US" altLang="zh-CN" sz="1400"/>
          </a:p>
        </p:txBody>
      </p:sp>
      <p:sp>
        <p:nvSpPr>
          <p:cNvPr id="21507" name="Rectangle 2"/>
          <p:cNvSpPr>
            <a:spLocks noGrp="1" noChangeArrowheads="1"/>
          </p:cNvSpPr>
          <p:nvPr>
            <p:ph type="title"/>
          </p:nvPr>
        </p:nvSpPr>
        <p:spPr>
          <a:xfrm>
            <a:off x="1150938" y="214313"/>
            <a:ext cx="6950075" cy="1462087"/>
          </a:xfrm>
        </p:spPr>
        <p:txBody>
          <a:bodyPr/>
          <a:lstStyle/>
          <a:p>
            <a:pPr algn="ctr" eaLnBrk="1" hangingPunct="1"/>
            <a:r>
              <a:rPr lang="zh-CN" altLang="en-US" smtClean="0"/>
              <a:t>软件端口与硬件端口</a:t>
            </a:r>
          </a:p>
        </p:txBody>
      </p:sp>
      <p:sp>
        <p:nvSpPr>
          <p:cNvPr id="21508" name="Rectangle 3"/>
          <p:cNvSpPr>
            <a:spLocks noGrp="1" noChangeArrowheads="1"/>
          </p:cNvSpPr>
          <p:nvPr>
            <p:ph type="body" idx="1"/>
          </p:nvPr>
        </p:nvSpPr>
        <p:spPr/>
        <p:txBody>
          <a:bodyPr/>
          <a:lstStyle/>
          <a:p>
            <a:pPr eaLnBrk="1" hangingPunct="1"/>
            <a:r>
              <a:rPr lang="zh-CN" altLang="en-US" smtClean="0"/>
              <a:t>在协议栈层间的抽象的协议端口是</a:t>
            </a:r>
            <a:r>
              <a:rPr lang="zh-CN" altLang="en-US" smtClean="0">
                <a:solidFill>
                  <a:schemeClr val="hlink"/>
                </a:solidFill>
              </a:rPr>
              <a:t>软件端口</a:t>
            </a:r>
            <a:r>
              <a:rPr lang="zh-CN" altLang="en-US" smtClean="0"/>
              <a:t>。</a:t>
            </a:r>
          </a:p>
          <a:p>
            <a:pPr eaLnBrk="1" hangingPunct="1"/>
            <a:r>
              <a:rPr lang="zh-CN" altLang="en-US" smtClean="0"/>
              <a:t>路由器或交换机上的端口是</a:t>
            </a:r>
            <a:r>
              <a:rPr lang="zh-CN" altLang="en-US" smtClean="0">
                <a:solidFill>
                  <a:schemeClr val="hlink"/>
                </a:solidFill>
              </a:rPr>
              <a:t>硬件端口</a:t>
            </a:r>
            <a:r>
              <a:rPr lang="zh-CN" altLang="en-US" smtClean="0"/>
              <a:t>。</a:t>
            </a:r>
          </a:p>
          <a:p>
            <a:pPr eaLnBrk="1" hangingPunct="1"/>
            <a:r>
              <a:rPr lang="zh-CN" altLang="en-US" smtClean="0"/>
              <a:t>硬件端口是不同硬件设备进行交互的接口，而软件端口是应用层的各种协议进程与运输实体进行层间交互的一种地址。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6F3479A-BFF7-4FB6-879F-568172E9965E}" type="slidenum">
              <a:rPr lang="en-US" altLang="zh-CN" sz="1400"/>
              <a:pPr eaLnBrk="1" hangingPunct="1"/>
              <a:t>20</a:t>
            </a:fld>
            <a:endParaRPr lang="en-US" altLang="zh-CN" sz="1400"/>
          </a:p>
        </p:txBody>
      </p:sp>
      <p:sp>
        <p:nvSpPr>
          <p:cNvPr id="22531" name="Rectangle 2"/>
          <p:cNvSpPr>
            <a:spLocks noGrp="1" noChangeArrowheads="1"/>
          </p:cNvSpPr>
          <p:nvPr>
            <p:ph type="title"/>
          </p:nvPr>
        </p:nvSpPr>
        <p:spPr>
          <a:xfrm>
            <a:off x="250825" y="214313"/>
            <a:ext cx="8642350" cy="1462087"/>
          </a:xfrm>
        </p:spPr>
        <p:txBody>
          <a:bodyPr/>
          <a:lstStyle/>
          <a:p>
            <a:pPr algn="ctr" eaLnBrk="1" hangingPunct="1"/>
            <a:r>
              <a:rPr lang="en-US" altLang="zh-CN" smtClean="0"/>
              <a:t>TCP </a:t>
            </a:r>
            <a:r>
              <a:rPr lang="zh-CN" altLang="en-US" smtClean="0"/>
              <a:t>的端口 </a:t>
            </a:r>
          </a:p>
        </p:txBody>
      </p:sp>
      <p:sp>
        <p:nvSpPr>
          <p:cNvPr id="141315" name="Rectangle 3"/>
          <p:cNvSpPr>
            <a:spLocks noGrp="1" noChangeArrowheads="1"/>
          </p:cNvSpPr>
          <p:nvPr>
            <p:ph type="body" idx="1"/>
          </p:nvPr>
        </p:nvSpPr>
        <p:spPr>
          <a:xfrm>
            <a:off x="755650" y="1906588"/>
            <a:ext cx="8064500" cy="4114800"/>
          </a:xfrm>
        </p:spPr>
        <p:txBody>
          <a:bodyPr/>
          <a:lstStyle/>
          <a:p>
            <a:pPr algn="just" eaLnBrk="1" hangingPunct="1"/>
            <a:r>
              <a:rPr lang="zh-CN" altLang="en-US" smtClean="0"/>
              <a:t>端口用一个 </a:t>
            </a:r>
            <a:r>
              <a:rPr lang="en-US" altLang="zh-CN" smtClean="0"/>
              <a:t>16 </a:t>
            </a:r>
            <a:r>
              <a:rPr lang="zh-CN" altLang="en-US" smtClean="0"/>
              <a:t>位端口号进行标志。</a:t>
            </a:r>
          </a:p>
          <a:p>
            <a:pPr algn="just" eaLnBrk="1" hangingPunct="1"/>
            <a:r>
              <a:rPr lang="zh-CN" altLang="en-US" smtClean="0"/>
              <a:t>端口号只具有</a:t>
            </a:r>
            <a:r>
              <a:rPr lang="zh-CN" altLang="en-US" smtClean="0">
                <a:solidFill>
                  <a:schemeClr val="hlink"/>
                </a:solidFill>
              </a:rPr>
              <a:t>本地</a:t>
            </a:r>
            <a:r>
              <a:rPr lang="zh-CN" altLang="en-US" smtClean="0"/>
              <a:t>意义，即端口号只是为了标志本计算机应用层中的各进程。在因特网中不同计算机的相同端口号是没有联系的。</a:t>
            </a:r>
          </a:p>
          <a:p>
            <a:pPr algn="just" eaLnBrk="1" hangingPunct="1"/>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D442F5A-C6DD-4BB9-8725-D46312EB2206}" type="slidenum">
              <a:rPr lang="en-US" altLang="zh-CN" sz="1400"/>
              <a:pPr eaLnBrk="1" hangingPunct="1"/>
              <a:t>21</a:t>
            </a:fld>
            <a:endParaRPr lang="en-US" altLang="zh-CN" sz="1400"/>
          </a:p>
        </p:txBody>
      </p:sp>
      <p:sp>
        <p:nvSpPr>
          <p:cNvPr id="23555" name="Rectangle 2"/>
          <p:cNvSpPr>
            <a:spLocks noGrp="1" noChangeArrowheads="1"/>
          </p:cNvSpPr>
          <p:nvPr>
            <p:ph type="title"/>
          </p:nvPr>
        </p:nvSpPr>
        <p:spPr/>
        <p:txBody>
          <a:bodyPr/>
          <a:lstStyle/>
          <a:p>
            <a:pPr algn="ctr" eaLnBrk="1" hangingPunct="1"/>
            <a:r>
              <a:rPr lang="zh-CN" altLang="en-US" smtClean="0"/>
              <a:t>三类端口 </a:t>
            </a:r>
          </a:p>
        </p:txBody>
      </p:sp>
      <p:sp>
        <p:nvSpPr>
          <p:cNvPr id="23556" name="Rectangle 12"/>
          <p:cNvSpPr>
            <a:spLocks noGrp="1" noChangeArrowheads="1"/>
          </p:cNvSpPr>
          <p:nvPr>
            <p:ph type="body" idx="1"/>
          </p:nvPr>
        </p:nvSpPr>
        <p:spPr>
          <a:xfrm>
            <a:off x="1042988" y="1906588"/>
            <a:ext cx="7772400" cy="4114800"/>
          </a:xfrm>
        </p:spPr>
        <p:txBody>
          <a:bodyPr/>
          <a:lstStyle/>
          <a:p>
            <a:pPr eaLnBrk="1" hangingPunct="1"/>
            <a:r>
              <a:rPr lang="zh-CN" altLang="en-US" sz="2800" smtClean="0">
                <a:solidFill>
                  <a:schemeClr val="hlink"/>
                </a:solidFill>
              </a:rPr>
              <a:t>熟知端口</a:t>
            </a:r>
            <a:r>
              <a:rPr lang="zh-CN" altLang="en-US" sz="2800" smtClean="0"/>
              <a:t>，数值一般为 </a:t>
            </a:r>
            <a:r>
              <a:rPr lang="en-US" altLang="zh-CN" sz="2800" smtClean="0"/>
              <a:t>0~1023</a:t>
            </a:r>
            <a:r>
              <a:rPr lang="zh-CN" altLang="en-US" sz="2800" smtClean="0"/>
              <a:t>。</a:t>
            </a:r>
          </a:p>
          <a:p>
            <a:pPr eaLnBrk="1" hangingPunct="1"/>
            <a:r>
              <a:rPr lang="zh-CN" altLang="en-US" sz="2800" smtClean="0">
                <a:solidFill>
                  <a:schemeClr val="hlink"/>
                </a:solidFill>
              </a:rPr>
              <a:t>登记端口号</a:t>
            </a:r>
            <a:r>
              <a:rPr lang="zh-CN" altLang="en-US" sz="2800" smtClean="0"/>
              <a:t>，数值为</a:t>
            </a:r>
            <a:r>
              <a:rPr lang="en-US" altLang="zh-CN" sz="2800" smtClean="0"/>
              <a:t>1024~49151</a:t>
            </a:r>
            <a:r>
              <a:rPr lang="zh-CN" altLang="en-US" sz="2800" smtClean="0"/>
              <a:t>，为没有熟知端口号的应用程序使用的。使用这个范围的端口号必须在 </a:t>
            </a:r>
            <a:r>
              <a:rPr lang="en-US" altLang="zh-CN" sz="2800" smtClean="0"/>
              <a:t>IANA </a:t>
            </a:r>
            <a:r>
              <a:rPr lang="zh-CN" altLang="en-US" sz="2800" smtClean="0"/>
              <a:t>登记，以防止重复。</a:t>
            </a:r>
          </a:p>
          <a:p>
            <a:pPr eaLnBrk="1" hangingPunct="1"/>
            <a:r>
              <a:rPr lang="zh-CN" altLang="en-US" sz="2800" smtClean="0">
                <a:solidFill>
                  <a:schemeClr val="hlink"/>
                </a:solidFill>
              </a:rPr>
              <a:t>客户端口号</a:t>
            </a:r>
            <a:r>
              <a:rPr lang="zh-CN" altLang="en-US" sz="2800" smtClean="0"/>
              <a:t>或</a:t>
            </a:r>
            <a:r>
              <a:rPr lang="zh-CN" altLang="en-US" sz="2800" smtClean="0">
                <a:solidFill>
                  <a:schemeClr val="hlink"/>
                </a:solidFill>
              </a:rPr>
              <a:t>短暂端口号</a:t>
            </a:r>
            <a:r>
              <a:rPr lang="zh-CN" altLang="en-US" sz="2800" smtClean="0"/>
              <a:t>，数值为</a:t>
            </a:r>
            <a:r>
              <a:rPr lang="en-US" altLang="zh-CN" sz="2800" smtClean="0"/>
              <a:t>49152~65535</a:t>
            </a:r>
            <a:r>
              <a:rPr lang="zh-CN" altLang="en-US" sz="2800" smtClean="0"/>
              <a:t>，留给客户进程选择暂时使用。当服务器进程收到客户进程的报文时，就知道了客户进程所使用的动态端口号。通信结束后，这个端口号可供其他客户进程以后使用。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6F738CA-F315-4F89-8C7A-2648E18C0D9E}" type="slidenum">
              <a:rPr lang="en-US" altLang="zh-CN" sz="1400"/>
              <a:pPr eaLnBrk="1" hangingPunct="1"/>
              <a:t>22</a:t>
            </a:fld>
            <a:endParaRPr lang="en-US" altLang="zh-CN" sz="1400"/>
          </a:p>
        </p:txBody>
      </p:sp>
      <p:sp>
        <p:nvSpPr>
          <p:cNvPr id="24579" name="Rectangle 2"/>
          <p:cNvSpPr>
            <a:spLocks noGrp="1" noChangeArrowheads="1"/>
          </p:cNvSpPr>
          <p:nvPr>
            <p:ph type="title"/>
          </p:nvPr>
        </p:nvSpPr>
        <p:spPr/>
        <p:txBody>
          <a:bodyPr/>
          <a:lstStyle/>
          <a:p>
            <a:pPr algn="ctr" eaLnBrk="1" hangingPunct="1"/>
            <a:r>
              <a:rPr lang="en-US" altLang="zh-CN" smtClean="0"/>
              <a:t>5.2  </a:t>
            </a:r>
            <a:r>
              <a:rPr lang="zh-CN" altLang="en-US" smtClean="0"/>
              <a:t>用户数据报协议 </a:t>
            </a:r>
            <a:r>
              <a:rPr lang="en-US" altLang="zh-CN" smtClean="0"/>
              <a:t>UDP </a:t>
            </a:r>
            <a:br>
              <a:rPr lang="en-US" altLang="zh-CN" smtClean="0"/>
            </a:br>
            <a:r>
              <a:rPr lang="en-US" altLang="zh-CN" sz="4000" smtClean="0"/>
              <a:t>5.2.1  UDP </a:t>
            </a:r>
            <a:r>
              <a:rPr lang="zh-CN" altLang="en-US" sz="4000" smtClean="0"/>
              <a:t>概述</a:t>
            </a:r>
            <a:r>
              <a:rPr lang="zh-CN" altLang="en-US" smtClean="0"/>
              <a:t> </a:t>
            </a:r>
          </a:p>
        </p:txBody>
      </p:sp>
      <p:sp>
        <p:nvSpPr>
          <p:cNvPr id="444419" name="Rectangle 3"/>
          <p:cNvSpPr>
            <a:spLocks noGrp="1" noChangeArrowheads="1"/>
          </p:cNvSpPr>
          <p:nvPr>
            <p:ph type="body" idx="1"/>
          </p:nvPr>
        </p:nvSpPr>
        <p:spPr>
          <a:xfrm>
            <a:off x="1042988" y="1989138"/>
            <a:ext cx="7632700" cy="4319587"/>
          </a:xfrm>
        </p:spPr>
        <p:txBody>
          <a:bodyPr/>
          <a:lstStyle/>
          <a:p>
            <a:pPr marL="609600" indent="-609600" algn="just" eaLnBrk="1" hangingPunct="1"/>
            <a:r>
              <a:rPr lang="en-US" altLang="zh-CN" smtClean="0"/>
              <a:t>UDP </a:t>
            </a:r>
            <a:r>
              <a:rPr lang="zh-CN" altLang="en-US" smtClean="0"/>
              <a:t>只在 </a:t>
            </a:r>
            <a:r>
              <a:rPr lang="en-US" altLang="zh-CN" smtClean="0"/>
              <a:t>IP </a:t>
            </a:r>
            <a:r>
              <a:rPr lang="zh-CN" altLang="en-US" smtClean="0"/>
              <a:t>的数据报服务之上增加了很少一点的功能，即端口的功能和差错检测的功能。</a:t>
            </a:r>
          </a:p>
          <a:p>
            <a:pPr marL="609600" indent="-609600" algn="just" eaLnBrk="1" hangingPunct="1"/>
            <a:r>
              <a:rPr lang="zh-CN" altLang="en-US" smtClean="0"/>
              <a:t>虽然 </a:t>
            </a:r>
            <a:r>
              <a:rPr lang="en-US" altLang="zh-CN" smtClean="0"/>
              <a:t>UDP </a:t>
            </a:r>
            <a:r>
              <a:rPr lang="zh-CN" altLang="en-US" smtClean="0"/>
              <a:t>用户数据报只能提供不可靠的交付，但 </a:t>
            </a:r>
            <a:r>
              <a:rPr lang="en-US" altLang="zh-CN" smtClean="0"/>
              <a:t>UDP </a:t>
            </a:r>
            <a:r>
              <a:rPr lang="zh-CN" altLang="en-US" smtClean="0"/>
              <a:t>在某些方面有其特殊的优点。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9DCEED7-D5C9-4CF5-A99D-2538546B5BDA}" type="slidenum">
              <a:rPr lang="en-US" altLang="zh-CN" sz="1400"/>
              <a:pPr eaLnBrk="1" hangingPunct="1"/>
              <a:t>23</a:t>
            </a:fld>
            <a:endParaRPr lang="en-US" altLang="zh-CN" sz="1400"/>
          </a:p>
        </p:txBody>
      </p:sp>
      <p:sp>
        <p:nvSpPr>
          <p:cNvPr id="25603" name="Rectangle 2"/>
          <p:cNvSpPr>
            <a:spLocks noGrp="1" noChangeArrowheads="1"/>
          </p:cNvSpPr>
          <p:nvPr>
            <p:ph type="title"/>
          </p:nvPr>
        </p:nvSpPr>
        <p:spPr>
          <a:xfrm>
            <a:off x="1150938" y="214313"/>
            <a:ext cx="7308850" cy="1462087"/>
          </a:xfrm>
        </p:spPr>
        <p:txBody>
          <a:bodyPr/>
          <a:lstStyle/>
          <a:p>
            <a:pPr algn="ctr" eaLnBrk="1" hangingPunct="1"/>
            <a:r>
              <a:rPr lang="en-US" altLang="zh-CN" smtClean="0"/>
              <a:t>UDP </a:t>
            </a:r>
            <a:r>
              <a:rPr lang="zh-CN" altLang="en-US" smtClean="0"/>
              <a:t>的主要特点 </a:t>
            </a:r>
          </a:p>
        </p:txBody>
      </p:sp>
      <p:sp>
        <p:nvSpPr>
          <p:cNvPr id="25604" name="Rectangle 3"/>
          <p:cNvSpPr>
            <a:spLocks noGrp="1" noChangeArrowheads="1"/>
          </p:cNvSpPr>
          <p:nvPr>
            <p:ph type="body" idx="1"/>
          </p:nvPr>
        </p:nvSpPr>
        <p:spPr>
          <a:xfrm>
            <a:off x="1042988" y="1844675"/>
            <a:ext cx="7772400" cy="4824413"/>
          </a:xfrm>
        </p:spPr>
        <p:txBody>
          <a:bodyPr/>
          <a:lstStyle/>
          <a:p>
            <a:pPr marL="609600" indent="-609600" eaLnBrk="1" hangingPunct="1">
              <a:lnSpc>
                <a:spcPct val="90000"/>
              </a:lnSpc>
            </a:pPr>
            <a:r>
              <a:rPr lang="en-US" altLang="zh-CN" smtClean="0"/>
              <a:t>UDP </a:t>
            </a:r>
            <a:r>
              <a:rPr lang="zh-CN" altLang="en-US" smtClean="0"/>
              <a:t>是无连接的，即发送数据之前不需要建立连接。</a:t>
            </a:r>
          </a:p>
          <a:p>
            <a:pPr marL="609600" indent="-609600" eaLnBrk="1" hangingPunct="1">
              <a:lnSpc>
                <a:spcPct val="90000"/>
              </a:lnSpc>
            </a:pPr>
            <a:r>
              <a:rPr lang="en-US" altLang="zh-CN" smtClean="0"/>
              <a:t>UDP </a:t>
            </a:r>
            <a:r>
              <a:rPr lang="zh-CN" altLang="en-US" smtClean="0"/>
              <a:t>使用尽最大努力交付，即不保证可靠交付，同时也不使用拥塞控制。</a:t>
            </a:r>
          </a:p>
          <a:p>
            <a:pPr marL="609600" indent="-609600" eaLnBrk="1" hangingPunct="1">
              <a:lnSpc>
                <a:spcPct val="90000"/>
              </a:lnSpc>
            </a:pPr>
            <a:r>
              <a:rPr lang="en-US" altLang="zh-CN" smtClean="0"/>
              <a:t>UDP </a:t>
            </a:r>
            <a:r>
              <a:rPr lang="zh-CN" altLang="en-US" smtClean="0"/>
              <a:t>是面向报文的。</a:t>
            </a:r>
            <a:r>
              <a:rPr lang="en-US" altLang="zh-CN" smtClean="0"/>
              <a:t>UDP </a:t>
            </a:r>
            <a:r>
              <a:rPr lang="zh-CN" altLang="en-US" smtClean="0"/>
              <a:t>没有拥塞控制，很适合多媒体通信的要求。 </a:t>
            </a:r>
          </a:p>
          <a:p>
            <a:pPr marL="609600" indent="-609600" eaLnBrk="1" hangingPunct="1">
              <a:lnSpc>
                <a:spcPct val="90000"/>
              </a:lnSpc>
            </a:pPr>
            <a:r>
              <a:rPr lang="en-US" altLang="zh-CN" smtClean="0"/>
              <a:t>UDP </a:t>
            </a:r>
            <a:r>
              <a:rPr lang="zh-CN" altLang="en-US" smtClean="0"/>
              <a:t>支持一对一、一对多、多对一和多对多的交互通信。</a:t>
            </a:r>
          </a:p>
          <a:p>
            <a:pPr marL="609600" indent="-609600" eaLnBrk="1" hangingPunct="1">
              <a:lnSpc>
                <a:spcPct val="90000"/>
              </a:lnSpc>
            </a:pPr>
            <a:r>
              <a:rPr lang="en-US" altLang="zh-CN" smtClean="0"/>
              <a:t>UDP </a:t>
            </a:r>
            <a:r>
              <a:rPr lang="zh-CN" altLang="en-US" smtClean="0"/>
              <a:t>的首部开销小，只有 </a:t>
            </a:r>
            <a:r>
              <a:rPr lang="en-US" altLang="zh-CN" smtClean="0"/>
              <a:t>8 </a:t>
            </a:r>
            <a:r>
              <a:rPr lang="zh-CN" altLang="en-US" smtClean="0"/>
              <a:t>个字节。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24B770B1-AD56-497C-A043-3CF37BCA76AE}" type="slidenum">
              <a:rPr lang="en-US" altLang="zh-CN" sz="1400"/>
              <a:pPr eaLnBrk="1" hangingPunct="1"/>
              <a:t>24</a:t>
            </a:fld>
            <a:endParaRPr lang="en-US" altLang="zh-CN" sz="1400"/>
          </a:p>
        </p:txBody>
      </p:sp>
      <p:sp>
        <p:nvSpPr>
          <p:cNvPr id="26627" name="Rectangle 2"/>
          <p:cNvSpPr>
            <a:spLocks noGrp="1" noChangeArrowheads="1"/>
          </p:cNvSpPr>
          <p:nvPr>
            <p:ph type="title"/>
          </p:nvPr>
        </p:nvSpPr>
        <p:spPr>
          <a:xfrm>
            <a:off x="1150938" y="214313"/>
            <a:ext cx="7308850" cy="1462087"/>
          </a:xfrm>
        </p:spPr>
        <p:txBody>
          <a:bodyPr/>
          <a:lstStyle/>
          <a:p>
            <a:pPr algn="ctr" eaLnBrk="1" hangingPunct="1"/>
            <a:r>
              <a:rPr lang="zh-CN" altLang="en-US" smtClean="0"/>
              <a:t>面向报文的 </a:t>
            </a:r>
            <a:r>
              <a:rPr lang="en-US" altLang="zh-CN" smtClean="0"/>
              <a:t>UDP</a:t>
            </a:r>
          </a:p>
        </p:txBody>
      </p:sp>
      <p:sp>
        <p:nvSpPr>
          <p:cNvPr id="26628" name="Rectangle 3"/>
          <p:cNvSpPr>
            <a:spLocks noGrp="1" noChangeArrowheads="1"/>
          </p:cNvSpPr>
          <p:nvPr>
            <p:ph type="body" idx="1"/>
          </p:nvPr>
        </p:nvSpPr>
        <p:spPr>
          <a:xfrm>
            <a:off x="1042988" y="1773238"/>
            <a:ext cx="7772400" cy="4751387"/>
          </a:xfrm>
        </p:spPr>
        <p:txBody>
          <a:bodyPr/>
          <a:lstStyle/>
          <a:p>
            <a:pPr eaLnBrk="1" hangingPunct="1"/>
            <a:r>
              <a:rPr lang="zh-CN" altLang="en-US" sz="2800" smtClean="0"/>
              <a:t>发送方 </a:t>
            </a:r>
            <a:r>
              <a:rPr lang="en-US" altLang="zh-CN" sz="2800" smtClean="0"/>
              <a:t>UDP </a:t>
            </a:r>
            <a:r>
              <a:rPr lang="zh-CN" altLang="en-US" sz="2800" smtClean="0"/>
              <a:t>对应用程序交下来的报文，在添加首部后就向下交付 </a:t>
            </a:r>
            <a:r>
              <a:rPr lang="en-US" altLang="zh-CN" sz="2800" smtClean="0"/>
              <a:t>IP </a:t>
            </a:r>
            <a:r>
              <a:rPr lang="zh-CN" altLang="en-US" sz="2800" smtClean="0"/>
              <a:t>层。</a:t>
            </a:r>
            <a:r>
              <a:rPr lang="en-US" altLang="zh-CN" sz="2800" smtClean="0"/>
              <a:t>UDP </a:t>
            </a:r>
            <a:r>
              <a:rPr lang="zh-CN" altLang="en-US" sz="2800" smtClean="0"/>
              <a:t>对应用层交下来的报文，既不合并，也不拆分，而是保留这些报文的边界。</a:t>
            </a:r>
          </a:p>
          <a:p>
            <a:pPr eaLnBrk="1" hangingPunct="1"/>
            <a:r>
              <a:rPr lang="zh-CN" altLang="en-US" sz="2800" smtClean="0"/>
              <a:t>应用层交给 </a:t>
            </a:r>
            <a:r>
              <a:rPr lang="en-US" altLang="zh-CN" sz="2800" smtClean="0"/>
              <a:t>UDP </a:t>
            </a:r>
            <a:r>
              <a:rPr lang="zh-CN" altLang="en-US" sz="2800" smtClean="0"/>
              <a:t>多长的报文，</a:t>
            </a:r>
            <a:r>
              <a:rPr lang="en-US" altLang="zh-CN" sz="2800" smtClean="0"/>
              <a:t>UDP </a:t>
            </a:r>
            <a:r>
              <a:rPr lang="zh-CN" altLang="en-US" sz="2800" smtClean="0"/>
              <a:t>就照样发送，即一次发送一个报文。</a:t>
            </a:r>
          </a:p>
          <a:p>
            <a:pPr eaLnBrk="1" hangingPunct="1"/>
            <a:r>
              <a:rPr lang="zh-CN" altLang="en-US" sz="2800" smtClean="0"/>
              <a:t>接收方 </a:t>
            </a:r>
            <a:r>
              <a:rPr lang="en-US" altLang="zh-CN" sz="2800" smtClean="0"/>
              <a:t>UDP </a:t>
            </a:r>
            <a:r>
              <a:rPr lang="zh-CN" altLang="en-US" sz="2800" smtClean="0"/>
              <a:t>对 </a:t>
            </a:r>
            <a:r>
              <a:rPr lang="en-US" altLang="zh-CN" sz="2800" smtClean="0"/>
              <a:t>IP </a:t>
            </a:r>
            <a:r>
              <a:rPr lang="zh-CN" altLang="en-US" sz="2800" smtClean="0"/>
              <a:t>层交上来的 </a:t>
            </a:r>
            <a:r>
              <a:rPr lang="en-US" altLang="zh-CN" sz="2800" smtClean="0"/>
              <a:t>UDP </a:t>
            </a:r>
            <a:r>
              <a:rPr lang="zh-CN" altLang="en-US" sz="2800" smtClean="0"/>
              <a:t>用户数据报，在去除首部后就原封不动地交付上层的应用进程，一次交付一个完整的报文。</a:t>
            </a:r>
          </a:p>
          <a:p>
            <a:pPr eaLnBrk="1" hangingPunct="1"/>
            <a:r>
              <a:rPr lang="zh-CN" altLang="en-US" sz="2800" smtClean="0">
                <a:solidFill>
                  <a:schemeClr val="hlink"/>
                </a:solidFill>
              </a:rPr>
              <a:t>应用程序必须选择合适大小的报文</a:t>
            </a:r>
            <a:r>
              <a:rPr lang="zh-CN" altLang="en-US" sz="2800" smtClean="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42184F5-EFFF-41B0-B2E5-812374E7CA67}" type="slidenum">
              <a:rPr lang="en-US" altLang="zh-CN" sz="1400"/>
              <a:pPr eaLnBrk="1" hangingPunct="1"/>
              <a:t>25</a:t>
            </a:fld>
            <a:endParaRPr lang="en-US" altLang="zh-CN" sz="1400"/>
          </a:p>
        </p:txBody>
      </p:sp>
      <p:sp>
        <p:nvSpPr>
          <p:cNvPr id="27651" name="Rectangle 2"/>
          <p:cNvSpPr>
            <a:spLocks noGrp="1" noChangeArrowheads="1"/>
          </p:cNvSpPr>
          <p:nvPr>
            <p:ph type="title"/>
          </p:nvPr>
        </p:nvSpPr>
        <p:spPr/>
        <p:txBody>
          <a:bodyPr/>
          <a:lstStyle/>
          <a:p>
            <a:pPr algn="ctr" eaLnBrk="1" hangingPunct="1"/>
            <a:r>
              <a:rPr lang="en-US" altLang="zh-CN" sz="4000" smtClean="0"/>
              <a:t>UDP </a:t>
            </a:r>
            <a:r>
              <a:rPr lang="zh-CN" altLang="en-US" sz="4000" smtClean="0"/>
              <a:t>是面向报文的 </a:t>
            </a:r>
          </a:p>
        </p:txBody>
      </p:sp>
      <p:sp>
        <p:nvSpPr>
          <p:cNvPr id="27652" name="AutoShape 4"/>
          <p:cNvSpPr>
            <a:spLocks noChangeArrowheads="1"/>
          </p:cNvSpPr>
          <p:nvPr/>
        </p:nvSpPr>
        <p:spPr bwMode="auto">
          <a:xfrm flipH="1">
            <a:off x="0" y="5141913"/>
            <a:ext cx="863600" cy="363537"/>
          </a:xfrm>
          <a:prstGeom prst="rightArrow">
            <a:avLst>
              <a:gd name="adj1" fmla="val 50000"/>
              <a:gd name="adj2" fmla="val 11878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3" name="Rectangle 5"/>
          <p:cNvSpPr>
            <a:spLocks noChangeArrowheads="1"/>
          </p:cNvSpPr>
          <p:nvPr/>
        </p:nvSpPr>
        <p:spPr bwMode="auto">
          <a:xfrm>
            <a:off x="1938338" y="4254500"/>
            <a:ext cx="5915025" cy="690563"/>
          </a:xfrm>
          <a:prstGeom prst="rect">
            <a:avLst/>
          </a:prstGeom>
          <a:gradFill rotWithShape="1">
            <a:gsLst>
              <a:gs pos="0">
                <a:srgbClr val="66FF99"/>
              </a:gs>
              <a:gs pos="100000">
                <a:srgbClr val="47B26B"/>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4" name="Rectangle 6"/>
          <p:cNvSpPr>
            <a:spLocks noChangeArrowheads="1"/>
          </p:cNvSpPr>
          <p:nvPr/>
        </p:nvSpPr>
        <p:spPr bwMode="auto">
          <a:xfrm>
            <a:off x="3367088" y="2844800"/>
            <a:ext cx="4486275" cy="682625"/>
          </a:xfrm>
          <a:prstGeom prst="rect">
            <a:avLst/>
          </a:prstGeom>
          <a:gradFill rotWithShape="1">
            <a:gsLst>
              <a:gs pos="0">
                <a:srgbClr val="B2B28E"/>
              </a:gs>
              <a:gs pos="100000">
                <a:srgbClr val="FFFFC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5" name="Rectangle 7"/>
          <p:cNvSpPr>
            <a:spLocks noChangeArrowheads="1"/>
          </p:cNvSpPr>
          <p:nvPr/>
        </p:nvSpPr>
        <p:spPr bwMode="auto">
          <a:xfrm>
            <a:off x="1938338" y="3529013"/>
            <a:ext cx="5915025" cy="722312"/>
          </a:xfrm>
          <a:prstGeom prst="rect">
            <a:avLst/>
          </a:prstGeom>
          <a:solidFill>
            <a:schemeClr val="bg1"/>
          </a:solidFill>
          <a:ln w="28575">
            <a:solidFill>
              <a:schemeClr val="tx1"/>
            </a:solidFill>
            <a:miter lim="800000"/>
            <a:headEnd/>
            <a:tailEnd/>
          </a:ln>
          <a:effectLst>
            <a:outerShdw dist="35921" dir="2700000" algn="ctr" rotWithShape="0">
              <a:schemeClr val="bg2"/>
            </a:outerShdw>
          </a:effectLst>
        </p:spPr>
        <p:txBody>
          <a:bodyPr wrap="none" anchor="ctr"/>
          <a:lstStyle/>
          <a:p>
            <a:endParaRPr lang="zh-CN" altLang="en-US"/>
          </a:p>
        </p:txBody>
      </p:sp>
      <p:sp>
        <p:nvSpPr>
          <p:cNvPr id="27656" name="Rectangle 8"/>
          <p:cNvSpPr>
            <a:spLocks noChangeArrowheads="1"/>
          </p:cNvSpPr>
          <p:nvPr/>
        </p:nvSpPr>
        <p:spPr bwMode="auto">
          <a:xfrm>
            <a:off x="815975" y="4984750"/>
            <a:ext cx="7037388" cy="7493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7" name="Rectangle 22"/>
          <p:cNvSpPr>
            <a:spLocks noChangeArrowheads="1"/>
          </p:cNvSpPr>
          <p:nvPr/>
        </p:nvSpPr>
        <p:spPr bwMode="auto">
          <a:xfrm>
            <a:off x="1979613" y="5013325"/>
            <a:ext cx="5849937" cy="690563"/>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8" name="Rectangle 9"/>
          <p:cNvSpPr>
            <a:spLocks noChangeArrowheads="1"/>
          </p:cNvSpPr>
          <p:nvPr/>
        </p:nvSpPr>
        <p:spPr bwMode="auto">
          <a:xfrm>
            <a:off x="3325813" y="5149850"/>
            <a:ext cx="29908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IP </a:t>
            </a:r>
            <a:r>
              <a:rPr kumimoji="1" lang="zh-CN" altLang="en-US" sz="2400">
                <a:solidFill>
                  <a:schemeClr val="folHlink"/>
                </a:solidFill>
                <a:latin typeface="Arial" pitchFamily="34" charset="0"/>
                <a:ea typeface="黑体" pitchFamily="49" charset="-122"/>
              </a:rPr>
              <a:t>数据报的数据部分</a:t>
            </a:r>
          </a:p>
        </p:txBody>
      </p:sp>
      <p:sp>
        <p:nvSpPr>
          <p:cNvPr id="27659" name="Rectangle 10"/>
          <p:cNvSpPr>
            <a:spLocks noChangeArrowheads="1"/>
          </p:cNvSpPr>
          <p:nvPr/>
        </p:nvSpPr>
        <p:spPr bwMode="auto">
          <a:xfrm>
            <a:off x="777875" y="5119688"/>
            <a:ext cx="1163638"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IP </a:t>
            </a:r>
            <a:r>
              <a:rPr kumimoji="1" lang="zh-CN" altLang="en-US" sz="2400">
                <a:solidFill>
                  <a:schemeClr val="folHlink"/>
                </a:solidFill>
                <a:latin typeface="Arial" pitchFamily="34" charset="0"/>
                <a:ea typeface="黑体" pitchFamily="49" charset="-122"/>
              </a:rPr>
              <a:t>首部</a:t>
            </a:r>
          </a:p>
        </p:txBody>
      </p:sp>
      <p:sp>
        <p:nvSpPr>
          <p:cNvPr id="27660" name="Rectangle 11"/>
          <p:cNvSpPr>
            <a:spLocks noChangeArrowheads="1"/>
          </p:cNvSpPr>
          <p:nvPr/>
        </p:nvSpPr>
        <p:spPr bwMode="auto">
          <a:xfrm>
            <a:off x="8058150" y="5116513"/>
            <a:ext cx="8572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IP </a:t>
            </a:r>
            <a:r>
              <a:rPr kumimoji="1" lang="zh-CN" altLang="en-US" sz="2400">
                <a:solidFill>
                  <a:schemeClr val="folHlink"/>
                </a:solidFill>
                <a:latin typeface="Arial" pitchFamily="34" charset="0"/>
                <a:ea typeface="黑体" pitchFamily="49" charset="-122"/>
              </a:rPr>
              <a:t>层</a:t>
            </a:r>
          </a:p>
        </p:txBody>
      </p:sp>
      <p:sp>
        <p:nvSpPr>
          <p:cNvPr id="27661" name="Line 12"/>
          <p:cNvSpPr>
            <a:spLocks noChangeShapeType="1"/>
          </p:cNvSpPr>
          <p:nvPr/>
        </p:nvSpPr>
        <p:spPr bwMode="auto">
          <a:xfrm>
            <a:off x="3402013" y="3529013"/>
            <a:ext cx="0" cy="72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2" name="AutoShape 13"/>
          <p:cNvSpPr>
            <a:spLocks noChangeArrowheads="1"/>
          </p:cNvSpPr>
          <p:nvPr/>
        </p:nvSpPr>
        <p:spPr bwMode="auto">
          <a:xfrm rot="16200000" flipH="1">
            <a:off x="4468812" y="4570413"/>
            <a:ext cx="963613" cy="325438"/>
          </a:xfrm>
          <a:prstGeom prst="rightArrow">
            <a:avLst>
              <a:gd name="adj1" fmla="val 50000"/>
              <a:gd name="adj2" fmla="val 148062"/>
            </a:avLst>
          </a:prstGeom>
          <a:solidFill>
            <a:srgbClr val="33CC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3" name="Rectangle 14"/>
          <p:cNvSpPr>
            <a:spLocks noChangeArrowheads="1"/>
          </p:cNvSpPr>
          <p:nvPr/>
        </p:nvSpPr>
        <p:spPr bwMode="auto">
          <a:xfrm>
            <a:off x="1938338" y="3636963"/>
            <a:ext cx="15176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UDP </a:t>
            </a:r>
            <a:r>
              <a:rPr kumimoji="1" lang="zh-CN" altLang="en-US" sz="2400">
                <a:solidFill>
                  <a:schemeClr val="folHlink"/>
                </a:solidFill>
                <a:latin typeface="Arial" pitchFamily="34" charset="0"/>
                <a:ea typeface="黑体" pitchFamily="49" charset="-122"/>
              </a:rPr>
              <a:t>首部</a:t>
            </a:r>
          </a:p>
        </p:txBody>
      </p:sp>
      <p:sp>
        <p:nvSpPr>
          <p:cNvPr id="27664" name="Rectangle 15"/>
          <p:cNvSpPr>
            <a:spLocks noChangeArrowheads="1"/>
          </p:cNvSpPr>
          <p:nvPr/>
        </p:nvSpPr>
        <p:spPr bwMode="auto">
          <a:xfrm>
            <a:off x="3767138" y="3641725"/>
            <a:ext cx="3957637"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a:solidFill>
                  <a:schemeClr val="folHlink"/>
                </a:solidFill>
                <a:latin typeface="Arial" pitchFamily="34" charset="0"/>
                <a:ea typeface="黑体" pitchFamily="49" charset="-122"/>
              </a:rPr>
              <a:t>UDP </a:t>
            </a:r>
            <a:r>
              <a:rPr kumimoji="1" lang="zh-CN" altLang="en-US" sz="2400">
                <a:solidFill>
                  <a:schemeClr val="folHlink"/>
                </a:solidFill>
                <a:latin typeface="Arial" pitchFamily="34" charset="0"/>
                <a:ea typeface="黑体" pitchFamily="49" charset="-122"/>
              </a:rPr>
              <a:t>用户数据报的数据部分</a:t>
            </a:r>
          </a:p>
        </p:txBody>
      </p:sp>
      <p:sp>
        <p:nvSpPr>
          <p:cNvPr id="27665" name="Rectangle 16"/>
          <p:cNvSpPr>
            <a:spLocks noChangeArrowheads="1"/>
          </p:cNvSpPr>
          <p:nvPr/>
        </p:nvSpPr>
        <p:spPr bwMode="auto">
          <a:xfrm>
            <a:off x="7956550" y="3649663"/>
            <a:ext cx="1095375" cy="454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运输层</a:t>
            </a:r>
          </a:p>
        </p:txBody>
      </p:sp>
      <p:sp>
        <p:nvSpPr>
          <p:cNvPr id="27666" name="Line 17"/>
          <p:cNvSpPr>
            <a:spLocks noChangeShapeType="1"/>
          </p:cNvSpPr>
          <p:nvPr/>
        </p:nvSpPr>
        <p:spPr bwMode="auto">
          <a:xfrm>
            <a:off x="1938338" y="4984750"/>
            <a:ext cx="0" cy="749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7" name="AutoShape 18"/>
          <p:cNvSpPr>
            <a:spLocks noChangeArrowheads="1"/>
          </p:cNvSpPr>
          <p:nvPr/>
        </p:nvSpPr>
        <p:spPr bwMode="auto">
          <a:xfrm rot="16200000" flipH="1">
            <a:off x="5134769" y="3124994"/>
            <a:ext cx="963613" cy="327025"/>
          </a:xfrm>
          <a:prstGeom prst="rightArrow">
            <a:avLst>
              <a:gd name="adj1" fmla="val 50000"/>
              <a:gd name="adj2" fmla="val 147344"/>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8" name="Rectangle 19"/>
          <p:cNvSpPr>
            <a:spLocks noChangeArrowheads="1"/>
          </p:cNvSpPr>
          <p:nvPr/>
        </p:nvSpPr>
        <p:spPr bwMode="auto">
          <a:xfrm>
            <a:off x="3402013" y="2205038"/>
            <a:ext cx="4425950" cy="601662"/>
          </a:xfrm>
          <a:prstGeom prst="rect">
            <a:avLst/>
          </a:prstGeom>
          <a:solidFill>
            <a:srgbClr val="FFFFCC"/>
          </a:solidFill>
          <a:ln w="28575">
            <a:solidFill>
              <a:schemeClr val="tx1"/>
            </a:solidFill>
            <a:miter lim="800000"/>
            <a:headEnd/>
            <a:tailEnd/>
          </a:ln>
          <a:effectLst>
            <a:outerShdw dist="35921" dir="2700000" algn="ctr" rotWithShape="0">
              <a:schemeClr val="bg2"/>
            </a:outerShdw>
          </a:effectLst>
        </p:spPr>
        <p:txBody>
          <a:bodyPr wrap="none" anchor="ctr"/>
          <a:lstStyle/>
          <a:p>
            <a:pPr algn="ctr" defTabSz="762000" eaLnBrk="0" hangingPunct="0"/>
            <a:r>
              <a:rPr kumimoji="1" lang="zh-CN" altLang="en-US" sz="2400">
                <a:solidFill>
                  <a:schemeClr val="folHlink"/>
                </a:solidFill>
                <a:latin typeface="Arial" pitchFamily="34" charset="0"/>
                <a:ea typeface="黑体" pitchFamily="49" charset="-122"/>
              </a:rPr>
              <a:t>应用层报文</a:t>
            </a:r>
          </a:p>
        </p:txBody>
      </p:sp>
      <p:sp>
        <p:nvSpPr>
          <p:cNvPr id="27669" name="Rectangle 20"/>
          <p:cNvSpPr>
            <a:spLocks noChangeArrowheads="1"/>
          </p:cNvSpPr>
          <p:nvPr/>
        </p:nvSpPr>
        <p:spPr bwMode="auto">
          <a:xfrm>
            <a:off x="7956550" y="2205038"/>
            <a:ext cx="10953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a:solidFill>
                  <a:schemeClr val="folHlink"/>
                </a:solidFill>
                <a:latin typeface="Arial" pitchFamily="34" charset="0"/>
                <a:ea typeface="黑体" pitchFamily="49" charset="-122"/>
              </a:rPr>
              <a:t>应用层</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A21C1FB-C850-4D78-B7DD-7CCD5B0F64AF}" type="slidenum">
              <a:rPr lang="en-US" altLang="zh-CN" sz="1400"/>
              <a:pPr eaLnBrk="1" hangingPunct="1"/>
              <a:t>26</a:t>
            </a:fld>
            <a:endParaRPr lang="en-US" altLang="zh-CN" sz="1400"/>
          </a:p>
        </p:txBody>
      </p:sp>
      <p:sp>
        <p:nvSpPr>
          <p:cNvPr id="28675" name="Rectangle 2"/>
          <p:cNvSpPr>
            <a:spLocks noChangeArrowheads="1"/>
          </p:cNvSpPr>
          <p:nvPr/>
        </p:nvSpPr>
        <p:spPr bwMode="auto">
          <a:xfrm>
            <a:off x="2268538" y="5373688"/>
            <a:ext cx="1079500" cy="457200"/>
          </a:xfrm>
          <a:prstGeom prst="rect">
            <a:avLst/>
          </a:prstGeom>
          <a:solidFill>
            <a:srgbClr val="CC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76" name="Freeform 3"/>
          <p:cNvSpPr>
            <a:spLocks/>
          </p:cNvSpPr>
          <p:nvPr/>
        </p:nvSpPr>
        <p:spPr bwMode="auto">
          <a:xfrm>
            <a:off x="2849563" y="4006850"/>
            <a:ext cx="4633912" cy="438150"/>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77" name="Rectangle 4"/>
          <p:cNvSpPr>
            <a:spLocks noChangeArrowheads="1"/>
          </p:cNvSpPr>
          <p:nvPr/>
        </p:nvSpPr>
        <p:spPr bwMode="auto">
          <a:xfrm>
            <a:off x="3346450" y="4437063"/>
            <a:ext cx="1081088" cy="45720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78" name="Rectangle 5"/>
          <p:cNvSpPr>
            <a:spLocks noGrp="1" noChangeArrowheads="1"/>
          </p:cNvSpPr>
          <p:nvPr>
            <p:ph type="title"/>
          </p:nvPr>
        </p:nvSpPr>
        <p:spPr/>
        <p:txBody>
          <a:bodyPr/>
          <a:lstStyle/>
          <a:p>
            <a:pPr algn="ctr" eaLnBrk="1" hangingPunct="1"/>
            <a:r>
              <a:rPr lang="en-US" altLang="zh-CN" smtClean="0"/>
              <a:t>5.2.2  UDP </a:t>
            </a:r>
            <a:r>
              <a:rPr lang="zh-CN" altLang="en-US" smtClean="0"/>
              <a:t>的首部格式 </a:t>
            </a:r>
          </a:p>
        </p:txBody>
      </p:sp>
      <p:sp>
        <p:nvSpPr>
          <p:cNvPr id="28679" name="AutoShape 6"/>
          <p:cNvSpPr>
            <a:spLocks noChangeArrowheads="1"/>
          </p:cNvSpPr>
          <p:nvPr/>
        </p:nvSpPr>
        <p:spPr bwMode="auto">
          <a:xfrm>
            <a:off x="1470025" y="5464175"/>
            <a:ext cx="798513" cy="288925"/>
          </a:xfrm>
          <a:prstGeom prst="leftArrow">
            <a:avLst>
              <a:gd name="adj1" fmla="val 50000"/>
              <a:gd name="adj2" fmla="val 69093"/>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0" name="Freeform 7"/>
          <p:cNvSpPr>
            <a:spLocks/>
          </p:cNvSpPr>
          <p:nvPr/>
        </p:nvSpPr>
        <p:spPr bwMode="auto">
          <a:xfrm>
            <a:off x="890588" y="2863850"/>
            <a:ext cx="6681787" cy="68580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1" name="Rectangle 8"/>
          <p:cNvSpPr>
            <a:spLocks noChangeArrowheads="1"/>
          </p:cNvSpPr>
          <p:nvPr/>
        </p:nvSpPr>
        <p:spPr bwMode="auto">
          <a:xfrm>
            <a:off x="2849563" y="3549650"/>
            <a:ext cx="4633912"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2" name="Rectangle 9"/>
          <p:cNvSpPr>
            <a:spLocks noChangeArrowheads="1"/>
          </p:cNvSpPr>
          <p:nvPr/>
        </p:nvSpPr>
        <p:spPr bwMode="auto">
          <a:xfrm>
            <a:off x="3348038" y="5376863"/>
            <a:ext cx="5472112" cy="457200"/>
          </a:xfrm>
          <a:prstGeom prst="rect">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3" name="Line 10"/>
          <p:cNvSpPr>
            <a:spLocks noChangeShapeType="1"/>
          </p:cNvSpPr>
          <p:nvPr/>
        </p:nvSpPr>
        <p:spPr bwMode="auto">
          <a:xfrm>
            <a:off x="4008438" y="3549650"/>
            <a:ext cx="1587"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4" name="Rectangle 11"/>
          <p:cNvSpPr>
            <a:spLocks noChangeArrowheads="1"/>
          </p:cNvSpPr>
          <p:nvPr/>
        </p:nvSpPr>
        <p:spPr bwMode="auto">
          <a:xfrm>
            <a:off x="895350" y="2406650"/>
            <a:ext cx="6684963" cy="4572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5" name="Line 12"/>
          <p:cNvSpPr>
            <a:spLocks noChangeShapeType="1"/>
          </p:cNvSpPr>
          <p:nvPr/>
        </p:nvSpPr>
        <p:spPr bwMode="auto">
          <a:xfrm>
            <a:off x="3121025" y="2406650"/>
            <a:ext cx="3175"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6" name="Line 13"/>
          <p:cNvSpPr>
            <a:spLocks noChangeShapeType="1"/>
          </p:cNvSpPr>
          <p:nvPr/>
        </p:nvSpPr>
        <p:spPr bwMode="auto">
          <a:xfrm>
            <a:off x="5165725" y="3549650"/>
            <a:ext cx="3175"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7" name="Line 14"/>
          <p:cNvSpPr>
            <a:spLocks noChangeShapeType="1"/>
          </p:cNvSpPr>
          <p:nvPr/>
        </p:nvSpPr>
        <p:spPr bwMode="auto">
          <a:xfrm>
            <a:off x="6324600" y="3549650"/>
            <a:ext cx="158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8" name="Freeform 15"/>
          <p:cNvSpPr>
            <a:spLocks/>
          </p:cNvSpPr>
          <p:nvPr/>
        </p:nvSpPr>
        <p:spPr bwMode="auto">
          <a:xfrm>
            <a:off x="1600200" y="3549650"/>
            <a:ext cx="1249363" cy="4572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9" name="Text Box 16"/>
          <p:cNvSpPr txBox="1">
            <a:spLocks noChangeArrowheads="1"/>
          </p:cNvSpPr>
          <p:nvPr/>
        </p:nvSpPr>
        <p:spPr bwMode="auto">
          <a:xfrm>
            <a:off x="1717675" y="3546475"/>
            <a:ext cx="946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伪首部</a:t>
            </a:r>
          </a:p>
        </p:txBody>
      </p:sp>
      <p:sp>
        <p:nvSpPr>
          <p:cNvPr id="28690" name="Text Box 17"/>
          <p:cNvSpPr txBox="1">
            <a:spLocks noChangeArrowheads="1"/>
          </p:cNvSpPr>
          <p:nvPr/>
        </p:nvSpPr>
        <p:spPr bwMode="auto">
          <a:xfrm>
            <a:off x="2860675" y="3546475"/>
            <a:ext cx="947738"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源端口</a:t>
            </a:r>
          </a:p>
        </p:txBody>
      </p:sp>
      <p:sp>
        <p:nvSpPr>
          <p:cNvPr id="28691" name="Text Box 18"/>
          <p:cNvSpPr txBox="1">
            <a:spLocks noChangeArrowheads="1"/>
          </p:cNvSpPr>
          <p:nvPr/>
        </p:nvSpPr>
        <p:spPr bwMode="auto">
          <a:xfrm>
            <a:off x="3949700" y="3546475"/>
            <a:ext cx="1200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目的端口</a:t>
            </a:r>
          </a:p>
        </p:txBody>
      </p:sp>
      <p:sp>
        <p:nvSpPr>
          <p:cNvPr id="28692" name="Text Box 19"/>
          <p:cNvSpPr txBox="1">
            <a:spLocks noChangeArrowheads="1"/>
          </p:cNvSpPr>
          <p:nvPr/>
        </p:nvSpPr>
        <p:spPr bwMode="auto">
          <a:xfrm>
            <a:off x="5284788" y="3544888"/>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长  度</a:t>
            </a:r>
          </a:p>
        </p:txBody>
      </p:sp>
      <p:sp>
        <p:nvSpPr>
          <p:cNvPr id="28693" name="Text Box 20"/>
          <p:cNvSpPr txBox="1">
            <a:spLocks noChangeArrowheads="1"/>
          </p:cNvSpPr>
          <p:nvPr/>
        </p:nvSpPr>
        <p:spPr bwMode="auto">
          <a:xfrm>
            <a:off x="6429375" y="3546475"/>
            <a:ext cx="946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检验和</a:t>
            </a:r>
          </a:p>
        </p:txBody>
      </p:sp>
      <p:sp>
        <p:nvSpPr>
          <p:cNvPr id="28694" name="Text Box 21"/>
          <p:cNvSpPr txBox="1">
            <a:spLocks noChangeArrowheads="1"/>
          </p:cNvSpPr>
          <p:nvPr/>
        </p:nvSpPr>
        <p:spPr bwMode="auto">
          <a:xfrm>
            <a:off x="5429250" y="5418138"/>
            <a:ext cx="132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数         据</a:t>
            </a:r>
          </a:p>
        </p:txBody>
      </p:sp>
      <p:sp>
        <p:nvSpPr>
          <p:cNvPr id="28695" name="Text Box 22"/>
          <p:cNvSpPr txBox="1">
            <a:spLocks noChangeArrowheads="1"/>
          </p:cNvSpPr>
          <p:nvPr/>
        </p:nvSpPr>
        <p:spPr bwMode="auto">
          <a:xfrm>
            <a:off x="2373313" y="5418138"/>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  部</a:t>
            </a:r>
          </a:p>
        </p:txBody>
      </p:sp>
      <p:sp>
        <p:nvSpPr>
          <p:cNvPr id="28696" name="Line 23"/>
          <p:cNvSpPr>
            <a:spLocks noChangeShapeType="1"/>
          </p:cNvSpPr>
          <p:nvPr/>
        </p:nvSpPr>
        <p:spPr bwMode="auto">
          <a:xfrm>
            <a:off x="5353050" y="240665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7" name="Line 24"/>
          <p:cNvSpPr>
            <a:spLocks noChangeShapeType="1"/>
          </p:cNvSpPr>
          <p:nvPr/>
        </p:nvSpPr>
        <p:spPr bwMode="auto">
          <a:xfrm>
            <a:off x="5886450" y="2406650"/>
            <a:ext cx="158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8" name="Line 25"/>
          <p:cNvSpPr>
            <a:spLocks noChangeShapeType="1"/>
          </p:cNvSpPr>
          <p:nvPr/>
        </p:nvSpPr>
        <p:spPr bwMode="auto">
          <a:xfrm>
            <a:off x="6419850" y="240665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9" name="Text Box 26"/>
          <p:cNvSpPr txBox="1">
            <a:spLocks noChangeArrowheads="1"/>
          </p:cNvSpPr>
          <p:nvPr/>
        </p:nvSpPr>
        <p:spPr bwMode="auto">
          <a:xfrm>
            <a:off x="6376988" y="2403475"/>
            <a:ext cx="1230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r>
              <a:rPr kumimoji="1" lang="zh-CN" altLang="en-US" sz="2000">
                <a:solidFill>
                  <a:srgbClr val="333399"/>
                </a:solidFill>
                <a:latin typeface="Arial" pitchFamily="34" charset="0"/>
                <a:ea typeface="黑体" pitchFamily="49" charset="-122"/>
              </a:rPr>
              <a:t>长度</a:t>
            </a:r>
          </a:p>
        </p:txBody>
      </p:sp>
      <p:sp>
        <p:nvSpPr>
          <p:cNvPr id="28700" name="Text Box 27"/>
          <p:cNvSpPr txBox="1">
            <a:spLocks noChangeArrowheads="1"/>
          </p:cNvSpPr>
          <p:nvPr/>
        </p:nvSpPr>
        <p:spPr bwMode="auto">
          <a:xfrm>
            <a:off x="1282700" y="2403475"/>
            <a:ext cx="1327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源 </a:t>
            </a:r>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地址</a:t>
            </a:r>
          </a:p>
        </p:txBody>
      </p:sp>
      <p:sp>
        <p:nvSpPr>
          <p:cNvPr id="28701" name="Text Box 28"/>
          <p:cNvSpPr txBox="1">
            <a:spLocks noChangeArrowheads="1"/>
          </p:cNvSpPr>
          <p:nvPr/>
        </p:nvSpPr>
        <p:spPr bwMode="auto">
          <a:xfrm>
            <a:off x="3421063" y="2403475"/>
            <a:ext cx="1579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目的 </a:t>
            </a:r>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地址</a:t>
            </a:r>
          </a:p>
        </p:txBody>
      </p:sp>
      <p:sp>
        <p:nvSpPr>
          <p:cNvPr id="28702" name="Text Box 29"/>
          <p:cNvSpPr txBox="1">
            <a:spLocks noChangeArrowheads="1"/>
          </p:cNvSpPr>
          <p:nvPr/>
        </p:nvSpPr>
        <p:spPr bwMode="auto">
          <a:xfrm>
            <a:off x="5454650" y="240347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0</a:t>
            </a:r>
          </a:p>
        </p:txBody>
      </p:sp>
      <p:sp>
        <p:nvSpPr>
          <p:cNvPr id="28703" name="Text Box 30"/>
          <p:cNvSpPr txBox="1">
            <a:spLocks noChangeArrowheads="1"/>
          </p:cNvSpPr>
          <p:nvPr/>
        </p:nvSpPr>
        <p:spPr bwMode="auto">
          <a:xfrm>
            <a:off x="5888038" y="2403475"/>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17</a:t>
            </a:r>
          </a:p>
        </p:txBody>
      </p:sp>
      <p:sp>
        <p:nvSpPr>
          <p:cNvPr id="28704" name="Line 31"/>
          <p:cNvSpPr>
            <a:spLocks noChangeShapeType="1"/>
          </p:cNvSpPr>
          <p:nvPr/>
        </p:nvSpPr>
        <p:spPr bwMode="auto">
          <a:xfrm>
            <a:off x="2225675" y="6062663"/>
            <a:ext cx="659447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05" name="Rectangle 32"/>
          <p:cNvSpPr>
            <a:spLocks noChangeArrowheads="1"/>
          </p:cNvSpPr>
          <p:nvPr/>
        </p:nvSpPr>
        <p:spPr bwMode="auto">
          <a:xfrm>
            <a:off x="4810125" y="5908675"/>
            <a:ext cx="1173163"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06" name="Text Box 33"/>
          <p:cNvSpPr txBox="1">
            <a:spLocks noChangeArrowheads="1"/>
          </p:cNvSpPr>
          <p:nvPr/>
        </p:nvSpPr>
        <p:spPr bwMode="auto">
          <a:xfrm>
            <a:off x="4764088" y="5883275"/>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数据报</a:t>
            </a:r>
          </a:p>
        </p:txBody>
      </p:sp>
      <p:sp>
        <p:nvSpPr>
          <p:cNvPr id="28707" name="Text Box 34"/>
          <p:cNvSpPr txBox="1">
            <a:spLocks noChangeArrowheads="1"/>
          </p:cNvSpPr>
          <p:nvPr/>
        </p:nvSpPr>
        <p:spPr bwMode="auto">
          <a:xfrm>
            <a:off x="287338" y="202406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字节</a:t>
            </a:r>
          </a:p>
        </p:txBody>
      </p:sp>
      <p:sp>
        <p:nvSpPr>
          <p:cNvPr id="28708" name="Text Box 35"/>
          <p:cNvSpPr txBox="1">
            <a:spLocks noChangeArrowheads="1"/>
          </p:cNvSpPr>
          <p:nvPr/>
        </p:nvSpPr>
        <p:spPr bwMode="auto">
          <a:xfrm>
            <a:off x="1831975" y="2001838"/>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4</a:t>
            </a:r>
          </a:p>
        </p:txBody>
      </p:sp>
      <p:sp>
        <p:nvSpPr>
          <p:cNvPr id="28709" name="Text Box 36"/>
          <p:cNvSpPr txBox="1">
            <a:spLocks noChangeArrowheads="1"/>
          </p:cNvSpPr>
          <p:nvPr/>
        </p:nvSpPr>
        <p:spPr bwMode="auto">
          <a:xfrm>
            <a:off x="4059238" y="2001838"/>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4</a:t>
            </a:r>
          </a:p>
        </p:txBody>
      </p:sp>
      <p:sp>
        <p:nvSpPr>
          <p:cNvPr id="28710" name="Text Box 37"/>
          <p:cNvSpPr txBox="1">
            <a:spLocks noChangeArrowheads="1"/>
          </p:cNvSpPr>
          <p:nvPr/>
        </p:nvSpPr>
        <p:spPr bwMode="auto">
          <a:xfrm>
            <a:off x="5454650" y="2001838"/>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a:t>
            </a:r>
          </a:p>
        </p:txBody>
      </p:sp>
      <p:sp>
        <p:nvSpPr>
          <p:cNvPr id="28711" name="Text Box 38"/>
          <p:cNvSpPr txBox="1">
            <a:spLocks noChangeArrowheads="1"/>
          </p:cNvSpPr>
          <p:nvPr/>
        </p:nvSpPr>
        <p:spPr bwMode="auto">
          <a:xfrm>
            <a:off x="5975350" y="2001838"/>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a:t>
            </a:r>
          </a:p>
        </p:txBody>
      </p:sp>
      <p:sp>
        <p:nvSpPr>
          <p:cNvPr id="28712" name="Text Box 39"/>
          <p:cNvSpPr txBox="1">
            <a:spLocks noChangeArrowheads="1"/>
          </p:cNvSpPr>
          <p:nvPr/>
        </p:nvSpPr>
        <p:spPr bwMode="auto">
          <a:xfrm>
            <a:off x="6762750" y="20018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28713" name="Text Box 40"/>
          <p:cNvSpPr txBox="1">
            <a:spLocks noChangeArrowheads="1"/>
          </p:cNvSpPr>
          <p:nvPr/>
        </p:nvSpPr>
        <p:spPr bwMode="auto">
          <a:xfrm>
            <a:off x="1957388" y="3171825"/>
            <a:ext cx="46672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12</a:t>
            </a:r>
          </a:p>
        </p:txBody>
      </p:sp>
      <p:sp>
        <p:nvSpPr>
          <p:cNvPr id="28714" name="Text Box 41"/>
          <p:cNvSpPr txBox="1">
            <a:spLocks noChangeArrowheads="1"/>
          </p:cNvSpPr>
          <p:nvPr/>
        </p:nvSpPr>
        <p:spPr bwMode="auto">
          <a:xfrm>
            <a:off x="3227388" y="3176588"/>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28715" name="Text Box 42"/>
          <p:cNvSpPr txBox="1">
            <a:spLocks noChangeArrowheads="1"/>
          </p:cNvSpPr>
          <p:nvPr/>
        </p:nvSpPr>
        <p:spPr bwMode="auto">
          <a:xfrm>
            <a:off x="4452938" y="3176588"/>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28716" name="Text Box 43"/>
          <p:cNvSpPr txBox="1">
            <a:spLocks noChangeArrowheads="1"/>
          </p:cNvSpPr>
          <p:nvPr/>
        </p:nvSpPr>
        <p:spPr bwMode="auto">
          <a:xfrm>
            <a:off x="5522913" y="3176588"/>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28717" name="Text Box 44"/>
          <p:cNvSpPr txBox="1">
            <a:spLocks noChangeArrowheads="1"/>
          </p:cNvSpPr>
          <p:nvPr/>
        </p:nvSpPr>
        <p:spPr bwMode="auto">
          <a:xfrm>
            <a:off x="6740525" y="317658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28718" name="Text Box 45"/>
          <p:cNvSpPr txBox="1">
            <a:spLocks noChangeArrowheads="1"/>
          </p:cNvSpPr>
          <p:nvPr/>
        </p:nvSpPr>
        <p:spPr bwMode="auto">
          <a:xfrm>
            <a:off x="800100" y="3171825"/>
            <a:ext cx="692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字节</a:t>
            </a:r>
          </a:p>
        </p:txBody>
      </p:sp>
      <p:sp>
        <p:nvSpPr>
          <p:cNvPr id="28719" name="Text Box 46"/>
          <p:cNvSpPr txBox="1">
            <a:spLocks noChangeArrowheads="1"/>
          </p:cNvSpPr>
          <p:nvPr/>
        </p:nvSpPr>
        <p:spPr bwMode="auto">
          <a:xfrm>
            <a:off x="1041400" y="501332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发送在前</a:t>
            </a:r>
          </a:p>
        </p:txBody>
      </p:sp>
      <p:sp>
        <p:nvSpPr>
          <p:cNvPr id="28720" name="AutoShape 47"/>
          <p:cNvSpPr>
            <a:spLocks noChangeArrowheads="1"/>
          </p:cNvSpPr>
          <p:nvPr/>
        </p:nvSpPr>
        <p:spPr bwMode="auto">
          <a:xfrm>
            <a:off x="5978525" y="5149850"/>
            <a:ext cx="277813" cy="415925"/>
          </a:xfrm>
          <a:prstGeom prst="downArrow">
            <a:avLst>
              <a:gd name="adj1" fmla="val 50000"/>
              <a:gd name="adj2" fmla="val 37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1" name="Rectangle 48"/>
          <p:cNvSpPr>
            <a:spLocks noChangeArrowheads="1"/>
          </p:cNvSpPr>
          <p:nvPr/>
        </p:nvSpPr>
        <p:spPr bwMode="auto">
          <a:xfrm>
            <a:off x="4427538" y="4437063"/>
            <a:ext cx="4392612" cy="45720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2" name="Text Box 49"/>
          <p:cNvSpPr txBox="1">
            <a:spLocks noChangeArrowheads="1"/>
          </p:cNvSpPr>
          <p:nvPr/>
        </p:nvSpPr>
        <p:spPr bwMode="auto">
          <a:xfrm>
            <a:off x="5983288" y="4479925"/>
            <a:ext cx="132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数         据</a:t>
            </a:r>
          </a:p>
        </p:txBody>
      </p:sp>
      <p:sp>
        <p:nvSpPr>
          <p:cNvPr id="28723" name="Text Box 50"/>
          <p:cNvSpPr txBox="1">
            <a:spLocks noChangeArrowheads="1"/>
          </p:cNvSpPr>
          <p:nvPr/>
        </p:nvSpPr>
        <p:spPr bwMode="auto">
          <a:xfrm>
            <a:off x="3487738" y="4479925"/>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  部</a:t>
            </a:r>
          </a:p>
        </p:txBody>
      </p:sp>
      <p:sp>
        <p:nvSpPr>
          <p:cNvPr id="28724" name="AutoShape 51"/>
          <p:cNvSpPr>
            <a:spLocks/>
          </p:cNvSpPr>
          <p:nvPr/>
        </p:nvSpPr>
        <p:spPr bwMode="auto">
          <a:xfrm rot="-5400000">
            <a:off x="6032500" y="2373313"/>
            <a:ext cx="168275" cy="5391150"/>
          </a:xfrm>
          <a:prstGeom prst="leftBrace">
            <a:avLst>
              <a:gd name="adj1" fmla="val 266981"/>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5" name="Text Box 52"/>
          <p:cNvSpPr txBox="1">
            <a:spLocks noChangeArrowheads="1"/>
          </p:cNvSpPr>
          <p:nvPr/>
        </p:nvSpPr>
        <p:spPr bwMode="auto">
          <a:xfrm>
            <a:off x="1258888" y="4437063"/>
            <a:ext cx="2062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 </a:t>
            </a:r>
            <a:r>
              <a:rPr kumimoji="1" lang="zh-CN" altLang="en-US" sz="2000">
                <a:solidFill>
                  <a:srgbClr val="333399"/>
                </a:solidFill>
                <a:latin typeface="Arial" pitchFamily="34" charset="0"/>
                <a:ea typeface="黑体" pitchFamily="49" charset="-122"/>
              </a:rPr>
              <a:t>用户数据报</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17D441B-98AD-4D9C-A648-1BB2E6273919}" type="slidenum">
              <a:rPr lang="en-US" altLang="zh-CN" sz="1400"/>
              <a:pPr eaLnBrk="1" hangingPunct="1"/>
              <a:t>27</a:t>
            </a:fld>
            <a:endParaRPr lang="en-US" altLang="zh-CN" sz="1400"/>
          </a:p>
        </p:txBody>
      </p:sp>
      <p:sp>
        <p:nvSpPr>
          <p:cNvPr id="29699" name="Rectangle 2"/>
          <p:cNvSpPr>
            <a:spLocks noGrp="1" noChangeArrowheads="1"/>
          </p:cNvSpPr>
          <p:nvPr>
            <p:ph type="title"/>
          </p:nvPr>
        </p:nvSpPr>
        <p:spPr>
          <a:xfrm>
            <a:off x="1150938" y="214313"/>
            <a:ext cx="7237412" cy="1462087"/>
          </a:xfrm>
        </p:spPr>
        <p:txBody>
          <a:bodyPr/>
          <a:lstStyle/>
          <a:p>
            <a:pPr algn="ctr" eaLnBrk="1" hangingPunct="1"/>
            <a:r>
              <a:rPr lang="en-US" altLang="zh-CN" smtClean="0"/>
              <a:t>UDP </a:t>
            </a:r>
            <a:r>
              <a:rPr lang="zh-CN" altLang="en-US" smtClean="0"/>
              <a:t>基于端口的分用 </a:t>
            </a:r>
          </a:p>
        </p:txBody>
      </p:sp>
      <p:grpSp>
        <p:nvGrpSpPr>
          <p:cNvPr id="29700" name="Group 14"/>
          <p:cNvGrpSpPr>
            <a:grpSpLocks/>
          </p:cNvGrpSpPr>
          <p:nvPr/>
        </p:nvGrpSpPr>
        <p:grpSpPr bwMode="auto">
          <a:xfrm>
            <a:off x="1187450" y="2276475"/>
            <a:ext cx="6480175" cy="3673475"/>
            <a:chOff x="1655" y="663"/>
            <a:chExt cx="1951" cy="1316"/>
          </a:xfrm>
        </p:grpSpPr>
        <p:sp>
          <p:nvSpPr>
            <p:cNvPr id="29701" name="Rectangle 4"/>
            <p:cNvSpPr>
              <a:spLocks noChangeArrowheads="1"/>
            </p:cNvSpPr>
            <p:nvPr/>
          </p:nvSpPr>
          <p:spPr bwMode="auto">
            <a:xfrm>
              <a:off x="2290" y="1752"/>
              <a:ext cx="681" cy="227"/>
            </a:xfrm>
            <a:prstGeom prst="rect">
              <a:avLst/>
            </a:prstGeom>
            <a:solidFill>
              <a:schemeClr val="accent2"/>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a:solidFill>
                    <a:schemeClr val="folHlink"/>
                  </a:solidFill>
                  <a:latin typeface="Arial" pitchFamily="34" charset="0"/>
                  <a:ea typeface="黑体" pitchFamily="49" charset="-122"/>
                </a:rPr>
                <a:t>IP </a:t>
              </a:r>
              <a:r>
                <a:rPr lang="zh-CN" altLang="en-US">
                  <a:solidFill>
                    <a:schemeClr val="folHlink"/>
                  </a:solidFill>
                  <a:latin typeface="Arial" pitchFamily="34" charset="0"/>
                  <a:ea typeface="黑体" pitchFamily="49" charset="-122"/>
                </a:rPr>
                <a:t>层</a:t>
              </a:r>
            </a:p>
          </p:txBody>
        </p:sp>
        <p:sp>
          <p:nvSpPr>
            <p:cNvPr id="29702" name="Text Box 5"/>
            <p:cNvSpPr txBox="1">
              <a:spLocks noChangeArrowheads="1"/>
            </p:cNvSpPr>
            <p:nvPr/>
          </p:nvSpPr>
          <p:spPr bwMode="auto">
            <a:xfrm>
              <a:off x="2699" y="1427"/>
              <a:ext cx="846"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UDP </a:t>
              </a:r>
              <a:r>
                <a:rPr lang="zh-CN" altLang="en-US">
                  <a:solidFill>
                    <a:schemeClr val="folHlink"/>
                  </a:solidFill>
                  <a:latin typeface="Arial" pitchFamily="34" charset="0"/>
                  <a:ea typeface="黑体" pitchFamily="49" charset="-122"/>
                </a:rPr>
                <a:t>数据报到达</a:t>
              </a:r>
            </a:p>
          </p:txBody>
        </p:sp>
        <p:sp>
          <p:nvSpPr>
            <p:cNvPr id="29703" name="Rectangle 6"/>
            <p:cNvSpPr>
              <a:spLocks noChangeArrowheads="1"/>
            </p:cNvSpPr>
            <p:nvPr/>
          </p:nvSpPr>
          <p:spPr bwMode="auto">
            <a:xfrm>
              <a:off x="2381" y="663"/>
              <a:ext cx="499" cy="227"/>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a:solidFill>
                    <a:schemeClr val="folHlink"/>
                  </a:solidFill>
                  <a:latin typeface="Arial" pitchFamily="34" charset="0"/>
                  <a:ea typeface="黑体" pitchFamily="49" charset="-122"/>
                </a:rPr>
                <a:t>端口 </a:t>
              </a:r>
              <a:r>
                <a:rPr lang="en-US" altLang="zh-CN">
                  <a:solidFill>
                    <a:schemeClr val="folHlink"/>
                  </a:solidFill>
                  <a:latin typeface="Arial" pitchFamily="34" charset="0"/>
                  <a:ea typeface="黑体" pitchFamily="49" charset="-122"/>
                </a:rPr>
                <a:t>2</a:t>
              </a:r>
            </a:p>
          </p:txBody>
        </p:sp>
        <p:sp>
          <p:nvSpPr>
            <p:cNvPr id="29704" name="Line 7"/>
            <p:cNvSpPr>
              <a:spLocks noChangeShapeType="1"/>
            </p:cNvSpPr>
            <p:nvPr/>
          </p:nvSpPr>
          <p:spPr bwMode="auto">
            <a:xfrm flipV="1">
              <a:off x="2630" y="1434"/>
              <a:ext cx="0" cy="318"/>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5" name="Line 8"/>
            <p:cNvSpPr>
              <a:spLocks noChangeShapeType="1"/>
            </p:cNvSpPr>
            <p:nvPr/>
          </p:nvSpPr>
          <p:spPr bwMode="auto">
            <a:xfrm flipV="1">
              <a:off x="2630" y="890"/>
              <a:ext cx="0" cy="318"/>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6" name="Line 9"/>
            <p:cNvSpPr>
              <a:spLocks noChangeShapeType="1"/>
            </p:cNvSpPr>
            <p:nvPr/>
          </p:nvSpPr>
          <p:spPr bwMode="auto">
            <a:xfrm flipV="1">
              <a:off x="2766" y="890"/>
              <a:ext cx="477" cy="318"/>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7" name="Line 10"/>
            <p:cNvSpPr>
              <a:spLocks noChangeShapeType="1"/>
            </p:cNvSpPr>
            <p:nvPr/>
          </p:nvSpPr>
          <p:spPr bwMode="auto">
            <a:xfrm flipH="1" flipV="1">
              <a:off x="2018" y="890"/>
              <a:ext cx="477" cy="318"/>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8" name="Rectangle 11"/>
            <p:cNvSpPr>
              <a:spLocks noChangeArrowheads="1"/>
            </p:cNvSpPr>
            <p:nvPr/>
          </p:nvSpPr>
          <p:spPr bwMode="auto">
            <a:xfrm>
              <a:off x="3107" y="663"/>
              <a:ext cx="499" cy="227"/>
            </a:xfrm>
            <a:prstGeom prst="rect">
              <a:avLst/>
            </a:prstGeom>
            <a:solidFill>
              <a:srgbClr val="00FF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a:solidFill>
                    <a:schemeClr val="folHlink"/>
                  </a:solidFill>
                  <a:latin typeface="Arial" pitchFamily="34" charset="0"/>
                  <a:ea typeface="黑体" pitchFamily="49" charset="-122"/>
                </a:rPr>
                <a:t>端口 </a:t>
              </a:r>
              <a:r>
                <a:rPr lang="en-US" altLang="zh-CN">
                  <a:solidFill>
                    <a:schemeClr val="folHlink"/>
                  </a:solidFill>
                  <a:latin typeface="Arial" pitchFamily="34" charset="0"/>
                  <a:ea typeface="黑体" pitchFamily="49" charset="-122"/>
                </a:rPr>
                <a:t>3</a:t>
              </a:r>
            </a:p>
          </p:txBody>
        </p:sp>
        <p:sp>
          <p:nvSpPr>
            <p:cNvPr id="29709" name="Rectangle 12"/>
            <p:cNvSpPr>
              <a:spLocks noChangeArrowheads="1"/>
            </p:cNvSpPr>
            <p:nvPr/>
          </p:nvSpPr>
          <p:spPr bwMode="auto">
            <a:xfrm>
              <a:off x="1655" y="663"/>
              <a:ext cx="499" cy="227"/>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zh-CN" altLang="en-US">
                  <a:solidFill>
                    <a:schemeClr val="folHlink"/>
                  </a:solidFill>
                  <a:latin typeface="Arial" pitchFamily="34" charset="0"/>
                  <a:ea typeface="黑体" pitchFamily="49" charset="-122"/>
                </a:rPr>
                <a:t>端口 </a:t>
              </a:r>
              <a:r>
                <a:rPr lang="en-US" altLang="zh-CN">
                  <a:solidFill>
                    <a:schemeClr val="folHlink"/>
                  </a:solidFill>
                  <a:latin typeface="Arial" pitchFamily="34" charset="0"/>
                  <a:ea typeface="黑体" pitchFamily="49" charset="-122"/>
                </a:rPr>
                <a:t>1</a:t>
              </a:r>
            </a:p>
          </p:txBody>
        </p:sp>
        <p:sp>
          <p:nvSpPr>
            <p:cNvPr id="29710" name="Rectangle 13"/>
            <p:cNvSpPr>
              <a:spLocks noChangeArrowheads="1"/>
            </p:cNvSpPr>
            <p:nvPr/>
          </p:nvSpPr>
          <p:spPr bwMode="auto">
            <a:xfrm>
              <a:off x="2290" y="1207"/>
              <a:ext cx="681" cy="227"/>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a:solidFill>
                    <a:schemeClr val="folHlink"/>
                  </a:solidFill>
                  <a:latin typeface="Arial" pitchFamily="34" charset="0"/>
                  <a:ea typeface="黑体" pitchFamily="49" charset="-122"/>
                </a:rPr>
                <a:t>UDP </a:t>
              </a:r>
              <a:r>
                <a:rPr lang="zh-CN" altLang="en-US">
                  <a:solidFill>
                    <a:schemeClr val="folHlink"/>
                  </a:solidFill>
                  <a:latin typeface="Arial" pitchFamily="34" charset="0"/>
                  <a:ea typeface="黑体" pitchFamily="49" charset="-122"/>
                </a:rPr>
                <a:t>分用</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57"/>
          <p:cNvSpPr>
            <a:spLocks noChangeArrowheads="1"/>
          </p:cNvSpPr>
          <p:nvPr/>
        </p:nvSpPr>
        <p:spPr bwMode="auto">
          <a:xfrm>
            <a:off x="2268538" y="5373688"/>
            <a:ext cx="1079500" cy="457200"/>
          </a:xfrm>
          <a:prstGeom prst="rect">
            <a:avLst/>
          </a:prstGeom>
          <a:solidFill>
            <a:srgbClr val="CC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23" name="Freeform 7"/>
          <p:cNvSpPr>
            <a:spLocks/>
          </p:cNvSpPr>
          <p:nvPr/>
        </p:nvSpPr>
        <p:spPr bwMode="auto">
          <a:xfrm>
            <a:off x="2849563" y="4006850"/>
            <a:ext cx="4633912" cy="438150"/>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94ABB9"/>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24" name="Rectangle 56"/>
          <p:cNvSpPr>
            <a:spLocks noChangeArrowheads="1"/>
          </p:cNvSpPr>
          <p:nvPr/>
        </p:nvSpPr>
        <p:spPr bwMode="auto">
          <a:xfrm>
            <a:off x="3346450" y="4437063"/>
            <a:ext cx="1081088" cy="45720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25" name="AutoShape 5"/>
          <p:cNvSpPr>
            <a:spLocks noChangeArrowheads="1"/>
          </p:cNvSpPr>
          <p:nvPr/>
        </p:nvSpPr>
        <p:spPr bwMode="auto">
          <a:xfrm>
            <a:off x="1470025" y="5464175"/>
            <a:ext cx="798513" cy="288925"/>
          </a:xfrm>
          <a:prstGeom prst="leftArrow">
            <a:avLst>
              <a:gd name="adj1" fmla="val 50000"/>
              <a:gd name="adj2" fmla="val 69093"/>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26" name="Freeform 6"/>
          <p:cNvSpPr>
            <a:spLocks/>
          </p:cNvSpPr>
          <p:nvPr/>
        </p:nvSpPr>
        <p:spPr bwMode="auto">
          <a:xfrm>
            <a:off x="890588" y="2863850"/>
            <a:ext cx="6681787" cy="68580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C9C979"/>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27" name="Rectangle 8"/>
          <p:cNvSpPr>
            <a:spLocks noChangeArrowheads="1"/>
          </p:cNvSpPr>
          <p:nvPr/>
        </p:nvSpPr>
        <p:spPr bwMode="auto">
          <a:xfrm>
            <a:off x="2849563" y="3549650"/>
            <a:ext cx="4633912"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28" name="Rectangle 9"/>
          <p:cNvSpPr>
            <a:spLocks noChangeArrowheads="1"/>
          </p:cNvSpPr>
          <p:nvPr/>
        </p:nvSpPr>
        <p:spPr bwMode="auto">
          <a:xfrm>
            <a:off x="3348038" y="5376863"/>
            <a:ext cx="5472112" cy="457200"/>
          </a:xfrm>
          <a:prstGeom prst="rect">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29" name="Line 11"/>
          <p:cNvSpPr>
            <a:spLocks noChangeShapeType="1"/>
          </p:cNvSpPr>
          <p:nvPr/>
        </p:nvSpPr>
        <p:spPr bwMode="auto">
          <a:xfrm>
            <a:off x="4008438" y="3549650"/>
            <a:ext cx="1587"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0" name="Rectangle 12"/>
          <p:cNvSpPr>
            <a:spLocks noChangeArrowheads="1"/>
          </p:cNvSpPr>
          <p:nvPr/>
        </p:nvSpPr>
        <p:spPr bwMode="auto">
          <a:xfrm>
            <a:off x="895350" y="2406650"/>
            <a:ext cx="6684963" cy="4572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1" name="Line 13"/>
          <p:cNvSpPr>
            <a:spLocks noChangeShapeType="1"/>
          </p:cNvSpPr>
          <p:nvPr/>
        </p:nvSpPr>
        <p:spPr bwMode="auto">
          <a:xfrm>
            <a:off x="3121025" y="2406650"/>
            <a:ext cx="3175"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2" name="Line 14"/>
          <p:cNvSpPr>
            <a:spLocks noChangeShapeType="1"/>
          </p:cNvSpPr>
          <p:nvPr/>
        </p:nvSpPr>
        <p:spPr bwMode="auto">
          <a:xfrm>
            <a:off x="5165725" y="3549650"/>
            <a:ext cx="3175"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3" name="Line 15"/>
          <p:cNvSpPr>
            <a:spLocks noChangeShapeType="1"/>
          </p:cNvSpPr>
          <p:nvPr/>
        </p:nvSpPr>
        <p:spPr bwMode="auto">
          <a:xfrm>
            <a:off x="6324600" y="3549650"/>
            <a:ext cx="158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4" name="Freeform 16"/>
          <p:cNvSpPr>
            <a:spLocks/>
          </p:cNvSpPr>
          <p:nvPr/>
        </p:nvSpPr>
        <p:spPr bwMode="auto">
          <a:xfrm>
            <a:off x="1600200" y="3549650"/>
            <a:ext cx="1249363" cy="4572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35" name="Text Box 17"/>
          <p:cNvSpPr txBox="1">
            <a:spLocks noChangeArrowheads="1"/>
          </p:cNvSpPr>
          <p:nvPr/>
        </p:nvSpPr>
        <p:spPr bwMode="auto">
          <a:xfrm>
            <a:off x="1717675" y="3546475"/>
            <a:ext cx="946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伪首部</a:t>
            </a:r>
          </a:p>
        </p:txBody>
      </p:sp>
      <p:sp>
        <p:nvSpPr>
          <p:cNvPr id="30736" name="Text Box 18"/>
          <p:cNvSpPr txBox="1">
            <a:spLocks noChangeArrowheads="1"/>
          </p:cNvSpPr>
          <p:nvPr/>
        </p:nvSpPr>
        <p:spPr bwMode="auto">
          <a:xfrm>
            <a:off x="2860675" y="3546475"/>
            <a:ext cx="947738"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源端口</a:t>
            </a:r>
          </a:p>
        </p:txBody>
      </p:sp>
      <p:sp>
        <p:nvSpPr>
          <p:cNvPr id="30737" name="Text Box 19"/>
          <p:cNvSpPr txBox="1">
            <a:spLocks noChangeArrowheads="1"/>
          </p:cNvSpPr>
          <p:nvPr/>
        </p:nvSpPr>
        <p:spPr bwMode="auto">
          <a:xfrm>
            <a:off x="3949700" y="3546475"/>
            <a:ext cx="1200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目的端口</a:t>
            </a:r>
          </a:p>
        </p:txBody>
      </p:sp>
      <p:sp>
        <p:nvSpPr>
          <p:cNvPr id="30738" name="Text Box 20"/>
          <p:cNvSpPr txBox="1">
            <a:spLocks noChangeArrowheads="1"/>
          </p:cNvSpPr>
          <p:nvPr/>
        </p:nvSpPr>
        <p:spPr bwMode="auto">
          <a:xfrm>
            <a:off x="5284788" y="3544888"/>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长  度</a:t>
            </a:r>
          </a:p>
        </p:txBody>
      </p:sp>
      <p:sp>
        <p:nvSpPr>
          <p:cNvPr id="30739" name="Text Box 21"/>
          <p:cNvSpPr txBox="1">
            <a:spLocks noChangeArrowheads="1"/>
          </p:cNvSpPr>
          <p:nvPr/>
        </p:nvSpPr>
        <p:spPr bwMode="auto">
          <a:xfrm>
            <a:off x="6429375" y="3546475"/>
            <a:ext cx="946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检验和</a:t>
            </a:r>
          </a:p>
        </p:txBody>
      </p:sp>
      <p:sp>
        <p:nvSpPr>
          <p:cNvPr id="30740" name="Text Box 22"/>
          <p:cNvSpPr txBox="1">
            <a:spLocks noChangeArrowheads="1"/>
          </p:cNvSpPr>
          <p:nvPr/>
        </p:nvSpPr>
        <p:spPr bwMode="auto">
          <a:xfrm>
            <a:off x="5429250" y="5418138"/>
            <a:ext cx="132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数         据</a:t>
            </a:r>
          </a:p>
        </p:txBody>
      </p:sp>
      <p:sp>
        <p:nvSpPr>
          <p:cNvPr id="30741" name="Text Box 23"/>
          <p:cNvSpPr txBox="1">
            <a:spLocks noChangeArrowheads="1"/>
          </p:cNvSpPr>
          <p:nvPr/>
        </p:nvSpPr>
        <p:spPr bwMode="auto">
          <a:xfrm>
            <a:off x="2373313" y="5418138"/>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  部</a:t>
            </a:r>
          </a:p>
        </p:txBody>
      </p:sp>
      <p:sp>
        <p:nvSpPr>
          <p:cNvPr id="30742" name="Line 24"/>
          <p:cNvSpPr>
            <a:spLocks noChangeShapeType="1"/>
          </p:cNvSpPr>
          <p:nvPr/>
        </p:nvSpPr>
        <p:spPr bwMode="auto">
          <a:xfrm>
            <a:off x="5353050" y="240665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3" name="Line 25"/>
          <p:cNvSpPr>
            <a:spLocks noChangeShapeType="1"/>
          </p:cNvSpPr>
          <p:nvPr/>
        </p:nvSpPr>
        <p:spPr bwMode="auto">
          <a:xfrm>
            <a:off x="5886450" y="2406650"/>
            <a:ext cx="158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4" name="Line 26"/>
          <p:cNvSpPr>
            <a:spLocks noChangeShapeType="1"/>
          </p:cNvSpPr>
          <p:nvPr/>
        </p:nvSpPr>
        <p:spPr bwMode="auto">
          <a:xfrm>
            <a:off x="6419850" y="240665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45" name="Text Box 27"/>
          <p:cNvSpPr txBox="1">
            <a:spLocks noChangeArrowheads="1"/>
          </p:cNvSpPr>
          <p:nvPr/>
        </p:nvSpPr>
        <p:spPr bwMode="auto">
          <a:xfrm>
            <a:off x="6376988" y="2403475"/>
            <a:ext cx="1230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r>
              <a:rPr kumimoji="1" lang="zh-CN" altLang="en-US" sz="2000">
                <a:solidFill>
                  <a:srgbClr val="333399"/>
                </a:solidFill>
                <a:latin typeface="Arial" pitchFamily="34" charset="0"/>
                <a:ea typeface="黑体" pitchFamily="49" charset="-122"/>
              </a:rPr>
              <a:t>长度</a:t>
            </a:r>
          </a:p>
        </p:txBody>
      </p:sp>
      <p:sp>
        <p:nvSpPr>
          <p:cNvPr id="30746" name="Text Box 28"/>
          <p:cNvSpPr txBox="1">
            <a:spLocks noChangeArrowheads="1"/>
          </p:cNvSpPr>
          <p:nvPr/>
        </p:nvSpPr>
        <p:spPr bwMode="auto">
          <a:xfrm>
            <a:off x="1282700" y="2403475"/>
            <a:ext cx="1327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源 </a:t>
            </a:r>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地址</a:t>
            </a:r>
          </a:p>
        </p:txBody>
      </p:sp>
      <p:sp>
        <p:nvSpPr>
          <p:cNvPr id="30747" name="Text Box 29"/>
          <p:cNvSpPr txBox="1">
            <a:spLocks noChangeArrowheads="1"/>
          </p:cNvSpPr>
          <p:nvPr/>
        </p:nvSpPr>
        <p:spPr bwMode="auto">
          <a:xfrm>
            <a:off x="3421063" y="2403475"/>
            <a:ext cx="1579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目的 </a:t>
            </a:r>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地址</a:t>
            </a:r>
          </a:p>
        </p:txBody>
      </p:sp>
      <p:sp>
        <p:nvSpPr>
          <p:cNvPr id="30748" name="Text Box 30"/>
          <p:cNvSpPr txBox="1">
            <a:spLocks noChangeArrowheads="1"/>
          </p:cNvSpPr>
          <p:nvPr/>
        </p:nvSpPr>
        <p:spPr bwMode="auto">
          <a:xfrm>
            <a:off x="5454650" y="240347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0</a:t>
            </a:r>
          </a:p>
        </p:txBody>
      </p:sp>
      <p:sp>
        <p:nvSpPr>
          <p:cNvPr id="30749" name="Text Box 31"/>
          <p:cNvSpPr txBox="1">
            <a:spLocks noChangeArrowheads="1"/>
          </p:cNvSpPr>
          <p:nvPr/>
        </p:nvSpPr>
        <p:spPr bwMode="auto">
          <a:xfrm>
            <a:off x="5888038" y="2403475"/>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17</a:t>
            </a:r>
          </a:p>
        </p:txBody>
      </p:sp>
      <p:sp>
        <p:nvSpPr>
          <p:cNvPr id="30750" name="Line 32"/>
          <p:cNvSpPr>
            <a:spLocks noChangeShapeType="1"/>
          </p:cNvSpPr>
          <p:nvPr/>
        </p:nvSpPr>
        <p:spPr bwMode="auto">
          <a:xfrm>
            <a:off x="2225675" y="6062663"/>
            <a:ext cx="659447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1" name="Rectangle 33"/>
          <p:cNvSpPr>
            <a:spLocks noChangeArrowheads="1"/>
          </p:cNvSpPr>
          <p:nvPr/>
        </p:nvSpPr>
        <p:spPr bwMode="auto">
          <a:xfrm>
            <a:off x="4810125" y="5908675"/>
            <a:ext cx="1173163"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2" name="Text Box 34"/>
          <p:cNvSpPr txBox="1">
            <a:spLocks noChangeArrowheads="1"/>
          </p:cNvSpPr>
          <p:nvPr/>
        </p:nvSpPr>
        <p:spPr bwMode="auto">
          <a:xfrm>
            <a:off x="4764088" y="5883275"/>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数据报</a:t>
            </a:r>
          </a:p>
        </p:txBody>
      </p:sp>
      <p:sp>
        <p:nvSpPr>
          <p:cNvPr id="30753" name="Text Box 35"/>
          <p:cNvSpPr txBox="1">
            <a:spLocks noChangeArrowheads="1"/>
          </p:cNvSpPr>
          <p:nvPr/>
        </p:nvSpPr>
        <p:spPr bwMode="auto">
          <a:xfrm>
            <a:off x="287338" y="202406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字节</a:t>
            </a:r>
          </a:p>
        </p:txBody>
      </p:sp>
      <p:sp>
        <p:nvSpPr>
          <p:cNvPr id="30754" name="Text Box 36"/>
          <p:cNvSpPr txBox="1">
            <a:spLocks noChangeArrowheads="1"/>
          </p:cNvSpPr>
          <p:nvPr/>
        </p:nvSpPr>
        <p:spPr bwMode="auto">
          <a:xfrm>
            <a:off x="1831975" y="2001838"/>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4</a:t>
            </a:r>
          </a:p>
        </p:txBody>
      </p:sp>
      <p:sp>
        <p:nvSpPr>
          <p:cNvPr id="30755" name="Text Box 37"/>
          <p:cNvSpPr txBox="1">
            <a:spLocks noChangeArrowheads="1"/>
          </p:cNvSpPr>
          <p:nvPr/>
        </p:nvSpPr>
        <p:spPr bwMode="auto">
          <a:xfrm>
            <a:off x="4059238" y="2001838"/>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4</a:t>
            </a:r>
          </a:p>
        </p:txBody>
      </p:sp>
      <p:sp>
        <p:nvSpPr>
          <p:cNvPr id="30756" name="Text Box 38"/>
          <p:cNvSpPr txBox="1">
            <a:spLocks noChangeArrowheads="1"/>
          </p:cNvSpPr>
          <p:nvPr/>
        </p:nvSpPr>
        <p:spPr bwMode="auto">
          <a:xfrm>
            <a:off x="5454650" y="2001838"/>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a:t>
            </a:r>
          </a:p>
        </p:txBody>
      </p:sp>
      <p:sp>
        <p:nvSpPr>
          <p:cNvPr id="30757" name="Text Box 39"/>
          <p:cNvSpPr txBox="1">
            <a:spLocks noChangeArrowheads="1"/>
          </p:cNvSpPr>
          <p:nvPr/>
        </p:nvSpPr>
        <p:spPr bwMode="auto">
          <a:xfrm>
            <a:off x="5975350" y="2001838"/>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a:t>
            </a:r>
          </a:p>
        </p:txBody>
      </p:sp>
      <p:sp>
        <p:nvSpPr>
          <p:cNvPr id="30758" name="Text Box 40"/>
          <p:cNvSpPr txBox="1">
            <a:spLocks noChangeArrowheads="1"/>
          </p:cNvSpPr>
          <p:nvPr/>
        </p:nvSpPr>
        <p:spPr bwMode="auto">
          <a:xfrm>
            <a:off x="6762750" y="20018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0759" name="Text Box 41"/>
          <p:cNvSpPr txBox="1">
            <a:spLocks noChangeArrowheads="1"/>
          </p:cNvSpPr>
          <p:nvPr/>
        </p:nvSpPr>
        <p:spPr bwMode="auto">
          <a:xfrm>
            <a:off x="1957388" y="3171825"/>
            <a:ext cx="46672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12</a:t>
            </a:r>
          </a:p>
        </p:txBody>
      </p:sp>
      <p:sp>
        <p:nvSpPr>
          <p:cNvPr id="30760" name="Text Box 42"/>
          <p:cNvSpPr txBox="1">
            <a:spLocks noChangeArrowheads="1"/>
          </p:cNvSpPr>
          <p:nvPr/>
        </p:nvSpPr>
        <p:spPr bwMode="auto">
          <a:xfrm>
            <a:off x="3227388" y="3176588"/>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0761" name="Text Box 43"/>
          <p:cNvSpPr txBox="1">
            <a:spLocks noChangeArrowheads="1"/>
          </p:cNvSpPr>
          <p:nvPr/>
        </p:nvSpPr>
        <p:spPr bwMode="auto">
          <a:xfrm>
            <a:off x="4452938" y="3176588"/>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0762" name="Text Box 44"/>
          <p:cNvSpPr txBox="1">
            <a:spLocks noChangeArrowheads="1"/>
          </p:cNvSpPr>
          <p:nvPr/>
        </p:nvSpPr>
        <p:spPr bwMode="auto">
          <a:xfrm>
            <a:off x="5522913" y="3176588"/>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0763" name="Text Box 45"/>
          <p:cNvSpPr txBox="1">
            <a:spLocks noChangeArrowheads="1"/>
          </p:cNvSpPr>
          <p:nvPr/>
        </p:nvSpPr>
        <p:spPr bwMode="auto">
          <a:xfrm>
            <a:off x="6740525" y="317658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0764" name="Text Box 46"/>
          <p:cNvSpPr txBox="1">
            <a:spLocks noChangeArrowheads="1"/>
          </p:cNvSpPr>
          <p:nvPr/>
        </p:nvSpPr>
        <p:spPr bwMode="auto">
          <a:xfrm>
            <a:off x="800100" y="3171825"/>
            <a:ext cx="692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字节</a:t>
            </a:r>
          </a:p>
        </p:txBody>
      </p:sp>
      <p:sp>
        <p:nvSpPr>
          <p:cNvPr id="30765" name="Text Box 47"/>
          <p:cNvSpPr txBox="1">
            <a:spLocks noChangeArrowheads="1"/>
          </p:cNvSpPr>
          <p:nvPr/>
        </p:nvSpPr>
        <p:spPr bwMode="auto">
          <a:xfrm>
            <a:off x="1041400" y="501332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发送在前</a:t>
            </a:r>
          </a:p>
        </p:txBody>
      </p:sp>
      <p:sp>
        <p:nvSpPr>
          <p:cNvPr id="30766" name="AutoShape 48"/>
          <p:cNvSpPr>
            <a:spLocks noChangeArrowheads="1"/>
          </p:cNvSpPr>
          <p:nvPr/>
        </p:nvSpPr>
        <p:spPr bwMode="auto">
          <a:xfrm>
            <a:off x="5978525" y="5149850"/>
            <a:ext cx="277813" cy="415925"/>
          </a:xfrm>
          <a:prstGeom prst="downArrow">
            <a:avLst>
              <a:gd name="adj1" fmla="val 50000"/>
              <a:gd name="adj2" fmla="val 37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7" name="Rectangle 49"/>
          <p:cNvSpPr>
            <a:spLocks noChangeArrowheads="1"/>
          </p:cNvSpPr>
          <p:nvPr/>
        </p:nvSpPr>
        <p:spPr bwMode="auto">
          <a:xfrm>
            <a:off x="4427538" y="4437063"/>
            <a:ext cx="4392612" cy="45720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8" name="Text Box 51"/>
          <p:cNvSpPr txBox="1">
            <a:spLocks noChangeArrowheads="1"/>
          </p:cNvSpPr>
          <p:nvPr/>
        </p:nvSpPr>
        <p:spPr bwMode="auto">
          <a:xfrm>
            <a:off x="5983288" y="4473575"/>
            <a:ext cx="132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数         据</a:t>
            </a:r>
          </a:p>
        </p:txBody>
      </p:sp>
      <p:sp>
        <p:nvSpPr>
          <p:cNvPr id="445492" name="Text Box 52"/>
          <p:cNvSpPr txBox="1">
            <a:spLocks noChangeArrowheads="1"/>
          </p:cNvSpPr>
          <p:nvPr/>
        </p:nvSpPr>
        <p:spPr bwMode="auto">
          <a:xfrm>
            <a:off x="3487738" y="4473575"/>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  部</a:t>
            </a:r>
          </a:p>
        </p:txBody>
      </p:sp>
      <p:sp>
        <p:nvSpPr>
          <p:cNvPr id="30770" name="AutoShape 53"/>
          <p:cNvSpPr>
            <a:spLocks/>
          </p:cNvSpPr>
          <p:nvPr/>
        </p:nvSpPr>
        <p:spPr bwMode="auto">
          <a:xfrm rot="-5400000">
            <a:off x="6032500" y="2373313"/>
            <a:ext cx="168275" cy="5391150"/>
          </a:xfrm>
          <a:prstGeom prst="leftBrace">
            <a:avLst>
              <a:gd name="adj1" fmla="val 266981"/>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1" name="Text Box 54"/>
          <p:cNvSpPr txBox="1">
            <a:spLocks noChangeArrowheads="1"/>
          </p:cNvSpPr>
          <p:nvPr/>
        </p:nvSpPr>
        <p:spPr bwMode="auto">
          <a:xfrm>
            <a:off x="1258888" y="4471988"/>
            <a:ext cx="2062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 </a:t>
            </a:r>
            <a:r>
              <a:rPr kumimoji="1" lang="zh-CN" altLang="en-US" sz="2000">
                <a:solidFill>
                  <a:srgbClr val="333399"/>
                </a:solidFill>
                <a:latin typeface="Arial" pitchFamily="34" charset="0"/>
                <a:ea typeface="黑体" pitchFamily="49" charset="-122"/>
              </a:rPr>
              <a:t>用户数据报</a:t>
            </a:r>
          </a:p>
        </p:txBody>
      </p:sp>
      <p:sp>
        <p:nvSpPr>
          <p:cNvPr id="445499" name="Rectangle 59"/>
          <p:cNvSpPr>
            <a:spLocks noChangeArrowheads="1"/>
          </p:cNvSpPr>
          <p:nvPr/>
        </p:nvSpPr>
        <p:spPr bwMode="auto">
          <a:xfrm>
            <a:off x="2843213" y="3530600"/>
            <a:ext cx="4637087" cy="461963"/>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3" name="Text Box 60"/>
          <p:cNvSpPr txBox="1">
            <a:spLocks noChangeArrowheads="1"/>
          </p:cNvSpPr>
          <p:nvPr/>
        </p:nvSpPr>
        <p:spPr bwMode="auto">
          <a:xfrm>
            <a:off x="611188" y="333375"/>
            <a:ext cx="7797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用户数据报 </a:t>
            </a:r>
            <a:r>
              <a:rPr lang="en-US" altLang="zh-CN">
                <a:solidFill>
                  <a:srgbClr val="333399"/>
                </a:solidFill>
                <a:latin typeface="Arial" pitchFamily="34" charset="0"/>
                <a:ea typeface="黑体" pitchFamily="49" charset="-122"/>
              </a:rPr>
              <a:t>UDP </a:t>
            </a:r>
            <a:r>
              <a:rPr lang="zh-CN" altLang="en-US">
                <a:solidFill>
                  <a:srgbClr val="333399"/>
                </a:solidFill>
                <a:latin typeface="Arial" pitchFamily="34" charset="0"/>
                <a:ea typeface="黑体" pitchFamily="49" charset="-122"/>
              </a:rPr>
              <a:t>有两个字段：数据字段和首部字段。首部字段有 </a:t>
            </a:r>
            <a:r>
              <a:rPr lang="en-US" altLang="zh-CN">
                <a:solidFill>
                  <a:srgbClr val="333399"/>
                </a:solidFill>
                <a:latin typeface="Arial" pitchFamily="34" charset="0"/>
                <a:ea typeface="黑体" pitchFamily="49" charset="-122"/>
              </a:rPr>
              <a:t>8 </a:t>
            </a:r>
            <a:r>
              <a:rPr lang="zh-CN" altLang="en-US">
                <a:solidFill>
                  <a:srgbClr val="333399"/>
                </a:solidFill>
                <a:latin typeface="Arial" pitchFamily="34" charset="0"/>
                <a:ea typeface="黑体" pitchFamily="49" charset="-122"/>
              </a:rPr>
              <a:t>个字节，由 </a:t>
            </a:r>
            <a:r>
              <a:rPr lang="en-US" altLang="zh-CN">
                <a:solidFill>
                  <a:srgbClr val="333399"/>
                </a:solidFill>
                <a:latin typeface="Arial" pitchFamily="34" charset="0"/>
                <a:ea typeface="黑体" pitchFamily="49" charset="-122"/>
              </a:rPr>
              <a:t>4 </a:t>
            </a:r>
            <a:r>
              <a:rPr lang="zh-CN" altLang="en-US">
                <a:solidFill>
                  <a:srgbClr val="333399"/>
                </a:solidFill>
                <a:latin typeface="Arial" pitchFamily="34" charset="0"/>
                <a:ea typeface="黑体" pitchFamily="49" charset="-122"/>
              </a:rPr>
              <a:t>个字段组成，每个字段都是两个字节。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500"/>
                                  </p:stCondLst>
                                  <p:childTnLst>
                                    <p:anim calcmode="discrete" valueType="str">
                                      <p:cBhvr>
                                        <p:cTn id="6" dur="1000" fill="hold"/>
                                        <p:tgtEl>
                                          <p:spTgt spid="445492"/>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1" presetClass="entr" presetSubtype="0" fill="hold" grpId="0" nodeType="afterEffect">
                                  <p:stCondLst>
                                    <p:cond delay="0"/>
                                  </p:stCondLst>
                                  <p:childTnLst>
                                    <p:set>
                                      <p:cBhvr>
                                        <p:cTn id="9" dur="1" fill="hold">
                                          <p:stCondLst>
                                            <p:cond delay="0"/>
                                          </p:stCondLst>
                                        </p:cTn>
                                        <p:tgtEl>
                                          <p:spTgt spid="445499"/>
                                        </p:tgtEl>
                                        <p:attrNameLst>
                                          <p:attrName>style.visibility</p:attrName>
                                        </p:attrNameLst>
                                      </p:cBhvr>
                                      <p:to>
                                        <p:strVal val="visible"/>
                                      </p:to>
                                    </p:set>
                                  </p:childTnLst>
                                </p:cTn>
                              </p:par>
                            </p:childTnLst>
                          </p:cTn>
                        </p:par>
                        <p:par>
                          <p:cTn id="10" fill="hold" nodeType="afterGroup">
                            <p:stCondLst>
                              <p:cond delay="3500"/>
                            </p:stCondLst>
                            <p:childTnLst>
                              <p:par>
                                <p:cTn id="11" presetID="35" presetClass="emph" presetSubtype="0" repeatCount="3000" fill="hold" grpId="1" nodeType="afterEffect">
                                  <p:stCondLst>
                                    <p:cond delay="500"/>
                                  </p:stCondLst>
                                  <p:childTnLst>
                                    <p:anim calcmode="discrete" valueType="str">
                                      <p:cBhvr>
                                        <p:cTn id="12" dur="1000" fill="hold"/>
                                        <p:tgtEl>
                                          <p:spTgt spid="44549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92" grpId="0"/>
      <p:bldP spid="445499" grpId="0" animBg="1"/>
      <p:bldP spid="445499" grpId="1"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2268538" y="5330825"/>
            <a:ext cx="1079500" cy="457200"/>
          </a:xfrm>
          <a:prstGeom prst="rect">
            <a:avLst/>
          </a:prstGeom>
          <a:solidFill>
            <a:srgbClr val="CC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47" name="Freeform 3"/>
          <p:cNvSpPr>
            <a:spLocks/>
          </p:cNvSpPr>
          <p:nvPr/>
        </p:nvSpPr>
        <p:spPr bwMode="auto">
          <a:xfrm>
            <a:off x="2849563" y="3963988"/>
            <a:ext cx="4633912" cy="438150"/>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48" name="Rectangle 4"/>
          <p:cNvSpPr>
            <a:spLocks noChangeArrowheads="1"/>
          </p:cNvSpPr>
          <p:nvPr/>
        </p:nvSpPr>
        <p:spPr bwMode="auto">
          <a:xfrm>
            <a:off x="3346450" y="4394200"/>
            <a:ext cx="1081088" cy="45720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49" name="AutoShape 5"/>
          <p:cNvSpPr>
            <a:spLocks noChangeArrowheads="1"/>
          </p:cNvSpPr>
          <p:nvPr/>
        </p:nvSpPr>
        <p:spPr bwMode="auto">
          <a:xfrm>
            <a:off x="1470025" y="5421313"/>
            <a:ext cx="798513" cy="288925"/>
          </a:xfrm>
          <a:prstGeom prst="leftArrow">
            <a:avLst>
              <a:gd name="adj1" fmla="val 50000"/>
              <a:gd name="adj2" fmla="val 69093"/>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0" name="Freeform 6"/>
          <p:cNvSpPr>
            <a:spLocks/>
          </p:cNvSpPr>
          <p:nvPr/>
        </p:nvSpPr>
        <p:spPr bwMode="auto">
          <a:xfrm>
            <a:off x="890588" y="2820988"/>
            <a:ext cx="6681787" cy="68580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D8D882"/>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1" name="Rectangle 7"/>
          <p:cNvSpPr>
            <a:spLocks noChangeArrowheads="1"/>
          </p:cNvSpPr>
          <p:nvPr/>
        </p:nvSpPr>
        <p:spPr bwMode="auto">
          <a:xfrm>
            <a:off x="2843213" y="3506788"/>
            <a:ext cx="4633912" cy="457200"/>
          </a:xfrm>
          <a:prstGeom prst="rect">
            <a:avLst/>
          </a:prstGeom>
          <a:solidFill>
            <a:srgbClr val="CCE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2" name="Rectangle 8"/>
          <p:cNvSpPr>
            <a:spLocks noChangeArrowheads="1"/>
          </p:cNvSpPr>
          <p:nvPr/>
        </p:nvSpPr>
        <p:spPr bwMode="auto">
          <a:xfrm>
            <a:off x="3348038" y="5334000"/>
            <a:ext cx="5472112" cy="457200"/>
          </a:xfrm>
          <a:prstGeom prst="rect">
            <a:avLst/>
          </a:prstGeom>
          <a:solidFill>
            <a:srgbClr val="CC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3" name="Line 9"/>
          <p:cNvSpPr>
            <a:spLocks noChangeShapeType="1"/>
          </p:cNvSpPr>
          <p:nvPr/>
        </p:nvSpPr>
        <p:spPr bwMode="auto">
          <a:xfrm>
            <a:off x="4008438" y="3506788"/>
            <a:ext cx="1587"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4" name="Rectangle 10"/>
          <p:cNvSpPr>
            <a:spLocks noChangeArrowheads="1"/>
          </p:cNvSpPr>
          <p:nvPr/>
        </p:nvSpPr>
        <p:spPr bwMode="auto">
          <a:xfrm>
            <a:off x="895350" y="2363788"/>
            <a:ext cx="6684963" cy="457200"/>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5" name="Line 11"/>
          <p:cNvSpPr>
            <a:spLocks noChangeShapeType="1"/>
          </p:cNvSpPr>
          <p:nvPr/>
        </p:nvSpPr>
        <p:spPr bwMode="auto">
          <a:xfrm>
            <a:off x="3121025" y="2363788"/>
            <a:ext cx="3175"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6" name="Line 12"/>
          <p:cNvSpPr>
            <a:spLocks noChangeShapeType="1"/>
          </p:cNvSpPr>
          <p:nvPr/>
        </p:nvSpPr>
        <p:spPr bwMode="auto">
          <a:xfrm>
            <a:off x="5165725" y="3506788"/>
            <a:ext cx="3175"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7" name="Line 13"/>
          <p:cNvSpPr>
            <a:spLocks noChangeShapeType="1"/>
          </p:cNvSpPr>
          <p:nvPr/>
        </p:nvSpPr>
        <p:spPr bwMode="auto">
          <a:xfrm>
            <a:off x="6324600" y="3506788"/>
            <a:ext cx="158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8" name="Freeform 14"/>
          <p:cNvSpPr>
            <a:spLocks/>
          </p:cNvSpPr>
          <p:nvPr/>
        </p:nvSpPr>
        <p:spPr bwMode="auto">
          <a:xfrm>
            <a:off x="1600200" y="3506788"/>
            <a:ext cx="1249363" cy="4572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9" name="Text Box 15"/>
          <p:cNvSpPr txBox="1">
            <a:spLocks noChangeArrowheads="1"/>
          </p:cNvSpPr>
          <p:nvPr/>
        </p:nvSpPr>
        <p:spPr bwMode="auto">
          <a:xfrm>
            <a:off x="1717675" y="3503613"/>
            <a:ext cx="9461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伪首部</a:t>
            </a:r>
          </a:p>
        </p:txBody>
      </p:sp>
      <p:sp>
        <p:nvSpPr>
          <p:cNvPr id="31760" name="Text Box 16"/>
          <p:cNvSpPr txBox="1">
            <a:spLocks noChangeArrowheads="1"/>
          </p:cNvSpPr>
          <p:nvPr/>
        </p:nvSpPr>
        <p:spPr bwMode="auto">
          <a:xfrm>
            <a:off x="2860675" y="3503613"/>
            <a:ext cx="947738"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源端口</a:t>
            </a:r>
          </a:p>
        </p:txBody>
      </p:sp>
      <p:sp>
        <p:nvSpPr>
          <p:cNvPr id="31761" name="Text Box 17"/>
          <p:cNvSpPr txBox="1">
            <a:spLocks noChangeArrowheads="1"/>
          </p:cNvSpPr>
          <p:nvPr/>
        </p:nvSpPr>
        <p:spPr bwMode="auto">
          <a:xfrm>
            <a:off x="3949700" y="3503613"/>
            <a:ext cx="12001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目的端口</a:t>
            </a:r>
          </a:p>
        </p:txBody>
      </p:sp>
      <p:sp>
        <p:nvSpPr>
          <p:cNvPr id="31762" name="Text Box 18"/>
          <p:cNvSpPr txBox="1">
            <a:spLocks noChangeArrowheads="1"/>
          </p:cNvSpPr>
          <p:nvPr/>
        </p:nvSpPr>
        <p:spPr bwMode="auto">
          <a:xfrm>
            <a:off x="5284788" y="3502025"/>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长  度</a:t>
            </a:r>
          </a:p>
        </p:txBody>
      </p:sp>
      <p:sp>
        <p:nvSpPr>
          <p:cNvPr id="31763" name="Text Box 19"/>
          <p:cNvSpPr txBox="1">
            <a:spLocks noChangeArrowheads="1"/>
          </p:cNvSpPr>
          <p:nvPr/>
        </p:nvSpPr>
        <p:spPr bwMode="auto">
          <a:xfrm>
            <a:off x="6429375" y="3503613"/>
            <a:ext cx="9461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检验和</a:t>
            </a:r>
          </a:p>
        </p:txBody>
      </p:sp>
      <p:sp>
        <p:nvSpPr>
          <p:cNvPr id="31764" name="Text Box 20"/>
          <p:cNvSpPr txBox="1">
            <a:spLocks noChangeArrowheads="1"/>
          </p:cNvSpPr>
          <p:nvPr/>
        </p:nvSpPr>
        <p:spPr bwMode="auto">
          <a:xfrm>
            <a:off x="5429250" y="5375275"/>
            <a:ext cx="132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数         据</a:t>
            </a:r>
          </a:p>
        </p:txBody>
      </p:sp>
      <p:sp>
        <p:nvSpPr>
          <p:cNvPr id="31765" name="Text Box 21"/>
          <p:cNvSpPr txBox="1">
            <a:spLocks noChangeArrowheads="1"/>
          </p:cNvSpPr>
          <p:nvPr/>
        </p:nvSpPr>
        <p:spPr bwMode="auto">
          <a:xfrm>
            <a:off x="2373313" y="5375275"/>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  部</a:t>
            </a:r>
          </a:p>
        </p:txBody>
      </p:sp>
      <p:sp>
        <p:nvSpPr>
          <p:cNvPr id="31766" name="Line 22"/>
          <p:cNvSpPr>
            <a:spLocks noChangeShapeType="1"/>
          </p:cNvSpPr>
          <p:nvPr/>
        </p:nvSpPr>
        <p:spPr bwMode="auto">
          <a:xfrm>
            <a:off x="5353050" y="2363788"/>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7" name="Line 23"/>
          <p:cNvSpPr>
            <a:spLocks noChangeShapeType="1"/>
          </p:cNvSpPr>
          <p:nvPr/>
        </p:nvSpPr>
        <p:spPr bwMode="auto">
          <a:xfrm>
            <a:off x="5886450" y="2363788"/>
            <a:ext cx="1588"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8" name="Line 24"/>
          <p:cNvSpPr>
            <a:spLocks noChangeShapeType="1"/>
          </p:cNvSpPr>
          <p:nvPr/>
        </p:nvSpPr>
        <p:spPr bwMode="auto">
          <a:xfrm>
            <a:off x="6419850" y="2363788"/>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9" name="Text Box 25"/>
          <p:cNvSpPr txBox="1">
            <a:spLocks noChangeArrowheads="1"/>
          </p:cNvSpPr>
          <p:nvPr/>
        </p:nvSpPr>
        <p:spPr bwMode="auto">
          <a:xfrm>
            <a:off x="6376988" y="2360613"/>
            <a:ext cx="12303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a:t>
            </a:r>
            <a:r>
              <a:rPr kumimoji="1" lang="zh-CN" altLang="en-US" sz="2000">
                <a:solidFill>
                  <a:srgbClr val="333399"/>
                </a:solidFill>
                <a:latin typeface="Arial" pitchFamily="34" charset="0"/>
                <a:ea typeface="黑体" pitchFamily="49" charset="-122"/>
              </a:rPr>
              <a:t>长度</a:t>
            </a:r>
          </a:p>
        </p:txBody>
      </p:sp>
      <p:sp>
        <p:nvSpPr>
          <p:cNvPr id="31770" name="Text Box 26"/>
          <p:cNvSpPr txBox="1">
            <a:spLocks noChangeArrowheads="1"/>
          </p:cNvSpPr>
          <p:nvPr/>
        </p:nvSpPr>
        <p:spPr bwMode="auto">
          <a:xfrm>
            <a:off x="1282700" y="2360613"/>
            <a:ext cx="1327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源 </a:t>
            </a:r>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地址</a:t>
            </a:r>
          </a:p>
        </p:txBody>
      </p:sp>
      <p:sp>
        <p:nvSpPr>
          <p:cNvPr id="31771" name="Text Box 27"/>
          <p:cNvSpPr txBox="1">
            <a:spLocks noChangeArrowheads="1"/>
          </p:cNvSpPr>
          <p:nvPr/>
        </p:nvSpPr>
        <p:spPr bwMode="auto">
          <a:xfrm>
            <a:off x="3421063" y="2360613"/>
            <a:ext cx="15795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目的 </a:t>
            </a:r>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地址</a:t>
            </a:r>
          </a:p>
        </p:txBody>
      </p:sp>
      <p:sp>
        <p:nvSpPr>
          <p:cNvPr id="31772" name="Text Box 28"/>
          <p:cNvSpPr txBox="1">
            <a:spLocks noChangeArrowheads="1"/>
          </p:cNvSpPr>
          <p:nvPr/>
        </p:nvSpPr>
        <p:spPr bwMode="auto">
          <a:xfrm>
            <a:off x="5454650" y="2360613"/>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0</a:t>
            </a:r>
          </a:p>
        </p:txBody>
      </p:sp>
      <p:sp>
        <p:nvSpPr>
          <p:cNvPr id="31773" name="Text Box 29"/>
          <p:cNvSpPr txBox="1">
            <a:spLocks noChangeArrowheads="1"/>
          </p:cNvSpPr>
          <p:nvPr/>
        </p:nvSpPr>
        <p:spPr bwMode="auto">
          <a:xfrm>
            <a:off x="5888038" y="2360613"/>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17</a:t>
            </a:r>
          </a:p>
        </p:txBody>
      </p:sp>
      <p:sp>
        <p:nvSpPr>
          <p:cNvPr id="31774" name="Line 30"/>
          <p:cNvSpPr>
            <a:spLocks noChangeShapeType="1"/>
          </p:cNvSpPr>
          <p:nvPr/>
        </p:nvSpPr>
        <p:spPr bwMode="auto">
          <a:xfrm>
            <a:off x="2225675" y="6019800"/>
            <a:ext cx="6594475" cy="0"/>
          </a:xfrm>
          <a:prstGeom prst="line">
            <a:avLst/>
          </a:prstGeom>
          <a:noFill/>
          <a:ln w="952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5" name="Rectangle 31"/>
          <p:cNvSpPr>
            <a:spLocks noChangeArrowheads="1"/>
          </p:cNvSpPr>
          <p:nvPr/>
        </p:nvSpPr>
        <p:spPr bwMode="auto">
          <a:xfrm>
            <a:off x="4810125" y="5865813"/>
            <a:ext cx="1173163" cy="2921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6" name="Text Box 32"/>
          <p:cNvSpPr txBox="1">
            <a:spLocks noChangeArrowheads="1"/>
          </p:cNvSpPr>
          <p:nvPr/>
        </p:nvSpPr>
        <p:spPr bwMode="auto">
          <a:xfrm>
            <a:off x="4764088" y="5840413"/>
            <a:ext cx="1254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IP </a:t>
            </a:r>
            <a:r>
              <a:rPr kumimoji="1" lang="zh-CN" altLang="en-US" sz="2000">
                <a:solidFill>
                  <a:srgbClr val="333399"/>
                </a:solidFill>
                <a:latin typeface="Arial" pitchFamily="34" charset="0"/>
                <a:ea typeface="黑体" pitchFamily="49" charset="-122"/>
              </a:rPr>
              <a:t>数据报</a:t>
            </a:r>
          </a:p>
        </p:txBody>
      </p:sp>
      <p:sp>
        <p:nvSpPr>
          <p:cNvPr id="31777" name="Text Box 33"/>
          <p:cNvSpPr txBox="1">
            <a:spLocks noChangeArrowheads="1"/>
          </p:cNvSpPr>
          <p:nvPr/>
        </p:nvSpPr>
        <p:spPr bwMode="auto">
          <a:xfrm>
            <a:off x="287338" y="19812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字节</a:t>
            </a:r>
          </a:p>
        </p:txBody>
      </p:sp>
      <p:sp>
        <p:nvSpPr>
          <p:cNvPr id="31778" name="Text Box 34"/>
          <p:cNvSpPr txBox="1">
            <a:spLocks noChangeArrowheads="1"/>
          </p:cNvSpPr>
          <p:nvPr/>
        </p:nvSpPr>
        <p:spPr bwMode="auto">
          <a:xfrm>
            <a:off x="1831975" y="1958975"/>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4</a:t>
            </a:r>
          </a:p>
        </p:txBody>
      </p:sp>
      <p:sp>
        <p:nvSpPr>
          <p:cNvPr id="31779" name="Text Box 35"/>
          <p:cNvSpPr txBox="1">
            <a:spLocks noChangeArrowheads="1"/>
          </p:cNvSpPr>
          <p:nvPr/>
        </p:nvSpPr>
        <p:spPr bwMode="auto">
          <a:xfrm>
            <a:off x="4059238" y="195897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4</a:t>
            </a:r>
          </a:p>
        </p:txBody>
      </p:sp>
      <p:sp>
        <p:nvSpPr>
          <p:cNvPr id="31780" name="Text Box 36"/>
          <p:cNvSpPr txBox="1">
            <a:spLocks noChangeArrowheads="1"/>
          </p:cNvSpPr>
          <p:nvPr/>
        </p:nvSpPr>
        <p:spPr bwMode="auto">
          <a:xfrm>
            <a:off x="5454650" y="195897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a:t>
            </a:r>
          </a:p>
        </p:txBody>
      </p:sp>
      <p:sp>
        <p:nvSpPr>
          <p:cNvPr id="31781" name="Text Box 37"/>
          <p:cNvSpPr txBox="1">
            <a:spLocks noChangeArrowheads="1"/>
          </p:cNvSpPr>
          <p:nvPr/>
        </p:nvSpPr>
        <p:spPr bwMode="auto">
          <a:xfrm>
            <a:off x="5975350" y="1958975"/>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a:t>
            </a:r>
          </a:p>
        </p:txBody>
      </p:sp>
      <p:sp>
        <p:nvSpPr>
          <p:cNvPr id="31782" name="Text Box 38"/>
          <p:cNvSpPr txBox="1">
            <a:spLocks noChangeArrowheads="1"/>
          </p:cNvSpPr>
          <p:nvPr/>
        </p:nvSpPr>
        <p:spPr bwMode="auto">
          <a:xfrm>
            <a:off x="6762750" y="19589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1783" name="Text Box 39"/>
          <p:cNvSpPr txBox="1">
            <a:spLocks noChangeArrowheads="1"/>
          </p:cNvSpPr>
          <p:nvPr/>
        </p:nvSpPr>
        <p:spPr bwMode="auto">
          <a:xfrm>
            <a:off x="1957388" y="3128963"/>
            <a:ext cx="4667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12</a:t>
            </a:r>
          </a:p>
        </p:txBody>
      </p:sp>
      <p:sp>
        <p:nvSpPr>
          <p:cNvPr id="31784" name="Text Box 40"/>
          <p:cNvSpPr txBox="1">
            <a:spLocks noChangeArrowheads="1"/>
          </p:cNvSpPr>
          <p:nvPr/>
        </p:nvSpPr>
        <p:spPr bwMode="auto">
          <a:xfrm>
            <a:off x="3227388" y="3133725"/>
            <a:ext cx="327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1785" name="Text Box 41"/>
          <p:cNvSpPr txBox="1">
            <a:spLocks noChangeArrowheads="1"/>
          </p:cNvSpPr>
          <p:nvPr/>
        </p:nvSpPr>
        <p:spPr bwMode="auto">
          <a:xfrm>
            <a:off x="4452938" y="3133725"/>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1786" name="Text Box 42"/>
          <p:cNvSpPr txBox="1">
            <a:spLocks noChangeArrowheads="1"/>
          </p:cNvSpPr>
          <p:nvPr/>
        </p:nvSpPr>
        <p:spPr bwMode="auto">
          <a:xfrm>
            <a:off x="5522913" y="3133725"/>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1787" name="Text Box 43"/>
          <p:cNvSpPr txBox="1">
            <a:spLocks noChangeArrowheads="1"/>
          </p:cNvSpPr>
          <p:nvPr/>
        </p:nvSpPr>
        <p:spPr bwMode="auto">
          <a:xfrm>
            <a:off x="6740525" y="313372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2</a:t>
            </a:r>
          </a:p>
        </p:txBody>
      </p:sp>
      <p:sp>
        <p:nvSpPr>
          <p:cNvPr id="31788" name="Text Box 44"/>
          <p:cNvSpPr txBox="1">
            <a:spLocks noChangeArrowheads="1"/>
          </p:cNvSpPr>
          <p:nvPr/>
        </p:nvSpPr>
        <p:spPr bwMode="auto">
          <a:xfrm>
            <a:off x="800100" y="3128963"/>
            <a:ext cx="6921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字节</a:t>
            </a:r>
          </a:p>
        </p:txBody>
      </p:sp>
      <p:sp>
        <p:nvSpPr>
          <p:cNvPr id="31789" name="Text Box 45"/>
          <p:cNvSpPr txBox="1">
            <a:spLocks noChangeArrowheads="1"/>
          </p:cNvSpPr>
          <p:nvPr/>
        </p:nvSpPr>
        <p:spPr bwMode="auto">
          <a:xfrm>
            <a:off x="1041400" y="4970463"/>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发送在前</a:t>
            </a:r>
          </a:p>
        </p:txBody>
      </p:sp>
      <p:sp>
        <p:nvSpPr>
          <p:cNvPr id="31790" name="AutoShape 46"/>
          <p:cNvSpPr>
            <a:spLocks noChangeArrowheads="1"/>
          </p:cNvSpPr>
          <p:nvPr/>
        </p:nvSpPr>
        <p:spPr bwMode="auto">
          <a:xfrm>
            <a:off x="5978525" y="5106988"/>
            <a:ext cx="277813" cy="415925"/>
          </a:xfrm>
          <a:prstGeom prst="downArrow">
            <a:avLst>
              <a:gd name="adj1" fmla="val 50000"/>
              <a:gd name="adj2" fmla="val 37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1" name="Rectangle 47"/>
          <p:cNvSpPr>
            <a:spLocks noChangeArrowheads="1"/>
          </p:cNvSpPr>
          <p:nvPr/>
        </p:nvSpPr>
        <p:spPr bwMode="auto">
          <a:xfrm>
            <a:off x="4427538" y="4394200"/>
            <a:ext cx="4392612" cy="45720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2" name="Text Box 48"/>
          <p:cNvSpPr txBox="1">
            <a:spLocks noChangeArrowheads="1"/>
          </p:cNvSpPr>
          <p:nvPr/>
        </p:nvSpPr>
        <p:spPr bwMode="auto">
          <a:xfrm>
            <a:off x="5983288" y="4430713"/>
            <a:ext cx="132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数         据</a:t>
            </a:r>
          </a:p>
        </p:txBody>
      </p:sp>
      <p:sp>
        <p:nvSpPr>
          <p:cNvPr id="31793" name="Text Box 49"/>
          <p:cNvSpPr txBox="1">
            <a:spLocks noChangeArrowheads="1"/>
          </p:cNvSpPr>
          <p:nvPr/>
        </p:nvSpPr>
        <p:spPr bwMode="auto">
          <a:xfrm>
            <a:off x="3487738" y="4430713"/>
            <a:ext cx="831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首  部</a:t>
            </a:r>
          </a:p>
        </p:txBody>
      </p:sp>
      <p:sp>
        <p:nvSpPr>
          <p:cNvPr id="31794" name="AutoShape 50"/>
          <p:cNvSpPr>
            <a:spLocks/>
          </p:cNvSpPr>
          <p:nvPr/>
        </p:nvSpPr>
        <p:spPr bwMode="auto">
          <a:xfrm rot="-5400000">
            <a:off x="6032500" y="2330451"/>
            <a:ext cx="168275" cy="5391150"/>
          </a:xfrm>
          <a:prstGeom prst="leftBrace">
            <a:avLst>
              <a:gd name="adj1" fmla="val 266981"/>
              <a:gd name="adj2" fmla="val 50000"/>
            </a:avLst>
          </a:prstGeom>
          <a:noFill/>
          <a:ln w="28575">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5" name="Text Box 51"/>
          <p:cNvSpPr txBox="1">
            <a:spLocks noChangeArrowheads="1"/>
          </p:cNvSpPr>
          <p:nvPr/>
        </p:nvSpPr>
        <p:spPr bwMode="auto">
          <a:xfrm>
            <a:off x="1258888" y="4429125"/>
            <a:ext cx="2062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UDP </a:t>
            </a:r>
            <a:r>
              <a:rPr kumimoji="1" lang="zh-CN" altLang="en-US" sz="2000">
                <a:solidFill>
                  <a:srgbClr val="333399"/>
                </a:solidFill>
                <a:latin typeface="Arial" pitchFamily="34" charset="0"/>
                <a:ea typeface="黑体" pitchFamily="49" charset="-122"/>
              </a:rPr>
              <a:t>用户数据报</a:t>
            </a:r>
          </a:p>
        </p:txBody>
      </p:sp>
      <p:sp>
        <p:nvSpPr>
          <p:cNvPr id="501812" name="Rectangle 52"/>
          <p:cNvSpPr>
            <a:spLocks noChangeArrowheads="1"/>
          </p:cNvSpPr>
          <p:nvPr/>
        </p:nvSpPr>
        <p:spPr bwMode="auto">
          <a:xfrm>
            <a:off x="1590675" y="3500438"/>
            <a:ext cx="1252538" cy="461962"/>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97" name="Text Box 53"/>
          <p:cNvSpPr txBox="1">
            <a:spLocks noChangeArrowheads="1"/>
          </p:cNvSpPr>
          <p:nvPr/>
        </p:nvSpPr>
        <p:spPr bwMode="auto">
          <a:xfrm>
            <a:off x="250825" y="549275"/>
            <a:ext cx="86756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在计算检验和时，临时把“伪首部”和 </a:t>
            </a:r>
            <a:r>
              <a:rPr lang="en-US" altLang="zh-CN">
                <a:solidFill>
                  <a:srgbClr val="333399"/>
                </a:solidFill>
                <a:latin typeface="Arial" pitchFamily="34" charset="0"/>
                <a:ea typeface="黑体" pitchFamily="49" charset="-122"/>
              </a:rPr>
              <a:t>UDP </a:t>
            </a:r>
            <a:r>
              <a:rPr lang="zh-CN" altLang="en-US">
                <a:solidFill>
                  <a:srgbClr val="333399"/>
                </a:solidFill>
                <a:latin typeface="Arial" pitchFamily="34" charset="0"/>
                <a:ea typeface="黑体" pitchFamily="49" charset="-122"/>
              </a:rPr>
              <a:t>用户数据报连接在一起。</a:t>
            </a:r>
            <a:r>
              <a:rPr lang="zh-CN" altLang="en-US">
                <a:solidFill>
                  <a:srgbClr val="333399"/>
                </a:solidFill>
                <a:ea typeface="黑体" pitchFamily="49" charset="-122"/>
              </a:rPr>
              <a:t>伪首部仅仅是为了计算检验和</a:t>
            </a:r>
            <a:r>
              <a:rPr lang="zh-CN" altLang="en-US">
                <a:solidFill>
                  <a:srgbClr val="333399"/>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18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2" grpId="0" animBg="1"/>
      <p:bldP spid="501812" grpId="1"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36"/>
          <p:cNvSpPr>
            <a:spLocks noChangeArrowheads="1"/>
          </p:cNvSpPr>
          <p:nvPr/>
        </p:nvSpPr>
        <p:spPr bwMode="auto">
          <a:xfrm>
            <a:off x="3581400" y="3219450"/>
            <a:ext cx="609600" cy="3619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1" name="Rectangle 35"/>
          <p:cNvSpPr>
            <a:spLocks noChangeArrowheads="1"/>
          </p:cNvSpPr>
          <p:nvPr/>
        </p:nvSpPr>
        <p:spPr bwMode="auto">
          <a:xfrm>
            <a:off x="1619250" y="2205038"/>
            <a:ext cx="2571750" cy="67151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2" name="Rectangle 2"/>
          <p:cNvSpPr>
            <a:spLocks noGrp="1" noChangeArrowheads="1"/>
          </p:cNvSpPr>
          <p:nvPr>
            <p:ph type="title"/>
          </p:nvPr>
        </p:nvSpPr>
        <p:spPr>
          <a:xfrm>
            <a:off x="827088" y="209550"/>
            <a:ext cx="7793037" cy="623888"/>
          </a:xfrm>
        </p:spPr>
        <p:txBody>
          <a:bodyPr/>
          <a:lstStyle/>
          <a:p>
            <a:pPr algn="ctr" eaLnBrk="1" hangingPunct="1"/>
            <a:r>
              <a:rPr lang="zh-CN" altLang="en-US" sz="3200" smtClean="0"/>
              <a:t>计算 </a:t>
            </a:r>
            <a:r>
              <a:rPr lang="en-US" altLang="zh-CN" sz="3200" smtClean="0"/>
              <a:t>UDP </a:t>
            </a:r>
            <a:r>
              <a:rPr lang="zh-CN" altLang="en-US" sz="3200" smtClean="0"/>
              <a:t>检验和的例子 </a:t>
            </a:r>
          </a:p>
        </p:txBody>
      </p:sp>
      <p:sp>
        <p:nvSpPr>
          <p:cNvPr id="32773" name="Text Box 7"/>
          <p:cNvSpPr txBox="1">
            <a:spLocks noChangeArrowheads="1"/>
          </p:cNvSpPr>
          <p:nvPr/>
        </p:nvSpPr>
        <p:spPr bwMode="auto">
          <a:xfrm>
            <a:off x="4300538" y="879475"/>
            <a:ext cx="4843462" cy="52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latin typeface="Times New Roman" pitchFamily="18" charset="0"/>
              </a:rPr>
              <a:t>10011001 00010011  →  153.19</a:t>
            </a:r>
          </a:p>
          <a:p>
            <a:pPr eaLnBrk="1" hangingPunct="1"/>
            <a:r>
              <a:rPr kumimoji="1" lang="en-US" altLang="zh-CN" sz="2000">
                <a:latin typeface="Times New Roman" pitchFamily="18" charset="0"/>
              </a:rPr>
              <a:t>00001000 01101000  →  8.104</a:t>
            </a:r>
          </a:p>
          <a:p>
            <a:pPr eaLnBrk="1" hangingPunct="1"/>
            <a:r>
              <a:rPr kumimoji="1" lang="en-US" altLang="zh-CN" sz="2000">
                <a:latin typeface="Times New Roman" pitchFamily="18" charset="0"/>
              </a:rPr>
              <a:t>10101011 00000011  →  171.3</a:t>
            </a:r>
          </a:p>
          <a:p>
            <a:pPr eaLnBrk="1" hangingPunct="1"/>
            <a:r>
              <a:rPr kumimoji="1" lang="en-US" altLang="zh-CN" sz="2000">
                <a:latin typeface="Times New Roman" pitchFamily="18" charset="0"/>
              </a:rPr>
              <a:t>00001110 00001011  →  14.11</a:t>
            </a:r>
          </a:p>
          <a:p>
            <a:pPr eaLnBrk="1" hangingPunct="1"/>
            <a:r>
              <a:rPr kumimoji="1" lang="en-US" altLang="zh-CN" sz="2000">
                <a:latin typeface="Times New Roman" pitchFamily="18" charset="0"/>
              </a:rPr>
              <a:t>00000000 00010001  →  0 </a:t>
            </a:r>
            <a:r>
              <a:rPr kumimoji="1" lang="zh-CN" altLang="en-US" sz="2000">
                <a:latin typeface="Times New Roman" pitchFamily="18" charset="0"/>
              </a:rPr>
              <a:t>和 </a:t>
            </a:r>
            <a:r>
              <a:rPr kumimoji="1" lang="en-US" altLang="zh-CN" sz="2000">
                <a:latin typeface="Times New Roman" pitchFamily="18" charset="0"/>
              </a:rPr>
              <a:t>17</a:t>
            </a:r>
          </a:p>
          <a:p>
            <a:pPr eaLnBrk="1" hangingPunct="1"/>
            <a:r>
              <a:rPr kumimoji="1" lang="en-US" altLang="zh-CN" sz="2000">
                <a:latin typeface="Times New Roman" pitchFamily="18" charset="0"/>
              </a:rPr>
              <a:t>00000000 00001111  →  15</a:t>
            </a:r>
          </a:p>
          <a:p>
            <a:pPr eaLnBrk="1" hangingPunct="1"/>
            <a:r>
              <a:rPr kumimoji="1" lang="en-US" altLang="zh-CN" sz="2000">
                <a:latin typeface="Times New Roman" pitchFamily="18" charset="0"/>
              </a:rPr>
              <a:t>00000100 00111111  →  1087</a:t>
            </a:r>
          </a:p>
          <a:p>
            <a:pPr eaLnBrk="1" hangingPunct="1"/>
            <a:r>
              <a:rPr kumimoji="1" lang="en-US" altLang="zh-CN" sz="2000">
                <a:latin typeface="Times New Roman" pitchFamily="18" charset="0"/>
              </a:rPr>
              <a:t>00000000 00001101  →  13</a:t>
            </a:r>
          </a:p>
          <a:p>
            <a:pPr eaLnBrk="1" hangingPunct="1"/>
            <a:r>
              <a:rPr kumimoji="1" lang="en-US" altLang="zh-CN" sz="2000">
                <a:latin typeface="Times New Roman" pitchFamily="18" charset="0"/>
              </a:rPr>
              <a:t>00000000 00001111  →  15</a:t>
            </a:r>
          </a:p>
          <a:p>
            <a:pPr eaLnBrk="1" hangingPunct="1"/>
            <a:r>
              <a:rPr kumimoji="1" lang="en-US" altLang="zh-CN" sz="2000">
                <a:latin typeface="Times New Roman" pitchFamily="18" charset="0"/>
              </a:rPr>
              <a:t>00000000 00000000  →  0</a:t>
            </a:r>
            <a:r>
              <a:rPr kumimoji="1" lang="zh-CN" altLang="en-US" sz="2000">
                <a:latin typeface="Times New Roman" pitchFamily="18" charset="0"/>
              </a:rPr>
              <a:t>（检验和）</a:t>
            </a:r>
          </a:p>
          <a:p>
            <a:pPr eaLnBrk="1" hangingPunct="1"/>
            <a:r>
              <a:rPr kumimoji="1" lang="en-US" altLang="zh-CN" sz="2000">
                <a:latin typeface="Times New Roman" pitchFamily="18" charset="0"/>
              </a:rPr>
              <a:t>01010100 01000101  →  </a:t>
            </a:r>
            <a:r>
              <a:rPr kumimoji="1" lang="zh-CN" altLang="en-US" sz="2000">
                <a:latin typeface="Times New Roman" pitchFamily="18" charset="0"/>
              </a:rPr>
              <a:t>数据</a:t>
            </a:r>
          </a:p>
          <a:p>
            <a:pPr eaLnBrk="1" hangingPunct="1"/>
            <a:r>
              <a:rPr kumimoji="1" lang="en-US" altLang="zh-CN" sz="2000">
                <a:latin typeface="Times New Roman" pitchFamily="18" charset="0"/>
              </a:rPr>
              <a:t>01010011 01010100  →  </a:t>
            </a:r>
            <a:r>
              <a:rPr kumimoji="1" lang="zh-CN" altLang="en-US" sz="2000">
                <a:latin typeface="Times New Roman" pitchFamily="18" charset="0"/>
              </a:rPr>
              <a:t>数据</a:t>
            </a:r>
          </a:p>
          <a:p>
            <a:pPr eaLnBrk="1" hangingPunct="1"/>
            <a:r>
              <a:rPr kumimoji="1" lang="en-US" altLang="zh-CN" sz="2000">
                <a:latin typeface="Times New Roman" pitchFamily="18" charset="0"/>
              </a:rPr>
              <a:t>01001001 01001110  →  </a:t>
            </a:r>
            <a:r>
              <a:rPr kumimoji="1" lang="zh-CN" altLang="en-US" sz="2000">
                <a:latin typeface="Times New Roman" pitchFamily="18" charset="0"/>
              </a:rPr>
              <a:t>数据</a:t>
            </a:r>
          </a:p>
          <a:p>
            <a:pPr eaLnBrk="1" hangingPunct="1"/>
            <a:r>
              <a:rPr kumimoji="1" lang="en-US" altLang="zh-CN" sz="2000">
                <a:latin typeface="Times New Roman" pitchFamily="18" charset="0"/>
              </a:rPr>
              <a:t>01000111 00000000  →  </a:t>
            </a:r>
            <a:r>
              <a:rPr kumimoji="1" lang="zh-CN" altLang="en-US" sz="2000">
                <a:latin typeface="Times New Roman" pitchFamily="18" charset="0"/>
              </a:rPr>
              <a:t>数据和 </a:t>
            </a:r>
            <a:r>
              <a:rPr kumimoji="1" lang="en-US" altLang="zh-CN" sz="2000">
                <a:latin typeface="Times New Roman" pitchFamily="18" charset="0"/>
              </a:rPr>
              <a:t>0</a:t>
            </a:r>
            <a:r>
              <a:rPr kumimoji="1" lang="zh-CN" altLang="en-US" sz="2000">
                <a:latin typeface="Times New Roman" pitchFamily="18" charset="0"/>
              </a:rPr>
              <a:t>（填充）</a:t>
            </a:r>
          </a:p>
          <a:p>
            <a:pPr eaLnBrk="1" hangingPunct="1"/>
            <a:endParaRPr kumimoji="1" lang="zh-CN" altLang="en-US" sz="1000">
              <a:latin typeface="Times New Roman" pitchFamily="18" charset="0"/>
            </a:endParaRPr>
          </a:p>
          <a:p>
            <a:pPr eaLnBrk="1" hangingPunct="1"/>
            <a:r>
              <a:rPr kumimoji="1" lang="en-US" altLang="zh-CN" sz="2000">
                <a:latin typeface="Times New Roman" pitchFamily="18" charset="0"/>
              </a:rPr>
              <a:t>10010110 11101101  →  </a:t>
            </a:r>
            <a:r>
              <a:rPr kumimoji="1" lang="zh-CN" altLang="en-US" sz="2000">
                <a:latin typeface="Times New Roman" pitchFamily="18" charset="0"/>
              </a:rPr>
              <a:t>求和得出的结果</a:t>
            </a:r>
          </a:p>
          <a:p>
            <a:pPr eaLnBrk="1" hangingPunct="1">
              <a:lnSpc>
                <a:spcPct val="130000"/>
              </a:lnSpc>
            </a:pPr>
            <a:r>
              <a:rPr kumimoji="1" lang="en-US" altLang="zh-CN" sz="2000">
                <a:latin typeface="Times New Roman" pitchFamily="18" charset="0"/>
              </a:rPr>
              <a:t>01101001 00010010  →  </a:t>
            </a:r>
            <a:r>
              <a:rPr kumimoji="1" lang="zh-CN" altLang="en-US" sz="2000">
                <a:latin typeface="Times New Roman" pitchFamily="18" charset="0"/>
              </a:rPr>
              <a:t>检验和 </a:t>
            </a:r>
          </a:p>
        </p:txBody>
      </p:sp>
      <p:sp>
        <p:nvSpPr>
          <p:cNvPr id="32774" name="Freeform 5"/>
          <p:cNvSpPr>
            <a:spLocks/>
          </p:cNvSpPr>
          <p:nvPr/>
        </p:nvSpPr>
        <p:spPr bwMode="auto">
          <a:xfrm>
            <a:off x="1619250" y="2900363"/>
            <a:ext cx="2597150" cy="673100"/>
          </a:xfrm>
          <a:custGeom>
            <a:avLst/>
            <a:gdLst>
              <a:gd name="T0" fmla="*/ 0 w 1536"/>
              <a:gd name="T1" fmla="*/ 0 h 480"/>
              <a:gd name="T2" fmla="*/ 2597150 w 1536"/>
              <a:gd name="T3" fmla="*/ 0 h 480"/>
              <a:gd name="T4" fmla="*/ 2597150 w 1536"/>
              <a:gd name="T5" fmla="*/ 336550 h 480"/>
              <a:gd name="T6" fmla="*/ 1947863 w 1536"/>
              <a:gd name="T7" fmla="*/ 336550 h 480"/>
              <a:gd name="T8" fmla="*/ 1947863 w 1536"/>
              <a:gd name="T9" fmla="*/ 673100 h 480"/>
              <a:gd name="T10" fmla="*/ 0 w 1536"/>
              <a:gd name="T11" fmla="*/ 673100 h 480"/>
              <a:gd name="T12" fmla="*/ 0 w 1536"/>
              <a:gd name="T13" fmla="*/ 0 h 4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5" name="Rectangle 6"/>
          <p:cNvSpPr>
            <a:spLocks noChangeArrowheads="1"/>
          </p:cNvSpPr>
          <p:nvPr/>
        </p:nvSpPr>
        <p:spPr bwMode="auto">
          <a:xfrm>
            <a:off x="1619250" y="1216025"/>
            <a:ext cx="2597150" cy="10096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6" name="Rectangle 8"/>
          <p:cNvSpPr>
            <a:spLocks noChangeArrowheads="1"/>
          </p:cNvSpPr>
          <p:nvPr/>
        </p:nvSpPr>
        <p:spPr bwMode="auto">
          <a:xfrm>
            <a:off x="1620838" y="1190625"/>
            <a:ext cx="2592387" cy="2376488"/>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77" name="Line 9"/>
          <p:cNvSpPr>
            <a:spLocks noChangeShapeType="1"/>
          </p:cNvSpPr>
          <p:nvPr/>
        </p:nvSpPr>
        <p:spPr bwMode="auto">
          <a:xfrm>
            <a:off x="1619250" y="1552575"/>
            <a:ext cx="259715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8" name="Line 10"/>
          <p:cNvSpPr>
            <a:spLocks noChangeShapeType="1"/>
          </p:cNvSpPr>
          <p:nvPr/>
        </p:nvSpPr>
        <p:spPr bwMode="auto">
          <a:xfrm>
            <a:off x="1619250" y="1889125"/>
            <a:ext cx="259715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9" name="Line 11"/>
          <p:cNvSpPr>
            <a:spLocks noChangeShapeType="1"/>
          </p:cNvSpPr>
          <p:nvPr/>
        </p:nvSpPr>
        <p:spPr bwMode="auto">
          <a:xfrm>
            <a:off x="1619250" y="2225675"/>
            <a:ext cx="2597150"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0" name="Line 12"/>
          <p:cNvSpPr>
            <a:spLocks noChangeShapeType="1"/>
          </p:cNvSpPr>
          <p:nvPr/>
        </p:nvSpPr>
        <p:spPr bwMode="auto">
          <a:xfrm>
            <a:off x="1619250" y="2563813"/>
            <a:ext cx="2597150"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1" name="Line 13"/>
          <p:cNvSpPr>
            <a:spLocks noChangeShapeType="1"/>
          </p:cNvSpPr>
          <p:nvPr/>
        </p:nvSpPr>
        <p:spPr bwMode="auto">
          <a:xfrm>
            <a:off x="1619250" y="2900363"/>
            <a:ext cx="2597150"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2" name="Line 14"/>
          <p:cNvSpPr>
            <a:spLocks noChangeShapeType="1"/>
          </p:cNvSpPr>
          <p:nvPr/>
        </p:nvSpPr>
        <p:spPr bwMode="auto">
          <a:xfrm>
            <a:off x="1619250" y="3236913"/>
            <a:ext cx="2597150"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3" name="Line 15"/>
          <p:cNvSpPr>
            <a:spLocks noChangeShapeType="1"/>
          </p:cNvSpPr>
          <p:nvPr/>
        </p:nvSpPr>
        <p:spPr bwMode="auto">
          <a:xfrm>
            <a:off x="2917825" y="1889125"/>
            <a:ext cx="0" cy="1684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4" name="Line 16"/>
          <p:cNvSpPr>
            <a:spLocks noChangeShapeType="1"/>
          </p:cNvSpPr>
          <p:nvPr/>
        </p:nvSpPr>
        <p:spPr bwMode="auto">
          <a:xfrm>
            <a:off x="3565525" y="2900363"/>
            <a:ext cx="0" cy="673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5" name="Line 17"/>
          <p:cNvSpPr>
            <a:spLocks noChangeShapeType="1"/>
          </p:cNvSpPr>
          <p:nvPr/>
        </p:nvSpPr>
        <p:spPr bwMode="auto">
          <a:xfrm>
            <a:off x="2257425" y="2881313"/>
            <a:ext cx="0" cy="673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6" name="Line 18"/>
          <p:cNvSpPr>
            <a:spLocks noChangeShapeType="1"/>
          </p:cNvSpPr>
          <p:nvPr/>
        </p:nvSpPr>
        <p:spPr bwMode="auto">
          <a:xfrm>
            <a:off x="2268538" y="1909763"/>
            <a:ext cx="0" cy="336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7" name="Text Box 19"/>
          <p:cNvSpPr txBox="1">
            <a:spLocks noChangeArrowheads="1"/>
          </p:cNvSpPr>
          <p:nvPr/>
        </p:nvSpPr>
        <p:spPr bwMode="auto">
          <a:xfrm>
            <a:off x="2124075" y="1196975"/>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latin typeface="Times New Roman" pitchFamily="18" charset="0"/>
              </a:rPr>
              <a:t>153.19.8.104</a:t>
            </a:r>
          </a:p>
        </p:txBody>
      </p:sp>
      <p:sp>
        <p:nvSpPr>
          <p:cNvPr id="32788" name="Text Box 20"/>
          <p:cNvSpPr txBox="1">
            <a:spLocks noChangeArrowheads="1"/>
          </p:cNvSpPr>
          <p:nvPr/>
        </p:nvSpPr>
        <p:spPr bwMode="auto">
          <a:xfrm>
            <a:off x="2157413" y="1538288"/>
            <a:ext cx="1390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latin typeface="Times New Roman" pitchFamily="18" charset="0"/>
              </a:rPr>
              <a:t>171.3.14.11</a:t>
            </a:r>
          </a:p>
        </p:txBody>
      </p:sp>
      <p:sp>
        <p:nvSpPr>
          <p:cNvPr id="32789" name="AutoShape 22"/>
          <p:cNvSpPr>
            <a:spLocks/>
          </p:cNvSpPr>
          <p:nvPr/>
        </p:nvSpPr>
        <p:spPr bwMode="auto">
          <a:xfrm>
            <a:off x="1477963" y="1177925"/>
            <a:ext cx="69850" cy="1039813"/>
          </a:xfrm>
          <a:prstGeom prst="leftBrace">
            <a:avLst>
              <a:gd name="adj1" fmla="val 1240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0" name="AutoShape 23"/>
          <p:cNvSpPr>
            <a:spLocks/>
          </p:cNvSpPr>
          <p:nvPr/>
        </p:nvSpPr>
        <p:spPr bwMode="auto">
          <a:xfrm>
            <a:off x="1470025" y="2276475"/>
            <a:ext cx="77788" cy="604838"/>
          </a:xfrm>
          <a:prstGeom prst="leftBrace">
            <a:avLst>
              <a:gd name="adj1" fmla="val 64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1" name="AutoShape 24"/>
          <p:cNvSpPr>
            <a:spLocks/>
          </p:cNvSpPr>
          <p:nvPr/>
        </p:nvSpPr>
        <p:spPr bwMode="auto">
          <a:xfrm>
            <a:off x="1476375" y="2917825"/>
            <a:ext cx="77788" cy="635000"/>
          </a:xfrm>
          <a:prstGeom prst="leftBrace">
            <a:avLst>
              <a:gd name="adj1" fmla="val 680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2" name="Text Box 25"/>
          <p:cNvSpPr txBox="1">
            <a:spLocks noChangeArrowheads="1"/>
          </p:cNvSpPr>
          <p:nvPr/>
        </p:nvSpPr>
        <p:spPr bwMode="auto">
          <a:xfrm>
            <a:off x="504825" y="1335088"/>
            <a:ext cx="10429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2000">
                <a:latin typeface="Times New Roman" pitchFamily="18" charset="0"/>
              </a:rPr>
              <a:t>12 </a:t>
            </a:r>
            <a:r>
              <a:rPr kumimoji="1" lang="zh-CN" altLang="en-US" sz="2000">
                <a:latin typeface="Times New Roman" pitchFamily="18" charset="0"/>
              </a:rPr>
              <a:t>字节</a:t>
            </a:r>
          </a:p>
          <a:p>
            <a:pPr algn="ctr" eaLnBrk="1" hangingPunct="1"/>
            <a:r>
              <a:rPr kumimoji="1" lang="zh-CN" altLang="en-US" sz="2000">
                <a:latin typeface="Times New Roman" pitchFamily="18" charset="0"/>
              </a:rPr>
              <a:t>伪首部</a:t>
            </a:r>
          </a:p>
        </p:txBody>
      </p:sp>
      <p:sp>
        <p:nvSpPr>
          <p:cNvPr id="32793" name="Text Box 26"/>
          <p:cNvSpPr txBox="1">
            <a:spLocks noChangeArrowheads="1"/>
          </p:cNvSpPr>
          <p:nvPr/>
        </p:nvSpPr>
        <p:spPr bwMode="auto">
          <a:xfrm>
            <a:off x="285750" y="2162175"/>
            <a:ext cx="12652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2000">
                <a:latin typeface="Times New Roman" pitchFamily="18" charset="0"/>
              </a:rPr>
              <a:t>8 </a:t>
            </a:r>
            <a:r>
              <a:rPr kumimoji="1" lang="zh-CN" altLang="en-US" sz="2000">
                <a:latin typeface="Times New Roman" pitchFamily="18" charset="0"/>
              </a:rPr>
              <a:t>字节</a:t>
            </a:r>
          </a:p>
          <a:p>
            <a:pPr algn="ctr" eaLnBrk="1" hangingPunct="1"/>
            <a:r>
              <a:rPr kumimoji="1" lang="en-US" altLang="zh-CN" sz="2000">
                <a:latin typeface="Times New Roman" pitchFamily="18" charset="0"/>
              </a:rPr>
              <a:t>UDP </a:t>
            </a:r>
            <a:r>
              <a:rPr kumimoji="1" lang="zh-CN" altLang="en-US" sz="2000">
                <a:latin typeface="Times New Roman" pitchFamily="18" charset="0"/>
              </a:rPr>
              <a:t>首部</a:t>
            </a:r>
          </a:p>
        </p:txBody>
      </p:sp>
      <p:sp>
        <p:nvSpPr>
          <p:cNvPr id="32794" name="Text Box 27"/>
          <p:cNvSpPr txBox="1">
            <a:spLocks noChangeArrowheads="1"/>
          </p:cNvSpPr>
          <p:nvPr/>
        </p:nvSpPr>
        <p:spPr bwMode="auto">
          <a:xfrm>
            <a:off x="557213" y="2865438"/>
            <a:ext cx="882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2000">
                <a:latin typeface="Times New Roman" pitchFamily="18" charset="0"/>
              </a:rPr>
              <a:t>7 </a:t>
            </a:r>
            <a:r>
              <a:rPr kumimoji="1" lang="zh-CN" altLang="en-US" sz="2000">
                <a:latin typeface="Times New Roman" pitchFamily="18" charset="0"/>
              </a:rPr>
              <a:t>字节</a:t>
            </a:r>
          </a:p>
          <a:p>
            <a:pPr algn="ctr" eaLnBrk="1" hangingPunct="1"/>
            <a:r>
              <a:rPr kumimoji="1" lang="zh-CN" altLang="en-US" sz="2000">
                <a:latin typeface="Times New Roman" pitchFamily="18" charset="0"/>
              </a:rPr>
              <a:t>数据</a:t>
            </a:r>
          </a:p>
        </p:txBody>
      </p:sp>
      <p:grpSp>
        <p:nvGrpSpPr>
          <p:cNvPr id="32795" name="Group 34"/>
          <p:cNvGrpSpPr>
            <a:grpSpLocks/>
          </p:cNvGrpSpPr>
          <p:nvPr/>
        </p:nvGrpSpPr>
        <p:grpSpPr bwMode="auto">
          <a:xfrm>
            <a:off x="3303588" y="3494088"/>
            <a:ext cx="692150" cy="627062"/>
            <a:chOff x="1651" y="2763"/>
            <a:chExt cx="436" cy="395"/>
          </a:xfrm>
        </p:grpSpPr>
        <p:sp>
          <p:nvSpPr>
            <p:cNvPr id="32800" name="Text Box 28"/>
            <p:cNvSpPr txBox="1">
              <a:spLocks noChangeArrowheads="1"/>
            </p:cNvSpPr>
            <p:nvPr/>
          </p:nvSpPr>
          <p:spPr bwMode="auto">
            <a:xfrm>
              <a:off x="1651" y="2908"/>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latin typeface="Times New Roman" pitchFamily="18" charset="0"/>
                </a:rPr>
                <a:t>填充</a:t>
              </a:r>
            </a:p>
          </p:txBody>
        </p:sp>
        <p:sp>
          <p:nvSpPr>
            <p:cNvPr id="32801" name="Line 29"/>
            <p:cNvSpPr>
              <a:spLocks noChangeShapeType="1"/>
            </p:cNvSpPr>
            <p:nvPr/>
          </p:nvSpPr>
          <p:spPr bwMode="auto">
            <a:xfrm flipV="1">
              <a:off x="1890" y="2763"/>
              <a:ext cx="134" cy="207"/>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2796" name="Line 30"/>
          <p:cNvSpPr>
            <a:spLocks noChangeShapeType="1"/>
          </p:cNvSpPr>
          <p:nvPr/>
        </p:nvSpPr>
        <p:spPr bwMode="auto">
          <a:xfrm flipV="1">
            <a:off x="4170363" y="5267325"/>
            <a:ext cx="4818062" cy="95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7" name="Text Box 31"/>
          <p:cNvSpPr txBox="1">
            <a:spLocks noChangeArrowheads="1"/>
          </p:cNvSpPr>
          <p:nvPr/>
        </p:nvSpPr>
        <p:spPr bwMode="auto">
          <a:xfrm>
            <a:off x="1631950" y="5294313"/>
            <a:ext cx="2724150"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r" eaLnBrk="1" hangingPunct="1"/>
            <a:r>
              <a:rPr kumimoji="1" lang="zh-CN" altLang="en-US" sz="2000">
                <a:latin typeface="Times New Roman" pitchFamily="18" charset="0"/>
              </a:rPr>
              <a:t>按二进制反码运算求和</a:t>
            </a:r>
          </a:p>
          <a:p>
            <a:pPr algn="r" eaLnBrk="1" hangingPunct="1">
              <a:lnSpc>
                <a:spcPct val="130000"/>
              </a:lnSpc>
            </a:pPr>
            <a:r>
              <a:rPr kumimoji="1" lang="zh-CN" altLang="en-US" sz="2000">
                <a:latin typeface="Times New Roman" pitchFamily="18" charset="0"/>
              </a:rPr>
              <a:t>将得出的结果求反码</a:t>
            </a:r>
          </a:p>
        </p:txBody>
      </p:sp>
      <p:sp>
        <p:nvSpPr>
          <p:cNvPr id="32798" name="Text Box 21"/>
          <p:cNvSpPr txBox="1">
            <a:spLocks noChangeArrowheads="1"/>
          </p:cNvSpPr>
          <p:nvPr/>
        </p:nvSpPr>
        <p:spPr bwMode="auto">
          <a:xfrm>
            <a:off x="1619250" y="1820863"/>
            <a:ext cx="2881313" cy="1766887"/>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lnSpc>
                <a:spcPct val="110000"/>
              </a:lnSpc>
            </a:pPr>
            <a:r>
              <a:rPr kumimoji="1" lang="zh-CN" altLang="en-US" sz="2000">
                <a:latin typeface="Times New Roman" pitchFamily="18" charset="0"/>
              </a:rPr>
              <a:t>全 </a:t>
            </a:r>
            <a:r>
              <a:rPr kumimoji="1" lang="en-US" altLang="zh-CN" sz="2000">
                <a:latin typeface="Times New Roman" pitchFamily="18" charset="0"/>
              </a:rPr>
              <a:t>0   17          15</a:t>
            </a:r>
          </a:p>
          <a:p>
            <a:pPr eaLnBrk="1" hangingPunct="1">
              <a:lnSpc>
                <a:spcPct val="110000"/>
              </a:lnSpc>
            </a:pPr>
            <a:r>
              <a:rPr kumimoji="1" lang="en-US" altLang="zh-CN" sz="2000">
                <a:latin typeface="Times New Roman" pitchFamily="18" charset="0"/>
              </a:rPr>
              <a:t>    1087            13</a:t>
            </a:r>
          </a:p>
          <a:p>
            <a:pPr eaLnBrk="1" hangingPunct="1">
              <a:lnSpc>
                <a:spcPct val="110000"/>
              </a:lnSpc>
            </a:pPr>
            <a:r>
              <a:rPr kumimoji="1" lang="en-US" altLang="zh-CN" sz="2000">
                <a:latin typeface="Times New Roman" pitchFamily="18" charset="0"/>
              </a:rPr>
              <a:t>      15             </a:t>
            </a:r>
            <a:r>
              <a:rPr kumimoji="1" lang="zh-CN" altLang="en-US" sz="2000">
                <a:latin typeface="Times New Roman" pitchFamily="18" charset="0"/>
              </a:rPr>
              <a:t>全 </a:t>
            </a:r>
            <a:r>
              <a:rPr kumimoji="1" lang="en-US" altLang="zh-CN" sz="2000">
                <a:latin typeface="Times New Roman" pitchFamily="18" charset="0"/>
              </a:rPr>
              <a:t>0</a:t>
            </a:r>
          </a:p>
          <a:p>
            <a:pPr eaLnBrk="1" hangingPunct="1">
              <a:lnSpc>
                <a:spcPct val="110000"/>
              </a:lnSpc>
            </a:pPr>
            <a:r>
              <a:rPr kumimoji="1" lang="zh-CN" altLang="en-US" sz="2000">
                <a:latin typeface="Times New Roman" pitchFamily="18" charset="0"/>
              </a:rPr>
              <a:t>数据  数据   数据  数据</a:t>
            </a:r>
          </a:p>
          <a:p>
            <a:pPr eaLnBrk="1" hangingPunct="1">
              <a:lnSpc>
                <a:spcPct val="110000"/>
              </a:lnSpc>
            </a:pPr>
            <a:r>
              <a:rPr kumimoji="1" lang="zh-CN" altLang="en-US" sz="2000">
                <a:latin typeface="Times New Roman" pitchFamily="18" charset="0"/>
              </a:rPr>
              <a:t>数据  数据   数据  全 </a:t>
            </a:r>
            <a:r>
              <a:rPr kumimoji="1" lang="en-US" altLang="zh-CN" sz="2000">
                <a:latin typeface="Times New Roman" pitchFamily="18" charset="0"/>
              </a:rPr>
              <a:t>0</a:t>
            </a:r>
          </a:p>
        </p:txBody>
      </p:sp>
      <p:sp>
        <p:nvSpPr>
          <p:cNvPr id="32799" name="Text Box 37"/>
          <p:cNvSpPr txBox="1">
            <a:spLocks noChangeArrowheads="1"/>
          </p:cNvSpPr>
          <p:nvPr/>
        </p:nvSpPr>
        <p:spPr bwMode="auto">
          <a:xfrm>
            <a:off x="808038" y="4311650"/>
            <a:ext cx="2317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t>采用十六进制</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D04F7F3-C3DA-4BC9-902F-7D5B6E71ABA7}" type="slidenum">
              <a:rPr lang="en-US" altLang="zh-CN" sz="1400"/>
              <a:pPr eaLnBrk="1" hangingPunct="1"/>
              <a:t>31</a:t>
            </a:fld>
            <a:endParaRPr lang="en-US" altLang="zh-CN" sz="1400"/>
          </a:p>
        </p:txBody>
      </p:sp>
      <p:sp>
        <p:nvSpPr>
          <p:cNvPr id="33795" name="Rectangle 2"/>
          <p:cNvSpPr>
            <a:spLocks noGrp="1" noChangeArrowheads="1"/>
          </p:cNvSpPr>
          <p:nvPr>
            <p:ph type="title"/>
          </p:nvPr>
        </p:nvSpPr>
        <p:spPr/>
        <p:txBody>
          <a:bodyPr/>
          <a:lstStyle/>
          <a:p>
            <a:pPr eaLnBrk="1" hangingPunct="1"/>
            <a:r>
              <a:rPr lang="zh-CN" altLang="en-US" smtClean="0"/>
              <a:t>思考</a:t>
            </a:r>
          </a:p>
        </p:txBody>
      </p:sp>
      <p:sp>
        <p:nvSpPr>
          <p:cNvPr id="33796" name="Rectangle 3"/>
          <p:cNvSpPr>
            <a:spLocks noGrp="1" noChangeArrowheads="1"/>
          </p:cNvSpPr>
          <p:nvPr>
            <p:ph type="body" idx="1"/>
          </p:nvPr>
        </p:nvSpPr>
        <p:spPr/>
        <p:txBody>
          <a:bodyPr/>
          <a:lstStyle/>
          <a:p>
            <a:pPr eaLnBrk="1" hangingPunct="1"/>
            <a:r>
              <a:rPr lang="en-US" altLang="zh-CN" smtClean="0"/>
              <a:t>P220 5-11  5-12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B9BF7A0-7736-46BF-8F59-5BBA42E311D2}" type="slidenum">
              <a:rPr lang="en-US" altLang="zh-CN" sz="1400"/>
              <a:pPr eaLnBrk="1" hangingPunct="1"/>
              <a:t>32</a:t>
            </a:fld>
            <a:endParaRPr lang="en-US" altLang="zh-CN" sz="1400"/>
          </a:p>
        </p:txBody>
      </p:sp>
      <p:sp>
        <p:nvSpPr>
          <p:cNvPr id="34819" name="Rectangle 2"/>
          <p:cNvSpPr>
            <a:spLocks noGrp="1" noChangeArrowheads="1"/>
          </p:cNvSpPr>
          <p:nvPr>
            <p:ph type="title"/>
          </p:nvPr>
        </p:nvSpPr>
        <p:spPr/>
        <p:txBody>
          <a:bodyPr/>
          <a:lstStyle/>
          <a:p>
            <a:pPr algn="ctr" eaLnBrk="1" hangingPunct="1"/>
            <a:r>
              <a:rPr lang="en-US" altLang="zh-CN" sz="4000" smtClean="0"/>
              <a:t>5.3   </a:t>
            </a:r>
            <a:r>
              <a:rPr lang="zh-CN" altLang="en-US" sz="4000" smtClean="0"/>
              <a:t>传输控制协议 </a:t>
            </a:r>
            <a:r>
              <a:rPr lang="en-US" altLang="zh-CN" sz="4000" smtClean="0"/>
              <a:t>TCP </a:t>
            </a:r>
            <a:r>
              <a:rPr lang="zh-CN" altLang="en-US" sz="4000" smtClean="0"/>
              <a:t>概述 </a:t>
            </a:r>
            <a:br>
              <a:rPr lang="zh-CN" altLang="en-US" sz="4000" smtClean="0"/>
            </a:br>
            <a:r>
              <a:rPr lang="en-US" altLang="zh-CN" sz="3600" smtClean="0"/>
              <a:t>5.3.1  TCP </a:t>
            </a:r>
            <a:r>
              <a:rPr lang="zh-CN" altLang="en-US" sz="3600" smtClean="0"/>
              <a:t>最主要的特点</a:t>
            </a:r>
            <a:r>
              <a:rPr lang="zh-CN" altLang="en-US" sz="4000" smtClean="0"/>
              <a:t> </a:t>
            </a:r>
          </a:p>
        </p:txBody>
      </p:sp>
      <p:sp>
        <p:nvSpPr>
          <p:cNvPr id="34820" name="Rectangle 40"/>
          <p:cNvSpPr>
            <a:spLocks noGrp="1" noChangeArrowheads="1"/>
          </p:cNvSpPr>
          <p:nvPr>
            <p:ph type="body" idx="1"/>
          </p:nvPr>
        </p:nvSpPr>
        <p:spPr>
          <a:xfrm>
            <a:off x="1042988" y="1978025"/>
            <a:ext cx="7772400" cy="4114800"/>
          </a:xfrm>
        </p:spPr>
        <p:txBody>
          <a:bodyPr/>
          <a:lstStyle/>
          <a:p>
            <a:pPr eaLnBrk="1" hangingPunct="1"/>
            <a:r>
              <a:rPr lang="en-US" altLang="zh-CN" smtClean="0"/>
              <a:t>TCP </a:t>
            </a:r>
            <a:r>
              <a:rPr lang="zh-CN" altLang="en-US" smtClean="0"/>
              <a:t>是</a:t>
            </a:r>
            <a:r>
              <a:rPr lang="zh-CN" altLang="en-US" smtClean="0">
                <a:solidFill>
                  <a:schemeClr val="hlink"/>
                </a:solidFill>
              </a:rPr>
              <a:t>面向连接</a:t>
            </a:r>
            <a:r>
              <a:rPr lang="zh-CN" altLang="en-US" smtClean="0"/>
              <a:t>的运输层协议。</a:t>
            </a:r>
          </a:p>
          <a:p>
            <a:pPr eaLnBrk="1" hangingPunct="1"/>
            <a:r>
              <a:rPr lang="zh-CN" altLang="en-US" smtClean="0"/>
              <a:t>每一条 </a:t>
            </a:r>
            <a:r>
              <a:rPr lang="en-US" altLang="zh-CN" smtClean="0"/>
              <a:t>TCP </a:t>
            </a:r>
            <a:r>
              <a:rPr lang="zh-CN" altLang="en-US" smtClean="0"/>
              <a:t>连接只能有两个</a:t>
            </a:r>
            <a:r>
              <a:rPr lang="zh-CN" altLang="en-US" smtClean="0">
                <a:solidFill>
                  <a:schemeClr val="hlink"/>
                </a:solidFill>
              </a:rPr>
              <a:t>端点</a:t>
            </a:r>
            <a:r>
              <a:rPr lang="en-US" altLang="zh-CN" smtClean="0"/>
              <a:t>(endpoint)</a:t>
            </a:r>
            <a:r>
              <a:rPr lang="zh-CN" altLang="en-US" smtClean="0"/>
              <a:t>，每一条 </a:t>
            </a:r>
            <a:r>
              <a:rPr lang="en-US" altLang="zh-CN" smtClean="0"/>
              <a:t>TCP </a:t>
            </a:r>
            <a:r>
              <a:rPr lang="zh-CN" altLang="en-US" smtClean="0"/>
              <a:t>连接只能是</a:t>
            </a:r>
            <a:r>
              <a:rPr lang="zh-CN" altLang="en-US" smtClean="0">
                <a:solidFill>
                  <a:schemeClr val="hlink"/>
                </a:solidFill>
              </a:rPr>
              <a:t>点对点</a:t>
            </a:r>
            <a:r>
              <a:rPr lang="zh-CN" altLang="en-US" smtClean="0"/>
              <a:t>的（一对一）。 不支持多播</a:t>
            </a:r>
          </a:p>
          <a:p>
            <a:pPr eaLnBrk="1" hangingPunct="1"/>
            <a:r>
              <a:rPr lang="en-US" altLang="zh-CN" smtClean="0"/>
              <a:t>TCP </a:t>
            </a:r>
            <a:r>
              <a:rPr lang="zh-CN" altLang="en-US" smtClean="0"/>
              <a:t>提供</a:t>
            </a:r>
            <a:r>
              <a:rPr lang="zh-CN" altLang="en-US" smtClean="0">
                <a:solidFill>
                  <a:schemeClr val="hlink"/>
                </a:solidFill>
              </a:rPr>
              <a:t>可靠交付</a:t>
            </a:r>
            <a:r>
              <a:rPr lang="zh-CN" altLang="en-US" smtClean="0"/>
              <a:t>的服务。</a:t>
            </a:r>
          </a:p>
          <a:p>
            <a:pPr eaLnBrk="1" hangingPunct="1"/>
            <a:r>
              <a:rPr lang="zh-CN" altLang="en-US" smtClean="0"/>
              <a:t> </a:t>
            </a:r>
            <a:r>
              <a:rPr lang="en-US" altLang="zh-CN" smtClean="0"/>
              <a:t>TCP </a:t>
            </a:r>
            <a:r>
              <a:rPr lang="zh-CN" altLang="en-US" smtClean="0"/>
              <a:t>提供</a:t>
            </a:r>
            <a:r>
              <a:rPr lang="zh-CN" altLang="en-US" smtClean="0">
                <a:solidFill>
                  <a:schemeClr val="hlink"/>
                </a:solidFill>
              </a:rPr>
              <a:t>全双工</a:t>
            </a:r>
            <a:r>
              <a:rPr lang="zh-CN" altLang="en-US" smtClean="0"/>
              <a:t>通信。</a:t>
            </a:r>
          </a:p>
          <a:p>
            <a:pPr eaLnBrk="1" hangingPunct="1"/>
            <a:r>
              <a:rPr lang="zh-CN" altLang="en-US" smtClean="0">
                <a:solidFill>
                  <a:schemeClr val="hlink"/>
                </a:solidFill>
              </a:rPr>
              <a:t>面向字节流</a:t>
            </a:r>
            <a:r>
              <a:rPr lang="zh-CN" altLang="en-US" smtClean="0"/>
              <a:t>。  不是面向报文</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A49F9E4-3335-46EF-8D7B-6D2B6D5C5675}" type="slidenum">
              <a:rPr lang="en-US" altLang="zh-CN" sz="1400"/>
              <a:pPr eaLnBrk="1" hangingPunct="1"/>
              <a:t>33</a:t>
            </a:fld>
            <a:endParaRPr lang="en-US" altLang="zh-CN" sz="1400"/>
          </a:p>
        </p:txBody>
      </p:sp>
      <p:sp>
        <p:nvSpPr>
          <p:cNvPr id="35843" name="AutoShape 47"/>
          <p:cNvSpPr>
            <a:spLocks noChangeArrowheads="1"/>
          </p:cNvSpPr>
          <p:nvPr/>
        </p:nvSpPr>
        <p:spPr bwMode="auto">
          <a:xfrm>
            <a:off x="6542088" y="5605463"/>
            <a:ext cx="261937" cy="130175"/>
          </a:xfrm>
          <a:prstGeom prst="rightArrow">
            <a:avLst>
              <a:gd name="adj1" fmla="val 50000"/>
              <a:gd name="adj2" fmla="val 50305"/>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4" name="Rectangle 107"/>
          <p:cNvSpPr>
            <a:spLocks noChangeArrowheads="1"/>
          </p:cNvSpPr>
          <p:nvPr/>
        </p:nvSpPr>
        <p:spPr bwMode="auto">
          <a:xfrm>
            <a:off x="3276600" y="2276475"/>
            <a:ext cx="3240088" cy="1008063"/>
          </a:xfrm>
          <a:prstGeom prst="rect">
            <a:avLst/>
          </a:prstGeom>
          <a:solidFill>
            <a:srgbClr val="FFFFCC"/>
          </a:solidFill>
          <a:ln w="38100" cmpd="dbl">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5845" name="Group 80"/>
          <p:cNvGrpSpPr>
            <a:grpSpLocks/>
          </p:cNvGrpSpPr>
          <p:nvPr/>
        </p:nvGrpSpPr>
        <p:grpSpPr bwMode="auto">
          <a:xfrm>
            <a:off x="5724525" y="5516563"/>
            <a:ext cx="865188" cy="287337"/>
            <a:chOff x="2925" y="1570"/>
            <a:chExt cx="545" cy="181"/>
          </a:xfrm>
        </p:grpSpPr>
        <p:grpSp>
          <p:nvGrpSpPr>
            <p:cNvPr id="35906" name="Group 81"/>
            <p:cNvGrpSpPr>
              <a:grpSpLocks/>
            </p:cNvGrpSpPr>
            <p:nvPr/>
          </p:nvGrpSpPr>
          <p:grpSpPr bwMode="auto">
            <a:xfrm>
              <a:off x="3061" y="1570"/>
              <a:ext cx="272" cy="181"/>
              <a:chOff x="3061" y="1842"/>
              <a:chExt cx="272" cy="181"/>
            </a:xfrm>
          </p:grpSpPr>
          <p:sp>
            <p:nvSpPr>
              <p:cNvPr id="35909" name="Rectangle 82"/>
              <p:cNvSpPr>
                <a:spLocks noChangeArrowheads="1"/>
              </p:cNvSpPr>
              <p:nvPr/>
            </p:nvSpPr>
            <p:spPr bwMode="auto">
              <a:xfrm>
                <a:off x="3061"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7</a:t>
                </a:r>
              </a:p>
            </p:txBody>
          </p:sp>
          <p:sp>
            <p:nvSpPr>
              <p:cNvPr id="35910" name="Rectangle 83"/>
              <p:cNvSpPr>
                <a:spLocks noChangeArrowheads="1"/>
              </p:cNvSpPr>
              <p:nvPr/>
            </p:nvSpPr>
            <p:spPr bwMode="auto">
              <a:xfrm>
                <a:off x="3197"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6</a:t>
                </a:r>
              </a:p>
            </p:txBody>
          </p:sp>
        </p:grpSp>
        <p:sp>
          <p:nvSpPr>
            <p:cNvPr id="35907" name="Rectangle 84"/>
            <p:cNvSpPr>
              <a:spLocks noChangeArrowheads="1"/>
            </p:cNvSpPr>
            <p:nvPr/>
          </p:nvSpPr>
          <p:spPr bwMode="auto">
            <a:xfrm>
              <a:off x="2925" y="1570"/>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8</a:t>
              </a:r>
            </a:p>
          </p:txBody>
        </p:sp>
        <p:sp>
          <p:nvSpPr>
            <p:cNvPr id="35908" name="Rectangle 85"/>
            <p:cNvSpPr>
              <a:spLocks noChangeArrowheads="1"/>
            </p:cNvSpPr>
            <p:nvPr/>
          </p:nvSpPr>
          <p:spPr bwMode="auto">
            <a:xfrm>
              <a:off x="3334" y="1570"/>
              <a:ext cx="136" cy="181"/>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H</a:t>
              </a:r>
            </a:p>
          </p:txBody>
        </p:sp>
      </p:grpSp>
      <p:sp>
        <p:nvSpPr>
          <p:cNvPr id="35846" name="Text Box 62"/>
          <p:cNvSpPr txBox="1">
            <a:spLocks noChangeArrowheads="1"/>
          </p:cNvSpPr>
          <p:nvPr/>
        </p:nvSpPr>
        <p:spPr bwMode="auto">
          <a:xfrm>
            <a:off x="7264400" y="2130425"/>
            <a:ext cx="769938"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6600">
                <a:solidFill>
                  <a:schemeClr val="folHlink"/>
                </a:solidFill>
                <a:latin typeface="Times New Roman" pitchFamily="18" charset="0"/>
                <a:ea typeface="黑体" pitchFamily="49" charset="-122"/>
                <a:sym typeface="Wingdings" pitchFamily="2" charset="2"/>
              </a:rPr>
              <a:t></a:t>
            </a:r>
            <a:endParaRPr kumimoji="1" lang="en-US" altLang="zh-CN" sz="6600">
              <a:solidFill>
                <a:schemeClr val="folHlink"/>
              </a:solidFill>
              <a:latin typeface="Times New Roman" pitchFamily="18" charset="0"/>
              <a:ea typeface="黑体" pitchFamily="49" charset="-122"/>
            </a:endParaRPr>
          </a:p>
        </p:txBody>
      </p:sp>
      <p:sp>
        <p:nvSpPr>
          <p:cNvPr id="35847" name="Rectangle 2"/>
          <p:cNvSpPr>
            <a:spLocks noGrp="1" noChangeArrowheads="1"/>
          </p:cNvSpPr>
          <p:nvPr>
            <p:ph type="title"/>
          </p:nvPr>
        </p:nvSpPr>
        <p:spPr/>
        <p:txBody>
          <a:bodyPr/>
          <a:lstStyle/>
          <a:p>
            <a:pPr algn="ctr" eaLnBrk="1" hangingPunct="1"/>
            <a:r>
              <a:rPr lang="en-US" altLang="zh-CN" sz="4000" smtClean="0"/>
              <a:t>TCP </a:t>
            </a:r>
            <a:r>
              <a:rPr lang="zh-CN" altLang="en-US" sz="4000" smtClean="0"/>
              <a:t>面向字节流的概念 </a:t>
            </a:r>
          </a:p>
        </p:txBody>
      </p:sp>
      <p:sp>
        <p:nvSpPr>
          <p:cNvPr id="35848" name="Freeform 44"/>
          <p:cNvSpPr>
            <a:spLocks/>
          </p:cNvSpPr>
          <p:nvPr/>
        </p:nvSpPr>
        <p:spPr bwMode="auto">
          <a:xfrm>
            <a:off x="7239000" y="5156200"/>
            <a:ext cx="357188" cy="889000"/>
          </a:xfrm>
          <a:custGeom>
            <a:avLst/>
            <a:gdLst>
              <a:gd name="T0" fmla="*/ 0 w 225"/>
              <a:gd name="T1" fmla="*/ 889000 h 590"/>
              <a:gd name="T2" fmla="*/ 357188 w 225"/>
              <a:gd name="T3" fmla="*/ 889000 h 590"/>
              <a:gd name="T4" fmla="*/ 357188 w 225"/>
              <a:gd name="T5" fmla="*/ 0 h 590"/>
              <a:gd name="T6" fmla="*/ 0 60000 65536"/>
              <a:gd name="T7" fmla="*/ 0 60000 65536"/>
              <a:gd name="T8" fmla="*/ 0 60000 65536"/>
            </a:gdLst>
            <a:ahLst/>
            <a:cxnLst>
              <a:cxn ang="T6">
                <a:pos x="T0" y="T1"/>
              </a:cxn>
              <a:cxn ang="T7">
                <a:pos x="T2" y="T3"/>
              </a:cxn>
              <a:cxn ang="T8">
                <a:pos x="T4" y="T5"/>
              </a:cxn>
            </a:cxnLst>
            <a:rect l="0" t="0" r="r" b="b"/>
            <a:pathLst>
              <a:path w="225" h="590">
                <a:moveTo>
                  <a:pt x="0" y="590"/>
                </a:moveTo>
                <a:lnTo>
                  <a:pt x="225" y="590"/>
                </a:lnTo>
                <a:lnTo>
                  <a:pt x="225" y="0"/>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9" name="Text Box 45"/>
          <p:cNvSpPr txBox="1">
            <a:spLocks noChangeArrowheads="1"/>
          </p:cNvSpPr>
          <p:nvPr/>
        </p:nvSpPr>
        <p:spPr bwMode="auto">
          <a:xfrm>
            <a:off x="998538" y="2130425"/>
            <a:ext cx="769937"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6600">
                <a:solidFill>
                  <a:schemeClr val="folHlink"/>
                </a:solidFill>
                <a:latin typeface="Times New Roman" pitchFamily="18" charset="0"/>
                <a:ea typeface="黑体" pitchFamily="49" charset="-122"/>
                <a:sym typeface="Wingdings" pitchFamily="2" charset="2"/>
              </a:rPr>
              <a:t></a:t>
            </a:r>
            <a:endParaRPr kumimoji="1" lang="en-US" altLang="zh-CN" sz="6600">
              <a:solidFill>
                <a:schemeClr val="folHlink"/>
              </a:solidFill>
              <a:latin typeface="Times New Roman" pitchFamily="18" charset="0"/>
              <a:ea typeface="黑体" pitchFamily="49" charset="-122"/>
            </a:endParaRPr>
          </a:p>
        </p:txBody>
      </p:sp>
      <p:sp>
        <p:nvSpPr>
          <p:cNvPr id="35850" name="AutoShape 46"/>
          <p:cNvSpPr>
            <a:spLocks noChangeArrowheads="1"/>
          </p:cNvSpPr>
          <p:nvPr/>
        </p:nvSpPr>
        <p:spPr bwMode="auto">
          <a:xfrm>
            <a:off x="4535488" y="5607050"/>
            <a:ext cx="263525" cy="130175"/>
          </a:xfrm>
          <a:prstGeom prst="rightArrow">
            <a:avLst>
              <a:gd name="adj1" fmla="val 50000"/>
              <a:gd name="adj2" fmla="val 5061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1" name="AutoShape 48"/>
          <p:cNvSpPr>
            <a:spLocks noChangeArrowheads="1"/>
          </p:cNvSpPr>
          <p:nvPr/>
        </p:nvSpPr>
        <p:spPr bwMode="auto">
          <a:xfrm>
            <a:off x="2724150" y="5605463"/>
            <a:ext cx="263525" cy="130175"/>
          </a:xfrm>
          <a:prstGeom prst="rightArrow">
            <a:avLst>
              <a:gd name="adj1" fmla="val 50000"/>
              <a:gd name="adj2" fmla="val 5061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2" name="Line 49"/>
          <p:cNvSpPr>
            <a:spLocks noChangeShapeType="1"/>
          </p:cNvSpPr>
          <p:nvPr/>
        </p:nvSpPr>
        <p:spPr bwMode="auto">
          <a:xfrm>
            <a:off x="1331913" y="2997200"/>
            <a:ext cx="3175" cy="1487488"/>
          </a:xfrm>
          <a:prstGeom prst="line">
            <a:avLst/>
          </a:prstGeom>
          <a:noFill/>
          <a:ln w="952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3" name="Text Box 50"/>
          <p:cNvSpPr txBox="1">
            <a:spLocks noChangeArrowheads="1"/>
          </p:cNvSpPr>
          <p:nvPr/>
        </p:nvSpPr>
        <p:spPr bwMode="auto">
          <a:xfrm>
            <a:off x="5049838" y="5132388"/>
            <a:ext cx="1860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Times New Roman" pitchFamily="18" charset="0"/>
                <a:ea typeface="黑体" pitchFamily="49" charset="-122"/>
              </a:rPr>
              <a:t>发送 </a:t>
            </a:r>
            <a:r>
              <a:rPr kumimoji="1" lang="en-US" altLang="zh-CN" sz="1800">
                <a:solidFill>
                  <a:schemeClr val="folHlink"/>
                </a:solidFill>
                <a:latin typeface="Times New Roman" pitchFamily="18" charset="0"/>
                <a:ea typeface="黑体" pitchFamily="49" charset="-122"/>
              </a:rPr>
              <a:t>TCP </a:t>
            </a:r>
            <a:r>
              <a:rPr kumimoji="1" lang="zh-CN" altLang="en-US" sz="1800">
                <a:solidFill>
                  <a:schemeClr val="folHlink"/>
                </a:solidFill>
                <a:latin typeface="Times New Roman" pitchFamily="18" charset="0"/>
                <a:ea typeface="黑体" pitchFamily="49" charset="-122"/>
              </a:rPr>
              <a:t>报文段</a:t>
            </a:r>
          </a:p>
        </p:txBody>
      </p:sp>
      <p:sp>
        <p:nvSpPr>
          <p:cNvPr id="35854" name="Rectangle 51"/>
          <p:cNvSpPr>
            <a:spLocks noChangeArrowheads="1"/>
          </p:cNvSpPr>
          <p:nvPr/>
        </p:nvSpPr>
        <p:spPr bwMode="auto">
          <a:xfrm>
            <a:off x="508000" y="4473575"/>
            <a:ext cx="1663700"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a:endParaRPr kumimoji="1" lang="en-US" altLang="zh-CN" sz="1800">
              <a:solidFill>
                <a:schemeClr val="folHlink"/>
              </a:solidFill>
              <a:latin typeface="Times New Roman" pitchFamily="18" charset="0"/>
              <a:ea typeface="黑体" pitchFamily="49" charset="-122"/>
            </a:endParaRPr>
          </a:p>
          <a:p>
            <a:pPr algn="ctr"/>
            <a:endParaRPr kumimoji="1" lang="en-US" altLang="zh-CN" sz="900">
              <a:solidFill>
                <a:schemeClr val="folHlink"/>
              </a:solidFill>
              <a:latin typeface="Times New Roman" pitchFamily="18" charset="0"/>
              <a:ea typeface="黑体" pitchFamily="49" charset="-122"/>
            </a:endParaRPr>
          </a:p>
          <a:p>
            <a:pPr algn="ctr"/>
            <a:endParaRPr kumimoji="1" lang="en-US" altLang="zh-CN" sz="1800">
              <a:solidFill>
                <a:schemeClr val="folHlink"/>
              </a:solidFill>
              <a:latin typeface="Times New Roman" pitchFamily="18" charset="0"/>
              <a:ea typeface="黑体" pitchFamily="49" charset="-122"/>
            </a:endParaRPr>
          </a:p>
        </p:txBody>
      </p:sp>
      <p:sp>
        <p:nvSpPr>
          <p:cNvPr id="35855" name="Line 52"/>
          <p:cNvSpPr>
            <a:spLocks noChangeShapeType="1"/>
          </p:cNvSpPr>
          <p:nvPr/>
        </p:nvSpPr>
        <p:spPr bwMode="auto">
          <a:xfrm flipV="1">
            <a:off x="7623175" y="2997200"/>
            <a:ext cx="0" cy="1476375"/>
          </a:xfrm>
          <a:prstGeom prst="line">
            <a:avLst/>
          </a:prstGeom>
          <a:noFill/>
          <a:ln w="952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6" name="Rectangle 53"/>
          <p:cNvSpPr>
            <a:spLocks noChangeArrowheads="1"/>
          </p:cNvSpPr>
          <p:nvPr/>
        </p:nvSpPr>
        <p:spPr bwMode="auto">
          <a:xfrm>
            <a:off x="6791325" y="4473575"/>
            <a:ext cx="1662113" cy="68262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a:endParaRPr kumimoji="1" lang="en-US" altLang="zh-CN" sz="1800">
              <a:solidFill>
                <a:schemeClr val="folHlink"/>
              </a:solidFill>
              <a:latin typeface="Times New Roman" pitchFamily="18" charset="0"/>
              <a:ea typeface="黑体" pitchFamily="49" charset="-122"/>
            </a:endParaRPr>
          </a:p>
          <a:p>
            <a:pPr algn="ctr"/>
            <a:endParaRPr kumimoji="1" lang="en-US" altLang="zh-CN" sz="900">
              <a:solidFill>
                <a:schemeClr val="folHlink"/>
              </a:solidFill>
              <a:latin typeface="Times New Roman" pitchFamily="18" charset="0"/>
              <a:ea typeface="黑体" pitchFamily="49" charset="-122"/>
            </a:endParaRPr>
          </a:p>
          <a:p>
            <a:pPr algn="ctr"/>
            <a:endParaRPr kumimoji="1" lang="en-US" altLang="zh-CN" sz="1800">
              <a:solidFill>
                <a:schemeClr val="folHlink"/>
              </a:solidFill>
              <a:latin typeface="Times New Roman" pitchFamily="18" charset="0"/>
              <a:ea typeface="黑体" pitchFamily="49" charset="-122"/>
            </a:endParaRPr>
          </a:p>
        </p:txBody>
      </p:sp>
      <p:sp>
        <p:nvSpPr>
          <p:cNvPr id="35857" name="Text Box 54"/>
          <p:cNvSpPr txBox="1">
            <a:spLocks noChangeArrowheads="1"/>
          </p:cNvSpPr>
          <p:nvPr/>
        </p:nvSpPr>
        <p:spPr bwMode="auto">
          <a:xfrm>
            <a:off x="781050" y="191135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400">
                <a:solidFill>
                  <a:schemeClr val="folHlink"/>
                </a:solidFill>
                <a:latin typeface="Times New Roman" pitchFamily="18" charset="0"/>
                <a:ea typeface="黑体" pitchFamily="49" charset="-122"/>
              </a:rPr>
              <a:t>发送方</a:t>
            </a:r>
          </a:p>
        </p:txBody>
      </p:sp>
      <p:sp>
        <p:nvSpPr>
          <p:cNvPr id="35858" name="Text Box 55"/>
          <p:cNvSpPr txBox="1">
            <a:spLocks noChangeArrowheads="1"/>
          </p:cNvSpPr>
          <p:nvPr/>
        </p:nvSpPr>
        <p:spPr bwMode="auto">
          <a:xfrm>
            <a:off x="7058025" y="1911350"/>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400">
                <a:solidFill>
                  <a:schemeClr val="folHlink"/>
                </a:solidFill>
                <a:latin typeface="Times New Roman" pitchFamily="18" charset="0"/>
                <a:ea typeface="黑体" pitchFamily="49" charset="-122"/>
              </a:rPr>
              <a:t>接收方</a:t>
            </a:r>
          </a:p>
        </p:txBody>
      </p:sp>
      <p:sp>
        <p:nvSpPr>
          <p:cNvPr id="35859" name="AutoShape 56"/>
          <p:cNvSpPr>
            <a:spLocks noChangeArrowheads="1"/>
          </p:cNvSpPr>
          <p:nvPr/>
        </p:nvSpPr>
        <p:spPr bwMode="auto">
          <a:xfrm>
            <a:off x="2051050" y="3716338"/>
            <a:ext cx="1206500" cy="609600"/>
          </a:xfrm>
          <a:prstGeom prst="wedgeRoundRectCallout">
            <a:avLst>
              <a:gd name="adj1" fmla="val -85792"/>
              <a:gd name="adj2" fmla="val 120833"/>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a:solidFill>
                <a:schemeClr val="folHlink"/>
              </a:solidFill>
              <a:latin typeface="Times New Roman" pitchFamily="18" charset="0"/>
              <a:ea typeface="黑体" pitchFamily="49" charset="-122"/>
            </a:endParaRPr>
          </a:p>
        </p:txBody>
      </p:sp>
      <p:sp>
        <p:nvSpPr>
          <p:cNvPr id="35860" name="Text Box 57"/>
          <p:cNvSpPr txBox="1">
            <a:spLocks noChangeArrowheads="1"/>
          </p:cNvSpPr>
          <p:nvPr/>
        </p:nvSpPr>
        <p:spPr bwMode="auto">
          <a:xfrm>
            <a:off x="2011363" y="3698875"/>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Times New Roman" pitchFamily="18" charset="0"/>
                <a:ea typeface="黑体" pitchFamily="49" charset="-122"/>
              </a:rPr>
              <a:t>把字节写入</a:t>
            </a:r>
          </a:p>
          <a:p>
            <a:pPr algn="ctr" eaLnBrk="1" hangingPunct="1"/>
            <a:r>
              <a:rPr kumimoji="1" lang="zh-CN" altLang="en-US" sz="1800">
                <a:solidFill>
                  <a:schemeClr val="folHlink"/>
                </a:solidFill>
                <a:latin typeface="Times New Roman" pitchFamily="18" charset="0"/>
                <a:ea typeface="黑体" pitchFamily="49" charset="-122"/>
              </a:rPr>
              <a:t>发送缓存</a:t>
            </a:r>
          </a:p>
        </p:txBody>
      </p:sp>
      <p:sp>
        <p:nvSpPr>
          <p:cNvPr id="35861" name="AutoShape 58"/>
          <p:cNvSpPr>
            <a:spLocks noChangeArrowheads="1"/>
          </p:cNvSpPr>
          <p:nvPr/>
        </p:nvSpPr>
        <p:spPr bwMode="auto">
          <a:xfrm>
            <a:off x="6156325" y="3429000"/>
            <a:ext cx="1181100" cy="609600"/>
          </a:xfrm>
          <a:prstGeom prst="wedgeRoundRectCallout">
            <a:avLst>
              <a:gd name="adj1" fmla="val 80912"/>
              <a:gd name="adj2" fmla="val 178384"/>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a:solidFill>
                <a:schemeClr val="folHlink"/>
              </a:solidFill>
              <a:latin typeface="Times New Roman" pitchFamily="18" charset="0"/>
              <a:ea typeface="黑体" pitchFamily="49" charset="-122"/>
            </a:endParaRPr>
          </a:p>
        </p:txBody>
      </p:sp>
      <p:sp>
        <p:nvSpPr>
          <p:cNvPr id="35862" name="Text Box 59"/>
          <p:cNvSpPr txBox="1">
            <a:spLocks noChangeArrowheads="1"/>
          </p:cNvSpPr>
          <p:nvPr/>
        </p:nvSpPr>
        <p:spPr bwMode="auto">
          <a:xfrm>
            <a:off x="6084888" y="3429000"/>
            <a:ext cx="1327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Times New Roman" pitchFamily="18" charset="0"/>
                <a:ea typeface="黑体" pitchFamily="49" charset="-122"/>
              </a:rPr>
              <a:t>从接收缓存</a:t>
            </a:r>
          </a:p>
          <a:p>
            <a:pPr algn="ctr" eaLnBrk="1" hangingPunct="1"/>
            <a:r>
              <a:rPr kumimoji="1" lang="zh-CN" altLang="en-US" sz="1800">
                <a:solidFill>
                  <a:schemeClr val="folHlink"/>
                </a:solidFill>
                <a:latin typeface="Times New Roman" pitchFamily="18" charset="0"/>
                <a:ea typeface="黑体" pitchFamily="49" charset="-122"/>
              </a:rPr>
              <a:t>读取字节</a:t>
            </a:r>
          </a:p>
        </p:txBody>
      </p:sp>
      <p:sp>
        <p:nvSpPr>
          <p:cNvPr id="35863" name="Text Box 60"/>
          <p:cNvSpPr txBox="1">
            <a:spLocks noChangeArrowheads="1"/>
          </p:cNvSpPr>
          <p:nvPr/>
        </p:nvSpPr>
        <p:spPr bwMode="auto">
          <a:xfrm>
            <a:off x="1547813" y="251142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chemeClr val="folHlink"/>
                </a:solidFill>
                <a:latin typeface="Times New Roman" pitchFamily="18" charset="0"/>
                <a:ea typeface="黑体" pitchFamily="49" charset="-122"/>
              </a:rPr>
              <a:t>应用进程</a:t>
            </a:r>
          </a:p>
        </p:txBody>
      </p:sp>
      <p:sp>
        <p:nvSpPr>
          <p:cNvPr id="35864" name="Text Box 61"/>
          <p:cNvSpPr txBox="1">
            <a:spLocks noChangeArrowheads="1"/>
          </p:cNvSpPr>
          <p:nvPr/>
        </p:nvSpPr>
        <p:spPr bwMode="auto">
          <a:xfrm>
            <a:off x="7835900" y="2455863"/>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chemeClr val="folHlink"/>
                </a:solidFill>
                <a:latin typeface="Times New Roman" pitchFamily="18" charset="0"/>
                <a:ea typeface="黑体" pitchFamily="49" charset="-122"/>
              </a:rPr>
              <a:t>应用进程</a:t>
            </a:r>
          </a:p>
        </p:txBody>
      </p:sp>
      <p:grpSp>
        <p:nvGrpSpPr>
          <p:cNvPr id="35865" name="Group 63"/>
          <p:cNvGrpSpPr>
            <a:grpSpLocks/>
          </p:cNvGrpSpPr>
          <p:nvPr/>
        </p:nvGrpSpPr>
        <p:grpSpPr bwMode="auto">
          <a:xfrm>
            <a:off x="7767638" y="3141663"/>
            <a:ext cx="215900" cy="1150937"/>
            <a:chOff x="3107" y="210"/>
            <a:chExt cx="136" cy="725"/>
          </a:xfrm>
        </p:grpSpPr>
        <p:sp>
          <p:nvSpPr>
            <p:cNvPr id="35902" name="Rectangle 64"/>
            <p:cNvSpPr>
              <a:spLocks noChangeArrowheads="1"/>
            </p:cNvSpPr>
            <p:nvPr/>
          </p:nvSpPr>
          <p:spPr bwMode="auto">
            <a:xfrm>
              <a:off x="3107" y="391"/>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a:t>
              </a:r>
            </a:p>
          </p:txBody>
        </p:sp>
        <p:sp>
          <p:nvSpPr>
            <p:cNvPr id="35903" name="Rectangle 65"/>
            <p:cNvSpPr>
              <a:spLocks noChangeArrowheads="1"/>
            </p:cNvSpPr>
            <p:nvPr/>
          </p:nvSpPr>
          <p:spPr bwMode="auto">
            <a:xfrm>
              <a:off x="3107" y="573"/>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2</a:t>
              </a:r>
            </a:p>
          </p:txBody>
        </p:sp>
        <p:sp>
          <p:nvSpPr>
            <p:cNvPr id="35904" name="Rectangle 66"/>
            <p:cNvSpPr>
              <a:spLocks noChangeArrowheads="1"/>
            </p:cNvSpPr>
            <p:nvPr/>
          </p:nvSpPr>
          <p:spPr bwMode="auto">
            <a:xfrm>
              <a:off x="3107" y="754"/>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3</a:t>
              </a:r>
            </a:p>
          </p:txBody>
        </p:sp>
        <p:sp>
          <p:nvSpPr>
            <p:cNvPr id="35905" name="Rectangle 67"/>
            <p:cNvSpPr>
              <a:spLocks noChangeArrowheads="1"/>
            </p:cNvSpPr>
            <p:nvPr/>
          </p:nvSpPr>
          <p:spPr bwMode="auto">
            <a:xfrm>
              <a:off x="3107" y="210"/>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0</a:t>
              </a:r>
            </a:p>
          </p:txBody>
        </p:sp>
      </p:grpSp>
      <p:sp>
        <p:nvSpPr>
          <p:cNvPr id="35866" name="Rectangle 68"/>
          <p:cNvSpPr>
            <a:spLocks noChangeArrowheads="1"/>
          </p:cNvSpPr>
          <p:nvPr/>
        </p:nvSpPr>
        <p:spPr bwMode="auto">
          <a:xfrm>
            <a:off x="755650" y="4797425"/>
            <a:ext cx="215900"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18</a:t>
            </a:r>
          </a:p>
        </p:txBody>
      </p:sp>
      <p:sp>
        <p:nvSpPr>
          <p:cNvPr id="35867" name="Rectangle 69"/>
          <p:cNvSpPr>
            <a:spLocks noChangeArrowheads="1"/>
          </p:cNvSpPr>
          <p:nvPr/>
        </p:nvSpPr>
        <p:spPr bwMode="auto">
          <a:xfrm>
            <a:off x="971550" y="4797425"/>
            <a:ext cx="215900"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17</a:t>
            </a:r>
          </a:p>
        </p:txBody>
      </p:sp>
      <p:sp>
        <p:nvSpPr>
          <p:cNvPr id="35868" name="Rectangle 70"/>
          <p:cNvSpPr>
            <a:spLocks noChangeArrowheads="1"/>
          </p:cNvSpPr>
          <p:nvPr/>
        </p:nvSpPr>
        <p:spPr bwMode="auto">
          <a:xfrm>
            <a:off x="1187450" y="4797425"/>
            <a:ext cx="215900"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16</a:t>
            </a:r>
          </a:p>
        </p:txBody>
      </p:sp>
      <p:sp>
        <p:nvSpPr>
          <p:cNvPr id="35869" name="Rectangle 71"/>
          <p:cNvSpPr>
            <a:spLocks noChangeArrowheads="1"/>
          </p:cNvSpPr>
          <p:nvPr/>
        </p:nvSpPr>
        <p:spPr bwMode="auto">
          <a:xfrm>
            <a:off x="1403350" y="4797425"/>
            <a:ext cx="215900" cy="287338"/>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15</a:t>
            </a:r>
          </a:p>
        </p:txBody>
      </p:sp>
      <p:sp>
        <p:nvSpPr>
          <p:cNvPr id="35870" name="Rectangle 72"/>
          <p:cNvSpPr>
            <a:spLocks noChangeArrowheads="1"/>
          </p:cNvSpPr>
          <p:nvPr/>
        </p:nvSpPr>
        <p:spPr bwMode="auto">
          <a:xfrm>
            <a:off x="1619250" y="4797425"/>
            <a:ext cx="215900" cy="287338"/>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14</a:t>
            </a:r>
          </a:p>
        </p:txBody>
      </p:sp>
      <p:grpSp>
        <p:nvGrpSpPr>
          <p:cNvPr id="35871" name="Group 73"/>
          <p:cNvGrpSpPr>
            <a:grpSpLocks/>
          </p:cNvGrpSpPr>
          <p:nvPr/>
        </p:nvGrpSpPr>
        <p:grpSpPr bwMode="auto">
          <a:xfrm>
            <a:off x="1474788" y="3213100"/>
            <a:ext cx="215900" cy="863600"/>
            <a:chOff x="1429" y="164"/>
            <a:chExt cx="136" cy="544"/>
          </a:xfrm>
        </p:grpSpPr>
        <p:sp>
          <p:nvSpPr>
            <p:cNvPr id="35899" name="Rectangle 74"/>
            <p:cNvSpPr>
              <a:spLocks noChangeArrowheads="1"/>
            </p:cNvSpPr>
            <p:nvPr/>
          </p:nvSpPr>
          <p:spPr bwMode="auto">
            <a:xfrm>
              <a:off x="1429" y="527"/>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19</a:t>
              </a:r>
            </a:p>
          </p:txBody>
        </p:sp>
        <p:sp>
          <p:nvSpPr>
            <p:cNvPr id="35900" name="Rectangle 75"/>
            <p:cNvSpPr>
              <a:spLocks noChangeArrowheads="1"/>
            </p:cNvSpPr>
            <p:nvPr/>
          </p:nvSpPr>
          <p:spPr bwMode="auto">
            <a:xfrm>
              <a:off x="1429" y="346"/>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20</a:t>
              </a:r>
            </a:p>
          </p:txBody>
        </p:sp>
        <p:sp>
          <p:nvSpPr>
            <p:cNvPr id="35901" name="Rectangle 76"/>
            <p:cNvSpPr>
              <a:spLocks noChangeArrowheads="1"/>
            </p:cNvSpPr>
            <p:nvPr/>
          </p:nvSpPr>
          <p:spPr bwMode="auto">
            <a:xfrm>
              <a:off x="1429" y="164"/>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21</a:t>
              </a:r>
            </a:p>
          </p:txBody>
        </p:sp>
      </p:grpSp>
      <p:grpSp>
        <p:nvGrpSpPr>
          <p:cNvPr id="35872" name="Group 77"/>
          <p:cNvGrpSpPr>
            <a:grpSpLocks/>
          </p:cNvGrpSpPr>
          <p:nvPr/>
        </p:nvGrpSpPr>
        <p:grpSpPr bwMode="auto">
          <a:xfrm>
            <a:off x="7408863" y="4795838"/>
            <a:ext cx="431800" cy="287337"/>
            <a:chOff x="2789" y="1842"/>
            <a:chExt cx="272" cy="181"/>
          </a:xfrm>
        </p:grpSpPr>
        <p:sp>
          <p:nvSpPr>
            <p:cNvPr id="35897" name="Rectangle 78"/>
            <p:cNvSpPr>
              <a:spLocks noChangeArrowheads="1"/>
            </p:cNvSpPr>
            <p:nvPr/>
          </p:nvSpPr>
          <p:spPr bwMode="auto">
            <a:xfrm>
              <a:off x="2925"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4</a:t>
              </a:r>
            </a:p>
          </p:txBody>
        </p:sp>
        <p:sp>
          <p:nvSpPr>
            <p:cNvPr id="35898" name="Rectangle 79"/>
            <p:cNvSpPr>
              <a:spLocks noChangeArrowheads="1"/>
            </p:cNvSpPr>
            <p:nvPr/>
          </p:nvSpPr>
          <p:spPr bwMode="auto">
            <a:xfrm>
              <a:off x="2789" y="184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5</a:t>
              </a:r>
            </a:p>
          </p:txBody>
        </p:sp>
      </p:grpSp>
      <p:grpSp>
        <p:nvGrpSpPr>
          <p:cNvPr id="35873" name="Group 86"/>
          <p:cNvGrpSpPr>
            <a:grpSpLocks/>
          </p:cNvGrpSpPr>
          <p:nvPr/>
        </p:nvGrpSpPr>
        <p:grpSpPr bwMode="auto">
          <a:xfrm>
            <a:off x="1908175" y="5516563"/>
            <a:ext cx="863600" cy="287337"/>
            <a:chOff x="2200" y="1298"/>
            <a:chExt cx="544" cy="181"/>
          </a:xfrm>
        </p:grpSpPr>
        <p:sp>
          <p:nvSpPr>
            <p:cNvPr id="35893" name="Rectangle 87"/>
            <p:cNvSpPr>
              <a:spLocks noChangeArrowheads="1"/>
            </p:cNvSpPr>
            <p:nvPr/>
          </p:nvSpPr>
          <p:spPr bwMode="auto">
            <a:xfrm>
              <a:off x="2200"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13</a:t>
              </a:r>
            </a:p>
          </p:txBody>
        </p:sp>
        <p:sp>
          <p:nvSpPr>
            <p:cNvPr id="35894" name="Rectangle 88"/>
            <p:cNvSpPr>
              <a:spLocks noChangeArrowheads="1"/>
            </p:cNvSpPr>
            <p:nvPr/>
          </p:nvSpPr>
          <p:spPr bwMode="auto">
            <a:xfrm>
              <a:off x="2336"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12</a:t>
              </a:r>
            </a:p>
          </p:txBody>
        </p:sp>
        <p:sp>
          <p:nvSpPr>
            <p:cNvPr id="35895" name="Rectangle 89"/>
            <p:cNvSpPr>
              <a:spLocks noChangeArrowheads="1"/>
            </p:cNvSpPr>
            <p:nvPr/>
          </p:nvSpPr>
          <p:spPr bwMode="auto">
            <a:xfrm>
              <a:off x="2472" y="1298"/>
              <a:ext cx="136" cy="181"/>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11</a:t>
              </a:r>
            </a:p>
          </p:txBody>
        </p:sp>
        <p:sp>
          <p:nvSpPr>
            <p:cNvPr id="35896" name="Rectangle 90"/>
            <p:cNvSpPr>
              <a:spLocks noChangeArrowheads="1"/>
            </p:cNvSpPr>
            <p:nvPr/>
          </p:nvSpPr>
          <p:spPr bwMode="auto">
            <a:xfrm>
              <a:off x="2608" y="1298"/>
              <a:ext cx="136" cy="181"/>
            </a:xfrm>
            <a:prstGeom prst="rect">
              <a:avLst/>
            </a:prstGeom>
            <a:solidFill>
              <a:srgbClr val="FFCC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H</a:t>
              </a:r>
            </a:p>
          </p:txBody>
        </p:sp>
      </p:grpSp>
      <p:grpSp>
        <p:nvGrpSpPr>
          <p:cNvPr id="35874" name="Group 91"/>
          <p:cNvGrpSpPr>
            <a:grpSpLocks/>
          </p:cNvGrpSpPr>
          <p:nvPr/>
        </p:nvGrpSpPr>
        <p:grpSpPr bwMode="auto">
          <a:xfrm>
            <a:off x="3924300" y="5518150"/>
            <a:ext cx="431800" cy="287338"/>
            <a:chOff x="2290" y="482"/>
            <a:chExt cx="272" cy="181"/>
          </a:xfrm>
        </p:grpSpPr>
        <p:sp>
          <p:nvSpPr>
            <p:cNvPr id="35891" name="Rectangle 92"/>
            <p:cNvSpPr>
              <a:spLocks noChangeArrowheads="1"/>
            </p:cNvSpPr>
            <p:nvPr/>
          </p:nvSpPr>
          <p:spPr bwMode="auto">
            <a:xfrm>
              <a:off x="2290" y="48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10</a:t>
              </a:r>
            </a:p>
          </p:txBody>
        </p:sp>
        <p:sp>
          <p:nvSpPr>
            <p:cNvPr id="35892" name="Rectangle 93"/>
            <p:cNvSpPr>
              <a:spLocks noChangeArrowheads="1"/>
            </p:cNvSpPr>
            <p:nvPr/>
          </p:nvSpPr>
          <p:spPr bwMode="auto">
            <a:xfrm>
              <a:off x="2426" y="482"/>
              <a:ext cx="136" cy="181"/>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9</a:t>
              </a:r>
            </a:p>
          </p:txBody>
        </p:sp>
      </p:grpSp>
      <p:sp>
        <p:nvSpPr>
          <p:cNvPr id="35875" name="Rectangle 94"/>
          <p:cNvSpPr>
            <a:spLocks noChangeArrowheads="1"/>
          </p:cNvSpPr>
          <p:nvPr/>
        </p:nvSpPr>
        <p:spPr bwMode="auto">
          <a:xfrm>
            <a:off x="4356100" y="55181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H</a:t>
            </a:r>
          </a:p>
        </p:txBody>
      </p:sp>
      <p:sp>
        <p:nvSpPr>
          <p:cNvPr id="35876" name="AutoShape 95"/>
          <p:cNvSpPr>
            <a:spLocks noChangeArrowheads="1"/>
          </p:cNvSpPr>
          <p:nvPr/>
        </p:nvSpPr>
        <p:spPr bwMode="auto">
          <a:xfrm>
            <a:off x="3203575" y="4437063"/>
            <a:ext cx="1873250" cy="609600"/>
          </a:xfrm>
          <a:prstGeom prst="wedgeRoundRectCallout">
            <a:avLst>
              <a:gd name="adj1" fmla="val -73306"/>
              <a:gd name="adj2" fmla="val 126301"/>
              <a:gd name="adj3" fmla="val 16667"/>
            </a:avLst>
          </a:prstGeom>
          <a:solidFill>
            <a:srgbClr val="CCECFF"/>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a:solidFill>
                <a:schemeClr val="folHlink"/>
              </a:solidFill>
              <a:latin typeface="Times New Roman" pitchFamily="18" charset="0"/>
              <a:ea typeface="黑体" pitchFamily="49" charset="-122"/>
            </a:endParaRPr>
          </a:p>
        </p:txBody>
      </p:sp>
      <p:sp>
        <p:nvSpPr>
          <p:cNvPr id="35877" name="Text Box 96"/>
          <p:cNvSpPr txBox="1">
            <a:spLocks noChangeArrowheads="1"/>
          </p:cNvSpPr>
          <p:nvPr/>
        </p:nvSpPr>
        <p:spPr bwMode="auto">
          <a:xfrm>
            <a:off x="3165475" y="4418013"/>
            <a:ext cx="1860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Times New Roman" pitchFamily="18" charset="0"/>
                <a:ea typeface="黑体" pitchFamily="49" charset="-122"/>
              </a:rPr>
              <a:t>加上 </a:t>
            </a:r>
            <a:r>
              <a:rPr kumimoji="1" lang="en-US" altLang="zh-CN" sz="1800">
                <a:solidFill>
                  <a:schemeClr val="folHlink"/>
                </a:solidFill>
                <a:latin typeface="Times New Roman" pitchFamily="18" charset="0"/>
                <a:ea typeface="黑体" pitchFamily="49" charset="-122"/>
              </a:rPr>
              <a:t>TCP </a:t>
            </a:r>
            <a:r>
              <a:rPr kumimoji="1" lang="zh-CN" altLang="en-US" sz="1800">
                <a:solidFill>
                  <a:schemeClr val="folHlink"/>
                </a:solidFill>
                <a:latin typeface="Times New Roman" pitchFamily="18" charset="0"/>
                <a:ea typeface="黑体" pitchFamily="49" charset="-122"/>
              </a:rPr>
              <a:t>首部</a:t>
            </a:r>
          </a:p>
          <a:p>
            <a:pPr algn="ctr" eaLnBrk="1" hangingPunct="1"/>
            <a:r>
              <a:rPr kumimoji="1" lang="zh-CN" altLang="en-US" sz="1800">
                <a:solidFill>
                  <a:schemeClr val="folHlink"/>
                </a:solidFill>
                <a:latin typeface="Times New Roman" pitchFamily="18" charset="0"/>
                <a:ea typeface="黑体" pitchFamily="49" charset="-122"/>
              </a:rPr>
              <a:t>构成 </a:t>
            </a:r>
            <a:r>
              <a:rPr kumimoji="1" lang="en-US" altLang="zh-CN" sz="1800">
                <a:solidFill>
                  <a:schemeClr val="folHlink"/>
                </a:solidFill>
                <a:latin typeface="Times New Roman" pitchFamily="18" charset="0"/>
                <a:ea typeface="黑体" pitchFamily="49" charset="-122"/>
              </a:rPr>
              <a:t>TCP </a:t>
            </a:r>
            <a:r>
              <a:rPr kumimoji="1" lang="zh-CN" altLang="en-US" sz="1800">
                <a:solidFill>
                  <a:schemeClr val="folHlink"/>
                </a:solidFill>
                <a:latin typeface="Times New Roman" pitchFamily="18" charset="0"/>
                <a:ea typeface="黑体" pitchFamily="49" charset="-122"/>
              </a:rPr>
              <a:t>报文段</a:t>
            </a:r>
          </a:p>
        </p:txBody>
      </p:sp>
      <p:sp>
        <p:nvSpPr>
          <p:cNvPr id="35878" name="Line 97"/>
          <p:cNvSpPr>
            <a:spLocks noChangeShapeType="1"/>
          </p:cNvSpPr>
          <p:nvPr/>
        </p:nvSpPr>
        <p:spPr bwMode="auto">
          <a:xfrm>
            <a:off x="1789113" y="336867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9" name="Line 98"/>
          <p:cNvSpPr>
            <a:spLocks noChangeShapeType="1"/>
          </p:cNvSpPr>
          <p:nvPr/>
        </p:nvSpPr>
        <p:spPr bwMode="auto">
          <a:xfrm flipV="1">
            <a:off x="8056563" y="3429000"/>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0" name="Text Box 99"/>
          <p:cNvSpPr txBox="1">
            <a:spLocks noChangeArrowheads="1"/>
          </p:cNvSpPr>
          <p:nvPr/>
        </p:nvSpPr>
        <p:spPr bwMode="auto">
          <a:xfrm>
            <a:off x="474663" y="4403725"/>
            <a:ext cx="603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Times New Roman" pitchFamily="18" charset="0"/>
                <a:ea typeface="黑体" pitchFamily="49" charset="-122"/>
              </a:rPr>
              <a:t>TCP</a:t>
            </a:r>
          </a:p>
        </p:txBody>
      </p:sp>
      <p:sp>
        <p:nvSpPr>
          <p:cNvPr id="35881" name="Text Box 100"/>
          <p:cNvSpPr txBox="1">
            <a:spLocks noChangeArrowheads="1"/>
          </p:cNvSpPr>
          <p:nvPr/>
        </p:nvSpPr>
        <p:spPr bwMode="auto">
          <a:xfrm>
            <a:off x="6756400" y="4413250"/>
            <a:ext cx="603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Times New Roman" pitchFamily="18" charset="0"/>
                <a:ea typeface="黑体" pitchFamily="49" charset="-122"/>
              </a:rPr>
              <a:t>TCP</a:t>
            </a:r>
          </a:p>
        </p:txBody>
      </p:sp>
      <p:sp>
        <p:nvSpPr>
          <p:cNvPr id="35882" name="Text Box 101"/>
          <p:cNvSpPr txBox="1">
            <a:spLocks noChangeArrowheads="1"/>
          </p:cNvSpPr>
          <p:nvPr/>
        </p:nvSpPr>
        <p:spPr bwMode="auto">
          <a:xfrm>
            <a:off x="1763713" y="311308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Times New Roman" pitchFamily="18" charset="0"/>
                <a:ea typeface="黑体" pitchFamily="49" charset="-122"/>
              </a:rPr>
              <a:t>字节流</a:t>
            </a:r>
          </a:p>
        </p:txBody>
      </p:sp>
      <p:sp>
        <p:nvSpPr>
          <p:cNvPr id="35883" name="Text Box 102"/>
          <p:cNvSpPr txBox="1">
            <a:spLocks noChangeArrowheads="1"/>
          </p:cNvSpPr>
          <p:nvPr/>
        </p:nvSpPr>
        <p:spPr bwMode="auto">
          <a:xfrm>
            <a:off x="7981950" y="3113088"/>
            <a:ext cx="869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Times New Roman" pitchFamily="18" charset="0"/>
                <a:ea typeface="黑体" pitchFamily="49" charset="-122"/>
              </a:rPr>
              <a:t>字节流</a:t>
            </a:r>
          </a:p>
        </p:txBody>
      </p:sp>
      <p:sp>
        <p:nvSpPr>
          <p:cNvPr id="35884" name="Rectangle 103"/>
          <p:cNvSpPr>
            <a:spLocks noChangeArrowheads="1"/>
          </p:cNvSpPr>
          <p:nvPr/>
        </p:nvSpPr>
        <p:spPr bwMode="auto">
          <a:xfrm>
            <a:off x="3419475" y="24209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H</a:t>
            </a:r>
          </a:p>
        </p:txBody>
      </p:sp>
      <p:sp>
        <p:nvSpPr>
          <p:cNvPr id="35885" name="Text Box 104"/>
          <p:cNvSpPr txBox="1">
            <a:spLocks noChangeArrowheads="1"/>
          </p:cNvSpPr>
          <p:nvPr/>
        </p:nvSpPr>
        <p:spPr bwMode="auto">
          <a:xfrm>
            <a:off x="3708400" y="2397125"/>
            <a:ext cx="2546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Times New Roman" pitchFamily="18" charset="0"/>
                <a:ea typeface="黑体" pitchFamily="49" charset="-122"/>
              </a:rPr>
              <a:t>表示 </a:t>
            </a:r>
            <a:r>
              <a:rPr kumimoji="1" lang="en-US" altLang="zh-CN" sz="1800">
                <a:solidFill>
                  <a:schemeClr val="folHlink"/>
                </a:solidFill>
                <a:latin typeface="Times New Roman" pitchFamily="18" charset="0"/>
                <a:ea typeface="黑体" pitchFamily="49" charset="-122"/>
              </a:rPr>
              <a:t>TCP </a:t>
            </a:r>
            <a:r>
              <a:rPr kumimoji="1" lang="zh-CN" altLang="en-US" sz="1800">
                <a:solidFill>
                  <a:schemeClr val="folHlink"/>
                </a:solidFill>
                <a:latin typeface="Times New Roman" pitchFamily="18" charset="0"/>
                <a:ea typeface="黑体" pitchFamily="49" charset="-122"/>
              </a:rPr>
              <a:t>报文段的首部</a:t>
            </a:r>
          </a:p>
        </p:txBody>
      </p:sp>
      <p:sp>
        <p:nvSpPr>
          <p:cNvPr id="35886" name="Rectangle 105"/>
          <p:cNvSpPr>
            <a:spLocks noChangeArrowheads="1"/>
          </p:cNvSpPr>
          <p:nvPr/>
        </p:nvSpPr>
        <p:spPr bwMode="auto">
          <a:xfrm>
            <a:off x="3419475" y="2852738"/>
            <a:ext cx="215900" cy="287337"/>
          </a:xfrm>
          <a:prstGeom prst="rect">
            <a:avLst/>
          </a:prstGeom>
          <a:solidFill>
            <a:srgbClr val="66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800">
                <a:solidFill>
                  <a:schemeClr val="folHlink"/>
                </a:solidFill>
                <a:latin typeface="Times New Roman" pitchFamily="18" charset="0"/>
                <a:ea typeface="黑体" pitchFamily="49" charset="-122"/>
              </a:rPr>
              <a:t>x</a:t>
            </a:r>
          </a:p>
        </p:txBody>
      </p:sp>
      <p:sp>
        <p:nvSpPr>
          <p:cNvPr id="35887" name="Text Box 106"/>
          <p:cNvSpPr txBox="1">
            <a:spLocks noChangeArrowheads="1"/>
          </p:cNvSpPr>
          <p:nvPr/>
        </p:nvSpPr>
        <p:spPr bwMode="auto">
          <a:xfrm>
            <a:off x="3708400" y="2828925"/>
            <a:ext cx="269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Times New Roman" pitchFamily="18" charset="0"/>
                <a:ea typeface="黑体" pitchFamily="49" charset="-122"/>
              </a:rPr>
              <a:t>表示序号为 </a:t>
            </a:r>
            <a:r>
              <a:rPr kumimoji="1" lang="en-US" altLang="zh-CN" sz="1800">
                <a:solidFill>
                  <a:schemeClr val="folHlink"/>
                </a:solidFill>
                <a:latin typeface="Times New Roman" pitchFamily="18" charset="0"/>
                <a:ea typeface="黑体" pitchFamily="49" charset="-122"/>
              </a:rPr>
              <a:t>x </a:t>
            </a:r>
            <a:r>
              <a:rPr kumimoji="1" lang="zh-CN" altLang="en-US" sz="1800">
                <a:solidFill>
                  <a:schemeClr val="folHlink"/>
                </a:solidFill>
                <a:latin typeface="Times New Roman" pitchFamily="18" charset="0"/>
                <a:ea typeface="黑体" pitchFamily="49" charset="-122"/>
              </a:rPr>
              <a:t>的数据字节</a:t>
            </a:r>
          </a:p>
        </p:txBody>
      </p:sp>
      <p:sp>
        <p:nvSpPr>
          <p:cNvPr id="35888" name="AutoShape 108"/>
          <p:cNvSpPr>
            <a:spLocks noChangeArrowheads="1"/>
          </p:cNvSpPr>
          <p:nvPr/>
        </p:nvSpPr>
        <p:spPr bwMode="auto">
          <a:xfrm rot="-5400000">
            <a:off x="4319587" y="3032126"/>
            <a:ext cx="360363" cy="6049962"/>
          </a:xfrm>
          <a:prstGeom prst="can">
            <a:avLst>
              <a:gd name="adj" fmla="val 28603"/>
            </a:avLst>
          </a:prstGeom>
          <a:gradFill rotWithShape="1">
            <a:gsLst>
              <a:gs pos="0">
                <a:srgbClr val="939300"/>
              </a:gs>
              <a:gs pos="50000">
                <a:srgbClr val="FFFF00"/>
              </a:gs>
              <a:gs pos="100000">
                <a:srgbClr val="93930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9" name="Text Box 109"/>
          <p:cNvSpPr txBox="1">
            <a:spLocks noChangeArrowheads="1"/>
          </p:cNvSpPr>
          <p:nvPr/>
        </p:nvSpPr>
        <p:spPr bwMode="auto">
          <a:xfrm>
            <a:off x="3798888" y="5853113"/>
            <a:ext cx="1117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Times New Roman" pitchFamily="18" charset="0"/>
                <a:ea typeface="黑体" pitchFamily="49" charset="-122"/>
              </a:rPr>
              <a:t>TCP </a:t>
            </a:r>
            <a:r>
              <a:rPr kumimoji="1" lang="zh-CN" altLang="en-US" sz="1800">
                <a:solidFill>
                  <a:schemeClr val="folHlink"/>
                </a:solidFill>
                <a:latin typeface="Times New Roman" pitchFamily="18" charset="0"/>
                <a:ea typeface="黑体" pitchFamily="49" charset="-122"/>
              </a:rPr>
              <a:t>连接</a:t>
            </a:r>
          </a:p>
        </p:txBody>
      </p:sp>
      <p:sp>
        <p:nvSpPr>
          <p:cNvPr id="35890" name="Freeform 110"/>
          <p:cNvSpPr>
            <a:spLocks/>
          </p:cNvSpPr>
          <p:nvPr/>
        </p:nvSpPr>
        <p:spPr bwMode="auto">
          <a:xfrm>
            <a:off x="1339850" y="5156200"/>
            <a:ext cx="200025" cy="892175"/>
          </a:xfrm>
          <a:custGeom>
            <a:avLst/>
            <a:gdLst>
              <a:gd name="T0" fmla="*/ 0 w 108"/>
              <a:gd name="T1" fmla="*/ 0 h 590"/>
              <a:gd name="T2" fmla="*/ 0 w 108"/>
              <a:gd name="T3" fmla="*/ 892175 h 590"/>
              <a:gd name="T4" fmla="*/ 200025 w 108"/>
              <a:gd name="T5" fmla="*/ 887639 h 590"/>
              <a:gd name="T6" fmla="*/ 0 60000 65536"/>
              <a:gd name="T7" fmla="*/ 0 60000 65536"/>
              <a:gd name="T8" fmla="*/ 0 60000 65536"/>
            </a:gdLst>
            <a:ahLst/>
            <a:cxnLst>
              <a:cxn ang="T6">
                <a:pos x="T0" y="T1"/>
              </a:cxn>
              <a:cxn ang="T7">
                <a:pos x="T2" y="T3"/>
              </a:cxn>
              <a:cxn ang="T8">
                <a:pos x="T4" y="T5"/>
              </a:cxn>
            </a:cxnLst>
            <a:rect l="0" t="0" r="r" b="b"/>
            <a:pathLst>
              <a:path w="108" h="590">
                <a:moveTo>
                  <a:pt x="0" y="0"/>
                </a:moveTo>
                <a:lnTo>
                  <a:pt x="0" y="590"/>
                </a:lnTo>
                <a:lnTo>
                  <a:pt x="108" y="587"/>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5C484CD-5BDF-439B-8D8E-D92911A18494}" type="slidenum">
              <a:rPr lang="en-US" altLang="zh-CN" sz="1400"/>
              <a:pPr eaLnBrk="1" hangingPunct="1"/>
              <a:t>34</a:t>
            </a:fld>
            <a:endParaRPr lang="en-US" altLang="zh-CN" sz="1400"/>
          </a:p>
        </p:txBody>
      </p:sp>
      <p:sp>
        <p:nvSpPr>
          <p:cNvPr id="36867" name="Rectangle 2"/>
          <p:cNvSpPr>
            <a:spLocks noGrp="1" noChangeArrowheads="1"/>
          </p:cNvSpPr>
          <p:nvPr>
            <p:ph type="title"/>
          </p:nvPr>
        </p:nvSpPr>
        <p:spPr>
          <a:xfrm>
            <a:off x="1150938" y="214313"/>
            <a:ext cx="6950075" cy="1462087"/>
          </a:xfrm>
        </p:spPr>
        <p:txBody>
          <a:bodyPr/>
          <a:lstStyle/>
          <a:p>
            <a:pPr algn="ctr" eaLnBrk="1" hangingPunct="1"/>
            <a:r>
              <a:rPr lang="zh-CN" altLang="en-US" sz="4000" smtClean="0"/>
              <a:t>应当注意</a:t>
            </a:r>
          </a:p>
        </p:txBody>
      </p:sp>
      <p:sp>
        <p:nvSpPr>
          <p:cNvPr id="36868" name="Rectangle 3"/>
          <p:cNvSpPr>
            <a:spLocks noGrp="1" noChangeArrowheads="1"/>
          </p:cNvSpPr>
          <p:nvPr>
            <p:ph type="body" idx="1"/>
          </p:nvPr>
        </p:nvSpPr>
        <p:spPr>
          <a:xfrm>
            <a:off x="684213" y="1916113"/>
            <a:ext cx="8316912" cy="4608512"/>
          </a:xfrm>
        </p:spPr>
        <p:txBody>
          <a:bodyPr/>
          <a:lstStyle/>
          <a:p>
            <a:pPr eaLnBrk="1" hangingPunct="1"/>
            <a:r>
              <a:rPr lang="en-US" altLang="zh-CN" sz="2800" smtClean="0"/>
              <a:t>TCP </a:t>
            </a:r>
            <a:r>
              <a:rPr lang="zh-CN" altLang="en-US" sz="2800" smtClean="0"/>
              <a:t>连接是一条虚连接而不是一条真正的物理连接。</a:t>
            </a:r>
          </a:p>
          <a:p>
            <a:pPr eaLnBrk="1" hangingPunct="1"/>
            <a:r>
              <a:rPr lang="en-US" altLang="zh-CN" sz="2800" smtClean="0"/>
              <a:t>TCP </a:t>
            </a:r>
            <a:r>
              <a:rPr lang="zh-CN" altLang="en-US" sz="2800" smtClean="0"/>
              <a:t>根据对方给出的窗口值和当前网络拥塞的程度来决定一个报文段应包含多少个字节（</a:t>
            </a:r>
            <a:r>
              <a:rPr lang="en-US" altLang="zh-CN" sz="2800" smtClean="0"/>
              <a:t>UDP </a:t>
            </a:r>
            <a:r>
              <a:rPr lang="zh-CN" altLang="en-US" sz="2800" smtClean="0"/>
              <a:t>发送的报文长度是应用进程给出的）。</a:t>
            </a:r>
          </a:p>
          <a:p>
            <a:pPr eaLnBrk="1" hangingPunct="1"/>
            <a:r>
              <a:rPr lang="en-US" altLang="zh-CN" sz="2800" smtClean="0"/>
              <a:t>TCP </a:t>
            </a:r>
            <a:r>
              <a:rPr lang="zh-CN" altLang="en-US" sz="2800" smtClean="0"/>
              <a:t>可把太长的数据块划分短一些再传送。</a:t>
            </a:r>
            <a:r>
              <a:rPr lang="en-US" altLang="zh-CN" sz="2800" smtClean="0"/>
              <a:t>TCP </a:t>
            </a:r>
            <a:r>
              <a:rPr lang="zh-CN" altLang="en-US" sz="2800" smtClean="0"/>
              <a:t>也可等待积累有足够多的字节后再构成报文段发送出去。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233F0867-53B9-4859-AE1A-6D2B6AE405B0}" type="slidenum">
              <a:rPr lang="en-US" altLang="zh-CN" sz="1400"/>
              <a:pPr eaLnBrk="1" hangingPunct="1"/>
              <a:t>35</a:t>
            </a:fld>
            <a:endParaRPr lang="en-US" altLang="zh-CN" sz="1400"/>
          </a:p>
        </p:txBody>
      </p:sp>
      <p:sp>
        <p:nvSpPr>
          <p:cNvPr id="37891" name="Rectangle 2"/>
          <p:cNvSpPr>
            <a:spLocks noGrp="1" noChangeArrowheads="1"/>
          </p:cNvSpPr>
          <p:nvPr>
            <p:ph type="title"/>
          </p:nvPr>
        </p:nvSpPr>
        <p:spPr>
          <a:xfrm>
            <a:off x="1150938" y="214313"/>
            <a:ext cx="7237412" cy="1462087"/>
          </a:xfrm>
        </p:spPr>
        <p:txBody>
          <a:bodyPr/>
          <a:lstStyle/>
          <a:p>
            <a:pPr algn="ctr" eaLnBrk="1" hangingPunct="1"/>
            <a:r>
              <a:rPr lang="en-US" altLang="zh-CN" sz="4000" smtClean="0"/>
              <a:t>5.3.2  TCP </a:t>
            </a:r>
            <a:r>
              <a:rPr lang="zh-CN" altLang="en-US" sz="4000" smtClean="0"/>
              <a:t>的连接 </a:t>
            </a:r>
          </a:p>
        </p:txBody>
      </p:sp>
      <p:sp>
        <p:nvSpPr>
          <p:cNvPr id="37892" name="Rectangle 3"/>
          <p:cNvSpPr>
            <a:spLocks noGrp="1" noChangeArrowheads="1"/>
          </p:cNvSpPr>
          <p:nvPr>
            <p:ph type="body" idx="1"/>
          </p:nvPr>
        </p:nvSpPr>
        <p:spPr>
          <a:xfrm>
            <a:off x="1042988" y="1978025"/>
            <a:ext cx="7772400" cy="4114800"/>
          </a:xfrm>
        </p:spPr>
        <p:txBody>
          <a:bodyPr/>
          <a:lstStyle/>
          <a:p>
            <a:pPr eaLnBrk="1" hangingPunct="1">
              <a:lnSpc>
                <a:spcPct val="90000"/>
              </a:lnSpc>
            </a:pPr>
            <a:r>
              <a:rPr lang="en-US" altLang="zh-CN" smtClean="0"/>
              <a:t>TCP </a:t>
            </a:r>
            <a:r>
              <a:rPr lang="zh-CN" altLang="en-US" smtClean="0"/>
              <a:t>把连接作为最基本的抽象。</a:t>
            </a:r>
          </a:p>
          <a:p>
            <a:pPr eaLnBrk="1" hangingPunct="1">
              <a:lnSpc>
                <a:spcPct val="90000"/>
              </a:lnSpc>
            </a:pPr>
            <a:r>
              <a:rPr lang="zh-CN" altLang="en-US" smtClean="0"/>
              <a:t>每一条 </a:t>
            </a:r>
            <a:r>
              <a:rPr lang="en-US" altLang="zh-CN" smtClean="0"/>
              <a:t>TCP </a:t>
            </a:r>
            <a:r>
              <a:rPr lang="zh-CN" altLang="en-US" smtClean="0"/>
              <a:t>连接有两个端点。</a:t>
            </a:r>
          </a:p>
          <a:p>
            <a:pPr eaLnBrk="1" hangingPunct="1">
              <a:lnSpc>
                <a:spcPct val="90000"/>
              </a:lnSpc>
            </a:pPr>
            <a:r>
              <a:rPr lang="en-US" altLang="zh-CN" smtClean="0"/>
              <a:t>TCP </a:t>
            </a:r>
            <a:r>
              <a:rPr lang="zh-CN" altLang="en-US" smtClean="0"/>
              <a:t>连接的端点不是主机，不是主机的</a:t>
            </a:r>
            <a:r>
              <a:rPr lang="en-US" altLang="zh-CN" smtClean="0"/>
              <a:t>IP </a:t>
            </a:r>
            <a:r>
              <a:rPr lang="zh-CN" altLang="en-US" smtClean="0"/>
              <a:t>地址，不是应用进程，也不是运输层的协议端口。</a:t>
            </a:r>
            <a:r>
              <a:rPr lang="en-US" altLang="zh-CN" smtClean="0"/>
              <a:t>TCP </a:t>
            </a:r>
            <a:r>
              <a:rPr lang="zh-CN" altLang="en-US" smtClean="0"/>
              <a:t>连接的端点叫做</a:t>
            </a:r>
            <a:r>
              <a:rPr lang="zh-CN" altLang="en-US" smtClean="0">
                <a:solidFill>
                  <a:schemeClr val="hlink"/>
                </a:solidFill>
              </a:rPr>
              <a:t>套接字</a:t>
            </a:r>
            <a:r>
              <a:rPr lang="en-US" altLang="zh-CN" smtClean="0"/>
              <a:t>(socket)</a:t>
            </a:r>
            <a:r>
              <a:rPr lang="zh-CN" altLang="en-US" smtClean="0"/>
              <a:t>或</a:t>
            </a:r>
            <a:r>
              <a:rPr lang="zh-CN" altLang="en-US" smtClean="0">
                <a:solidFill>
                  <a:schemeClr val="hlink"/>
                </a:solidFill>
              </a:rPr>
              <a:t>插口</a:t>
            </a:r>
            <a:r>
              <a:rPr lang="zh-CN" altLang="en-US" smtClean="0"/>
              <a:t>。</a:t>
            </a:r>
          </a:p>
          <a:p>
            <a:pPr eaLnBrk="1" hangingPunct="1">
              <a:lnSpc>
                <a:spcPct val="90000"/>
              </a:lnSpc>
            </a:pPr>
            <a:r>
              <a:rPr lang="zh-CN" altLang="en-US" smtClean="0"/>
              <a:t>端口号</a:t>
            </a:r>
            <a:r>
              <a:rPr lang="zh-CN" altLang="en-US" smtClean="0">
                <a:solidFill>
                  <a:schemeClr val="hlink"/>
                </a:solidFill>
              </a:rPr>
              <a:t>拼接到</a:t>
            </a:r>
            <a:r>
              <a:rPr lang="en-US" altLang="zh-CN" smtClean="0"/>
              <a:t>(contatenated with) IP </a:t>
            </a:r>
            <a:r>
              <a:rPr lang="zh-CN" altLang="en-US" smtClean="0"/>
              <a:t>地址即构成了套接字。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E7A8C03-52EE-4E3E-AC8D-67C9AAFBB255}" type="slidenum">
              <a:rPr lang="en-US" altLang="zh-CN" sz="1400"/>
              <a:pPr eaLnBrk="1" hangingPunct="1"/>
              <a:t>36</a:t>
            </a:fld>
            <a:endParaRPr lang="en-US" altLang="zh-CN" sz="1400"/>
          </a:p>
        </p:txBody>
      </p:sp>
      <p:sp>
        <p:nvSpPr>
          <p:cNvPr id="38915" name="Rectangle 5"/>
          <p:cNvSpPr>
            <a:spLocks noChangeArrowheads="1"/>
          </p:cNvSpPr>
          <p:nvPr/>
        </p:nvSpPr>
        <p:spPr bwMode="auto">
          <a:xfrm>
            <a:off x="827088" y="4149725"/>
            <a:ext cx="7921625" cy="1295400"/>
          </a:xfrm>
          <a:prstGeom prst="rect">
            <a:avLst/>
          </a:prstGeom>
          <a:solidFill>
            <a:srgbClr val="FFFF99"/>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6" name="Rectangle 4"/>
          <p:cNvSpPr>
            <a:spLocks noChangeArrowheads="1"/>
          </p:cNvSpPr>
          <p:nvPr/>
        </p:nvSpPr>
        <p:spPr bwMode="auto">
          <a:xfrm>
            <a:off x="827088" y="1989138"/>
            <a:ext cx="7921625" cy="719137"/>
          </a:xfrm>
          <a:prstGeom prst="rect">
            <a:avLst/>
          </a:prstGeom>
          <a:solidFill>
            <a:srgbClr val="FFFF99"/>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7" name="Rectangle 2"/>
          <p:cNvSpPr>
            <a:spLocks noGrp="1" noChangeArrowheads="1"/>
          </p:cNvSpPr>
          <p:nvPr>
            <p:ph type="title"/>
          </p:nvPr>
        </p:nvSpPr>
        <p:spPr/>
        <p:txBody>
          <a:bodyPr/>
          <a:lstStyle/>
          <a:p>
            <a:pPr algn="ctr" eaLnBrk="1" hangingPunct="1"/>
            <a:r>
              <a:rPr lang="zh-CN" altLang="en-US" smtClean="0"/>
              <a:t>套接字 </a:t>
            </a:r>
            <a:r>
              <a:rPr lang="en-US" altLang="zh-CN" smtClean="0"/>
              <a:t>(socket)</a:t>
            </a:r>
          </a:p>
        </p:txBody>
      </p:sp>
      <p:sp>
        <p:nvSpPr>
          <p:cNvPr id="38918" name="Rectangle 3"/>
          <p:cNvSpPr>
            <a:spLocks noGrp="1" noChangeArrowheads="1"/>
          </p:cNvSpPr>
          <p:nvPr>
            <p:ph type="body" idx="1"/>
          </p:nvPr>
        </p:nvSpPr>
        <p:spPr>
          <a:xfrm>
            <a:off x="684213" y="2051050"/>
            <a:ext cx="8131175" cy="4114800"/>
          </a:xfrm>
        </p:spPr>
        <p:txBody>
          <a:bodyPr/>
          <a:lstStyle/>
          <a:p>
            <a:pPr eaLnBrk="1" hangingPunct="1">
              <a:spcAft>
                <a:spcPct val="30000"/>
              </a:spcAft>
              <a:buFont typeface="Wingdings" pitchFamily="2" charset="2"/>
              <a:buNone/>
            </a:pPr>
            <a:r>
              <a:rPr lang="en-US" altLang="zh-CN" smtClean="0"/>
              <a:t>   </a:t>
            </a:r>
            <a:r>
              <a:rPr lang="zh-CN" altLang="en-US" smtClean="0"/>
              <a:t>套接字 </a:t>
            </a:r>
            <a:r>
              <a:rPr lang="en-US" altLang="zh-CN" smtClean="0"/>
              <a:t>socket = (IP</a:t>
            </a:r>
            <a:r>
              <a:rPr lang="zh-CN" altLang="en-US" smtClean="0"/>
              <a:t>地址</a:t>
            </a:r>
            <a:r>
              <a:rPr lang="en-US" altLang="zh-CN" smtClean="0"/>
              <a:t>: </a:t>
            </a:r>
            <a:r>
              <a:rPr lang="zh-CN" altLang="en-US" smtClean="0"/>
              <a:t>端口号</a:t>
            </a:r>
            <a:r>
              <a:rPr lang="en-US" altLang="zh-CN" smtClean="0"/>
              <a:t>)      (5-1)</a:t>
            </a:r>
          </a:p>
          <a:p>
            <a:pPr eaLnBrk="1" hangingPunct="1">
              <a:spcBef>
                <a:spcPct val="40000"/>
              </a:spcBef>
              <a:spcAft>
                <a:spcPct val="50000"/>
              </a:spcAft>
            </a:pPr>
            <a:r>
              <a:rPr lang="zh-CN" altLang="en-US" smtClean="0"/>
              <a:t>每一条 </a:t>
            </a:r>
            <a:r>
              <a:rPr lang="en-US" altLang="zh-CN" b="1" smtClean="0"/>
              <a:t>TCP </a:t>
            </a:r>
            <a:r>
              <a:rPr lang="zh-CN" altLang="en-US" smtClean="0"/>
              <a:t>连接唯一地被通信两端的两个端点（即两个套接字）所确定。即：</a:t>
            </a:r>
          </a:p>
          <a:p>
            <a:pPr eaLnBrk="1" hangingPunct="1">
              <a:buFont typeface="Wingdings" pitchFamily="2" charset="2"/>
              <a:buNone/>
            </a:pPr>
            <a:r>
              <a:rPr lang="zh-CN" altLang="en-US" smtClean="0"/>
              <a:t>  </a:t>
            </a:r>
            <a:r>
              <a:rPr lang="en-US" altLang="zh-CN" smtClean="0"/>
              <a:t>TCP </a:t>
            </a:r>
            <a:r>
              <a:rPr lang="zh-CN" altLang="en-US" smtClean="0"/>
              <a:t>连接 </a:t>
            </a:r>
            <a:r>
              <a:rPr lang="en-US" altLang="zh-CN" smtClean="0"/>
              <a:t>::= {socket1, socket2} </a:t>
            </a:r>
          </a:p>
          <a:p>
            <a:pPr eaLnBrk="1" hangingPunct="1">
              <a:buFont typeface="Wingdings" pitchFamily="2" charset="2"/>
              <a:buNone/>
            </a:pPr>
            <a:r>
              <a:rPr lang="en-US" altLang="zh-CN" smtClean="0"/>
              <a:t>             = {(IP1: port1), (IP2: port2)}     (5-2)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8B268DA-1965-4519-80BD-F167CB716BA2}" type="slidenum">
              <a:rPr lang="en-US" altLang="zh-CN" sz="1400"/>
              <a:pPr eaLnBrk="1" hangingPunct="1"/>
              <a:t>37</a:t>
            </a:fld>
            <a:endParaRPr lang="en-US" altLang="zh-CN" sz="1400"/>
          </a:p>
        </p:txBody>
      </p:sp>
      <p:sp>
        <p:nvSpPr>
          <p:cNvPr id="39939" name="Rectangle 2"/>
          <p:cNvSpPr>
            <a:spLocks noGrp="1" noChangeArrowheads="1"/>
          </p:cNvSpPr>
          <p:nvPr>
            <p:ph type="title"/>
          </p:nvPr>
        </p:nvSpPr>
        <p:spPr/>
        <p:txBody>
          <a:bodyPr/>
          <a:lstStyle/>
          <a:p>
            <a:pPr algn="ctr" eaLnBrk="1" hangingPunct="1"/>
            <a:r>
              <a:rPr lang="zh-CN" altLang="en-US" smtClean="0"/>
              <a:t>同一个名词 </a:t>
            </a:r>
            <a:r>
              <a:rPr lang="en-US" altLang="zh-CN" smtClean="0"/>
              <a:t>socket</a:t>
            </a:r>
            <a:br>
              <a:rPr lang="en-US" altLang="zh-CN" smtClean="0"/>
            </a:br>
            <a:r>
              <a:rPr lang="zh-CN" altLang="en-US" smtClean="0"/>
              <a:t>有多种不同的意思 </a:t>
            </a:r>
          </a:p>
        </p:txBody>
      </p:sp>
      <p:sp>
        <p:nvSpPr>
          <p:cNvPr id="39940" name="Rectangle 3"/>
          <p:cNvSpPr>
            <a:spLocks noGrp="1" noChangeArrowheads="1"/>
          </p:cNvSpPr>
          <p:nvPr>
            <p:ph type="body" idx="1"/>
          </p:nvPr>
        </p:nvSpPr>
        <p:spPr>
          <a:xfrm>
            <a:off x="215900" y="1989138"/>
            <a:ext cx="8459788" cy="4319587"/>
          </a:xfrm>
        </p:spPr>
        <p:txBody>
          <a:bodyPr/>
          <a:lstStyle/>
          <a:p>
            <a:pPr marL="609600" indent="-609600" algn="just" eaLnBrk="1" hangingPunct="1"/>
            <a:r>
              <a:rPr lang="zh-CN" altLang="en-US" smtClean="0"/>
              <a:t>应用编程接口</a:t>
            </a:r>
            <a:r>
              <a:rPr lang="zh-CN" altLang="en-US" sz="1000" smtClean="0"/>
              <a:t> </a:t>
            </a:r>
            <a:r>
              <a:rPr lang="en-US" altLang="zh-CN" smtClean="0"/>
              <a:t>API</a:t>
            </a:r>
            <a:r>
              <a:rPr lang="en-US" altLang="zh-CN" sz="1000" smtClean="0"/>
              <a:t> </a:t>
            </a:r>
            <a:r>
              <a:rPr lang="zh-CN" altLang="en-US" smtClean="0"/>
              <a:t>称为 </a:t>
            </a:r>
            <a:r>
              <a:rPr lang="en-US" altLang="zh-CN" smtClean="0"/>
              <a:t>socket API, </a:t>
            </a:r>
            <a:r>
              <a:rPr lang="zh-CN" altLang="en-US" smtClean="0"/>
              <a:t>简称为 </a:t>
            </a:r>
            <a:r>
              <a:rPr lang="en-US" altLang="zh-CN" smtClean="0"/>
              <a:t>socket</a:t>
            </a:r>
            <a:r>
              <a:rPr lang="zh-CN" altLang="en-US" smtClean="0"/>
              <a:t>。</a:t>
            </a:r>
          </a:p>
          <a:p>
            <a:pPr marL="609600" indent="-609600" algn="just" eaLnBrk="1" hangingPunct="1"/>
            <a:r>
              <a:rPr lang="en-US" altLang="zh-CN" smtClean="0"/>
              <a:t>socket API </a:t>
            </a:r>
            <a:r>
              <a:rPr lang="zh-CN" altLang="en-US" smtClean="0"/>
              <a:t>中使用的一个函数名也叫作 </a:t>
            </a:r>
            <a:r>
              <a:rPr lang="en-US" altLang="zh-CN" smtClean="0"/>
              <a:t>socket</a:t>
            </a:r>
            <a:r>
              <a:rPr lang="zh-CN" altLang="en-US" smtClean="0"/>
              <a:t>。</a:t>
            </a:r>
          </a:p>
          <a:p>
            <a:pPr marL="609600" indent="-609600" algn="just" eaLnBrk="1" hangingPunct="1"/>
            <a:r>
              <a:rPr lang="zh-CN" altLang="en-US" smtClean="0"/>
              <a:t>调用 </a:t>
            </a:r>
            <a:r>
              <a:rPr lang="en-US" altLang="zh-CN" smtClean="0"/>
              <a:t>socket </a:t>
            </a:r>
            <a:r>
              <a:rPr lang="zh-CN" altLang="en-US" smtClean="0"/>
              <a:t>函数的端点称为 </a:t>
            </a:r>
            <a:r>
              <a:rPr lang="en-US" altLang="zh-CN" smtClean="0"/>
              <a:t>socket</a:t>
            </a:r>
            <a:r>
              <a:rPr lang="zh-CN" altLang="en-US" smtClean="0"/>
              <a:t>。</a:t>
            </a:r>
          </a:p>
          <a:p>
            <a:pPr marL="609600" indent="-609600" algn="just" eaLnBrk="1" hangingPunct="1"/>
            <a:r>
              <a:rPr lang="zh-CN" altLang="en-US" smtClean="0"/>
              <a:t>调用 </a:t>
            </a:r>
            <a:r>
              <a:rPr lang="en-US" altLang="zh-CN" smtClean="0"/>
              <a:t>socket </a:t>
            </a:r>
            <a:r>
              <a:rPr lang="zh-CN" altLang="en-US" smtClean="0"/>
              <a:t>函数时其返回值称为 </a:t>
            </a:r>
            <a:r>
              <a:rPr lang="en-US" altLang="zh-CN" smtClean="0"/>
              <a:t>socket </a:t>
            </a:r>
            <a:r>
              <a:rPr lang="zh-CN" altLang="en-US" smtClean="0"/>
              <a:t>描述符，可简称为 </a:t>
            </a:r>
            <a:r>
              <a:rPr lang="en-US" altLang="zh-CN" smtClean="0"/>
              <a:t>socket</a:t>
            </a:r>
            <a:r>
              <a:rPr lang="zh-CN" altLang="en-US" smtClean="0"/>
              <a:t>。</a:t>
            </a:r>
          </a:p>
          <a:p>
            <a:pPr marL="609600" indent="-609600" algn="just" eaLnBrk="1" hangingPunct="1"/>
            <a:endParaRPr lang="en-US" altLang="zh-CN"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827088" y="22225"/>
            <a:ext cx="7793037" cy="1462088"/>
          </a:xfrm>
        </p:spPr>
        <p:txBody>
          <a:bodyPr/>
          <a:lstStyle/>
          <a:p>
            <a:pPr algn="ctr" eaLnBrk="1" hangingPunct="1"/>
            <a:r>
              <a:rPr lang="en-US" altLang="zh-CN" smtClean="0"/>
              <a:t>5.4  </a:t>
            </a:r>
            <a:r>
              <a:rPr lang="zh-CN" altLang="en-US" smtClean="0"/>
              <a:t>可靠传输的工作原理</a:t>
            </a:r>
            <a:br>
              <a:rPr lang="zh-CN" altLang="en-US" smtClean="0"/>
            </a:br>
            <a:r>
              <a:rPr lang="en-US" altLang="zh-CN" sz="4000" smtClean="0"/>
              <a:t>5.4.1  </a:t>
            </a:r>
            <a:r>
              <a:rPr lang="zh-CN" altLang="en-US" sz="4000" smtClean="0"/>
              <a:t>停止等待协议</a:t>
            </a:r>
            <a:r>
              <a:rPr lang="zh-CN" altLang="en-US" smtClean="0"/>
              <a:t> </a:t>
            </a:r>
          </a:p>
        </p:txBody>
      </p:sp>
      <p:sp>
        <p:nvSpPr>
          <p:cNvPr id="40963" name="Line 4"/>
          <p:cNvSpPr>
            <a:spLocks noChangeShapeType="1"/>
          </p:cNvSpPr>
          <p:nvPr/>
        </p:nvSpPr>
        <p:spPr bwMode="auto">
          <a:xfrm>
            <a:off x="1255713" y="2063750"/>
            <a:ext cx="0" cy="3873500"/>
          </a:xfrm>
          <a:prstGeom prst="line">
            <a:avLst/>
          </a:prstGeom>
          <a:noFill/>
          <a:ln w="127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64" name="Rectangle 5"/>
          <p:cNvSpPr>
            <a:spLocks noChangeArrowheads="1"/>
          </p:cNvSpPr>
          <p:nvPr/>
        </p:nvSpPr>
        <p:spPr bwMode="auto">
          <a:xfrm>
            <a:off x="755650" y="6127750"/>
            <a:ext cx="24971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a:solidFill>
                  <a:schemeClr val="folHlink"/>
                </a:solidFill>
                <a:latin typeface="Arial" pitchFamily="34" charset="0"/>
                <a:ea typeface="黑体" pitchFamily="49" charset="-122"/>
              </a:rPr>
              <a:t>(a) </a:t>
            </a:r>
            <a:r>
              <a:rPr kumimoji="1" lang="zh-CN" altLang="en-US">
                <a:solidFill>
                  <a:schemeClr val="folHlink"/>
                </a:solidFill>
                <a:latin typeface="Arial" pitchFamily="34" charset="0"/>
                <a:ea typeface="黑体" pitchFamily="49" charset="-122"/>
              </a:rPr>
              <a:t>无差错情况</a:t>
            </a:r>
          </a:p>
        </p:txBody>
      </p:sp>
      <p:sp>
        <p:nvSpPr>
          <p:cNvPr id="40965" name="Line 6"/>
          <p:cNvSpPr>
            <a:spLocks noChangeShapeType="1"/>
          </p:cNvSpPr>
          <p:nvPr/>
        </p:nvSpPr>
        <p:spPr bwMode="auto">
          <a:xfrm>
            <a:off x="1255713" y="2293938"/>
            <a:ext cx="1508125" cy="481012"/>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66" name="Line 7"/>
          <p:cNvSpPr>
            <a:spLocks noChangeShapeType="1"/>
          </p:cNvSpPr>
          <p:nvPr/>
        </p:nvSpPr>
        <p:spPr bwMode="auto">
          <a:xfrm flipH="1">
            <a:off x="1255713" y="2870200"/>
            <a:ext cx="1508125" cy="479425"/>
          </a:xfrm>
          <a:prstGeom prst="line">
            <a:avLst/>
          </a:prstGeom>
          <a:noFill/>
          <a:ln w="28575">
            <a:solidFill>
              <a:schemeClr val="fo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67" name="Line 8"/>
          <p:cNvSpPr>
            <a:spLocks noChangeShapeType="1"/>
          </p:cNvSpPr>
          <p:nvPr/>
        </p:nvSpPr>
        <p:spPr bwMode="auto">
          <a:xfrm>
            <a:off x="1255713" y="3444875"/>
            <a:ext cx="1508125" cy="479425"/>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68" name="Line 9"/>
          <p:cNvSpPr>
            <a:spLocks noChangeShapeType="1"/>
          </p:cNvSpPr>
          <p:nvPr/>
        </p:nvSpPr>
        <p:spPr bwMode="auto">
          <a:xfrm flipH="1">
            <a:off x="1255713" y="4019550"/>
            <a:ext cx="1508125" cy="479425"/>
          </a:xfrm>
          <a:prstGeom prst="line">
            <a:avLst/>
          </a:prstGeom>
          <a:noFill/>
          <a:ln w="28575">
            <a:solidFill>
              <a:schemeClr val="fo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69" name="Line 10"/>
          <p:cNvSpPr>
            <a:spLocks noChangeShapeType="1"/>
          </p:cNvSpPr>
          <p:nvPr/>
        </p:nvSpPr>
        <p:spPr bwMode="auto">
          <a:xfrm>
            <a:off x="1255713" y="4594225"/>
            <a:ext cx="1508125" cy="481013"/>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70" name="Line 11"/>
          <p:cNvSpPr>
            <a:spLocks noChangeShapeType="1"/>
          </p:cNvSpPr>
          <p:nvPr/>
        </p:nvSpPr>
        <p:spPr bwMode="auto">
          <a:xfrm flipH="1">
            <a:off x="1255713" y="5168900"/>
            <a:ext cx="1508125" cy="481013"/>
          </a:xfrm>
          <a:prstGeom prst="line">
            <a:avLst/>
          </a:prstGeom>
          <a:noFill/>
          <a:ln w="28575">
            <a:solidFill>
              <a:schemeClr val="fo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71" name="Text Box 12"/>
          <p:cNvSpPr txBox="1">
            <a:spLocks noChangeArrowheads="1"/>
          </p:cNvSpPr>
          <p:nvPr/>
        </p:nvSpPr>
        <p:spPr bwMode="auto">
          <a:xfrm>
            <a:off x="1022350" y="1614488"/>
            <a:ext cx="420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a:solidFill>
                  <a:schemeClr val="folHlink"/>
                </a:solidFill>
                <a:latin typeface="Arial" pitchFamily="34" charset="0"/>
                <a:ea typeface="黑体" pitchFamily="49" charset="-122"/>
              </a:rPr>
              <a:t>A</a:t>
            </a:r>
          </a:p>
        </p:txBody>
      </p:sp>
      <p:sp>
        <p:nvSpPr>
          <p:cNvPr id="40972" name="Text Box 13"/>
          <p:cNvSpPr txBox="1">
            <a:spLocks noChangeArrowheads="1"/>
          </p:cNvSpPr>
          <p:nvPr/>
        </p:nvSpPr>
        <p:spPr bwMode="auto">
          <a:xfrm>
            <a:off x="250825" y="1958975"/>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0973" name="Text Box 14"/>
          <p:cNvSpPr txBox="1">
            <a:spLocks noChangeArrowheads="1"/>
          </p:cNvSpPr>
          <p:nvPr/>
        </p:nvSpPr>
        <p:spPr bwMode="auto">
          <a:xfrm>
            <a:off x="2763838" y="2563813"/>
            <a:ext cx="1063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0974" name="Text Box 15"/>
          <p:cNvSpPr txBox="1">
            <a:spLocks noChangeArrowheads="1"/>
          </p:cNvSpPr>
          <p:nvPr/>
        </p:nvSpPr>
        <p:spPr bwMode="auto">
          <a:xfrm>
            <a:off x="2573338" y="1614488"/>
            <a:ext cx="420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a:solidFill>
                  <a:schemeClr val="folHlink"/>
                </a:solidFill>
                <a:latin typeface="Arial" pitchFamily="34" charset="0"/>
                <a:ea typeface="黑体" pitchFamily="49" charset="-122"/>
              </a:rPr>
              <a:t>B</a:t>
            </a:r>
          </a:p>
        </p:txBody>
      </p:sp>
      <p:sp>
        <p:nvSpPr>
          <p:cNvPr id="40975" name="Line 16"/>
          <p:cNvSpPr>
            <a:spLocks noChangeShapeType="1"/>
          </p:cNvSpPr>
          <p:nvPr/>
        </p:nvSpPr>
        <p:spPr bwMode="auto">
          <a:xfrm>
            <a:off x="2763838" y="2063750"/>
            <a:ext cx="0" cy="3873500"/>
          </a:xfrm>
          <a:prstGeom prst="line">
            <a:avLst/>
          </a:prstGeom>
          <a:noFill/>
          <a:ln w="127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6" name="Text Box 17"/>
          <p:cNvSpPr txBox="1">
            <a:spLocks noChangeArrowheads="1"/>
          </p:cNvSpPr>
          <p:nvPr/>
        </p:nvSpPr>
        <p:spPr bwMode="auto">
          <a:xfrm>
            <a:off x="250825" y="3138488"/>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2</a:t>
            </a:r>
          </a:p>
        </p:txBody>
      </p:sp>
      <p:sp>
        <p:nvSpPr>
          <p:cNvPr id="40977" name="Text Box 18"/>
          <p:cNvSpPr txBox="1">
            <a:spLocks noChangeArrowheads="1"/>
          </p:cNvSpPr>
          <p:nvPr/>
        </p:nvSpPr>
        <p:spPr bwMode="auto">
          <a:xfrm>
            <a:off x="250825" y="4319588"/>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3</a:t>
            </a:r>
          </a:p>
        </p:txBody>
      </p:sp>
      <p:sp>
        <p:nvSpPr>
          <p:cNvPr id="40978" name="Text Box 19"/>
          <p:cNvSpPr txBox="1">
            <a:spLocks noChangeArrowheads="1"/>
          </p:cNvSpPr>
          <p:nvPr/>
        </p:nvSpPr>
        <p:spPr bwMode="auto">
          <a:xfrm>
            <a:off x="2763838" y="3713163"/>
            <a:ext cx="1063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2</a:t>
            </a:r>
          </a:p>
        </p:txBody>
      </p:sp>
      <p:sp>
        <p:nvSpPr>
          <p:cNvPr id="40979" name="Text Box 20"/>
          <p:cNvSpPr txBox="1">
            <a:spLocks noChangeArrowheads="1"/>
          </p:cNvSpPr>
          <p:nvPr/>
        </p:nvSpPr>
        <p:spPr bwMode="auto">
          <a:xfrm>
            <a:off x="2763838" y="4862513"/>
            <a:ext cx="106362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3</a:t>
            </a:r>
          </a:p>
        </p:txBody>
      </p:sp>
      <p:sp>
        <p:nvSpPr>
          <p:cNvPr id="40980" name="Line 21"/>
          <p:cNvSpPr>
            <a:spLocks noChangeShapeType="1"/>
          </p:cNvSpPr>
          <p:nvPr/>
        </p:nvSpPr>
        <p:spPr bwMode="auto">
          <a:xfrm>
            <a:off x="5734050" y="2063750"/>
            <a:ext cx="0" cy="3873500"/>
          </a:xfrm>
          <a:prstGeom prst="line">
            <a:avLst/>
          </a:prstGeom>
          <a:noFill/>
          <a:ln w="127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1" name="Line 22"/>
          <p:cNvSpPr>
            <a:spLocks noChangeShapeType="1"/>
          </p:cNvSpPr>
          <p:nvPr/>
        </p:nvSpPr>
        <p:spPr bwMode="auto">
          <a:xfrm>
            <a:off x="5734050" y="2293938"/>
            <a:ext cx="838200" cy="288925"/>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2" name="Line 23"/>
          <p:cNvSpPr>
            <a:spLocks noChangeShapeType="1"/>
          </p:cNvSpPr>
          <p:nvPr/>
        </p:nvSpPr>
        <p:spPr bwMode="auto">
          <a:xfrm flipH="1">
            <a:off x="5734050" y="2870200"/>
            <a:ext cx="1508125" cy="479425"/>
          </a:xfrm>
          <a:prstGeom prst="line">
            <a:avLst/>
          </a:prstGeom>
          <a:noFill/>
          <a:ln w="9525">
            <a:solidFill>
              <a:schemeClr val="tx1"/>
            </a:solidFill>
            <a:prstDash val="dash"/>
            <a:round/>
            <a:headEnd type="none" w="sm" len="sm"/>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3" name="Line 24"/>
          <p:cNvSpPr>
            <a:spLocks noChangeShapeType="1"/>
          </p:cNvSpPr>
          <p:nvPr/>
        </p:nvSpPr>
        <p:spPr bwMode="auto">
          <a:xfrm>
            <a:off x="5734050" y="3636963"/>
            <a:ext cx="1508125" cy="479425"/>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4" name="Line 25"/>
          <p:cNvSpPr>
            <a:spLocks noChangeShapeType="1"/>
          </p:cNvSpPr>
          <p:nvPr/>
        </p:nvSpPr>
        <p:spPr bwMode="auto">
          <a:xfrm flipH="1">
            <a:off x="5734050" y="4211638"/>
            <a:ext cx="1508125" cy="479425"/>
          </a:xfrm>
          <a:prstGeom prst="line">
            <a:avLst/>
          </a:prstGeom>
          <a:noFill/>
          <a:ln w="28575">
            <a:solidFill>
              <a:schemeClr val="fo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5" name="Line 26"/>
          <p:cNvSpPr>
            <a:spLocks noChangeShapeType="1"/>
          </p:cNvSpPr>
          <p:nvPr/>
        </p:nvSpPr>
        <p:spPr bwMode="auto">
          <a:xfrm>
            <a:off x="5734050" y="4786313"/>
            <a:ext cx="1508125" cy="481012"/>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6" name="Text Box 27"/>
          <p:cNvSpPr txBox="1">
            <a:spLocks noChangeArrowheads="1"/>
          </p:cNvSpPr>
          <p:nvPr/>
        </p:nvSpPr>
        <p:spPr bwMode="auto">
          <a:xfrm>
            <a:off x="5530850" y="1614488"/>
            <a:ext cx="420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a:solidFill>
                  <a:schemeClr val="folHlink"/>
                </a:solidFill>
                <a:latin typeface="Arial" pitchFamily="34" charset="0"/>
                <a:ea typeface="黑体" pitchFamily="49" charset="-122"/>
              </a:rPr>
              <a:t>A</a:t>
            </a:r>
          </a:p>
        </p:txBody>
      </p:sp>
      <p:sp>
        <p:nvSpPr>
          <p:cNvPr id="40987" name="Text Box 28"/>
          <p:cNvSpPr txBox="1">
            <a:spLocks noChangeArrowheads="1"/>
          </p:cNvSpPr>
          <p:nvPr/>
        </p:nvSpPr>
        <p:spPr bwMode="auto">
          <a:xfrm>
            <a:off x="4429125" y="1958975"/>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0988" name="Text Box 29"/>
          <p:cNvSpPr txBox="1">
            <a:spLocks noChangeArrowheads="1"/>
          </p:cNvSpPr>
          <p:nvPr/>
        </p:nvSpPr>
        <p:spPr bwMode="auto">
          <a:xfrm>
            <a:off x="7046913" y="1614488"/>
            <a:ext cx="420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a:solidFill>
                  <a:schemeClr val="folHlink"/>
                </a:solidFill>
                <a:latin typeface="Arial" pitchFamily="34" charset="0"/>
                <a:ea typeface="黑体" pitchFamily="49" charset="-122"/>
              </a:rPr>
              <a:t>B</a:t>
            </a:r>
          </a:p>
        </p:txBody>
      </p:sp>
      <p:sp>
        <p:nvSpPr>
          <p:cNvPr id="40989" name="Line 30"/>
          <p:cNvSpPr>
            <a:spLocks noChangeShapeType="1"/>
          </p:cNvSpPr>
          <p:nvPr/>
        </p:nvSpPr>
        <p:spPr bwMode="auto">
          <a:xfrm>
            <a:off x="7242175" y="2063750"/>
            <a:ext cx="0" cy="3873500"/>
          </a:xfrm>
          <a:prstGeom prst="line">
            <a:avLst/>
          </a:prstGeom>
          <a:noFill/>
          <a:ln w="127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90" name="Text Box 31"/>
          <p:cNvSpPr txBox="1">
            <a:spLocks noChangeArrowheads="1"/>
          </p:cNvSpPr>
          <p:nvPr/>
        </p:nvSpPr>
        <p:spPr bwMode="auto">
          <a:xfrm>
            <a:off x="3851275" y="3330575"/>
            <a:ext cx="1582738" cy="406400"/>
          </a:xfrm>
          <a:prstGeom prst="rect">
            <a:avLst/>
          </a:prstGeom>
          <a:solidFill>
            <a:srgbClr val="FFFF99"/>
          </a:solidFill>
          <a:ln w="9525">
            <a:solidFill>
              <a:schemeClr val="folHlink"/>
            </a:solidFill>
            <a:miter lim="800000"/>
            <a:headEnd/>
            <a:tailEnd/>
          </a:ln>
          <a:effectLst>
            <a:outerShdw dist="53882"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超时重传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0991" name="Text Box 32"/>
          <p:cNvSpPr txBox="1">
            <a:spLocks noChangeArrowheads="1"/>
          </p:cNvSpPr>
          <p:nvPr/>
        </p:nvSpPr>
        <p:spPr bwMode="auto">
          <a:xfrm>
            <a:off x="4648200" y="4479925"/>
            <a:ext cx="106362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2</a:t>
            </a:r>
          </a:p>
        </p:txBody>
      </p:sp>
      <p:sp>
        <p:nvSpPr>
          <p:cNvPr id="40992" name="Text Box 33"/>
          <p:cNvSpPr txBox="1">
            <a:spLocks noChangeArrowheads="1"/>
          </p:cNvSpPr>
          <p:nvPr/>
        </p:nvSpPr>
        <p:spPr bwMode="auto">
          <a:xfrm>
            <a:off x="7242175" y="3968750"/>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0993" name="Text Box 34"/>
          <p:cNvSpPr txBox="1">
            <a:spLocks noChangeArrowheads="1"/>
          </p:cNvSpPr>
          <p:nvPr/>
        </p:nvSpPr>
        <p:spPr bwMode="auto">
          <a:xfrm>
            <a:off x="7343775" y="2436813"/>
            <a:ext cx="1463675" cy="711200"/>
          </a:xfrm>
          <a:prstGeom prst="rect">
            <a:avLst/>
          </a:prstGeom>
          <a:solidFill>
            <a:srgbClr val="FFFF99"/>
          </a:solidFill>
          <a:ln w="9525">
            <a:solidFill>
              <a:schemeClr val="folHlink"/>
            </a:solidFill>
            <a:miter lim="800000"/>
            <a:headEnd/>
            <a:tailEnd/>
          </a:ln>
          <a:effectLst>
            <a:outerShdw dist="53882"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丢弃有差错</a:t>
            </a:r>
          </a:p>
          <a:p>
            <a:pPr algn="ctr" eaLnBrk="1" hangingPunct="1"/>
            <a:r>
              <a:rPr lang="zh-CN" altLang="en-US" sz="2000">
                <a:solidFill>
                  <a:schemeClr val="folHlink"/>
                </a:solidFill>
                <a:latin typeface="Arial" pitchFamily="34" charset="0"/>
                <a:ea typeface="黑体" pitchFamily="49" charset="-122"/>
              </a:rPr>
              <a:t>的报文</a:t>
            </a:r>
            <a:endParaRPr lang="zh-CN" altLang="en-US" sz="2000" baseline="-25000">
              <a:solidFill>
                <a:schemeClr val="folHlink"/>
              </a:solidFill>
              <a:latin typeface="Arial" pitchFamily="34" charset="0"/>
              <a:ea typeface="黑体" pitchFamily="49" charset="-122"/>
            </a:endParaRPr>
          </a:p>
        </p:txBody>
      </p:sp>
      <p:sp>
        <p:nvSpPr>
          <p:cNvPr id="40994" name="Line 35"/>
          <p:cNvSpPr>
            <a:spLocks noChangeShapeType="1"/>
          </p:cNvSpPr>
          <p:nvPr/>
        </p:nvSpPr>
        <p:spPr bwMode="auto">
          <a:xfrm>
            <a:off x="6572250" y="2582863"/>
            <a:ext cx="677863" cy="214312"/>
          </a:xfrm>
          <a:prstGeom prst="line">
            <a:avLst/>
          </a:prstGeom>
          <a:noFill/>
          <a:ln w="12700">
            <a:solidFill>
              <a:schemeClr val="tx1"/>
            </a:solidFill>
            <a:prstDash val="dash"/>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95" name="Line 36"/>
          <p:cNvSpPr>
            <a:spLocks noChangeShapeType="1"/>
          </p:cNvSpPr>
          <p:nvPr/>
        </p:nvSpPr>
        <p:spPr bwMode="auto">
          <a:xfrm>
            <a:off x="5434013" y="2293938"/>
            <a:ext cx="25082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96" name="Line 37"/>
          <p:cNvSpPr>
            <a:spLocks noChangeShapeType="1"/>
          </p:cNvSpPr>
          <p:nvPr/>
        </p:nvSpPr>
        <p:spPr bwMode="auto">
          <a:xfrm>
            <a:off x="5434013" y="3636963"/>
            <a:ext cx="250825"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97" name="Line 38"/>
          <p:cNvSpPr>
            <a:spLocks noChangeShapeType="1"/>
          </p:cNvSpPr>
          <p:nvPr/>
        </p:nvSpPr>
        <p:spPr bwMode="auto">
          <a:xfrm>
            <a:off x="5561013" y="2281238"/>
            <a:ext cx="0" cy="134302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0998" name="Group 39"/>
          <p:cNvGrpSpPr>
            <a:grpSpLocks/>
          </p:cNvGrpSpPr>
          <p:nvPr/>
        </p:nvGrpSpPr>
        <p:grpSpPr bwMode="auto">
          <a:xfrm>
            <a:off x="5264150" y="2463800"/>
            <a:ext cx="592138" cy="639763"/>
            <a:chOff x="475" y="2386"/>
            <a:chExt cx="321" cy="303"/>
          </a:xfrm>
        </p:grpSpPr>
        <p:sp>
          <p:nvSpPr>
            <p:cNvPr id="41007" name="Oval 40"/>
            <p:cNvSpPr>
              <a:spLocks noChangeArrowheads="1"/>
            </p:cNvSpPr>
            <p:nvPr/>
          </p:nvSpPr>
          <p:spPr bwMode="auto">
            <a:xfrm>
              <a:off x="543" y="2505"/>
              <a:ext cx="181" cy="181"/>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08" name="Text Box 41"/>
            <p:cNvSpPr txBox="1">
              <a:spLocks noChangeArrowheads="1"/>
            </p:cNvSpPr>
            <p:nvPr/>
          </p:nvSpPr>
          <p:spPr bwMode="auto">
            <a:xfrm>
              <a:off x="475" y="2386"/>
              <a:ext cx="321"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600">
                  <a:solidFill>
                    <a:schemeClr val="folHlink"/>
                  </a:solidFill>
                  <a:latin typeface="Arial" pitchFamily="34" charset="0"/>
                  <a:ea typeface="黑体" pitchFamily="49" charset="-122"/>
                  <a:sym typeface="Wingdings" pitchFamily="2" charset="2"/>
                </a:rPr>
                <a:t></a:t>
              </a:r>
            </a:p>
          </p:txBody>
        </p:sp>
      </p:grpSp>
      <p:grpSp>
        <p:nvGrpSpPr>
          <p:cNvPr id="40999" name="Group 42"/>
          <p:cNvGrpSpPr>
            <a:grpSpLocks/>
          </p:cNvGrpSpPr>
          <p:nvPr/>
        </p:nvGrpSpPr>
        <p:grpSpPr bwMode="auto">
          <a:xfrm>
            <a:off x="6605588" y="2487613"/>
            <a:ext cx="250825" cy="287337"/>
            <a:chOff x="3651" y="709"/>
            <a:chExt cx="136" cy="136"/>
          </a:xfrm>
        </p:grpSpPr>
        <p:sp>
          <p:nvSpPr>
            <p:cNvPr id="41005" name="Line 43"/>
            <p:cNvSpPr>
              <a:spLocks noChangeShapeType="1"/>
            </p:cNvSpPr>
            <p:nvPr/>
          </p:nvSpPr>
          <p:spPr bwMode="auto">
            <a:xfrm flipH="1">
              <a:off x="3651" y="709"/>
              <a:ext cx="136" cy="136"/>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06" name="Line 44"/>
            <p:cNvSpPr>
              <a:spLocks noChangeShapeType="1"/>
            </p:cNvSpPr>
            <p:nvPr/>
          </p:nvSpPr>
          <p:spPr bwMode="auto">
            <a:xfrm>
              <a:off x="3651" y="709"/>
              <a:ext cx="136" cy="136"/>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000" name="Rectangle 45"/>
          <p:cNvSpPr>
            <a:spLocks noChangeArrowheads="1"/>
          </p:cNvSpPr>
          <p:nvPr/>
        </p:nvSpPr>
        <p:spPr bwMode="auto">
          <a:xfrm>
            <a:off x="5454650" y="6127750"/>
            <a:ext cx="2141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a:solidFill>
                  <a:schemeClr val="folHlink"/>
                </a:solidFill>
                <a:latin typeface="Arial" pitchFamily="34" charset="0"/>
                <a:ea typeface="黑体" pitchFamily="49" charset="-122"/>
              </a:rPr>
              <a:t>(b) </a:t>
            </a:r>
            <a:r>
              <a:rPr kumimoji="1" lang="zh-CN" altLang="en-US">
                <a:solidFill>
                  <a:schemeClr val="folHlink"/>
                </a:solidFill>
                <a:latin typeface="Arial" pitchFamily="34" charset="0"/>
                <a:ea typeface="黑体" pitchFamily="49" charset="-122"/>
              </a:rPr>
              <a:t>超时重传</a:t>
            </a:r>
          </a:p>
        </p:txBody>
      </p:sp>
      <p:sp>
        <p:nvSpPr>
          <p:cNvPr id="41001" name="Rectangle 46"/>
          <p:cNvSpPr>
            <a:spLocks noChangeArrowheads="1"/>
          </p:cNvSpPr>
          <p:nvPr/>
        </p:nvSpPr>
        <p:spPr bwMode="auto">
          <a:xfrm>
            <a:off x="1227138" y="5678488"/>
            <a:ext cx="252412"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
        <p:nvSpPr>
          <p:cNvPr id="41002" name="Rectangle 47"/>
          <p:cNvSpPr>
            <a:spLocks noChangeArrowheads="1"/>
          </p:cNvSpPr>
          <p:nvPr/>
        </p:nvSpPr>
        <p:spPr bwMode="auto">
          <a:xfrm>
            <a:off x="2733675" y="5678488"/>
            <a:ext cx="25400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
        <p:nvSpPr>
          <p:cNvPr id="41003" name="Rectangle 48"/>
          <p:cNvSpPr>
            <a:spLocks noChangeArrowheads="1"/>
          </p:cNvSpPr>
          <p:nvPr/>
        </p:nvSpPr>
        <p:spPr bwMode="auto">
          <a:xfrm>
            <a:off x="5683250" y="5678488"/>
            <a:ext cx="25400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
        <p:nvSpPr>
          <p:cNvPr id="41004" name="Rectangle 49"/>
          <p:cNvSpPr>
            <a:spLocks noChangeArrowheads="1"/>
          </p:cNvSpPr>
          <p:nvPr/>
        </p:nvSpPr>
        <p:spPr bwMode="auto">
          <a:xfrm>
            <a:off x="7189788" y="5678488"/>
            <a:ext cx="25400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0DF7F22-00DD-4AC6-8D8E-81FE92634119}" type="slidenum">
              <a:rPr lang="en-US" altLang="zh-CN" sz="1400"/>
              <a:pPr eaLnBrk="1" hangingPunct="1"/>
              <a:t>39</a:t>
            </a:fld>
            <a:endParaRPr lang="en-US" altLang="zh-CN" sz="1400"/>
          </a:p>
        </p:txBody>
      </p:sp>
      <p:sp>
        <p:nvSpPr>
          <p:cNvPr id="41987" name="Rectangle 2"/>
          <p:cNvSpPr>
            <a:spLocks noGrp="1" noChangeArrowheads="1"/>
          </p:cNvSpPr>
          <p:nvPr>
            <p:ph type="title"/>
          </p:nvPr>
        </p:nvSpPr>
        <p:spPr>
          <a:xfrm>
            <a:off x="1150938" y="214313"/>
            <a:ext cx="7237412" cy="1462087"/>
          </a:xfrm>
        </p:spPr>
        <p:txBody>
          <a:bodyPr/>
          <a:lstStyle/>
          <a:p>
            <a:pPr algn="ctr" eaLnBrk="1" hangingPunct="1"/>
            <a:r>
              <a:rPr lang="zh-CN" altLang="en-US" smtClean="0"/>
              <a:t>请注意</a:t>
            </a:r>
          </a:p>
        </p:txBody>
      </p:sp>
      <p:sp>
        <p:nvSpPr>
          <p:cNvPr id="41988" name="Rectangle 3"/>
          <p:cNvSpPr>
            <a:spLocks noGrp="1" noChangeArrowheads="1"/>
          </p:cNvSpPr>
          <p:nvPr>
            <p:ph type="body" idx="1"/>
          </p:nvPr>
        </p:nvSpPr>
        <p:spPr/>
        <p:txBody>
          <a:bodyPr/>
          <a:lstStyle/>
          <a:p>
            <a:pPr eaLnBrk="1" hangingPunct="1"/>
            <a:r>
              <a:rPr lang="zh-CN" altLang="en-US" smtClean="0"/>
              <a:t>在发送完一个分组后，必须暂时保留已发送的分组的副本。</a:t>
            </a:r>
          </a:p>
          <a:p>
            <a:pPr eaLnBrk="1" hangingPunct="1"/>
            <a:r>
              <a:rPr lang="zh-CN" altLang="en-US" smtClean="0"/>
              <a:t>分组和确认分组都必须进行编号。</a:t>
            </a:r>
          </a:p>
          <a:p>
            <a:pPr eaLnBrk="1" hangingPunct="1"/>
            <a:r>
              <a:rPr lang="zh-CN" altLang="en-US" smtClean="0"/>
              <a:t>超时计时器的重传时间应当比数据在分组传输的平均往返时间更长一些。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2FC97C7-4525-4DC7-A195-0806C3886C73}" type="slidenum">
              <a:rPr lang="en-US" altLang="zh-CN" sz="1400"/>
              <a:pPr eaLnBrk="1" hangingPunct="1"/>
              <a:t>40</a:t>
            </a:fld>
            <a:endParaRPr lang="en-US" altLang="zh-CN" sz="1400"/>
          </a:p>
        </p:txBody>
      </p:sp>
      <p:sp>
        <p:nvSpPr>
          <p:cNvPr id="43011" name="Rectangle 2"/>
          <p:cNvSpPr>
            <a:spLocks noGrp="1" noChangeArrowheads="1"/>
          </p:cNvSpPr>
          <p:nvPr>
            <p:ph type="title"/>
          </p:nvPr>
        </p:nvSpPr>
        <p:spPr/>
        <p:txBody>
          <a:bodyPr/>
          <a:lstStyle/>
          <a:p>
            <a:pPr algn="ctr" eaLnBrk="1" hangingPunct="1"/>
            <a:r>
              <a:rPr lang="zh-CN" altLang="en-US" smtClean="0"/>
              <a:t>确认丢失和确认迟到 </a:t>
            </a:r>
          </a:p>
        </p:txBody>
      </p:sp>
      <p:sp>
        <p:nvSpPr>
          <p:cNvPr id="43012" name="Line 4"/>
          <p:cNvSpPr>
            <a:spLocks noChangeShapeType="1"/>
          </p:cNvSpPr>
          <p:nvPr/>
        </p:nvSpPr>
        <p:spPr bwMode="auto">
          <a:xfrm>
            <a:off x="1349375" y="2471738"/>
            <a:ext cx="0" cy="3382962"/>
          </a:xfrm>
          <a:prstGeom prst="line">
            <a:avLst/>
          </a:prstGeom>
          <a:noFill/>
          <a:ln w="127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13" name="Line 5"/>
          <p:cNvSpPr>
            <a:spLocks noChangeShapeType="1"/>
          </p:cNvSpPr>
          <p:nvPr/>
        </p:nvSpPr>
        <p:spPr bwMode="auto">
          <a:xfrm flipH="1">
            <a:off x="1927225" y="3175000"/>
            <a:ext cx="723900" cy="252413"/>
          </a:xfrm>
          <a:prstGeom prst="line">
            <a:avLst/>
          </a:prstGeom>
          <a:noFill/>
          <a:ln w="28575">
            <a:solidFill>
              <a:schemeClr val="fo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14" name="Line 6"/>
          <p:cNvSpPr>
            <a:spLocks noChangeShapeType="1"/>
          </p:cNvSpPr>
          <p:nvPr/>
        </p:nvSpPr>
        <p:spPr bwMode="auto">
          <a:xfrm>
            <a:off x="1349375" y="3846513"/>
            <a:ext cx="1301750" cy="419100"/>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15" name="Line 7"/>
          <p:cNvSpPr>
            <a:spLocks noChangeShapeType="1"/>
          </p:cNvSpPr>
          <p:nvPr/>
        </p:nvSpPr>
        <p:spPr bwMode="auto">
          <a:xfrm flipH="1">
            <a:off x="1349375" y="4348163"/>
            <a:ext cx="1301750" cy="419100"/>
          </a:xfrm>
          <a:prstGeom prst="line">
            <a:avLst/>
          </a:prstGeom>
          <a:noFill/>
          <a:ln w="28575">
            <a:solidFill>
              <a:schemeClr val="fo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16" name="Line 8"/>
          <p:cNvSpPr>
            <a:spLocks noChangeShapeType="1"/>
          </p:cNvSpPr>
          <p:nvPr/>
        </p:nvSpPr>
        <p:spPr bwMode="auto">
          <a:xfrm>
            <a:off x="1349375" y="4849813"/>
            <a:ext cx="1301750" cy="419100"/>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17" name="Text Box 9"/>
          <p:cNvSpPr txBox="1">
            <a:spLocks noChangeArrowheads="1"/>
          </p:cNvSpPr>
          <p:nvPr/>
        </p:nvSpPr>
        <p:spPr bwMode="auto">
          <a:xfrm>
            <a:off x="1146175" y="2046288"/>
            <a:ext cx="4206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a:solidFill>
                  <a:schemeClr val="folHlink"/>
                </a:solidFill>
                <a:latin typeface="Arial" pitchFamily="34" charset="0"/>
                <a:ea typeface="黑体" pitchFamily="49" charset="-122"/>
              </a:rPr>
              <a:t>A</a:t>
            </a:r>
          </a:p>
        </p:txBody>
      </p:sp>
      <p:sp>
        <p:nvSpPr>
          <p:cNvPr id="43018" name="Text Box 10"/>
          <p:cNvSpPr txBox="1">
            <a:spLocks noChangeArrowheads="1"/>
          </p:cNvSpPr>
          <p:nvPr/>
        </p:nvSpPr>
        <p:spPr bwMode="auto">
          <a:xfrm>
            <a:off x="107950" y="2366963"/>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3019" name="Text Box 11"/>
          <p:cNvSpPr txBox="1">
            <a:spLocks noChangeArrowheads="1"/>
          </p:cNvSpPr>
          <p:nvPr/>
        </p:nvSpPr>
        <p:spPr bwMode="auto">
          <a:xfrm>
            <a:off x="2452688" y="2046288"/>
            <a:ext cx="420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a:solidFill>
                  <a:schemeClr val="folHlink"/>
                </a:solidFill>
                <a:latin typeface="Arial" pitchFamily="34" charset="0"/>
                <a:ea typeface="黑体" pitchFamily="49" charset="-122"/>
              </a:rPr>
              <a:t>B</a:t>
            </a:r>
          </a:p>
        </p:txBody>
      </p:sp>
      <p:sp>
        <p:nvSpPr>
          <p:cNvPr id="43020" name="Line 12"/>
          <p:cNvSpPr>
            <a:spLocks noChangeShapeType="1"/>
          </p:cNvSpPr>
          <p:nvPr/>
        </p:nvSpPr>
        <p:spPr bwMode="auto">
          <a:xfrm>
            <a:off x="2651125" y="2471738"/>
            <a:ext cx="0" cy="3382962"/>
          </a:xfrm>
          <a:prstGeom prst="line">
            <a:avLst/>
          </a:prstGeom>
          <a:noFill/>
          <a:ln w="127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1" name="Text Box 13"/>
          <p:cNvSpPr txBox="1">
            <a:spLocks noChangeArrowheads="1"/>
          </p:cNvSpPr>
          <p:nvPr/>
        </p:nvSpPr>
        <p:spPr bwMode="auto">
          <a:xfrm>
            <a:off x="195263" y="3448050"/>
            <a:ext cx="10652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超时</a:t>
            </a:r>
          </a:p>
          <a:p>
            <a:pPr algn="ctr" eaLnBrk="1" hangingPunct="1"/>
            <a:r>
              <a:rPr lang="zh-CN" altLang="en-US" sz="2000">
                <a:solidFill>
                  <a:schemeClr val="folHlink"/>
                </a:solidFill>
                <a:latin typeface="Arial" pitchFamily="34" charset="0"/>
                <a:ea typeface="黑体" pitchFamily="49" charset="-122"/>
              </a:rPr>
              <a:t>重传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3022" name="Text Box 14"/>
          <p:cNvSpPr txBox="1">
            <a:spLocks noChangeArrowheads="1"/>
          </p:cNvSpPr>
          <p:nvPr/>
        </p:nvSpPr>
        <p:spPr bwMode="auto">
          <a:xfrm>
            <a:off x="409575" y="4572000"/>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2</a:t>
            </a:r>
          </a:p>
        </p:txBody>
      </p:sp>
      <p:sp>
        <p:nvSpPr>
          <p:cNvPr id="43023" name="Text Box 15"/>
          <p:cNvSpPr txBox="1">
            <a:spLocks noChangeArrowheads="1"/>
          </p:cNvSpPr>
          <p:nvPr/>
        </p:nvSpPr>
        <p:spPr bwMode="auto">
          <a:xfrm>
            <a:off x="2749550" y="3789363"/>
            <a:ext cx="1582738" cy="1016000"/>
          </a:xfrm>
          <a:prstGeom prst="rect">
            <a:avLst/>
          </a:prstGeom>
          <a:solidFill>
            <a:srgbClr val="FFFF99"/>
          </a:solidFill>
          <a:ln w="9525">
            <a:solidFill>
              <a:schemeClr val="folHlink"/>
            </a:solidFill>
            <a:miter lim="800000"/>
            <a:headEnd/>
            <a:tailEnd/>
          </a:ln>
          <a:effectLst>
            <a:outerShdw dist="45791" dir="3378596"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丢弃</a:t>
            </a:r>
          </a:p>
          <a:p>
            <a:pPr eaLnBrk="1" hangingPunct="1"/>
            <a:r>
              <a:rPr lang="zh-CN" altLang="en-US" sz="2000">
                <a:solidFill>
                  <a:schemeClr val="folHlink"/>
                </a:solidFill>
                <a:latin typeface="Arial" pitchFamily="34" charset="0"/>
                <a:ea typeface="黑体" pitchFamily="49" charset="-122"/>
              </a:rPr>
              <a:t>重复的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a:p>
            <a:pPr eaLnBrk="1" hangingPunct="1"/>
            <a:r>
              <a:rPr lang="zh-CN" altLang="en-US" sz="2000">
                <a:solidFill>
                  <a:schemeClr val="folHlink"/>
                </a:solidFill>
                <a:latin typeface="Arial" pitchFamily="34" charset="0"/>
                <a:ea typeface="黑体" pitchFamily="49" charset="-122"/>
              </a:rPr>
              <a:t>重传确认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3024" name="Line 16"/>
          <p:cNvSpPr>
            <a:spLocks noChangeShapeType="1"/>
          </p:cNvSpPr>
          <p:nvPr/>
        </p:nvSpPr>
        <p:spPr bwMode="auto">
          <a:xfrm flipH="1">
            <a:off x="1323975" y="3441700"/>
            <a:ext cx="584200" cy="188913"/>
          </a:xfrm>
          <a:prstGeom prst="line">
            <a:avLst/>
          </a:prstGeom>
          <a:noFill/>
          <a:ln w="12700">
            <a:solidFill>
              <a:schemeClr val="tx1"/>
            </a:solidFill>
            <a:prstDash val="dash"/>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25" name="Line 17"/>
          <p:cNvSpPr>
            <a:spLocks noChangeShapeType="1"/>
          </p:cNvSpPr>
          <p:nvPr/>
        </p:nvSpPr>
        <p:spPr bwMode="auto">
          <a:xfrm>
            <a:off x="1089025" y="2673350"/>
            <a:ext cx="2174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26" name="Line 18"/>
          <p:cNvSpPr>
            <a:spLocks noChangeShapeType="1"/>
          </p:cNvSpPr>
          <p:nvPr/>
        </p:nvSpPr>
        <p:spPr bwMode="auto">
          <a:xfrm>
            <a:off x="1089025" y="3846513"/>
            <a:ext cx="2174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27" name="Line 19"/>
          <p:cNvSpPr>
            <a:spLocks noChangeShapeType="1"/>
          </p:cNvSpPr>
          <p:nvPr/>
        </p:nvSpPr>
        <p:spPr bwMode="auto">
          <a:xfrm>
            <a:off x="1198563" y="2662238"/>
            <a:ext cx="0" cy="1173162"/>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28" name="Oval 20"/>
          <p:cNvSpPr>
            <a:spLocks noChangeArrowheads="1"/>
          </p:cNvSpPr>
          <p:nvPr/>
        </p:nvSpPr>
        <p:spPr bwMode="auto">
          <a:xfrm>
            <a:off x="1050925" y="3041650"/>
            <a:ext cx="288925" cy="333375"/>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29" name="Text Box 21"/>
          <p:cNvSpPr txBox="1">
            <a:spLocks noChangeArrowheads="1"/>
          </p:cNvSpPr>
          <p:nvPr/>
        </p:nvSpPr>
        <p:spPr bwMode="auto">
          <a:xfrm>
            <a:off x="900113" y="2859088"/>
            <a:ext cx="5921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600">
                <a:solidFill>
                  <a:schemeClr val="folHlink"/>
                </a:solidFill>
                <a:latin typeface="Arial" pitchFamily="34" charset="0"/>
                <a:ea typeface="黑体" pitchFamily="49" charset="-122"/>
                <a:sym typeface="Wingdings" pitchFamily="2" charset="2"/>
              </a:rPr>
              <a:t></a:t>
            </a:r>
          </a:p>
        </p:txBody>
      </p:sp>
      <p:grpSp>
        <p:nvGrpSpPr>
          <p:cNvPr id="43030" name="Group 22"/>
          <p:cNvGrpSpPr>
            <a:grpSpLocks/>
          </p:cNvGrpSpPr>
          <p:nvPr/>
        </p:nvGrpSpPr>
        <p:grpSpPr bwMode="auto">
          <a:xfrm>
            <a:off x="1881188" y="3259138"/>
            <a:ext cx="215900" cy="250825"/>
            <a:chOff x="3651" y="709"/>
            <a:chExt cx="136" cy="136"/>
          </a:xfrm>
        </p:grpSpPr>
        <p:sp>
          <p:nvSpPr>
            <p:cNvPr id="43059" name="Line 23"/>
            <p:cNvSpPr>
              <a:spLocks noChangeShapeType="1"/>
            </p:cNvSpPr>
            <p:nvPr/>
          </p:nvSpPr>
          <p:spPr bwMode="auto">
            <a:xfrm flipH="1">
              <a:off x="3651" y="709"/>
              <a:ext cx="136" cy="136"/>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60" name="Line 24"/>
            <p:cNvSpPr>
              <a:spLocks noChangeShapeType="1"/>
            </p:cNvSpPr>
            <p:nvPr/>
          </p:nvSpPr>
          <p:spPr bwMode="auto">
            <a:xfrm>
              <a:off x="3651" y="709"/>
              <a:ext cx="136" cy="136"/>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3031" name="Rectangle 25"/>
          <p:cNvSpPr>
            <a:spLocks noChangeArrowheads="1"/>
          </p:cNvSpPr>
          <p:nvPr/>
        </p:nvSpPr>
        <p:spPr bwMode="auto">
          <a:xfrm>
            <a:off x="755650" y="6223000"/>
            <a:ext cx="2141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a:solidFill>
                  <a:schemeClr val="folHlink"/>
                </a:solidFill>
                <a:latin typeface="Arial" pitchFamily="34" charset="0"/>
                <a:ea typeface="黑体" pitchFamily="49" charset="-122"/>
              </a:rPr>
              <a:t>(a) </a:t>
            </a:r>
            <a:r>
              <a:rPr kumimoji="1" lang="zh-CN" altLang="en-US">
                <a:solidFill>
                  <a:schemeClr val="folHlink"/>
                </a:solidFill>
                <a:latin typeface="Arial" pitchFamily="34" charset="0"/>
                <a:ea typeface="黑体" pitchFamily="49" charset="-122"/>
              </a:rPr>
              <a:t>确认丢失</a:t>
            </a:r>
          </a:p>
        </p:txBody>
      </p:sp>
      <p:sp>
        <p:nvSpPr>
          <p:cNvPr id="43032" name="Line 26"/>
          <p:cNvSpPr>
            <a:spLocks noChangeShapeType="1"/>
          </p:cNvSpPr>
          <p:nvPr/>
        </p:nvSpPr>
        <p:spPr bwMode="auto">
          <a:xfrm>
            <a:off x="1344613" y="2687638"/>
            <a:ext cx="1301750" cy="419100"/>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3" name="Text Box 27"/>
          <p:cNvSpPr txBox="1">
            <a:spLocks noChangeArrowheads="1"/>
          </p:cNvSpPr>
          <p:nvPr/>
        </p:nvSpPr>
        <p:spPr bwMode="auto">
          <a:xfrm>
            <a:off x="2676525" y="2952750"/>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3034" name="Line 28"/>
          <p:cNvSpPr>
            <a:spLocks noChangeShapeType="1"/>
          </p:cNvSpPr>
          <p:nvPr/>
        </p:nvSpPr>
        <p:spPr bwMode="auto">
          <a:xfrm>
            <a:off x="6083300" y="2471738"/>
            <a:ext cx="0" cy="3382962"/>
          </a:xfrm>
          <a:prstGeom prst="line">
            <a:avLst/>
          </a:prstGeom>
          <a:noFill/>
          <a:ln w="127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35" name="Line 29"/>
          <p:cNvSpPr>
            <a:spLocks noChangeShapeType="1"/>
          </p:cNvSpPr>
          <p:nvPr/>
        </p:nvSpPr>
        <p:spPr bwMode="auto">
          <a:xfrm>
            <a:off x="6083300" y="3846513"/>
            <a:ext cx="1301750" cy="419100"/>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6" name="Line 30"/>
          <p:cNvSpPr>
            <a:spLocks noChangeShapeType="1"/>
          </p:cNvSpPr>
          <p:nvPr/>
        </p:nvSpPr>
        <p:spPr bwMode="auto">
          <a:xfrm flipH="1">
            <a:off x="6083300" y="4348163"/>
            <a:ext cx="1301750" cy="419100"/>
          </a:xfrm>
          <a:prstGeom prst="line">
            <a:avLst/>
          </a:prstGeom>
          <a:noFill/>
          <a:ln w="28575">
            <a:solidFill>
              <a:schemeClr val="fo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7" name="Line 31"/>
          <p:cNvSpPr>
            <a:spLocks noChangeShapeType="1"/>
          </p:cNvSpPr>
          <p:nvPr/>
        </p:nvSpPr>
        <p:spPr bwMode="auto">
          <a:xfrm>
            <a:off x="6083300" y="4849813"/>
            <a:ext cx="1301750" cy="419100"/>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8" name="Text Box 32"/>
          <p:cNvSpPr txBox="1">
            <a:spLocks noChangeArrowheads="1"/>
          </p:cNvSpPr>
          <p:nvPr/>
        </p:nvSpPr>
        <p:spPr bwMode="auto">
          <a:xfrm>
            <a:off x="5888038" y="2046288"/>
            <a:ext cx="420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a:solidFill>
                  <a:schemeClr val="folHlink"/>
                </a:solidFill>
                <a:latin typeface="Arial" pitchFamily="34" charset="0"/>
                <a:ea typeface="黑体" pitchFamily="49" charset="-122"/>
              </a:rPr>
              <a:t>A</a:t>
            </a:r>
          </a:p>
        </p:txBody>
      </p:sp>
      <p:sp>
        <p:nvSpPr>
          <p:cNvPr id="43039" name="Text Box 33"/>
          <p:cNvSpPr txBox="1">
            <a:spLocks noChangeArrowheads="1"/>
          </p:cNvSpPr>
          <p:nvPr/>
        </p:nvSpPr>
        <p:spPr bwMode="auto">
          <a:xfrm>
            <a:off x="4859338" y="2366963"/>
            <a:ext cx="1065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3040" name="Text Box 34"/>
          <p:cNvSpPr txBox="1">
            <a:spLocks noChangeArrowheads="1"/>
          </p:cNvSpPr>
          <p:nvPr/>
        </p:nvSpPr>
        <p:spPr bwMode="auto">
          <a:xfrm>
            <a:off x="7183438" y="2046288"/>
            <a:ext cx="420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a:solidFill>
                  <a:schemeClr val="folHlink"/>
                </a:solidFill>
                <a:latin typeface="Arial" pitchFamily="34" charset="0"/>
                <a:ea typeface="黑体" pitchFamily="49" charset="-122"/>
              </a:rPr>
              <a:t>B</a:t>
            </a:r>
          </a:p>
        </p:txBody>
      </p:sp>
      <p:sp>
        <p:nvSpPr>
          <p:cNvPr id="43041" name="Line 35"/>
          <p:cNvSpPr>
            <a:spLocks noChangeShapeType="1"/>
          </p:cNvSpPr>
          <p:nvPr/>
        </p:nvSpPr>
        <p:spPr bwMode="auto">
          <a:xfrm>
            <a:off x="7385050" y="2471738"/>
            <a:ext cx="0" cy="3382962"/>
          </a:xfrm>
          <a:prstGeom prst="line">
            <a:avLst/>
          </a:prstGeom>
          <a:noFill/>
          <a:ln w="12700">
            <a:solidFill>
              <a:schemeClr val="tx1"/>
            </a:solidFill>
            <a:round/>
            <a:headEnd type="none" w="sm" len="sm"/>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2" name="Text Box 36"/>
          <p:cNvSpPr txBox="1">
            <a:spLocks noChangeArrowheads="1"/>
          </p:cNvSpPr>
          <p:nvPr/>
        </p:nvSpPr>
        <p:spPr bwMode="auto">
          <a:xfrm>
            <a:off x="4946650" y="3500438"/>
            <a:ext cx="10652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超时</a:t>
            </a:r>
          </a:p>
          <a:p>
            <a:pPr algn="ctr" eaLnBrk="1" hangingPunct="1"/>
            <a:r>
              <a:rPr lang="zh-CN" altLang="en-US" sz="2000">
                <a:solidFill>
                  <a:schemeClr val="folHlink"/>
                </a:solidFill>
                <a:latin typeface="Arial" pitchFamily="34" charset="0"/>
                <a:ea typeface="黑体" pitchFamily="49" charset="-122"/>
              </a:rPr>
              <a:t>重传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3043" name="Text Box 37"/>
          <p:cNvSpPr txBox="1">
            <a:spLocks noChangeArrowheads="1"/>
          </p:cNvSpPr>
          <p:nvPr/>
        </p:nvSpPr>
        <p:spPr bwMode="auto">
          <a:xfrm>
            <a:off x="5145088" y="4572000"/>
            <a:ext cx="1065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2</a:t>
            </a:r>
          </a:p>
        </p:txBody>
      </p:sp>
      <p:sp>
        <p:nvSpPr>
          <p:cNvPr id="43044" name="Text Box 38"/>
          <p:cNvSpPr txBox="1">
            <a:spLocks noChangeArrowheads="1"/>
          </p:cNvSpPr>
          <p:nvPr/>
        </p:nvSpPr>
        <p:spPr bwMode="auto">
          <a:xfrm>
            <a:off x="7451725" y="3789363"/>
            <a:ext cx="1584325" cy="101600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丢弃</a:t>
            </a:r>
          </a:p>
          <a:p>
            <a:pPr eaLnBrk="1" hangingPunct="1"/>
            <a:r>
              <a:rPr lang="zh-CN" altLang="en-US" sz="2000">
                <a:solidFill>
                  <a:schemeClr val="folHlink"/>
                </a:solidFill>
                <a:latin typeface="Arial" pitchFamily="34" charset="0"/>
                <a:ea typeface="黑体" pitchFamily="49" charset="-122"/>
              </a:rPr>
              <a:t>重复的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a:p>
            <a:pPr eaLnBrk="1" hangingPunct="1"/>
            <a:r>
              <a:rPr lang="zh-CN" altLang="en-US" sz="2000">
                <a:solidFill>
                  <a:schemeClr val="folHlink"/>
                </a:solidFill>
                <a:latin typeface="Arial" pitchFamily="34" charset="0"/>
                <a:ea typeface="黑体" pitchFamily="49" charset="-122"/>
              </a:rPr>
              <a:t>重传确认</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3045" name="Line 39"/>
          <p:cNvSpPr>
            <a:spLocks noChangeShapeType="1"/>
          </p:cNvSpPr>
          <p:nvPr/>
        </p:nvSpPr>
        <p:spPr bwMode="auto">
          <a:xfrm>
            <a:off x="5822950" y="2673350"/>
            <a:ext cx="2174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6" name="Line 40"/>
          <p:cNvSpPr>
            <a:spLocks noChangeShapeType="1"/>
          </p:cNvSpPr>
          <p:nvPr/>
        </p:nvSpPr>
        <p:spPr bwMode="auto">
          <a:xfrm>
            <a:off x="5822950" y="3846513"/>
            <a:ext cx="2174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7" name="Line 41"/>
          <p:cNvSpPr>
            <a:spLocks noChangeShapeType="1"/>
          </p:cNvSpPr>
          <p:nvPr/>
        </p:nvSpPr>
        <p:spPr bwMode="auto">
          <a:xfrm>
            <a:off x="5934075" y="2662238"/>
            <a:ext cx="0" cy="1173162"/>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8" name="Oval 43"/>
          <p:cNvSpPr>
            <a:spLocks noChangeArrowheads="1"/>
          </p:cNvSpPr>
          <p:nvPr/>
        </p:nvSpPr>
        <p:spPr bwMode="auto">
          <a:xfrm>
            <a:off x="5784850" y="3041650"/>
            <a:ext cx="288925" cy="333375"/>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049" name="Text Box 44"/>
          <p:cNvSpPr txBox="1">
            <a:spLocks noChangeArrowheads="1"/>
          </p:cNvSpPr>
          <p:nvPr/>
        </p:nvSpPr>
        <p:spPr bwMode="auto">
          <a:xfrm>
            <a:off x="5635625" y="2924175"/>
            <a:ext cx="5921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600">
                <a:solidFill>
                  <a:schemeClr val="folHlink"/>
                </a:solidFill>
                <a:latin typeface="Arial" pitchFamily="34" charset="0"/>
                <a:ea typeface="黑体" pitchFamily="49" charset="-122"/>
                <a:sym typeface="Wingdings" pitchFamily="2" charset="2"/>
              </a:rPr>
              <a:t></a:t>
            </a:r>
          </a:p>
        </p:txBody>
      </p:sp>
      <p:sp>
        <p:nvSpPr>
          <p:cNvPr id="43050" name="Rectangle 45"/>
          <p:cNvSpPr>
            <a:spLocks noChangeArrowheads="1"/>
          </p:cNvSpPr>
          <p:nvPr/>
        </p:nvSpPr>
        <p:spPr bwMode="auto">
          <a:xfrm>
            <a:off x="5437188" y="6223000"/>
            <a:ext cx="2141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a:solidFill>
                  <a:schemeClr val="folHlink"/>
                </a:solidFill>
                <a:latin typeface="Arial" pitchFamily="34" charset="0"/>
                <a:ea typeface="黑体" pitchFamily="49" charset="-122"/>
              </a:rPr>
              <a:t>(b) </a:t>
            </a:r>
            <a:r>
              <a:rPr kumimoji="1" lang="zh-CN" altLang="en-US">
                <a:solidFill>
                  <a:schemeClr val="folHlink"/>
                </a:solidFill>
                <a:latin typeface="Arial" pitchFamily="34" charset="0"/>
                <a:ea typeface="黑体" pitchFamily="49" charset="-122"/>
              </a:rPr>
              <a:t>确认迟到</a:t>
            </a:r>
          </a:p>
        </p:txBody>
      </p:sp>
      <p:sp>
        <p:nvSpPr>
          <p:cNvPr id="43051" name="Line 46"/>
          <p:cNvSpPr>
            <a:spLocks noChangeShapeType="1"/>
          </p:cNvSpPr>
          <p:nvPr/>
        </p:nvSpPr>
        <p:spPr bwMode="auto">
          <a:xfrm>
            <a:off x="6078538" y="2687638"/>
            <a:ext cx="1301750" cy="419100"/>
          </a:xfrm>
          <a:prstGeom prst="line">
            <a:avLst/>
          </a:prstGeom>
          <a:noFill/>
          <a:ln w="5715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2" name="Text Box 47"/>
          <p:cNvSpPr txBox="1">
            <a:spLocks noChangeArrowheads="1"/>
          </p:cNvSpPr>
          <p:nvPr/>
        </p:nvSpPr>
        <p:spPr bwMode="auto">
          <a:xfrm>
            <a:off x="7410450" y="2952750"/>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43053" name="Freeform 48"/>
          <p:cNvSpPr>
            <a:spLocks/>
          </p:cNvSpPr>
          <p:nvPr/>
        </p:nvSpPr>
        <p:spPr bwMode="auto">
          <a:xfrm>
            <a:off x="6102350" y="3175000"/>
            <a:ext cx="1271588" cy="2262188"/>
          </a:xfrm>
          <a:custGeom>
            <a:avLst/>
            <a:gdLst>
              <a:gd name="T0" fmla="*/ 1271588 w 798"/>
              <a:gd name="T1" fmla="*/ 0 h 1134"/>
              <a:gd name="T2" fmla="*/ 938553 w 798"/>
              <a:gd name="T3" fmla="*/ 139641 h 1134"/>
              <a:gd name="T4" fmla="*/ 742556 w 798"/>
              <a:gd name="T5" fmla="*/ 432888 h 1134"/>
              <a:gd name="T6" fmla="*/ 666070 w 798"/>
              <a:gd name="T7" fmla="*/ 750073 h 1134"/>
              <a:gd name="T8" fmla="*/ 613485 w 798"/>
              <a:gd name="T9" fmla="*/ 1318612 h 1134"/>
              <a:gd name="T10" fmla="*/ 493975 w 798"/>
              <a:gd name="T11" fmla="*/ 2030783 h 1134"/>
              <a:gd name="T12" fmla="*/ 0 w 798"/>
              <a:gd name="T13" fmla="*/ 2262188 h 11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28575" cap="flat" cmpd="sng">
            <a:solidFill>
              <a:schemeClr val="folHlink"/>
            </a:solidFill>
            <a:prstDash val="solid"/>
            <a:round/>
            <a:headEnd type="none" w="sm" len="sm"/>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4" name="Text Box 49"/>
          <p:cNvSpPr txBox="1">
            <a:spLocks noChangeArrowheads="1"/>
          </p:cNvSpPr>
          <p:nvPr/>
        </p:nvSpPr>
        <p:spPr bwMode="auto">
          <a:xfrm>
            <a:off x="4284663" y="5076825"/>
            <a:ext cx="1717675" cy="101600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收下迟到</a:t>
            </a:r>
          </a:p>
          <a:p>
            <a:pPr algn="ctr" eaLnBrk="1" hangingPunct="1"/>
            <a:r>
              <a:rPr lang="zh-CN" altLang="en-US" sz="2000">
                <a:solidFill>
                  <a:schemeClr val="folHlink"/>
                </a:solidFill>
                <a:latin typeface="Arial" pitchFamily="34" charset="0"/>
                <a:ea typeface="黑体" pitchFamily="49" charset="-122"/>
              </a:rPr>
              <a:t>的确认</a:t>
            </a:r>
          </a:p>
          <a:p>
            <a:pPr algn="ctr" eaLnBrk="1" hangingPunct="1"/>
            <a:r>
              <a:rPr lang="zh-CN" altLang="en-US" sz="2000">
                <a:solidFill>
                  <a:schemeClr val="folHlink"/>
                </a:solidFill>
                <a:latin typeface="Arial" pitchFamily="34" charset="0"/>
                <a:ea typeface="黑体" pitchFamily="49" charset="-122"/>
              </a:rPr>
              <a:t>但什么也不做</a:t>
            </a:r>
            <a:endParaRPr lang="zh-CN" altLang="en-US" sz="2000" baseline="-25000">
              <a:solidFill>
                <a:schemeClr val="folHlink"/>
              </a:solidFill>
              <a:latin typeface="Arial" pitchFamily="34" charset="0"/>
              <a:ea typeface="黑体" pitchFamily="49" charset="-122"/>
            </a:endParaRPr>
          </a:p>
        </p:txBody>
      </p:sp>
      <p:sp>
        <p:nvSpPr>
          <p:cNvPr id="43055" name="Rectangle 50"/>
          <p:cNvSpPr>
            <a:spLocks noChangeArrowheads="1"/>
          </p:cNvSpPr>
          <p:nvPr/>
        </p:nvSpPr>
        <p:spPr bwMode="auto">
          <a:xfrm>
            <a:off x="1325563" y="56308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
        <p:nvSpPr>
          <p:cNvPr id="43056" name="Rectangle 51"/>
          <p:cNvSpPr>
            <a:spLocks noChangeArrowheads="1"/>
          </p:cNvSpPr>
          <p:nvPr/>
        </p:nvSpPr>
        <p:spPr bwMode="auto">
          <a:xfrm>
            <a:off x="2625725" y="56308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
        <p:nvSpPr>
          <p:cNvPr id="43057" name="Rectangle 52"/>
          <p:cNvSpPr>
            <a:spLocks noChangeArrowheads="1"/>
          </p:cNvSpPr>
          <p:nvPr/>
        </p:nvSpPr>
        <p:spPr bwMode="auto">
          <a:xfrm>
            <a:off x="6048375" y="56308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
        <p:nvSpPr>
          <p:cNvPr id="43058" name="Rectangle 53"/>
          <p:cNvSpPr>
            <a:spLocks noChangeArrowheads="1"/>
          </p:cNvSpPr>
          <p:nvPr/>
        </p:nvSpPr>
        <p:spPr bwMode="auto">
          <a:xfrm>
            <a:off x="7350125" y="563086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6676CB24-6093-45EC-BF3A-4CC5523CDCEF}" type="slidenum">
              <a:rPr lang="en-US" altLang="zh-CN" sz="1400"/>
              <a:pPr eaLnBrk="1" hangingPunct="1"/>
              <a:t>41</a:t>
            </a:fld>
            <a:endParaRPr lang="en-US" altLang="zh-CN" sz="1400"/>
          </a:p>
        </p:txBody>
      </p:sp>
      <p:sp>
        <p:nvSpPr>
          <p:cNvPr id="44035" name="Rectangle 2"/>
          <p:cNvSpPr>
            <a:spLocks noGrp="1" noChangeArrowheads="1"/>
          </p:cNvSpPr>
          <p:nvPr>
            <p:ph type="title"/>
          </p:nvPr>
        </p:nvSpPr>
        <p:spPr>
          <a:xfrm>
            <a:off x="1150938" y="214313"/>
            <a:ext cx="7453312" cy="1462087"/>
          </a:xfrm>
        </p:spPr>
        <p:txBody>
          <a:bodyPr/>
          <a:lstStyle/>
          <a:p>
            <a:pPr algn="ctr" eaLnBrk="1" hangingPunct="1"/>
            <a:r>
              <a:rPr lang="zh-CN" altLang="en-US" smtClean="0"/>
              <a:t>可靠通信的实现</a:t>
            </a:r>
          </a:p>
        </p:txBody>
      </p:sp>
      <p:sp>
        <p:nvSpPr>
          <p:cNvPr id="44036" name="Rectangle 3"/>
          <p:cNvSpPr>
            <a:spLocks noGrp="1" noChangeArrowheads="1"/>
          </p:cNvSpPr>
          <p:nvPr>
            <p:ph type="body" idx="1"/>
          </p:nvPr>
        </p:nvSpPr>
        <p:spPr>
          <a:xfrm>
            <a:off x="1042988" y="1773238"/>
            <a:ext cx="7772400" cy="4535487"/>
          </a:xfrm>
        </p:spPr>
        <p:txBody>
          <a:bodyPr/>
          <a:lstStyle/>
          <a:p>
            <a:pPr eaLnBrk="1" hangingPunct="1"/>
            <a:r>
              <a:rPr lang="zh-CN" altLang="en-US" smtClean="0"/>
              <a:t>使用上述的确认和重传机制，我们就可以</a:t>
            </a:r>
            <a:r>
              <a:rPr lang="zh-CN" altLang="en-US" smtClean="0">
                <a:solidFill>
                  <a:schemeClr val="hlink"/>
                </a:solidFill>
              </a:rPr>
              <a:t>在不可靠的传输网络上实现可靠的通信</a:t>
            </a:r>
            <a:r>
              <a:rPr lang="zh-CN" altLang="en-US" smtClean="0"/>
              <a:t>。</a:t>
            </a:r>
          </a:p>
          <a:p>
            <a:pPr eaLnBrk="1" hangingPunct="1"/>
            <a:r>
              <a:rPr lang="zh-CN" altLang="en-US" smtClean="0"/>
              <a:t>这种可靠传输协议常称为</a:t>
            </a:r>
            <a:r>
              <a:rPr lang="zh-CN" altLang="en-US" smtClean="0">
                <a:solidFill>
                  <a:schemeClr val="hlink"/>
                </a:solidFill>
              </a:rPr>
              <a:t>自动重传请求</a:t>
            </a:r>
            <a:r>
              <a:rPr lang="en-US" altLang="zh-CN" smtClean="0">
                <a:solidFill>
                  <a:schemeClr val="hlink"/>
                </a:solidFill>
              </a:rPr>
              <a:t>ARQ</a:t>
            </a:r>
            <a:r>
              <a:rPr lang="en-US" altLang="zh-CN" smtClean="0"/>
              <a:t> (Automatic Repeat reQuest)</a:t>
            </a:r>
            <a:r>
              <a:rPr lang="zh-CN" altLang="en-US" smtClean="0"/>
              <a:t>。</a:t>
            </a:r>
          </a:p>
          <a:p>
            <a:pPr eaLnBrk="1" hangingPunct="1"/>
            <a:r>
              <a:rPr lang="en-US" altLang="zh-CN" smtClean="0"/>
              <a:t>ARQ </a:t>
            </a:r>
            <a:r>
              <a:rPr lang="zh-CN" altLang="en-US" smtClean="0"/>
              <a:t>表明重传的请求是</a:t>
            </a:r>
            <a:r>
              <a:rPr lang="zh-CN" altLang="en-US" smtClean="0">
                <a:solidFill>
                  <a:schemeClr val="hlink"/>
                </a:solidFill>
              </a:rPr>
              <a:t>自动</a:t>
            </a:r>
            <a:r>
              <a:rPr lang="zh-CN" altLang="en-US" smtClean="0"/>
              <a:t>进行的。接收方不需要请求发送方重传某个出错的分组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C266A80-AFFD-479E-8D5B-383E3801C28E}" type="slidenum">
              <a:rPr lang="en-US" altLang="zh-CN" sz="1400"/>
              <a:pPr eaLnBrk="1" hangingPunct="1"/>
              <a:t>42</a:t>
            </a:fld>
            <a:endParaRPr lang="en-US" altLang="zh-CN" sz="1400"/>
          </a:p>
        </p:txBody>
      </p:sp>
      <p:sp>
        <p:nvSpPr>
          <p:cNvPr id="45059" name="Rectangle 2"/>
          <p:cNvSpPr>
            <a:spLocks noGrp="1" noChangeArrowheads="1"/>
          </p:cNvSpPr>
          <p:nvPr>
            <p:ph type="title"/>
          </p:nvPr>
        </p:nvSpPr>
        <p:spPr>
          <a:xfrm>
            <a:off x="1150938" y="214313"/>
            <a:ext cx="7237412" cy="1462087"/>
          </a:xfrm>
        </p:spPr>
        <p:txBody>
          <a:bodyPr/>
          <a:lstStyle/>
          <a:p>
            <a:pPr algn="ctr" eaLnBrk="1" hangingPunct="1"/>
            <a:r>
              <a:rPr lang="zh-CN" altLang="en-US" smtClean="0"/>
              <a:t>信道利用率 </a:t>
            </a:r>
          </a:p>
        </p:txBody>
      </p:sp>
      <p:sp>
        <p:nvSpPr>
          <p:cNvPr id="45060" name="Rectangle 3"/>
          <p:cNvSpPr>
            <a:spLocks noGrp="1" noChangeArrowheads="1"/>
          </p:cNvSpPr>
          <p:nvPr>
            <p:ph type="body" idx="1"/>
          </p:nvPr>
        </p:nvSpPr>
        <p:spPr>
          <a:xfrm>
            <a:off x="1042988" y="1890713"/>
            <a:ext cx="7772400" cy="1223962"/>
          </a:xfrm>
        </p:spPr>
        <p:txBody>
          <a:bodyPr/>
          <a:lstStyle/>
          <a:p>
            <a:pPr eaLnBrk="1" hangingPunct="1"/>
            <a:r>
              <a:rPr lang="zh-CN" altLang="en-US" smtClean="0"/>
              <a:t>停止等待协议的优点是简单，但缺点是信道利用率太低。 </a:t>
            </a:r>
          </a:p>
        </p:txBody>
      </p:sp>
      <p:sp>
        <p:nvSpPr>
          <p:cNvPr id="45061" name="Text Box 4"/>
          <p:cNvSpPr txBox="1">
            <a:spLocks noChangeArrowheads="1"/>
          </p:cNvSpPr>
          <p:nvPr/>
        </p:nvSpPr>
        <p:spPr bwMode="auto">
          <a:xfrm>
            <a:off x="755650" y="4602163"/>
            <a:ext cx="51593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i="1">
                <a:solidFill>
                  <a:schemeClr val="folHlink"/>
                </a:solidFill>
                <a:latin typeface="Arial" pitchFamily="34" charset="0"/>
                <a:ea typeface="黑体" pitchFamily="49" charset="-122"/>
              </a:rPr>
              <a:t>T</a:t>
            </a:r>
            <a:r>
              <a:rPr lang="en-US" altLang="zh-CN" sz="2400" i="1" baseline="-25000">
                <a:solidFill>
                  <a:schemeClr val="folHlink"/>
                </a:solidFill>
                <a:latin typeface="Arial" pitchFamily="34" charset="0"/>
                <a:ea typeface="黑体" pitchFamily="49" charset="-122"/>
              </a:rPr>
              <a:t>D</a:t>
            </a:r>
          </a:p>
        </p:txBody>
      </p:sp>
      <p:sp>
        <p:nvSpPr>
          <p:cNvPr id="45062" name="Line 5"/>
          <p:cNvSpPr>
            <a:spLocks noChangeShapeType="1"/>
          </p:cNvSpPr>
          <p:nvPr/>
        </p:nvSpPr>
        <p:spPr bwMode="auto">
          <a:xfrm flipV="1">
            <a:off x="844550" y="4624388"/>
            <a:ext cx="0" cy="793750"/>
          </a:xfrm>
          <a:prstGeom prst="line">
            <a:avLst/>
          </a:prstGeom>
          <a:noFill/>
          <a:ln w="952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3" name="Line 6"/>
          <p:cNvSpPr>
            <a:spLocks noChangeShapeType="1"/>
          </p:cNvSpPr>
          <p:nvPr/>
        </p:nvSpPr>
        <p:spPr bwMode="auto">
          <a:xfrm>
            <a:off x="1217613" y="4686300"/>
            <a:ext cx="0" cy="395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4" name="Line 7"/>
          <p:cNvSpPr>
            <a:spLocks noChangeShapeType="1"/>
          </p:cNvSpPr>
          <p:nvPr/>
        </p:nvSpPr>
        <p:spPr bwMode="auto">
          <a:xfrm>
            <a:off x="4487863" y="4686300"/>
            <a:ext cx="0" cy="395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5" name="Line 8"/>
          <p:cNvSpPr>
            <a:spLocks noChangeShapeType="1"/>
          </p:cNvSpPr>
          <p:nvPr/>
        </p:nvSpPr>
        <p:spPr bwMode="auto">
          <a:xfrm>
            <a:off x="1216025" y="4881563"/>
            <a:ext cx="3270250"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6" name="Text Box 9"/>
          <p:cNvSpPr txBox="1">
            <a:spLocks noChangeArrowheads="1"/>
          </p:cNvSpPr>
          <p:nvPr/>
        </p:nvSpPr>
        <p:spPr bwMode="auto">
          <a:xfrm>
            <a:off x="2406650" y="4625975"/>
            <a:ext cx="77787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RTT</a:t>
            </a:r>
          </a:p>
        </p:txBody>
      </p:sp>
      <p:sp>
        <p:nvSpPr>
          <p:cNvPr id="45067" name="Line 10"/>
          <p:cNvSpPr>
            <a:spLocks noChangeShapeType="1"/>
          </p:cNvSpPr>
          <p:nvPr/>
        </p:nvSpPr>
        <p:spPr bwMode="auto">
          <a:xfrm rot="5400000" flipH="1" flipV="1">
            <a:off x="620713" y="4659313"/>
            <a:ext cx="0" cy="444500"/>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8" name="Text Box 11"/>
          <p:cNvSpPr txBox="1">
            <a:spLocks noChangeArrowheads="1"/>
          </p:cNvSpPr>
          <p:nvPr/>
        </p:nvSpPr>
        <p:spPr bwMode="auto">
          <a:xfrm>
            <a:off x="179388" y="4322763"/>
            <a:ext cx="4206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A</a:t>
            </a:r>
          </a:p>
        </p:txBody>
      </p:sp>
      <p:sp>
        <p:nvSpPr>
          <p:cNvPr id="45069" name="Line 12"/>
          <p:cNvSpPr>
            <a:spLocks noChangeShapeType="1"/>
          </p:cNvSpPr>
          <p:nvPr/>
        </p:nvSpPr>
        <p:spPr bwMode="auto">
          <a:xfrm flipV="1">
            <a:off x="4562475" y="4624388"/>
            <a:ext cx="0" cy="793750"/>
          </a:xfrm>
          <a:prstGeom prst="line">
            <a:avLst/>
          </a:prstGeom>
          <a:noFill/>
          <a:ln w="952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0" name="Line 13"/>
          <p:cNvSpPr>
            <a:spLocks noChangeShapeType="1"/>
          </p:cNvSpPr>
          <p:nvPr/>
        </p:nvSpPr>
        <p:spPr bwMode="auto">
          <a:xfrm>
            <a:off x="844550" y="5280025"/>
            <a:ext cx="3717925"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1" name="Text Box 14"/>
          <p:cNvSpPr txBox="1">
            <a:spLocks noChangeArrowheads="1"/>
          </p:cNvSpPr>
          <p:nvPr/>
        </p:nvSpPr>
        <p:spPr bwMode="auto">
          <a:xfrm>
            <a:off x="1619250" y="5059363"/>
            <a:ext cx="21209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i="1">
                <a:solidFill>
                  <a:schemeClr val="folHlink"/>
                </a:solidFill>
                <a:latin typeface="Arial" pitchFamily="34" charset="0"/>
                <a:ea typeface="黑体" pitchFamily="49" charset="-122"/>
              </a:rPr>
              <a:t>T</a:t>
            </a:r>
            <a:r>
              <a:rPr lang="en-US" altLang="zh-CN" sz="2400" i="1" baseline="-25000">
                <a:solidFill>
                  <a:schemeClr val="folHlink"/>
                </a:solidFill>
                <a:latin typeface="Arial" pitchFamily="34" charset="0"/>
                <a:ea typeface="黑体" pitchFamily="49" charset="-122"/>
              </a:rPr>
              <a:t>D</a:t>
            </a:r>
            <a:r>
              <a:rPr lang="en-US" altLang="zh-CN" sz="2400">
                <a:solidFill>
                  <a:schemeClr val="folHlink"/>
                </a:solidFill>
                <a:latin typeface="Arial" pitchFamily="34" charset="0"/>
                <a:ea typeface="黑体" pitchFamily="49" charset="-122"/>
              </a:rPr>
              <a:t> + RTT + </a:t>
            </a:r>
            <a:r>
              <a:rPr lang="en-US" altLang="zh-CN" sz="2400" i="1">
                <a:solidFill>
                  <a:schemeClr val="folHlink"/>
                </a:solidFill>
                <a:latin typeface="Arial" pitchFamily="34" charset="0"/>
                <a:ea typeface="黑体" pitchFamily="49" charset="-122"/>
              </a:rPr>
              <a:t>T</a:t>
            </a:r>
            <a:r>
              <a:rPr lang="en-US" altLang="zh-CN" sz="2400" i="1" baseline="-25000">
                <a:solidFill>
                  <a:schemeClr val="folHlink"/>
                </a:solidFill>
                <a:latin typeface="Arial" pitchFamily="34" charset="0"/>
                <a:ea typeface="黑体" pitchFamily="49" charset="-122"/>
              </a:rPr>
              <a:t>A</a:t>
            </a:r>
          </a:p>
        </p:txBody>
      </p:sp>
      <p:sp>
        <p:nvSpPr>
          <p:cNvPr id="45072" name="Freeform 15"/>
          <p:cNvSpPr>
            <a:spLocks/>
          </p:cNvSpPr>
          <p:nvPr/>
        </p:nvSpPr>
        <p:spPr bwMode="auto">
          <a:xfrm>
            <a:off x="2852738" y="3175000"/>
            <a:ext cx="1695450" cy="1449388"/>
          </a:xfrm>
          <a:custGeom>
            <a:avLst/>
            <a:gdLst>
              <a:gd name="T0" fmla="*/ 0 w 1035"/>
              <a:gd name="T1" fmla="*/ 3985 h 1091"/>
              <a:gd name="T2" fmla="*/ 1634840 w 1035"/>
              <a:gd name="T3" fmla="*/ 1449388 h 1091"/>
              <a:gd name="T4" fmla="*/ 1695450 w 1035"/>
              <a:gd name="T5" fmla="*/ 1438760 h 1091"/>
              <a:gd name="T6" fmla="*/ 73715 w 1035"/>
              <a:gd name="T7" fmla="*/ 0 h 1091"/>
              <a:gd name="T8" fmla="*/ 0 w 1035"/>
              <a:gd name="T9" fmla="*/ 3985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5" h="1091">
                <a:moveTo>
                  <a:pt x="0" y="3"/>
                </a:moveTo>
                <a:lnTo>
                  <a:pt x="998" y="1091"/>
                </a:lnTo>
                <a:lnTo>
                  <a:pt x="1035" y="1083"/>
                </a:lnTo>
                <a:lnTo>
                  <a:pt x="45" y="0"/>
                </a:lnTo>
                <a:lnTo>
                  <a:pt x="0" y="3"/>
                </a:lnTo>
                <a:close/>
              </a:path>
            </a:pathLst>
          </a:custGeom>
          <a:solidFill>
            <a:schemeClr val="folHlink"/>
          </a:solidFill>
          <a:ln>
            <a:noFill/>
          </a:ln>
          <a:effectLst/>
          <a:extLst>
            <a:ext uri="{91240B29-F687-4F45-9708-019B960494DF}">
              <a14:hiddenLine xmlns:a14="http://schemas.microsoft.com/office/drawing/2010/main" w="9525" cap="flat" cmpd="sng">
                <a:solidFill>
                  <a:schemeClr val="tx1"/>
                </a:solidFill>
                <a:prstDash val="solid"/>
                <a:round/>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3" name="Freeform 16"/>
          <p:cNvSpPr>
            <a:spLocks/>
          </p:cNvSpPr>
          <p:nvPr/>
        </p:nvSpPr>
        <p:spPr bwMode="auto">
          <a:xfrm>
            <a:off x="844550" y="3175000"/>
            <a:ext cx="1998663" cy="1449388"/>
          </a:xfrm>
          <a:custGeom>
            <a:avLst/>
            <a:gdLst>
              <a:gd name="T0" fmla="*/ 0 w 1218"/>
              <a:gd name="T1" fmla="*/ 1449388 h 1091"/>
              <a:gd name="T2" fmla="*/ 1636016 w 1218"/>
              <a:gd name="T3" fmla="*/ 3985 h 1091"/>
              <a:gd name="T4" fmla="*/ 1998663 w 1218"/>
              <a:gd name="T5" fmla="*/ 0 h 1091"/>
              <a:gd name="T6" fmla="*/ 369211 w 1218"/>
              <a:gd name="T7" fmla="*/ 1442746 h 1091"/>
              <a:gd name="T8" fmla="*/ 0 w 1218"/>
              <a:gd name="T9" fmla="*/ 1449388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8" h="1091">
                <a:moveTo>
                  <a:pt x="0" y="1091"/>
                </a:moveTo>
                <a:lnTo>
                  <a:pt x="997" y="3"/>
                </a:lnTo>
                <a:lnTo>
                  <a:pt x="1218" y="0"/>
                </a:lnTo>
                <a:lnTo>
                  <a:pt x="225" y="1086"/>
                </a:lnTo>
                <a:lnTo>
                  <a:pt x="0" y="1091"/>
                </a:lnTo>
                <a:close/>
              </a:path>
            </a:pathLst>
          </a:custGeom>
          <a:solidFill>
            <a:schemeClr val="hlink"/>
          </a:solidFill>
          <a:ln>
            <a:noFill/>
          </a:ln>
          <a:effectLst/>
          <a:extLst>
            <a:ext uri="{91240B29-F687-4F45-9708-019B960494DF}">
              <a14:hiddenLine xmlns:a14="http://schemas.microsoft.com/office/drawing/2010/main" w="9525" cap="flat" cmpd="sng">
                <a:solidFill>
                  <a:schemeClr val="tx1"/>
                </a:solidFill>
                <a:prstDash val="solid"/>
                <a:round/>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4" name="Text Box 17"/>
          <p:cNvSpPr txBox="1">
            <a:spLocks noChangeArrowheads="1"/>
          </p:cNvSpPr>
          <p:nvPr/>
        </p:nvSpPr>
        <p:spPr bwMode="auto">
          <a:xfrm>
            <a:off x="193675" y="2901950"/>
            <a:ext cx="4206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B</a:t>
            </a:r>
          </a:p>
        </p:txBody>
      </p:sp>
      <p:sp>
        <p:nvSpPr>
          <p:cNvPr id="45075" name="Line 18"/>
          <p:cNvSpPr>
            <a:spLocks noChangeShapeType="1"/>
          </p:cNvSpPr>
          <p:nvPr/>
        </p:nvSpPr>
        <p:spPr bwMode="auto">
          <a:xfrm flipV="1">
            <a:off x="844550" y="3178175"/>
            <a:ext cx="1635125" cy="1446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6" name="Line 19"/>
          <p:cNvSpPr>
            <a:spLocks noChangeShapeType="1"/>
          </p:cNvSpPr>
          <p:nvPr/>
        </p:nvSpPr>
        <p:spPr bwMode="auto">
          <a:xfrm flipV="1">
            <a:off x="1216025" y="3178175"/>
            <a:ext cx="1633538" cy="1446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7" name="Line 20"/>
          <p:cNvSpPr>
            <a:spLocks noChangeShapeType="1"/>
          </p:cNvSpPr>
          <p:nvPr/>
        </p:nvSpPr>
        <p:spPr bwMode="auto">
          <a:xfrm flipH="1" flipV="1">
            <a:off x="2852738" y="3178175"/>
            <a:ext cx="1633537" cy="1446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8" name="Line 21"/>
          <p:cNvSpPr>
            <a:spLocks noChangeShapeType="1"/>
          </p:cNvSpPr>
          <p:nvPr/>
        </p:nvSpPr>
        <p:spPr bwMode="auto">
          <a:xfrm flipH="1" flipV="1">
            <a:off x="2925763" y="3178175"/>
            <a:ext cx="1636712" cy="1446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9" name="Text Box 22"/>
          <p:cNvSpPr txBox="1">
            <a:spLocks noChangeArrowheads="1"/>
          </p:cNvSpPr>
          <p:nvPr/>
        </p:nvSpPr>
        <p:spPr bwMode="auto">
          <a:xfrm rot="-2468030">
            <a:off x="827088" y="3736975"/>
            <a:ext cx="7937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分组</a:t>
            </a:r>
          </a:p>
        </p:txBody>
      </p:sp>
      <p:sp>
        <p:nvSpPr>
          <p:cNvPr id="45080" name="Text Box 23"/>
          <p:cNvSpPr txBox="1">
            <a:spLocks noChangeArrowheads="1"/>
          </p:cNvSpPr>
          <p:nvPr/>
        </p:nvSpPr>
        <p:spPr bwMode="auto">
          <a:xfrm rot="2307784">
            <a:off x="3311525" y="3351213"/>
            <a:ext cx="7937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确认</a:t>
            </a:r>
          </a:p>
        </p:txBody>
      </p:sp>
      <p:sp>
        <p:nvSpPr>
          <p:cNvPr id="45081" name="Text Box 24"/>
          <p:cNvSpPr txBox="1">
            <a:spLocks noChangeArrowheads="1"/>
          </p:cNvSpPr>
          <p:nvPr/>
        </p:nvSpPr>
        <p:spPr bwMode="auto">
          <a:xfrm>
            <a:off x="8504238" y="290036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i="1">
                <a:solidFill>
                  <a:schemeClr val="folHlink"/>
                </a:solidFill>
                <a:latin typeface="Arial" pitchFamily="34" charset="0"/>
                <a:ea typeface="黑体" pitchFamily="49" charset="-122"/>
              </a:rPr>
              <a:t>t</a:t>
            </a:r>
          </a:p>
        </p:txBody>
      </p:sp>
      <p:sp>
        <p:nvSpPr>
          <p:cNvPr id="45082" name="Text Box 25"/>
          <p:cNvSpPr txBox="1">
            <a:spLocks noChangeArrowheads="1"/>
          </p:cNvSpPr>
          <p:nvPr/>
        </p:nvSpPr>
        <p:spPr bwMode="auto">
          <a:xfrm>
            <a:off x="8504238" y="430688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i="1">
                <a:solidFill>
                  <a:schemeClr val="folHlink"/>
                </a:solidFill>
                <a:latin typeface="Arial" pitchFamily="34" charset="0"/>
                <a:ea typeface="黑体" pitchFamily="49" charset="-122"/>
              </a:rPr>
              <a:t>t</a:t>
            </a:r>
          </a:p>
        </p:txBody>
      </p:sp>
      <p:sp>
        <p:nvSpPr>
          <p:cNvPr id="45083" name="Line 26"/>
          <p:cNvSpPr>
            <a:spLocks noChangeShapeType="1"/>
          </p:cNvSpPr>
          <p:nvPr/>
        </p:nvSpPr>
        <p:spPr bwMode="auto">
          <a:xfrm>
            <a:off x="3967163" y="3902075"/>
            <a:ext cx="284162" cy="247650"/>
          </a:xfrm>
          <a:prstGeom prst="line">
            <a:avLst/>
          </a:prstGeom>
          <a:noFill/>
          <a:ln w="28575">
            <a:solidFill>
              <a:schemeClr val="folHlink"/>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4" name="Line 27"/>
          <p:cNvSpPr>
            <a:spLocks noChangeShapeType="1"/>
          </p:cNvSpPr>
          <p:nvPr/>
        </p:nvSpPr>
        <p:spPr bwMode="auto">
          <a:xfrm rot="-5705339">
            <a:off x="1612107" y="3521869"/>
            <a:ext cx="230187" cy="307975"/>
          </a:xfrm>
          <a:prstGeom prst="line">
            <a:avLst/>
          </a:prstGeom>
          <a:noFill/>
          <a:ln w="28575">
            <a:solidFill>
              <a:schemeClr val="folHlink"/>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5" name="Freeform 28"/>
          <p:cNvSpPr>
            <a:spLocks/>
          </p:cNvSpPr>
          <p:nvPr/>
        </p:nvSpPr>
        <p:spPr bwMode="auto">
          <a:xfrm>
            <a:off x="6600825" y="3178175"/>
            <a:ext cx="1695450" cy="1450975"/>
          </a:xfrm>
          <a:custGeom>
            <a:avLst/>
            <a:gdLst>
              <a:gd name="T0" fmla="*/ 0 w 1035"/>
              <a:gd name="T1" fmla="*/ 3990 h 1091"/>
              <a:gd name="T2" fmla="*/ 1634840 w 1035"/>
              <a:gd name="T3" fmla="*/ 1450975 h 1091"/>
              <a:gd name="T4" fmla="*/ 1695450 w 1035"/>
              <a:gd name="T5" fmla="*/ 1440335 h 1091"/>
              <a:gd name="T6" fmla="*/ 73715 w 1035"/>
              <a:gd name="T7" fmla="*/ 0 h 1091"/>
              <a:gd name="T8" fmla="*/ 0 w 1035"/>
              <a:gd name="T9" fmla="*/ 3990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5" h="1091">
                <a:moveTo>
                  <a:pt x="0" y="3"/>
                </a:moveTo>
                <a:lnTo>
                  <a:pt x="998" y="1091"/>
                </a:lnTo>
                <a:lnTo>
                  <a:pt x="1035" y="1083"/>
                </a:lnTo>
                <a:lnTo>
                  <a:pt x="45" y="0"/>
                </a:lnTo>
                <a:lnTo>
                  <a:pt x="0" y="3"/>
                </a:lnTo>
                <a:close/>
              </a:path>
            </a:pathLst>
          </a:custGeom>
          <a:solidFill>
            <a:schemeClr val="folHlink"/>
          </a:solidFill>
          <a:ln>
            <a:noFill/>
          </a:ln>
          <a:effectLst/>
          <a:extLst>
            <a:ext uri="{91240B29-F687-4F45-9708-019B960494DF}">
              <a14:hiddenLine xmlns:a14="http://schemas.microsoft.com/office/drawing/2010/main" w="9525" cap="flat" cmpd="sng">
                <a:solidFill>
                  <a:schemeClr val="tx1"/>
                </a:solidFill>
                <a:prstDash val="solid"/>
                <a:round/>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6" name="Freeform 29"/>
          <p:cNvSpPr>
            <a:spLocks/>
          </p:cNvSpPr>
          <p:nvPr/>
        </p:nvSpPr>
        <p:spPr bwMode="auto">
          <a:xfrm>
            <a:off x="4592638" y="3178175"/>
            <a:ext cx="1998662" cy="1450975"/>
          </a:xfrm>
          <a:custGeom>
            <a:avLst/>
            <a:gdLst>
              <a:gd name="T0" fmla="*/ 0 w 1218"/>
              <a:gd name="T1" fmla="*/ 1450975 h 1091"/>
              <a:gd name="T2" fmla="*/ 1636015 w 1218"/>
              <a:gd name="T3" fmla="*/ 3990 h 1091"/>
              <a:gd name="T4" fmla="*/ 1998662 w 1218"/>
              <a:gd name="T5" fmla="*/ 0 h 1091"/>
              <a:gd name="T6" fmla="*/ 369211 w 1218"/>
              <a:gd name="T7" fmla="*/ 1444325 h 1091"/>
              <a:gd name="T8" fmla="*/ 0 w 1218"/>
              <a:gd name="T9" fmla="*/ 1450975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8" h="1091">
                <a:moveTo>
                  <a:pt x="0" y="1091"/>
                </a:moveTo>
                <a:lnTo>
                  <a:pt x="997" y="3"/>
                </a:lnTo>
                <a:lnTo>
                  <a:pt x="1218" y="0"/>
                </a:lnTo>
                <a:lnTo>
                  <a:pt x="225" y="1086"/>
                </a:lnTo>
                <a:lnTo>
                  <a:pt x="0" y="1091"/>
                </a:lnTo>
                <a:close/>
              </a:path>
            </a:pathLst>
          </a:custGeom>
          <a:solidFill>
            <a:schemeClr val="hlink"/>
          </a:solidFill>
          <a:ln>
            <a:noFill/>
          </a:ln>
          <a:effectLst/>
          <a:extLst>
            <a:ext uri="{91240B29-F687-4F45-9708-019B960494DF}">
              <a14:hiddenLine xmlns:a14="http://schemas.microsoft.com/office/drawing/2010/main" w="9525" cap="flat" cmpd="sng">
                <a:solidFill>
                  <a:schemeClr val="tx1"/>
                </a:solidFill>
                <a:prstDash val="solid"/>
                <a:round/>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7" name="Line 30"/>
          <p:cNvSpPr>
            <a:spLocks noChangeShapeType="1"/>
          </p:cNvSpPr>
          <p:nvPr/>
        </p:nvSpPr>
        <p:spPr bwMode="auto">
          <a:xfrm flipV="1">
            <a:off x="4592638" y="3182938"/>
            <a:ext cx="1635125" cy="1446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8" name="Line 31"/>
          <p:cNvSpPr>
            <a:spLocks noChangeShapeType="1"/>
          </p:cNvSpPr>
          <p:nvPr/>
        </p:nvSpPr>
        <p:spPr bwMode="auto">
          <a:xfrm flipV="1">
            <a:off x="4964113" y="3182938"/>
            <a:ext cx="1633537" cy="1446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9" name="Line 32"/>
          <p:cNvSpPr>
            <a:spLocks noChangeShapeType="1"/>
          </p:cNvSpPr>
          <p:nvPr/>
        </p:nvSpPr>
        <p:spPr bwMode="auto">
          <a:xfrm flipH="1" flipV="1">
            <a:off x="6600825" y="3182938"/>
            <a:ext cx="1633538" cy="1446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0" name="Line 33"/>
          <p:cNvSpPr>
            <a:spLocks noChangeShapeType="1"/>
          </p:cNvSpPr>
          <p:nvPr/>
        </p:nvSpPr>
        <p:spPr bwMode="auto">
          <a:xfrm flipH="1" flipV="1">
            <a:off x="6675438" y="3182938"/>
            <a:ext cx="1635125" cy="1446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1" name="Text Box 34"/>
          <p:cNvSpPr txBox="1">
            <a:spLocks noChangeArrowheads="1"/>
          </p:cNvSpPr>
          <p:nvPr/>
        </p:nvSpPr>
        <p:spPr bwMode="auto">
          <a:xfrm rot="-2555241">
            <a:off x="4500563" y="3811588"/>
            <a:ext cx="792162" cy="455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分组</a:t>
            </a:r>
          </a:p>
        </p:txBody>
      </p:sp>
      <p:sp>
        <p:nvSpPr>
          <p:cNvPr id="45092" name="Line 35"/>
          <p:cNvSpPr>
            <a:spLocks noChangeShapeType="1"/>
          </p:cNvSpPr>
          <p:nvPr/>
        </p:nvSpPr>
        <p:spPr bwMode="auto">
          <a:xfrm rot="-5705339">
            <a:off x="5313363" y="3556000"/>
            <a:ext cx="230188" cy="306387"/>
          </a:xfrm>
          <a:prstGeom prst="line">
            <a:avLst/>
          </a:prstGeom>
          <a:noFill/>
          <a:ln w="28575">
            <a:solidFill>
              <a:schemeClr val="folHlink"/>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3" name="Text Box 36"/>
          <p:cNvSpPr txBox="1">
            <a:spLocks noChangeArrowheads="1"/>
          </p:cNvSpPr>
          <p:nvPr/>
        </p:nvSpPr>
        <p:spPr bwMode="auto">
          <a:xfrm rot="2510398">
            <a:off x="7145338" y="3425825"/>
            <a:ext cx="7937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确认</a:t>
            </a:r>
          </a:p>
        </p:txBody>
      </p:sp>
      <p:sp>
        <p:nvSpPr>
          <p:cNvPr id="45094" name="Line 37"/>
          <p:cNvSpPr>
            <a:spLocks noChangeShapeType="1"/>
          </p:cNvSpPr>
          <p:nvPr/>
        </p:nvSpPr>
        <p:spPr bwMode="auto">
          <a:xfrm>
            <a:off x="7766050" y="3941763"/>
            <a:ext cx="284163" cy="247650"/>
          </a:xfrm>
          <a:prstGeom prst="line">
            <a:avLst/>
          </a:prstGeom>
          <a:noFill/>
          <a:ln w="28575">
            <a:solidFill>
              <a:schemeClr val="folHlink"/>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5" name="Line 38"/>
          <p:cNvSpPr>
            <a:spLocks noChangeShapeType="1"/>
          </p:cNvSpPr>
          <p:nvPr/>
        </p:nvSpPr>
        <p:spPr bwMode="auto">
          <a:xfrm>
            <a:off x="619125" y="3178175"/>
            <a:ext cx="7913688" cy="0"/>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6" name="Line 39"/>
          <p:cNvSpPr>
            <a:spLocks noChangeShapeType="1"/>
          </p:cNvSpPr>
          <p:nvPr/>
        </p:nvSpPr>
        <p:spPr bwMode="auto">
          <a:xfrm>
            <a:off x="619125" y="4624388"/>
            <a:ext cx="7913688" cy="0"/>
          </a:xfrm>
          <a:prstGeom prst="line">
            <a:avLst/>
          </a:prstGeom>
          <a:noFill/>
          <a:ln w="9525">
            <a:solidFill>
              <a:schemeClr val="fo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F452132-9499-4679-A204-5731B5543847}" type="slidenum">
              <a:rPr lang="en-US" altLang="zh-CN" sz="1400"/>
              <a:pPr eaLnBrk="1" hangingPunct="1"/>
              <a:t>43</a:t>
            </a:fld>
            <a:endParaRPr lang="en-US" altLang="zh-CN" sz="1400"/>
          </a:p>
        </p:txBody>
      </p:sp>
      <p:sp>
        <p:nvSpPr>
          <p:cNvPr id="46083" name="Rectangle 2"/>
          <p:cNvSpPr>
            <a:spLocks noGrp="1" noChangeArrowheads="1"/>
          </p:cNvSpPr>
          <p:nvPr>
            <p:ph type="title"/>
          </p:nvPr>
        </p:nvSpPr>
        <p:spPr>
          <a:xfrm>
            <a:off x="1150938" y="214313"/>
            <a:ext cx="7381875" cy="1462087"/>
          </a:xfrm>
        </p:spPr>
        <p:txBody>
          <a:bodyPr/>
          <a:lstStyle/>
          <a:p>
            <a:pPr algn="ctr" eaLnBrk="1" hangingPunct="1"/>
            <a:r>
              <a:rPr lang="zh-CN" altLang="en-US" smtClean="0"/>
              <a:t>信道的利用率 </a:t>
            </a:r>
            <a:r>
              <a:rPr lang="en-US" altLang="zh-CN" i="1" smtClean="0"/>
              <a:t>U</a:t>
            </a:r>
            <a:r>
              <a:rPr lang="en-US" altLang="zh-CN" smtClean="0"/>
              <a:t> </a:t>
            </a:r>
          </a:p>
        </p:txBody>
      </p:sp>
      <p:sp>
        <p:nvSpPr>
          <p:cNvPr id="46084" name="Rectangle 5"/>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46085" name="Object 4"/>
          <p:cNvGraphicFramePr>
            <a:graphicFrameLocks noChangeAspect="1"/>
          </p:cNvGraphicFramePr>
          <p:nvPr/>
        </p:nvGraphicFramePr>
        <p:xfrm>
          <a:off x="2592388" y="2565400"/>
          <a:ext cx="3203575" cy="1114425"/>
        </p:xfrm>
        <a:graphic>
          <a:graphicData uri="http://schemas.openxmlformats.org/presentationml/2006/ole">
            <mc:AlternateContent xmlns:mc="http://schemas.openxmlformats.org/markup-compatibility/2006">
              <mc:Choice xmlns:v="urn:schemas-microsoft-com:vml" Requires="v">
                <p:oleObj spid="_x0000_s46088" name="公式" r:id="rId4" imgW="1091726" imgH="380835" progId="Equation.3">
                  <p:embed/>
                </p:oleObj>
              </mc:Choice>
              <mc:Fallback>
                <p:oleObj name="公式" r:id="rId4" imgW="1091726" imgH="38083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2388" y="2565400"/>
                        <a:ext cx="32035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6" name="Text Box 6"/>
          <p:cNvSpPr txBox="1">
            <a:spLocks noChangeArrowheads="1"/>
          </p:cNvSpPr>
          <p:nvPr/>
        </p:nvSpPr>
        <p:spPr bwMode="auto">
          <a:xfrm>
            <a:off x="7288213" y="2916238"/>
            <a:ext cx="10398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200">
                <a:solidFill>
                  <a:schemeClr val="folHlink"/>
                </a:solidFill>
                <a:latin typeface="Arial" pitchFamily="34" charset="0"/>
              </a:rPr>
              <a:t>(5-3)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254874F-CD5F-499E-A4B3-2FFB177BA1B5}" type="slidenum">
              <a:rPr lang="en-US" altLang="zh-CN" sz="1400"/>
              <a:pPr eaLnBrk="1" hangingPunct="1"/>
              <a:t>44</a:t>
            </a:fld>
            <a:endParaRPr lang="en-US" altLang="zh-CN" sz="1400"/>
          </a:p>
        </p:txBody>
      </p:sp>
      <p:sp>
        <p:nvSpPr>
          <p:cNvPr id="47107" name="Rectangle 2"/>
          <p:cNvSpPr>
            <a:spLocks noGrp="1" noChangeArrowheads="1"/>
          </p:cNvSpPr>
          <p:nvPr>
            <p:ph type="title"/>
          </p:nvPr>
        </p:nvSpPr>
        <p:spPr/>
        <p:txBody>
          <a:bodyPr/>
          <a:lstStyle/>
          <a:p>
            <a:pPr algn="ctr" eaLnBrk="1" hangingPunct="1"/>
            <a:r>
              <a:rPr lang="zh-CN" altLang="en-US" smtClean="0"/>
              <a:t>流水线传输 </a:t>
            </a:r>
          </a:p>
        </p:txBody>
      </p:sp>
      <p:sp>
        <p:nvSpPr>
          <p:cNvPr id="47108" name="Rectangle 3"/>
          <p:cNvSpPr>
            <a:spLocks noGrp="1" noChangeArrowheads="1"/>
          </p:cNvSpPr>
          <p:nvPr>
            <p:ph type="body" idx="1"/>
          </p:nvPr>
        </p:nvSpPr>
        <p:spPr>
          <a:xfrm>
            <a:off x="755650" y="1773238"/>
            <a:ext cx="8059738" cy="2087562"/>
          </a:xfrm>
        </p:spPr>
        <p:txBody>
          <a:bodyPr/>
          <a:lstStyle/>
          <a:p>
            <a:pPr eaLnBrk="1" hangingPunct="1"/>
            <a:r>
              <a:rPr lang="zh-CN" altLang="en-US" sz="2800" smtClean="0"/>
              <a:t>发送方可</a:t>
            </a:r>
            <a:r>
              <a:rPr lang="zh-CN" altLang="en-US" sz="2800" smtClean="0">
                <a:solidFill>
                  <a:schemeClr val="hlink"/>
                </a:solidFill>
              </a:rPr>
              <a:t>连续发送</a:t>
            </a:r>
            <a:r>
              <a:rPr lang="zh-CN" altLang="en-US" sz="2800" smtClean="0"/>
              <a:t>多个分组，不必每发完一个分组就停顿下来等待对方的确认。</a:t>
            </a:r>
          </a:p>
          <a:p>
            <a:pPr eaLnBrk="1" hangingPunct="1"/>
            <a:r>
              <a:rPr lang="zh-CN" altLang="en-US" sz="2800" smtClean="0"/>
              <a:t>由于信道上一直有数据不间断地传送，这种传输方式可获得很高的信道利用率。 </a:t>
            </a:r>
          </a:p>
        </p:txBody>
      </p:sp>
      <p:sp>
        <p:nvSpPr>
          <p:cNvPr id="47109" name="Freeform 4"/>
          <p:cNvSpPr>
            <a:spLocks/>
          </p:cNvSpPr>
          <p:nvPr/>
        </p:nvSpPr>
        <p:spPr bwMode="auto">
          <a:xfrm>
            <a:off x="788988" y="3994150"/>
            <a:ext cx="7015162" cy="1627188"/>
          </a:xfrm>
          <a:custGeom>
            <a:avLst/>
            <a:gdLst>
              <a:gd name="T0" fmla="*/ 0 w 4131"/>
              <a:gd name="T1" fmla="*/ 1627188 h 1088"/>
              <a:gd name="T2" fmla="*/ 1676099 w 4131"/>
              <a:gd name="T3" fmla="*/ 0 h 1088"/>
              <a:gd name="T4" fmla="*/ 7015162 w 4131"/>
              <a:gd name="T5" fmla="*/ 8973 h 1088"/>
              <a:gd name="T6" fmla="*/ 5374725 w 4131"/>
              <a:gd name="T7" fmla="*/ 1615223 h 1088"/>
              <a:gd name="T8" fmla="*/ 0 w 4131"/>
              <a:gd name="T9" fmla="*/ 1627188 h 10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1" h="1088">
                <a:moveTo>
                  <a:pt x="0" y="1088"/>
                </a:moveTo>
                <a:lnTo>
                  <a:pt x="987" y="0"/>
                </a:lnTo>
                <a:lnTo>
                  <a:pt x="4131" y="6"/>
                </a:lnTo>
                <a:lnTo>
                  <a:pt x="3165" y="1080"/>
                </a:lnTo>
                <a:lnTo>
                  <a:pt x="0" y="1088"/>
                </a:lnTo>
                <a:close/>
              </a:path>
            </a:pathLst>
          </a:custGeom>
          <a:solidFill>
            <a:srgbClr val="FF99CC"/>
          </a:solidFill>
          <a:ln>
            <a:noFill/>
          </a:ln>
          <a:effectLst/>
          <a:extLst>
            <a:ext uri="{91240B29-F687-4F45-9708-019B960494DF}">
              <a14:hiddenLine xmlns:a14="http://schemas.microsoft.com/office/drawing/2010/main" w="9525" cap="flat" cmpd="sng">
                <a:solidFill>
                  <a:schemeClr val="tx1"/>
                </a:solidFill>
                <a:prstDash val="solid"/>
                <a:round/>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0" name="Line 5"/>
          <p:cNvSpPr>
            <a:spLocks noChangeShapeType="1"/>
          </p:cNvSpPr>
          <p:nvPr/>
        </p:nvSpPr>
        <p:spPr bwMode="auto">
          <a:xfrm>
            <a:off x="514350" y="5621338"/>
            <a:ext cx="8197850"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1" name="Line 6"/>
          <p:cNvSpPr>
            <a:spLocks noChangeShapeType="1"/>
          </p:cNvSpPr>
          <p:nvPr/>
        </p:nvSpPr>
        <p:spPr bwMode="auto">
          <a:xfrm>
            <a:off x="514350" y="3994150"/>
            <a:ext cx="8197850"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2" name="Text Box 7"/>
          <p:cNvSpPr txBox="1">
            <a:spLocks noChangeArrowheads="1"/>
          </p:cNvSpPr>
          <p:nvPr/>
        </p:nvSpPr>
        <p:spPr bwMode="auto">
          <a:xfrm>
            <a:off x="152400" y="371633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B</a:t>
            </a:r>
          </a:p>
        </p:txBody>
      </p:sp>
      <p:sp>
        <p:nvSpPr>
          <p:cNvPr id="47113" name="Line 8"/>
          <p:cNvSpPr>
            <a:spLocks noChangeShapeType="1"/>
          </p:cNvSpPr>
          <p:nvPr/>
        </p:nvSpPr>
        <p:spPr bwMode="auto">
          <a:xfrm flipV="1">
            <a:off x="777875" y="3994150"/>
            <a:ext cx="1693863"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4" name="Line 9"/>
          <p:cNvSpPr>
            <a:spLocks noChangeShapeType="1"/>
          </p:cNvSpPr>
          <p:nvPr/>
        </p:nvSpPr>
        <p:spPr bwMode="auto">
          <a:xfrm flipV="1">
            <a:off x="1165225" y="3994150"/>
            <a:ext cx="1692275"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5" name="Text Box 10"/>
          <p:cNvSpPr txBox="1">
            <a:spLocks noChangeArrowheads="1"/>
          </p:cNvSpPr>
          <p:nvPr/>
        </p:nvSpPr>
        <p:spPr bwMode="auto">
          <a:xfrm rot="-2681777">
            <a:off x="755650" y="4652963"/>
            <a:ext cx="793750" cy="4587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分组</a:t>
            </a:r>
          </a:p>
        </p:txBody>
      </p:sp>
      <p:sp>
        <p:nvSpPr>
          <p:cNvPr id="47116" name="Text Box 11"/>
          <p:cNvSpPr txBox="1">
            <a:spLocks noChangeArrowheads="1"/>
          </p:cNvSpPr>
          <p:nvPr/>
        </p:nvSpPr>
        <p:spPr bwMode="auto">
          <a:xfrm>
            <a:off x="8691563" y="3690938"/>
            <a:ext cx="266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i="1">
                <a:solidFill>
                  <a:schemeClr val="folHlink"/>
                </a:solidFill>
                <a:latin typeface="Arial" pitchFamily="34" charset="0"/>
                <a:ea typeface="黑体" pitchFamily="49" charset="-122"/>
              </a:rPr>
              <a:t>t</a:t>
            </a:r>
          </a:p>
        </p:txBody>
      </p:sp>
      <p:sp>
        <p:nvSpPr>
          <p:cNvPr id="47117" name="Text Box 12"/>
          <p:cNvSpPr txBox="1">
            <a:spLocks noChangeArrowheads="1"/>
          </p:cNvSpPr>
          <p:nvPr/>
        </p:nvSpPr>
        <p:spPr bwMode="auto">
          <a:xfrm>
            <a:off x="8691563" y="5276850"/>
            <a:ext cx="268287"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i="1">
                <a:solidFill>
                  <a:schemeClr val="folHlink"/>
                </a:solidFill>
                <a:latin typeface="Arial" pitchFamily="34" charset="0"/>
                <a:ea typeface="黑体" pitchFamily="49" charset="-122"/>
              </a:rPr>
              <a:t>t</a:t>
            </a:r>
          </a:p>
        </p:txBody>
      </p:sp>
      <p:sp>
        <p:nvSpPr>
          <p:cNvPr id="47118" name="Text Box 13"/>
          <p:cNvSpPr txBox="1">
            <a:spLocks noChangeArrowheads="1"/>
          </p:cNvSpPr>
          <p:nvPr/>
        </p:nvSpPr>
        <p:spPr bwMode="auto">
          <a:xfrm>
            <a:off x="138113" y="5330825"/>
            <a:ext cx="385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A</a:t>
            </a:r>
          </a:p>
        </p:txBody>
      </p:sp>
      <p:sp>
        <p:nvSpPr>
          <p:cNvPr id="47119" name="Line 14"/>
          <p:cNvSpPr>
            <a:spLocks noChangeShapeType="1"/>
          </p:cNvSpPr>
          <p:nvPr/>
        </p:nvSpPr>
        <p:spPr bwMode="auto">
          <a:xfrm rot="-5705339">
            <a:off x="1504950" y="4257676"/>
            <a:ext cx="350837" cy="461962"/>
          </a:xfrm>
          <a:prstGeom prst="line">
            <a:avLst/>
          </a:prstGeom>
          <a:noFill/>
          <a:ln w="57150">
            <a:solidFill>
              <a:schemeClr val="hlink"/>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0" name="Line 15"/>
          <p:cNvSpPr>
            <a:spLocks noChangeShapeType="1"/>
          </p:cNvSpPr>
          <p:nvPr/>
        </p:nvSpPr>
        <p:spPr bwMode="auto">
          <a:xfrm flipV="1">
            <a:off x="1547813" y="3998913"/>
            <a:ext cx="1693862" cy="1627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1" name="Line 16"/>
          <p:cNvSpPr>
            <a:spLocks noChangeShapeType="1"/>
          </p:cNvSpPr>
          <p:nvPr/>
        </p:nvSpPr>
        <p:spPr bwMode="auto">
          <a:xfrm flipV="1">
            <a:off x="5014913" y="3998913"/>
            <a:ext cx="1693862" cy="1627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2" name="Line 17"/>
          <p:cNvSpPr>
            <a:spLocks noChangeShapeType="1"/>
          </p:cNvSpPr>
          <p:nvPr/>
        </p:nvSpPr>
        <p:spPr bwMode="auto">
          <a:xfrm flipH="1" flipV="1">
            <a:off x="2859088" y="3998913"/>
            <a:ext cx="1693862"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3" name="Text Box 18"/>
          <p:cNvSpPr txBox="1">
            <a:spLocks noChangeArrowheads="1"/>
          </p:cNvSpPr>
          <p:nvPr/>
        </p:nvSpPr>
        <p:spPr bwMode="auto">
          <a:xfrm rot="2268438">
            <a:off x="2860675" y="4437063"/>
            <a:ext cx="811213"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ACK</a:t>
            </a:r>
          </a:p>
        </p:txBody>
      </p:sp>
      <p:sp>
        <p:nvSpPr>
          <p:cNvPr id="47124" name="Line 19"/>
          <p:cNvSpPr>
            <a:spLocks noChangeShapeType="1"/>
          </p:cNvSpPr>
          <p:nvPr/>
        </p:nvSpPr>
        <p:spPr bwMode="auto">
          <a:xfrm>
            <a:off x="3559175" y="4891088"/>
            <a:ext cx="292100" cy="279400"/>
          </a:xfrm>
          <a:prstGeom prst="line">
            <a:avLst/>
          </a:prstGeom>
          <a:noFill/>
          <a:ln w="28575">
            <a:solidFill>
              <a:schemeClr val="folHlink"/>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5" name="Line 20"/>
          <p:cNvSpPr>
            <a:spLocks noChangeShapeType="1"/>
          </p:cNvSpPr>
          <p:nvPr/>
        </p:nvSpPr>
        <p:spPr bwMode="auto">
          <a:xfrm flipV="1">
            <a:off x="1931988" y="3994150"/>
            <a:ext cx="1692275"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6" name="Line 21"/>
          <p:cNvSpPr>
            <a:spLocks noChangeShapeType="1"/>
          </p:cNvSpPr>
          <p:nvPr/>
        </p:nvSpPr>
        <p:spPr bwMode="auto">
          <a:xfrm flipV="1">
            <a:off x="2317750" y="3994150"/>
            <a:ext cx="1693863"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7" name="Line 22"/>
          <p:cNvSpPr>
            <a:spLocks noChangeShapeType="1"/>
          </p:cNvSpPr>
          <p:nvPr/>
        </p:nvSpPr>
        <p:spPr bwMode="auto">
          <a:xfrm flipV="1">
            <a:off x="2720975" y="4013200"/>
            <a:ext cx="1692275"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8" name="Line 23"/>
          <p:cNvSpPr>
            <a:spLocks noChangeShapeType="1"/>
          </p:cNvSpPr>
          <p:nvPr/>
        </p:nvSpPr>
        <p:spPr bwMode="auto">
          <a:xfrm flipV="1">
            <a:off x="3090863" y="3994150"/>
            <a:ext cx="1695450"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9" name="Line 24"/>
          <p:cNvSpPr>
            <a:spLocks noChangeShapeType="1"/>
          </p:cNvSpPr>
          <p:nvPr/>
        </p:nvSpPr>
        <p:spPr bwMode="auto">
          <a:xfrm flipV="1">
            <a:off x="3865563" y="3994150"/>
            <a:ext cx="1695450"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0" name="Line 25"/>
          <p:cNvSpPr>
            <a:spLocks noChangeShapeType="1"/>
          </p:cNvSpPr>
          <p:nvPr/>
        </p:nvSpPr>
        <p:spPr bwMode="auto">
          <a:xfrm flipV="1">
            <a:off x="4254500" y="3994150"/>
            <a:ext cx="1692275"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1" name="Line 26"/>
          <p:cNvSpPr>
            <a:spLocks noChangeShapeType="1"/>
          </p:cNvSpPr>
          <p:nvPr/>
        </p:nvSpPr>
        <p:spPr bwMode="auto">
          <a:xfrm flipV="1">
            <a:off x="4640263" y="3994150"/>
            <a:ext cx="1693862"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2" name="Line 27"/>
          <p:cNvSpPr>
            <a:spLocks noChangeShapeType="1"/>
          </p:cNvSpPr>
          <p:nvPr/>
        </p:nvSpPr>
        <p:spPr bwMode="auto">
          <a:xfrm flipV="1">
            <a:off x="5029200" y="3994150"/>
            <a:ext cx="1692275"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3" name="Line 28"/>
          <p:cNvSpPr>
            <a:spLocks noChangeShapeType="1"/>
          </p:cNvSpPr>
          <p:nvPr/>
        </p:nvSpPr>
        <p:spPr bwMode="auto">
          <a:xfrm flipV="1">
            <a:off x="3473450" y="3994150"/>
            <a:ext cx="1695450"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4" name="Line 29"/>
          <p:cNvSpPr>
            <a:spLocks noChangeShapeType="1"/>
          </p:cNvSpPr>
          <p:nvPr/>
        </p:nvSpPr>
        <p:spPr bwMode="auto">
          <a:xfrm flipV="1">
            <a:off x="5399088" y="3994150"/>
            <a:ext cx="1693862"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5" name="Line 30"/>
          <p:cNvSpPr>
            <a:spLocks noChangeShapeType="1"/>
          </p:cNvSpPr>
          <p:nvPr/>
        </p:nvSpPr>
        <p:spPr bwMode="auto">
          <a:xfrm flipV="1">
            <a:off x="5772150" y="3994150"/>
            <a:ext cx="1692275"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6" name="Line 31"/>
          <p:cNvSpPr>
            <a:spLocks noChangeShapeType="1"/>
          </p:cNvSpPr>
          <p:nvPr/>
        </p:nvSpPr>
        <p:spPr bwMode="auto">
          <a:xfrm flipV="1">
            <a:off x="6143625" y="3994150"/>
            <a:ext cx="1693863" cy="1627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7" name="Line 32"/>
          <p:cNvSpPr>
            <a:spLocks noChangeShapeType="1"/>
          </p:cNvSpPr>
          <p:nvPr/>
        </p:nvSpPr>
        <p:spPr bwMode="auto">
          <a:xfrm flipH="1" flipV="1">
            <a:off x="3243263" y="3998913"/>
            <a:ext cx="1693862"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8" name="Line 33"/>
          <p:cNvSpPr>
            <a:spLocks noChangeShapeType="1"/>
          </p:cNvSpPr>
          <p:nvPr/>
        </p:nvSpPr>
        <p:spPr bwMode="auto">
          <a:xfrm flipH="1" flipV="1">
            <a:off x="3625850" y="3998913"/>
            <a:ext cx="1693863"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9" name="Line 34"/>
          <p:cNvSpPr>
            <a:spLocks noChangeShapeType="1"/>
          </p:cNvSpPr>
          <p:nvPr/>
        </p:nvSpPr>
        <p:spPr bwMode="auto">
          <a:xfrm flipH="1" flipV="1">
            <a:off x="4011613" y="3998913"/>
            <a:ext cx="1692275"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40" name="Line 35"/>
          <p:cNvSpPr>
            <a:spLocks noChangeShapeType="1"/>
          </p:cNvSpPr>
          <p:nvPr/>
        </p:nvSpPr>
        <p:spPr bwMode="auto">
          <a:xfrm flipH="1" flipV="1">
            <a:off x="4395788" y="3998913"/>
            <a:ext cx="1692275"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41" name="Line 36"/>
          <p:cNvSpPr>
            <a:spLocks noChangeShapeType="1"/>
          </p:cNvSpPr>
          <p:nvPr/>
        </p:nvSpPr>
        <p:spPr bwMode="auto">
          <a:xfrm flipH="1" flipV="1">
            <a:off x="4778375" y="3998913"/>
            <a:ext cx="1693863"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42" name="Line 37"/>
          <p:cNvSpPr>
            <a:spLocks noChangeShapeType="1"/>
          </p:cNvSpPr>
          <p:nvPr/>
        </p:nvSpPr>
        <p:spPr bwMode="auto">
          <a:xfrm flipH="1" flipV="1">
            <a:off x="5162550" y="3998913"/>
            <a:ext cx="1692275"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43" name="Line 38"/>
          <p:cNvSpPr>
            <a:spLocks noChangeShapeType="1"/>
          </p:cNvSpPr>
          <p:nvPr/>
        </p:nvSpPr>
        <p:spPr bwMode="auto">
          <a:xfrm flipH="1" flipV="1">
            <a:off x="5546725" y="3998913"/>
            <a:ext cx="1692275"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44" name="Line 39"/>
          <p:cNvSpPr>
            <a:spLocks noChangeShapeType="1"/>
          </p:cNvSpPr>
          <p:nvPr/>
        </p:nvSpPr>
        <p:spPr bwMode="auto">
          <a:xfrm flipH="1" flipV="1">
            <a:off x="5929313" y="3998913"/>
            <a:ext cx="1695450"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45" name="Line 40"/>
          <p:cNvSpPr>
            <a:spLocks noChangeShapeType="1"/>
          </p:cNvSpPr>
          <p:nvPr/>
        </p:nvSpPr>
        <p:spPr bwMode="auto">
          <a:xfrm flipH="1" flipV="1">
            <a:off x="6313488" y="3998913"/>
            <a:ext cx="1692275"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46" name="Line 41"/>
          <p:cNvSpPr>
            <a:spLocks noChangeShapeType="1"/>
          </p:cNvSpPr>
          <p:nvPr/>
        </p:nvSpPr>
        <p:spPr bwMode="auto">
          <a:xfrm flipH="1" flipV="1">
            <a:off x="6697663" y="3998913"/>
            <a:ext cx="1693862" cy="1627187"/>
          </a:xfrm>
          <a:prstGeom prst="line">
            <a:avLst/>
          </a:prstGeom>
          <a:noFill/>
          <a:ln w="38100">
            <a:solidFill>
              <a:schemeClr val="folHlink"/>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6C46E1C-B9B7-4FE3-A6B6-E38D91BF1EB5}" type="slidenum">
              <a:rPr lang="en-US" altLang="zh-CN" sz="1400"/>
              <a:pPr eaLnBrk="1" hangingPunct="1"/>
              <a:t>45</a:t>
            </a:fld>
            <a:endParaRPr lang="en-US" altLang="zh-CN" sz="1400"/>
          </a:p>
        </p:txBody>
      </p:sp>
      <p:sp>
        <p:nvSpPr>
          <p:cNvPr id="48131" name="Rectangle 29"/>
          <p:cNvSpPr>
            <a:spLocks noChangeArrowheads="1"/>
          </p:cNvSpPr>
          <p:nvPr/>
        </p:nvSpPr>
        <p:spPr bwMode="auto">
          <a:xfrm>
            <a:off x="620713" y="2628900"/>
            <a:ext cx="3413125" cy="911225"/>
          </a:xfrm>
          <a:prstGeom prst="rect">
            <a:avLst/>
          </a:prstGeom>
          <a:solidFill>
            <a:srgbClr val="66FF99"/>
          </a:solidFill>
          <a:ln w="2857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2" name="Rectangle 17"/>
          <p:cNvSpPr>
            <a:spLocks noChangeArrowheads="1"/>
          </p:cNvSpPr>
          <p:nvPr/>
        </p:nvSpPr>
        <p:spPr bwMode="auto">
          <a:xfrm>
            <a:off x="620713" y="2832100"/>
            <a:ext cx="8189912" cy="50482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33" name="Rectangle 2"/>
          <p:cNvSpPr>
            <a:spLocks noGrp="1" noChangeArrowheads="1"/>
          </p:cNvSpPr>
          <p:nvPr>
            <p:ph type="title"/>
          </p:nvPr>
        </p:nvSpPr>
        <p:spPr>
          <a:xfrm>
            <a:off x="1150938" y="214313"/>
            <a:ext cx="7381875" cy="1462087"/>
          </a:xfrm>
        </p:spPr>
        <p:txBody>
          <a:bodyPr/>
          <a:lstStyle/>
          <a:p>
            <a:pPr algn="ctr" eaLnBrk="1" hangingPunct="1"/>
            <a:r>
              <a:rPr lang="en-US" altLang="zh-CN" smtClean="0"/>
              <a:t>5.4.2  </a:t>
            </a:r>
            <a:r>
              <a:rPr lang="zh-CN" altLang="en-US" smtClean="0"/>
              <a:t>连续 </a:t>
            </a:r>
            <a:r>
              <a:rPr lang="en-US" altLang="zh-CN" smtClean="0"/>
              <a:t>ARQ </a:t>
            </a:r>
            <a:r>
              <a:rPr lang="zh-CN" altLang="en-US" smtClean="0"/>
              <a:t>协议 </a:t>
            </a:r>
          </a:p>
        </p:txBody>
      </p:sp>
      <p:sp>
        <p:nvSpPr>
          <p:cNvPr id="48134" name="Rectangle 5"/>
          <p:cNvSpPr>
            <a:spLocks noChangeArrowheads="1"/>
          </p:cNvSpPr>
          <p:nvPr/>
        </p:nvSpPr>
        <p:spPr bwMode="auto">
          <a:xfrm>
            <a:off x="620713" y="2832100"/>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1</a:t>
            </a:r>
          </a:p>
        </p:txBody>
      </p:sp>
      <p:sp>
        <p:nvSpPr>
          <p:cNvPr id="48135" name="Rectangle 6"/>
          <p:cNvSpPr>
            <a:spLocks noChangeArrowheads="1"/>
          </p:cNvSpPr>
          <p:nvPr/>
        </p:nvSpPr>
        <p:spPr bwMode="auto">
          <a:xfrm>
            <a:off x="1303338" y="2832100"/>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2</a:t>
            </a:r>
          </a:p>
        </p:txBody>
      </p:sp>
      <p:sp>
        <p:nvSpPr>
          <p:cNvPr id="48136" name="Rectangle 7"/>
          <p:cNvSpPr>
            <a:spLocks noChangeArrowheads="1"/>
          </p:cNvSpPr>
          <p:nvPr/>
        </p:nvSpPr>
        <p:spPr bwMode="auto">
          <a:xfrm>
            <a:off x="1987550" y="2832100"/>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3</a:t>
            </a:r>
          </a:p>
        </p:txBody>
      </p:sp>
      <p:sp>
        <p:nvSpPr>
          <p:cNvPr id="48137" name="Rectangle 8"/>
          <p:cNvSpPr>
            <a:spLocks noChangeArrowheads="1"/>
          </p:cNvSpPr>
          <p:nvPr/>
        </p:nvSpPr>
        <p:spPr bwMode="auto">
          <a:xfrm>
            <a:off x="2670175" y="2832100"/>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4</a:t>
            </a:r>
          </a:p>
        </p:txBody>
      </p:sp>
      <p:sp>
        <p:nvSpPr>
          <p:cNvPr id="48138" name="Rectangle 9"/>
          <p:cNvSpPr>
            <a:spLocks noChangeArrowheads="1"/>
          </p:cNvSpPr>
          <p:nvPr/>
        </p:nvSpPr>
        <p:spPr bwMode="auto">
          <a:xfrm>
            <a:off x="3354388" y="2832100"/>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5</a:t>
            </a:r>
          </a:p>
        </p:txBody>
      </p:sp>
      <p:sp>
        <p:nvSpPr>
          <p:cNvPr id="48139" name="Rectangle 10"/>
          <p:cNvSpPr>
            <a:spLocks noChangeArrowheads="1"/>
          </p:cNvSpPr>
          <p:nvPr/>
        </p:nvSpPr>
        <p:spPr bwMode="auto">
          <a:xfrm>
            <a:off x="4038600" y="2832100"/>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6</a:t>
            </a:r>
          </a:p>
        </p:txBody>
      </p:sp>
      <p:sp>
        <p:nvSpPr>
          <p:cNvPr id="48140" name="Rectangle 11"/>
          <p:cNvSpPr>
            <a:spLocks noChangeArrowheads="1"/>
          </p:cNvSpPr>
          <p:nvPr/>
        </p:nvSpPr>
        <p:spPr bwMode="auto">
          <a:xfrm>
            <a:off x="4721225" y="2832100"/>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7</a:t>
            </a:r>
          </a:p>
        </p:txBody>
      </p:sp>
      <p:sp>
        <p:nvSpPr>
          <p:cNvPr id="48141" name="Rectangle 12"/>
          <p:cNvSpPr>
            <a:spLocks noChangeArrowheads="1"/>
          </p:cNvSpPr>
          <p:nvPr/>
        </p:nvSpPr>
        <p:spPr bwMode="auto">
          <a:xfrm>
            <a:off x="5405438" y="2832100"/>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8</a:t>
            </a:r>
          </a:p>
        </p:txBody>
      </p:sp>
      <p:sp>
        <p:nvSpPr>
          <p:cNvPr id="48142" name="Rectangle 13"/>
          <p:cNvSpPr>
            <a:spLocks noChangeArrowheads="1"/>
          </p:cNvSpPr>
          <p:nvPr/>
        </p:nvSpPr>
        <p:spPr bwMode="auto">
          <a:xfrm>
            <a:off x="6086475" y="2832100"/>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9</a:t>
            </a:r>
          </a:p>
        </p:txBody>
      </p:sp>
      <p:sp>
        <p:nvSpPr>
          <p:cNvPr id="48143" name="Rectangle 14"/>
          <p:cNvSpPr>
            <a:spLocks noChangeArrowheads="1"/>
          </p:cNvSpPr>
          <p:nvPr/>
        </p:nvSpPr>
        <p:spPr bwMode="auto">
          <a:xfrm>
            <a:off x="6772275" y="2832100"/>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10</a:t>
            </a:r>
          </a:p>
        </p:txBody>
      </p:sp>
      <p:sp>
        <p:nvSpPr>
          <p:cNvPr id="48144" name="Rectangle 15"/>
          <p:cNvSpPr>
            <a:spLocks noChangeArrowheads="1"/>
          </p:cNvSpPr>
          <p:nvPr/>
        </p:nvSpPr>
        <p:spPr bwMode="auto">
          <a:xfrm>
            <a:off x="7456488" y="2832100"/>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11</a:t>
            </a:r>
          </a:p>
        </p:txBody>
      </p:sp>
      <p:sp>
        <p:nvSpPr>
          <p:cNvPr id="48145" name="Rectangle 16"/>
          <p:cNvSpPr>
            <a:spLocks noChangeArrowheads="1"/>
          </p:cNvSpPr>
          <p:nvPr/>
        </p:nvSpPr>
        <p:spPr bwMode="auto">
          <a:xfrm>
            <a:off x="8137525" y="2832100"/>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12</a:t>
            </a:r>
          </a:p>
        </p:txBody>
      </p:sp>
      <p:sp>
        <p:nvSpPr>
          <p:cNvPr id="48146" name="Line 18"/>
          <p:cNvSpPr>
            <a:spLocks noChangeShapeType="1"/>
          </p:cNvSpPr>
          <p:nvPr/>
        </p:nvSpPr>
        <p:spPr bwMode="auto">
          <a:xfrm>
            <a:off x="1303338"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7" name="Line 19"/>
          <p:cNvSpPr>
            <a:spLocks noChangeShapeType="1"/>
          </p:cNvSpPr>
          <p:nvPr/>
        </p:nvSpPr>
        <p:spPr bwMode="auto">
          <a:xfrm>
            <a:off x="1985963"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8" name="Line 20"/>
          <p:cNvSpPr>
            <a:spLocks noChangeShapeType="1"/>
          </p:cNvSpPr>
          <p:nvPr/>
        </p:nvSpPr>
        <p:spPr bwMode="auto">
          <a:xfrm>
            <a:off x="2667000"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9" name="Line 21"/>
          <p:cNvSpPr>
            <a:spLocks noChangeShapeType="1"/>
          </p:cNvSpPr>
          <p:nvPr/>
        </p:nvSpPr>
        <p:spPr bwMode="auto">
          <a:xfrm>
            <a:off x="3349625"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0" name="Line 22"/>
          <p:cNvSpPr>
            <a:spLocks noChangeShapeType="1"/>
          </p:cNvSpPr>
          <p:nvPr/>
        </p:nvSpPr>
        <p:spPr bwMode="auto">
          <a:xfrm>
            <a:off x="4030663"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1" name="Line 23"/>
          <p:cNvSpPr>
            <a:spLocks noChangeShapeType="1"/>
          </p:cNvSpPr>
          <p:nvPr/>
        </p:nvSpPr>
        <p:spPr bwMode="auto">
          <a:xfrm>
            <a:off x="4713288"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2" name="Line 24"/>
          <p:cNvSpPr>
            <a:spLocks noChangeShapeType="1"/>
          </p:cNvSpPr>
          <p:nvPr/>
        </p:nvSpPr>
        <p:spPr bwMode="auto">
          <a:xfrm>
            <a:off x="5395913"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3" name="Line 25"/>
          <p:cNvSpPr>
            <a:spLocks noChangeShapeType="1"/>
          </p:cNvSpPr>
          <p:nvPr/>
        </p:nvSpPr>
        <p:spPr bwMode="auto">
          <a:xfrm>
            <a:off x="6076950"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4" name="Line 26"/>
          <p:cNvSpPr>
            <a:spLocks noChangeShapeType="1"/>
          </p:cNvSpPr>
          <p:nvPr/>
        </p:nvSpPr>
        <p:spPr bwMode="auto">
          <a:xfrm>
            <a:off x="6759575"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5" name="Line 27"/>
          <p:cNvSpPr>
            <a:spLocks noChangeShapeType="1"/>
          </p:cNvSpPr>
          <p:nvPr/>
        </p:nvSpPr>
        <p:spPr bwMode="auto">
          <a:xfrm>
            <a:off x="7440613"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6" name="Line 28"/>
          <p:cNvSpPr>
            <a:spLocks noChangeShapeType="1"/>
          </p:cNvSpPr>
          <p:nvPr/>
        </p:nvSpPr>
        <p:spPr bwMode="auto">
          <a:xfrm>
            <a:off x="8123238" y="2832100"/>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7" name="Text Box 30"/>
          <p:cNvSpPr txBox="1">
            <a:spLocks noChangeArrowheads="1"/>
          </p:cNvSpPr>
          <p:nvPr/>
        </p:nvSpPr>
        <p:spPr bwMode="auto">
          <a:xfrm>
            <a:off x="1979613" y="3544888"/>
            <a:ext cx="5703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Times New Roman" pitchFamily="18" charset="0"/>
                <a:ea typeface="黑体" pitchFamily="49" charset="-122"/>
              </a:rPr>
              <a:t>(a) </a:t>
            </a:r>
            <a:r>
              <a:rPr lang="zh-CN" altLang="en-US" sz="2400">
                <a:solidFill>
                  <a:schemeClr val="folHlink"/>
                </a:solidFill>
                <a:latin typeface="Times New Roman" pitchFamily="18" charset="0"/>
                <a:ea typeface="黑体" pitchFamily="49" charset="-122"/>
              </a:rPr>
              <a:t>发送方维持发送窗口（发送窗口是 </a:t>
            </a:r>
            <a:r>
              <a:rPr lang="en-US" altLang="zh-CN" sz="2400">
                <a:solidFill>
                  <a:schemeClr val="folHlink"/>
                </a:solidFill>
                <a:latin typeface="Times New Roman" pitchFamily="18" charset="0"/>
                <a:ea typeface="黑体" pitchFamily="49" charset="-122"/>
              </a:rPr>
              <a:t>5</a:t>
            </a:r>
            <a:r>
              <a:rPr lang="zh-CN" altLang="en-US" sz="2400">
                <a:solidFill>
                  <a:schemeClr val="folHlink"/>
                </a:solidFill>
                <a:latin typeface="Times New Roman" pitchFamily="18" charset="0"/>
                <a:ea typeface="黑体" pitchFamily="49" charset="-122"/>
              </a:rPr>
              <a:t>）</a:t>
            </a:r>
          </a:p>
        </p:txBody>
      </p:sp>
      <p:sp>
        <p:nvSpPr>
          <p:cNvPr id="48158" name="Text Box 31"/>
          <p:cNvSpPr txBox="1">
            <a:spLocks noChangeArrowheads="1"/>
          </p:cNvSpPr>
          <p:nvPr/>
        </p:nvSpPr>
        <p:spPr bwMode="auto">
          <a:xfrm>
            <a:off x="1549400" y="21082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Times New Roman" pitchFamily="18" charset="0"/>
                <a:ea typeface="黑体" pitchFamily="49" charset="-122"/>
              </a:rPr>
              <a:t>发送窗口</a:t>
            </a:r>
          </a:p>
        </p:txBody>
      </p:sp>
      <p:grpSp>
        <p:nvGrpSpPr>
          <p:cNvPr id="713791" name="Group 63"/>
          <p:cNvGrpSpPr>
            <a:grpSpLocks/>
          </p:cNvGrpSpPr>
          <p:nvPr/>
        </p:nvGrpSpPr>
        <p:grpSpPr bwMode="auto">
          <a:xfrm>
            <a:off x="611188" y="4292600"/>
            <a:ext cx="8199437" cy="1865313"/>
            <a:chOff x="385" y="2704"/>
            <a:chExt cx="5165" cy="1175"/>
          </a:xfrm>
        </p:grpSpPr>
        <p:sp>
          <p:nvSpPr>
            <p:cNvPr id="48160" name="Rectangle 60"/>
            <p:cNvSpPr>
              <a:spLocks noChangeArrowheads="1"/>
            </p:cNvSpPr>
            <p:nvPr/>
          </p:nvSpPr>
          <p:spPr bwMode="auto">
            <a:xfrm>
              <a:off x="821" y="3012"/>
              <a:ext cx="2150" cy="575"/>
            </a:xfrm>
            <a:prstGeom prst="rect">
              <a:avLst/>
            </a:prstGeom>
            <a:solidFill>
              <a:srgbClr val="66FF99"/>
            </a:solidFill>
            <a:ln w="2857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1" name="Rectangle 48"/>
            <p:cNvSpPr>
              <a:spLocks noChangeArrowheads="1"/>
            </p:cNvSpPr>
            <p:nvPr/>
          </p:nvSpPr>
          <p:spPr bwMode="auto">
            <a:xfrm>
              <a:off x="385" y="3140"/>
              <a:ext cx="5158" cy="319"/>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162" name="Text Box 32"/>
            <p:cNvSpPr txBox="1">
              <a:spLocks noChangeArrowheads="1"/>
            </p:cNvSpPr>
            <p:nvPr/>
          </p:nvSpPr>
          <p:spPr bwMode="auto">
            <a:xfrm>
              <a:off x="1258" y="3591"/>
              <a:ext cx="32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Times New Roman" pitchFamily="18" charset="0"/>
                  <a:ea typeface="黑体" pitchFamily="49" charset="-122"/>
                </a:rPr>
                <a:t>(b) </a:t>
              </a:r>
              <a:r>
                <a:rPr lang="zh-CN" altLang="en-US" sz="2400">
                  <a:solidFill>
                    <a:schemeClr val="folHlink"/>
                  </a:solidFill>
                  <a:latin typeface="Times New Roman" pitchFamily="18" charset="0"/>
                  <a:ea typeface="黑体" pitchFamily="49" charset="-122"/>
                </a:rPr>
                <a:t>收到一个确认后发送窗口向前滑动</a:t>
              </a:r>
            </a:p>
          </p:txBody>
        </p:sp>
        <p:sp>
          <p:nvSpPr>
            <p:cNvPr id="48163" name="Line 33"/>
            <p:cNvSpPr>
              <a:spLocks noChangeShapeType="1"/>
            </p:cNvSpPr>
            <p:nvPr/>
          </p:nvSpPr>
          <p:spPr bwMode="auto">
            <a:xfrm>
              <a:off x="3016" y="3067"/>
              <a:ext cx="421" cy="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64" name="Text Box 34"/>
            <p:cNvSpPr txBox="1">
              <a:spLocks noChangeArrowheads="1"/>
            </p:cNvSpPr>
            <p:nvPr/>
          </p:nvSpPr>
          <p:spPr bwMode="auto">
            <a:xfrm>
              <a:off x="3424" y="2840"/>
              <a:ext cx="5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Times New Roman" pitchFamily="18" charset="0"/>
                  <a:ea typeface="黑体" pitchFamily="49" charset="-122"/>
                </a:rPr>
                <a:t>向前</a:t>
              </a:r>
            </a:p>
          </p:txBody>
        </p:sp>
        <p:sp>
          <p:nvSpPr>
            <p:cNvPr id="48165" name="Rectangle 36"/>
            <p:cNvSpPr>
              <a:spLocks noChangeArrowheads="1"/>
            </p:cNvSpPr>
            <p:nvPr/>
          </p:nvSpPr>
          <p:spPr bwMode="auto">
            <a:xfrm>
              <a:off x="385" y="3140"/>
              <a:ext cx="430"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1</a:t>
              </a:r>
            </a:p>
          </p:txBody>
        </p:sp>
        <p:sp>
          <p:nvSpPr>
            <p:cNvPr id="48166" name="Rectangle 37"/>
            <p:cNvSpPr>
              <a:spLocks noChangeArrowheads="1"/>
            </p:cNvSpPr>
            <p:nvPr/>
          </p:nvSpPr>
          <p:spPr bwMode="auto">
            <a:xfrm>
              <a:off x="815" y="3140"/>
              <a:ext cx="429"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2</a:t>
              </a:r>
            </a:p>
          </p:txBody>
        </p:sp>
        <p:sp>
          <p:nvSpPr>
            <p:cNvPr id="48167" name="Rectangle 38"/>
            <p:cNvSpPr>
              <a:spLocks noChangeArrowheads="1"/>
            </p:cNvSpPr>
            <p:nvPr/>
          </p:nvSpPr>
          <p:spPr bwMode="auto">
            <a:xfrm>
              <a:off x="1246" y="3140"/>
              <a:ext cx="429"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3</a:t>
              </a:r>
            </a:p>
          </p:txBody>
        </p:sp>
        <p:sp>
          <p:nvSpPr>
            <p:cNvPr id="48168" name="Rectangle 39"/>
            <p:cNvSpPr>
              <a:spLocks noChangeArrowheads="1"/>
            </p:cNvSpPr>
            <p:nvPr/>
          </p:nvSpPr>
          <p:spPr bwMode="auto">
            <a:xfrm>
              <a:off x="1675" y="3140"/>
              <a:ext cx="430"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4</a:t>
              </a:r>
            </a:p>
          </p:txBody>
        </p:sp>
        <p:sp>
          <p:nvSpPr>
            <p:cNvPr id="48169" name="Rectangle 40"/>
            <p:cNvSpPr>
              <a:spLocks noChangeArrowheads="1"/>
            </p:cNvSpPr>
            <p:nvPr/>
          </p:nvSpPr>
          <p:spPr bwMode="auto">
            <a:xfrm>
              <a:off x="2107" y="3140"/>
              <a:ext cx="429"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5</a:t>
              </a:r>
            </a:p>
          </p:txBody>
        </p:sp>
        <p:sp>
          <p:nvSpPr>
            <p:cNvPr id="48170" name="Rectangle 41"/>
            <p:cNvSpPr>
              <a:spLocks noChangeArrowheads="1"/>
            </p:cNvSpPr>
            <p:nvPr/>
          </p:nvSpPr>
          <p:spPr bwMode="auto">
            <a:xfrm>
              <a:off x="2538" y="3140"/>
              <a:ext cx="429"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6</a:t>
              </a:r>
            </a:p>
          </p:txBody>
        </p:sp>
        <p:sp>
          <p:nvSpPr>
            <p:cNvPr id="48171" name="Rectangle 42"/>
            <p:cNvSpPr>
              <a:spLocks noChangeArrowheads="1"/>
            </p:cNvSpPr>
            <p:nvPr/>
          </p:nvSpPr>
          <p:spPr bwMode="auto">
            <a:xfrm>
              <a:off x="2967" y="3140"/>
              <a:ext cx="430"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7</a:t>
              </a:r>
            </a:p>
          </p:txBody>
        </p:sp>
        <p:sp>
          <p:nvSpPr>
            <p:cNvPr id="48172" name="Rectangle 43"/>
            <p:cNvSpPr>
              <a:spLocks noChangeArrowheads="1"/>
            </p:cNvSpPr>
            <p:nvPr/>
          </p:nvSpPr>
          <p:spPr bwMode="auto">
            <a:xfrm>
              <a:off x="3399" y="3140"/>
              <a:ext cx="429"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8</a:t>
              </a:r>
            </a:p>
          </p:txBody>
        </p:sp>
        <p:sp>
          <p:nvSpPr>
            <p:cNvPr id="48173" name="Rectangle 44"/>
            <p:cNvSpPr>
              <a:spLocks noChangeArrowheads="1"/>
            </p:cNvSpPr>
            <p:nvPr/>
          </p:nvSpPr>
          <p:spPr bwMode="auto">
            <a:xfrm>
              <a:off x="3828" y="3140"/>
              <a:ext cx="430"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9</a:t>
              </a:r>
            </a:p>
          </p:txBody>
        </p:sp>
        <p:sp>
          <p:nvSpPr>
            <p:cNvPr id="48174" name="Rectangle 45"/>
            <p:cNvSpPr>
              <a:spLocks noChangeArrowheads="1"/>
            </p:cNvSpPr>
            <p:nvPr/>
          </p:nvSpPr>
          <p:spPr bwMode="auto">
            <a:xfrm>
              <a:off x="4259" y="3140"/>
              <a:ext cx="430"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10</a:t>
              </a:r>
            </a:p>
          </p:txBody>
        </p:sp>
        <p:sp>
          <p:nvSpPr>
            <p:cNvPr id="48175" name="Rectangle 46"/>
            <p:cNvSpPr>
              <a:spLocks noChangeArrowheads="1"/>
            </p:cNvSpPr>
            <p:nvPr/>
          </p:nvSpPr>
          <p:spPr bwMode="auto">
            <a:xfrm>
              <a:off x="4690" y="3140"/>
              <a:ext cx="430"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11</a:t>
              </a:r>
            </a:p>
          </p:txBody>
        </p:sp>
        <p:sp>
          <p:nvSpPr>
            <p:cNvPr id="48176" name="Rectangle 47"/>
            <p:cNvSpPr>
              <a:spLocks noChangeArrowheads="1"/>
            </p:cNvSpPr>
            <p:nvPr/>
          </p:nvSpPr>
          <p:spPr bwMode="auto">
            <a:xfrm>
              <a:off x="5120" y="3140"/>
              <a:ext cx="430" cy="31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solidFill>
                    <a:schemeClr val="folHlink"/>
                  </a:solidFill>
                  <a:latin typeface="Times New Roman" pitchFamily="18" charset="0"/>
                  <a:ea typeface="黑体" pitchFamily="49" charset="-122"/>
                </a:rPr>
                <a:t>12</a:t>
              </a:r>
            </a:p>
          </p:txBody>
        </p:sp>
        <p:sp>
          <p:nvSpPr>
            <p:cNvPr id="48177" name="Line 49"/>
            <p:cNvSpPr>
              <a:spLocks noChangeShapeType="1"/>
            </p:cNvSpPr>
            <p:nvPr/>
          </p:nvSpPr>
          <p:spPr bwMode="auto">
            <a:xfrm>
              <a:off x="815"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78" name="Line 50"/>
            <p:cNvSpPr>
              <a:spLocks noChangeShapeType="1"/>
            </p:cNvSpPr>
            <p:nvPr/>
          </p:nvSpPr>
          <p:spPr bwMode="auto">
            <a:xfrm>
              <a:off x="1244"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79" name="Line 51"/>
            <p:cNvSpPr>
              <a:spLocks noChangeShapeType="1"/>
            </p:cNvSpPr>
            <p:nvPr/>
          </p:nvSpPr>
          <p:spPr bwMode="auto">
            <a:xfrm>
              <a:off x="1674"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0" name="Line 52"/>
            <p:cNvSpPr>
              <a:spLocks noChangeShapeType="1"/>
            </p:cNvSpPr>
            <p:nvPr/>
          </p:nvSpPr>
          <p:spPr bwMode="auto">
            <a:xfrm>
              <a:off x="2103"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1" name="Line 53"/>
            <p:cNvSpPr>
              <a:spLocks noChangeShapeType="1"/>
            </p:cNvSpPr>
            <p:nvPr/>
          </p:nvSpPr>
          <p:spPr bwMode="auto">
            <a:xfrm>
              <a:off x="2533"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2" name="Line 54"/>
            <p:cNvSpPr>
              <a:spLocks noChangeShapeType="1"/>
            </p:cNvSpPr>
            <p:nvPr/>
          </p:nvSpPr>
          <p:spPr bwMode="auto">
            <a:xfrm>
              <a:off x="2963"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3" name="Line 55"/>
            <p:cNvSpPr>
              <a:spLocks noChangeShapeType="1"/>
            </p:cNvSpPr>
            <p:nvPr/>
          </p:nvSpPr>
          <p:spPr bwMode="auto">
            <a:xfrm>
              <a:off x="3392"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4" name="Line 56"/>
            <p:cNvSpPr>
              <a:spLocks noChangeShapeType="1"/>
            </p:cNvSpPr>
            <p:nvPr/>
          </p:nvSpPr>
          <p:spPr bwMode="auto">
            <a:xfrm>
              <a:off x="3822"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5" name="Line 57"/>
            <p:cNvSpPr>
              <a:spLocks noChangeShapeType="1"/>
            </p:cNvSpPr>
            <p:nvPr/>
          </p:nvSpPr>
          <p:spPr bwMode="auto">
            <a:xfrm>
              <a:off x="4251"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6" name="Line 58"/>
            <p:cNvSpPr>
              <a:spLocks noChangeShapeType="1"/>
            </p:cNvSpPr>
            <p:nvPr/>
          </p:nvSpPr>
          <p:spPr bwMode="auto">
            <a:xfrm>
              <a:off x="4681"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7" name="Line 59"/>
            <p:cNvSpPr>
              <a:spLocks noChangeShapeType="1"/>
            </p:cNvSpPr>
            <p:nvPr/>
          </p:nvSpPr>
          <p:spPr bwMode="auto">
            <a:xfrm>
              <a:off x="5111" y="3140"/>
              <a:ext cx="0" cy="3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88" name="Text Box 61"/>
            <p:cNvSpPr txBox="1">
              <a:spLocks noChangeArrowheads="1"/>
            </p:cNvSpPr>
            <p:nvPr/>
          </p:nvSpPr>
          <p:spPr bwMode="auto">
            <a:xfrm>
              <a:off x="1497" y="2704"/>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Times New Roman" pitchFamily="18" charset="0"/>
                  <a:ea typeface="黑体" pitchFamily="49" charset="-122"/>
                </a:rPr>
                <a:t>发送窗口</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3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7993D8A-AE9B-4B43-9BAD-593F91C82C47}" type="slidenum">
              <a:rPr lang="en-US" altLang="zh-CN" sz="1400"/>
              <a:pPr eaLnBrk="1" hangingPunct="1"/>
              <a:t>46</a:t>
            </a:fld>
            <a:endParaRPr lang="en-US" altLang="zh-CN" sz="1400"/>
          </a:p>
        </p:txBody>
      </p:sp>
      <p:sp>
        <p:nvSpPr>
          <p:cNvPr id="49155" name="Rectangle 2"/>
          <p:cNvSpPr>
            <a:spLocks noGrp="1" noChangeArrowheads="1"/>
          </p:cNvSpPr>
          <p:nvPr>
            <p:ph type="title"/>
          </p:nvPr>
        </p:nvSpPr>
        <p:spPr>
          <a:xfrm>
            <a:off x="1150938" y="214313"/>
            <a:ext cx="5942012" cy="1462087"/>
          </a:xfrm>
        </p:spPr>
        <p:txBody>
          <a:bodyPr/>
          <a:lstStyle/>
          <a:p>
            <a:pPr algn="ctr" eaLnBrk="1" hangingPunct="1"/>
            <a:r>
              <a:rPr lang="zh-CN" altLang="en-US" sz="4000" smtClean="0"/>
              <a:t>累积确认 </a:t>
            </a:r>
          </a:p>
        </p:txBody>
      </p:sp>
      <p:sp>
        <p:nvSpPr>
          <p:cNvPr id="49156" name="Rectangle 3"/>
          <p:cNvSpPr>
            <a:spLocks noGrp="1" noChangeArrowheads="1"/>
          </p:cNvSpPr>
          <p:nvPr>
            <p:ph type="body" idx="1"/>
          </p:nvPr>
        </p:nvSpPr>
        <p:spPr>
          <a:xfrm>
            <a:off x="1042988" y="1773238"/>
            <a:ext cx="7772400" cy="4751387"/>
          </a:xfrm>
        </p:spPr>
        <p:txBody>
          <a:bodyPr/>
          <a:lstStyle/>
          <a:p>
            <a:pPr eaLnBrk="1" hangingPunct="1"/>
            <a:r>
              <a:rPr lang="zh-CN" altLang="en-US" smtClean="0"/>
              <a:t>接收方一般采用</a:t>
            </a:r>
            <a:r>
              <a:rPr lang="zh-CN" altLang="en-US" smtClean="0">
                <a:solidFill>
                  <a:schemeClr val="hlink"/>
                </a:solidFill>
              </a:rPr>
              <a:t>累积确认</a:t>
            </a:r>
            <a:r>
              <a:rPr lang="zh-CN" altLang="en-US" smtClean="0"/>
              <a:t>的方式。即不必对收到的分组逐个发送确认，而是对按序到达的最后一个分组发送确认，这样就表示：</a:t>
            </a:r>
            <a:r>
              <a:rPr lang="zh-CN" altLang="en-US" smtClean="0">
                <a:solidFill>
                  <a:schemeClr val="hlink"/>
                </a:solidFill>
              </a:rPr>
              <a:t>到这个分组为止的所有分组都已正确收到了</a:t>
            </a:r>
            <a:r>
              <a:rPr lang="zh-CN" altLang="en-US" smtClean="0"/>
              <a:t>。</a:t>
            </a:r>
          </a:p>
          <a:p>
            <a:pPr eaLnBrk="1" hangingPunct="1"/>
            <a:r>
              <a:rPr lang="zh-CN" altLang="en-US" smtClean="0"/>
              <a:t>累积确认有的优点是：容易实现，即使确认丢失也不必重传。缺点是：不能向发送方反映出接收方已经正确收到的所有分组的信息。</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5FB00C3-5E24-4211-A571-8035B07D330A}" type="slidenum">
              <a:rPr lang="en-US" altLang="zh-CN" sz="1400"/>
              <a:pPr eaLnBrk="1" hangingPunct="1"/>
              <a:t>47</a:t>
            </a:fld>
            <a:endParaRPr lang="en-US" altLang="zh-CN" sz="1400"/>
          </a:p>
        </p:txBody>
      </p:sp>
      <p:sp>
        <p:nvSpPr>
          <p:cNvPr id="50179" name="Rectangle 2"/>
          <p:cNvSpPr>
            <a:spLocks noGrp="1" noChangeArrowheads="1"/>
          </p:cNvSpPr>
          <p:nvPr>
            <p:ph type="title"/>
          </p:nvPr>
        </p:nvSpPr>
        <p:spPr>
          <a:xfrm>
            <a:off x="1150938" y="214313"/>
            <a:ext cx="7165975" cy="1462087"/>
          </a:xfrm>
        </p:spPr>
        <p:txBody>
          <a:bodyPr/>
          <a:lstStyle/>
          <a:p>
            <a:pPr algn="ctr" eaLnBrk="1" hangingPunct="1"/>
            <a:r>
              <a:rPr lang="en-US" altLang="zh-CN" sz="4000" smtClean="0"/>
              <a:t>Go-back-N</a:t>
            </a:r>
            <a:r>
              <a:rPr lang="zh-CN" altLang="en-US" sz="4000" smtClean="0"/>
              <a:t>（回退 </a:t>
            </a:r>
            <a:r>
              <a:rPr lang="en-US" altLang="zh-CN" sz="4000" smtClean="0"/>
              <a:t>N</a:t>
            </a:r>
            <a:r>
              <a:rPr lang="zh-CN" altLang="en-US" sz="4000" smtClean="0"/>
              <a:t>） </a:t>
            </a:r>
          </a:p>
        </p:txBody>
      </p:sp>
      <p:sp>
        <p:nvSpPr>
          <p:cNvPr id="50180" name="Rectangle 3"/>
          <p:cNvSpPr>
            <a:spLocks noGrp="1" noChangeArrowheads="1"/>
          </p:cNvSpPr>
          <p:nvPr>
            <p:ph type="body" idx="1"/>
          </p:nvPr>
        </p:nvSpPr>
        <p:spPr>
          <a:xfrm>
            <a:off x="1042988" y="1873250"/>
            <a:ext cx="7772400" cy="5084763"/>
          </a:xfrm>
        </p:spPr>
        <p:txBody>
          <a:bodyPr/>
          <a:lstStyle/>
          <a:p>
            <a:pPr eaLnBrk="1" hangingPunct="1">
              <a:lnSpc>
                <a:spcPct val="90000"/>
              </a:lnSpc>
            </a:pPr>
            <a:r>
              <a:rPr lang="zh-CN" altLang="en-US" smtClean="0"/>
              <a:t>如果发送方发送了前 </a:t>
            </a:r>
            <a:r>
              <a:rPr lang="en-US" altLang="zh-CN" smtClean="0"/>
              <a:t>5 </a:t>
            </a:r>
            <a:r>
              <a:rPr lang="zh-CN" altLang="en-US" smtClean="0"/>
              <a:t>个分组，而中间的第 </a:t>
            </a:r>
            <a:r>
              <a:rPr lang="en-US" altLang="zh-CN" smtClean="0"/>
              <a:t>3 </a:t>
            </a:r>
            <a:r>
              <a:rPr lang="zh-CN" altLang="en-US" smtClean="0"/>
              <a:t>个分组丢失了。这时接收方只能对前两个分组发出确认。发送方无法知道后面三个分组的下落，而只好把后面的三个分组都再重传一次。</a:t>
            </a:r>
          </a:p>
          <a:p>
            <a:pPr eaLnBrk="1" hangingPunct="1">
              <a:lnSpc>
                <a:spcPct val="90000"/>
              </a:lnSpc>
            </a:pPr>
            <a:r>
              <a:rPr lang="zh-CN" altLang="en-US" smtClean="0"/>
              <a:t>这就叫做 </a:t>
            </a:r>
            <a:r>
              <a:rPr lang="en-US" altLang="zh-CN" smtClean="0"/>
              <a:t>Go-back-N</a:t>
            </a:r>
            <a:r>
              <a:rPr lang="zh-CN" altLang="en-US" smtClean="0"/>
              <a:t>（回退 </a:t>
            </a:r>
            <a:r>
              <a:rPr lang="en-US" altLang="zh-CN" smtClean="0"/>
              <a:t>N</a:t>
            </a:r>
            <a:r>
              <a:rPr lang="zh-CN" altLang="en-US" smtClean="0"/>
              <a:t>），表示需要再退回来重传已发送过的 </a:t>
            </a:r>
            <a:r>
              <a:rPr lang="en-US" altLang="zh-CN" i="1" smtClean="0"/>
              <a:t>N </a:t>
            </a:r>
            <a:r>
              <a:rPr lang="zh-CN" altLang="en-US" smtClean="0"/>
              <a:t>个分组。</a:t>
            </a:r>
          </a:p>
          <a:p>
            <a:pPr eaLnBrk="1" hangingPunct="1">
              <a:lnSpc>
                <a:spcPct val="90000"/>
              </a:lnSpc>
            </a:pPr>
            <a:r>
              <a:rPr lang="zh-CN" altLang="en-US" smtClean="0"/>
              <a:t>可见当通信线路质量不好时，连续 </a:t>
            </a:r>
            <a:r>
              <a:rPr lang="en-US" altLang="zh-CN" smtClean="0"/>
              <a:t>ARQ </a:t>
            </a:r>
            <a:r>
              <a:rPr lang="zh-CN" altLang="en-US" smtClean="0"/>
              <a:t>协议会带来负面的影响。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F142817C-5276-45E2-9CE0-B615AABF57FA}" type="slidenum">
              <a:rPr lang="en-US" altLang="zh-CN" sz="1400"/>
              <a:pPr eaLnBrk="1" hangingPunct="1"/>
              <a:t>48</a:t>
            </a:fld>
            <a:endParaRPr lang="en-US" altLang="zh-CN" sz="1400"/>
          </a:p>
        </p:txBody>
      </p:sp>
      <p:sp>
        <p:nvSpPr>
          <p:cNvPr id="51203" name="Rectangle 2"/>
          <p:cNvSpPr>
            <a:spLocks noGrp="1" noChangeArrowheads="1"/>
          </p:cNvSpPr>
          <p:nvPr>
            <p:ph type="title"/>
          </p:nvPr>
        </p:nvSpPr>
        <p:spPr/>
        <p:txBody>
          <a:bodyPr/>
          <a:lstStyle/>
          <a:p>
            <a:pPr algn="ctr" eaLnBrk="1" hangingPunct="1"/>
            <a:r>
              <a:rPr lang="en-US" altLang="zh-CN" sz="4000" smtClean="0"/>
              <a:t>TCP </a:t>
            </a:r>
            <a:r>
              <a:rPr lang="zh-CN" altLang="en-US" sz="4000" smtClean="0"/>
              <a:t>可靠通信的具体实现 </a:t>
            </a:r>
          </a:p>
        </p:txBody>
      </p:sp>
      <p:sp>
        <p:nvSpPr>
          <p:cNvPr id="51204" name="Rectangle 3"/>
          <p:cNvSpPr>
            <a:spLocks noGrp="1" noChangeArrowheads="1"/>
          </p:cNvSpPr>
          <p:nvPr>
            <p:ph type="body" idx="1"/>
          </p:nvPr>
        </p:nvSpPr>
        <p:spPr>
          <a:xfrm>
            <a:off x="1042988" y="1917700"/>
            <a:ext cx="7772400" cy="4824413"/>
          </a:xfrm>
        </p:spPr>
        <p:txBody>
          <a:bodyPr/>
          <a:lstStyle/>
          <a:p>
            <a:pPr eaLnBrk="1" hangingPunct="1">
              <a:lnSpc>
                <a:spcPct val="90000"/>
              </a:lnSpc>
            </a:pPr>
            <a:r>
              <a:rPr lang="en-US" altLang="zh-CN" smtClean="0"/>
              <a:t>TCP </a:t>
            </a:r>
            <a:r>
              <a:rPr lang="zh-CN" altLang="en-US" smtClean="0"/>
              <a:t>连接的每一端都必须设有两个窗口</a:t>
            </a:r>
            <a:r>
              <a:rPr lang="en-US" altLang="zh-CN" smtClean="0"/>
              <a:t>——</a:t>
            </a:r>
            <a:r>
              <a:rPr lang="zh-CN" altLang="en-US" smtClean="0"/>
              <a:t>一个</a:t>
            </a:r>
            <a:r>
              <a:rPr lang="zh-CN" altLang="en-US" smtClean="0">
                <a:solidFill>
                  <a:schemeClr val="hlink"/>
                </a:solidFill>
              </a:rPr>
              <a:t>发送窗口</a:t>
            </a:r>
            <a:r>
              <a:rPr lang="zh-CN" altLang="en-US" smtClean="0"/>
              <a:t>和一个</a:t>
            </a:r>
            <a:r>
              <a:rPr lang="zh-CN" altLang="en-US" smtClean="0">
                <a:solidFill>
                  <a:schemeClr val="hlink"/>
                </a:solidFill>
              </a:rPr>
              <a:t>接收窗口</a:t>
            </a:r>
            <a:r>
              <a:rPr lang="zh-CN" altLang="en-US" smtClean="0"/>
              <a:t>。</a:t>
            </a:r>
          </a:p>
          <a:p>
            <a:pPr eaLnBrk="1" hangingPunct="1">
              <a:lnSpc>
                <a:spcPct val="90000"/>
              </a:lnSpc>
            </a:pPr>
            <a:r>
              <a:rPr lang="zh-CN" altLang="en-US" smtClean="0"/>
              <a:t> </a:t>
            </a:r>
            <a:r>
              <a:rPr lang="en-US" altLang="zh-CN" smtClean="0"/>
              <a:t>TCP </a:t>
            </a:r>
            <a:r>
              <a:rPr lang="zh-CN" altLang="en-US" smtClean="0"/>
              <a:t>的可靠传输机制用</a:t>
            </a:r>
            <a:r>
              <a:rPr lang="zh-CN" altLang="en-US" smtClean="0">
                <a:solidFill>
                  <a:schemeClr val="hlink"/>
                </a:solidFill>
              </a:rPr>
              <a:t>字节的序号</a:t>
            </a:r>
            <a:r>
              <a:rPr lang="zh-CN" altLang="en-US" smtClean="0"/>
              <a:t>进行控制。</a:t>
            </a:r>
            <a:r>
              <a:rPr lang="en-US" altLang="zh-CN" smtClean="0"/>
              <a:t>TCP </a:t>
            </a:r>
            <a:r>
              <a:rPr lang="zh-CN" altLang="en-US" smtClean="0"/>
              <a:t>所有的确认都是</a:t>
            </a:r>
            <a:r>
              <a:rPr lang="zh-CN" altLang="en-US" smtClean="0">
                <a:solidFill>
                  <a:schemeClr val="hlink"/>
                </a:solidFill>
              </a:rPr>
              <a:t>基于序号</a:t>
            </a:r>
            <a:r>
              <a:rPr lang="zh-CN" altLang="en-US" smtClean="0"/>
              <a:t>而不是基于报文段。</a:t>
            </a:r>
          </a:p>
          <a:p>
            <a:pPr eaLnBrk="1" hangingPunct="1">
              <a:lnSpc>
                <a:spcPct val="90000"/>
              </a:lnSpc>
            </a:pPr>
            <a:r>
              <a:rPr lang="zh-CN" altLang="en-US" smtClean="0"/>
              <a:t> </a:t>
            </a:r>
            <a:r>
              <a:rPr lang="en-US" altLang="zh-CN" smtClean="0"/>
              <a:t>TCP </a:t>
            </a:r>
            <a:r>
              <a:rPr lang="zh-CN" altLang="en-US" smtClean="0"/>
              <a:t>两端的四个窗口经常处于</a:t>
            </a:r>
            <a:r>
              <a:rPr lang="zh-CN" altLang="en-US" smtClean="0">
                <a:solidFill>
                  <a:schemeClr val="hlink"/>
                </a:solidFill>
              </a:rPr>
              <a:t>动态变化</a:t>
            </a:r>
            <a:r>
              <a:rPr lang="zh-CN" altLang="en-US" smtClean="0"/>
              <a:t>之中。</a:t>
            </a:r>
          </a:p>
          <a:p>
            <a:pPr eaLnBrk="1" hangingPunct="1">
              <a:lnSpc>
                <a:spcPct val="90000"/>
              </a:lnSpc>
            </a:pPr>
            <a:r>
              <a:rPr lang="en-US" altLang="zh-CN" smtClean="0"/>
              <a:t>TCP</a:t>
            </a:r>
            <a:r>
              <a:rPr lang="zh-CN" altLang="en-US" smtClean="0"/>
              <a:t>连接的往返时间 </a:t>
            </a:r>
            <a:r>
              <a:rPr lang="en-US" altLang="zh-CN" smtClean="0"/>
              <a:t>RTT </a:t>
            </a:r>
            <a:r>
              <a:rPr lang="zh-CN" altLang="en-US" smtClean="0"/>
              <a:t>也</a:t>
            </a:r>
            <a:r>
              <a:rPr lang="zh-CN" altLang="en-US" smtClean="0">
                <a:solidFill>
                  <a:schemeClr val="hlink"/>
                </a:solidFill>
              </a:rPr>
              <a:t>不是固定不变的</a:t>
            </a:r>
            <a:r>
              <a:rPr lang="zh-CN" altLang="en-US" smtClean="0"/>
              <a:t>。需要使用特定的算法估算较为合理的重传时间。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AutoShape 4"/>
          <p:cNvSpPr>
            <a:spLocks noChangeArrowheads="1"/>
          </p:cNvSpPr>
          <p:nvPr/>
        </p:nvSpPr>
        <p:spPr bwMode="auto">
          <a:xfrm>
            <a:off x="657225" y="6289675"/>
            <a:ext cx="635000" cy="252413"/>
          </a:xfrm>
          <a:prstGeom prst="leftArrow">
            <a:avLst>
              <a:gd name="adj1" fmla="val 50000"/>
              <a:gd name="adj2" fmla="val 6289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27" name="Rectangle 106"/>
          <p:cNvSpPr>
            <a:spLocks noChangeArrowheads="1"/>
          </p:cNvSpPr>
          <p:nvPr/>
        </p:nvSpPr>
        <p:spPr bwMode="auto">
          <a:xfrm>
            <a:off x="1258888" y="6164263"/>
            <a:ext cx="1225550" cy="504825"/>
          </a:xfrm>
          <a:prstGeom prst="rect">
            <a:avLst/>
          </a:prstGeom>
          <a:solidFill>
            <a:srgbClr val="CCFF99"/>
          </a:solidFill>
          <a:ln w="190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28" name="Line 33"/>
          <p:cNvSpPr>
            <a:spLocks noChangeShapeType="1"/>
          </p:cNvSpPr>
          <p:nvPr/>
        </p:nvSpPr>
        <p:spPr bwMode="auto">
          <a:xfrm flipH="1">
            <a:off x="928688" y="1697038"/>
            <a:ext cx="15875" cy="275748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29" name="Rectangle 34"/>
          <p:cNvSpPr>
            <a:spLocks noChangeArrowheads="1"/>
          </p:cNvSpPr>
          <p:nvPr/>
        </p:nvSpPr>
        <p:spPr bwMode="auto">
          <a:xfrm>
            <a:off x="638175" y="2767013"/>
            <a:ext cx="587375" cy="5302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1600">
                <a:solidFill>
                  <a:srgbClr val="333399"/>
                </a:solidFill>
                <a:latin typeface="Arial" pitchFamily="34" charset="0"/>
                <a:ea typeface="黑体" pitchFamily="49" charset="-122"/>
              </a:rPr>
              <a:t>TCP</a:t>
            </a:r>
          </a:p>
          <a:p>
            <a:pPr defTabSz="762000" eaLnBrk="0" hangingPunct="0">
              <a:lnSpc>
                <a:spcPct val="90000"/>
              </a:lnSpc>
            </a:pPr>
            <a:r>
              <a:rPr kumimoji="1" lang="zh-CN" altLang="en-US" sz="1600">
                <a:solidFill>
                  <a:srgbClr val="333399"/>
                </a:solidFill>
                <a:latin typeface="Arial" pitchFamily="34" charset="0"/>
                <a:ea typeface="黑体" pitchFamily="49" charset="-122"/>
              </a:rPr>
              <a:t>首部</a:t>
            </a:r>
          </a:p>
        </p:txBody>
      </p:sp>
      <p:sp>
        <p:nvSpPr>
          <p:cNvPr id="52230" name="Line 35"/>
          <p:cNvSpPr>
            <a:spLocks noChangeShapeType="1"/>
          </p:cNvSpPr>
          <p:nvPr/>
        </p:nvSpPr>
        <p:spPr bwMode="auto">
          <a:xfrm>
            <a:off x="8453438" y="1690688"/>
            <a:ext cx="0" cy="2316162"/>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1" name="Rectangle 36"/>
          <p:cNvSpPr>
            <a:spLocks noChangeArrowheads="1"/>
          </p:cNvSpPr>
          <p:nvPr/>
        </p:nvSpPr>
        <p:spPr bwMode="auto">
          <a:xfrm>
            <a:off x="8002588" y="2509838"/>
            <a:ext cx="1073150" cy="5302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1600">
                <a:solidFill>
                  <a:srgbClr val="333399"/>
                </a:solidFill>
                <a:latin typeface="Arial" pitchFamily="34" charset="0"/>
                <a:ea typeface="黑体" pitchFamily="49" charset="-122"/>
              </a:rPr>
              <a:t>20 </a:t>
            </a:r>
            <a:r>
              <a:rPr kumimoji="1" lang="zh-CN" altLang="en-US" sz="1600">
                <a:solidFill>
                  <a:srgbClr val="333399"/>
                </a:solidFill>
                <a:latin typeface="Arial" pitchFamily="34" charset="0"/>
                <a:ea typeface="黑体" pitchFamily="49" charset="-122"/>
              </a:rPr>
              <a:t>字节的</a:t>
            </a:r>
          </a:p>
          <a:p>
            <a:pPr algn="ctr" defTabSz="762000" eaLnBrk="0" hangingPunct="0">
              <a:lnSpc>
                <a:spcPct val="90000"/>
              </a:lnSpc>
            </a:pPr>
            <a:r>
              <a:rPr kumimoji="1" lang="zh-CN" altLang="en-US" sz="1600">
                <a:solidFill>
                  <a:srgbClr val="333399"/>
                </a:solidFill>
                <a:latin typeface="Arial" pitchFamily="34" charset="0"/>
                <a:ea typeface="黑体" pitchFamily="49" charset="-122"/>
              </a:rPr>
              <a:t>固定首部</a:t>
            </a:r>
          </a:p>
        </p:txBody>
      </p:sp>
      <p:sp>
        <p:nvSpPr>
          <p:cNvPr id="52232" name="Rectangle 75"/>
          <p:cNvSpPr>
            <a:spLocks noChangeArrowheads="1"/>
          </p:cNvSpPr>
          <p:nvPr/>
        </p:nvSpPr>
        <p:spPr bwMode="auto">
          <a:xfrm>
            <a:off x="1217613" y="1695450"/>
            <a:ext cx="6810375" cy="2763838"/>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3" name="Freeform 5"/>
          <p:cNvSpPr>
            <a:spLocks/>
          </p:cNvSpPr>
          <p:nvPr/>
        </p:nvSpPr>
        <p:spPr bwMode="auto">
          <a:xfrm>
            <a:off x="1227138" y="4459288"/>
            <a:ext cx="6826250" cy="757237"/>
          </a:xfrm>
          <a:custGeom>
            <a:avLst/>
            <a:gdLst>
              <a:gd name="T0" fmla="*/ 0 w 4626"/>
              <a:gd name="T1" fmla="*/ 0 h 544"/>
              <a:gd name="T2" fmla="*/ 1270515 w 4626"/>
              <a:gd name="T3" fmla="*/ 757237 h 544"/>
              <a:gd name="T4" fmla="*/ 2676787 w 4626"/>
              <a:gd name="T5" fmla="*/ 757237 h 544"/>
              <a:gd name="T6" fmla="*/ 6826250 w 4626"/>
              <a:gd name="T7" fmla="*/ 0 h 544"/>
              <a:gd name="T8" fmla="*/ 0 w 4626"/>
              <a:gd name="T9" fmla="*/ 0 h 5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B2B28E"/>
              </a:gs>
              <a:gs pos="100000">
                <a:srgbClr val="FFFFCC"/>
              </a:gs>
            </a:gsLst>
            <a:lin ang="5400000" scaled="1"/>
          </a:gra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4" name="Line 6"/>
          <p:cNvSpPr>
            <a:spLocks noChangeShapeType="1"/>
          </p:cNvSpPr>
          <p:nvPr/>
        </p:nvSpPr>
        <p:spPr bwMode="auto">
          <a:xfrm>
            <a:off x="1211263" y="2165350"/>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5" name="Line 7"/>
          <p:cNvSpPr>
            <a:spLocks noChangeShapeType="1"/>
          </p:cNvSpPr>
          <p:nvPr/>
        </p:nvSpPr>
        <p:spPr bwMode="auto">
          <a:xfrm>
            <a:off x="1223963" y="2630488"/>
            <a:ext cx="6808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6" name="Line 8"/>
          <p:cNvSpPr>
            <a:spLocks noChangeShapeType="1"/>
          </p:cNvSpPr>
          <p:nvPr/>
        </p:nvSpPr>
        <p:spPr bwMode="auto">
          <a:xfrm>
            <a:off x="1211263" y="3094038"/>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7" name="Line 9"/>
          <p:cNvSpPr>
            <a:spLocks noChangeShapeType="1"/>
          </p:cNvSpPr>
          <p:nvPr/>
        </p:nvSpPr>
        <p:spPr bwMode="auto">
          <a:xfrm>
            <a:off x="1211263" y="3557588"/>
            <a:ext cx="68214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8" name="Line 10"/>
          <p:cNvSpPr>
            <a:spLocks noChangeShapeType="1"/>
          </p:cNvSpPr>
          <p:nvPr/>
        </p:nvSpPr>
        <p:spPr bwMode="auto">
          <a:xfrm>
            <a:off x="1223963" y="4022725"/>
            <a:ext cx="6808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9" name="Line 11"/>
          <p:cNvSpPr>
            <a:spLocks noChangeShapeType="1"/>
          </p:cNvSpPr>
          <p:nvPr/>
        </p:nvSpPr>
        <p:spPr bwMode="auto">
          <a:xfrm>
            <a:off x="4624388" y="1700213"/>
            <a:ext cx="0" cy="4746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0" name="Rectangle 12"/>
          <p:cNvSpPr>
            <a:spLocks noChangeArrowheads="1"/>
          </p:cNvSpPr>
          <p:nvPr/>
        </p:nvSpPr>
        <p:spPr bwMode="auto">
          <a:xfrm>
            <a:off x="5688013" y="1785938"/>
            <a:ext cx="13366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目  的  端  口</a:t>
            </a:r>
          </a:p>
        </p:txBody>
      </p:sp>
      <p:sp>
        <p:nvSpPr>
          <p:cNvPr id="52241" name="Rectangle 13"/>
          <p:cNvSpPr>
            <a:spLocks noChangeArrowheads="1"/>
          </p:cNvSpPr>
          <p:nvPr/>
        </p:nvSpPr>
        <p:spPr bwMode="auto">
          <a:xfrm>
            <a:off x="1354138" y="3035300"/>
            <a:ext cx="58737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数据</a:t>
            </a:r>
          </a:p>
          <a:p>
            <a:pPr defTabSz="762000" eaLnBrk="0" hangingPunct="0"/>
            <a:r>
              <a:rPr kumimoji="1" lang="zh-CN" altLang="en-US" sz="1600">
                <a:solidFill>
                  <a:srgbClr val="333399"/>
                </a:solidFill>
                <a:latin typeface="Arial" pitchFamily="34" charset="0"/>
                <a:ea typeface="黑体" pitchFamily="49" charset="-122"/>
              </a:rPr>
              <a:t>偏移</a:t>
            </a:r>
          </a:p>
        </p:txBody>
      </p:sp>
      <p:sp>
        <p:nvSpPr>
          <p:cNvPr id="52242" name="Rectangle 14"/>
          <p:cNvSpPr>
            <a:spLocks noChangeArrowheads="1"/>
          </p:cNvSpPr>
          <p:nvPr/>
        </p:nvSpPr>
        <p:spPr bwMode="auto">
          <a:xfrm>
            <a:off x="2309813" y="3649663"/>
            <a:ext cx="11334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检   验   和</a:t>
            </a:r>
          </a:p>
        </p:txBody>
      </p:sp>
      <p:sp>
        <p:nvSpPr>
          <p:cNvPr id="52243" name="Rectangle 15"/>
          <p:cNvSpPr>
            <a:spLocks noChangeArrowheads="1"/>
          </p:cNvSpPr>
          <p:nvPr/>
        </p:nvSpPr>
        <p:spPr bwMode="auto">
          <a:xfrm>
            <a:off x="2489200" y="4078288"/>
            <a:ext cx="28336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选    项    （长  度  可  变）</a:t>
            </a:r>
          </a:p>
        </p:txBody>
      </p:sp>
      <p:sp>
        <p:nvSpPr>
          <p:cNvPr id="52244" name="Rectangle 16"/>
          <p:cNvSpPr>
            <a:spLocks noChangeArrowheads="1"/>
          </p:cNvSpPr>
          <p:nvPr/>
        </p:nvSpPr>
        <p:spPr bwMode="auto">
          <a:xfrm>
            <a:off x="2411413" y="1785938"/>
            <a:ext cx="10191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源  端  口</a:t>
            </a:r>
          </a:p>
        </p:txBody>
      </p:sp>
      <p:sp>
        <p:nvSpPr>
          <p:cNvPr id="52245" name="Rectangle 17"/>
          <p:cNvSpPr>
            <a:spLocks noChangeArrowheads="1"/>
          </p:cNvSpPr>
          <p:nvPr/>
        </p:nvSpPr>
        <p:spPr bwMode="auto">
          <a:xfrm>
            <a:off x="4230688" y="2244725"/>
            <a:ext cx="769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序   号</a:t>
            </a:r>
          </a:p>
        </p:txBody>
      </p:sp>
      <p:sp>
        <p:nvSpPr>
          <p:cNvPr id="52246" name="Line 18"/>
          <p:cNvSpPr>
            <a:spLocks noChangeShapeType="1"/>
          </p:cNvSpPr>
          <p:nvPr/>
        </p:nvSpPr>
        <p:spPr bwMode="auto">
          <a:xfrm>
            <a:off x="4629150" y="3100388"/>
            <a:ext cx="0" cy="9159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7" name="Rectangle 19"/>
          <p:cNvSpPr>
            <a:spLocks noChangeArrowheads="1"/>
          </p:cNvSpPr>
          <p:nvPr/>
        </p:nvSpPr>
        <p:spPr bwMode="auto">
          <a:xfrm>
            <a:off x="5545138" y="3649663"/>
            <a:ext cx="1508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紧   急   指   针</a:t>
            </a:r>
          </a:p>
        </p:txBody>
      </p:sp>
      <p:sp>
        <p:nvSpPr>
          <p:cNvPr id="52248" name="Rectangle 20"/>
          <p:cNvSpPr>
            <a:spLocks noChangeArrowheads="1"/>
          </p:cNvSpPr>
          <p:nvPr/>
        </p:nvSpPr>
        <p:spPr bwMode="auto">
          <a:xfrm>
            <a:off x="5943600" y="3168650"/>
            <a:ext cx="7588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窗   口</a:t>
            </a:r>
          </a:p>
        </p:txBody>
      </p:sp>
      <p:sp>
        <p:nvSpPr>
          <p:cNvPr id="52249" name="Rectangle 21"/>
          <p:cNvSpPr>
            <a:spLocks noChangeArrowheads="1"/>
          </p:cNvSpPr>
          <p:nvPr/>
        </p:nvSpPr>
        <p:spPr bwMode="auto">
          <a:xfrm>
            <a:off x="4013200" y="2728913"/>
            <a:ext cx="12969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确    认    号</a:t>
            </a:r>
          </a:p>
        </p:txBody>
      </p:sp>
      <p:sp>
        <p:nvSpPr>
          <p:cNvPr id="52250" name="Line 22"/>
          <p:cNvSpPr>
            <a:spLocks noChangeShapeType="1"/>
          </p:cNvSpPr>
          <p:nvPr/>
        </p:nvSpPr>
        <p:spPr bwMode="auto">
          <a:xfrm>
            <a:off x="2065338" y="3100388"/>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51" name="Line 23"/>
          <p:cNvSpPr>
            <a:spLocks noChangeShapeType="1"/>
          </p:cNvSpPr>
          <p:nvPr/>
        </p:nvSpPr>
        <p:spPr bwMode="auto">
          <a:xfrm>
            <a:off x="3773488" y="3095625"/>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52" name="Line 24"/>
          <p:cNvSpPr>
            <a:spLocks noChangeShapeType="1"/>
          </p:cNvSpPr>
          <p:nvPr/>
        </p:nvSpPr>
        <p:spPr bwMode="auto">
          <a:xfrm>
            <a:off x="3335338" y="3100388"/>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53" name="Line 25"/>
          <p:cNvSpPr>
            <a:spLocks noChangeShapeType="1"/>
          </p:cNvSpPr>
          <p:nvPr/>
        </p:nvSpPr>
        <p:spPr bwMode="auto">
          <a:xfrm>
            <a:off x="3552825" y="3100388"/>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54" name="Line 26"/>
          <p:cNvSpPr>
            <a:spLocks noChangeShapeType="1"/>
          </p:cNvSpPr>
          <p:nvPr/>
        </p:nvSpPr>
        <p:spPr bwMode="auto">
          <a:xfrm>
            <a:off x="4198938" y="3100388"/>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55" name="Line 27"/>
          <p:cNvSpPr>
            <a:spLocks noChangeShapeType="1"/>
          </p:cNvSpPr>
          <p:nvPr/>
        </p:nvSpPr>
        <p:spPr bwMode="auto">
          <a:xfrm>
            <a:off x="3986213" y="3100388"/>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56" name="Line 28"/>
          <p:cNvSpPr>
            <a:spLocks noChangeShapeType="1"/>
          </p:cNvSpPr>
          <p:nvPr/>
        </p:nvSpPr>
        <p:spPr bwMode="auto">
          <a:xfrm>
            <a:off x="4416425" y="3100388"/>
            <a:ext cx="0" cy="4556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57" name="Rectangle 29"/>
          <p:cNvSpPr>
            <a:spLocks noChangeArrowheads="1"/>
          </p:cNvSpPr>
          <p:nvPr/>
        </p:nvSpPr>
        <p:spPr bwMode="auto">
          <a:xfrm>
            <a:off x="2332038" y="3178175"/>
            <a:ext cx="7588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保   留</a:t>
            </a:r>
          </a:p>
        </p:txBody>
      </p:sp>
      <p:sp>
        <p:nvSpPr>
          <p:cNvPr id="52258" name="Rectangle 30"/>
          <p:cNvSpPr>
            <a:spLocks noChangeArrowheads="1"/>
          </p:cNvSpPr>
          <p:nvPr/>
        </p:nvSpPr>
        <p:spPr bwMode="auto">
          <a:xfrm>
            <a:off x="4391025" y="3113088"/>
            <a:ext cx="29051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2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2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200" b="1">
                <a:solidFill>
                  <a:srgbClr val="333399"/>
                </a:solidFill>
                <a:latin typeface="Arial" pitchFamily="34" charset="0"/>
                <a:ea typeface="黑体" pitchFamily="49" charset="-122"/>
              </a:rPr>
              <a:t>N</a:t>
            </a:r>
          </a:p>
        </p:txBody>
      </p:sp>
      <p:sp>
        <p:nvSpPr>
          <p:cNvPr id="52259" name="Line 31"/>
          <p:cNvSpPr>
            <a:spLocks noChangeShapeType="1"/>
          </p:cNvSpPr>
          <p:nvPr/>
        </p:nvSpPr>
        <p:spPr bwMode="auto">
          <a:xfrm>
            <a:off x="1228725" y="1082675"/>
            <a:ext cx="679450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0" name="Rectangle 32"/>
          <p:cNvSpPr>
            <a:spLocks noChangeArrowheads="1"/>
          </p:cNvSpPr>
          <p:nvPr/>
        </p:nvSpPr>
        <p:spPr bwMode="auto">
          <a:xfrm>
            <a:off x="4292600" y="922338"/>
            <a:ext cx="727075" cy="3635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32 </a:t>
            </a:r>
            <a:r>
              <a:rPr kumimoji="1" lang="zh-CN" altLang="en-US" sz="1800">
                <a:solidFill>
                  <a:srgbClr val="333399"/>
                </a:solidFill>
                <a:latin typeface="Arial" pitchFamily="34" charset="0"/>
                <a:ea typeface="黑体" pitchFamily="49" charset="-122"/>
              </a:rPr>
              <a:t>位</a:t>
            </a:r>
          </a:p>
        </p:txBody>
      </p:sp>
      <p:sp>
        <p:nvSpPr>
          <p:cNvPr id="52261" name="Line 37"/>
          <p:cNvSpPr>
            <a:spLocks noChangeShapeType="1"/>
          </p:cNvSpPr>
          <p:nvPr/>
        </p:nvSpPr>
        <p:spPr bwMode="auto">
          <a:xfrm>
            <a:off x="1214438" y="1590675"/>
            <a:ext cx="68008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2" name="Line 38"/>
          <p:cNvSpPr>
            <a:spLocks noChangeShapeType="1"/>
          </p:cNvSpPr>
          <p:nvPr/>
        </p:nvSpPr>
        <p:spPr bwMode="auto">
          <a:xfrm>
            <a:off x="1214438" y="14573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3" name="Line 39"/>
          <p:cNvSpPr>
            <a:spLocks noChangeShapeType="1"/>
          </p:cNvSpPr>
          <p:nvPr/>
        </p:nvSpPr>
        <p:spPr bwMode="auto">
          <a:xfrm>
            <a:off x="1427163"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4" name="Line 40"/>
          <p:cNvSpPr>
            <a:spLocks noChangeShapeType="1"/>
          </p:cNvSpPr>
          <p:nvPr/>
        </p:nvSpPr>
        <p:spPr bwMode="auto">
          <a:xfrm>
            <a:off x="1639888"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5" name="Line 41"/>
          <p:cNvSpPr>
            <a:spLocks noChangeShapeType="1"/>
          </p:cNvSpPr>
          <p:nvPr/>
        </p:nvSpPr>
        <p:spPr bwMode="auto">
          <a:xfrm>
            <a:off x="1852613"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6" name="Line 42"/>
          <p:cNvSpPr>
            <a:spLocks noChangeShapeType="1"/>
          </p:cNvSpPr>
          <p:nvPr/>
        </p:nvSpPr>
        <p:spPr bwMode="auto">
          <a:xfrm>
            <a:off x="2065338"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7" name="Line 43"/>
          <p:cNvSpPr>
            <a:spLocks noChangeShapeType="1"/>
          </p:cNvSpPr>
          <p:nvPr/>
        </p:nvSpPr>
        <p:spPr bwMode="auto">
          <a:xfrm>
            <a:off x="2278063"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8" name="Line 44"/>
          <p:cNvSpPr>
            <a:spLocks noChangeShapeType="1"/>
          </p:cNvSpPr>
          <p:nvPr/>
        </p:nvSpPr>
        <p:spPr bwMode="auto">
          <a:xfrm>
            <a:off x="2489200"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69" name="Line 45"/>
          <p:cNvSpPr>
            <a:spLocks noChangeShapeType="1"/>
          </p:cNvSpPr>
          <p:nvPr/>
        </p:nvSpPr>
        <p:spPr bwMode="auto">
          <a:xfrm>
            <a:off x="2701925"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0" name="Line 46"/>
          <p:cNvSpPr>
            <a:spLocks noChangeShapeType="1"/>
          </p:cNvSpPr>
          <p:nvPr/>
        </p:nvSpPr>
        <p:spPr bwMode="auto">
          <a:xfrm>
            <a:off x="2914650" y="14573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1" name="Line 47"/>
          <p:cNvSpPr>
            <a:spLocks noChangeShapeType="1"/>
          </p:cNvSpPr>
          <p:nvPr/>
        </p:nvSpPr>
        <p:spPr bwMode="auto">
          <a:xfrm>
            <a:off x="3127375"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2" name="Line 48"/>
          <p:cNvSpPr>
            <a:spLocks noChangeShapeType="1"/>
          </p:cNvSpPr>
          <p:nvPr/>
        </p:nvSpPr>
        <p:spPr bwMode="auto">
          <a:xfrm>
            <a:off x="3340100"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3" name="Line 49"/>
          <p:cNvSpPr>
            <a:spLocks noChangeShapeType="1"/>
          </p:cNvSpPr>
          <p:nvPr/>
        </p:nvSpPr>
        <p:spPr bwMode="auto">
          <a:xfrm>
            <a:off x="3552825"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4" name="Line 50"/>
          <p:cNvSpPr>
            <a:spLocks noChangeShapeType="1"/>
          </p:cNvSpPr>
          <p:nvPr/>
        </p:nvSpPr>
        <p:spPr bwMode="auto">
          <a:xfrm>
            <a:off x="3765550"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5" name="Line 51"/>
          <p:cNvSpPr>
            <a:spLocks noChangeShapeType="1"/>
          </p:cNvSpPr>
          <p:nvPr/>
        </p:nvSpPr>
        <p:spPr bwMode="auto">
          <a:xfrm>
            <a:off x="3978275"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6" name="Line 52"/>
          <p:cNvSpPr>
            <a:spLocks noChangeShapeType="1"/>
          </p:cNvSpPr>
          <p:nvPr/>
        </p:nvSpPr>
        <p:spPr bwMode="auto">
          <a:xfrm>
            <a:off x="4189413"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7" name="Line 53"/>
          <p:cNvSpPr>
            <a:spLocks noChangeShapeType="1"/>
          </p:cNvSpPr>
          <p:nvPr/>
        </p:nvSpPr>
        <p:spPr bwMode="auto">
          <a:xfrm>
            <a:off x="4402138"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8" name="Line 54"/>
          <p:cNvSpPr>
            <a:spLocks noChangeShapeType="1"/>
          </p:cNvSpPr>
          <p:nvPr/>
        </p:nvSpPr>
        <p:spPr bwMode="auto">
          <a:xfrm>
            <a:off x="4614863" y="14573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79" name="Line 55"/>
          <p:cNvSpPr>
            <a:spLocks noChangeShapeType="1"/>
          </p:cNvSpPr>
          <p:nvPr/>
        </p:nvSpPr>
        <p:spPr bwMode="auto">
          <a:xfrm>
            <a:off x="4827588"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0" name="Line 56"/>
          <p:cNvSpPr>
            <a:spLocks noChangeShapeType="1"/>
          </p:cNvSpPr>
          <p:nvPr/>
        </p:nvSpPr>
        <p:spPr bwMode="auto">
          <a:xfrm>
            <a:off x="5040313"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1" name="Line 57"/>
          <p:cNvSpPr>
            <a:spLocks noChangeShapeType="1"/>
          </p:cNvSpPr>
          <p:nvPr/>
        </p:nvSpPr>
        <p:spPr bwMode="auto">
          <a:xfrm>
            <a:off x="5253038"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2" name="Line 58"/>
          <p:cNvSpPr>
            <a:spLocks noChangeShapeType="1"/>
          </p:cNvSpPr>
          <p:nvPr/>
        </p:nvSpPr>
        <p:spPr bwMode="auto">
          <a:xfrm>
            <a:off x="5465763"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3" name="Line 59"/>
          <p:cNvSpPr>
            <a:spLocks noChangeShapeType="1"/>
          </p:cNvSpPr>
          <p:nvPr/>
        </p:nvSpPr>
        <p:spPr bwMode="auto">
          <a:xfrm>
            <a:off x="5678488"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4" name="Line 60"/>
          <p:cNvSpPr>
            <a:spLocks noChangeShapeType="1"/>
          </p:cNvSpPr>
          <p:nvPr/>
        </p:nvSpPr>
        <p:spPr bwMode="auto">
          <a:xfrm>
            <a:off x="5889625"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5" name="Line 61"/>
          <p:cNvSpPr>
            <a:spLocks noChangeShapeType="1"/>
          </p:cNvSpPr>
          <p:nvPr/>
        </p:nvSpPr>
        <p:spPr bwMode="auto">
          <a:xfrm>
            <a:off x="6102350"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6" name="Line 62"/>
          <p:cNvSpPr>
            <a:spLocks noChangeShapeType="1"/>
          </p:cNvSpPr>
          <p:nvPr/>
        </p:nvSpPr>
        <p:spPr bwMode="auto">
          <a:xfrm>
            <a:off x="6315075" y="14573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7" name="Line 63"/>
          <p:cNvSpPr>
            <a:spLocks noChangeShapeType="1"/>
          </p:cNvSpPr>
          <p:nvPr/>
        </p:nvSpPr>
        <p:spPr bwMode="auto">
          <a:xfrm>
            <a:off x="6527800"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8" name="Line 64"/>
          <p:cNvSpPr>
            <a:spLocks noChangeShapeType="1"/>
          </p:cNvSpPr>
          <p:nvPr/>
        </p:nvSpPr>
        <p:spPr bwMode="auto">
          <a:xfrm>
            <a:off x="6740525"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89" name="Line 65"/>
          <p:cNvSpPr>
            <a:spLocks noChangeShapeType="1"/>
          </p:cNvSpPr>
          <p:nvPr/>
        </p:nvSpPr>
        <p:spPr bwMode="auto">
          <a:xfrm>
            <a:off x="6953250"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0" name="Line 66"/>
          <p:cNvSpPr>
            <a:spLocks noChangeShapeType="1"/>
          </p:cNvSpPr>
          <p:nvPr/>
        </p:nvSpPr>
        <p:spPr bwMode="auto">
          <a:xfrm>
            <a:off x="7165975"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1" name="Line 67"/>
          <p:cNvSpPr>
            <a:spLocks noChangeShapeType="1"/>
          </p:cNvSpPr>
          <p:nvPr/>
        </p:nvSpPr>
        <p:spPr bwMode="auto">
          <a:xfrm>
            <a:off x="7378700"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2" name="Line 68"/>
          <p:cNvSpPr>
            <a:spLocks noChangeShapeType="1"/>
          </p:cNvSpPr>
          <p:nvPr/>
        </p:nvSpPr>
        <p:spPr bwMode="auto">
          <a:xfrm>
            <a:off x="7589838"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3" name="Line 69"/>
          <p:cNvSpPr>
            <a:spLocks noChangeShapeType="1"/>
          </p:cNvSpPr>
          <p:nvPr/>
        </p:nvSpPr>
        <p:spPr bwMode="auto">
          <a:xfrm>
            <a:off x="7802563" y="1390650"/>
            <a:ext cx="0" cy="200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4" name="Line 70"/>
          <p:cNvSpPr>
            <a:spLocks noChangeShapeType="1"/>
          </p:cNvSpPr>
          <p:nvPr/>
        </p:nvSpPr>
        <p:spPr bwMode="auto">
          <a:xfrm>
            <a:off x="8015288" y="1457325"/>
            <a:ext cx="0" cy="13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5" name="Rectangle 71"/>
          <p:cNvSpPr>
            <a:spLocks noChangeArrowheads="1"/>
          </p:cNvSpPr>
          <p:nvPr/>
        </p:nvSpPr>
        <p:spPr bwMode="auto">
          <a:xfrm>
            <a:off x="1355725" y="1323975"/>
            <a:ext cx="1417638"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6" name="Rectangle 72"/>
          <p:cNvSpPr>
            <a:spLocks noChangeArrowheads="1"/>
          </p:cNvSpPr>
          <p:nvPr/>
        </p:nvSpPr>
        <p:spPr bwMode="auto">
          <a:xfrm>
            <a:off x="3055938" y="1323975"/>
            <a:ext cx="1417637"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7" name="Rectangle 73"/>
          <p:cNvSpPr>
            <a:spLocks noChangeArrowheads="1"/>
          </p:cNvSpPr>
          <p:nvPr/>
        </p:nvSpPr>
        <p:spPr bwMode="auto">
          <a:xfrm>
            <a:off x="4756150" y="1323975"/>
            <a:ext cx="1417638"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8" name="Rectangle 74"/>
          <p:cNvSpPr>
            <a:spLocks noChangeArrowheads="1"/>
          </p:cNvSpPr>
          <p:nvPr/>
        </p:nvSpPr>
        <p:spPr bwMode="auto">
          <a:xfrm>
            <a:off x="6456363" y="1323975"/>
            <a:ext cx="1417637" cy="20002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99" name="Rectangle 76"/>
          <p:cNvSpPr>
            <a:spLocks noChangeArrowheads="1"/>
          </p:cNvSpPr>
          <p:nvPr/>
        </p:nvSpPr>
        <p:spPr bwMode="auto">
          <a:xfrm>
            <a:off x="4189413" y="3113088"/>
            <a:ext cx="29051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333399"/>
                </a:solidFill>
                <a:latin typeface="Arial" pitchFamily="34" charset="0"/>
                <a:ea typeface="黑体" pitchFamily="49" charset="-122"/>
              </a:rPr>
              <a:t>S</a:t>
            </a:r>
          </a:p>
          <a:p>
            <a:pPr defTabSz="762000" eaLnBrk="0" hangingPunct="0">
              <a:lnSpc>
                <a:spcPct val="75000"/>
              </a:lnSpc>
            </a:pPr>
            <a:r>
              <a:rPr kumimoji="1" lang="en-US" altLang="zh-CN" sz="1200" b="1">
                <a:solidFill>
                  <a:srgbClr val="333399"/>
                </a:solidFill>
                <a:latin typeface="Arial" pitchFamily="34" charset="0"/>
                <a:ea typeface="黑体" pitchFamily="49" charset="-122"/>
              </a:rPr>
              <a:t>Y</a:t>
            </a:r>
          </a:p>
          <a:p>
            <a:pPr defTabSz="762000" eaLnBrk="0" hangingPunct="0">
              <a:lnSpc>
                <a:spcPct val="75000"/>
              </a:lnSpc>
            </a:pPr>
            <a:r>
              <a:rPr kumimoji="1" lang="en-US" altLang="zh-CN" sz="1200" b="1">
                <a:solidFill>
                  <a:srgbClr val="333399"/>
                </a:solidFill>
                <a:latin typeface="Arial" pitchFamily="34" charset="0"/>
                <a:ea typeface="黑体" pitchFamily="49" charset="-122"/>
              </a:rPr>
              <a:t>N</a:t>
            </a:r>
          </a:p>
        </p:txBody>
      </p:sp>
      <p:sp>
        <p:nvSpPr>
          <p:cNvPr id="52300" name="Rectangle 77"/>
          <p:cNvSpPr>
            <a:spLocks noChangeArrowheads="1"/>
          </p:cNvSpPr>
          <p:nvPr/>
        </p:nvSpPr>
        <p:spPr bwMode="auto">
          <a:xfrm>
            <a:off x="3978275" y="3113088"/>
            <a:ext cx="29051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333399"/>
                </a:solidFill>
                <a:latin typeface="Arial" pitchFamily="34" charset="0"/>
                <a:ea typeface="黑体" pitchFamily="49" charset="-122"/>
              </a:rPr>
              <a:t>R</a:t>
            </a:r>
          </a:p>
          <a:p>
            <a:pPr defTabSz="762000" eaLnBrk="0" hangingPunct="0">
              <a:lnSpc>
                <a:spcPct val="75000"/>
              </a:lnSpc>
            </a:pPr>
            <a:r>
              <a:rPr kumimoji="1" lang="en-US" altLang="zh-CN" sz="1200" b="1">
                <a:solidFill>
                  <a:srgbClr val="333399"/>
                </a:solidFill>
                <a:latin typeface="Arial" pitchFamily="34" charset="0"/>
                <a:ea typeface="黑体" pitchFamily="49" charset="-122"/>
              </a:rPr>
              <a:t>S</a:t>
            </a:r>
          </a:p>
          <a:p>
            <a:pPr defTabSz="762000" eaLnBrk="0" hangingPunct="0">
              <a:lnSpc>
                <a:spcPct val="75000"/>
              </a:lnSpc>
            </a:pPr>
            <a:r>
              <a:rPr kumimoji="1" lang="en-US" altLang="zh-CN" sz="1200" b="1">
                <a:solidFill>
                  <a:srgbClr val="333399"/>
                </a:solidFill>
                <a:latin typeface="Arial" pitchFamily="34" charset="0"/>
                <a:ea typeface="黑体" pitchFamily="49" charset="-122"/>
              </a:rPr>
              <a:t>T</a:t>
            </a:r>
          </a:p>
        </p:txBody>
      </p:sp>
      <p:sp>
        <p:nvSpPr>
          <p:cNvPr id="52301" name="Rectangle 78"/>
          <p:cNvSpPr>
            <a:spLocks noChangeArrowheads="1"/>
          </p:cNvSpPr>
          <p:nvPr/>
        </p:nvSpPr>
        <p:spPr bwMode="auto">
          <a:xfrm>
            <a:off x="3751263" y="3113088"/>
            <a:ext cx="29051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333399"/>
                </a:solidFill>
                <a:latin typeface="Arial" pitchFamily="34" charset="0"/>
                <a:ea typeface="黑体" pitchFamily="49" charset="-122"/>
              </a:rPr>
              <a:t>P</a:t>
            </a:r>
          </a:p>
          <a:p>
            <a:pPr defTabSz="762000" eaLnBrk="0" hangingPunct="0">
              <a:lnSpc>
                <a:spcPct val="75000"/>
              </a:lnSpc>
            </a:pPr>
            <a:r>
              <a:rPr kumimoji="1" lang="en-US" altLang="zh-CN" sz="1200" b="1">
                <a:solidFill>
                  <a:srgbClr val="333399"/>
                </a:solidFill>
                <a:latin typeface="Arial" pitchFamily="34" charset="0"/>
                <a:ea typeface="黑体" pitchFamily="49" charset="-122"/>
              </a:rPr>
              <a:t>S</a:t>
            </a:r>
          </a:p>
          <a:p>
            <a:pPr defTabSz="762000" eaLnBrk="0" hangingPunct="0">
              <a:lnSpc>
                <a:spcPct val="75000"/>
              </a:lnSpc>
            </a:pPr>
            <a:r>
              <a:rPr kumimoji="1" lang="en-US" altLang="zh-CN" sz="1200" b="1">
                <a:solidFill>
                  <a:srgbClr val="333399"/>
                </a:solidFill>
                <a:latin typeface="Arial" pitchFamily="34" charset="0"/>
                <a:ea typeface="黑体" pitchFamily="49" charset="-122"/>
              </a:rPr>
              <a:t>H</a:t>
            </a:r>
          </a:p>
        </p:txBody>
      </p:sp>
      <p:sp>
        <p:nvSpPr>
          <p:cNvPr id="52302" name="Rectangle 79"/>
          <p:cNvSpPr>
            <a:spLocks noChangeArrowheads="1"/>
          </p:cNvSpPr>
          <p:nvPr/>
        </p:nvSpPr>
        <p:spPr bwMode="auto">
          <a:xfrm>
            <a:off x="3538538" y="3113088"/>
            <a:ext cx="290512"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333399"/>
                </a:solidFill>
                <a:latin typeface="Arial" pitchFamily="34" charset="0"/>
                <a:ea typeface="黑体" pitchFamily="49" charset="-122"/>
              </a:rPr>
              <a:t>A</a:t>
            </a:r>
          </a:p>
          <a:p>
            <a:pPr defTabSz="762000" eaLnBrk="0" hangingPunct="0">
              <a:lnSpc>
                <a:spcPct val="75000"/>
              </a:lnSpc>
            </a:pPr>
            <a:r>
              <a:rPr kumimoji="1" lang="en-US" altLang="zh-CN" sz="1200" b="1">
                <a:solidFill>
                  <a:srgbClr val="333399"/>
                </a:solidFill>
                <a:latin typeface="Arial" pitchFamily="34" charset="0"/>
                <a:ea typeface="黑体" pitchFamily="49" charset="-122"/>
              </a:rPr>
              <a:t>C</a:t>
            </a:r>
          </a:p>
          <a:p>
            <a:pPr defTabSz="762000" eaLnBrk="0" hangingPunct="0">
              <a:lnSpc>
                <a:spcPct val="75000"/>
              </a:lnSpc>
            </a:pPr>
            <a:r>
              <a:rPr kumimoji="1" lang="en-US" altLang="zh-CN" sz="1200" b="1">
                <a:solidFill>
                  <a:srgbClr val="333399"/>
                </a:solidFill>
                <a:latin typeface="Arial" pitchFamily="34" charset="0"/>
                <a:ea typeface="黑体" pitchFamily="49" charset="-122"/>
              </a:rPr>
              <a:t>K</a:t>
            </a:r>
          </a:p>
        </p:txBody>
      </p:sp>
      <p:sp>
        <p:nvSpPr>
          <p:cNvPr id="52303" name="Rectangle 80"/>
          <p:cNvSpPr>
            <a:spLocks noChangeArrowheads="1"/>
          </p:cNvSpPr>
          <p:nvPr/>
        </p:nvSpPr>
        <p:spPr bwMode="auto">
          <a:xfrm>
            <a:off x="3306763" y="3113088"/>
            <a:ext cx="300037"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200" b="1">
                <a:solidFill>
                  <a:srgbClr val="333399"/>
                </a:solidFill>
                <a:latin typeface="Arial" pitchFamily="34" charset="0"/>
                <a:ea typeface="黑体" pitchFamily="49" charset="-122"/>
              </a:rPr>
              <a:t>U</a:t>
            </a:r>
          </a:p>
          <a:p>
            <a:pPr defTabSz="762000" eaLnBrk="0" hangingPunct="0">
              <a:lnSpc>
                <a:spcPct val="75000"/>
              </a:lnSpc>
            </a:pPr>
            <a:r>
              <a:rPr kumimoji="1" lang="en-US" altLang="zh-CN" sz="1200" b="1">
                <a:solidFill>
                  <a:srgbClr val="333399"/>
                </a:solidFill>
                <a:latin typeface="Arial" pitchFamily="34" charset="0"/>
                <a:ea typeface="黑体" pitchFamily="49" charset="-122"/>
              </a:rPr>
              <a:t>R</a:t>
            </a:r>
          </a:p>
          <a:p>
            <a:pPr defTabSz="762000" eaLnBrk="0" hangingPunct="0">
              <a:lnSpc>
                <a:spcPct val="75000"/>
              </a:lnSpc>
            </a:pPr>
            <a:r>
              <a:rPr kumimoji="1" lang="en-US" altLang="zh-CN" sz="1200" b="1">
                <a:solidFill>
                  <a:srgbClr val="333399"/>
                </a:solidFill>
                <a:latin typeface="Arial" pitchFamily="34" charset="0"/>
                <a:ea typeface="黑体" pitchFamily="49" charset="-122"/>
              </a:rPr>
              <a:t>G</a:t>
            </a:r>
          </a:p>
        </p:txBody>
      </p:sp>
      <p:sp>
        <p:nvSpPr>
          <p:cNvPr id="52304" name="Rectangle 81"/>
          <p:cNvSpPr>
            <a:spLocks noChangeArrowheads="1"/>
          </p:cNvSpPr>
          <p:nvPr/>
        </p:nvSpPr>
        <p:spPr bwMode="auto">
          <a:xfrm>
            <a:off x="885825" y="1204913"/>
            <a:ext cx="7286625"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位  </a:t>
            </a:r>
            <a:r>
              <a:rPr kumimoji="1" lang="en-US" altLang="zh-CN" sz="1600">
                <a:solidFill>
                  <a:srgbClr val="333399"/>
                </a:solidFill>
                <a:latin typeface="Arial" pitchFamily="34" charset="0"/>
                <a:ea typeface="黑体" pitchFamily="49" charset="-122"/>
              </a:rPr>
              <a:t>0                           8                           16                          24                       31</a:t>
            </a:r>
          </a:p>
        </p:txBody>
      </p:sp>
      <p:sp>
        <p:nvSpPr>
          <p:cNvPr id="52305" name="Line 82"/>
          <p:cNvSpPr>
            <a:spLocks noChangeShapeType="1"/>
          </p:cNvSpPr>
          <p:nvPr/>
        </p:nvSpPr>
        <p:spPr bwMode="auto">
          <a:xfrm flipH="1">
            <a:off x="6313488" y="4033838"/>
            <a:ext cx="3175" cy="4302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306" name="Rectangle 105"/>
          <p:cNvSpPr>
            <a:spLocks noChangeArrowheads="1"/>
          </p:cNvSpPr>
          <p:nvPr/>
        </p:nvSpPr>
        <p:spPr bwMode="auto">
          <a:xfrm>
            <a:off x="3924300" y="5241925"/>
            <a:ext cx="4305300" cy="49371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307" name="Rectangle 83"/>
          <p:cNvSpPr>
            <a:spLocks noChangeArrowheads="1"/>
          </p:cNvSpPr>
          <p:nvPr/>
        </p:nvSpPr>
        <p:spPr bwMode="auto">
          <a:xfrm>
            <a:off x="6767513" y="4078288"/>
            <a:ext cx="8223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600">
                <a:solidFill>
                  <a:srgbClr val="333399"/>
                </a:solidFill>
                <a:latin typeface="Arial" pitchFamily="34" charset="0"/>
                <a:ea typeface="黑体" pitchFamily="49" charset="-122"/>
              </a:rPr>
              <a:t>填    充</a:t>
            </a:r>
          </a:p>
        </p:txBody>
      </p:sp>
      <p:sp>
        <p:nvSpPr>
          <p:cNvPr id="52308" name="Rectangle 84"/>
          <p:cNvSpPr>
            <a:spLocks noChangeArrowheads="1"/>
          </p:cNvSpPr>
          <p:nvPr/>
        </p:nvSpPr>
        <p:spPr bwMode="auto">
          <a:xfrm>
            <a:off x="5310188" y="5297488"/>
            <a:ext cx="1455737"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TCP </a:t>
            </a:r>
            <a:r>
              <a:rPr kumimoji="1" lang="zh-CN" altLang="en-US" sz="1600">
                <a:solidFill>
                  <a:srgbClr val="333399"/>
                </a:solidFill>
                <a:latin typeface="Arial" pitchFamily="34" charset="0"/>
                <a:ea typeface="黑体" pitchFamily="49" charset="-122"/>
              </a:rPr>
              <a:t>数据部分</a:t>
            </a:r>
          </a:p>
        </p:txBody>
      </p:sp>
      <p:sp>
        <p:nvSpPr>
          <p:cNvPr id="52309" name="Rectangle 85"/>
          <p:cNvSpPr>
            <a:spLocks noChangeArrowheads="1"/>
          </p:cNvSpPr>
          <p:nvPr/>
        </p:nvSpPr>
        <p:spPr bwMode="auto">
          <a:xfrm>
            <a:off x="2497138" y="5216525"/>
            <a:ext cx="1406525" cy="506413"/>
          </a:xfrm>
          <a:prstGeom prst="rect">
            <a:avLst/>
          </a:prstGeom>
          <a:solidFill>
            <a:srgbClr val="FF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310" name="Rectangle 86"/>
          <p:cNvSpPr>
            <a:spLocks noChangeArrowheads="1"/>
          </p:cNvSpPr>
          <p:nvPr/>
        </p:nvSpPr>
        <p:spPr bwMode="auto">
          <a:xfrm>
            <a:off x="2497138" y="5216525"/>
            <a:ext cx="5757862" cy="506413"/>
          </a:xfrm>
          <a:prstGeom prst="rect">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311" name="Line 87"/>
          <p:cNvSpPr>
            <a:spLocks noChangeShapeType="1"/>
          </p:cNvSpPr>
          <p:nvPr/>
        </p:nvSpPr>
        <p:spPr bwMode="auto">
          <a:xfrm flipH="1">
            <a:off x="3903663" y="5227638"/>
            <a:ext cx="0" cy="495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312" name="Rectangle 88"/>
          <p:cNvSpPr>
            <a:spLocks noChangeArrowheads="1"/>
          </p:cNvSpPr>
          <p:nvPr/>
        </p:nvSpPr>
        <p:spPr bwMode="auto">
          <a:xfrm>
            <a:off x="2692400" y="5345113"/>
            <a:ext cx="720725" cy="269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313" name="Rectangle 89"/>
          <p:cNvSpPr>
            <a:spLocks noChangeArrowheads="1"/>
          </p:cNvSpPr>
          <p:nvPr/>
        </p:nvSpPr>
        <p:spPr bwMode="auto">
          <a:xfrm>
            <a:off x="2700338" y="5297488"/>
            <a:ext cx="1049337" cy="333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a:solidFill>
                  <a:srgbClr val="333399"/>
                </a:solidFill>
                <a:latin typeface="Arial" pitchFamily="34" charset="0"/>
                <a:ea typeface="黑体" pitchFamily="49" charset="-122"/>
              </a:rPr>
              <a:t>TCP </a:t>
            </a:r>
            <a:r>
              <a:rPr kumimoji="1" lang="zh-CN" altLang="en-US" sz="1600">
                <a:solidFill>
                  <a:srgbClr val="333399"/>
                </a:solidFill>
                <a:latin typeface="Arial" pitchFamily="34" charset="0"/>
                <a:ea typeface="黑体" pitchFamily="49" charset="-122"/>
              </a:rPr>
              <a:t>首部</a:t>
            </a:r>
          </a:p>
        </p:txBody>
      </p:sp>
      <p:sp>
        <p:nvSpPr>
          <p:cNvPr id="52314" name="Rectangle 93"/>
          <p:cNvSpPr>
            <a:spLocks noChangeArrowheads="1"/>
          </p:cNvSpPr>
          <p:nvPr/>
        </p:nvSpPr>
        <p:spPr bwMode="auto">
          <a:xfrm>
            <a:off x="1069975" y="5314950"/>
            <a:ext cx="1630363"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TCP </a:t>
            </a:r>
            <a:r>
              <a:rPr kumimoji="1" lang="zh-CN" altLang="en-US" sz="1800">
                <a:solidFill>
                  <a:srgbClr val="333399"/>
                </a:solidFill>
                <a:latin typeface="Arial" pitchFamily="34" charset="0"/>
                <a:ea typeface="黑体" pitchFamily="49" charset="-122"/>
              </a:rPr>
              <a:t>报文段</a:t>
            </a:r>
          </a:p>
        </p:txBody>
      </p:sp>
      <p:sp>
        <p:nvSpPr>
          <p:cNvPr id="52315" name="Rectangle 94"/>
          <p:cNvSpPr>
            <a:spLocks noChangeArrowheads="1"/>
          </p:cNvSpPr>
          <p:nvPr/>
        </p:nvSpPr>
        <p:spPr bwMode="auto">
          <a:xfrm>
            <a:off x="2484438" y="6164263"/>
            <a:ext cx="5770562" cy="504825"/>
          </a:xfrm>
          <a:prstGeom prst="rect">
            <a:avLst/>
          </a:prstGeom>
          <a:solidFill>
            <a:srgbClr val="FFCCFF"/>
          </a:solidFill>
          <a:ln w="190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316" name="Rectangle 96"/>
          <p:cNvSpPr>
            <a:spLocks noChangeArrowheads="1"/>
          </p:cNvSpPr>
          <p:nvPr/>
        </p:nvSpPr>
        <p:spPr bwMode="auto">
          <a:xfrm>
            <a:off x="4505325" y="6223000"/>
            <a:ext cx="1374775" cy="3635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IP </a:t>
            </a:r>
            <a:r>
              <a:rPr kumimoji="1" lang="zh-CN" altLang="en-US" sz="1800">
                <a:solidFill>
                  <a:srgbClr val="333399"/>
                </a:solidFill>
                <a:latin typeface="Arial" pitchFamily="34" charset="0"/>
                <a:ea typeface="黑体" pitchFamily="49" charset="-122"/>
              </a:rPr>
              <a:t>数据部分</a:t>
            </a:r>
          </a:p>
        </p:txBody>
      </p:sp>
      <p:sp>
        <p:nvSpPr>
          <p:cNvPr id="52317" name="Rectangle 97"/>
          <p:cNvSpPr>
            <a:spLocks noChangeArrowheads="1"/>
          </p:cNvSpPr>
          <p:nvPr/>
        </p:nvSpPr>
        <p:spPr bwMode="auto">
          <a:xfrm>
            <a:off x="1495425" y="6223000"/>
            <a:ext cx="917575" cy="3635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rgbClr val="333399"/>
                </a:solidFill>
                <a:latin typeface="Arial" pitchFamily="34" charset="0"/>
                <a:ea typeface="黑体" pitchFamily="49" charset="-122"/>
              </a:rPr>
              <a:t>IP </a:t>
            </a:r>
            <a:r>
              <a:rPr kumimoji="1" lang="zh-CN" altLang="en-US" sz="1800">
                <a:solidFill>
                  <a:srgbClr val="333399"/>
                </a:solidFill>
                <a:latin typeface="Arial" pitchFamily="34" charset="0"/>
                <a:ea typeface="黑体" pitchFamily="49" charset="-122"/>
              </a:rPr>
              <a:t>首部</a:t>
            </a:r>
          </a:p>
        </p:txBody>
      </p:sp>
      <p:sp>
        <p:nvSpPr>
          <p:cNvPr id="52318" name="AutoShape 98"/>
          <p:cNvSpPr>
            <a:spLocks noChangeArrowheads="1"/>
          </p:cNvSpPr>
          <p:nvPr/>
        </p:nvSpPr>
        <p:spPr bwMode="auto">
          <a:xfrm rot="-5400000">
            <a:off x="2855119" y="5966619"/>
            <a:ext cx="758825" cy="268287"/>
          </a:xfrm>
          <a:prstGeom prst="leftArrow">
            <a:avLst>
              <a:gd name="adj1" fmla="val 50000"/>
              <a:gd name="adj2" fmla="val 70710"/>
            </a:avLst>
          </a:prstGeom>
          <a:solidFill>
            <a:schemeClr val="accent2">
              <a:alpha val="43137"/>
            </a:schemeClr>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319" name="AutoShape 99"/>
          <p:cNvSpPr>
            <a:spLocks noChangeArrowheads="1"/>
          </p:cNvSpPr>
          <p:nvPr/>
        </p:nvSpPr>
        <p:spPr bwMode="auto">
          <a:xfrm rot="-5400000">
            <a:off x="5799137" y="5967413"/>
            <a:ext cx="758825" cy="266700"/>
          </a:xfrm>
          <a:prstGeom prst="leftArrow">
            <a:avLst>
              <a:gd name="adj1" fmla="val 50000"/>
              <a:gd name="adj2" fmla="val 71131"/>
            </a:avLst>
          </a:prstGeom>
          <a:solidFill>
            <a:schemeClr val="accent1">
              <a:alpha val="43137"/>
            </a:schemeClr>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320" name="Line 100"/>
          <p:cNvSpPr>
            <a:spLocks noChangeShapeType="1"/>
          </p:cNvSpPr>
          <p:nvPr/>
        </p:nvSpPr>
        <p:spPr bwMode="auto">
          <a:xfrm>
            <a:off x="8121650" y="1679575"/>
            <a:ext cx="73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321" name="Line 101"/>
          <p:cNvSpPr>
            <a:spLocks noChangeShapeType="1"/>
          </p:cNvSpPr>
          <p:nvPr/>
        </p:nvSpPr>
        <p:spPr bwMode="auto">
          <a:xfrm>
            <a:off x="8121650" y="4016375"/>
            <a:ext cx="73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322" name="Line 102"/>
          <p:cNvSpPr>
            <a:spLocks noChangeShapeType="1"/>
          </p:cNvSpPr>
          <p:nvPr/>
        </p:nvSpPr>
        <p:spPr bwMode="auto">
          <a:xfrm>
            <a:off x="690563" y="1704975"/>
            <a:ext cx="469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323" name="Line 103"/>
          <p:cNvSpPr>
            <a:spLocks noChangeShapeType="1"/>
          </p:cNvSpPr>
          <p:nvPr/>
        </p:nvSpPr>
        <p:spPr bwMode="auto">
          <a:xfrm>
            <a:off x="703263" y="4446588"/>
            <a:ext cx="4699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324" name="Rectangle 104"/>
          <p:cNvSpPr>
            <a:spLocks noChangeArrowheads="1"/>
          </p:cNvSpPr>
          <p:nvPr/>
        </p:nvSpPr>
        <p:spPr bwMode="auto">
          <a:xfrm>
            <a:off x="250825" y="5891213"/>
            <a:ext cx="1095375" cy="3635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rgbClr val="333399"/>
                </a:solidFill>
                <a:latin typeface="Arial" pitchFamily="34" charset="0"/>
                <a:ea typeface="黑体" pitchFamily="49" charset="-122"/>
              </a:rPr>
              <a:t>发送在前</a:t>
            </a:r>
          </a:p>
        </p:txBody>
      </p:sp>
      <p:sp>
        <p:nvSpPr>
          <p:cNvPr id="52325" name="Text Box 107"/>
          <p:cNvSpPr txBox="1">
            <a:spLocks noChangeArrowheads="1"/>
          </p:cNvSpPr>
          <p:nvPr/>
        </p:nvSpPr>
        <p:spPr bwMode="auto">
          <a:xfrm>
            <a:off x="1166813" y="134938"/>
            <a:ext cx="6543675" cy="711200"/>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4000">
                <a:solidFill>
                  <a:schemeClr val="folHlink"/>
                </a:solidFill>
                <a:latin typeface="Arial" pitchFamily="34" charset="0"/>
                <a:ea typeface="黑体" pitchFamily="49" charset="-122"/>
              </a:rPr>
              <a:t>5.5  TCP </a:t>
            </a:r>
            <a:r>
              <a:rPr lang="zh-CN" altLang="en-US" sz="4000">
                <a:solidFill>
                  <a:schemeClr val="folHlink"/>
                </a:solidFill>
                <a:latin typeface="Arial" pitchFamily="34" charset="0"/>
                <a:ea typeface="黑体" pitchFamily="49" charset="-122"/>
              </a:rPr>
              <a:t>报文段的首部格式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Line 3"/>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1" name="Rectangle 4"/>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3252" name="Line 5"/>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3" name="Rectangle 6"/>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3254" name="Rectangle 7"/>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5" name="Line 10"/>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6" name="Line 11"/>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7" name="Line 12"/>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8" name="Line 13"/>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9" name="Line 14"/>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0" name="Line 15"/>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1" name="Rectangle 16"/>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53262" name="Rectangle 17"/>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53263" name="Rectangle 18"/>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53264" name="Rectangle 19"/>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53265" name="Rectangle 20"/>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53266" name="Rectangle 21"/>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53267" name="Line 22"/>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8" name="Rectangle 23"/>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53269" name="Rectangle 24"/>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53270" name="Rectangle 25"/>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53271" name="Line 26"/>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2" name="Line 27"/>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3" name="Line 28"/>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4" name="Line 29"/>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5" name="Line 30"/>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6" name="Line 31"/>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7" name="Line 32"/>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8" name="Rectangle 33"/>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53279" name="Rectangle 34"/>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3280" name="Line 37"/>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1" name="Line 38"/>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2" name="Line 39"/>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3" name="Line 40"/>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4" name="Line 41"/>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5" name="Line 42"/>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6" name="Line 43"/>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7" name="Line 44"/>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8" name="Line 45"/>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89" name="Line 46"/>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0" name="Line 47"/>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1" name="Line 48"/>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2" name="Line 49"/>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3" name="Line 50"/>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4" name="Line 51"/>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5" name="Line 52"/>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6" name="Line 53"/>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7" name="Line 54"/>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8" name="Line 55"/>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99" name="Line 56"/>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0" name="Line 57"/>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1" name="Line 58"/>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2" name="Line 59"/>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3" name="Line 60"/>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4" name="Line 61"/>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5" name="Line 62"/>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6" name="Line 63"/>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7" name="Line 64"/>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8" name="Line 65"/>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9" name="Line 66"/>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0" name="Line 67"/>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1" name="Line 68"/>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2" name="Line 69"/>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3" name="Line 70"/>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4" name="Rectangle 71"/>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5" name="Rectangle 72"/>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6" name="Rectangle 73"/>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7" name="Rectangle 74"/>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8" name="Rectangle 75"/>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3319" name="Rectangle 76"/>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53320" name="Rectangle 77"/>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53321" name="Rectangle 78"/>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53322" name="Rectangle 79"/>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53323" name="Rectangle 80"/>
          <p:cNvSpPr>
            <a:spLocks noChangeArrowheads="1"/>
          </p:cNvSpPr>
          <p:nvPr/>
        </p:nvSpPr>
        <p:spPr bwMode="auto">
          <a:xfrm>
            <a:off x="25717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53324" name="Line 81"/>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25" name="Rectangle 83"/>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53326" name="Line 96"/>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27" name="Line 97"/>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28" name="Line 98"/>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29" name="Line 99"/>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30" name="Text Box 103"/>
          <p:cNvSpPr txBox="1">
            <a:spLocks noChangeArrowheads="1"/>
          </p:cNvSpPr>
          <p:nvPr/>
        </p:nvSpPr>
        <p:spPr bwMode="auto">
          <a:xfrm>
            <a:off x="395288" y="5084763"/>
            <a:ext cx="842486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源端口和目的端口字段</a:t>
            </a:r>
            <a:r>
              <a:rPr lang="en-US" altLang="zh-CN">
                <a:solidFill>
                  <a:srgbClr val="333399"/>
                </a:solidFill>
                <a:latin typeface="Arial" pitchFamily="34" charset="0"/>
                <a:ea typeface="黑体" pitchFamily="49" charset="-122"/>
              </a:rPr>
              <a:t>——</a:t>
            </a:r>
            <a:r>
              <a:rPr lang="zh-CN" altLang="en-US">
                <a:solidFill>
                  <a:srgbClr val="333399"/>
                </a:solidFill>
                <a:latin typeface="Arial" pitchFamily="34" charset="0"/>
                <a:ea typeface="黑体" pitchFamily="49" charset="-122"/>
              </a:rPr>
              <a:t>各占 </a:t>
            </a:r>
            <a:r>
              <a:rPr lang="en-US" altLang="zh-CN">
                <a:solidFill>
                  <a:srgbClr val="333399"/>
                </a:solidFill>
                <a:latin typeface="Arial" pitchFamily="34" charset="0"/>
                <a:ea typeface="黑体" pitchFamily="49" charset="-122"/>
              </a:rPr>
              <a:t>2 </a:t>
            </a:r>
            <a:r>
              <a:rPr lang="zh-CN" altLang="en-US">
                <a:solidFill>
                  <a:srgbClr val="333399"/>
                </a:solidFill>
                <a:latin typeface="Arial" pitchFamily="34" charset="0"/>
                <a:ea typeface="黑体" pitchFamily="49" charset="-122"/>
              </a:rPr>
              <a:t>字节。端口是运输层与应用层的服务接口。运输层的复用和分用功能都要通过端口才能实现。  </a:t>
            </a:r>
          </a:p>
        </p:txBody>
      </p:sp>
      <p:sp>
        <p:nvSpPr>
          <p:cNvPr id="503912" name="Rectangle 104"/>
          <p:cNvSpPr>
            <a:spLocks noChangeArrowheads="1"/>
          </p:cNvSpPr>
          <p:nvPr/>
        </p:nvSpPr>
        <p:spPr bwMode="auto">
          <a:xfrm>
            <a:off x="611188" y="692150"/>
            <a:ext cx="7754937"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39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39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912" grpId="0" animBg="1"/>
      <p:bldP spid="503912" grpId="1"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5"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4276"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7"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4278"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79"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0"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1"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2"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3"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4"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5"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54286"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54287"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54288"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54289"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54290"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54291"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2"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54293"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54294"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54295"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6"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7"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8"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99"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0"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1"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2"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54303"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4304"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5"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6"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7"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8"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09"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0"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1"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2"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3"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4"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5"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6"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7"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8"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19"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0"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1"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2"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3"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4"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5"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6"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7"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8"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29"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0"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1"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2"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3"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4"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5"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6"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7"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8"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39"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0"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1"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342"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4343"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54344"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54345"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54346"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54347" name="Rectangle 75"/>
          <p:cNvSpPr>
            <a:spLocks noChangeArrowheads="1"/>
          </p:cNvSpPr>
          <p:nvPr/>
        </p:nvSpPr>
        <p:spPr bwMode="auto">
          <a:xfrm>
            <a:off x="250825" y="11113"/>
            <a:ext cx="8131175"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54348"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49"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54350"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1"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2"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3"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54" name="Text Box 82"/>
          <p:cNvSpPr txBox="1">
            <a:spLocks noChangeArrowheads="1"/>
          </p:cNvSpPr>
          <p:nvPr/>
        </p:nvSpPr>
        <p:spPr bwMode="auto">
          <a:xfrm>
            <a:off x="395288" y="5084763"/>
            <a:ext cx="842486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序号字段</a:t>
            </a:r>
            <a:r>
              <a:rPr lang="en-US" altLang="zh-CN">
                <a:solidFill>
                  <a:srgbClr val="333399"/>
                </a:solidFill>
                <a:latin typeface="Arial" pitchFamily="34" charset="0"/>
                <a:ea typeface="黑体" pitchFamily="49" charset="-122"/>
              </a:rPr>
              <a:t>——</a:t>
            </a:r>
            <a:r>
              <a:rPr lang="zh-CN" altLang="en-US">
                <a:solidFill>
                  <a:srgbClr val="333399"/>
                </a:solidFill>
                <a:latin typeface="Arial" pitchFamily="34" charset="0"/>
                <a:ea typeface="黑体" pitchFamily="49" charset="-122"/>
              </a:rPr>
              <a:t>占 </a:t>
            </a:r>
            <a:r>
              <a:rPr lang="en-US" altLang="zh-CN">
                <a:solidFill>
                  <a:srgbClr val="333399"/>
                </a:solidFill>
                <a:latin typeface="Arial" pitchFamily="34" charset="0"/>
                <a:ea typeface="黑体" pitchFamily="49" charset="-122"/>
              </a:rPr>
              <a:t>4 </a:t>
            </a:r>
            <a:r>
              <a:rPr lang="zh-CN" altLang="en-US">
                <a:solidFill>
                  <a:srgbClr val="333399"/>
                </a:solidFill>
                <a:latin typeface="Arial" pitchFamily="34" charset="0"/>
                <a:ea typeface="黑体" pitchFamily="49" charset="-122"/>
              </a:rPr>
              <a:t>字节。</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连接中传送的数据流中的每一个字节都编上一个序号。序号字段的值则指的是本报文段所发送的数据的第一个字节的序号。 </a:t>
            </a:r>
          </a:p>
        </p:txBody>
      </p:sp>
      <p:sp>
        <p:nvSpPr>
          <p:cNvPr id="504915" name="Rectangle 83"/>
          <p:cNvSpPr>
            <a:spLocks noChangeArrowheads="1"/>
          </p:cNvSpPr>
          <p:nvPr/>
        </p:nvSpPr>
        <p:spPr bwMode="auto">
          <a:xfrm>
            <a:off x="611188" y="1412875"/>
            <a:ext cx="7754937"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491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49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915" grpId="0" animBg="1"/>
      <p:bldP spid="504915" grpId="1"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299"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5300"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1"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5302"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3"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4"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5"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6"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7"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8"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9"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55310"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55311"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55312"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55313"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55314"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55315"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6"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55317"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55318"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55319"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0"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1"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2"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3"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4"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5"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6"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55327"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5328"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9"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0"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1"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2"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3"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4"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5"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6"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7"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8"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39"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0"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1"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2"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3"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4"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5"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6"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7"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8"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49"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0"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1"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2"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3"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4"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5"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6"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7"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8"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59"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60"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61"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62"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63"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64"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65"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66"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5367"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55368"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55369"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55370"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55371"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55372"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73"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55374"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75"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76"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77"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78" name="Text Box 82"/>
          <p:cNvSpPr txBox="1">
            <a:spLocks noChangeArrowheads="1"/>
          </p:cNvSpPr>
          <p:nvPr/>
        </p:nvSpPr>
        <p:spPr bwMode="auto">
          <a:xfrm>
            <a:off x="395288" y="5219700"/>
            <a:ext cx="84248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确认号字段</a:t>
            </a:r>
            <a:r>
              <a:rPr lang="en-US" altLang="zh-CN">
                <a:solidFill>
                  <a:srgbClr val="333399"/>
                </a:solidFill>
                <a:latin typeface="Arial" pitchFamily="34" charset="0"/>
                <a:ea typeface="黑体" pitchFamily="49" charset="-122"/>
              </a:rPr>
              <a:t>——</a:t>
            </a:r>
            <a:r>
              <a:rPr lang="zh-CN" altLang="en-US">
                <a:solidFill>
                  <a:srgbClr val="333399"/>
                </a:solidFill>
                <a:latin typeface="Arial" pitchFamily="34" charset="0"/>
                <a:ea typeface="黑体" pitchFamily="49" charset="-122"/>
              </a:rPr>
              <a:t>占 </a:t>
            </a:r>
            <a:r>
              <a:rPr lang="en-US" altLang="zh-CN">
                <a:solidFill>
                  <a:srgbClr val="333399"/>
                </a:solidFill>
                <a:latin typeface="Arial" pitchFamily="34" charset="0"/>
                <a:ea typeface="黑体" pitchFamily="49" charset="-122"/>
              </a:rPr>
              <a:t>4 </a:t>
            </a:r>
            <a:r>
              <a:rPr lang="zh-CN" altLang="en-US">
                <a:solidFill>
                  <a:srgbClr val="333399"/>
                </a:solidFill>
                <a:latin typeface="Arial" pitchFamily="34" charset="0"/>
                <a:ea typeface="黑体" pitchFamily="49" charset="-122"/>
              </a:rPr>
              <a:t>字节，是期望收到对方的下一个报文段的数据的第一个字节的序号。 </a:t>
            </a:r>
          </a:p>
        </p:txBody>
      </p:sp>
      <p:sp>
        <p:nvSpPr>
          <p:cNvPr id="505939" name="Rectangle 83"/>
          <p:cNvSpPr>
            <a:spLocks noChangeArrowheads="1"/>
          </p:cNvSpPr>
          <p:nvPr/>
        </p:nvSpPr>
        <p:spPr bwMode="auto">
          <a:xfrm>
            <a:off x="611188" y="2060575"/>
            <a:ext cx="7754937"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593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59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939" grpId="0" animBg="1"/>
      <p:bldP spid="505939" grpId="1"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3"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6324"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5"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6326"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7"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8"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9"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0"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1"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2"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33"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56334"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56335"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56336"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56337"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56338"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56339"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0"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56341"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56342"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56343"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4"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5"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6"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7"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8"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49"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0"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56351"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6352"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3"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4"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5"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6"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7"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8"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59"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0"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1"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2"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3"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4"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5"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6"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7"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8"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69"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0"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1"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2"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3"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4"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5"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6"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7"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8"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79"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0"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1"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2"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3"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4"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5"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6"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7"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8"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89"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90"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6391"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56392"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56393"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56394"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56395"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56396"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97"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56398"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99"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0"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1"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402" name="Text Box 82"/>
          <p:cNvSpPr txBox="1">
            <a:spLocks noChangeArrowheads="1"/>
          </p:cNvSpPr>
          <p:nvPr/>
        </p:nvSpPr>
        <p:spPr bwMode="auto">
          <a:xfrm>
            <a:off x="127000" y="5084763"/>
            <a:ext cx="89820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数据偏移（即首部长度）</a:t>
            </a:r>
            <a:r>
              <a:rPr lang="en-US" altLang="zh-CN">
                <a:solidFill>
                  <a:srgbClr val="333399"/>
                </a:solidFill>
                <a:latin typeface="Arial" pitchFamily="34" charset="0"/>
                <a:ea typeface="黑体" pitchFamily="49" charset="-122"/>
              </a:rPr>
              <a:t>——</a:t>
            </a:r>
            <a:r>
              <a:rPr lang="zh-CN" altLang="en-US">
                <a:solidFill>
                  <a:srgbClr val="333399"/>
                </a:solidFill>
                <a:latin typeface="Arial" pitchFamily="34" charset="0"/>
                <a:ea typeface="黑体" pitchFamily="49" charset="-122"/>
              </a:rPr>
              <a:t>占 </a:t>
            </a:r>
            <a:r>
              <a:rPr lang="en-US" altLang="zh-CN">
                <a:solidFill>
                  <a:srgbClr val="333399"/>
                </a:solidFill>
                <a:latin typeface="Arial" pitchFamily="34" charset="0"/>
                <a:ea typeface="黑体" pitchFamily="49" charset="-122"/>
              </a:rPr>
              <a:t>4 </a:t>
            </a:r>
            <a:r>
              <a:rPr lang="zh-CN" altLang="en-US">
                <a:solidFill>
                  <a:srgbClr val="333399"/>
                </a:solidFill>
                <a:latin typeface="Arial" pitchFamily="34" charset="0"/>
                <a:ea typeface="黑体" pitchFamily="49" charset="-122"/>
              </a:rPr>
              <a:t>位，它指出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报文段的数据起始处距离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报文段的起始处有多远。“数据偏移”的单位是 </a:t>
            </a:r>
            <a:r>
              <a:rPr lang="en-US" altLang="zh-CN">
                <a:solidFill>
                  <a:srgbClr val="333399"/>
                </a:solidFill>
                <a:latin typeface="Arial" pitchFamily="34" charset="0"/>
                <a:ea typeface="黑体" pitchFamily="49" charset="-122"/>
              </a:rPr>
              <a:t>32 </a:t>
            </a:r>
            <a:r>
              <a:rPr lang="zh-CN" altLang="en-US">
                <a:solidFill>
                  <a:srgbClr val="333399"/>
                </a:solidFill>
                <a:latin typeface="Arial" pitchFamily="34" charset="0"/>
                <a:ea typeface="黑体" pitchFamily="49" charset="-122"/>
              </a:rPr>
              <a:t>位字（以 </a:t>
            </a:r>
            <a:r>
              <a:rPr lang="en-US" altLang="zh-CN">
                <a:solidFill>
                  <a:srgbClr val="333399"/>
                </a:solidFill>
                <a:latin typeface="Arial" pitchFamily="34" charset="0"/>
                <a:ea typeface="黑体" pitchFamily="49" charset="-122"/>
              </a:rPr>
              <a:t>4 </a:t>
            </a:r>
            <a:r>
              <a:rPr lang="zh-CN" altLang="en-US">
                <a:solidFill>
                  <a:srgbClr val="333399"/>
                </a:solidFill>
                <a:latin typeface="Arial" pitchFamily="34" charset="0"/>
                <a:ea typeface="黑体" pitchFamily="49" charset="-122"/>
              </a:rPr>
              <a:t>字节为计算单位）。  </a:t>
            </a:r>
          </a:p>
        </p:txBody>
      </p:sp>
      <p:sp>
        <p:nvSpPr>
          <p:cNvPr id="506963" name="Rectangle 83"/>
          <p:cNvSpPr>
            <a:spLocks noChangeArrowheads="1"/>
          </p:cNvSpPr>
          <p:nvPr/>
        </p:nvSpPr>
        <p:spPr bwMode="auto">
          <a:xfrm>
            <a:off x="611188" y="2782888"/>
            <a:ext cx="1008062"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6963"/>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696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963" grpId="0" animBg="1"/>
      <p:bldP spid="506963" grpId="1"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47"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7348"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49"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7350"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1"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2"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3"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4"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5"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6"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7"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57358"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57359"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57360"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57361"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57362"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57363"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4"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57365"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57366"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57367"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8"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69"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0"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1"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2"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3"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4"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57375"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7376"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7"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8"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79"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0"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1"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2"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3"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4"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5"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6"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7"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8"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9"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0"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1"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2"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3"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4"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5"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6"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7"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8"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99"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0"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1"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2"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3"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4"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5"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6"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7"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8"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09"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0"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1"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2"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3"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414"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7415"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57416"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57417"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57418"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57419"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57420"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1"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57422"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3"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4"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5"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6" name="Text Box 82"/>
          <p:cNvSpPr txBox="1">
            <a:spLocks noChangeArrowheads="1"/>
          </p:cNvSpPr>
          <p:nvPr/>
        </p:nvSpPr>
        <p:spPr bwMode="auto">
          <a:xfrm>
            <a:off x="593725" y="5084763"/>
            <a:ext cx="79390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保留字段</a:t>
            </a:r>
            <a:r>
              <a:rPr lang="en-US" altLang="zh-CN">
                <a:solidFill>
                  <a:srgbClr val="333399"/>
                </a:solidFill>
                <a:latin typeface="Arial" pitchFamily="34" charset="0"/>
                <a:ea typeface="黑体" pitchFamily="49" charset="-122"/>
              </a:rPr>
              <a:t>——</a:t>
            </a:r>
            <a:r>
              <a:rPr lang="zh-CN" altLang="en-US">
                <a:solidFill>
                  <a:srgbClr val="333399"/>
                </a:solidFill>
                <a:latin typeface="Arial" pitchFamily="34" charset="0"/>
                <a:ea typeface="黑体" pitchFamily="49" charset="-122"/>
              </a:rPr>
              <a:t>占 </a:t>
            </a:r>
            <a:r>
              <a:rPr lang="en-US" altLang="zh-CN">
                <a:solidFill>
                  <a:srgbClr val="333399"/>
                </a:solidFill>
                <a:latin typeface="Arial" pitchFamily="34" charset="0"/>
                <a:ea typeface="黑体" pitchFamily="49" charset="-122"/>
              </a:rPr>
              <a:t>6 </a:t>
            </a:r>
            <a:r>
              <a:rPr lang="zh-CN" altLang="en-US">
                <a:solidFill>
                  <a:srgbClr val="333399"/>
                </a:solidFill>
                <a:latin typeface="Arial" pitchFamily="34" charset="0"/>
                <a:ea typeface="黑体" pitchFamily="49" charset="-122"/>
              </a:rPr>
              <a:t>位，保留为今后使用，但目前应置为 </a:t>
            </a:r>
            <a:r>
              <a:rPr lang="en-US" altLang="zh-CN">
                <a:solidFill>
                  <a:srgbClr val="333399"/>
                </a:solidFill>
                <a:latin typeface="Arial" pitchFamily="34" charset="0"/>
                <a:ea typeface="黑体" pitchFamily="49" charset="-122"/>
              </a:rPr>
              <a:t>0</a:t>
            </a:r>
            <a:r>
              <a:rPr lang="zh-CN" altLang="en-US">
                <a:solidFill>
                  <a:srgbClr val="333399"/>
                </a:solidFill>
                <a:latin typeface="Arial" pitchFamily="34" charset="0"/>
                <a:ea typeface="黑体" pitchFamily="49" charset="-122"/>
              </a:rPr>
              <a:t>。 </a:t>
            </a:r>
          </a:p>
        </p:txBody>
      </p:sp>
      <p:sp>
        <p:nvSpPr>
          <p:cNvPr id="507987" name="Rectangle 83"/>
          <p:cNvSpPr>
            <a:spLocks noChangeArrowheads="1"/>
          </p:cNvSpPr>
          <p:nvPr/>
        </p:nvSpPr>
        <p:spPr bwMode="auto">
          <a:xfrm>
            <a:off x="1619250" y="2782888"/>
            <a:ext cx="1428750"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798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79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87" grpId="0" animBg="1"/>
      <p:bldP spid="507987" grpId="1"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1"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8372"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3"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8374"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5"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6"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7"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8"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9"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0"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1"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58382"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58383"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58384"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58385"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58386"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58387"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8"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58389"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58390"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58391"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2"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3"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4"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5"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6"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7"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98"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58399"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8400"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1"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2"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3"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4"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5"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6"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7"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8"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9"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0"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1"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2"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3"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4"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5"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6"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7"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8"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9"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0"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1"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2"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3"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4"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5"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6"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7"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8"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29"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0"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1"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2"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3"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4"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5"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6"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7"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38"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8439"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58440"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58441"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58442"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58443" name="Rectangle 75"/>
          <p:cNvSpPr>
            <a:spLocks noChangeArrowheads="1"/>
          </p:cNvSpPr>
          <p:nvPr/>
        </p:nvSpPr>
        <p:spPr bwMode="auto">
          <a:xfrm>
            <a:off x="250825" y="0"/>
            <a:ext cx="8131175"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58444"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45"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58446"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47"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48"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49"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50" name="Text Box 82"/>
          <p:cNvSpPr txBox="1">
            <a:spLocks noChangeArrowheads="1"/>
          </p:cNvSpPr>
          <p:nvPr/>
        </p:nvSpPr>
        <p:spPr bwMode="auto">
          <a:xfrm>
            <a:off x="593725" y="5084763"/>
            <a:ext cx="8154988"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紧急 </a:t>
            </a:r>
            <a:r>
              <a:rPr lang="en-US" altLang="zh-CN">
                <a:solidFill>
                  <a:srgbClr val="333399"/>
                </a:solidFill>
                <a:latin typeface="Arial" pitchFamily="34" charset="0"/>
                <a:ea typeface="黑体" pitchFamily="49" charset="-122"/>
              </a:rPr>
              <a:t>URG —— </a:t>
            </a:r>
            <a:r>
              <a:rPr lang="zh-CN" altLang="en-US">
                <a:solidFill>
                  <a:srgbClr val="333399"/>
                </a:solidFill>
                <a:latin typeface="Arial" pitchFamily="34" charset="0"/>
                <a:ea typeface="黑体" pitchFamily="49" charset="-122"/>
              </a:rPr>
              <a:t>当 </a:t>
            </a:r>
            <a:r>
              <a:rPr lang="en-US" altLang="zh-CN">
                <a:solidFill>
                  <a:srgbClr val="333399"/>
                </a:solidFill>
                <a:latin typeface="Arial" pitchFamily="34" charset="0"/>
                <a:ea typeface="黑体" pitchFamily="49" charset="-122"/>
              </a:rPr>
              <a:t>URG </a:t>
            </a:r>
            <a:r>
              <a:rPr lang="en-US" altLang="zh-CN">
                <a:solidFill>
                  <a:srgbClr val="333399"/>
                </a:solidFill>
                <a:latin typeface="Arial" pitchFamily="34" charset="0"/>
                <a:ea typeface="黑体" pitchFamily="49" charset="-122"/>
                <a:sym typeface="Symbol" pitchFamily="18" charset="2"/>
              </a:rPr>
              <a:t></a:t>
            </a:r>
            <a:r>
              <a:rPr lang="en-US" altLang="zh-CN">
                <a:solidFill>
                  <a:srgbClr val="333399"/>
                </a:solidFill>
                <a:latin typeface="Arial" pitchFamily="34" charset="0"/>
                <a:ea typeface="黑体" pitchFamily="49" charset="-122"/>
              </a:rPr>
              <a:t> 1 </a:t>
            </a:r>
            <a:r>
              <a:rPr lang="zh-CN" altLang="en-US">
                <a:solidFill>
                  <a:srgbClr val="333399"/>
                </a:solidFill>
                <a:latin typeface="Arial" pitchFamily="34" charset="0"/>
                <a:ea typeface="黑体" pitchFamily="49" charset="-122"/>
              </a:rPr>
              <a:t>时，表明紧急指针字段有效。它告诉系统此报文段中有紧急数据，应尽快传送</a:t>
            </a:r>
            <a:r>
              <a:rPr lang="en-US" altLang="zh-CN">
                <a:solidFill>
                  <a:srgbClr val="333399"/>
                </a:solidFill>
                <a:latin typeface="Arial" pitchFamily="34" charset="0"/>
                <a:ea typeface="黑体" pitchFamily="49" charset="-122"/>
              </a:rPr>
              <a:t>(</a:t>
            </a:r>
            <a:r>
              <a:rPr lang="zh-CN" altLang="en-US">
                <a:solidFill>
                  <a:srgbClr val="333399"/>
                </a:solidFill>
                <a:latin typeface="Arial" pitchFamily="34" charset="0"/>
                <a:ea typeface="黑体" pitchFamily="49" charset="-122"/>
              </a:rPr>
              <a:t>相当于高优先级的数据</a:t>
            </a:r>
            <a:r>
              <a:rPr lang="en-US" altLang="zh-CN">
                <a:solidFill>
                  <a:srgbClr val="333399"/>
                </a:solidFill>
                <a:latin typeface="Arial" pitchFamily="34" charset="0"/>
                <a:ea typeface="黑体" pitchFamily="49" charset="-122"/>
              </a:rPr>
              <a:t>)</a:t>
            </a:r>
            <a:r>
              <a:rPr lang="zh-CN" altLang="en-US">
                <a:solidFill>
                  <a:srgbClr val="333399"/>
                </a:solidFill>
                <a:latin typeface="Arial" pitchFamily="34" charset="0"/>
                <a:ea typeface="黑体" pitchFamily="49" charset="-122"/>
              </a:rPr>
              <a:t>。 </a:t>
            </a:r>
          </a:p>
        </p:txBody>
      </p:sp>
      <p:sp>
        <p:nvSpPr>
          <p:cNvPr id="509011" name="Rectangle 83"/>
          <p:cNvSpPr>
            <a:spLocks noChangeArrowheads="1"/>
          </p:cNvSpPr>
          <p:nvPr/>
        </p:nvSpPr>
        <p:spPr bwMode="auto">
          <a:xfrm>
            <a:off x="2998788" y="2782888"/>
            <a:ext cx="317500"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901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90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011" grpId="0" animBg="1"/>
      <p:bldP spid="509011" grpId="1"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395"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9396"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397"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59398"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399"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0"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1"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2"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3"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4"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5"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59406"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59407"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59408"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59409"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59410"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59411"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2"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59413"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59414"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59415"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6"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7"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8"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9"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0"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1"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2"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59423"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9424"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5"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6"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7"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8"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29"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0"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1"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2"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3"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4"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5"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6"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7"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8"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39"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0"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1"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2"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3"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4"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5"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6"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7"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8"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49"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0"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1"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2"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3"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4"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5"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6"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7"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8"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59"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60"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61"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62"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59463"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59464"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59465"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59466"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59467"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59468"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69"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59470"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1"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2"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3"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74" name="Text Box 82"/>
          <p:cNvSpPr txBox="1">
            <a:spLocks noChangeArrowheads="1"/>
          </p:cNvSpPr>
          <p:nvPr/>
        </p:nvSpPr>
        <p:spPr bwMode="auto">
          <a:xfrm>
            <a:off x="593725" y="5084763"/>
            <a:ext cx="79390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确认 </a:t>
            </a:r>
            <a:r>
              <a:rPr lang="en-US" altLang="zh-CN">
                <a:solidFill>
                  <a:srgbClr val="333399"/>
                </a:solidFill>
                <a:latin typeface="Arial" pitchFamily="34" charset="0"/>
                <a:ea typeface="黑体" pitchFamily="49" charset="-122"/>
              </a:rPr>
              <a:t>ACK —— </a:t>
            </a:r>
            <a:r>
              <a:rPr lang="zh-CN" altLang="en-US">
                <a:solidFill>
                  <a:srgbClr val="333399"/>
                </a:solidFill>
                <a:latin typeface="Arial" pitchFamily="34" charset="0"/>
                <a:ea typeface="黑体" pitchFamily="49" charset="-122"/>
              </a:rPr>
              <a:t>只有当 </a:t>
            </a:r>
            <a:r>
              <a:rPr lang="en-US" altLang="zh-CN">
                <a:solidFill>
                  <a:srgbClr val="333399"/>
                </a:solidFill>
                <a:latin typeface="Arial" pitchFamily="34" charset="0"/>
                <a:ea typeface="黑体" pitchFamily="49" charset="-122"/>
              </a:rPr>
              <a:t>ACK </a:t>
            </a:r>
            <a:r>
              <a:rPr lang="en-US" altLang="zh-CN">
                <a:solidFill>
                  <a:srgbClr val="333399"/>
                </a:solidFill>
                <a:latin typeface="Arial" pitchFamily="34" charset="0"/>
                <a:ea typeface="黑体" pitchFamily="49" charset="-122"/>
                <a:sym typeface="Symbol" pitchFamily="18" charset="2"/>
              </a:rPr>
              <a:t></a:t>
            </a:r>
            <a:r>
              <a:rPr lang="en-US" altLang="zh-CN">
                <a:solidFill>
                  <a:srgbClr val="333399"/>
                </a:solidFill>
                <a:latin typeface="Arial" pitchFamily="34" charset="0"/>
                <a:ea typeface="黑体" pitchFamily="49" charset="-122"/>
              </a:rPr>
              <a:t> 1 </a:t>
            </a:r>
            <a:r>
              <a:rPr lang="zh-CN" altLang="en-US">
                <a:solidFill>
                  <a:srgbClr val="333399"/>
                </a:solidFill>
                <a:latin typeface="Arial" pitchFamily="34" charset="0"/>
                <a:ea typeface="黑体" pitchFamily="49" charset="-122"/>
              </a:rPr>
              <a:t>时确认号字段才有效。当 </a:t>
            </a:r>
            <a:r>
              <a:rPr lang="en-US" altLang="zh-CN">
                <a:solidFill>
                  <a:srgbClr val="333399"/>
                </a:solidFill>
                <a:latin typeface="Arial" pitchFamily="34" charset="0"/>
                <a:ea typeface="黑体" pitchFamily="49" charset="-122"/>
              </a:rPr>
              <a:t>ACK </a:t>
            </a:r>
            <a:r>
              <a:rPr lang="en-US" altLang="zh-CN">
                <a:solidFill>
                  <a:srgbClr val="333399"/>
                </a:solidFill>
                <a:latin typeface="Arial" pitchFamily="34" charset="0"/>
                <a:ea typeface="黑体" pitchFamily="49" charset="-122"/>
                <a:sym typeface="Symbol" pitchFamily="18" charset="2"/>
              </a:rPr>
              <a:t></a:t>
            </a:r>
            <a:r>
              <a:rPr lang="en-US" altLang="zh-CN">
                <a:solidFill>
                  <a:srgbClr val="333399"/>
                </a:solidFill>
                <a:latin typeface="Arial" pitchFamily="34" charset="0"/>
                <a:ea typeface="黑体" pitchFamily="49" charset="-122"/>
              </a:rPr>
              <a:t> 0 </a:t>
            </a:r>
            <a:r>
              <a:rPr lang="zh-CN" altLang="en-US">
                <a:solidFill>
                  <a:srgbClr val="333399"/>
                </a:solidFill>
                <a:latin typeface="Arial" pitchFamily="34" charset="0"/>
                <a:ea typeface="黑体" pitchFamily="49" charset="-122"/>
              </a:rPr>
              <a:t>时，确认号无效。 </a:t>
            </a:r>
          </a:p>
        </p:txBody>
      </p:sp>
      <p:sp>
        <p:nvSpPr>
          <p:cNvPr id="510035" name="Rectangle 83"/>
          <p:cNvSpPr>
            <a:spLocks noChangeArrowheads="1"/>
          </p:cNvSpPr>
          <p:nvPr/>
        </p:nvSpPr>
        <p:spPr bwMode="auto">
          <a:xfrm>
            <a:off x="3246438" y="2782888"/>
            <a:ext cx="317500"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003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00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035" grpId="0" animBg="1"/>
      <p:bldP spid="510035" grpId="1"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19"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0420"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1"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0422"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3"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4"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6"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0430"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0431"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0432"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0433"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0434"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0435"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6"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0437"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0438"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0439"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0"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1"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2"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3"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4"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5"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6"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0447"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0448"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9"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0"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1"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2"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3"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4"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5"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6"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7"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8"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9"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0"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1"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2"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3"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4"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5"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6"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7"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8"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9"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0"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1"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2"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3"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4"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5"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6"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7"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8"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9"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0"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1"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2"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3"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4"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5"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6"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0487"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0488"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0489"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0490"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0491"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60492"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3"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0494"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5"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6"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7"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98" name="Text Box 82"/>
          <p:cNvSpPr txBox="1">
            <a:spLocks noChangeArrowheads="1"/>
          </p:cNvSpPr>
          <p:nvPr/>
        </p:nvSpPr>
        <p:spPr bwMode="auto">
          <a:xfrm>
            <a:off x="250825" y="5084763"/>
            <a:ext cx="864235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推送 </a:t>
            </a:r>
            <a:r>
              <a:rPr lang="en-US" altLang="zh-CN">
                <a:solidFill>
                  <a:srgbClr val="333399"/>
                </a:solidFill>
                <a:latin typeface="Arial" pitchFamily="34" charset="0"/>
                <a:ea typeface="黑体" pitchFamily="49" charset="-122"/>
              </a:rPr>
              <a:t>PSH (PuSH) —— </a:t>
            </a:r>
            <a:r>
              <a:rPr lang="zh-CN" altLang="en-US">
                <a:solidFill>
                  <a:srgbClr val="333399"/>
                </a:solidFill>
                <a:latin typeface="Arial" pitchFamily="34" charset="0"/>
                <a:ea typeface="黑体" pitchFamily="49" charset="-122"/>
              </a:rPr>
              <a:t>接收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收到 </a:t>
            </a:r>
            <a:r>
              <a:rPr lang="en-US" altLang="zh-CN">
                <a:solidFill>
                  <a:srgbClr val="333399"/>
                </a:solidFill>
                <a:latin typeface="Arial" pitchFamily="34" charset="0"/>
                <a:ea typeface="黑体" pitchFamily="49" charset="-122"/>
              </a:rPr>
              <a:t>PSH = 1 </a:t>
            </a:r>
            <a:r>
              <a:rPr lang="zh-CN" altLang="en-US">
                <a:solidFill>
                  <a:srgbClr val="333399"/>
                </a:solidFill>
                <a:latin typeface="Arial" pitchFamily="34" charset="0"/>
                <a:ea typeface="黑体" pitchFamily="49" charset="-122"/>
              </a:rPr>
              <a:t>的报文段，就尽快地交付接收应用进程，而不再等到整个缓存都填满了后再向上交付。  </a:t>
            </a:r>
          </a:p>
        </p:txBody>
      </p:sp>
      <p:sp>
        <p:nvSpPr>
          <p:cNvPr id="511059" name="Rectangle 83"/>
          <p:cNvSpPr>
            <a:spLocks noChangeArrowheads="1"/>
          </p:cNvSpPr>
          <p:nvPr/>
        </p:nvSpPr>
        <p:spPr bwMode="auto">
          <a:xfrm>
            <a:off x="3492500" y="2782888"/>
            <a:ext cx="317500"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105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10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1059" grpId="0" animBg="1"/>
      <p:bldP spid="511059" grpId="1"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3"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1444"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5"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1446"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7"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8"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9"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0"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1"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2"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3"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1454"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1455"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1456"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1457"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1458"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1459"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0"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1461"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1462"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1463"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4"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5"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6"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7"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8"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9"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0"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1471"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1472"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3"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4"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5"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6"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7"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8"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9"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0"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1"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2"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3"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4"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5"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6"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7"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8"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9"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0"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1"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2"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3"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4"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5"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6"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7"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8"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99"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0"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1"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2"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3"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4"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5"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6"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7"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8"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09"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10"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1511"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1512"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1513"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1514"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1515"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61516"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7"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1518"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19"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0"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1"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22" name="Text Box 82"/>
          <p:cNvSpPr txBox="1">
            <a:spLocks noChangeArrowheads="1"/>
          </p:cNvSpPr>
          <p:nvPr/>
        </p:nvSpPr>
        <p:spPr bwMode="auto">
          <a:xfrm>
            <a:off x="250825" y="5084763"/>
            <a:ext cx="88931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复位 </a:t>
            </a:r>
            <a:r>
              <a:rPr lang="en-US" altLang="zh-CN">
                <a:solidFill>
                  <a:srgbClr val="333399"/>
                </a:solidFill>
                <a:latin typeface="Arial" pitchFamily="34" charset="0"/>
                <a:ea typeface="黑体" pitchFamily="49" charset="-122"/>
              </a:rPr>
              <a:t>RST (ReSeT) —— </a:t>
            </a:r>
            <a:r>
              <a:rPr lang="zh-CN" altLang="en-US">
                <a:solidFill>
                  <a:srgbClr val="333399"/>
                </a:solidFill>
                <a:latin typeface="Arial" pitchFamily="34" charset="0"/>
                <a:ea typeface="黑体" pitchFamily="49" charset="-122"/>
              </a:rPr>
              <a:t>当 </a:t>
            </a:r>
            <a:r>
              <a:rPr lang="en-US" altLang="zh-CN">
                <a:solidFill>
                  <a:srgbClr val="333399"/>
                </a:solidFill>
                <a:latin typeface="Arial" pitchFamily="34" charset="0"/>
                <a:ea typeface="黑体" pitchFamily="49" charset="-122"/>
              </a:rPr>
              <a:t>RST </a:t>
            </a:r>
            <a:r>
              <a:rPr lang="en-US" altLang="zh-CN">
                <a:solidFill>
                  <a:srgbClr val="333399"/>
                </a:solidFill>
                <a:latin typeface="Arial" pitchFamily="34" charset="0"/>
                <a:ea typeface="黑体" pitchFamily="49" charset="-122"/>
                <a:sym typeface="Symbol" pitchFamily="18" charset="2"/>
              </a:rPr>
              <a:t></a:t>
            </a:r>
            <a:r>
              <a:rPr lang="en-US" altLang="zh-CN">
                <a:solidFill>
                  <a:srgbClr val="333399"/>
                </a:solidFill>
                <a:latin typeface="Arial" pitchFamily="34" charset="0"/>
                <a:ea typeface="黑体" pitchFamily="49" charset="-122"/>
              </a:rPr>
              <a:t> 1 </a:t>
            </a:r>
            <a:r>
              <a:rPr lang="zh-CN" altLang="en-US">
                <a:solidFill>
                  <a:srgbClr val="333399"/>
                </a:solidFill>
                <a:latin typeface="Arial" pitchFamily="34" charset="0"/>
                <a:ea typeface="黑体" pitchFamily="49" charset="-122"/>
              </a:rPr>
              <a:t>时，表明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连接中出现严重差错（如由于主机崩溃或其他原因），必须释放连接，然后再重新建立运输连接。 </a:t>
            </a:r>
          </a:p>
        </p:txBody>
      </p:sp>
      <p:sp>
        <p:nvSpPr>
          <p:cNvPr id="512083" name="Rectangle 83"/>
          <p:cNvSpPr>
            <a:spLocks noChangeArrowheads="1"/>
          </p:cNvSpPr>
          <p:nvPr/>
        </p:nvSpPr>
        <p:spPr bwMode="auto">
          <a:xfrm>
            <a:off x="3749675" y="2782888"/>
            <a:ext cx="317500"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83"/>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208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3" grpId="0" animBg="1"/>
      <p:bldP spid="512083" grpId="1"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67"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2468"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69"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2470"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1"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2"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3"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4"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5"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6"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7"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2478"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2479"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2480"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2481"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2482"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2483"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4"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2485"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2486"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2487"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8"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9"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0"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1"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2"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3"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4"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2495"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2496"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7"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8"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99"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0"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1"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2"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3"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4"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5"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6"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7"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8"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09"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0"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1"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2"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3"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4"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5"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6"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7"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8"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9"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0"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1"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2"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3"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4"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5"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6"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7"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8"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9"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30"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31"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32"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33"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34"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2535"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2536"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2537"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2538"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2539"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62540"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1"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2542"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3"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4"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5"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46" name="Text Box 82"/>
          <p:cNvSpPr txBox="1">
            <a:spLocks noChangeArrowheads="1"/>
          </p:cNvSpPr>
          <p:nvPr/>
        </p:nvSpPr>
        <p:spPr bwMode="auto">
          <a:xfrm>
            <a:off x="250825" y="5084763"/>
            <a:ext cx="84248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同步 </a:t>
            </a:r>
            <a:r>
              <a:rPr lang="en-US" altLang="zh-CN">
                <a:solidFill>
                  <a:srgbClr val="333399"/>
                </a:solidFill>
                <a:latin typeface="Arial" pitchFamily="34" charset="0"/>
                <a:ea typeface="黑体" pitchFamily="49" charset="-122"/>
              </a:rPr>
              <a:t>SYN —— </a:t>
            </a:r>
            <a:r>
              <a:rPr lang="zh-CN" altLang="en-US">
                <a:solidFill>
                  <a:srgbClr val="333399"/>
                </a:solidFill>
                <a:latin typeface="Arial" pitchFamily="34" charset="0"/>
                <a:ea typeface="黑体" pitchFamily="49" charset="-122"/>
              </a:rPr>
              <a:t>同步 </a:t>
            </a:r>
            <a:r>
              <a:rPr lang="en-US" altLang="zh-CN">
                <a:solidFill>
                  <a:srgbClr val="333399"/>
                </a:solidFill>
                <a:latin typeface="Arial" pitchFamily="34" charset="0"/>
                <a:ea typeface="黑体" pitchFamily="49" charset="-122"/>
              </a:rPr>
              <a:t>SYN = 1 </a:t>
            </a:r>
            <a:r>
              <a:rPr lang="zh-CN" altLang="en-US">
                <a:solidFill>
                  <a:srgbClr val="333399"/>
                </a:solidFill>
                <a:latin typeface="Arial" pitchFamily="34" charset="0"/>
                <a:ea typeface="黑体" pitchFamily="49" charset="-122"/>
              </a:rPr>
              <a:t>表示这是一个连接请求或连接接受报文。 </a:t>
            </a:r>
          </a:p>
        </p:txBody>
      </p:sp>
      <p:sp>
        <p:nvSpPr>
          <p:cNvPr id="513107" name="Rectangle 83"/>
          <p:cNvSpPr>
            <a:spLocks noChangeArrowheads="1"/>
          </p:cNvSpPr>
          <p:nvPr/>
        </p:nvSpPr>
        <p:spPr bwMode="auto">
          <a:xfrm>
            <a:off x="3967163" y="2782888"/>
            <a:ext cx="317500"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10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31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07" grpId="0" animBg="1"/>
      <p:bldP spid="513107" grpId="1"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1"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3492"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3"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3494"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5"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6"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7"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8"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9"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0"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1"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3502"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3503"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3504"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3505"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3506"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3507"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8"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3509"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3510"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3511"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2"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3"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4"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5"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6"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7"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8"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3519"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3520"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1"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2"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3"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4"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5"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6"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7"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8"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9"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0"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1"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2"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3"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4"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5"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6"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7"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8"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9"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0"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1"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2"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3"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4"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5"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6"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7"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8"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49"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0"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1"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2"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3"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4"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5"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6"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7"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58"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3559"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3560"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3561"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3562"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3563"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63564"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65"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3566"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67"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68"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69"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70" name="Text Box 82"/>
          <p:cNvSpPr txBox="1">
            <a:spLocks noChangeArrowheads="1"/>
          </p:cNvSpPr>
          <p:nvPr/>
        </p:nvSpPr>
        <p:spPr bwMode="auto">
          <a:xfrm>
            <a:off x="250825" y="5084763"/>
            <a:ext cx="8424863"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终止 </a:t>
            </a:r>
            <a:r>
              <a:rPr lang="en-US" altLang="zh-CN">
                <a:solidFill>
                  <a:srgbClr val="333399"/>
                </a:solidFill>
                <a:latin typeface="Arial" pitchFamily="34" charset="0"/>
                <a:ea typeface="黑体" pitchFamily="49" charset="-122"/>
              </a:rPr>
              <a:t>FIN (FINis) —— </a:t>
            </a:r>
            <a:r>
              <a:rPr lang="zh-CN" altLang="en-US">
                <a:solidFill>
                  <a:srgbClr val="333399"/>
                </a:solidFill>
                <a:latin typeface="Arial" pitchFamily="34" charset="0"/>
                <a:ea typeface="黑体" pitchFamily="49" charset="-122"/>
              </a:rPr>
              <a:t>用来释放一个连接。</a:t>
            </a:r>
            <a:r>
              <a:rPr lang="en-US" altLang="zh-CN">
                <a:solidFill>
                  <a:srgbClr val="333399"/>
                </a:solidFill>
                <a:latin typeface="Arial" pitchFamily="34" charset="0"/>
                <a:ea typeface="黑体" pitchFamily="49" charset="-122"/>
              </a:rPr>
              <a:t>FIN </a:t>
            </a:r>
            <a:r>
              <a:rPr lang="en-US" altLang="zh-CN">
                <a:solidFill>
                  <a:srgbClr val="333399"/>
                </a:solidFill>
                <a:latin typeface="Arial" pitchFamily="34" charset="0"/>
                <a:ea typeface="黑体" pitchFamily="49" charset="-122"/>
                <a:sym typeface="Symbol" pitchFamily="18" charset="2"/>
              </a:rPr>
              <a:t></a:t>
            </a:r>
            <a:r>
              <a:rPr lang="en-US" altLang="zh-CN">
                <a:solidFill>
                  <a:srgbClr val="333399"/>
                </a:solidFill>
                <a:latin typeface="Arial" pitchFamily="34" charset="0"/>
                <a:ea typeface="黑体" pitchFamily="49" charset="-122"/>
              </a:rPr>
              <a:t> 1 </a:t>
            </a:r>
            <a:r>
              <a:rPr lang="zh-CN" altLang="en-US">
                <a:solidFill>
                  <a:srgbClr val="333399"/>
                </a:solidFill>
                <a:latin typeface="Arial" pitchFamily="34" charset="0"/>
                <a:ea typeface="黑体" pitchFamily="49" charset="-122"/>
              </a:rPr>
              <a:t>表明此报文段的发送端的数据已发送完毕，并要求释放运输连接。 </a:t>
            </a:r>
          </a:p>
        </p:txBody>
      </p:sp>
      <p:sp>
        <p:nvSpPr>
          <p:cNvPr id="514131" name="Rectangle 83"/>
          <p:cNvSpPr>
            <a:spLocks noChangeArrowheads="1"/>
          </p:cNvSpPr>
          <p:nvPr/>
        </p:nvSpPr>
        <p:spPr bwMode="auto">
          <a:xfrm>
            <a:off x="4211638" y="2782888"/>
            <a:ext cx="317500"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413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41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31" grpId="0" animBg="1"/>
      <p:bldP spid="514131" grpId="1"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15"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4516"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17"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4518"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19"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0"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1"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2"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3"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4"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25"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4526"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4527"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4528"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4529"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4530"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4531"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2"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4533"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4534"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4535"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6"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7"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8"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9"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0"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1"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2"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4543"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4544"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5"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6"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7"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8"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49"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0"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1"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2"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3"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4"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5"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6"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7"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8"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59"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0"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1"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2"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3"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4"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5"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6"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7"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8"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69"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0"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1"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2"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3"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4"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5"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6"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7"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8"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79"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80"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81"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82"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4583"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4584"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4585"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4586"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4587" name="Rectangle 75"/>
          <p:cNvSpPr>
            <a:spLocks noChangeArrowheads="1"/>
          </p:cNvSpPr>
          <p:nvPr/>
        </p:nvSpPr>
        <p:spPr bwMode="auto">
          <a:xfrm>
            <a:off x="25717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64588"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89"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4590"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1"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2"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93"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155" name="Rectangle 83"/>
          <p:cNvSpPr>
            <a:spLocks noChangeArrowheads="1"/>
          </p:cNvSpPr>
          <p:nvPr/>
        </p:nvSpPr>
        <p:spPr bwMode="auto">
          <a:xfrm>
            <a:off x="4500563" y="2782888"/>
            <a:ext cx="3852862"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95" name="Rectangle 84"/>
          <p:cNvSpPr>
            <a:spLocks noGrp="1" noChangeArrowheads="1"/>
          </p:cNvSpPr>
          <p:nvPr>
            <p:ph type="title"/>
          </p:nvPr>
        </p:nvSpPr>
        <p:spPr>
          <a:xfrm>
            <a:off x="179388" y="5013325"/>
            <a:ext cx="8893175" cy="1125538"/>
          </a:xfrm>
        </p:spPr>
        <p:txBody>
          <a:bodyPr/>
          <a:lstStyle/>
          <a:p>
            <a:pPr eaLnBrk="1" hangingPunct="1"/>
            <a:r>
              <a:rPr lang="zh-CN" altLang="en-US" sz="2800" smtClean="0"/>
              <a:t>窗口字段 </a:t>
            </a:r>
            <a:r>
              <a:rPr lang="en-US" altLang="zh-CN" sz="2800" smtClean="0"/>
              <a:t>—— </a:t>
            </a:r>
            <a:r>
              <a:rPr lang="zh-CN" altLang="en-US" sz="2800" smtClean="0"/>
              <a:t>占 </a:t>
            </a:r>
            <a:r>
              <a:rPr lang="en-US" altLang="zh-CN" sz="2800" smtClean="0"/>
              <a:t>2 </a:t>
            </a:r>
            <a:r>
              <a:rPr lang="zh-CN" altLang="en-US" sz="2800" smtClean="0"/>
              <a:t>字节，用来让对方设置发送窗口的依据，单位为字节。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515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51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55" grpId="0" animBg="1"/>
      <p:bldP spid="515155" grpId="1"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39"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5540"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1"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5542"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3"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4"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5"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6"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7"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8"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9"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5550"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5551"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5552"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5553"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5554"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5555"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6"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5557"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5558"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5559"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0"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1"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2"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3"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4"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5"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6"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5567"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5568"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69"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0"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1"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2"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3"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4"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5"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6"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7"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8"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79"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0"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1"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2"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3"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4"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5"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6"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7"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8"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9"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0"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1"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2"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3"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4"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5"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6"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7"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8"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9"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0"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1"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2"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3"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4"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5"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6"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5607"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5608"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5609"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5610"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5611"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65612"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613"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5614"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615"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616"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617"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7202" name="Rectangle 82"/>
          <p:cNvSpPr>
            <a:spLocks noChangeArrowheads="1"/>
          </p:cNvSpPr>
          <p:nvPr/>
        </p:nvSpPr>
        <p:spPr bwMode="auto">
          <a:xfrm>
            <a:off x="647700" y="3503613"/>
            <a:ext cx="3852863"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19" name="Text Box 84"/>
          <p:cNvSpPr txBox="1">
            <a:spLocks noChangeArrowheads="1"/>
          </p:cNvSpPr>
          <p:nvPr/>
        </p:nvSpPr>
        <p:spPr bwMode="auto">
          <a:xfrm>
            <a:off x="447675" y="5053013"/>
            <a:ext cx="8301038"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just" eaLnBrk="1" hangingPunct="1"/>
            <a:r>
              <a:rPr lang="zh-CN" altLang="en-US">
                <a:solidFill>
                  <a:srgbClr val="333399"/>
                </a:solidFill>
                <a:latin typeface="Arial" pitchFamily="34" charset="0"/>
                <a:ea typeface="黑体" pitchFamily="49" charset="-122"/>
              </a:rPr>
              <a:t>检验和 </a:t>
            </a:r>
            <a:r>
              <a:rPr lang="en-US" altLang="zh-CN">
                <a:solidFill>
                  <a:srgbClr val="333399"/>
                </a:solidFill>
                <a:latin typeface="Arial" pitchFamily="34" charset="0"/>
                <a:ea typeface="黑体" pitchFamily="49" charset="-122"/>
              </a:rPr>
              <a:t>—— </a:t>
            </a:r>
            <a:r>
              <a:rPr lang="zh-CN" altLang="en-US">
                <a:solidFill>
                  <a:srgbClr val="333399"/>
                </a:solidFill>
                <a:latin typeface="Arial" pitchFamily="34" charset="0"/>
                <a:ea typeface="黑体" pitchFamily="49" charset="-122"/>
              </a:rPr>
              <a:t>占 </a:t>
            </a:r>
            <a:r>
              <a:rPr lang="en-US" altLang="zh-CN">
                <a:solidFill>
                  <a:srgbClr val="333399"/>
                </a:solidFill>
                <a:latin typeface="Arial" pitchFamily="34" charset="0"/>
                <a:ea typeface="黑体" pitchFamily="49" charset="-122"/>
              </a:rPr>
              <a:t>2 </a:t>
            </a:r>
            <a:r>
              <a:rPr lang="zh-CN" altLang="en-US">
                <a:solidFill>
                  <a:srgbClr val="333399"/>
                </a:solidFill>
                <a:latin typeface="Arial" pitchFamily="34" charset="0"/>
                <a:ea typeface="黑体" pitchFamily="49" charset="-122"/>
              </a:rPr>
              <a:t>字节。检验和字段检验的范围包括首部和数据这两部分。在计算检验和时，要在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报文段的前面加上 </a:t>
            </a:r>
            <a:r>
              <a:rPr lang="en-US" altLang="zh-CN">
                <a:solidFill>
                  <a:srgbClr val="333399"/>
                </a:solidFill>
                <a:latin typeface="Arial" pitchFamily="34" charset="0"/>
                <a:ea typeface="黑体" pitchFamily="49" charset="-122"/>
              </a:rPr>
              <a:t>12 </a:t>
            </a:r>
            <a:r>
              <a:rPr lang="zh-CN" altLang="en-US">
                <a:solidFill>
                  <a:srgbClr val="333399"/>
                </a:solidFill>
                <a:latin typeface="Arial" pitchFamily="34" charset="0"/>
                <a:ea typeface="黑体" pitchFamily="49" charset="-122"/>
              </a:rPr>
              <a:t>字节的伪首部。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20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720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02" grpId="0" animBg="1"/>
      <p:bldP spid="517202" grpId="1"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3"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6564"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5"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6566"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7"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8"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9"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0"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1"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2"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3"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6574"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6575"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6576"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6577"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6578"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6579"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0"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6581"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6582"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6583"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4"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5"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6"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7"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8"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9"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0"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6591"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6592"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3"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4"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5"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6"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7"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8"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9"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0"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1"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2"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3"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4"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5"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6"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7"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8"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09"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0"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1"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2"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3"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4"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5"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6"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7"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8"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19"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0"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1"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2"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3"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4"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5"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6"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7"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8"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29"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30"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6631"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6632"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6633"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6634"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6635" name="Rectangle 75"/>
          <p:cNvSpPr>
            <a:spLocks noChangeArrowheads="1"/>
          </p:cNvSpPr>
          <p:nvPr/>
        </p:nvSpPr>
        <p:spPr bwMode="auto">
          <a:xfrm>
            <a:off x="25082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66636"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7"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6638"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9"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40"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41"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226" name="Rectangle 82"/>
          <p:cNvSpPr>
            <a:spLocks noChangeArrowheads="1"/>
          </p:cNvSpPr>
          <p:nvPr/>
        </p:nvSpPr>
        <p:spPr bwMode="auto">
          <a:xfrm>
            <a:off x="4500563" y="3503613"/>
            <a:ext cx="3852862"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43" name="Text Box 83"/>
          <p:cNvSpPr txBox="1">
            <a:spLocks noChangeArrowheads="1"/>
          </p:cNvSpPr>
          <p:nvPr/>
        </p:nvSpPr>
        <p:spPr bwMode="auto">
          <a:xfrm>
            <a:off x="447675" y="5053013"/>
            <a:ext cx="8301038"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just" eaLnBrk="1" hangingPunct="1"/>
            <a:r>
              <a:rPr lang="zh-CN" altLang="en-US">
                <a:solidFill>
                  <a:srgbClr val="333399"/>
                </a:solidFill>
                <a:latin typeface="Arial" pitchFamily="34" charset="0"/>
                <a:ea typeface="黑体" pitchFamily="49" charset="-122"/>
              </a:rPr>
              <a:t>紧急指针字段 </a:t>
            </a:r>
            <a:r>
              <a:rPr lang="en-US" altLang="zh-CN">
                <a:solidFill>
                  <a:srgbClr val="333399"/>
                </a:solidFill>
                <a:latin typeface="Arial" pitchFamily="34" charset="0"/>
                <a:ea typeface="黑体" pitchFamily="49" charset="-122"/>
              </a:rPr>
              <a:t>—— </a:t>
            </a:r>
            <a:r>
              <a:rPr lang="zh-CN" altLang="en-US">
                <a:solidFill>
                  <a:srgbClr val="333399"/>
                </a:solidFill>
                <a:latin typeface="Arial" pitchFamily="34" charset="0"/>
                <a:ea typeface="黑体" pitchFamily="49" charset="-122"/>
              </a:rPr>
              <a:t>占 </a:t>
            </a:r>
            <a:r>
              <a:rPr lang="en-US" altLang="zh-CN">
                <a:solidFill>
                  <a:srgbClr val="333399"/>
                </a:solidFill>
                <a:latin typeface="Arial" pitchFamily="34" charset="0"/>
                <a:ea typeface="黑体" pitchFamily="49" charset="-122"/>
              </a:rPr>
              <a:t>16 </a:t>
            </a:r>
            <a:r>
              <a:rPr lang="zh-CN" altLang="en-US">
                <a:solidFill>
                  <a:srgbClr val="333399"/>
                </a:solidFill>
                <a:latin typeface="Arial" pitchFamily="34" charset="0"/>
                <a:ea typeface="黑体" pitchFamily="49" charset="-122"/>
              </a:rPr>
              <a:t>位，</a:t>
            </a:r>
            <a:r>
              <a:rPr lang="zh-CN" altLang="en-US">
                <a:solidFill>
                  <a:srgbClr val="333399"/>
                </a:solidFill>
                <a:ea typeface="黑体" pitchFamily="49" charset="-122"/>
              </a:rPr>
              <a:t>指出在本报文段中紧急数据共有多少个字节（紧急数据放在本报文段数据的最前面）。</a:t>
            </a:r>
            <a:r>
              <a:rPr lang="zh-CN" altLang="en-US"/>
              <a:t> </a:t>
            </a:r>
            <a:r>
              <a:rPr lang="zh-CN" altLang="en-US">
                <a:solidFill>
                  <a:srgbClr val="333399"/>
                </a:solidFill>
                <a:latin typeface="Arial" pitchFamily="34" charset="0"/>
                <a:ea typeface="黑体"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8226"/>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822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226" grpId="0" animBg="1"/>
      <p:bldP spid="518226" grpId="1"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87"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7588"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89"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7590"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1"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2"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3"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4"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5"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6"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97"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7598"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7599"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7600"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7601"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7602"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7603"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04"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7605"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7606"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7607"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08"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09"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0"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1"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2"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3"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4"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7615"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7616"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7"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8"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9"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0"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1"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2"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3"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4"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5"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6"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7"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8"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9"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0"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1"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2"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3"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4"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5"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6"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7"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8"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39"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0"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1"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2"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3"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4"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5"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6"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7"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8"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49"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0"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1"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2"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3"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54"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7655"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7656"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7657"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7658"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7659" name="Rectangle 75"/>
          <p:cNvSpPr>
            <a:spLocks noChangeArrowheads="1"/>
          </p:cNvSpPr>
          <p:nvPr/>
        </p:nvSpPr>
        <p:spPr bwMode="auto">
          <a:xfrm>
            <a:off x="25400" y="-26988"/>
            <a:ext cx="8385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比特 </a:t>
            </a:r>
            <a:r>
              <a:rPr kumimoji="1" lang="en-US" altLang="zh-CN" sz="2000">
                <a:solidFill>
                  <a:srgbClr val="333399"/>
                </a:solidFill>
                <a:latin typeface="Arial" pitchFamily="34" charset="0"/>
                <a:ea typeface="黑体" pitchFamily="49" charset="-122"/>
              </a:rPr>
              <a:t>0                         8                        16                        24                    31</a:t>
            </a:r>
          </a:p>
        </p:txBody>
      </p:sp>
      <p:sp>
        <p:nvSpPr>
          <p:cNvPr id="67660"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1"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7662"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3"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4"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65"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9250" name="Rectangle 82"/>
          <p:cNvSpPr>
            <a:spLocks noChangeArrowheads="1"/>
          </p:cNvSpPr>
          <p:nvPr/>
        </p:nvSpPr>
        <p:spPr bwMode="auto">
          <a:xfrm>
            <a:off x="647700" y="4151313"/>
            <a:ext cx="5770563"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67" name="Text Box 83"/>
          <p:cNvSpPr txBox="1">
            <a:spLocks noChangeArrowheads="1"/>
          </p:cNvSpPr>
          <p:nvPr/>
        </p:nvSpPr>
        <p:spPr bwMode="auto">
          <a:xfrm>
            <a:off x="447675" y="4941888"/>
            <a:ext cx="8301038"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just" eaLnBrk="1" hangingPunct="1"/>
            <a:r>
              <a:rPr lang="zh-CN" altLang="en-US">
                <a:solidFill>
                  <a:srgbClr val="333399"/>
                </a:solidFill>
                <a:latin typeface="Arial" pitchFamily="34" charset="0"/>
                <a:ea typeface="黑体" pitchFamily="49" charset="-122"/>
              </a:rPr>
              <a:t>选项字段 </a:t>
            </a:r>
            <a:r>
              <a:rPr lang="en-US" altLang="zh-CN">
                <a:solidFill>
                  <a:srgbClr val="333399"/>
                </a:solidFill>
                <a:latin typeface="Arial" pitchFamily="34" charset="0"/>
                <a:ea typeface="黑体" pitchFamily="49" charset="-122"/>
              </a:rPr>
              <a:t>—— </a:t>
            </a:r>
            <a:r>
              <a:rPr lang="zh-CN" altLang="en-US">
                <a:solidFill>
                  <a:srgbClr val="333399"/>
                </a:solidFill>
                <a:latin typeface="Arial" pitchFamily="34" charset="0"/>
                <a:ea typeface="黑体" pitchFamily="49" charset="-122"/>
              </a:rPr>
              <a:t>长度可变。</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最初只规定了一种选项，即</a:t>
            </a:r>
            <a:r>
              <a:rPr lang="zh-CN" altLang="en-US">
                <a:solidFill>
                  <a:schemeClr val="hlink"/>
                </a:solidFill>
                <a:latin typeface="Arial" pitchFamily="34" charset="0"/>
                <a:ea typeface="黑体" pitchFamily="49" charset="-122"/>
              </a:rPr>
              <a:t>最大报文段长度</a:t>
            </a:r>
            <a:r>
              <a:rPr lang="zh-CN" altLang="en-US">
                <a:solidFill>
                  <a:srgbClr val="333399"/>
                </a:solidFill>
                <a:latin typeface="Arial" pitchFamily="34" charset="0"/>
                <a:ea typeface="黑体" pitchFamily="49" charset="-122"/>
              </a:rPr>
              <a:t> </a:t>
            </a:r>
            <a:r>
              <a:rPr lang="en-US" altLang="zh-CN">
                <a:solidFill>
                  <a:srgbClr val="333399"/>
                </a:solidFill>
                <a:latin typeface="Arial" pitchFamily="34" charset="0"/>
                <a:ea typeface="黑体" pitchFamily="49" charset="-122"/>
              </a:rPr>
              <a:t>MSS</a:t>
            </a:r>
            <a:r>
              <a:rPr lang="zh-CN" altLang="en-US">
                <a:solidFill>
                  <a:srgbClr val="333399"/>
                </a:solidFill>
                <a:latin typeface="Arial" pitchFamily="34" charset="0"/>
                <a:ea typeface="黑体" pitchFamily="49" charset="-122"/>
              </a:rPr>
              <a:t>。</a:t>
            </a:r>
            <a:r>
              <a:rPr lang="en-US" altLang="zh-CN">
                <a:solidFill>
                  <a:srgbClr val="333399"/>
                </a:solidFill>
                <a:latin typeface="Arial" pitchFamily="34" charset="0"/>
                <a:ea typeface="黑体" pitchFamily="49" charset="-122"/>
              </a:rPr>
              <a:t>MSS </a:t>
            </a:r>
            <a:r>
              <a:rPr lang="zh-CN" altLang="en-US">
                <a:solidFill>
                  <a:srgbClr val="333399"/>
                </a:solidFill>
                <a:latin typeface="Arial" pitchFamily="34" charset="0"/>
                <a:ea typeface="黑体" pitchFamily="49" charset="-122"/>
              </a:rPr>
              <a:t>告诉对方 </a:t>
            </a:r>
            <a:r>
              <a:rPr lang="en-US" altLang="zh-CN">
                <a:solidFill>
                  <a:srgbClr val="333399"/>
                </a:solidFill>
                <a:latin typeface="Arial" pitchFamily="34" charset="0"/>
                <a:ea typeface="黑体" pitchFamily="49" charset="-122"/>
              </a:rPr>
              <a:t>TCP</a:t>
            </a:r>
            <a:r>
              <a:rPr lang="zh-CN" altLang="en-US">
                <a:solidFill>
                  <a:srgbClr val="333399"/>
                </a:solidFill>
                <a:latin typeface="Arial" pitchFamily="34" charset="0"/>
                <a:ea typeface="黑体" pitchFamily="49" charset="-122"/>
              </a:rPr>
              <a:t>：“我的缓存所能接收的报文段的数据字段的最大长度是 </a:t>
            </a:r>
            <a:r>
              <a:rPr lang="en-US" altLang="zh-CN">
                <a:solidFill>
                  <a:srgbClr val="333399"/>
                </a:solidFill>
                <a:latin typeface="Arial" pitchFamily="34" charset="0"/>
                <a:ea typeface="黑体" pitchFamily="49" charset="-122"/>
              </a:rPr>
              <a:t>MSS </a:t>
            </a:r>
            <a:r>
              <a:rPr lang="zh-CN" altLang="en-US">
                <a:solidFill>
                  <a:srgbClr val="333399"/>
                </a:solidFill>
                <a:latin typeface="Arial" pitchFamily="34" charset="0"/>
                <a:ea typeface="黑体" pitchFamily="49" charset="-122"/>
              </a:rPr>
              <a:t>个字节。” </a:t>
            </a:r>
          </a:p>
        </p:txBody>
      </p:sp>
      <p:sp>
        <p:nvSpPr>
          <p:cNvPr id="519252" name="Rectangle 84"/>
          <p:cNvSpPr>
            <a:spLocks noChangeArrowheads="1"/>
          </p:cNvSpPr>
          <p:nvPr/>
        </p:nvSpPr>
        <p:spPr bwMode="auto">
          <a:xfrm>
            <a:off x="0" y="0"/>
            <a:ext cx="9144000" cy="39338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30000"/>
              </a:lnSpc>
            </a:pPr>
            <a:endParaRPr lang="zh-CN" altLang="zh-CN"/>
          </a:p>
        </p:txBody>
      </p:sp>
      <p:sp>
        <p:nvSpPr>
          <p:cNvPr id="519255" name="Text Box 87"/>
          <p:cNvSpPr txBox="1">
            <a:spLocks noChangeArrowheads="1"/>
          </p:cNvSpPr>
          <p:nvPr/>
        </p:nvSpPr>
        <p:spPr bwMode="auto">
          <a:xfrm>
            <a:off x="892175" y="981075"/>
            <a:ext cx="7724775"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3200">
                <a:solidFill>
                  <a:schemeClr val="tx2"/>
                </a:solidFill>
                <a:latin typeface="Arial" pitchFamily="34" charset="0"/>
                <a:ea typeface="黑体" pitchFamily="49" charset="-122"/>
              </a:rPr>
              <a:t>MSS </a:t>
            </a:r>
            <a:r>
              <a:rPr lang="en-US" altLang="zh-CN">
                <a:solidFill>
                  <a:srgbClr val="333399"/>
                </a:solidFill>
              </a:rPr>
              <a:t>(Maximum Segment Size)</a:t>
            </a:r>
          </a:p>
          <a:p>
            <a:pPr algn="ctr" eaLnBrk="1" hangingPunct="1"/>
            <a:r>
              <a:rPr lang="zh-CN" altLang="en-US" sz="3200">
                <a:solidFill>
                  <a:schemeClr val="tx2"/>
                </a:solidFill>
                <a:latin typeface="Arial" pitchFamily="34" charset="0"/>
                <a:ea typeface="黑体" pitchFamily="49" charset="-122"/>
              </a:rPr>
              <a:t>是 </a:t>
            </a:r>
            <a:r>
              <a:rPr lang="en-US" altLang="zh-CN" sz="3200">
                <a:solidFill>
                  <a:schemeClr val="tx2"/>
                </a:solidFill>
                <a:latin typeface="Arial" pitchFamily="34" charset="0"/>
                <a:ea typeface="黑体" pitchFamily="49" charset="-122"/>
              </a:rPr>
              <a:t>TCP </a:t>
            </a:r>
            <a:r>
              <a:rPr lang="zh-CN" altLang="en-US" sz="3200">
                <a:solidFill>
                  <a:schemeClr val="tx2"/>
                </a:solidFill>
                <a:latin typeface="Arial" pitchFamily="34" charset="0"/>
                <a:ea typeface="黑体" pitchFamily="49" charset="-122"/>
              </a:rPr>
              <a:t>报文段中的</a:t>
            </a:r>
            <a:r>
              <a:rPr lang="zh-CN" altLang="en-US" sz="3200">
                <a:solidFill>
                  <a:schemeClr val="hlink"/>
                </a:solidFill>
                <a:latin typeface="Arial" pitchFamily="34" charset="0"/>
                <a:ea typeface="黑体" pitchFamily="49" charset="-122"/>
              </a:rPr>
              <a:t>数据字段</a:t>
            </a:r>
            <a:r>
              <a:rPr lang="zh-CN" altLang="en-US" sz="3200">
                <a:solidFill>
                  <a:schemeClr val="tx2"/>
                </a:solidFill>
                <a:latin typeface="Arial" pitchFamily="34" charset="0"/>
                <a:ea typeface="黑体" pitchFamily="49" charset="-122"/>
              </a:rPr>
              <a:t>的最大长度。</a:t>
            </a:r>
          </a:p>
          <a:p>
            <a:pPr algn="ctr" eaLnBrk="1" hangingPunct="1"/>
            <a:r>
              <a:rPr lang="zh-CN" altLang="en-US" sz="3200">
                <a:solidFill>
                  <a:schemeClr val="tx2"/>
                </a:solidFill>
                <a:latin typeface="Arial" pitchFamily="34" charset="0"/>
                <a:ea typeface="黑体" pitchFamily="49" charset="-122"/>
              </a:rPr>
              <a:t>数据字段加上 </a:t>
            </a:r>
            <a:r>
              <a:rPr lang="en-US" altLang="zh-CN" sz="3200">
                <a:solidFill>
                  <a:schemeClr val="tx2"/>
                </a:solidFill>
                <a:latin typeface="Arial" pitchFamily="34" charset="0"/>
                <a:ea typeface="黑体" pitchFamily="49" charset="-122"/>
              </a:rPr>
              <a:t>TCP </a:t>
            </a:r>
            <a:r>
              <a:rPr lang="zh-CN" altLang="en-US" sz="3200">
                <a:solidFill>
                  <a:schemeClr val="tx2"/>
                </a:solidFill>
                <a:latin typeface="Arial" pitchFamily="34" charset="0"/>
                <a:ea typeface="黑体" pitchFamily="49" charset="-122"/>
              </a:rPr>
              <a:t>首部</a:t>
            </a:r>
          </a:p>
          <a:p>
            <a:pPr algn="ctr" eaLnBrk="1" hangingPunct="1"/>
            <a:r>
              <a:rPr lang="zh-CN" altLang="en-US" sz="3200">
                <a:solidFill>
                  <a:schemeClr val="tx2"/>
                </a:solidFill>
                <a:latin typeface="Arial" pitchFamily="34" charset="0"/>
                <a:ea typeface="黑体" pitchFamily="49" charset="-122"/>
              </a:rPr>
              <a:t>才等于整个的 </a:t>
            </a:r>
            <a:r>
              <a:rPr lang="en-US" altLang="zh-CN" sz="3200">
                <a:solidFill>
                  <a:schemeClr val="tx2"/>
                </a:solidFill>
                <a:latin typeface="Arial" pitchFamily="34" charset="0"/>
                <a:ea typeface="黑体" pitchFamily="49" charset="-122"/>
              </a:rPr>
              <a:t>TCP </a:t>
            </a:r>
            <a:r>
              <a:rPr lang="zh-CN" altLang="en-US" sz="3200">
                <a:solidFill>
                  <a:schemeClr val="tx2"/>
                </a:solidFill>
                <a:latin typeface="Arial" pitchFamily="34" charset="0"/>
                <a:ea typeface="黑体" pitchFamily="49" charset="-122"/>
              </a:rPr>
              <a:t>报文段。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250"/>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9250"/>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1925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19252"/>
                                        </p:tgtEl>
                                        <p:attrNameLst>
                                          <p:attrName>style.visibility</p:attrName>
                                        </p:attrNameLst>
                                      </p:cBhvr>
                                      <p:to>
                                        <p:strVal val="visible"/>
                                      </p:to>
                                    </p:set>
                                  </p:childTnLst>
                                </p:cTn>
                              </p:par>
                            </p:childTnLst>
                          </p:cTn>
                        </p:par>
                        <p:par>
                          <p:cTn id="16" fill="hold" nodeType="afterGroup">
                            <p:stCondLst>
                              <p:cond delay="0"/>
                            </p:stCondLst>
                            <p:childTnLst>
                              <p:par>
                                <p:cTn id="17" presetID="35" presetClass="emph" presetSubtype="0" repeatCount="3000" fill="hold" grpId="1" nodeType="afterEffect">
                                  <p:stCondLst>
                                    <p:cond delay="500"/>
                                  </p:stCondLst>
                                  <p:childTnLst>
                                    <p:anim calcmode="discrete" valueType="str">
                                      <p:cBhvr>
                                        <p:cTn id="18" dur="1000" fill="hold"/>
                                        <p:tgtEl>
                                          <p:spTgt spid="5192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250" grpId="0" animBg="1"/>
      <p:bldP spid="519250" grpId="1" animBg="1"/>
      <p:bldP spid="519252" grpId="0" animBg="1"/>
      <p:bldP spid="519255" grpId="0"/>
      <p:bldP spid="519255"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4813B13-25C7-4426-9DA4-0B460F1621DE}" type="slidenum">
              <a:rPr lang="en-US" altLang="zh-CN" sz="1400"/>
              <a:pPr eaLnBrk="1" hangingPunct="1"/>
              <a:t>65</a:t>
            </a:fld>
            <a:endParaRPr lang="en-US" altLang="zh-CN" sz="1400"/>
          </a:p>
        </p:txBody>
      </p:sp>
      <p:sp>
        <p:nvSpPr>
          <p:cNvPr id="68611" name="Rectangle 2"/>
          <p:cNvSpPr>
            <a:spLocks noGrp="1" noChangeArrowheads="1"/>
          </p:cNvSpPr>
          <p:nvPr>
            <p:ph type="title"/>
          </p:nvPr>
        </p:nvSpPr>
        <p:spPr>
          <a:xfrm>
            <a:off x="1150938" y="214313"/>
            <a:ext cx="7237412" cy="1462087"/>
          </a:xfrm>
        </p:spPr>
        <p:txBody>
          <a:bodyPr/>
          <a:lstStyle/>
          <a:p>
            <a:pPr algn="ctr" eaLnBrk="1" hangingPunct="1"/>
            <a:r>
              <a:rPr lang="zh-CN" altLang="en-US" sz="4000" smtClean="0"/>
              <a:t>其他选项</a:t>
            </a:r>
            <a:r>
              <a:rPr lang="en-US" altLang="zh-CN" sz="4000" smtClean="0"/>
              <a:t>196</a:t>
            </a:r>
          </a:p>
        </p:txBody>
      </p:sp>
      <p:sp>
        <p:nvSpPr>
          <p:cNvPr id="68612" name="Rectangle 3"/>
          <p:cNvSpPr>
            <a:spLocks noGrp="1" noChangeArrowheads="1"/>
          </p:cNvSpPr>
          <p:nvPr>
            <p:ph type="body" idx="1"/>
          </p:nvPr>
        </p:nvSpPr>
        <p:spPr>
          <a:xfrm>
            <a:off x="1042988" y="1835150"/>
            <a:ext cx="7772400" cy="4114800"/>
          </a:xfrm>
        </p:spPr>
        <p:txBody>
          <a:bodyPr/>
          <a:lstStyle/>
          <a:p>
            <a:pPr eaLnBrk="1" hangingPunct="1"/>
            <a:r>
              <a:rPr lang="zh-CN" altLang="en-US" sz="2800" smtClean="0"/>
              <a:t>窗口扩大选项 </a:t>
            </a:r>
            <a:r>
              <a:rPr lang="en-US" altLang="zh-CN" sz="2800" smtClean="0"/>
              <a:t>——</a:t>
            </a:r>
            <a:r>
              <a:rPr lang="zh-CN" altLang="en-US" sz="2800" smtClean="0"/>
              <a:t>占 </a:t>
            </a:r>
            <a:r>
              <a:rPr lang="en-US" altLang="zh-CN" sz="2800" smtClean="0"/>
              <a:t>3 </a:t>
            </a:r>
            <a:r>
              <a:rPr lang="zh-CN" altLang="en-US" sz="2800" smtClean="0"/>
              <a:t>字节，其中有一个字节表示移位值 </a:t>
            </a:r>
            <a:r>
              <a:rPr lang="en-US" altLang="zh-CN" sz="2800" smtClean="0"/>
              <a:t>S</a:t>
            </a:r>
            <a:r>
              <a:rPr lang="zh-CN" altLang="en-US" sz="2800" smtClean="0"/>
              <a:t>。新的窗口值等于</a:t>
            </a:r>
            <a:r>
              <a:rPr lang="en-US" altLang="zh-CN" sz="2800" smtClean="0"/>
              <a:t>TCP </a:t>
            </a:r>
            <a:r>
              <a:rPr lang="zh-CN" altLang="en-US" sz="2800" smtClean="0"/>
              <a:t>首部中的窗口位数增大到</a:t>
            </a:r>
            <a:r>
              <a:rPr lang="en-US" altLang="zh-CN" sz="2800" smtClean="0"/>
              <a:t>(16 + S)</a:t>
            </a:r>
            <a:r>
              <a:rPr lang="zh-CN" altLang="en-US" sz="2800" smtClean="0"/>
              <a:t>，相当于把窗口值向左移动 </a:t>
            </a:r>
            <a:r>
              <a:rPr lang="en-US" altLang="zh-CN" sz="2800" smtClean="0"/>
              <a:t>S </a:t>
            </a:r>
            <a:r>
              <a:rPr lang="zh-CN" altLang="en-US" sz="2800" smtClean="0"/>
              <a:t>位后获得实际的窗口大小。</a:t>
            </a:r>
          </a:p>
          <a:p>
            <a:pPr eaLnBrk="1" hangingPunct="1"/>
            <a:r>
              <a:rPr lang="zh-CN" altLang="en-US" sz="2800" smtClean="0"/>
              <a:t>时间戳选项</a:t>
            </a:r>
            <a:r>
              <a:rPr lang="en-US" altLang="zh-CN" sz="2800" smtClean="0"/>
              <a:t>——</a:t>
            </a:r>
            <a:r>
              <a:rPr lang="zh-CN" altLang="en-US" sz="2800" smtClean="0"/>
              <a:t>占</a:t>
            </a:r>
            <a:r>
              <a:rPr lang="en-US" altLang="zh-CN" sz="2800" smtClean="0"/>
              <a:t>10 </a:t>
            </a:r>
            <a:r>
              <a:rPr lang="zh-CN" altLang="en-US" sz="2800" smtClean="0"/>
              <a:t>字节，其中最主要的字段时间戳值字段（</a:t>
            </a:r>
            <a:r>
              <a:rPr lang="en-US" altLang="zh-CN" sz="2800" smtClean="0"/>
              <a:t>4 </a:t>
            </a:r>
            <a:r>
              <a:rPr lang="zh-CN" altLang="en-US" sz="2800" smtClean="0"/>
              <a:t>字节）和时间戳回送回答字段（</a:t>
            </a:r>
            <a:r>
              <a:rPr lang="en-US" altLang="zh-CN" sz="2800" smtClean="0"/>
              <a:t>4 </a:t>
            </a:r>
            <a:r>
              <a:rPr lang="zh-CN" altLang="en-US" sz="2800" smtClean="0"/>
              <a:t>字节）。</a:t>
            </a:r>
          </a:p>
          <a:p>
            <a:pPr eaLnBrk="1" hangingPunct="1"/>
            <a:r>
              <a:rPr lang="zh-CN" altLang="en-US" sz="2800" smtClean="0"/>
              <a:t>选择确认选项</a:t>
            </a:r>
            <a:r>
              <a:rPr lang="en-US" altLang="zh-CN" sz="2800" smtClean="0"/>
              <a:t>——</a:t>
            </a:r>
            <a:r>
              <a:rPr lang="zh-CN" altLang="en-US" sz="2800" smtClean="0"/>
              <a:t>在后面的 </a:t>
            </a:r>
            <a:r>
              <a:rPr lang="en-US" altLang="zh-CN" sz="2800" smtClean="0"/>
              <a:t>5.6.3 </a:t>
            </a:r>
            <a:r>
              <a:rPr lang="zh-CN" altLang="en-US" sz="2800" smtClean="0"/>
              <a:t>节介绍。 </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Line 2"/>
          <p:cNvSpPr>
            <a:spLocks noChangeShapeType="1"/>
          </p:cNvSpPr>
          <p:nvPr/>
        </p:nvSpPr>
        <p:spPr bwMode="auto">
          <a:xfrm flipH="1">
            <a:off x="328613" y="709613"/>
            <a:ext cx="17462" cy="4122737"/>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35" name="Rectangle 3"/>
          <p:cNvSpPr>
            <a:spLocks noChangeArrowheads="1"/>
          </p:cNvSpPr>
          <p:nvPr/>
        </p:nvSpPr>
        <p:spPr bwMode="auto">
          <a:xfrm>
            <a:off x="0" y="2309813"/>
            <a:ext cx="690563" cy="6381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en-US" altLang="zh-CN" sz="2000">
                <a:solidFill>
                  <a:srgbClr val="333399"/>
                </a:solidFill>
                <a:latin typeface="Arial" pitchFamily="34" charset="0"/>
                <a:ea typeface="黑体" pitchFamily="49" charset="-122"/>
              </a:rPr>
              <a:t>TCP</a:t>
            </a:r>
          </a:p>
          <a:p>
            <a:pP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9636" name="Line 4"/>
          <p:cNvSpPr>
            <a:spLocks noChangeShapeType="1"/>
          </p:cNvSpPr>
          <p:nvPr/>
        </p:nvSpPr>
        <p:spPr bwMode="auto">
          <a:xfrm>
            <a:off x="8748713" y="700088"/>
            <a:ext cx="0" cy="3463925"/>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37" name="Rectangle 5"/>
          <p:cNvSpPr>
            <a:spLocks noChangeArrowheads="1"/>
          </p:cNvSpPr>
          <p:nvPr/>
        </p:nvSpPr>
        <p:spPr bwMode="auto">
          <a:xfrm>
            <a:off x="8388350" y="1778000"/>
            <a:ext cx="688975" cy="118745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en-US" altLang="zh-CN" sz="2000">
                <a:solidFill>
                  <a:srgbClr val="333399"/>
                </a:solidFill>
                <a:latin typeface="Arial" pitchFamily="34" charset="0"/>
                <a:ea typeface="黑体" pitchFamily="49" charset="-122"/>
              </a:rPr>
              <a:t>20</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字节</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固定</a:t>
            </a:r>
          </a:p>
          <a:p>
            <a:pPr algn="ctr" defTabSz="762000" eaLnBrk="0" hangingPunct="0">
              <a:lnSpc>
                <a:spcPct val="90000"/>
              </a:lnSpc>
            </a:pPr>
            <a:r>
              <a:rPr kumimoji="1" lang="zh-CN" altLang="en-US" sz="2000">
                <a:solidFill>
                  <a:srgbClr val="333399"/>
                </a:solidFill>
                <a:latin typeface="Arial" pitchFamily="34" charset="0"/>
                <a:ea typeface="黑体" pitchFamily="49" charset="-122"/>
              </a:rPr>
              <a:t>首部</a:t>
            </a:r>
          </a:p>
        </p:txBody>
      </p:sp>
      <p:sp>
        <p:nvSpPr>
          <p:cNvPr id="69638" name="Rectangle 6"/>
          <p:cNvSpPr>
            <a:spLocks noChangeArrowheads="1"/>
          </p:cNvSpPr>
          <p:nvPr/>
        </p:nvSpPr>
        <p:spPr bwMode="auto">
          <a:xfrm>
            <a:off x="654050" y="706438"/>
            <a:ext cx="7686675" cy="4133850"/>
          </a:xfrm>
          <a:prstGeom prst="rect">
            <a:avLst/>
          </a:prstGeom>
          <a:solidFill>
            <a:srgbClr val="FF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39" name="Line 7"/>
          <p:cNvSpPr>
            <a:spLocks noChangeShapeType="1"/>
          </p:cNvSpPr>
          <p:nvPr/>
        </p:nvSpPr>
        <p:spPr bwMode="auto">
          <a:xfrm>
            <a:off x="646113" y="1409700"/>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0" name="Line 8"/>
          <p:cNvSpPr>
            <a:spLocks noChangeShapeType="1"/>
          </p:cNvSpPr>
          <p:nvPr/>
        </p:nvSpPr>
        <p:spPr bwMode="auto">
          <a:xfrm>
            <a:off x="660400" y="2105025"/>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1" name="Line 9"/>
          <p:cNvSpPr>
            <a:spLocks noChangeShapeType="1"/>
          </p:cNvSpPr>
          <p:nvPr/>
        </p:nvSpPr>
        <p:spPr bwMode="auto">
          <a:xfrm>
            <a:off x="646113" y="279876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2" name="Line 10"/>
          <p:cNvSpPr>
            <a:spLocks noChangeShapeType="1"/>
          </p:cNvSpPr>
          <p:nvPr/>
        </p:nvSpPr>
        <p:spPr bwMode="auto">
          <a:xfrm>
            <a:off x="646113" y="3490913"/>
            <a:ext cx="76993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3" name="Line 11"/>
          <p:cNvSpPr>
            <a:spLocks noChangeShapeType="1"/>
          </p:cNvSpPr>
          <p:nvPr/>
        </p:nvSpPr>
        <p:spPr bwMode="auto">
          <a:xfrm>
            <a:off x="660400" y="4186238"/>
            <a:ext cx="7685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4" name="Line 12"/>
          <p:cNvSpPr>
            <a:spLocks noChangeShapeType="1"/>
          </p:cNvSpPr>
          <p:nvPr/>
        </p:nvSpPr>
        <p:spPr bwMode="auto">
          <a:xfrm>
            <a:off x="4498975" y="714375"/>
            <a:ext cx="0" cy="7096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5" name="Rectangle 13"/>
          <p:cNvSpPr>
            <a:spLocks noChangeArrowheads="1"/>
          </p:cNvSpPr>
          <p:nvPr/>
        </p:nvSpPr>
        <p:spPr bwMode="auto">
          <a:xfrm>
            <a:off x="5699125" y="841375"/>
            <a:ext cx="16160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目  的  端  口</a:t>
            </a:r>
          </a:p>
        </p:txBody>
      </p:sp>
      <p:sp>
        <p:nvSpPr>
          <p:cNvPr id="69646" name="Rectangle 14"/>
          <p:cNvSpPr>
            <a:spLocks noChangeArrowheads="1"/>
          </p:cNvSpPr>
          <p:nvPr/>
        </p:nvSpPr>
        <p:spPr bwMode="auto">
          <a:xfrm>
            <a:off x="808038" y="2763838"/>
            <a:ext cx="6873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数据</a:t>
            </a:r>
          </a:p>
          <a:p>
            <a:pPr defTabSz="762000" eaLnBrk="0" hangingPunct="0"/>
            <a:r>
              <a:rPr kumimoji="1" lang="zh-CN" altLang="en-US" sz="2000">
                <a:solidFill>
                  <a:srgbClr val="333399"/>
                </a:solidFill>
                <a:latin typeface="Arial" pitchFamily="34" charset="0"/>
                <a:ea typeface="黑体" pitchFamily="49" charset="-122"/>
              </a:rPr>
              <a:t>偏移</a:t>
            </a:r>
          </a:p>
        </p:txBody>
      </p:sp>
      <p:sp>
        <p:nvSpPr>
          <p:cNvPr id="69647" name="Rectangle 15"/>
          <p:cNvSpPr>
            <a:spLocks noChangeArrowheads="1"/>
          </p:cNvSpPr>
          <p:nvPr/>
        </p:nvSpPr>
        <p:spPr bwMode="auto">
          <a:xfrm>
            <a:off x="1887538" y="3629025"/>
            <a:ext cx="13604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检   验   和</a:t>
            </a:r>
          </a:p>
        </p:txBody>
      </p:sp>
      <p:sp>
        <p:nvSpPr>
          <p:cNvPr id="69648" name="Rectangle 16"/>
          <p:cNvSpPr>
            <a:spLocks noChangeArrowheads="1"/>
          </p:cNvSpPr>
          <p:nvPr/>
        </p:nvSpPr>
        <p:spPr bwMode="auto">
          <a:xfrm>
            <a:off x="2089150" y="4270375"/>
            <a:ext cx="3198813"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选    项    （长  度  可  变）</a:t>
            </a:r>
          </a:p>
        </p:txBody>
      </p:sp>
      <p:sp>
        <p:nvSpPr>
          <p:cNvPr id="69649" name="Rectangle 17"/>
          <p:cNvSpPr>
            <a:spLocks noChangeArrowheads="1"/>
          </p:cNvSpPr>
          <p:nvPr/>
        </p:nvSpPr>
        <p:spPr bwMode="auto">
          <a:xfrm>
            <a:off x="2001838" y="841375"/>
            <a:ext cx="12223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源  端  口</a:t>
            </a:r>
          </a:p>
        </p:txBody>
      </p:sp>
      <p:sp>
        <p:nvSpPr>
          <p:cNvPr id="69650" name="Rectangle 18"/>
          <p:cNvSpPr>
            <a:spLocks noChangeArrowheads="1"/>
          </p:cNvSpPr>
          <p:nvPr/>
        </p:nvSpPr>
        <p:spPr bwMode="auto">
          <a:xfrm>
            <a:off x="4054475" y="1528763"/>
            <a:ext cx="1381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序   号</a:t>
            </a:r>
          </a:p>
        </p:txBody>
      </p:sp>
      <p:sp>
        <p:nvSpPr>
          <p:cNvPr id="69651" name="Line 19"/>
          <p:cNvSpPr>
            <a:spLocks noChangeShapeType="1"/>
          </p:cNvSpPr>
          <p:nvPr/>
        </p:nvSpPr>
        <p:spPr bwMode="auto">
          <a:xfrm>
            <a:off x="4505325" y="2808288"/>
            <a:ext cx="0" cy="1370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2" name="Rectangle 20"/>
          <p:cNvSpPr>
            <a:spLocks noChangeArrowheads="1"/>
          </p:cNvSpPr>
          <p:nvPr/>
        </p:nvSpPr>
        <p:spPr bwMode="auto">
          <a:xfrm>
            <a:off x="5538788" y="3629025"/>
            <a:ext cx="18256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紧   急   指   针</a:t>
            </a:r>
          </a:p>
        </p:txBody>
      </p:sp>
      <p:sp>
        <p:nvSpPr>
          <p:cNvPr id="69653" name="Rectangle 21"/>
          <p:cNvSpPr>
            <a:spLocks noChangeArrowheads="1"/>
          </p:cNvSpPr>
          <p:nvPr/>
        </p:nvSpPr>
        <p:spPr bwMode="auto">
          <a:xfrm>
            <a:off x="5988050" y="2909888"/>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窗   口</a:t>
            </a:r>
          </a:p>
        </p:txBody>
      </p:sp>
      <p:sp>
        <p:nvSpPr>
          <p:cNvPr id="69654" name="Rectangle 22"/>
          <p:cNvSpPr>
            <a:spLocks noChangeArrowheads="1"/>
          </p:cNvSpPr>
          <p:nvPr/>
        </p:nvSpPr>
        <p:spPr bwMode="auto">
          <a:xfrm>
            <a:off x="3810000" y="2252663"/>
            <a:ext cx="18415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确    认    号</a:t>
            </a:r>
          </a:p>
        </p:txBody>
      </p:sp>
      <p:sp>
        <p:nvSpPr>
          <p:cNvPr id="69655" name="Line 23"/>
          <p:cNvSpPr>
            <a:spLocks noChangeShapeType="1"/>
          </p:cNvSpPr>
          <p:nvPr/>
        </p:nvSpPr>
        <p:spPr bwMode="auto">
          <a:xfrm>
            <a:off x="1611313"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6" name="Line 24"/>
          <p:cNvSpPr>
            <a:spLocks noChangeShapeType="1"/>
          </p:cNvSpPr>
          <p:nvPr/>
        </p:nvSpPr>
        <p:spPr bwMode="auto">
          <a:xfrm>
            <a:off x="3538538" y="2800350"/>
            <a:ext cx="0" cy="684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7" name="Line 25"/>
          <p:cNvSpPr>
            <a:spLocks noChangeShapeType="1"/>
          </p:cNvSpPr>
          <p:nvPr/>
        </p:nvSpPr>
        <p:spPr bwMode="auto">
          <a:xfrm>
            <a:off x="3044825" y="2808288"/>
            <a:ext cx="0" cy="692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8" name="Line 26"/>
          <p:cNvSpPr>
            <a:spLocks noChangeShapeType="1"/>
          </p:cNvSpPr>
          <p:nvPr/>
        </p:nvSpPr>
        <p:spPr bwMode="auto">
          <a:xfrm>
            <a:off x="328930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59" name="Line 27"/>
          <p:cNvSpPr>
            <a:spLocks noChangeShapeType="1"/>
          </p:cNvSpPr>
          <p:nvPr/>
        </p:nvSpPr>
        <p:spPr bwMode="auto">
          <a:xfrm>
            <a:off x="40195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0" name="Line 28"/>
          <p:cNvSpPr>
            <a:spLocks noChangeShapeType="1"/>
          </p:cNvSpPr>
          <p:nvPr/>
        </p:nvSpPr>
        <p:spPr bwMode="auto">
          <a:xfrm>
            <a:off x="3778250"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1" name="Line 29"/>
          <p:cNvSpPr>
            <a:spLocks noChangeShapeType="1"/>
          </p:cNvSpPr>
          <p:nvPr/>
        </p:nvSpPr>
        <p:spPr bwMode="auto">
          <a:xfrm>
            <a:off x="4264025" y="2808288"/>
            <a:ext cx="0" cy="6810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2" name="Rectangle 30"/>
          <p:cNvSpPr>
            <a:spLocks noChangeArrowheads="1"/>
          </p:cNvSpPr>
          <p:nvPr/>
        </p:nvSpPr>
        <p:spPr bwMode="auto">
          <a:xfrm>
            <a:off x="1911350" y="2924175"/>
            <a:ext cx="8985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保   留</a:t>
            </a:r>
          </a:p>
        </p:txBody>
      </p:sp>
      <p:sp>
        <p:nvSpPr>
          <p:cNvPr id="69663" name="Rectangle 31"/>
          <p:cNvSpPr>
            <a:spLocks noChangeArrowheads="1"/>
          </p:cNvSpPr>
          <p:nvPr/>
        </p:nvSpPr>
        <p:spPr bwMode="auto">
          <a:xfrm>
            <a:off x="4237038"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600" b="1">
                <a:solidFill>
                  <a:srgbClr val="333399"/>
                </a:solidFill>
                <a:latin typeface="Arial" pitchFamily="34" charset="0"/>
                <a:ea typeface="黑体" pitchFamily="49" charset="-122"/>
              </a:rPr>
              <a:t>F</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I</a:t>
            </a:r>
          </a:p>
          <a:p>
            <a:pPr algn="ct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9664" name="Line 32"/>
          <p:cNvSpPr>
            <a:spLocks noChangeShapeType="1"/>
          </p:cNvSpPr>
          <p:nvPr/>
        </p:nvSpPr>
        <p:spPr bwMode="auto">
          <a:xfrm>
            <a:off x="650875" y="549275"/>
            <a:ext cx="76755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5" name="Line 33"/>
          <p:cNvSpPr>
            <a:spLocks noChangeShapeType="1"/>
          </p:cNvSpPr>
          <p:nvPr/>
        </p:nvSpPr>
        <p:spPr bwMode="auto">
          <a:xfrm>
            <a:off x="650875"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6" name="Line 34"/>
          <p:cNvSpPr>
            <a:spLocks noChangeShapeType="1"/>
          </p:cNvSpPr>
          <p:nvPr/>
        </p:nvSpPr>
        <p:spPr bwMode="auto">
          <a:xfrm>
            <a:off x="890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7" name="Line 35"/>
          <p:cNvSpPr>
            <a:spLocks noChangeShapeType="1"/>
          </p:cNvSpPr>
          <p:nvPr/>
        </p:nvSpPr>
        <p:spPr bwMode="auto">
          <a:xfrm>
            <a:off x="1130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8" name="Line 36"/>
          <p:cNvSpPr>
            <a:spLocks noChangeShapeType="1"/>
          </p:cNvSpPr>
          <p:nvPr/>
        </p:nvSpPr>
        <p:spPr bwMode="auto">
          <a:xfrm>
            <a:off x="1370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69" name="Line 37"/>
          <p:cNvSpPr>
            <a:spLocks noChangeShapeType="1"/>
          </p:cNvSpPr>
          <p:nvPr/>
        </p:nvSpPr>
        <p:spPr bwMode="auto">
          <a:xfrm>
            <a:off x="1611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0" name="Line 38"/>
          <p:cNvSpPr>
            <a:spLocks noChangeShapeType="1"/>
          </p:cNvSpPr>
          <p:nvPr/>
        </p:nvSpPr>
        <p:spPr bwMode="auto">
          <a:xfrm>
            <a:off x="18510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1" name="Line 39"/>
          <p:cNvSpPr>
            <a:spLocks noChangeShapeType="1"/>
          </p:cNvSpPr>
          <p:nvPr/>
        </p:nvSpPr>
        <p:spPr bwMode="auto">
          <a:xfrm>
            <a:off x="2089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2" name="Line 40"/>
          <p:cNvSpPr>
            <a:spLocks noChangeShapeType="1"/>
          </p:cNvSpPr>
          <p:nvPr/>
        </p:nvSpPr>
        <p:spPr bwMode="auto">
          <a:xfrm>
            <a:off x="2328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3" name="Line 41"/>
          <p:cNvSpPr>
            <a:spLocks noChangeShapeType="1"/>
          </p:cNvSpPr>
          <p:nvPr/>
        </p:nvSpPr>
        <p:spPr bwMode="auto">
          <a:xfrm>
            <a:off x="25701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4" name="Line 42"/>
          <p:cNvSpPr>
            <a:spLocks noChangeShapeType="1"/>
          </p:cNvSpPr>
          <p:nvPr/>
        </p:nvSpPr>
        <p:spPr bwMode="auto">
          <a:xfrm>
            <a:off x="2809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5" name="Line 43"/>
          <p:cNvSpPr>
            <a:spLocks noChangeShapeType="1"/>
          </p:cNvSpPr>
          <p:nvPr/>
        </p:nvSpPr>
        <p:spPr bwMode="auto">
          <a:xfrm>
            <a:off x="3049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6" name="Line 44"/>
          <p:cNvSpPr>
            <a:spLocks noChangeShapeType="1"/>
          </p:cNvSpPr>
          <p:nvPr/>
        </p:nvSpPr>
        <p:spPr bwMode="auto">
          <a:xfrm>
            <a:off x="3289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7" name="Line 45"/>
          <p:cNvSpPr>
            <a:spLocks noChangeShapeType="1"/>
          </p:cNvSpPr>
          <p:nvPr/>
        </p:nvSpPr>
        <p:spPr bwMode="auto">
          <a:xfrm>
            <a:off x="3530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8" name="Line 46"/>
          <p:cNvSpPr>
            <a:spLocks noChangeShapeType="1"/>
          </p:cNvSpPr>
          <p:nvPr/>
        </p:nvSpPr>
        <p:spPr bwMode="auto">
          <a:xfrm>
            <a:off x="37703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79" name="Line 47"/>
          <p:cNvSpPr>
            <a:spLocks noChangeShapeType="1"/>
          </p:cNvSpPr>
          <p:nvPr/>
        </p:nvSpPr>
        <p:spPr bwMode="auto">
          <a:xfrm>
            <a:off x="4008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0" name="Line 48"/>
          <p:cNvSpPr>
            <a:spLocks noChangeShapeType="1"/>
          </p:cNvSpPr>
          <p:nvPr/>
        </p:nvSpPr>
        <p:spPr bwMode="auto">
          <a:xfrm>
            <a:off x="424815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1" name="Line 49"/>
          <p:cNvSpPr>
            <a:spLocks noChangeShapeType="1"/>
          </p:cNvSpPr>
          <p:nvPr/>
        </p:nvSpPr>
        <p:spPr bwMode="auto">
          <a:xfrm>
            <a:off x="4487863"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2" name="Line 50"/>
          <p:cNvSpPr>
            <a:spLocks noChangeShapeType="1"/>
          </p:cNvSpPr>
          <p:nvPr/>
        </p:nvSpPr>
        <p:spPr bwMode="auto">
          <a:xfrm>
            <a:off x="4729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3" name="Line 51"/>
          <p:cNvSpPr>
            <a:spLocks noChangeShapeType="1"/>
          </p:cNvSpPr>
          <p:nvPr/>
        </p:nvSpPr>
        <p:spPr bwMode="auto">
          <a:xfrm>
            <a:off x="4968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4" name="Line 52"/>
          <p:cNvSpPr>
            <a:spLocks noChangeShapeType="1"/>
          </p:cNvSpPr>
          <p:nvPr/>
        </p:nvSpPr>
        <p:spPr bwMode="auto">
          <a:xfrm>
            <a:off x="5208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5" name="Line 53"/>
          <p:cNvSpPr>
            <a:spLocks noChangeShapeType="1"/>
          </p:cNvSpPr>
          <p:nvPr/>
        </p:nvSpPr>
        <p:spPr bwMode="auto">
          <a:xfrm>
            <a:off x="5448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6" name="Line 54"/>
          <p:cNvSpPr>
            <a:spLocks noChangeShapeType="1"/>
          </p:cNvSpPr>
          <p:nvPr/>
        </p:nvSpPr>
        <p:spPr bwMode="auto">
          <a:xfrm>
            <a:off x="56896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7" name="Line 55"/>
          <p:cNvSpPr>
            <a:spLocks noChangeShapeType="1"/>
          </p:cNvSpPr>
          <p:nvPr/>
        </p:nvSpPr>
        <p:spPr bwMode="auto">
          <a:xfrm>
            <a:off x="5927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8" name="Line 56"/>
          <p:cNvSpPr>
            <a:spLocks noChangeShapeType="1"/>
          </p:cNvSpPr>
          <p:nvPr/>
        </p:nvSpPr>
        <p:spPr bwMode="auto">
          <a:xfrm>
            <a:off x="616743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89" name="Line 57"/>
          <p:cNvSpPr>
            <a:spLocks noChangeShapeType="1"/>
          </p:cNvSpPr>
          <p:nvPr/>
        </p:nvSpPr>
        <p:spPr bwMode="auto">
          <a:xfrm>
            <a:off x="6407150"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0" name="Line 58"/>
          <p:cNvSpPr>
            <a:spLocks noChangeShapeType="1"/>
          </p:cNvSpPr>
          <p:nvPr/>
        </p:nvSpPr>
        <p:spPr bwMode="auto">
          <a:xfrm>
            <a:off x="66468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1" name="Line 59"/>
          <p:cNvSpPr>
            <a:spLocks noChangeShapeType="1"/>
          </p:cNvSpPr>
          <p:nvPr/>
        </p:nvSpPr>
        <p:spPr bwMode="auto">
          <a:xfrm>
            <a:off x="688816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2" name="Line 60"/>
          <p:cNvSpPr>
            <a:spLocks noChangeShapeType="1"/>
          </p:cNvSpPr>
          <p:nvPr/>
        </p:nvSpPr>
        <p:spPr bwMode="auto">
          <a:xfrm>
            <a:off x="712787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3" name="Line 61"/>
          <p:cNvSpPr>
            <a:spLocks noChangeShapeType="1"/>
          </p:cNvSpPr>
          <p:nvPr/>
        </p:nvSpPr>
        <p:spPr bwMode="auto">
          <a:xfrm>
            <a:off x="7367588"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4" name="Line 62"/>
          <p:cNvSpPr>
            <a:spLocks noChangeShapeType="1"/>
          </p:cNvSpPr>
          <p:nvPr/>
        </p:nvSpPr>
        <p:spPr bwMode="auto">
          <a:xfrm>
            <a:off x="7607300"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5" name="Line 63"/>
          <p:cNvSpPr>
            <a:spLocks noChangeShapeType="1"/>
          </p:cNvSpPr>
          <p:nvPr/>
        </p:nvSpPr>
        <p:spPr bwMode="auto">
          <a:xfrm>
            <a:off x="7847013"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6" name="Line 64"/>
          <p:cNvSpPr>
            <a:spLocks noChangeShapeType="1"/>
          </p:cNvSpPr>
          <p:nvPr/>
        </p:nvSpPr>
        <p:spPr bwMode="auto">
          <a:xfrm>
            <a:off x="8086725" y="250825"/>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7" name="Line 65"/>
          <p:cNvSpPr>
            <a:spLocks noChangeShapeType="1"/>
          </p:cNvSpPr>
          <p:nvPr/>
        </p:nvSpPr>
        <p:spPr bwMode="auto">
          <a:xfrm>
            <a:off x="8326438" y="350838"/>
            <a:ext cx="0" cy="1984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8" name="Rectangle 66"/>
          <p:cNvSpPr>
            <a:spLocks noChangeArrowheads="1"/>
          </p:cNvSpPr>
          <p:nvPr/>
        </p:nvSpPr>
        <p:spPr bwMode="auto">
          <a:xfrm>
            <a:off x="809625"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99" name="Rectangle 67"/>
          <p:cNvSpPr>
            <a:spLocks noChangeArrowheads="1"/>
          </p:cNvSpPr>
          <p:nvPr/>
        </p:nvSpPr>
        <p:spPr bwMode="auto">
          <a:xfrm>
            <a:off x="2728913"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00" name="Rectangle 68"/>
          <p:cNvSpPr>
            <a:spLocks noChangeArrowheads="1"/>
          </p:cNvSpPr>
          <p:nvPr/>
        </p:nvSpPr>
        <p:spPr bwMode="auto">
          <a:xfrm>
            <a:off x="4648200"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01" name="Rectangle 69"/>
          <p:cNvSpPr>
            <a:spLocks noChangeArrowheads="1"/>
          </p:cNvSpPr>
          <p:nvPr/>
        </p:nvSpPr>
        <p:spPr bwMode="auto">
          <a:xfrm>
            <a:off x="6567488" y="150813"/>
            <a:ext cx="1600200" cy="30003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02" name="Rectangle 70"/>
          <p:cNvSpPr>
            <a:spLocks noChangeArrowheads="1"/>
          </p:cNvSpPr>
          <p:nvPr/>
        </p:nvSpPr>
        <p:spPr bwMode="auto">
          <a:xfrm>
            <a:off x="4008438" y="2827338"/>
            <a:ext cx="325437"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Y</a:t>
            </a:r>
          </a:p>
          <a:p>
            <a:pPr defTabSz="762000" eaLnBrk="0" hangingPunct="0">
              <a:lnSpc>
                <a:spcPct val="75000"/>
              </a:lnSpc>
            </a:pPr>
            <a:r>
              <a:rPr kumimoji="1" lang="en-US" altLang="zh-CN" sz="1600" b="1">
                <a:solidFill>
                  <a:srgbClr val="333399"/>
                </a:solidFill>
                <a:latin typeface="Arial" pitchFamily="34" charset="0"/>
                <a:ea typeface="黑体" pitchFamily="49" charset="-122"/>
              </a:rPr>
              <a:t>N</a:t>
            </a:r>
          </a:p>
        </p:txBody>
      </p:sp>
      <p:sp>
        <p:nvSpPr>
          <p:cNvPr id="69703" name="Rectangle 71"/>
          <p:cNvSpPr>
            <a:spLocks noChangeArrowheads="1"/>
          </p:cNvSpPr>
          <p:nvPr/>
        </p:nvSpPr>
        <p:spPr bwMode="auto">
          <a:xfrm>
            <a:off x="3770313"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T</a:t>
            </a:r>
          </a:p>
        </p:txBody>
      </p:sp>
      <p:sp>
        <p:nvSpPr>
          <p:cNvPr id="69704" name="Rectangle 72"/>
          <p:cNvSpPr>
            <a:spLocks noChangeArrowheads="1"/>
          </p:cNvSpPr>
          <p:nvPr/>
        </p:nvSpPr>
        <p:spPr bwMode="auto">
          <a:xfrm>
            <a:off x="3513138" y="2827338"/>
            <a:ext cx="328612"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P</a:t>
            </a:r>
          </a:p>
          <a:p>
            <a:pPr defTabSz="762000" eaLnBrk="0" hangingPunct="0">
              <a:lnSpc>
                <a:spcPct val="75000"/>
              </a:lnSpc>
            </a:pPr>
            <a:r>
              <a:rPr kumimoji="1" lang="en-US" altLang="zh-CN" sz="1600" b="1">
                <a:solidFill>
                  <a:srgbClr val="333399"/>
                </a:solidFill>
                <a:latin typeface="Arial" pitchFamily="34" charset="0"/>
                <a:ea typeface="黑体" pitchFamily="49" charset="-122"/>
              </a:rPr>
              <a:t>S</a:t>
            </a:r>
          </a:p>
          <a:p>
            <a:pPr defTabSz="762000" eaLnBrk="0" hangingPunct="0">
              <a:lnSpc>
                <a:spcPct val="75000"/>
              </a:lnSpc>
            </a:pPr>
            <a:r>
              <a:rPr kumimoji="1" lang="en-US" altLang="zh-CN" sz="1600" b="1">
                <a:solidFill>
                  <a:srgbClr val="333399"/>
                </a:solidFill>
                <a:latin typeface="Arial" pitchFamily="34" charset="0"/>
                <a:ea typeface="黑体" pitchFamily="49" charset="-122"/>
              </a:rPr>
              <a:t>H</a:t>
            </a:r>
          </a:p>
        </p:txBody>
      </p:sp>
      <p:sp>
        <p:nvSpPr>
          <p:cNvPr id="69705" name="Rectangle 73"/>
          <p:cNvSpPr>
            <a:spLocks noChangeArrowheads="1"/>
          </p:cNvSpPr>
          <p:nvPr/>
        </p:nvSpPr>
        <p:spPr bwMode="auto">
          <a:xfrm>
            <a:off x="3273425" y="2827338"/>
            <a:ext cx="3270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A</a:t>
            </a:r>
          </a:p>
          <a:p>
            <a:pPr defTabSz="762000" eaLnBrk="0" hangingPunct="0">
              <a:lnSpc>
                <a:spcPct val="75000"/>
              </a:lnSpc>
            </a:pPr>
            <a:r>
              <a:rPr kumimoji="1" lang="en-US" altLang="zh-CN" sz="1600" b="1">
                <a:solidFill>
                  <a:srgbClr val="333399"/>
                </a:solidFill>
                <a:latin typeface="Arial" pitchFamily="34" charset="0"/>
                <a:ea typeface="黑体" pitchFamily="49" charset="-122"/>
              </a:rPr>
              <a:t>C</a:t>
            </a:r>
          </a:p>
          <a:p>
            <a:pPr defTabSz="762000" eaLnBrk="0" hangingPunct="0">
              <a:lnSpc>
                <a:spcPct val="75000"/>
              </a:lnSpc>
            </a:pPr>
            <a:r>
              <a:rPr kumimoji="1" lang="en-US" altLang="zh-CN" sz="1600" b="1">
                <a:solidFill>
                  <a:srgbClr val="333399"/>
                </a:solidFill>
                <a:latin typeface="Arial" pitchFamily="34" charset="0"/>
                <a:ea typeface="黑体" pitchFamily="49" charset="-122"/>
              </a:rPr>
              <a:t>K</a:t>
            </a:r>
          </a:p>
        </p:txBody>
      </p:sp>
      <p:sp>
        <p:nvSpPr>
          <p:cNvPr id="69706" name="Rectangle 74"/>
          <p:cNvSpPr>
            <a:spLocks noChangeArrowheads="1"/>
          </p:cNvSpPr>
          <p:nvPr/>
        </p:nvSpPr>
        <p:spPr bwMode="auto">
          <a:xfrm>
            <a:off x="3011488" y="2827338"/>
            <a:ext cx="33972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600" b="1">
                <a:solidFill>
                  <a:srgbClr val="333399"/>
                </a:solidFill>
                <a:latin typeface="Arial" pitchFamily="34" charset="0"/>
                <a:ea typeface="黑体" pitchFamily="49" charset="-122"/>
              </a:rPr>
              <a:t>U</a:t>
            </a:r>
          </a:p>
          <a:p>
            <a:pPr defTabSz="762000" eaLnBrk="0" hangingPunct="0">
              <a:lnSpc>
                <a:spcPct val="75000"/>
              </a:lnSpc>
            </a:pPr>
            <a:r>
              <a:rPr kumimoji="1" lang="en-US" altLang="zh-CN" sz="1600" b="1">
                <a:solidFill>
                  <a:srgbClr val="333399"/>
                </a:solidFill>
                <a:latin typeface="Arial" pitchFamily="34" charset="0"/>
                <a:ea typeface="黑体" pitchFamily="49" charset="-122"/>
              </a:rPr>
              <a:t>R</a:t>
            </a:r>
          </a:p>
          <a:p>
            <a:pPr defTabSz="762000" eaLnBrk="0" hangingPunct="0">
              <a:lnSpc>
                <a:spcPct val="75000"/>
              </a:lnSpc>
            </a:pPr>
            <a:r>
              <a:rPr kumimoji="1" lang="en-US" altLang="zh-CN" sz="1600" b="1">
                <a:solidFill>
                  <a:srgbClr val="333399"/>
                </a:solidFill>
                <a:latin typeface="Arial" pitchFamily="34" charset="0"/>
                <a:ea typeface="黑体" pitchFamily="49" charset="-122"/>
              </a:rPr>
              <a:t>G</a:t>
            </a:r>
          </a:p>
        </p:txBody>
      </p:sp>
      <p:sp>
        <p:nvSpPr>
          <p:cNvPr id="69707" name="Rectangle 75"/>
          <p:cNvSpPr>
            <a:spLocks noChangeArrowheads="1"/>
          </p:cNvSpPr>
          <p:nvPr/>
        </p:nvSpPr>
        <p:spPr bwMode="auto">
          <a:xfrm>
            <a:off x="257175" y="-26988"/>
            <a:ext cx="8131175" cy="3937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位 </a:t>
            </a:r>
            <a:r>
              <a:rPr kumimoji="1" lang="en-US" altLang="zh-CN" sz="2000">
                <a:solidFill>
                  <a:srgbClr val="333399"/>
                </a:solidFill>
                <a:latin typeface="Arial" pitchFamily="34" charset="0"/>
                <a:ea typeface="黑体" pitchFamily="49" charset="-122"/>
              </a:rPr>
              <a:t>0                         8                        16                        24                    31</a:t>
            </a:r>
          </a:p>
        </p:txBody>
      </p:sp>
      <p:sp>
        <p:nvSpPr>
          <p:cNvPr id="69708" name="Line 76"/>
          <p:cNvSpPr>
            <a:spLocks noChangeShapeType="1"/>
          </p:cNvSpPr>
          <p:nvPr/>
        </p:nvSpPr>
        <p:spPr bwMode="auto">
          <a:xfrm flipH="1">
            <a:off x="6405563" y="4203700"/>
            <a:ext cx="3175" cy="6429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09" name="Rectangle 77"/>
          <p:cNvSpPr>
            <a:spLocks noChangeArrowheads="1"/>
          </p:cNvSpPr>
          <p:nvPr/>
        </p:nvSpPr>
        <p:spPr bwMode="auto">
          <a:xfrm>
            <a:off x="6918325" y="4270375"/>
            <a:ext cx="12541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2000">
                <a:solidFill>
                  <a:srgbClr val="333399"/>
                </a:solidFill>
                <a:latin typeface="Arial" pitchFamily="34" charset="0"/>
                <a:ea typeface="黑体" pitchFamily="49" charset="-122"/>
              </a:rPr>
              <a:t>填    充</a:t>
            </a:r>
          </a:p>
        </p:txBody>
      </p:sp>
      <p:sp>
        <p:nvSpPr>
          <p:cNvPr id="69710" name="Line 78"/>
          <p:cNvSpPr>
            <a:spLocks noChangeShapeType="1"/>
          </p:cNvSpPr>
          <p:nvPr/>
        </p:nvSpPr>
        <p:spPr bwMode="auto">
          <a:xfrm>
            <a:off x="8447088" y="682625"/>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11" name="Line 79"/>
          <p:cNvSpPr>
            <a:spLocks noChangeShapeType="1"/>
          </p:cNvSpPr>
          <p:nvPr/>
        </p:nvSpPr>
        <p:spPr bwMode="auto">
          <a:xfrm>
            <a:off x="8447088" y="4178300"/>
            <a:ext cx="83026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12" name="Line 80"/>
          <p:cNvSpPr>
            <a:spLocks noChangeShapeType="1"/>
          </p:cNvSpPr>
          <p:nvPr/>
        </p:nvSpPr>
        <p:spPr bwMode="auto">
          <a:xfrm>
            <a:off x="58738" y="720725"/>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713" name="Line 81"/>
          <p:cNvSpPr>
            <a:spLocks noChangeShapeType="1"/>
          </p:cNvSpPr>
          <p:nvPr/>
        </p:nvSpPr>
        <p:spPr bwMode="auto">
          <a:xfrm>
            <a:off x="73025" y="4821238"/>
            <a:ext cx="5302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0274" name="Rectangle 82"/>
          <p:cNvSpPr>
            <a:spLocks noChangeArrowheads="1"/>
          </p:cNvSpPr>
          <p:nvPr/>
        </p:nvSpPr>
        <p:spPr bwMode="auto">
          <a:xfrm>
            <a:off x="6400800" y="4151313"/>
            <a:ext cx="1925638" cy="7175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715" name="Text Box 83"/>
          <p:cNvSpPr txBox="1">
            <a:spLocks noChangeArrowheads="1"/>
          </p:cNvSpPr>
          <p:nvPr/>
        </p:nvSpPr>
        <p:spPr bwMode="auto">
          <a:xfrm>
            <a:off x="447675" y="5003800"/>
            <a:ext cx="8301038"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just" eaLnBrk="1" hangingPunct="1"/>
            <a:r>
              <a:rPr lang="zh-CN" altLang="en-US">
                <a:solidFill>
                  <a:srgbClr val="333399"/>
                </a:solidFill>
                <a:latin typeface="Arial" pitchFamily="34" charset="0"/>
                <a:ea typeface="黑体" pitchFamily="49" charset="-122"/>
              </a:rPr>
              <a:t>填充字段 </a:t>
            </a:r>
            <a:r>
              <a:rPr lang="en-US" altLang="zh-CN">
                <a:solidFill>
                  <a:srgbClr val="333399"/>
                </a:solidFill>
                <a:latin typeface="Arial" pitchFamily="34" charset="0"/>
                <a:ea typeface="黑体" pitchFamily="49" charset="-122"/>
              </a:rPr>
              <a:t>—— </a:t>
            </a:r>
            <a:r>
              <a:rPr lang="zh-CN" altLang="en-US">
                <a:solidFill>
                  <a:srgbClr val="333399"/>
                </a:solidFill>
                <a:latin typeface="Arial" pitchFamily="34" charset="0"/>
                <a:ea typeface="黑体" pitchFamily="49" charset="-122"/>
              </a:rPr>
              <a:t>这是为了使整个首部长度是 </a:t>
            </a:r>
            <a:r>
              <a:rPr lang="en-US" altLang="zh-CN">
                <a:solidFill>
                  <a:srgbClr val="333399"/>
                </a:solidFill>
                <a:latin typeface="Arial" pitchFamily="34" charset="0"/>
                <a:ea typeface="黑体" pitchFamily="49" charset="-122"/>
              </a:rPr>
              <a:t>4 </a:t>
            </a:r>
            <a:r>
              <a:rPr lang="zh-CN" altLang="en-US">
                <a:solidFill>
                  <a:srgbClr val="333399"/>
                </a:solidFill>
                <a:latin typeface="Arial" pitchFamily="34" charset="0"/>
                <a:ea typeface="黑体" pitchFamily="49" charset="-122"/>
              </a:rPr>
              <a:t>字节的整数倍。 </a:t>
            </a:r>
          </a:p>
          <a:p>
            <a:pPr algn="just" eaLnBrk="1" hangingPunct="1"/>
            <a:r>
              <a:rPr lang="en-US" altLang="zh-CN">
                <a:solidFill>
                  <a:srgbClr val="333399"/>
                </a:solidFill>
                <a:latin typeface="Arial" pitchFamily="34" charset="0"/>
                <a:ea typeface="黑体" pitchFamily="49" charset="-122"/>
              </a:rPr>
              <a:t>P221 5-23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274"/>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202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274" grpId="0" animBg="1"/>
      <p:bldP spid="520274"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2C5B431-AA75-41AC-B6B2-1443019EB894}" type="slidenum">
              <a:rPr lang="en-US" altLang="zh-CN" sz="1400"/>
              <a:pPr eaLnBrk="1" hangingPunct="1"/>
              <a:t>67</a:t>
            </a:fld>
            <a:endParaRPr lang="en-US" altLang="zh-CN" sz="1400"/>
          </a:p>
        </p:txBody>
      </p:sp>
      <p:sp>
        <p:nvSpPr>
          <p:cNvPr id="70659" name="Rectangle 2"/>
          <p:cNvSpPr>
            <a:spLocks noGrp="1" noChangeArrowheads="1"/>
          </p:cNvSpPr>
          <p:nvPr>
            <p:ph type="title"/>
          </p:nvPr>
        </p:nvSpPr>
        <p:spPr>
          <a:xfrm>
            <a:off x="1150938" y="214313"/>
            <a:ext cx="7453312" cy="1462087"/>
          </a:xfrm>
        </p:spPr>
        <p:txBody>
          <a:bodyPr/>
          <a:lstStyle/>
          <a:p>
            <a:pPr algn="ctr" eaLnBrk="1" hangingPunct="1"/>
            <a:r>
              <a:rPr lang="en-US" altLang="zh-CN" smtClean="0"/>
              <a:t>5.6  TCP </a:t>
            </a:r>
            <a:r>
              <a:rPr lang="zh-CN" altLang="en-US" smtClean="0"/>
              <a:t>可靠传输的实现</a:t>
            </a:r>
            <a:br>
              <a:rPr lang="zh-CN" altLang="en-US" smtClean="0"/>
            </a:br>
            <a:r>
              <a:rPr lang="en-US" altLang="zh-CN" sz="4000" smtClean="0"/>
              <a:t>5.6.1 </a:t>
            </a:r>
            <a:r>
              <a:rPr lang="zh-CN" altLang="en-US" sz="4000" smtClean="0"/>
              <a:t>以字节为单位的滑动窗口</a:t>
            </a:r>
          </a:p>
        </p:txBody>
      </p:sp>
      <p:sp>
        <p:nvSpPr>
          <p:cNvPr id="70660" name="Text Box 4"/>
          <p:cNvSpPr txBox="1">
            <a:spLocks noChangeArrowheads="1"/>
          </p:cNvSpPr>
          <p:nvPr/>
        </p:nvSpPr>
        <p:spPr bwMode="auto">
          <a:xfrm>
            <a:off x="7664450" y="3265488"/>
            <a:ext cx="692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Times New Roman" pitchFamily="18" charset="0"/>
                <a:ea typeface="黑体" pitchFamily="49" charset="-122"/>
              </a:rPr>
              <a:t>前移</a:t>
            </a:r>
          </a:p>
        </p:txBody>
      </p:sp>
      <p:sp>
        <p:nvSpPr>
          <p:cNvPr id="70661" name="AutoShape 5"/>
          <p:cNvSpPr>
            <a:spLocks noChangeArrowheads="1"/>
          </p:cNvSpPr>
          <p:nvPr/>
        </p:nvSpPr>
        <p:spPr bwMode="auto">
          <a:xfrm>
            <a:off x="7258050" y="3435350"/>
            <a:ext cx="503238" cy="144463"/>
          </a:xfrm>
          <a:prstGeom prst="rightArrow">
            <a:avLst>
              <a:gd name="adj1" fmla="val 50000"/>
              <a:gd name="adj2" fmla="val 87088"/>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2" name="AutoShape 6"/>
          <p:cNvSpPr>
            <a:spLocks noChangeArrowheads="1"/>
          </p:cNvSpPr>
          <p:nvPr/>
        </p:nvSpPr>
        <p:spPr bwMode="auto">
          <a:xfrm flipH="1">
            <a:off x="6778625" y="3435350"/>
            <a:ext cx="503238" cy="144463"/>
          </a:xfrm>
          <a:prstGeom prst="rightArrow">
            <a:avLst>
              <a:gd name="adj1" fmla="val 50000"/>
              <a:gd name="adj2" fmla="val 8708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3" name="AutoShape 7"/>
          <p:cNvSpPr>
            <a:spLocks noChangeArrowheads="1"/>
          </p:cNvSpPr>
          <p:nvPr/>
        </p:nvSpPr>
        <p:spPr bwMode="auto">
          <a:xfrm>
            <a:off x="1504950" y="3435350"/>
            <a:ext cx="503238" cy="144463"/>
          </a:xfrm>
          <a:prstGeom prst="rightArrow">
            <a:avLst>
              <a:gd name="adj1" fmla="val 50000"/>
              <a:gd name="adj2" fmla="val 87088"/>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4" name="Text Box 8"/>
          <p:cNvSpPr txBox="1">
            <a:spLocks noChangeArrowheads="1"/>
          </p:cNvSpPr>
          <p:nvPr/>
        </p:nvSpPr>
        <p:spPr bwMode="auto">
          <a:xfrm>
            <a:off x="7397750" y="4394200"/>
            <a:ext cx="1454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Times New Roman" pitchFamily="18" charset="0"/>
                <a:ea typeface="黑体" pitchFamily="49" charset="-122"/>
              </a:rPr>
              <a:t>不允许发送</a:t>
            </a:r>
          </a:p>
        </p:txBody>
      </p:sp>
      <p:sp>
        <p:nvSpPr>
          <p:cNvPr id="70665" name="Text Box 9"/>
          <p:cNvSpPr txBox="1">
            <a:spLocks noChangeArrowheads="1"/>
          </p:cNvSpPr>
          <p:nvPr/>
        </p:nvSpPr>
        <p:spPr bwMode="auto">
          <a:xfrm>
            <a:off x="179388" y="4456113"/>
            <a:ext cx="1200150"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Times New Roman" pitchFamily="18" charset="0"/>
                <a:ea typeface="黑体" pitchFamily="49" charset="-122"/>
              </a:rPr>
              <a:t>已发送并</a:t>
            </a:r>
          </a:p>
          <a:p>
            <a:pPr algn="ctr" eaLnBrk="1" hangingPunct="1"/>
            <a:r>
              <a:rPr lang="zh-CN" altLang="en-US" sz="2000">
                <a:solidFill>
                  <a:schemeClr val="folHlink"/>
                </a:solidFill>
                <a:latin typeface="Times New Roman" pitchFamily="18" charset="0"/>
                <a:ea typeface="黑体" pitchFamily="49" charset="-122"/>
              </a:rPr>
              <a:t>收到确认</a:t>
            </a:r>
          </a:p>
        </p:txBody>
      </p:sp>
      <p:sp>
        <p:nvSpPr>
          <p:cNvPr id="70666" name="Line 10"/>
          <p:cNvSpPr>
            <a:spLocks noChangeShapeType="1"/>
          </p:cNvSpPr>
          <p:nvPr/>
        </p:nvSpPr>
        <p:spPr bwMode="auto">
          <a:xfrm>
            <a:off x="1514475" y="3773488"/>
            <a:ext cx="5761038"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67" name="Text Box 11"/>
          <p:cNvSpPr txBox="1">
            <a:spLocks noChangeArrowheads="1"/>
          </p:cNvSpPr>
          <p:nvPr/>
        </p:nvSpPr>
        <p:spPr bwMode="auto">
          <a:xfrm>
            <a:off x="3276600" y="3556000"/>
            <a:ext cx="2263775"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A </a:t>
            </a:r>
            <a:r>
              <a:rPr lang="zh-CN" altLang="en-US" sz="2000">
                <a:solidFill>
                  <a:schemeClr val="folHlink"/>
                </a:solidFill>
                <a:latin typeface="Arial" pitchFamily="34" charset="0"/>
                <a:ea typeface="黑体" pitchFamily="49" charset="-122"/>
              </a:rPr>
              <a:t>的发送窗口 </a:t>
            </a:r>
            <a:r>
              <a:rPr lang="en-US" altLang="zh-CN" sz="2000">
                <a:solidFill>
                  <a:schemeClr val="folHlink"/>
                </a:solidFill>
                <a:latin typeface="Arial" pitchFamily="34" charset="0"/>
                <a:ea typeface="黑体" pitchFamily="49" charset="-122"/>
              </a:rPr>
              <a:t>= 20</a:t>
            </a:r>
          </a:p>
        </p:txBody>
      </p:sp>
      <p:sp>
        <p:nvSpPr>
          <p:cNvPr id="70668" name="Text Box 12"/>
          <p:cNvSpPr txBox="1">
            <a:spLocks noChangeArrowheads="1"/>
          </p:cNvSpPr>
          <p:nvPr/>
        </p:nvSpPr>
        <p:spPr bwMode="auto">
          <a:xfrm>
            <a:off x="3417888" y="4560888"/>
            <a:ext cx="1962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Times New Roman" pitchFamily="18" charset="0"/>
                <a:ea typeface="黑体" pitchFamily="49" charset="-122"/>
              </a:rPr>
              <a:t>允许发送的序号</a:t>
            </a:r>
          </a:p>
        </p:txBody>
      </p:sp>
      <p:sp>
        <p:nvSpPr>
          <p:cNvPr id="70669" name="Rectangle 13"/>
          <p:cNvSpPr>
            <a:spLocks noChangeArrowheads="1"/>
          </p:cNvSpPr>
          <p:nvPr/>
        </p:nvSpPr>
        <p:spPr bwMode="auto">
          <a:xfrm>
            <a:off x="1514475" y="3941763"/>
            <a:ext cx="5767388" cy="649287"/>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a:p>
        </p:txBody>
      </p:sp>
      <p:sp>
        <p:nvSpPr>
          <p:cNvPr id="70670" name="Rectangle 14"/>
          <p:cNvSpPr>
            <a:spLocks noChangeArrowheads="1"/>
          </p:cNvSpPr>
          <p:nvPr/>
        </p:nvSpPr>
        <p:spPr bwMode="auto">
          <a:xfrm>
            <a:off x="109538" y="41576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26</a:t>
            </a:r>
          </a:p>
        </p:txBody>
      </p:sp>
      <p:sp>
        <p:nvSpPr>
          <p:cNvPr id="70671" name="Rectangle 15"/>
          <p:cNvSpPr>
            <a:spLocks noChangeArrowheads="1"/>
          </p:cNvSpPr>
          <p:nvPr/>
        </p:nvSpPr>
        <p:spPr bwMode="auto">
          <a:xfrm>
            <a:off x="398463" y="41560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27</a:t>
            </a:r>
          </a:p>
        </p:txBody>
      </p:sp>
      <p:sp>
        <p:nvSpPr>
          <p:cNvPr id="70672" name="Rectangle 16"/>
          <p:cNvSpPr>
            <a:spLocks noChangeArrowheads="1"/>
          </p:cNvSpPr>
          <p:nvPr/>
        </p:nvSpPr>
        <p:spPr bwMode="auto">
          <a:xfrm>
            <a:off x="687388" y="415448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28</a:t>
            </a:r>
          </a:p>
        </p:txBody>
      </p:sp>
      <p:sp>
        <p:nvSpPr>
          <p:cNvPr id="70673" name="Rectangle 17"/>
          <p:cNvSpPr>
            <a:spLocks noChangeArrowheads="1"/>
          </p:cNvSpPr>
          <p:nvPr/>
        </p:nvSpPr>
        <p:spPr bwMode="auto">
          <a:xfrm>
            <a:off x="976313" y="415290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29</a:t>
            </a:r>
          </a:p>
        </p:txBody>
      </p:sp>
      <p:sp>
        <p:nvSpPr>
          <p:cNvPr id="70674" name="Rectangle 18"/>
          <p:cNvSpPr>
            <a:spLocks noChangeArrowheads="1"/>
          </p:cNvSpPr>
          <p:nvPr/>
        </p:nvSpPr>
        <p:spPr bwMode="auto">
          <a:xfrm>
            <a:off x="1265238" y="415131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30</a:t>
            </a:r>
          </a:p>
        </p:txBody>
      </p:sp>
      <p:sp>
        <p:nvSpPr>
          <p:cNvPr id="70675" name="Rectangle 19"/>
          <p:cNvSpPr>
            <a:spLocks noChangeArrowheads="1"/>
          </p:cNvSpPr>
          <p:nvPr/>
        </p:nvSpPr>
        <p:spPr bwMode="auto">
          <a:xfrm>
            <a:off x="1554163" y="41497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31</a:t>
            </a:r>
          </a:p>
        </p:txBody>
      </p:sp>
      <p:sp>
        <p:nvSpPr>
          <p:cNvPr id="70676" name="Rectangle 20"/>
          <p:cNvSpPr>
            <a:spLocks noChangeArrowheads="1"/>
          </p:cNvSpPr>
          <p:nvPr/>
        </p:nvSpPr>
        <p:spPr bwMode="auto">
          <a:xfrm>
            <a:off x="1843088" y="41481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32</a:t>
            </a:r>
          </a:p>
        </p:txBody>
      </p:sp>
      <p:sp>
        <p:nvSpPr>
          <p:cNvPr id="70677" name="Rectangle 21"/>
          <p:cNvSpPr>
            <a:spLocks noChangeArrowheads="1"/>
          </p:cNvSpPr>
          <p:nvPr/>
        </p:nvSpPr>
        <p:spPr bwMode="auto">
          <a:xfrm>
            <a:off x="2132013" y="41465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33</a:t>
            </a:r>
          </a:p>
        </p:txBody>
      </p:sp>
      <p:sp>
        <p:nvSpPr>
          <p:cNvPr id="70678" name="Rectangle 22"/>
          <p:cNvSpPr>
            <a:spLocks noChangeArrowheads="1"/>
          </p:cNvSpPr>
          <p:nvPr/>
        </p:nvSpPr>
        <p:spPr bwMode="auto">
          <a:xfrm>
            <a:off x="2420938" y="41449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34</a:t>
            </a:r>
          </a:p>
        </p:txBody>
      </p:sp>
      <p:sp>
        <p:nvSpPr>
          <p:cNvPr id="70679" name="Rectangle 23"/>
          <p:cNvSpPr>
            <a:spLocks noChangeArrowheads="1"/>
          </p:cNvSpPr>
          <p:nvPr/>
        </p:nvSpPr>
        <p:spPr bwMode="auto">
          <a:xfrm>
            <a:off x="2709863" y="414337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35</a:t>
            </a:r>
          </a:p>
        </p:txBody>
      </p:sp>
      <p:sp>
        <p:nvSpPr>
          <p:cNvPr id="70680" name="Rectangle 24"/>
          <p:cNvSpPr>
            <a:spLocks noChangeArrowheads="1"/>
          </p:cNvSpPr>
          <p:nvPr/>
        </p:nvSpPr>
        <p:spPr bwMode="auto">
          <a:xfrm>
            <a:off x="2998788" y="414178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36</a:t>
            </a:r>
          </a:p>
        </p:txBody>
      </p:sp>
      <p:sp>
        <p:nvSpPr>
          <p:cNvPr id="70681" name="Rectangle 25"/>
          <p:cNvSpPr>
            <a:spLocks noChangeArrowheads="1"/>
          </p:cNvSpPr>
          <p:nvPr/>
        </p:nvSpPr>
        <p:spPr bwMode="auto">
          <a:xfrm>
            <a:off x="3287713" y="41402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37</a:t>
            </a:r>
          </a:p>
        </p:txBody>
      </p:sp>
      <p:sp>
        <p:nvSpPr>
          <p:cNvPr id="70682" name="Rectangle 26"/>
          <p:cNvSpPr>
            <a:spLocks noChangeArrowheads="1"/>
          </p:cNvSpPr>
          <p:nvPr/>
        </p:nvSpPr>
        <p:spPr bwMode="auto">
          <a:xfrm>
            <a:off x="3576638" y="413861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38</a:t>
            </a:r>
          </a:p>
        </p:txBody>
      </p:sp>
      <p:sp>
        <p:nvSpPr>
          <p:cNvPr id="70683" name="Rectangle 27"/>
          <p:cNvSpPr>
            <a:spLocks noChangeArrowheads="1"/>
          </p:cNvSpPr>
          <p:nvPr/>
        </p:nvSpPr>
        <p:spPr bwMode="auto">
          <a:xfrm>
            <a:off x="3865563" y="41370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39</a:t>
            </a:r>
          </a:p>
        </p:txBody>
      </p:sp>
      <p:sp>
        <p:nvSpPr>
          <p:cNvPr id="70684" name="Rectangle 28"/>
          <p:cNvSpPr>
            <a:spLocks noChangeArrowheads="1"/>
          </p:cNvSpPr>
          <p:nvPr/>
        </p:nvSpPr>
        <p:spPr bwMode="auto">
          <a:xfrm>
            <a:off x="4154488" y="41354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40</a:t>
            </a:r>
          </a:p>
        </p:txBody>
      </p:sp>
      <p:sp>
        <p:nvSpPr>
          <p:cNvPr id="70685" name="Rectangle 29"/>
          <p:cNvSpPr>
            <a:spLocks noChangeArrowheads="1"/>
          </p:cNvSpPr>
          <p:nvPr/>
        </p:nvSpPr>
        <p:spPr bwMode="auto">
          <a:xfrm>
            <a:off x="4443413" y="41338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41</a:t>
            </a:r>
          </a:p>
        </p:txBody>
      </p:sp>
      <p:sp>
        <p:nvSpPr>
          <p:cNvPr id="70686" name="Rectangle 30"/>
          <p:cNvSpPr>
            <a:spLocks noChangeArrowheads="1"/>
          </p:cNvSpPr>
          <p:nvPr/>
        </p:nvSpPr>
        <p:spPr bwMode="auto">
          <a:xfrm>
            <a:off x="4732338" y="41322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42</a:t>
            </a:r>
          </a:p>
        </p:txBody>
      </p:sp>
      <p:sp>
        <p:nvSpPr>
          <p:cNvPr id="70687" name="Rectangle 31"/>
          <p:cNvSpPr>
            <a:spLocks noChangeArrowheads="1"/>
          </p:cNvSpPr>
          <p:nvPr/>
        </p:nvSpPr>
        <p:spPr bwMode="auto">
          <a:xfrm>
            <a:off x="5021263" y="413067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43</a:t>
            </a:r>
          </a:p>
        </p:txBody>
      </p:sp>
      <p:sp>
        <p:nvSpPr>
          <p:cNvPr id="70688" name="Rectangle 32"/>
          <p:cNvSpPr>
            <a:spLocks noChangeArrowheads="1"/>
          </p:cNvSpPr>
          <p:nvPr/>
        </p:nvSpPr>
        <p:spPr bwMode="auto">
          <a:xfrm>
            <a:off x="5310188" y="412908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44</a:t>
            </a:r>
          </a:p>
        </p:txBody>
      </p:sp>
      <p:sp>
        <p:nvSpPr>
          <p:cNvPr id="70689" name="Rectangle 33"/>
          <p:cNvSpPr>
            <a:spLocks noChangeArrowheads="1"/>
          </p:cNvSpPr>
          <p:nvPr/>
        </p:nvSpPr>
        <p:spPr bwMode="auto">
          <a:xfrm>
            <a:off x="5599113" y="41275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45</a:t>
            </a:r>
          </a:p>
        </p:txBody>
      </p:sp>
      <p:sp>
        <p:nvSpPr>
          <p:cNvPr id="70690" name="Rectangle 34"/>
          <p:cNvSpPr>
            <a:spLocks noChangeArrowheads="1"/>
          </p:cNvSpPr>
          <p:nvPr/>
        </p:nvSpPr>
        <p:spPr bwMode="auto">
          <a:xfrm>
            <a:off x="5888038" y="412591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46</a:t>
            </a:r>
          </a:p>
        </p:txBody>
      </p:sp>
      <p:sp>
        <p:nvSpPr>
          <p:cNvPr id="70691" name="Rectangle 35"/>
          <p:cNvSpPr>
            <a:spLocks noChangeArrowheads="1"/>
          </p:cNvSpPr>
          <p:nvPr/>
        </p:nvSpPr>
        <p:spPr bwMode="auto">
          <a:xfrm>
            <a:off x="6176963" y="41243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47</a:t>
            </a:r>
          </a:p>
        </p:txBody>
      </p:sp>
      <p:sp>
        <p:nvSpPr>
          <p:cNvPr id="70692" name="Rectangle 36"/>
          <p:cNvSpPr>
            <a:spLocks noChangeArrowheads="1"/>
          </p:cNvSpPr>
          <p:nvPr/>
        </p:nvSpPr>
        <p:spPr bwMode="auto">
          <a:xfrm>
            <a:off x="6465888" y="41227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48</a:t>
            </a:r>
          </a:p>
        </p:txBody>
      </p:sp>
      <p:sp>
        <p:nvSpPr>
          <p:cNvPr id="70693" name="Rectangle 37"/>
          <p:cNvSpPr>
            <a:spLocks noChangeArrowheads="1"/>
          </p:cNvSpPr>
          <p:nvPr/>
        </p:nvSpPr>
        <p:spPr bwMode="auto">
          <a:xfrm>
            <a:off x="6754813" y="41211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49</a:t>
            </a:r>
          </a:p>
        </p:txBody>
      </p:sp>
      <p:sp>
        <p:nvSpPr>
          <p:cNvPr id="70694" name="Rectangle 38"/>
          <p:cNvSpPr>
            <a:spLocks noChangeArrowheads="1"/>
          </p:cNvSpPr>
          <p:nvPr/>
        </p:nvSpPr>
        <p:spPr bwMode="auto">
          <a:xfrm>
            <a:off x="7043738" y="41195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50</a:t>
            </a:r>
          </a:p>
        </p:txBody>
      </p:sp>
      <p:sp>
        <p:nvSpPr>
          <p:cNvPr id="70695" name="Rectangle 39"/>
          <p:cNvSpPr>
            <a:spLocks noChangeArrowheads="1"/>
          </p:cNvSpPr>
          <p:nvPr/>
        </p:nvSpPr>
        <p:spPr bwMode="auto">
          <a:xfrm>
            <a:off x="7332663" y="41179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51</a:t>
            </a:r>
          </a:p>
        </p:txBody>
      </p:sp>
      <p:sp>
        <p:nvSpPr>
          <p:cNvPr id="70696" name="Rectangle 40"/>
          <p:cNvSpPr>
            <a:spLocks noChangeArrowheads="1"/>
          </p:cNvSpPr>
          <p:nvPr/>
        </p:nvSpPr>
        <p:spPr bwMode="auto">
          <a:xfrm>
            <a:off x="7621588" y="41163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52</a:t>
            </a:r>
          </a:p>
        </p:txBody>
      </p:sp>
      <p:sp>
        <p:nvSpPr>
          <p:cNvPr id="70697" name="Rectangle 41"/>
          <p:cNvSpPr>
            <a:spLocks noChangeArrowheads="1"/>
          </p:cNvSpPr>
          <p:nvPr/>
        </p:nvSpPr>
        <p:spPr bwMode="auto">
          <a:xfrm>
            <a:off x="7910513" y="411480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53</a:t>
            </a:r>
          </a:p>
        </p:txBody>
      </p:sp>
      <p:sp>
        <p:nvSpPr>
          <p:cNvPr id="70698" name="Rectangle 42"/>
          <p:cNvSpPr>
            <a:spLocks noChangeArrowheads="1"/>
          </p:cNvSpPr>
          <p:nvPr/>
        </p:nvSpPr>
        <p:spPr bwMode="auto">
          <a:xfrm>
            <a:off x="8199438" y="411321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54</a:t>
            </a:r>
          </a:p>
        </p:txBody>
      </p:sp>
      <p:sp>
        <p:nvSpPr>
          <p:cNvPr id="70699" name="Rectangle 43"/>
          <p:cNvSpPr>
            <a:spLocks noChangeArrowheads="1"/>
          </p:cNvSpPr>
          <p:nvPr/>
        </p:nvSpPr>
        <p:spPr bwMode="auto">
          <a:xfrm>
            <a:off x="8488363" y="411162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55</a:t>
            </a:r>
          </a:p>
        </p:txBody>
      </p:sp>
      <p:sp>
        <p:nvSpPr>
          <p:cNvPr id="70700" name="Rectangle 44"/>
          <p:cNvSpPr>
            <a:spLocks noChangeArrowheads="1"/>
          </p:cNvSpPr>
          <p:nvPr/>
        </p:nvSpPr>
        <p:spPr bwMode="auto">
          <a:xfrm>
            <a:off x="8769350" y="411162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solidFill>
                  <a:schemeClr val="folHlink"/>
                </a:solidFill>
                <a:latin typeface="Times New Roman" pitchFamily="18" charset="0"/>
                <a:ea typeface="黑体" pitchFamily="49" charset="-122"/>
              </a:rPr>
              <a:t>56</a:t>
            </a:r>
          </a:p>
        </p:txBody>
      </p:sp>
      <p:sp>
        <p:nvSpPr>
          <p:cNvPr id="70701" name="Line 45"/>
          <p:cNvSpPr>
            <a:spLocks noChangeShapeType="1"/>
          </p:cNvSpPr>
          <p:nvPr/>
        </p:nvSpPr>
        <p:spPr bwMode="auto">
          <a:xfrm flipH="1" flipV="1">
            <a:off x="1662113" y="4459288"/>
            <a:ext cx="9525" cy="51117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2" name="Text Box 46"/>
          <p:cNvSpPr txBox="1">
            <a:spLocks noChangeArrowheads="1"/>
          </p:cNvSpPr>
          <p:nvPr/>
        </p:nvSpPr>
        <p:spPr bwMode="auto">
          <a:xfrm>
            <a:off x="1101725" y="4948238"/>
            <a:ext cx="14541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lnSpc>
                <a:spcPct val="90000"/>
              </a:lnSpc>
            </a:pPr>
            <a:r>
              <a:rPr lang="en-US" altLang="zh-CN" sz="2000">
                <a:solidFill>
                  <a:schemeClr val="folHlink"/>
                </a:solidFill>
                <a:latin typeface="Arial" pitchFamily="34" charset="0"/>
                <a:ea typeface="黑体" pitchFamily="49" charset="-122"/>
              </a:rPr>
              <a:t>B </a:t>
            </a:r>
            <a:r>
              <a:rPr lang="zh-CN" altLang="en-US" sz="2000">
                <a:solidFill>
                  <a:schemeClr val="folHlink"/>
                </a:solidFill>
                <a:latin typeface="Arial" pitchFamily="34" charset="0"/>
                <a:ea typeface="黑体" pitchFamily="49" charset="-122"/>
              </a:rPr>
              <a:t>期望</a:t>
            </a:r>
          </a:p>
          <a:p>
            <a:pPr algn="ctr" eaLnBrk="1" hangingPunct="1">
              <a:lnSpc>
                <a:spcPct val="90000"/>
              </a:lnSpc>
            </a:pPr>
            <a:r>
              <a:rPr lang="zh-CN" altLang="en-US" sz="2000">
                <a:solidFill>
                  <a:schemeClr val="folHlink"/>
                </a:solidFill>
                <a:latin typeface="Arial" pitchFamily="34" charset="0"/>
                <a:ea typeface="黑体" pitchFamily="49" charset="-122"/>
              </a:rPr>
              <a:t>收到的序号</a:t>
            </a:r>
          </a:p>
        </p:txBody>
      </p:sp>
      <p:sp>
        <p:nvSpPr>
          <p:cNvPr id="70703" name="Line 47"/>
          <p:cNvSpPr>
            <a:spLocks noChangeShapeType="1"/>
          </p:cNvSpPr>
          <p:nvPr/>
        </p:nvSpPr>
        <p:spPr bwMode="auto">
          <a:xfrm>
            <a:off x="1504950" y="3300413"/>
            <a:ext cx="7938" cy="135731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4" name="Text Box 48"/>
          <p:cNvSpPr txBox="1">
            <a:spLocks noChangeArrowheads="1"/>
          </p:cNvSpPr>
          <p:nvPr/>
        </p:nvSpPr>
        <p:spPr bwMode="auto">
          <a:xfrm>
            <a:off x="6878638" y="2892425"/>
            <a:ext cx="7937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Times New Roman" pitchFamily="18" charset="0"/>
                <a:ea typeface="黑体" pitchFamily="49" charset="-122"/>
              </a:rPr>
              <a:t>前沿</a:t>
            </a:r>
          </a:p>
        </p:txBody>
      </p:sp>
      <p:sp>
        <p:nvSpPr>
          <p:cNvPr id="70705" name="Text Box 49"/>
          <p:cNvSpPr txBox="1">
            <a:spLocks noChangeArrowheads="1"/>
          </p:cNvSpPr>
          <p:nvPr/>
        </p:nvSpPr>
        <p:spPr bwMode="auto">
          <a:xfrm>
            <a:off x="1125538" y="2892425"/>
            <a:ext cx="7937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Times New Roman" pitchFamily="18" charset="0"/>
                <a:ea typeface="黑体" pitchFamily="49" charset="-122"/>
              </a:rPr>
              <a:t>后沿</a:t>
            </a:r>
          </a:p>
        </p:txBody>
      </p:sp>
      <p:sp>
        <p:nvSpPr>
          <p:cNvPr id="70706" name="Line 50"/>
          <p:cNvSpPr>
            <a:spLocks noChangeShapeType="1"/>
          </p:cNvSpPr>
          <p:nvPr/>
        </p:nvSpPr>
        <p:spPr bwMode="auto">
          <a:xfrm>
            <a:off x="7273925" y="3286125"/>
            <a:ext cx="7938" cy="135731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7" name="Text Box 51"/>
          <p:cNvSpPr txBox="1">
            <a:spLocks noChangeArrowheads="1"/>
          </p:cNvSpPr>
          <p:nvPr/>
        </p:nvSpPr>
        <p:spPr bwMode="auto">
          <a:xfrm>
            <a:off x="1935163" y="3267075"/>
            <a:ext cx="692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Times New Roman" pitchFamily="18" charset="0"/>
                <a:ea typeface="黑体" pitchFamily="49" charset="-122"/>
              </a:rPr>
              <a:t>前移</a:t>
            </a:r>
          </a:p>
        </p:txBody>
      </p:sp>
      <p:sp>
        <p:nvSpPr>
          <p:cNvPr id="70708" name="Text Box 52"/>
          <p:cNvSpPr txBox="1">
            <a:spLocks noChangeArrowheads="1"/>
          </p:cNvSpPr>
          <p:nvPr/>
        </p:nvSpPr>
        <p:spPr bwMode="auto">
          <a:xfrm>
            <a:off x="6176963" y="3263900"/>
            <a:ext cx="692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Times New Roman" pitchFamily="18" charset="0"/>
                <a:ea typeface="黑体" pitchFamily="49" charset="-122"/>
              </a:rPr>
              <a:t>收缩</a:t>
            </a:r>
          </a:p>
        </p:txBody>
      </p:sp>
      <p:grpSp>
        <p:nvGrpSpPr>
          <p:cNvPr id="70709" name="Group 53"/>
          <p:cNvGrpSpPr>
            <a:grpSpLocks/>
          </p:cNvGrpSpPr>
          <p:nvPr/>
        </p:nvGrpSpPr>
        <p:grpSpPr bwMode="auto">
          <a:xfrm>
            <a:off x="6011863" y="3341688"/>
            <a:ext cx="215900" cy="288925"/>
            <a:chOff x="3833" y="1298"/>
            <a:chExt cx="136" cy="182"/>
          </a:xfrm>
        </p:grpSpPr>
        <p:sp>
          <p:nvSpPr>
            <p:cNvPr id="70711" name="Line 54"/>
            <p:cNvSpPr>
              <a:spLocks noChangeShapeType="1"/>
            </p:cNvSpPr>
            <p:nvPr/>
          </p:nvSpPr>
          <p:spPr bwMode="auto">
            <a:xfrm flipH="1">
              <a:off x="3833" y="1298"/>
              <a:ext cx="136" cy="182"/>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2" name="Line 55"/>
            <p:cNvSpPr>
              <a:spLocks noChangeShapeType="1"/>
            </p:cNvSpPr>
            <p:nvPr/>
          </p:nvSpPr>
          <p:spPr bwMode="auto">
            <a:xfrm>
              <a:off x="3833" y="1298"/>
              <a:ext cx="136" cy="182"/>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0710" name="Text Box 56"/>
          <p:cNvSpPr txBox="1">
            <a:spLocks noChangeArrowheads="1"/>
          </p:cNvSpPr>
          <p:nvPr/>
        </p:nvSpPr>
        <p:spPr bwMode="auto">
          <a:xfrm>
            <a:off x="2039938" y="1844675"/>
            <a:ext cx="4754562" cy="1076325"/>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3200">
                <a:solidFill>
                  <a:schemeClr val="folHlink"/>
                </a:solidFill>
                <a:latin typeface="Arial" pitchFamily="34" charset="0"/>
                <a:ea typeface="黑体" pitchFamily="49" charset="-122"/>
              </a:rPr>
              <a:t>根据 </a:t>
            </a:r>
            <a:r>
              <a:rPr lang="en-US" altLang="zh-CN" sz="3200">
                <a:solidFill>
                  <a:schemeClr val="folHlink"/>
                </a:solidFill>
                <a:latin typeface="Arial" pitchFamily="34" charset="0"/>
                <a:ea typeface="黑体" pitchFamily="49" charset="-122"/>
              </a:rPr>
              <a:t>B </a:t>
            </a:r>
            <a:r>
              <a:rPr lang="zh-CN" altLang="en-US" sz="3200">
                <a:solidFill>
                  <a:schemeClr val="folHlink"/>
                </a:solidFill>
                <a:latin typeface="Arial" pitchFamily="34" charset="0"/>
                <a:ea typeface="黑体" pitchFamily="49" charset="-122"/>
              </a:rPr>
              <a:t>给出的窗口值</a:t>
            </a:r>
          </a:p>
          <a:p>
            <a:pPr algn="ctr" eaLnBrk="1" hangingPunct="1"/>
            <a:r>
              <a:rPr lang="en-US" altLang="zh-CN" sz="3200">
                <a:solidFill>
                  <a:schemeClr val="folHlink"/>
                </a:solidFill>
                <a:latin typeface="Arial" pitchFamily="34" charset="0"/>
                <a:ea typeface="黑体" pitchFamily="49" charset="-122"/>
              </a:rPr>
              <a:t>A </a:t>
            </a:r>
            <a:r>
              <a:rPr lang="zh-CN" altLang="en-US" sz="3200">
                <a:solidFill>
                  <a:schemeClr val="folHlink"/>
                </a:solidFill>
                <a:latin typeface="Arial" pitchFamily="34" charset="0"/>
                <a:ea typeface="黑体" pitchFamily="49" charset="-122"/>
              </a:rPr>
              <a:t>构造出自己的发送窗口 </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Line 4"/>
          <p:cNvSpPr>
            <a:spLocks noChangeShapeType="1"/>
          </p:cNvSpPr>
          <p:nvPr/>
        </p:nvSpPr>
        <p:spPr bwMode="auto">
          <a:xfrm flipV="1">
            <a:off x="1508125" y="3346450"/>
            <a:ext cx="5768975" cy="11113"/>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83" name="Line 5"/>
          <p:cNvSpPr>
            <a:spLocks noChangeShapeType="1"/>
          </p:cNvSpPr>
          <p:nvPr/>
        </p:nvSpPr>
        <p:spPr bwMode="auto">
          <a:xfrm flipV="1">
            <a:off x="1508125" y="1204913"/>
            <a:ext cx="5768975" cy="11112"/>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84" name="Text Box 6"/>
          <p:cNvSpPr txBox="1">
            <a:spLocks noChangeArrowheads="1"/>
          </p:cNvSpPr>
          <p:nvPr/>
        </p:nvSpPr>
        <p:spPr bwMode="auto">
          <a:xfrm>
            <a:off x="7397750" y="2201863"/>
            <a:ext cx="1454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不允许发送</a:t>
            </a:r>
          </a:p>
        </p:txBody>
      </p:sp>
      <p:sp>
        <p:nvSpPr>
          <p:cNvPr id="71685" name="Text Box 7"/>
          <p:cNvSpPr txBox="1">
            <a:spLocks noChangeArrowheads="1"/>
          </p:cNvSpPr>
          <p:nvPr/>
        </p:nvSpPr>
        <p:spPr bwMode="auto">
          <a:xfrm>
            <a:off x="192088" y="2201863"/>
            <a:ext cx="1200150"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已发送并</a:t>
            </a:r>
          </a:p>
          <a:p>
            <a:pPr algn="ctr" eaLnBrk="1" hangingPunct="1"/>
            <a:r>
              <a:rPr lang="zh-CN" altLang="en-US" sz="2000">
                <a:solidFill>
                  <a:schemeClr val="folHlink"/>
                </a:solidFill>
                <a:latin typeface="Arial" pitchFamily="34" charset="0"/>
                <a:ea typeface="黑体" pitchFamily="49" charset="-122"/>
              </a:rPr>
              <a:t>收到确认</a:t>
            </a:r>
          </a:p>
        </p:txBody>
      </p:sp>
      <p:sp>
        <p:nvSpPr>
          <p:cNvPr id="71686" name="Text Box 8"/>
          <p:cNvSpPr txBox="1">
            <a:spLocks noChangeArrowheads="1"/>
          </p:cNvSpPr>
          <p:nvPr/>
        </p:nvSpPr>
        <p:spPr bwMode="auto">
          <a:xfrm>
            <a:off x="2771775" y="981075"/>
            <a:ext cx="270986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A </a:t>
            </a:r>
            <a:r>
              <a:rPr lang="zh-CN" altLang="en-US" sz="2000">
                <a:solidFill>
                  <a:schemeClr val="folHlink"/>
                </a:solidFill>
                <a:latin typeface="Arial" pitchFamily="34" charset="0"/>
                <a:ea typeface="黑体" pitchFamily="49" charset="-122"/>
              </a:rPr>
              <a:t>的发送窗口位置不变</a:t>
            </a:r>
          </a:p>
        </p:txBody>
      </p:sp>
      <p:sp>
        <p:nvSpPr>
          <p:cNvPr id="71687" name="Text Box 9"/>
          <p:cNvSpPr txBox="1">
            <a:spLocks noChangeArrowheads="1"/>
          </p:cNvSpPr>
          <p:nvPr/>
        </p:nvSpPr>
        <p:spPr bwMode="auto">
          <a:xfrm>
            <a:off x="4778375" y="2368550"/>
            <a:ext cx="247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允许发送但尚未发送</a:t>
            </a:r>
          </a:p>
        </p:txBody>
      </p:sp>
      <p:sp>
        <p:nvSpPr>
          <p:cNvPr id="71688" name="Rectangle 10"/>
          <p:cNvSpPr>
            <a:spLocks noChangeArrowheads="1"/>
          </p:cNvSpPr>
          <p:nvPr/>
        </p:nvSpPr>
        <p:spPr bwMode="auto">
          <a:xfrm>
            <a:off x="1514475" y="1708150"/>
            <a:ext cx="5767388" cy="649288"/>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a:p>
        </p:txBody>
      </p:sp>
      <p:sp>
        <p:nvSpPr>
          <p:cNvPr id="71689" name="Rectangle 11"/>
          <p:cNvSpPr>
            <a:spLocks noChangeArrowheads="1"/>
          </p:cNvSpPr>
          <p:nvPr/>
        </p:nvSpPr>
        <p:spPr bwMode="auto">
          <a:xfrm>
            <a:off x="109538" y="192405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26</a:t>
            </a:r>
          </a:p>
        </p:txBody>
      </p:sp>
      <p:sp>
        <p:nvSpPr>
          <p:cNvPr id="71690" name="Rectangle 12"/>
          <p:cNvSpPr>
            <a:spLocks noChangeArrowheads="1"/>
          </p:cNvSpPr>
          <p:nvPr/>
        </p:nvSpPr>
        <p:spPr bwMode="auto">
          <a:xfrm>
            <a:off x="398463" y="19224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27</a:t>
            </a:r>
          </a:p>
        </p:txBody>
      </p:sp>
      <p:sp>
        <p:nvSpPr>
          <p:cNvPr id="71691" name="Rectangle 13"/>
          <p:cNvSpPr>
            <a:spLocks noChangeArrowheads="1"/>
          </p:cNvSpPr>
          <p:nvPr/>
        </p:nvSpPr>
        <p:spPr bwMode="auto">
          <a:xfrm>
            <a:off x="687388" y="19208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28</a:t>
            </a:r>
          </a:p>
        </p:txBody>
      </p:sp>
      <p:sp>
        <p:nvSpPr>
          <p:cNvPr id="71692" name="Rectangle 14"/>
          <p:cNvSpPr>
            <a:spLocks noChangeArrowheads="1"/>
          </p:cNvSpPr>
          <p:nvPr/>
        </p:nvSpPr>
        <p:spPr bwMode="auto">
          <a:xfrm>
            <a:off x="976313" y="191928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29</a:t>
            </a:r>
          </a:p>
        </p:txBody>
      </p:sp>
      <p:sp>
        <p:nvSpPr>
          <p:cNvPr id="71693" name="Rectangle 15"/>
          <p:cNvSpPr>
            <a:spLocks noChangeArrowheads="1"/>
          </p:cNvSpPr>
          <p:nvPr/>
        </p:nvSpPr>
        <p:spPr bwMode="auto">
          <a:xfrm>
            <a:off x="1265238" y="191770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30</a:t>
            </a:r>
          </a:p>
        </p:txBody>
      </p:sp>
      <p:sp>
        <p:nvSpPr>
          <p:cNvPr id="71694" name="Rectangle 16"/>
          <p:cNvSpPr>
            <a:spLocks noChangeArrowheads="1"/>
          </p:cNvSpPr>
          <p:nvPr/>
        </p:nvSpPr>
        <p:spPr bwMode="auto">
          <a:xfrm>
            <a:off x="1554163" y="191611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31</a:t>
            </a:r>
          </a:p>
        </p:txBody>
      </p:sp>
      <p:sp>
        <p:nvSpPr>
          <p:cNvPr id="71695" name="Rectangle 17"/>
          <p:cNvSpPr>
            <a:spLocks noChangeArrowheads="1"/>
          </p:cNvSpPr>
          <p:nvPr/>
        </p:nvSpPr>
        <p:spPr bwMode="auto">
          <a:xfrm>
            <a:off x="1843088" y="191452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32</a:t>
            </a:r>
          </a:p>
        </p:txBody>
      </p:sp>
      <p:sp>
        <p:nvSpPr>
          <p:cNvPr id="71696" name="Rectangle 18"/>
          <p:cNvSpPr>
            <a:spLocks noChangeArrowheads="1"/>
          </p:cNvSpPr>
          <p:nvPr/>
        </p:nvSpPr>
        <p:spPr bwMode="auto">
          <a:xfrm>
            <a:off x="2132013" y="191293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33</a:t>
            </a:r>
          </a:p>
        </p:txBody>
      </p:sp>
      <p:sp>
        <p:nvSpPr>
          <p:cNvPr id="71697" name="Rectangle 19"/>
          <p:cNvSpPr>
            <a:spLocks noChangeArrowheads="1"/>
          </p:cNvSpPr>
          <p:nvPr/>
        </p:nvSpPr>
        <p:spPr bwMode="auto">
          <a:xfrm>
            <a:off x="2420938" y="191135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34</a:t>
            </a:r>
          </a:p>
        </p:txBody>
      </p:sp>
      <p:sp>
        <p:nvSpPr>
          <p:cNvPr id="71698" name="Rectangle 20"/>
          <p:cNvSpPr>
            <a:spLocks noChangeArrowheads="1"/>
          </p:cNvSpPr>
          <p:nvPr/>
        </p:nvSpPr>
        <p:spPr bwMode="auto">
          <a:xfrm>
            <a:off x="2709863" y="19097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35</a:t>
            </a:r>
          </a:p>
        </p:txBody>
      </p:sp>
      <p:sp>
        <p:nvSpPr>
          <p:cNvPr id="71699" name="Rectangle 21"/>
          <p:cNvSpPr>
            <a:spLocks noChangeArrowheads="1"/>
          </p:cNvSpPr>
          <p:nvPr/>
        </p:nvSpPr>
        <p:spPr bwMode="auto">
          <a:xfrm>
            <a:off x="2998788" y="190817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36</a:t>
            </a:r>
          </a:p>
        </p:txBody>
      </p:sp>
      <p:sp>
        <p:nvSpPr>
          <p:cNvPr id="71700" name="Rectangle 22"/>
          <p:cNvSpPr>
            <a:spLocks noChangeArrowheads="1"/>
          </p:cNvSpPr>
          <p:nvPr/>
        </p:nvSpPr>
        <p:spPr bwMode="auto">
          <a:xfrm>
            <a:off x="3287713" y="190658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37</a:t>
            </a:r>
          </a:p>
        </p:txBody>
      </p:sp>
      <p:sp>
        <p:nvSpPr>
          <p:cNvPr id="71701" name="Rectangle 23"/>
          <p:cNvSpPr>
            <a:spLocks noChangeArrowheads="1"/>
          </p:cNvSpPr>
          <p:nvPr/>
        </p:nvSpPr>
        <p:spPr bwMode="auto">
          <a:xfrm>
            <a:off x="3576638" y="190500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38</a:t>
            </a:r>
          </a:p>
        </p:txBody>
      </p:sp>
      <p:sp>
        <p:nvSpPr>
          <p:cNvPr id="71702" name="Rectangle 24"/>
          <p:cNvSpPr>
            <a:spLocks noChangeArrowheads="1"/>
          </p:cNvSpPr>
          <p:nvPr/>
        </p:nvSpPr>
        <p:spPr bwMode="auto">
          <a:xfrm>
            <a:off x="3865563" y="190341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39</a:t>
            </a:r>
          </a:p>
        </p:txBody>
      </p:sp>
      <p:sp>
        <p:nvSpPr>
          <p:cNvPr id="71703" name="Rectangle 25"/>
          <p:cNvSpPr>
            <a:spLocks noChangeArrowheads="1"/>
          </p:cNvSpPr>
          <p:nvPr/>
        </p:nvSpPr>
        <p:spPr bwMode="auto">
          <a:xfrm>
            <a:off x="4154488" y="190182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40</a:t>
            </a:r>
          </a:p>
        </p:txBody>
      </p:sp>
      <p:sp>
        <p:nvSpPr>
          <p:cNvPr id="71704" name="Rectangle 26"/>
          <p:cNvSpPr>
            <a:spLocks noChangeArrowheads="1"/>
          </p:cNvSpPr>
          <p:nvPr/>
        </p:nvSpPr>
        <p:spPr bwMode="auto">
          <a:xfrm>
            <a:off x="4443413" y="190023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41</a:t>
            </a:r>
          </a:p>
        </p:txBody>
      </p:sp>
      <p:sp>
        <p:nvSpPr>
          <p:cNvPr id="71705" name="Rectangle 27"/>
          <p:cNvSpPr>
            <a:spLocks noChangeArrowheads="1"/>
          </p:cNvSpPr>
          <p:nvPr/>
        </p:nvSpPr>
        <p:spPr bwMode="auto">
          <a:xfrm>
            <a:off x="4732338" y="18986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42</a:t>
            </a:r>
          </a:p>
        </p:txBody>
      </p:sp>
      <p:sp>
        <p:nvSpPr>
          <p:cNvPr id="71706" name="Rectangle 28"/>
          <p:cNvSpPr>
            <a:spLocks noChangeArrowheads="1"/>
          </p:cNvSpPr>
          <p:nvPr/>
        </p:nvSpPr>
        <p:spPr bwMode="auto">
          <a:xfrm>
            <a:off x="5021263" y="18970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43</a:t>
            </a:r>
          </a:p>
        </p:txBody>
      </p:sp>
      <p:sp>
        <p:nvSpPr>
          <p:cNvPr id="71707" name="Rectangle 29"/>
          <p:cNvSpPr>
            <a:spLocks noChangeArrowheads="1"/>
          </p:cNvSpPr>
          <p:nvPr/>
        </p:nvSpPr>
        <p:spPr bwMode="auto">
          <a:xfrm>
            <a:off x="5310188" y="189547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44</a:t>
            </a:r>
          </a:p>
        </p:txBody>
      </p:sp>
      <p:sp>
        <p:nvSpPr>
          <p:cNvPr id="71708" name="Rectangle 30"/>
          <p:cNvSpPr>
            <a:spLocks noChangeArrowheads="1"/>
          </p:cNvSpPr>
          <p:nvPr/>
        </p:nvSpPr>
        <p:spPr bwMode="auto">
          <a:xfrm>
            <a:off x="5599113" y="189388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45</a:t>
            </a:r>
          </a:p>
        </p:txBody>
      </p:sp>
      <p:sp>
        <p:nvSpPr>
          <p:cNvPr id="71709" name="Rectangle 31"/>
          <p:cNvSpPr>
            <a:spLocks noChangeArrowheads="1"/>
          </p:cNvSpPr>
          <p:nvPr/>
        </p:nvSpPr>
        <p:spPr bwMode="auto">
          <a:xfrm>
            <a:off x="5888038" y="18923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46</a:t>
            </a:r>
          </a:p>
        </p:txBody>
      </p:sp>
      <p:sp>
        <p:nvSpPr>
          <p:cNvPr id="71710" name="Rectangle 32"/>
          <p:cNvSpPr>
            <a:spLocks noChangeArrowheads="1"/>
          </p:cNvSpPr>
          <p:nvPr/>
        </p:nvSpPr>
        <p:spPr bwMode="auto">
          <a:xfrm>
            <a:off x="6176963" y="189071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47</a:t>
            </a:r>
          </a:p>
        </p:txBody>
      </p:sp>
      <p:sp>
        <p:nvSpPr>
          <p:cNvPr id="71711" name="Rectangle 33"/>
          <p:cNvSpPr>
            <a:spLocks noChangeArrowheads="1"/>
          </p:cNvSpPr>
          <p:nvPr/>
        </p:nvSpPr>
        <p:spPr bwMode="auto">
          <a:xfrm>
            <a:off x="6465888" y="18891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48</a:t>
            </a:r>
          </a:p>
        </p:txBody>
      </p:sp>
      <p:sp>
        <p:nvSpPr>
          <p:cNvPr id="71712" name="Rectangle 34"/>
          <p:cNvSpPr>
            <a:spLocks noChangeArrowheads="1"/>
          </p:cNvSpPr>
          <p:nvPr/>
        </p:nvSpPr>
        <p:spPr bwMode="auto">
          <a:xfrm>
            <a:off x="6754813" y="18875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49</a:t>
            </a:r>
          </a:p>
        </p:txBody>
      </p:sp>
      <p:sp>
        <p:nvSpPr>
          <p:cNvPr id="71713" name="Rectangle 35"/>
          <p:cNvSpPr>
            <a:spLocks noChangeArrowheads="1"/>
          </p:cNvSpPr>
          <p:nvPr/>
        </p:nvSpPr>
        <p:spPr bwMode="auto">
          <a:xfrm>
            <a:off x="7043738" y="18859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50</a:t>
            </a:r>
          </a:p>
        </p:txBody>
      </p:sp>
      <p:sp>
        <p:nvSpPr>
          <p:cNvPr id="71714" name="Rectangle 36"/>
          <p:cNvSpPr>
            <a:spLocks noChangeArrowheads="1"/>
          </p:cNvSpPr>
          <p:nvPr/>
        </p:nvSpPr>
        <p:spPr bwMode="auto">
          <a:xfrm>
            <a:off x="7332663" y="188436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51</a:t>
            </a:r>
          </a:p>
        </p:txBody>
      </p:sp>
      <p:sp>
        <p:nvSpPr>
          <p:cNvPr id="71715" name="Rectangle 37"/>
          <p:cNvSpPr>
            <a:spLocks noChangeArrowheads="1"/>
          </p:cNvSpPr>
          <p:nvPr/>
        </p:nvSpPr>
        <p:spPr bwMode="auto">
          <a:xfrm>
            <a:off x="7621588" y="18827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52</a:t>
            </a:r>
          </a:p>
        </p:txBody>
      </p:sp>
      <p:sp>
        <p:nvSpPr>
          <p:cNvPr id="71716" name="Rectangle 38"/>
          <p:cNvSpPr>
            <a:spLocks noChangeArrowheads="1"/>
          </p:cNvSpPr>
          <p:nvPr/>
        </p:nvSpPr>
        <p:spPr bwMode="auto">
          <a:xfrm>
            <a:off x="7910513" y="18811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53</a:t>
            </a:r>
          </a:p>
        </p:txBody>
      </p:sp>
      <p:sp>
        <p:nvSpPr>
          <p:cNvPr id="71717" name="Rectangle 39"/>
          <p:cNvSpPr>
            <a:spLocks noChangeArrowheads="1"/>
          </p:cNvSpPr>
          <p:nvPr/>
        </p:nvSpPr>
        <p:spPr bwMode="auto">
          <a:xfrm>
            <a:off x="8199438" y="187960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54</a:t>
            </a:r>
          </a:p>
        </p:txBody>
      </p:sp>
      <p:sp>
        <p:nvSpPr>
          <p:cNvPr id="71718" name="Rectangle 40"/>
          <p:cNvSpPr>
            <a:spLocks noChangeArrowheads="1"/>
          </p:cNvSpPr>
          <p:nvPr/>
        </p:nvSpPr>
        <p:spPr bwMode="auto">
          <a:xfrm>
            <a:off x="8488363" y="187801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55</a:t>
            </a:r>
          </a:p>
        </p:txBody>
      </p:sp>
      <p:sp>
        <p:nvSpPr>
          <p:cNvPr id="71719" name="Text Box 41"/>
          <p:cNvSpPr txBox="1">
            <a:spLocks noChangeArrowheads="1"/>
          </p:cNvSpPr>
          <p:nvPr/>
        </p:nvSpPr>
        <p:spPr bwMode="auto">
          <a:xfrm>
            <a:off x="2030413" y="2386013"/>
            <a:ext cx="247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已发送但未收到确认</a:t>
            </a:r>
          </a:p>
        </p:txBody>
      </p:sp>
      <p:sp>
        <p:nvSpPr>
          <p:cNvPr id="71720" name="Rectangle 42"/>
          <p:cNvSpPr>
            <a:spLocks noChangeArrowheads="1"/>
          </p:cNvSpPr>
          <p:nvPr/>
        </p:nvSpPr>
        <p:spPr bwMode="auto">
          <a:xfrm>
            <a:off x="8769350" y="187801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56</a:t>
            </a:r>
          </a:p>
        </p:txBody>
      </p:sp>
      <p:sp>
        <p:nvSpPr>
          <p:cNvPr id="71721" name="Line 44"/>
          <p:cNvSpPr>
            <a:spLocks noChangeShapeType="1"/>
          </p:cNvSpPr>
          <p:nvPr/>
        </p:nvSpPr>
        <p:spPr bwMode="auto">
          <a:xfrm flipV="1">
            <a:off x="1662113" y="221297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22" name="Text Box 45"/>
          <p:cNvSpPr txBox="1">
            <a:spLocks noChangeArrowheads="1"/>
          </p:cNvSpPr>
          <p:nvPr/>
        </p:nvSpPr>
        <p:spPr bwMode="auto">
          <a:xfrm>
            <a:off x="1476375" y="2760663"/>
            <a:ext cx="4460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1</a:t>
            </a:r>
          </a:p>
        </p:txBody>
      </p:sp>
      <p:sp>
        <p:nvSpPr>
          <p:cNvPr id="71723" name="Line 47"/>
          <p:cNvSpPr>
            <a:spLocks noChangeShapeType="1"/>
          </p:cNvSpPr>
          <p:nvPr/>
        </p:nvSpPr>
        <p:spPr bwMode="auto">
          <a:xfrm flipV="1">
            <a:off x="4840288" y="221297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24" name="Text Box 48"/>
          <p:cNvSpPr txBox="1">
            <a:spLocks noChangeArrowheads="1"/>
          </p:cNvSpPr>
          <p:nvPr/>
        </p:nvSpPr>
        <p:spPr bwMode="auto">
          <a:xfrm>
            <a:off x="4672013" y="2760663"/>
            <a:ext cx="44608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2</a:t>
            </a:r>
          </a:p>
        </p:txBody>
      </p:sp>
      <p:sp>
        <p:nvSpPr>
          <p:cNvPr id="71725" name="Line 50"/>
          <p:cNvSpPr>
            <a:spLocks noChangeShapeType="1"/>
          </p:cNvSpPr>
          <p:nvPr/>
        </p:nvSpPr>
        <p:spPr bwMode="auto">
          <a:xfrm flipV="1">
            <a:off x="7451725" y="221297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26" name="Text Box 51"/>
          <p:cNvSpPr txBox="1">
            <a:spLocks noChangeArrowheads="1"/>
          </p:cNvSpPr>
          <p:nvPr/>
        </p:nvSpPr>
        <p:spPr bwMode="auto">
          <a:xfrm>
            <a:off x="7270750" y="2760663"/>
            <a:ext cx="4460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3</a:t>
            </a:r>
          </a:p>
        </p:txBody>
      </p:sp>
      <p:sp>
        <p:nvSpPr>
          <p:cNvPr id="71727" name="Text Box 52"/>
          <p:cNvSpPr txBox="1">
            <a:spLocks noChangeArrowheads="1"/>
          </p:cNvSpPr>
          <p:nvPr/>
        </p:nvSpPr>
        <p:spPr bwMode="auto">
          <a:xfrm>
            <a:off x="7396163" y="3971925"/>
            <a:ext cx="1454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不允许接收</a:t>
            </a:r>
          </a:p>
        </p:txBody>
      </p:sp>
      <p:sp>
        <p:nvSpPr>
          <p:cNvPr id="71728" name="Text Box 53"/>
          <p:cNvSpPr txBox="1">
            <a:spLocks noChangeArrowheads="1"/>
          </p:cNvSpPr>
          <p:nvPr/>
        </p:nvSpPr>
        <p:spPr bwMode="auto">
          <a:xfrm>
            <a:off x="63500" y="3971925"/>
            <a:ext cx="1454150"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已发送确认</a:t>
            </a:r>
          </a:p>
          <a:p>
            <a:pPr algn="ctr" eaLnBrk="1" hangingPunct="1"/>
            <a:r>
              <a:rPr lang="zh-CN" altLang="en-US" sz="2000">
                <a:solidFill>
                  <a:schemeClr val="folHlink"/>
                </a:solidFill>
                <a:latin typeface="Arial" pitchFamily="34" charset="0"/>
                <a:ea typeface="黑体" pitchFamily="49" charset="-122"/>
              </a:rPr>
              <a:t>并交付主机</a:t>
            </a:r>
          </a:p>
        </p:txBody>
      </p:sp>
      <p:sp>
        <p:nvSpPr>
          <p:cNvPr id="71729" name="Text Box 54"/>
          <p:cNvSpPr txBox="1">
            <a:spLocks noChangeArrowheads="1"/>
          </p:cNvSpPr>
          <p:nvPr/>
        </p:nvSpPr>
        <p:spPr bwMode="auto">
          <a:xfrm>
            <a:off x="3492500" y="3141663"/>
            <a:ext cx="169386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B </a:t>
            </a:r>
            <a:r>
              <a:rPr lang="zh-CN" altLang="en-US" sz="2000">
                <a:solidFill>
                  <a:schemeClr val="folHlink"/>
                </a:solidFill>
                <a:latin typeface="Arial" pitchFamily="34" charset="0"/>
                <a:ea typeface="黑体" pitchFamily="49" charset="-122"/>
              </a:rPr>
              <a:t>的接收窗口</a:t>
            </a:r>
          </a:p>
        </p:txBody>
      </p:sp>
      <p:sp>
        <p:nvSpPr>
          <p:cNvPr id="71730" name="Text Box 55"/>
          <p:cNvSpPr txBox="1">
            <a:spLocks noChangeArrowheads="1"/>
          </p:cNvSpPr>
          <p:nvPr/>
        </p:nvSpPr>
        <p:spPr bwMode="auto">
          <a:xfrm>
            <a:off x="3948113" y="4184650"/>
            <a:ext cx="120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允许接收</a:t>
            </a:r>
          </a:p>
        </p:txBody>
      </p:sp>
      <p:sp>
        <p:nvSpPr>
          <p:cNvPr id="71731" name="Rectangle 56"/>
          <p:cNvSpPr>
            <a:spLocks noChangeArrowheads="1"/>
          </p:cNvSpPr>
          <p:nvPr/>
        </p:nvSpPr>
        <p:spPr bwMode="auto">
          <a:xfrm>
            <a:off x="1512888" y="3500438"/>
            <a:ext cx="5767387" cy="649287"/>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a:p>
        </p:txBody>
      </p:sp>
      <p:sp>
        <p:nvSpPr>
          <p:cNvPr id="71732" name="Rectangle 57"/>
          <p:cNvSpPr>
            <a:spLocks noChangeArrowheads="1"/>
          </p:cNvSpPr>
          <p:nvPr/>
        </p:nvSpPr>
        <p:spPr bwMode="auto">
          <a:xfrm>
            <a:off x="107950" y="371633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26</a:t>
            </a:r>
          </a:p>
        </p:txBody>
      </p:sp>
      <p:sp>
        <p:nvSpPr>
          <p:cNvPr id="71733" name="Rectangle 58"/>
          <p:cNvSpPr>
            <a:spLocks noChangeArrowheads="1"/>
          </p:cNvSpPr>
          <p:nvPr/>
        </p:nvSpPr>
        <p:spPr bwMode="auto">
          <a:xfrm>
            <a:off x="396875" y="371475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27</a:t>
            </a:r>
          </a:p>
        </p:txBody>
      </p:sp>
      <p:sp>
        <p:nvSpPr>
          <p:cNvPr id="71734" name="Rectangle 59"/>
          <p:cNvSpPr>
            <a:spLocks noChangeArrowheads="1"/>
          </p:cNvSpPr>
          <p:nvPr/>
        </p:nvSpPr>
        <p:spPr bwMode="auto">
          <a:xfrm>
            <a:off x="685800" y="37131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28</a:t>
            </a:r>
          </a:p>
        </p:txBody>
      </p:sp>
      <p:sp>
        <p:nvSpPr>
          <p:cNvPr id="71735" name="Rectangle 60"/>
          <p:cNvSpPr>
            <a:spLocks noChangeArrowheads="1"/>
          </p:cNvSpPr>
          <p:nvPr/>
        </p:nvSpPr>
        <p:spPr bwMode="auto">
          <a:xfrm>
            <a:off x="974725" y="37115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29</a:t>
            </a:r>
          </a:p>
        </p:txBody>
      </p:sp>
      <p:sp>
        <p:nvSpPr>
          <p:cNvPr id="71736" name="Rectangle 61"/>
          <p:cNvSpPr>
            <a:spLocks noChangeArrowheads="1"/>
          </p:cNvSpPr>
          <p:nvPr/>
        </p:nvSpPr>
        <p:spPr bwMode="auto">
          <a:xfrm>
            <a:off x="1263650" y="370998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30</a:t>
            </a:r>
          </a:p>
        </p:txBody>
      </p:sp>
      <p:sp>
        <p:nvSpPr>
          <p:cNvPr id="71737" name="Rectangle 62"/>
          <p:cNvSpPr>
            <a:spLocks noChangeArrowheads="1"/>
          </p:cNvSpPr>
          <p:nvPr/>
        </p:nvSpPr>
        <p:spPr bwMode="auto">
          <a:xfrm>
            <a:off x="1552575" y="37084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31</a:t>
            </a:r>
          </a:p>
        </p:txBody>
      </p:sp>
      <p:sp>
        <p:nvSpPr>
          <p:cNvPr id="71738" name="Rectangle 63"/>
          <p:cNvSpPr>
            <a:spLocks noChangeArrowheads="1"/>
          </p:cNvSpPr>
          <p:nvPr/>
        </p:nvSpPr>
        <p:spPr bwMode="auto">
          <a:xfrm>
            <a:off x="1841500" y="3706813"/>
            <a:ext cx="215900" cy="287337"/>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32</a:t>
            </a:r>
          </a:p>
        </p:txBody>
      </p:sp>
      <p:sp>
        <p:nvSpPr>
          <p:cNvPr id="71739" name="Rectangle 64"/>
          <p:cNvSpPr>
            <a:spLocks noChangeArrowheads="1"/>
          </p:cNvSpPr>
          <p:nvPr/>
        </p:nvSpPr>
        <p:spPr bwMode="auto">
          <a:xfrm>
            <a:off x="2130425" y="3705225"/>
            <a:ext cx="215900"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33</a:t>
            </a:r>
          </a:p>
        </p:txBody>
      </p:sp>
      <p:sp>
        <p:nvSpPr>
          <p:cNvPr id="71740" name="Rectangle 65"/>
          <p:cNvSpPr>
            <a:spLocks noChangeArrowheads="1"/>
          </p:cNvSpPr>
          <p:nvPr/>
        </p:nvSpPr>
        <p:spPr bwMode="auto">
          <a:xfrm>
            <a:off x="2419350" y="37036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34</a:t>
            </a:r>
          </a:p>
        </p:txBody>
      </p:sp>
      <p:sp>
        <p:nvSpPr>
          <p:cNvPr id="71741" name="Rectangle 66"/>
          <p:cNvSpPr>
            <a:spLocks noChangeArrowheads="1"/>
          </p:cNvSpPr>
          <p:nvPr/>
        </p:nvSpPr>
        <p:spPr bwMode="auto">
          <a:xfrm>
            <a:off x="2708275" y="37020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35</a:t>
            </a:r>
          </a:p>
        </p:txBody>
      </p:sp>
      <p:sp>
        <p:nvSpPr>
          <p:cNvPr id="71742" name="Rectangle 67"/>
          <p:cNvSpPr>
            <a:spLocks noChangeArrowheads="1"/>
          </p:cNvSpPr>
          <p:nvPr/>
        </p:nvSpPr>
        <p:spPr bwMode="auto">
          <a:xfrm>
            <a:off x="2997200" y="37004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36</a:t>
            </a:r>
          </a:p>
        </p:txBody>
      </p:sp>
      <p:sp>
        <p:nvSpPr>
          <p:cNvPr id="71743" name="Rectangle 68"/>
          <p:cNvSpPr>
            <a:spLocks noChangeArrowheads="1"/>
          </p:cNvSpPr>
          <p:nvPr/>
        </p:nvSpPr>
        <p:spPr bwMode="auto">
          <a:xfrm>
            <a:off x="3286125" y="369887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37</a:t>
            </a:r>
          </a:p>
        </p:txBody>
      </p:sp>
      <p:sp>
        <p:nvSpPr>
          <p:cNvPr id="71744" name="Rectangle 69"/>
          <p:cNvSpPr>
            <a:spLocks noChangeArrowheads="1"/>
          </p:cNvSpPr>
          <p:nvPr/>
        </p:nvSpPr>
        <p:spPr bwMode="auto">
          <a:xfrm>
            <a:off x="3575050" y="369728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38</a:t>
            </a:r>
          </a:p>
        </p:txBody>
      </p:sp>
      <p:sp>
        <p:nvSpPr>
          <p:cNvPr id="71745" name="Rectangle 70"/>
          <p:cNvSpPr>
            <a:spLocks noChangeArrowheads="1"/>
          </p:cNvSpPr>
          <p:nvPr/>
        </p:nvSpPr>
        <p:spPr bwMode="auto">
          <a:xfrm>
            <a:off x="3863975" y="36957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39</a:t>
            </a:r>
          </a:p>
        </p:txBody>
      </p:sp>
      <p:sp>
        <p:nvSpPr>
          <p:cNvPr id="71746" name="Rectangle 71"/>
          <p:cNvSpPr>
            <a:spLocks noChangeArrowheads="1"/>
          </p:cNvSpPr>
          <p:nvPr/>
        </p:nvSpPr>
        <p:spPr bwMode="auto">
          <a:xfrm>
            <a:off x="4152900" y="369411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40</a:t>
            </a:r>
          </a:p>
        </p:txBody>
      </p:sp>
      <p:sp>
        <p:nvSpPr>
          <p:cNvPr id="71747" name="Rectangle 72"/>
          <p:cNvSpPr>
            <a:spLocks noChangeArrowheads="1"/>
          </p:cNvSpPr>
          <p:nvPr/>
        </p:nvSpPr>
        <p:spPr bwMode="auto">
          <a:xfrm>
            <a:off x="4441825" y="36925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41</a:t>
            </a:r>
          </a:p>
        </p:txBody>
      </p:sp>
      <p:sp>
        <p:nvSpPr>
          <p:cNvPr id="71748" name="Rectangle 73"/>
          <p:cNvSpPr>
            <a:spLocks noChangeArrowheads="1"/>
          </p:cNvSpPr>
          <p:nvPr/>
        </p:nvSpPr>
        <p:spPr bwMode="auto">
          <a:xfrm>
            <a:off x="4730750" y="36909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42</a:t>
            </a:r>
          </a:p>
        </p:txBody>
      </p:sp>
      <p:sp>
        <p:nvSpPr>
          <p:cNvPr id="71749" name="Rectangle 74"/>
          <p:cNvSpPr>
            <a:spLocks noChangeArrowheads="1"/>
          </p:cNvSpPr>
          <p:nvPr/>
        </p:nvSpPr>
        <p:spPr bwMode="auto">
          <a:xfrm>
            <a:off x="5019675" y="368935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43</a:t>
            </a:r>
          </a:p>
        </p:txBody>
      </p:sp>
      <p:sp>
        <p:nvSpPr>
          <p:cNvPr id="71750" name="Rectangle 75"/>
          <p:cNvSpPr>
            <a:spLocks noChangeArrowheads="1"/>
          </p:cNvSpPr>
          <p:nvPr/>
        </p:nvSpPr>
        <p:spPr bwMode="auto">
          <a:xfrm>
            <a:off x="5308600" y="368776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44</a:t>
            </a:r>
          </a:p>
        </p:txBody>
      </p:sp>
      <p:sp>
        <p:nvSpPr>
          <p:cNvPr id="71751" name="Rectangle 76"/>
          <p:cNvSpPr>
            <a:spLocks noChangeArrowheads="1"/>
          </p:cNvSpPr>
          <p:nvPr/>
        </p:nvSpPr>
        <p:spPr bwMode="auto">
          <a:xfrm>
            <a:off x="5597525" y="368617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45</a:t>
            </a:r>
          </a:p>
        </p:txBody>
      </p:sp>
      <p:sp>
        <p:nvSpPr>
          <p:cNvPr id="71752" name="Rectangle 77"/>
          <p:cNvSpPr>
            <a:spLocks noChangeArrowheads="1"/>
          </p:cNvSpPr>
          <p:nvPr/>
        </p:nvSpPr>
        <p:spPr bwMode="auto">
          <a:xfrm>
            <a:off x="5886450" y="368458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46</a:t>
            </a:r>
          </a:p>
        </p:txBody>
      </p:sp>
      <p:sp>
        <p:nvSpPr>
          <p:cNvPr id="71753" name="Rectangle 78"/>
          <p:cNvSpPr>
            <a:spLocks noChangeArrowheads="1"/>
          </p:cNvSpPr>
          <p:nvPr/>
        </p:nvSpPr>
        <p:spPr bwMode="auto">
          <a:xfrm>
            <a:off x="6175375" y="3683000"/>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47</a:t>
            </a:r>
          </a:p>
        </p:txBody>
      </p:sp>
      <p:sp>
        <p:nvSpPr>
          <p:cNvPr id="71754" name="Rectangle 79"/>
          <p:cNvSpPr>
            <a:spLocks noChangeArrowheads="1"/>
          </p:cNvSpPr>
          <p:nvPr/>
        </p:nvSpPr>
        <p:spPr bwMode="auto">
          <a:xfrm>
            <a:off x="6464300" y="3681413"/>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48</a:t>
            </a:r>
          </a:p>
        </p:txBody>
      </p:sp>
      <p:sp>
        <p:nvSpPr>
          <p:cNvPr id="71755" name="Rectangle 80"/>
          <p:cNvSpPr>
            <a:spLocks noChangeArrowheads="1"/>
          </p:cNvSpPr>
          <p:nvPr/>
        </p:nvSpPr>
        <p:spPr bwMode="auto">
          <a:xfrm>
            <a:off x="6753225" y="3679825"/>
            <a:ext cx="215900" cy="2873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49</a:t>
            </a:r>
          </a:p>
        </p:txBody>
      </p:sp>
      <p:sp>
        <p:nvSpPr>
          <p:cNvPr id="71756" name="Rectangle 81"/>
          <p:cNvSpPr>
            <a:spLocks noChangeArrowheads="1"/>
          </p:cNvSpPr>
          <p:nvPr/>
        </p:nvSpPr>
        <p:spPr bwMode="auto">
          <a:xfrm>
            <a:off x="7042150" y="3678238"/>
            <a:ext cx="215900" cy="287337"/>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50</a:t>
            </a:r>
          </a:p>
        </p:txBody>
      </p:sp>
      <p:sp>
        <p:nvSpPr>
          <p:cNvPr id="71757" name="Rectangle 82"/>
          <p:cNvSpPr>
            <a:spLocks noChangeArrowheads="1"/>
          </p:cNvSpPr>
          <p:nvPr/>
        </p:nvSpPr>
        <p:spPr bwMode="auto">
          <a:xfrm>
            <a:off x="7331075" y="367665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51</a:t>
            </a:r>
          </a:p>
        </p:txBody>
      </p:sp>
      <p:sp>
        <p:nvSpPr>
          <p:cNvPr id="71758" name="Rectangle 83"/>
          <p:cNvSpPr>
            <a:spLocks noChangeArrowheads="1"/>
          </p:cNvSpPr>
          <p:nvPr/>
        </p:nvSpPr>
        <p:spPr bwMode="auto">
          <a:xfrm>
            <a:off x="7620000" y="367506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52</a:t>
            </a:r>
          </a:p>
        </p:txBody>
      </p:sp>
      <p:sp>
        <p:nvSpPr>
          <p:cNvPr id="71759" name="Rectangle 84"/>
          <p:cNvSpPr>
            <a:spLocks noChangeArrowheads="1"/>
          </p:cNvSpPr>
          <p:nvPr/>
        </p:nvSpPr>
        <p:spPr bwMode="auto">
          <a:xfrm>
            <a:off x="7908925" y="36734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53</a:t>
            </a:r>
          </a:p>
        </p:txBody>
      </p:sp>
      <p:sp>
        <p:nvSpPr>
          <p:cNvPr id="71760" name="Rectangle 85"/>
          <p:cNvSpPr>
            <a:spLocks noChangeArrowheads="1"/>
          </p:cNvSpPr>
          <p:nvPr/>
        </p:nvSpPr>
        <p:spPr bwMode="auto">
          <a:xfrm>
            <a:off x="8197850" y="36718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54</a:t>
            </a:r>
          </a:p>
        </p:txBody>
      </p:sp>
      <p:sp>
        <p:nvSpPr>
          <p:cNvPr id="71761" name="Rectangle 86"/>
          <p:cNvSpPr>
            <a:spLocks noChangeArrowheads="1"/>
          </p:cNvSpPr>
          <p:nvPr/>
        </p:nvSpPr>
        <p:spPr bwMode="auto">
          <a:xfrm>
            <a:off x="8486775" y="367030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55</a:t>
            </a:r>
          </a:p>
        </p:txBody>
      </p:sp>
      <p:sp>
        <p:nvSpPr>
          <p:cNvPr id="71762" name="Rectangle 87"/>
          <p:cNvSpPr>
            <a:spLocks noChangeArrowheads="1"/>
          </p:cNvSpPr>
          <p:nvPr/>
        </p:nvSpPr>
        <p:spPr bwMode="auto">
          <a:xfrm>
            <a:off x="8767763" y="367030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56</a:t>
            </a:r>
          </a:p>
        </p:txBody>
      </p:sp>
      <p:grpSp>
        <p:nvGrpSpPr>
          <p:cNvPr id="71763" name="Group 93"/>
          <p:cNvGrpSpPr>
            <a:grpSpLocks/>
          </p:cNvGrpSpPr>
          <p:nvPr/>
        </p:nvGrpSpPr>
        <p:grpSpPr bwMode="auto">
          <a:xfrm>
            <a:off x="1954213" y="3992563"/>
            <a:ext cx="314325" cy="876300"/>
            <a:chOff x="1231" y="3150"/>
            <a:chExt cx="182" cy="272"/>
          </a:xfrm>
        </p:grpSpPr>
        <p:sp>
          <p:nvSpPr>
            <p:cNvPr id="71769" name="Line 88"/>
            <p:cNvSpPr>
              <a:spLocks noChangeShapeType="1"/>
            </p:cNvSpPr>
            <p:nvPr/>
          </p:nvSpPr>
          <p:spPr bwMode="auto">
            <a:xfrm flipV="1">
              <a:off x="1231" y="3150"/>
              <a:ext cx="0" cy="27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70" name="Line 89"/>
            <p:cNvSpPr>
              <a:spLocks noChangeShapeType="1"/>
            </p:cNvSpPr>
            <p:nvPr/>
          </p:nvSpPr>
          <p:spPr bwMode="auto">
            <a:xfrm flipV="1">
              <a:off x="1413" y="3150"/>
              <a:ext cx="0" cy="27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1764" name="Text Box 90"/>
          <p:cNvSpPr txBox="1">
            <a:spLocks noChangeArrowheads="1"/>
          </p:cNvSpPr>
          <p:nvPr/>
        </p:nvSpPr>
        <p:spPr bwMode="auto">
          <a:xfrm>
            <a:off x="1385888" y="4822825"/>
            <a:ext cx="1463675"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Times New Roman" pitchFamily="18" charset="0"/>
                <a:ea typeface="黑体" pitchFamily="49" charset="-122"/>
              </a:rPr>
              <a:t>未按序收到</a:t>
            </a:r>
          </a:p>
        </p:txBody>
      </p:sp>
      <p:sp>
        <p:nvSpPr>
          <p:cNvPr id="71765" name="AutoShape 91"/>
          <p:cNvSpPr>
            <a:spLocks/>
          </p:cNvSpPr>
          <p:nvPr/>
        </p:nvSpPr>
        <p:spPr bwMode="auto">
          <a:xfrm rot="5400000">
            <a:off x="5884069" y="397669"/>
            <a:ext cx="184150" cy="2519362"/>
          </a:xfrm>
          <a:prstGeom prst="leftBrace">
            <a:avLst>
              <a:gd name="adj1" fmla="val 114009"/>
              <a:gd name="adj2" fmla="val 50000"/>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6" name="Text Box 92"/>
          <p:cNvSpPr txBox="1">
            <a:spLocks noChangeArrowheads="1"/>
          </p:cNvSpPr>
          <p:nvPr/>
        </p:nvSpPr>
        <p:spPr bwMode="auto">
          <a:xfrm>
            <a:off x="5364163" y="1223963"/>
            <a:ext cx="120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Times New Roman" pitchFamily="18" charset="0"/>
                <a:ea typeface="黑体" pitchFamily="49" charset="-122"/>
              </a:rPr>
              <a:t>可用窗口</a:t>
            </a:r>
          </a:p>
        </p:txBody>
      </p:sp>
      <p:sp>
        <p:nvSpPr>
          <p:cNvPr id="71767" name="Text Box 94"/>
          <p:cNvSpPr txBox="1">
            <a:spLocks noChangeArrowheads="1"/>
          </p:cNvSpPr>
          <p:nvPr/>
        </p:nvSpPr>
        <p:spPr bwMode="auto">
          <a:xfrm>
            <a:off x="1692275" y="185738"/>
            <a:ext cx="5616575" cy="6508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3600">
                <a:solidFill>
                  <a:schemeClr val="folHlink"/>
                </a:solidFill>
                <a:latin typeface="Arial" pitchFamily="34" charset="0"/>
                <a:ea typeface="黑体" pitchFamily="49" charset="-122"/>
              </a:rPr>
              <a:t>A </a:t>
            </a:r>
            <a:r>
              <a:rPr lang="zh-CN" altLang="en-US" sz="3600">
                <a:solidFill>
                  <a:schemeClr val="folHlink"/>
                </a:solidFill>
                <a:latin typeface="Arial" pitchFamily="34" charset="0"/>
                <a:ea typeface="黑体" pitchFamily="49" charset="-122"/>
              </a:rPr>
              <a:t>发送了 </a:t>
            </a:r>
            <a:r>
              <a:rPr lang="en-US" altLang="zh-CN" sz="3600">
                <a:solidFill>
                  <a:schemeClr val="folHlink"/>
                </a:solidFill>
                <a:latin typeface="Arial" pitchFamily="34" charset="0"/>
                <a:ea typeface="黑体" pitchFamily="49" charset="-122"/>
              </a:rPr>
              <a:t>11 </a:t>
            </a:r>
            <a:r>
              <a:rPr lang="zh-CN" altLang="en-US" sz="3600">
                <a:solidFill>
                  <a:schemeClr val="folHlink"/>
                </a:solidFill>
                <a:latin typeface="Arial" pitchFamily="34" charset="0"/>
                <a:ea typeface="黑体" pitchFamily="49" charset="-122"/>
              </a:rPr>
              <a:t>个字节的数据 </a:t>
            </a:r>
          </a:p>
        </p:txBody>
      </p:sp>
      <p:sp>
        <p:nvSpPr>
          <p:cNvPr id="71768" name="Text Box 95"/>
          <p:cNvSpPr txBox="1">
            <a:spLocks noChangeArrowheads="1"/>
          </p:cNvSpPr>
          <p:nvPr/>
        </p:nvSpPr>
        <p:spPr bwMode="auto">
          <a:xfrm>
            <a:off x="458788" y="5373688"/>
            <a:ext cx="8299450" cy="1196975"/>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folHlink"/>
                </a:solidFill>
                <a:latin typeface="Arial" pitchFamily="34" charset="0"/>
                <a:ea typeface="黑体" pitchFamily="49" charset="-122"/>
              </a:rPr>
              <a:t>P</a:t>
            </a:r>
            <a:r>
              <a:rPr lang="en-US" altLang="zh-CN" sz="2400" baseline="-25000">
                <a:solidFill>
                  <a:schemeClr val="folHlink"/>
                </a:solidFill>
                <a:latin typeface="Arial" pitchFamily="34" charset="0"/>
                <a:ea typeface="黑体" pitchFamily="49" charset="-122"/>
              </a:rPr>
              <a:t>3</a:t>
            </a:r>
            <a:r>
              <a:rPr lang="en-US" altLang="zh-CN" sz="2400">
                <a:solidFill>
                  <a:schemeClr val="folHlink"/>
                </a:solidFill>
                <a:latin typeface="Arial" pitchFamily="34" charset="0"/>
                <a:ea typeface="黑体" pitchFamily="49" charset="-122"/>
              </a:rPr>
              <a:t> – P</a:t>
            </a:r>
            <a:r>
              <a:rPr lang="en-US" altLang="zh-CN" sz="2400" baseline="-25000">
                <a:solidFill>
                  <a:schemeClr val="folHlink"/>
                </a:solidFill>
                <a:latin typeface="Arial" pitchFamily="34" charset="0"/>
                <a:ea typeface="黑体" pitchFamily="49" charset="-122"/>
              </a:rPr>
              <a:t>1</a:t>
            </a:r>
            <a:r>
              <a:rPr lang="en-US" altLang="zh-CN" sz="2400">
                <a:solidFill>
                  <a:schemeClr val="folHlink"/>
                </a:solidFill>
                <a:latin typeface="Arial" pitchFamily="34" charset="0"/>
                <a:ea typeface="黑体" pitchFamily="49" charset="-122"/>
              </a:rPr>
              <a:t> = A </a:t>
            </a:r>
            <a:r>
              <a:rPr lang="zh-CN" altLang="en-US" sz="2400">
                <a:solidFill>
                  <a:schemeClr val="folHlink"/>
                </a:solidFill>
                <a:latin typeface="Arial" pitchFamily="34" charset="0"/>
                <a:ea typeface="黑体" pitchFamily="49" charset="-122"/>
              </a:rPr>
              <a:t>的发送窗口（又称为通知窗口）</a:t>
            </a:r>
          </a:p>
          <a:p>
            <a:pPr eaLnBrk="1" hangingPunct="1"/>
            <a:r>
              <a:rPr lang="en-US" altLang="zh-CN" sz="2400">
                <a:solidFill>
                  <a:schemeClr val="folHlink"/>
                </a:solidFill>
                <a:latin typeface="Arial" pitchFamily="34" charset="0"/>
                <a:ea typeface="黑体" pitchFamily="49" charset="-122"/>
              </a:rPr>
              <a:t>P</a:t>
            </a:r>
            <a:r>
              <a:rPr lang="en-US" altLang="zh-CN" sz="2400" baseline="-25000">
                <a:solidFill>
                  <a:schemeClr val="folHlink"/>
                </a:solidFill>
                <a:latin typeface="Arial" pitchFamily="34" charset="0"/>
                <a:ea typeface="黑体" pitchFamily="49" charset="-122"/>
              </a:rPr>
              <a:t>2</a:t>
            </a:r>
            <a:r>
              <a:rPr lang="en-US" altLang="zh-CN" sz="2400">
                <a:solidFill>
                  <a:schemeClr val="folHlink"/>
                </a:solidFill>
                <a:latin typeface="Arial" pitchFamily="34" charset="0"/>
                <a:ea typeface="黑体" pitchFamily="49" charset="-122"/>
              </a:rPr>
              <a:t> – P</a:t>
            </a:r>
            <a:r>
              <a:rPr lang="en-US" altLang="zh-CN" sz="2400" baseline="-25000">
                <a:solidFill>
                  <a:schemeClr val="folHlink"/>
                </a:solidFill>
                <a:latin typeface="Arial" pitchFamily="34" charset="0"/>
                <a:ea typeface="黑体" pitchFamily="49" charset="-122"/>
              </a:rPr>
              <a:t>1</a:t>
            </a:r>
            <a:r>
              <a:rPr lang="en-US" altLang="zh-CN" sz="2400">
                <a:solidFill>
                  <a:schemeClr val="folHlink"/>
                </a:solidFill>
                <a:latin typeface="Arial" pitchFamily="34" charset="0"/>
                <a:ea typeface="黑体" pitchFamily="49" charset="-122"/>
              </a:rPr>
              <a:t> = </a:t>
            </a:r>
            <a:r>
              <a:rPr lang="zh-CN" altLang="en-US" sz="2400">
                <a:solidFill>
                  <a:schemeClr val="folHlink"/>
                </a:solidFill>
                <a:latin typeface="Arial" pitchFamily="34" charset="0"/>
                <a:ea typeface="黑体" pitchFamily="49" charset="-122"/>
              </a:rPr>
              <a:t>已发送但尚未收到确认的字节数</a:t>
            </a:r>
          </a:p>
          <a:p>
            <a:pPr eaLnBrk="1" hangingPunct="1"/>
            <a:r>
              <a:rPr lang="en-US" altLang="zh-CN" sz="2400">
                <a:solidFill>
                  <a:schemeClr val="folHlink"/>
                </a:solidFill>
                <a:latin typeface="Arial" pitchFamily="34" charset="0"/>
                <a:ea typeface="黑体" pitchFamily="49" charset="-122"/>
              </a:rPr>
              <a:t>P</a:t>
            </a:r>
            <a:r>
              <a:rPr lang="en-US" altLang="zh-CN" sz="2400" baseline="-25000">
                <a:solidFill>
                  <a:schemeClr val="folHlink"/>
                </a:solidFill>
                <a:latin typeface="Arial" pitchFamily="34" charset="0"/>
                <a:ea typeface="黑体" pitchFamily="49" charset="-122"/>
              </a:rPr>
              <a:t>3</a:t>
            </a:r>
            <a:r>
              <a:rPr lang="en-US" altLang="zh-CN" sz="2400">
                <a:solidFill>
                  <a:schemeClr val="folHlink"/>
                </a:solidFill>
                <a:latin typeface="Arial" pitchFamily="34" charset="0"/>
                <a:ea typeface="黑体" pitchFamily="49" charset="-122"/>
              </a:rPr>
              <a:t> – P</a:t>
            </a:r>
            <a:r>
              <a:rPr lang="en-US" altLang="zh-CN" sz="2400" baseline="-25000">
                <a:solidFill>
                  <a:schemeClr val="folHlink"/>
                </a:solidFill>
                <a:latin typeface="Arial" pitchFamily="34" charset="0"/>
                <a:ea typeface="黑体" pitchFamily="49" charset="-122"/>
              </a:rPr>
              <a:t>2</a:t>
            </a:r>
            <a:r>
              <a:rPr lang="en-US" altLang="zh-CN" sz="2400">
                <a:solidFill>
                  <a:schemeClr val="folHlink"/>
                </a:solidFill>
                <a:latin typeface="Arial" pitchFamily="34" charset="0"/>
                <a:ea typeface="黑体" pitchFamily="49" charset="-122"/>
              </a:rPr>
              <a:t> = </a:t>
            </a:r>
            <a:r>
              <a:rPr lang="zh-CN" altLang="en-US" sz="2400">
                <a:solidFill>
                  <a:schemeClr val="folHlink"/>
                </a:solidFill>
                <a:latin typeface="Arial" pitchFamily="34" charset="0"/>
                <a:ea typeface="黑体" pitchFamily="49" charset="-122"/>
              </a:rPr>
              <a:t>允许发送但尚未发送的字节数（又称为可用窗口） </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Text Box 4"/>
          <p:cNvSpPr txBox="1">
            <a:spLocks noChangeArrowheads="1"/>
          </p:cNvSpPr>
          <p:nvPr/>
        </p:nvSpPr>
        <p:spPr bwMode="auto">
          <a:xfrm>
            <a:off x="5207000" y="2513013"/>
            <a:ext cx="247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允许发送但尚未发送</a:t>
            </a:r>
          </a:p>
        </p:txBody>
      </p:sp>
      <p:sp>
        <p:nvSpPr>
          <p:cNvPr id="72707" name="Text Box 5"/>
          <p:cNvSpPr txBox="1">
            <a:spLocks noChangeArrowheads="1"/>
          </p:cNvSpPr>
          <p:nvPr/>
        </p:nvSpPr>
        <p:spPr bwMode="auto">
          <a:xfrm>
            <a:off x="3924300" y="1506538"/>
            <a:ext cx="270986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A </a:t>
            </a:r>
            <a:r>
              <a:rPr lang="zh-CN" altLang="en-US" sz="2000">
                <a:solidFill>
                  <a:schemeClr val="folHlink"/>
                </a:solidFill>
                <a:latin typeface="Arial" pitchFamily="34" charset="0"/>
                <a:ea typeface="黑体" pitchFamily="49" charset="-122"/>
              </a:rPr>
              <a:t>的发送窗口向前滑动</a:t>
            </a:r>
          </a:p>
        </p:txBody>
      </p:sp>
      <p:sp>
        <p:nvSpPr>
          <p:cNvPr id="72708" name="Rectangle 6"/>
          <p:cNvSpPr>
            <a:spLocks noChangeArrowheads="1"/>
          </p:cNvSpPr>
          <p:nvPr/>
        </p:nvSpPr>
        <p:spPr bwMode="auto">
          <a:xfrm>
            <a:off x="2374900" y="1893888"/>
            <a:ext cx="5791200" cy="649287"/>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a:p>
        </p:txBody>
      </p:sp>
      <p:sp>
        <p:nvSpPr>
          <p:cNvPr id="72709" name="Rectangle 7"/>
          <p:cNvSpPr>
            <a:spLocks noChangeArrowheads="1"/>
          </p:cNvSpPr>
          <p:nvPr/>
        </p:nvSpPr>
        <p:spPr bwMode="auto">
          <a:xfrm>
            <a:off x="109538"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26</a:t>
            </a:r>
          </a:p>
        </p:txBody>
      </p:sp>
      <p:sp>
        <p:nvSpPr>
          <p:cNvPr id="72710" name="Rectangle 8"/>
          <p:cNvSpPr>
            <a:spLocks noChangeArrowheads="1"/>
          </p:cNvSpPr>
          <p:nvPr/>
        </p:nvSpPr>
        <p:spPr bwMode="auto">
          <a:xfrm>
            <a:off x="398463"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27</a:t>
            </a:r>
          </a:p>
        </p:txBody>
      </p:sp>
      <p:sp>
        <p:nvSpPr>
          <p:cNvPr id="72711" name="Rectangle 9"/>
          <p:cNvSpPr>
            <a:spLocks noChangeArrowheads="1"/>
          </p:cNvSpPr>
          <p:nvPr/>
        </p:nvSpPr>
        <p:spPr bwMode="auto">
          <a:xfrm>
            <a:off x="687388"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28</a:t>
            </a:r>
          </a:p>
        </p:txBody>
      </p:sp>
      <p:sp>
        <p:nvSpPr>
          <p:cNvPr id="72712" name="Rectangle 10"/>
          <p:cNvSpPr>
            <a:spLocks noChangeArrowheads="1"/>
          </p:cNvSpPr>
          <p:nvPr/>
        </p:nvSpPr>
        <p:spPr bwMode="auto">
          <a:xfrm>
            <a:off x="976313"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29</a:t>
            </a:r>
          </a:p>
        </p:txBody>
      </p:sp>
      <p:sp>
        <p:nvSpPr>
          <p:cNvPr id="72713" name="Rectangle 11"/>
          <p:cNvSpPr>
            <a:spLocks noChangeArrowheads="1"/>
          </p:cNvSpPr>
          <p:nvPr/>
        </p:nvSpPr>
        <p:spPr bwMode="auto">
          <a:xfrm>
            <a:off x="1265238"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30</a:t>
            </a:r>
          </a:p>
        </p:txBody>
      </p:sp>
      <p:sp>
        <p:nvSpPr>
          <p:cNvPr id="72714" name="Rectangle 12"/>
          <p:cNvSpPr>
            <a:spLocks noChangeArrowheads="1"/>
          </p:cNvSpPr>
          <p:nvPr/>
        </p:nvSpPr>
        <p:spPr bwMode="auto">
          <a:xfrm>
            <a:off x="1554163"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31</a:t>
            </a:r>
          </a:p>
        </p:txBody>
      </p:sp>
      <p:sp>
        <p:nvSpPr>
          <p:cNvPr id="72715" name="Rectangle 13"/>
          <p:cNvSpPr>
            <a:spLocks noChangeArrowheads="1"/>
          </p:cNvSpPr>
          <p:nvPr/>
        </p:nvSpPr>
        <p:spPr bwMode="auto">
          <a:xfrm>
            <a:off x="1843088"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32</a:t>
            </a:r>
          </a:p>
        </p:txBody>
      </p:sp>
      <p:sp>
        <p:nvSpPr>
          <p:cNvPr id="72716" name="Rectangle 14"/>
          <p:cNvSpPr>
            <a:spLocks noChangeArrowheads="1"/>
          </p:cNvSpPr>
          <p:nvPr/>
        </p:nvSpPr>
        <p:spPr bwMode="auto">
          <a:xfrm>
            <a:off x="2132013" y="20875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33</a:t>
            </a:r>
          </a:p>
        </p:txBody>
      </p:sp>
      <p:sp>
        <p:nvSpPr>
          <p:cNvPr id="72717" name="Rectangle 15"/>
          <p:cNvSpPr>
            <a:spLocks noChangeArrowheads="1"/>
          </p:cNvSpPr>
          <p:nvPr/>
        </p:nvSpPr>
        <p:spPr bwMode="auto">
          <a:xfrm>
            <a:off x="2420938"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34</a:t>
            </a:r>
          </a:p>
        </p:txBody>
      </p:sp>
      <p:sp>
        <p:nvSpPr>
          <p:cNvPr id="72718" name="Rectangle 16"/>
          <p:cNvSpPr>
            <a:spLocks noChangeArrowheads="1"/>
          </p:cNvSpPr>
          <p:nvPr/>
        </p:nvSpPr>
        <p:spPr bwMode="auto">
          <a:xfrm>
            <a:off x="2709863"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35</a:t>
            </a:r>
          </a:p>
        </p:txBody>
      </p:sp>
      <p:sp>
        <p:nvSpPr>
          <p:cNvPr id="72719" name="Rectangle 17"/>
          <p:cNvSpPr>
            <a:spLocks noChangeArrowheads="1"/>
          </p:cNvSpPr>
          <p:nvPr/>
        </p:nvSpPr>
        <p:spPr bwMode="auto">
          <a:xfrm>
            <a:off x="2998788"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36</a:t>
            </a:r>
          </a:p>
        </p:txBody>
      </p:sp>
      <p:sp>
        <p:nvSpPr>
          <p:cNvPr id="72720" name="Rectangle 18"/>
          <p:cNvSpPr>
            <a:spLocks noChangeArrowheads="1"/>
          </p:cNvSpPr>
          <p:nvPr/>
        </p:nvSpPr>
        <p:spPr bwMode="auto">
          <a:xfrm>
            <a:off x="3287713"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37</a:t>
            </a:r>
          </a:p>
        </p:txBody>
      </p:sp>
      <p:sp>
        <p:nvSpPr>
          <p:cNvPr id="72721" name="Rectangle 19"/>
          <p:cNvSpPr>
            <a:spLocks noChangeArrowheads="1"/>
          </p:cNvSpPr>
          <p:nvPr/>
        </p:nvSpPr>
        <p:spPr bwMode="auto">
          <a:xfrm>
            <a:off x="3576638"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38</a:t>
            </a:r>
          </a:p>
        </p:txBody>
      </p:sp>
      <p:sp>
        <p:nvSpPr>
          <p:cNvPr id="72722" name="Rectangle 20"/>
          <p:cNvSpPr>
            <a:spLocks noChangeArrowheads="1"/>
          </p:cNvSpPr>
          <p:nvPr/>
        </p:nvSpPr>
        <p:spPr bwMode="auto">
          <a:xfrm>
            <a:off x="3865563"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39</a:t>
            </a:r>
          </a:p>
        </p:txBody>
      </p:sp>
      <p:sp>
        <p:nvSpPr>
          <p:cNvPr id="72723" name="Rectangle 21"/>
          <p:cNvSpPr>
            <a:spLocks noChangeArrowheads="1"/>
          </p:cNvSpPr>
          <p:nvPr/>
        </p:nvSpPr>
        <p:spPr bwMode="auto">
          <a:xfrm>
            <a:off x="4154488" y="20875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40</a:t>
            </a:r>
          </a:p>
        </p:txBody>
      </p:sp>
      <p:sp>
        <p:nvSpPr>
          <p:cNvPr id="72724" name="Rectangle 22"/>
          <p:cNvSpPr>
            <a:spLocks noChangeArrowheads="1"/>
          </p:cNvSpPr>
          <p:nvPr/>
        </p:nvSpPr>
        <p:spPr bwMode="auto">
          <a:xfrm>
            <a:off x="4443413" y="208597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41</a:t>
            </a:r>
          </a:p>
        </p:txBody>
      </p:sp>
      <p:sp>
        <p:nvSpPr>
          <p:cNvPr id="72725" name="Rectangle 23"/>
          <p:cNvSpPr>
            <a:spLocks noChangeArrowheads="1"/>
          </p:cNvSpPr>
          <p:nvPr/>
        </p:nvSpPr>
        <p:spPr bwMode="auto">
          <a:xfrm>
            <a:off x="473233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42</a:t>
            </a:r>
          </a:p>
        </p:txBody>
      </p:sp>
      <p:sp>
        <p:nvSpPr>
          <p:cNvPr id="72726" name="Rectangle 24"/>
          <p:cNvSpPr>
            <a:spLocks noChangeArrowheads="1"/>
          </p:cNvSpPr>
          <p:nvPr/>
        </p:nvSpPr>
        <p:spPr bwMode="auto">
          <a:xfrm>
            <a:off x="502126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43</a:t>
            </a:r>
          </a:p>
        </p:txBody>
      </p:sp>
      <p:sp>
        <p:nvSpPr>
          <p:cNvPr id="72727" name="Rectangle 25"/>
          <p:cNvSpPr>
            <a:spLocks noChangeArrowheads="1"/>
          </p:cNvSpPr>
          <p:nvPr/>
        </p:nvSpPr>
        <p:spPr bwMode="auto">
          <a:xfrm>
            <a:off x="531018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44</a:t>
            </a:r>
          </a:p>
        </p:txBody>
      </p:sp>
      <p:sp>
        <p:nvSpPr>
          <p:cNvPr id="72728" name="Rectangle 26"/>
          <p:cNvSpPr>
            <a:spLocks noChangeArrowheads="1"/>
          </p:cNvSpPr>
          <p:nvPr/>
        </p:nvSpPr>
        <p:spPr bwMode="auto">
          <a:xfrm>
            <a:off x="559911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45</a:t>
            </a:r>
          </a:p>
        </p:txBody>
      </p:sp>
      <p:sp>
        <p:nvSpPr>
          <p:cNvPr id="72729" name="Rectangle 27"/>
          <p:cNvSpPr>
            <a:spLocks noChangeArrowheads="1"/>
          </p:cNvSpPr>
          <p:nvPr/>
        </p:nvSpPr>
        <p:spPr bwMode="auto">
          <a:xfrm>
            <a:off x="588803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46</a:t>
            </a:r>
          </a:p>
        </p:txBody>
      </p:sp>
      <p:sp>
        <p:nvSpPr>
          <p:cNvPr id="72730" name="Rectangle 28"/>
          <p:cNvSpPr>
            <a:spLocks noChangeArrowheads="1"/>
          </p:cNvSpPr>
          <p:nvPr/>
        </p:nvSpPr>
        <p:spPr bwMode="auto">
          <a:xfrm>
            <a:off x="617696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47</a:t>
            </a:r>
          </a:p>
        </p:txBody>
      </p:sp>
      <p:sp>
        <p:nvSpPr>
          <p:cNvPr id="72731" name="Rectangle 29"/>
          <p:cNvSpPr>
            <a:spLocks noChangeArrowheads="1"/>
          </p:cNvSpPr>
          <p:nvPr/>
        </p:nvSpPr>
        <p:spPr bwMode="auto">
          <a:xfrm>
            <a:off x="646588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48</a:t>
            </a:r>
          </a:p>
        </p:txBody>
      </p:sp>
      <p:sp>
        <p:nvSpPr>
          <p:cNvPr id="72732" name="Rectangle 30"/>
          <p:cNvSpPr>
            <a:spLocks noChangeArrowheads="1"/>
          </p:cNvSpPr>
          <p:nvPr/>
        </p:nvSpPr>
        <p:spPr bwMode="auto">
          <a:xfrm>
            <a:off x="675481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49</a:t>
            </a:r>
          </a:p>
        </p:txBody>
      </p:sp>
      <p:sp>
        <p:nvSpPr>
          <p:cNvPr id="72733" name="Rectangle 31"/>
          <p:cNvSpPr>
            <a:spLocks noChangeArrowheads="1"/>
          </p:cNvSpPr>
          <p:nvPr/>
        </p:nvSpPr>
        <p:spPr bwMode="auto">
          <a:xfrm>
            <a:off x="704373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50</a:t>
            </a:r>
          </a:p>
        </p:txBody>
      </p:sp>
      <p:sp>
        <p:nvSpPr>
          <p:cNvPr id="72734" name="Rectangle 32"/>
          <p:cNvSpPr>
            <a:spLocks noChangeArrowheads="1"/>
          </p:cNvSpPr>
          <p:nvPr/>
        </p:nvSpPr>
        <p:spPr bwMode="auto">
          <a:xfrm>
            <a:off x="733266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51</a:t>
            </a:r>
          </a:p>
        </p:txBody>
      </p:sp>
      <p:sp>
        <p:nvSpPr>
          <p:cNvPr id="72735" name="Rectangle 33"/>
          <p:cNvSpPr>
            <a:spLocks noChangeArrowheads="1"/>
          </p:cNvSpPr>
          <p:nvPr/>
        </p:nvSpPr>
        <p:spPr bwMode="auto">
          <a:xfrm>
            <a:off x="7621588"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52</a:t>
            </a:r>
          </a:p>
        </p:txBody>
      </p:sp>
      <p:sp>
        <p:nvSpPr>
          <p:cNvPr id="72736" name="Rectangle 34"/>
          <p:cNvSpPr>
            <a:spLocks noChangeArrowheads="1"/>
          </p:cNvSpPr>
          <p:nvPr/>
        </p:nvSpPr>
        <p:spPr bwMode="auto">
          <a:xfrm>
            <a:off x="7910513" y="20859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53</a:t>
            </a:r>
          </a:p>
        </p:txBody>
      </p:sp>
      <p:sp>
        <p:nvSpPr>
          <p:cNvPr id="72737" name="Rectangle 35"/>
          <p:cNvSpPr>
            <a:spLocks noChangeArrowheads="1"/>
          </p:cNvSpPr>
          <p:nvPr/>
        </p:nvSpPr>
        <p:spPr bwMode="auto">
          <a:xfrm>
            <a:off x="8199438" y="20859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54</a:t>
            </a:r>
          </a:p>
        </p:txBody>
      </p:sp>
      <p:sp>
        <p:nvSpPr>
          <p:cNvPr id="72738" name="Rectangle 36"/>
          <p:cNvSpPr>
            <a:spLocks noChangeArrowheads="1"/>
          </p:cNvSpPr>
          <p:nvPr/>
        </p:nvSpPr>
        <p:spPr bwMode="auto">
          <a:xfrm>
            <a:off x="8488363" y="20859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55</a:t>
            </a:r>
          </a:p>
        </p:txBody>
      </p:sp>
      <p:sp>
        <p:nvSpPr>
          <p:cNvPr id="72739" name="Text Box 37"/>
          <p:cNvSpPr txBox="1">
            <a:spLocks noChangeArrowheads="1"/>
          </p:cNvSpPr>
          <p:nvPr/>
        </p:nvSpPr>
        <p:spPr bwMode="auto">
          <a:xfrm>
            <a:off x="111125" y="2417763"/>
            <a:ext cx="2216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已发送并收到确认</a:t>
            </a:r>
          </a:p>
        </p:txBody>
      </p:sp>
      <p:sp>
        <p:nvSpPr>
          <p:cNvPr id="72740" name="Text Box 38"/>
          <p:cNvSpPr txBox="1">
            <a:spLocks noChangeArrowheads="1"/>
          </p:cNvSpPr>
          <p:nvPr/>
        </p:nvSpPr>
        <p:spPr bwMode="auto">
          <a:xfrm>
            <a:off x="8239125" y="2366963"/>
            <a:ext cx="946150"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不允许</a:t>
            </a:r>
          </a:p>
          <a:p>
            <a:pPr algn="ctr" eaLnBrk="1" hangingPunct="1"/>
            <a:r>
              <a:rPr lang="zh-CN" altLang="en-US" sz="2000">
                <a:solidFill>
                  <a:schemeClr val="folHlink"/>
                </a:solidFill>
                <a:latin typeface="Arial" pitchFamily="34" charset="0"/>
                <a:ea typeface="黑体" pitchFamily="49" charset="-122"/>
              </a:rPr>
              <a:t>发送</a:t>
            </a:r>
          </a:p>
        </p:txBody>
      </p:sp>
      <p:sp>
        <p:nvSpPr>
          <p:cNvPr id="72741" name="Text Box 39"/>
          <p:cNvSpPr txBox="1">
            <a:spLocks noChangeArrowheads="1"/>
          </p:cNvSpPr>
          <p:nvPr/>
        </p:nvSpPr>
        <p:spPr bwMode="auto">
          <a:xfrm>
            <a:off x="2792413" y="2549525"/>
            <a:ext cx="1708150"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已发送</a:t>
            </a:r>
          </a:p>
          <a:p>
            <a:pPr algn="ctr" eaLnBrk="1" hangingPunct="1"/>
            <a:r>
              <a:rPr lang="zh-CN" altLang="en-US" sz="2000">
                <a:solidFill>
                  <a:schemeClr val="folHlink"/>
                </a:solidFill>
                <a:latin typeface="Arial" pitchFamily="34" charset="0"/>
                <a:ea typeface="黑体" pitchFamily="49" charset="-122"/>
              </a:rPr>
              <a:t>但未收到确认</a:t>
            </a:r>
          </a:p>
        </p:txBody>
      </p:sp>
      <p:sp>
        <p:nvSpPr>
          <p:cNvPr id="72742" name="Rectangle 40"/>
          <p:cNvSpPr>
            <a:spLocks noChangeArrowheads="1"/>
          </p:cNvSpPr>
          <p:nvPr/>
        </p:nvSpPr>
        <p:spPr bwMode="auto">
          <a:xfrm>
            <a:off x="8769350" y="2085975"/>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56</a:t>
            </a:r>
          </a:p>
        </p:txBody>
      </p:sp>
      <p:sp>
        <p:nvSpPr>
          <p:cNvPr id="72743" name="Line 42"/>
          <p:cNvSpPr>
            <a:spLocks noChangeShapeType="1"/>
          </p:cNvSpPr>
          <p:nvPr/>
        </p:nvSpPr>
        <p:spPr bwMode="auto">
          <a:xfrm flipV="1">
            <a:off x="2519363" y="2398713"/>
            <a:ext cx="0" cy="5762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44" name="Text Box 43"/>
          <p:cNvSpPr txBox="1">
            <a:spLocks noChangeArrowheads="1"/>
          </p:cNvSpPr>
          <p:nvPr/>
        </p:nvSpPr>
        <p:spPr bwMode="auto">
          <a:xfrm>
            <a:off x="2295525" y="2924175"/>
            <a:ext cx="4460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1</a:t>
            </a:r>
          </a:p>
        </p:txBody>
      </p:sp>
      <p:sp>
        <p:nvSpPr>
          <p:cNvPr id="72745" name="Line 45"/>
          <p:cNvSpPr>
            <a:spLocks noChangeShapeType="1"/>
          </p:cNvSpPr>
          <p:nvPr/>
        </p:nvSpPr>
        <p:spPr bwMode="auto">
          <a:xfrm flipV="1">
            <a:off x="4846638" y="2398713"/>
            <a:ext cx="0" cy="5762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46" name="Text Box 46"/>
          <p:cNvSpPr txBox="1">
            <a:spLocks noChangeArrowheads="1"/>
          </p:cNvSpPr>
          <p:nvPr/>
        </p:nvSpPr>
        <p:spPr bwMode="auto">
          <a:xfrm>
            <a:off x="4678363" y="2924175"/>
            <a:ext cx="44608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2</a:t>
            </a:r>
          </a:p>
        </p:txBody>
      </p:sp>
      <p:sp>
        <p:nvSpPr>
          <p:cNvPr id="72747" name="Line 48"/>
          <p:cNvSpPr>
            <a:spLocks noChangeShapeType="1"/>
          </p:cNvSpPr>
          <p:nvPr/>
        </p:nvSpPr>
        <p:spPr bwMode="auto">
          <a:xfrm flipV="1">
            <a:off x="8308975" y="2398713"/>
            <a:ext cx="0" cy="576262"/>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48" name="Text Box 49"/>
          <p:cNvSpPr txBox="1">
            <a:spLocks noChangeArrowheads="1"/>
          </p:cNvSpPr>
          <p:nvPr/>
        </p:nvSpPr>
        <p:spPr bwMode="auto">
          <a:xfrm>
            <a:off x="8128000" y="2924175"/>
            <a:ext cx="4460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3</a:t>
            </a:r>
          </a:p>
        </p:txBody>
      </p:sp>
      <p:sp>
        <p:nvSpPr>
          <p:cNvPr id="72749" name="Line 50"/>
          <p:cNvSpPr>
            <a:spLocks noChangeShapeType="1"/>
          </p:cNvSpPr>
          <p:nvPr/>
        </p:nvSpPr>
        <p:spPr bwMode="auto">
          <a:xfrm rot="-5400000">
            <a:off x="7119938" y="1225550"/>
            <a:ext cx="1587" cy="950913"/>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50" name="Text Box 51"/>
          <p:cNvSpPr txBox="1">
            <a:spLocks noChangeArrowheads="1"/>
          </p:cNvSpPr>
          <p:nvPr/>
        </p:nvSpPr>
        <p:spPr bwMode="auto">
          <a:xfrm>
            <a:off x="4572000" y="5176838"/>
            <a:ext cx="1200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允许接收</a:t>
            </a:r>
          </a:p>
        </p:txBody>
      </p:sp>
      <p:sp>
        <p:nvSpPr>
          <p:cNvPr id="72751" name="Text Box 52"/>
          <p:cNvSpPr txBox="1">
            <a:spLocks noChangeArrowheads="1"/>
          </p:cNvSpPr>
          <p:nvPr/>
        </p:nvSpPr>
        <p:spPr bwMode="auto">
          <a:xfrm>
            <a:off x="3924300" y="4184650"/>
            <a:ext cx="270986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B </a:t>
            </a:r>
            <a:r>
              <a:rPr lang="zh-CN" altLang="en-US" sz="2000">
                <a:solidFill>
                  <a:schemeClr val="folHlink"/>
                </a:solidFill>
                <a:latin typeface="Arial" pitchFamily="34" charset="0"/>
                <a:ea typeface="黑体" pitchFamily="49" charset="-122"/>
              </a:rPr>
              <a:t>的接收窗口向前滑动</a:t>
            </a:r>
          </a:p>
        </p:txBody>
      </p:sp>
      <p:sp>
        <p:nvSpPr>
          <p:cNvPr id="72752" name="Rectangle 53"/>
          <p:cNvSpPr>
            <a:spLocks noChangeArrowheads="1"/>
          </p:cNvSpPr>
          <p:nvPr/>
        </p:nvSpPr>
        <p:spPr bwMode="auto">
          <a:xfrm>
            <a:off x="2373313" y="4508500"/>
            <a:ext cx="5791200" cy="649288"/>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a:p>
        </p:txBody>
      </p:sp>
      <p:sp>
        <p:nvSpPr>
          <p:cNvPr id="72753" name="Rectangle 54"/>
          <p:cNvSpPr>
            <a:spLocks noChangeArrowheads="1"/>
          </p:cNvSpPr>
          <p:nvPr/>
        </p:nvSpPr>
        <p:spPr bwMode="auto">
          <a:xfrm>
            <a:off x="107950"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26</a:t>
            </a:r>
          </a:p>
        </p:txBody>
      </p:sp>
      <p:sp>
        <p:nvSpPr>
          <p:cNvPr id="72754" name="Rectangle 55"/>
          <p:cNvSpPr>
            <a:spLocks noChangeArrowheads="1"/>
          </p:cNvSpPr>
          <p:nvPr/>
        </p:nvSpPr>
        <p:spPr bwMode="auto">
          <a:xfrm>
            <a:off x="396875"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27</a:t>
            </a:r>
          </a:p>
        </p:txBody>
      </p:sp>
      <p:sp>
        <p:nvSpPr>
          <p:cNvPr id="72755" name="Rectangle 56"/>
          <p:cNvSpPr>
            <a:spLocks noChangeArrowheads="1"/>
          </p:cNvSpPr>
          <p:nvPr/>
        </p:nvSpPr>
        <p:spPr bwMode="auto">
          <a:xfrm>
            <a:off x="685800"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28</a:t>
            </a:r>
          </a:p>
        </p:txBody>
      </p:sp>
      <p:sp>
        <p:nvSpPr>
          <p:cNvPr id="72756" name="Rectangle 57"/>
          <p:cNvSpPr>
            <a:spLocks noChangeArrowheads="1"/>
          </p:cNvSpPr>
          <p:nvPr/>
        </p:nvSpPr>
        <p:spPr bwMode="auto">
          <a:xfrm>
            <a:off x="974725"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29</a:t>
            </a:r>
          </a:p>
        </p:txBody>
      </p:sp>
      <p:sp>
        <p:nvSpPr>
          <p:cNvPr id="72757" name="Rectangle 58"/>
          <p:cNvSpPr>
            <a:spLocks noChangeArrowheads="1"/>
          </p:cNvSpPr>
          <p:nvPr/>
        </p:nvSpPr>
        <p:spPr bwMode="auto">
          <a:xfrm>
            <a:off x="1263650"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30</a:t>
            </a:r>
          </a:p>
        </p:txBody>
      </p:sp>
      <p:sp>
        <p:nvSpPr>
          <p:cNvPr id="72758" name="Rectangle 59"/>
          <p:cNvSpPr>
            <a:spLocks noChangeArrowheads="1"/>
          </p:cNvSpPr>
          <p:nvPr/>
        </p:nvSpPr>
        <p:spPr bwMode="auto">
          <a:xfrm>
            <a:off x="1552575"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31</a:t>
            </a:r>
          </a:p>
        </p:txBody>
      </p:sp>
      <p:sp>
        <p:nvSpPr>
          <p:cNvPr id="72759" name="Rectangle 60"/>
          <p:cNvSpPr>
            <a:spLocks noChangeArrowheads="1"/>
          </p:cNvSpPr>
          <p:nvPr/>
        </p:nvSpPr>
        <p:spPr bwMode="auto">
          <a:xfrm>
            <a:off x="1841500"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32</a:t>
            </a:r>
          </a:p>
        </p:txBody>
      </p:sp>
      <p:sp>
        <p:nvSpPr>
          <p:cNvPr id="72760" name="Rectangle 61"/>
          <p:cNvSpPr>
            <a:spLocks noChangeArrowheads="1"/>
          </p:cNvSpPr>
          <p:nvPr/>
        </p:nvSpPr>
        <p:spPr bwMode="auto">
          <a:xfrm>
            <a:off x="2130425" y="47021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33</a:t>
            </a:r>
          </a:p>
        </p:txBody>
      </p:sp>
      <p:sp>
        <p:nvSpPr>
          <p:cNvPr id="72761" name="Rectangle 62"/>
          <p:cNvSpPr>
            <a:spLocks noChangeArrowheads="1"/>
          </p:cNvSpPr>
          <p:nvPr/>
        </p:nvSpPr>
        <p:spPr bwMode="auto">
          <a:xfrm>
            <a:off x="2419350" y="47021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34</a:t>
            </a:r>
          </a:p>
        </p:txBody>
      </p:sp>
      <p:sp>
        <p:nvSpPr>
          <p:cNvPr id="72762" name="Rectangle 63"/>
          <p:cNvSpPr>
            <a:spLocks noChangeArrowheads="1"/>
          </p:cNvSpPr>
          <p:nvPr/>
        </p:nvSpPr>
        <p:spPr bwMode="auto">
          <a:xfrm>
            <a:off x="2708275" y="47021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35</a:t>
            </a:r>
          </a:p>
        </p:txBody>
      </p:sp>
      <p:sp>
        <p:nvSpPr>
          <p:cNvPr id="72763" name="Rectangle 64"/>
          <p:cNvSpPr>
            <a:spLocks noChangeArrowheads="1"/>
          </p:cNvSpPr>
          <p:nvPr/>
        </p:nvSpPr>
        <p:spPr bwMode="auto">
          <a:xfrm>
            <a:off x="2997200" y="47021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36</a:t>
            </a:r>
          </a:p>
        </p:txBody>
      </p:sp>
      <p:sp>
        <p:nvSpPr>
          <p:cNvPr id="72764" name="Rectangle 65"/>
          <p:cNvSpPr>
            <a:spLocks noChangeArrowheads="1"/>
          </p:cNvSpPr>
          <p:nvPr/>
        </p:nvSpPr>
        <p:spPr bwMode="auto">
          <a:xfrm>
            <a:off x="3286125" y="4702175"/>
            <a:ext cx="215900"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37</a:t>
            </a:r>
          </a:p>
        </p:txBody>
      </p:sp>
      <p:sp>
        <p:nvSpPr>
          <p:cNvPr id="72765" name="Rectangle 66"/>
          <p:cNvSpPr>
            <a:spLocks noChangeArrowheads="1"/>
          </p:cNvSpPr>
          <p:nvPr/>
        </p:nvSpPr>
        <p:spPr bwMode="auto">
          <a:xfrm>
            <a:off x="3575050" y="4702175"/>
            <a:ext cx="215900"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38</a:t>
            </a:r>
          </a:p>
        </p:txBody>
      </p:sp>
      <p:sp>
        <p:nvSpPr>
          <p:cNvPr id="72766" name="Rectangle 67"/>
          <p:cNvSpPr>
            <a:spLocks noChangeArrowheads="1"/>
          </p:cNvSpPr>
          <p:nvPr/>
        </p:nvSpPr>
        <p:spPr bwMode="auto">
          <a:xfrm>
            <a:off x="3863975" y="4702175"/>
            <a:ext cx="215900" cy="28733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39</a:t>
            </a:r>
          </a:p>
        </p:txBody>
      </p:sp>
      <p:sp>
        <p:nvSpPr>
          <p:cNvPr id="72767" name="Rectangle 68"/>
          <p:cNvSpPr>
            <a:spLocks noChangeArrowheads="1"/>
          </p:cNvSpPr>
          <p:nvPr/>
        </p:nvSpPr>
        <p:spPr bwMode="auto">
          <a:xfrm>
            <a:off x="4152900" y="4702175"/>
            <a:ext cx="215900" cy="287338"/>
          </a:xfrm>
          <a:prstGeom prst="rect">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40</a:t>
            </a:r>
          </a:p>
        </p:txBody>
      </p:sp>
      <p:sp>
        <p:nvSpPr>
          <p:cNvPr id="72768" name="Rectangle 69"/>
          <p:cNvSpPr>
            <a:spLocks noChangeArrowheads="1"/>
          </p:cNvSpPr>
          <p:nvPr/>
        </p:nvSpPr>
        <p:spPr bwMode="auto">
          <a:xfrm>
            <a:off x="444182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41</a:t>
            </a:r>
          </a:p>
        </p:txBody>
      </p:sp>
      <p:sp>
        <p:nvSpPr>
          <p:cNvPr id="72769" name="Rectangle 70"/>
          <p:cNvSpPr>
            <a:spLocks noChangeArrowheads="1"/>
          </p:cNvSpPr>
          <p:nvPr/>
        </p:nvSpPr>
        <p:spPr bwMode="auto">
          <a:xfrm>
            <a:off x="473075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42</a:t>
            </a:r>
          </a:p>
        </p:txBody>
      </p:sp>
      <p:sp>
        <p:nvSpPr>
          <p:cNvPr id="72770" name="Rectangle 71"/>
          <p:cNvSpPr>
            <a:spLocks noChangeArrowheads="1"/>
          </p:cNvSpPr>
          <p:nvPr/>
        </p:nvSpPr>
        <p:spPr bwMode="auto">
          <a:xfrm>
            <a:off x="501967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43</a:t>
            </a:r>
          </a:p>
        </p:txBody>
      </p:sp>
      <p:sp>
        <p:nvSpPr>
          <p:cNvPr id="72771" name="Rectangle 72"/>
          <p:cNvSpPr>
            <a:spLocks noChangeArrowheads="1"/>
          </p:cNvSpPr>
          <p:nvPr/>
        </p:nvSpPr>
        <p:spPr bwMode="auto">
          <a:xfrm>
            <a:off x="530860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44</a:t>
            </a:r>
          </a:p>
        </p:txBody>
      </p:sp>
      <p:sp>
        <p:nvSpPr>
          <p:cNvPr id="72772" name="Rectangle 73"/>
          <p:cNvSpPr>
            <a:spLocks noChangeArrowheads="1"/>
          </p:cNvSpPr>
          <p:nvPr/>
        </p:nvSpPr>
        <p:spPr bwMode="auto">
          <a:xfrm>
            <a:off x="559752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45</a:t>
            </a:r>
          </a:p>
        </p:txBody>
      </p:sp>
      <p:sp>
        <p:nvSpPr>
          <p:cNvPr id="72773" name="Rectangle 74"/>
          <p:cNvSpPr>
            <a:spLocks noChangeArrowheads="1"/>
          </p:cNvSpPr>
          <p:nvPr/>
        </p:nvSpPr>
        <p:spPr bwMode="auto">
          <a:xfrm>
            <a:off x="588645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46</a:t>
            </a:r>
          </a:p>
        </p:txBody>
      </p:sp>
      <p:sp>
        <p:nvSpPr>
          <p:cNvPr id="72774" name="Rectangle 75"/>
          <p:cNvSpPr>
            <a:spLocks noChangeArrowheads="1"/>
          </p:cNvSpPr>
          <p:nvPr/>
        </p:nvSpPr>
        <p:spPr bwMode="auto">
          <a:xfrm>
            <a:off x="617537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47</a:t>
            </a:r>
          </a:p>
        </p:txBody>
      </p:sp>
      <p:sp>
        <p:nvSpPr>
          <p:cNvPr id="72775" name="Rectangle 76"/>
          <p:cNvSpPr>
            <a:spLocks noChangeArrowheads="1"/>
          </p:cNvSpPr>
          <p:nvPr/>
        </p:nvSpPr>
        <p:spPr bwMode="auto">
          <a:xfrm>
            <a:off x="646430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48</a:t>
            </a:r>
          </a:p>
        </p:txBody>
      </p:sp>
      <p:sp>
        <p:nvSpPr>
          <p:cNvPr id="72776" name="Rectangle 77"/>
          <p:cNvSpPr>
            <a:spLocks noChangeArrowheads="1"/>
          </p:cNvSpPr>
          <p:nvPr/>
        </p:nvSpPr>
        <p:spPr bwMode="auto">
          <a:xfrm>
            <a:off x="675322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49</a:t>
            </a:r>
          </a:p>
        </p:txBody>
      </p:sp>
      <p:sp>
        <p:nvSpPr>
          <p:cNvPr id="72777" name="Rectangle 78"/>
          <p:cNvSpPr>
            <a:spLocks noChangeArrowheads="1"/>
          </p:cNvSpPr>
          <p:nvPr/>
        </p:nvSpPr>
        <p:spPr bwMode="auto">
          <a:xfrm>
            <a:off x="704215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50</a:t>
            </a:r>
          </a:p>
        </p:txBody>
      </p:sp>
      <p:sp>
        <p:nvSpPr>
          <p:cNvPr id="72778" name="Rectangle 79"/>
          <p:cNvSpPr>
            <a:spLocks noChangeArrowheads="1"/>
          </p:cNvSpPr>
          <p:nvPr/>
        </p:nvSpPr>
        <p:spPr bwMode="auto">
          <a:xfrm>
            <a:off x="733107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51</a:t>
            </a:r>
          </a:p>
        </p:txBody>
      </p:sp>
      <p:sp>
        <p:nvSpPr>
          <p:cNvPr id="72779" name="Rectangle 80"/>
          <p:cNvSpPr>
            <a:spLocks noChangeArrowheads="1"/>
          </p:cNvSpPr>
          <p:nvPr/>
        </p:nvSpPr>
        <p:spPr bwMode="auto">
          <a:xfrm>
            <a:off x="7620000"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52</a:t>
            </a:r>
          </a:p>
        </p:txBody>
      </p:sp>
      <p:sp>
        <p:nvSpPr>
          <p:cNvPr id="72780" name="Rectangle 81"/>
          <p:cNvSpPr>
            <a:spLocks noChangeArrowheads="1"/>
          </p:cNvSpPr>
          <p:nvPr/>
        </p:nvSpPr>
        <p:spPr bwMode="auto">
          <a:xfrm>
            <a:off x="7908925" y="4700588"/>
            <a:ext cx="215900" cy="28733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53</a:t>
            </a:r>
          </a:p>
        </p:txBody>
      </p:sp>
      <p:sp>
        <p:nvSpPr>
          <p:cNvPr id="72781" name="Rectangle 82"/>
          <p:cNvSpPr>
            <a:spLocks noChangeArrowheads="1"/>
          </p:cNvSpPr>
          <p:nvPr/>
        </p:nvSpPr>
        <p:spPr bwMode="auto">
          <a:xfrm>
            <a:off x="8197850" y="47005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54</a:t>
            </a:r>
          </a:p>
        </p:txBody>
      </p:sp>
      <p:sp>
        <p:nvSpPr>
          <p:cNvPr id="72782" name="Rectangle 83"/>
          <p:cNvSpPr>
            <a:spLocks noChangeArrowheads="1"/>
          </p:cNvSpPr>
          <p:nvPr/>
        </p:nvSpPr>
        <p:spPr bwMode="auto">
          <a:xfrm>
            <a:off x="8486775" y="47005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55</a:t>
            </a:r>
          </a:p>
        </p:txBody>
      </p:sp>
      <p:sp>
        <p:nvSpPr>
          <p:cNvPr id="72783" name="Text Box 84"/>
          <p:cNvSpPr txBox="1">
            <a:spLocks noChangeArrowheads="1"/>
          </p:cNvSpPr>
          <p:nvPr/>
        </p:nvSpPr>
        <p:spPr bwMode="auto">
          <a:xfrm>
            <a:off x="490538" y="5032375"/>
            <a:ext cx="1454150"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已发送确认</a:t>
            </a:r>
          </a:p>
          <a:p>
            <a:pPr algn="ctr" eaLnBrk="1" hangingPunct="1"/>
            <a:r>
              <a:rPr lang="zh-CN" altLang="en-US" sz="2000">
                <a:solidFill>
                  <a:schemeClr val="folHlink"/>
                </a:solidFill>
                <a:latin typeface="Arial" pitchFamily="34" charset="0"/>
                <a:ea typeface="黑体" pitchFamily="49" charset="-122"/>
              </a:rPr>
              <a:t>并交付主机</a:t>
            </a:r>
          </a:p>
        </p:txBody>
      </p:sp>
      <p:sp>
        <p:nvSpPr>
          <p:cNvPr id="72784" name="Text Box 85"/>
          <p:cNvSpPr txBox="1">
            <a:spLocks noChangeArrowheads="1"/>
          </p:cNvSpPr>
          <p:nvPr/>
        </p:nvSpPr>
        <p:spPr bwMode="auto">
          <a:xfrm>
            <a:off x="8172450" y="5032375"/>
            <a:ext cx="946150"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不允许</a:t>
            </a:r>
          </a:p>
          <a:p>
            <a:pPr algn="ctr" eaLnBrk="1" hangingPunct="1"/>
            <a:r>
              <a:rPr lang="zh-CN" altLang="en-US" sz="2000">
                <a:solidFill>
                  <a:schemeClr val="folHlink"/>
                </a:solidFill>
                <a:latin typeface="Arial" pitchFamily="34" charset="0"/>
                <a:ea typeface="黑体" pitchFamily="49" charset="-122"/>
              </a:rPr>
              <a:t>接收</a:t>
            </a:r>
          </a:p>
        </p:txBody>
      </p:sp>
      <p:sp>
        <p:nvSpPr>
          <p:cNvPr id="72785" name="Rectangle 86"/>
          <p:cNvSpPr>
            <a:spLocks noChangeArrowheads="1"/>
          </p:cNvSpPr>
          <p:nvPr/>
        </p:nvSpPr>
        <p:spPr bwMode="auto">
          <a:xfrm>
            <a:off x="8767763" y="4700588"/>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56</a:t>
            </a:r>
          </a:p>
        </p:txBody>
      </p:sp>
      <p:sp>
        <p:nvSpPr>
          <p:cNvPr id="72786" name="Line 87"/>
          <p:cNvSpPr>
            <a:spLocks noChangeShapeType="1"/>
          </p:cNvSpPr>
          <p:nvPr/>
        </p:nvSpPr>
        <p:spPr bwMode="auto">
          <a:xfrm rot="-5400000">
            <a:off x="7048500" y="3889376"/>
            <a:ext cx="1587" cy="950912"/>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87" name="Text Box 88"/>
          <p:cNvSpPr txBox="1">
            <a:spLocks noChangeArrowheads="1"/>
          </p:cNvSpPr>
          <p:nvPr/>
        </p:nvSpPr>
        <p:spPr bwMode="auto">
          <a:xfrm>
            <a:off x="3119438" y="5614988"/>
            <a:ext cx="1463675" cy="406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未按序收到</a:t>
            </a:r>
          </a:p>
        </p:txBody>
      </p:sp>
      <p:grpSp>
        <p:nvGrpSpPr>
          <p:cNvPr id="72788" name="Group 89"/>
          <p:cNvGrpSpPr>
            <a:grpSpLocks/>
          </p:cNvGrpSpPr>
          <p:nvPr/>
        </p:nvGrpSpPr>
        <p:grpSpPr bwMode="auto">
          <a:xfrm>
            <a:off x="3402013" y="5000625"/>
            <a:ext cx="857250" cy="588963"/>
            <a:chOff x="2143" y="3150"/>
            <a:chExt cx="540" cy="272"/>
          </a:xfrm>
        </p:grpSpPr>
        <p:sp>
          <p:nvSpPr>
            <p:cNvPr id="72791" name="Line 90"/>
            <p:cNvSpPr>
              <a:spLocks noChangeShapeType="1"/>
            </p:cNvSpPr>
            <p:nvPr/>
          </p:nvSpPr>
          <p:spPr bwMode="auto">
            <a:xfrm flipV="1">
              <a:off x="2143" y="3150"/>
              <a:ext cx="0" cy="27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92" name="Line 91"/>
            <p:cNvSpPr>
              <a:spLocks noChangeShapeType="1"/>
            </p:cNvSpPr>
            <p:nvPr/>
          </p:nvSpPr>
          <p:spPr bwMode="auto">
            <a:xfrm flipV="1">
              <a:off x="2325" y="3150"/>
              <a:ext cx="0" cy="27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93" name="Line 92"/>
            <p:cNvSpPr>
              <a:spLocks noChangeShapeType="1"/>
            </p:cNvSpPr>
            <p:nvPr/>
          </p:nvSpPr>
          <p:spPr bwMode="auto">
            <a:xfrm flipV="1">
              <a:off x="2683" y="3150"/>
              <a:ext cx="0" cy="27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789" name="Text Box 93"/>
          <p:cNvSpPr txBox="1">
            <a:spLocks noChangeArrowheads="1"/>
          </p:cNvSpPr>
          <p:nvPr/>
        </p:nvSpPr>
        <p:spPr bwMode="auto">
          <a:xfrm>
            <a:off x="1187450" y="257175"/>
            <a:ext cx="7192963" cy="588963"/>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200">
                <a:solidFill>
                  <a:schemeClr val="folHlink"/>
                </a:solidFill>
                <a:latin typeface="Arial" pitchFamily="34" charset="0"/>
                <a:ea typeface="黑体" pitchFamily="49" charset="-122"/>
              </a:rPr>
              <a:t>A </a:t>
            </a:r>
            <a:r>
              <a:rPr lang="zh-CN" altLang="en-US" sz="3200">
                <a:solidFill>
                  <a:schemeClr val="folHlink"/>
                </a:solidFill>
                <a:latin typeface="Arial" pitchFamily="34" charset="0"/>
                <a:ea typeface="黑体" pitchFamily="49" charset="-122"/>
              </a:rPr>
              <a:t>收到新的确认号，发送窗口向前滑动 </a:t>
            </a:r>
          </a:p>
        </p:txBody>
      </p:sp>
      <p:sp>
        <p:nvSpPr>
          <p:cNvPr id="72790" name="Text Box 94"/>
          <p:cNvSpPr txBox="1">
            <a:spLocks noChangeArrowheads="1"/>
          </p:cNvSpPr>
          <p:nvPr/>
        </p:nvSpPr>
        <p:spPr bwMode="auto">
          <a:xfrm>
            <a:off x="2678113" y="6092825"/>
            <a:ext cx="2470150" cy="7016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先存下，等待缺少的</a:t>
            </a:r>
          </a:p>
          <a:p>
            <a:pPr algn="ctr" eaLnBrk="1" hangingPunct="1"/>
            <a:r>
              <a:rPr lang="zh-CN" altLang="en-US" sz="2000">
                <a:solidFill>
                  <a:schemeClr val="folHlink"/>
                </a:solidFill>
                <a:latin typeface="Arial" pitchFamily="34" charset="0"/>
                <a:ea typeface="黑体" pitchFamily="49" charset="-122"/>
              </a:rPr>
              <a:t>数据的到达</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Text Box 4"/>
          <p:cNvSpPr txBox="1">
            <a:spLocks noChangeArrowheads="1"/>
          </p:cNvSpPr>
          <p:nvPr/>
        </p:nvSpPr>
        <p:spPr bwMode="auto">
          <a:xfrm>
            <a:off x="8239125" y="2555875"/>
            <a:ext cx="946150"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不允许</a:t>
            </a:r>
          </a:p>
          <a:p>
            <a:pPr algn="ctr" eaLnBrk="1" hangingPunct="1"/>
            <a:r>
              <a:rPr lang="zh-CN" altLang="en-US" sz="2000">
                <a:solidFill>
                  <a:schemeClr val="folHlink"/>
                </a:solidFill>
                <a:latin typeface="Arial" pitchFamily="34" charset="0"/>
                <a:ea typeface="黑体" pitchFamily="49" charset="-122"/>
              </a:rPr>
              <a:t>发送</a:t>
            </a:r>
          </a:p>
        </p:txBody>
      </p:sp>
      <p:sp>
        <p:nvSpPr>
          <p:cNvPr id="73731" name="Text Box 5"/>
          <p:cNvSpPr txBox="1">
            <a:spLocks noChangeArrowheads="1"/>
          </p:cNvSpPr>
          <p:nvPr/>
        </p:nvSpPr>
        <p:spPr bwMode="auto">
          <a:xfrm>
            <a:off x="111125" y="2600325"/>
            <a:ext cx="22161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000">
                <a:solidFill>
                  <a:schemeClr val="folHlink"/>
                </a:solidFill>
                <a:latin typeface="Arial" pitchFamily="34" charset="0"/>
                <a:ea typeface="黑体" pitchFamily="49" charset="-122"/>
              </a:rPr>
              <a:t>已发送并收到确认</a:t>
            </a:r>
          </a:p>
        </p:txBody>
      </p:sp>
      <p:sp>
        <p:nvSpPr>
          <p:cNvPr id="73732" name="Text Box 6"/>
          <p:cNvSpPr txBox="1">
            <a:spLocks noChangeArrowheads="1"/>
          </p:cNvSpPr>
          <p:nvPr/>
        </p:nvSpPr>
        <p:spPr bwMode="auto">
          <a:xfrm>
            <a:off x="3419475" y="1722438"/>
            <a:ext cx="3979863"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A </a:t>
            </a:r>
            <a:r>
              <a:rPr lang="zh-CN" altLang="en-US" sz="2000">
                <a:solidFill>
                  <a:schemeClr val="folHlink"/>
                </a:solidFill>
                <a:latin typeface="Arial" pitchFamily="34" charset="0"/>
                <a:ea typeface="黑体" pitchFamily="49" charset="-122"/>
              </a:rPr>
              <a:t>的发送窗口已满，有效窗口为零</a:t>
            </a:r>
          </a:p>
        </p:txBody>
      </p:sp>
      <p:sp>
        <p:nvSpPr>
          <p:cNvPr id="73733" name="Rectangle 7"/>
          <p:cNvSpPr>
            <a:spLocks noChangeArrowheads="1"/>
          </p:cNvSpPr>
          <p:nvPr/>
        </p:nvSpPr>
        <p:spPr bwMode="auto">
          <a:xfrm>
            <a:off x="2374900" y="2108200"/>
            <a:ext cx="5791200" cy="649288"/>
          </a:xfrm>
          <a:prstGeom prst="rect">
            <a:avLst/>
          </a:prstGeom>
          <a:solidFill>
            <a:srgbClr val="99C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prstDash val="dash"/>
                <a:miter lim="800000"/>
                <a:headEnd/>
                <a:tailEnd/>
              </a14:hiddenLine>
            </a:ext>
          </a:extLst>
        </p:spPr>
        <p:txBody>
          <a:bodyPr wrap="none" anchor="ctr"/>
          <a:lstStyle/>
          <a:p>
            <a:endParaRPr lang="zh-CN" altLang="en-US"/>
          </a:p>
        </p:txBody>
      </p:sp>
      <p:sp>
        <p:nvSpPr>
          <p:cNvPr id="73734" name="Rectangle 8"/>
          <p:cNvSpPr>
            <a:spLocks noChangeArrowheads="1"/>
          </p:cNvSpPr>
          <p:nvPr/>
        </p:nvSpPr>
        <p:spPr bwMode="auto">
          <a:xfrm>
            <a:off x="109538" y="232410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26</a:t>
            </a:r>
          </a:p>
        </p:txBody>
      </p:sp>
      <p:sp>
        <p:nvSpPr>
          <p:cNvPr id="73735" name="Rectangle 9"/>
          <p:cNvSpPr>
            <a:spLocks noChangeArrowheads="1"/>
          </p:cNvSpPr>
          <p:nvPr/>
        </p:nvSpPr>
        <p:spPr bwMode="auto">
          <a:xfrm>
            <a:off x="398463" y="232251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27</a:t>
            </a:r>
          </a:p>
        </p:txBody>
      </p:sp>
      <p:sp>
        <p:nvSpPr>
          <p:cNvPr id="73736" name="Rectangle 10"/>
          <p:cNvSpPr>
            <a:spLocks noChangeArrowheads="1"/>
          </p:cNvSpPr>
          <p:nvPr/>
        </p:nvSpPr>
        <p:spPr bwMode="auto">
          <a:xfrm>
            <a:off x="687388" y="232092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28</a:t>
            </a:r>
          </a:p>
        </p:txBody>
      </p:sp>
      <p:sp>
        <p:nvSpPr>
          <p:cNvPr id="73737" name="Rectangle 11"/>
          <p:cNvSpPr>
            <a:spLocks noChangeArrowheads="1"/>
          </p:cNvSpPr>
          <p:nvPr/>
        </p:nvSpPr>
        <p:spPr bwMode="auto">
          <a:xfrm>
            <a:off x="976313" y="231933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29</a:t>
            </a:r>
          </a:p>
        </p:txBody>
      </p:sp>
      <p:sp>
        <p:nvSpPr>
          <p:cNvPr id="73738" name="Rectangle 12"/>
          <p:cNvSpPr>
            <a:spLocks noChangeArrowheads="1"/>
          </p:cNvSpPr>
          <p:nvPr/>
        </p:nvSpPr>
        <p:spPr bwMode="auto">
          <a:xfrm>
            <a:off x="1265238" y="2317750"/>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30</a:t>
            </a:r>
          </a:p>
        </p:txBody>
      </p:sp>
      <p:sp>
        <p:nvSpPr>
          <p:cNvPr id="73739" name="Rectangle 13"/>
          <p:cNvSpPr>
            <a:spLocks noChangeArrowheads="1"/>
          </p:cNvSpPr>
          <p:nvPr/>
        </p:nvSpPr>
        <p:spPr bwMode="auto">
          <a:xfrm>
            <a:off x="1554163" y="2316163"/>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31</a:t>
            </a:r>
          </a:p>
        </p:txBody>
      </p:sp>
      <p:sp>
        <p:nvSpPr>
          <p:cNvPr id="73740" name="Rectangle 14"/>
          <p:cNvSpPr>
            <a:spLocks noChangeArrowheads="1"/>
          </p:cNvSpPr>
          <p:nvPr/>
        </p:nvSpPr>
        <p:spPr bwMode="auto">
          <a:xfrm>
            <a:off x="1843088" y="2314575"/>
            <a:ext cx="215900" cy="287338"/>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32</a:t>
            </a:r>
          </a:p>
        </p:txBody>
      </p:sp>
      <p:sp>
        <p:nvSpPr>
          <p:cNvPr id="73741" name="Rectangle 15"/>
          <p:cNvSpPr>
            <a:spLocks noChangeArrowheads="1"/>
          </p:cNvSpPr>
          <p:nvPr/>
        </p:nvSpPr>
        <p:spPr bwMode="auto">
          <a:xfrm>
            <a:off x="2132013" y="2312988"/>
            <a:ext cx="215900" cy="287337"/>
          </a:xfrm>
          <a:prstGeom prst="rect">
            <a:avLst/>
          </a:prstGeom>
          <a:solidFill>
            <a:srgbClr val="66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33</a:t>
            </a:r>
          </a:p>
        </p:txBody>
      </p:sp>
      <p:sp>
        <p:nvSpPr>
          <p:cNvPr id="73742" name="Rectangle 16"/>
          <p:cNvSpPr>
            <a:spLocks noChangeArrowheads="1"/>
          </p:cNvSpPr>
          <p:nvPr/>
        </p:nvSpPr>
        <p:spPr bwMode="auto">
          <a:xfrm>
            <a:off x="2420938" y="231140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34</a:t>
            </a:r>
          </a:p>
        </p:txBody>
      </p:sp>
      <p:sp>
        <p:nvSpPr>
          <p:cNvPr id="73743" name="Rectangle 17"/>
          <p:cNvSpPr>
            <a:spLocks noChangeArrowheads="1"/>
          </p:cNvSpPr>
          <p:nvPr/>
        </p:nvSpPr>
        <p:spPr bwMode="auto">
          <a:xfrm>
            <a:off x="2709863" y="230981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35</a:t>
            </a:r>
          </a:p>
        </p:txBody>
      </p:sp>
      <p:sp>
        <p:nvSpPr>
          <p:cNvPr id="73744" name="Rectangle 18"/>
          <p:cNvSpPr>
            <a:spLocks noChangeArrowheads="1"/>
          </p:cNvSpPr>
          <p:nvPr/>
        </p:nvSpPr>
        <p:spPr bwMode="auto">
          <a:xfrm>
            <a:off x="2998788" y="230822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36</a:t>
            </a:r>
          </a:p>
        </p:txBody>
      </p:sp>
      <p:sp>
        <p:nvSpPr>
          <p:cNvPr id="73745" name="Rectangle 19"/>
          <p:cNvSpPr>
            <a:spLocks noChangeArrowheads="1"/>
          </p:cNvSpPr>
          <p:nvPr/>
        </p:nvSpPr>
        <p:spPr bwMode="auto">
          <a:xfrm>
            <a:off x="3287713" y="230663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37</a:t>
            </a:r>
          </a:p>
        </p:txBody>
      </p:sp>
      <p:sp>
        <p:nvSpPr>
          <p:cNvPr id="73746" name="Rectangle 20"/>
          <p:cNvSpPr>
            <a:spLocks noChangeArrowheads="1"/>
          </p:cNvSpPr>
          <p:nvPr/>
        </p:nvSpPr>
        <p:spPr bwMode="auto">
          <a:xfrm>
            <a:off x="3576638" y="230505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38</a:t>
            </a:r>
          </a:p>
        </p:txBody>
      </p:sp>
      <p:sp>
        <p:nvSpPr>
          <p:cNvPr id="73747" name="Rectangle 21"/>
          <p:cNvSpPr>
            <a:spLocks noChangeArrowheads="1"/>
          </p:cNvSpPr>
          <p:nvPr/>
        </p:nvSpPr>
        <p:spPr bwMode="auto">
          <a:xfrm>
            <a:off x="3865563" y="23034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39</a:t>
            </a:r>
          </a:p>
        </p:txBody>
      </p:sp>
      <p:sp>
        <p:nvSpPr>
          <p:cNvPr id="73748" name="Rectangle 22"/>
          <p:cNvSpPr>
            <a:spLocks noChangeArrowheads="1"/>
          </p:cNvSpPr>
          <p:nvPr/>
        </p:nvSpPr>
        <p:spPr bwMode="auto">
          <a:xfrm>
            <a:off x="4154488" y="230187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40</a:t>
            </a:r>
          </a:p>
        </p:txBody>
      </p:sp>
      <p:sp>
        <p:nvSpPr>
          <p:cNvPr id="73749" name="Rectangle 23"/>
          <p:cNvSpPr>
            <a:spLocks noChangeArrowheads="1"/>
          </p:cNvSpPr>
          <p:nvPr/>
        </p:nvSpPr>
        <p:spPr bwMode="auto">
          <a:xfrm>
            <a:off x="4443413" y="230028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41</a:t>
            </a:r>
          </a:p>
        </p:txBody>
      </p:sp>
      <p:sp>
        <p:nvSpPr>
          <p:cNvPr id="73750" name="Rectangle 24"/>
          <p:cNvSpPr>
            <a:spLocks noChangeArrowheads="1"/>
          </p:cNvSpPr>
          <p:nvPr/>
        </p:nvSpPr>
        <p:spPr bwMode="auto">
          <a:xfrm>
            <a:off x="4732338" y="229870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42</a:t>
            </a:r>
          </a:p>
        </p:txBody>
      </p:sp>
      <p:sp>
        <p:nvSpPr>
          <p:cNvPr id="73751" name="Rectangle 25"/>
          <p:cNvSpPr>
            <a:spLocks noChangeArrowheads="1"/>
          </p:cNvSpPr>
          <p:nvPr/>
        </p:nvSpPr>
        <p:spPr bwMode="auto">
          <a:xfrm>
            <a:off x="5021263" y="229711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43</a:t>
            </a:r>
          </a:p>
        </p:txBody>
      </p:sp>
      <p:sp>
        <p:nvSpPr>
          <p:cNvPr id="73752" name="Rectangle 26"/>
          <p:cNvSpPr>
            <a:spLocks noChangeArrowheads="1"/>
          </p:cNvSpPr>
          <p:nvPr/>
        </p:nvSpPr>
        <p:spPr bwMode="auto">
          <a:xfrm>
            <a:off x="5310188" y="229552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44</a:t>
            </a:r>
          </a:p>
        </p:txBody>
      </p:sp>
      <p:sp>
        <p:nvSpPr>
          <p:cNvPr id="73753" name="Rectangle 27"/>
          <p:cNvSpPr>
            <a:spLocks noChangeArrowheads="1"/>
          </p:cNvSpPr>
          <p:nvPr/>
        </p:nvSpPr>
        <p:spPr bwMode="auto">
          <a:xfrm>
            <a:off x="5599113" y="229393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45</a:t>
            </a:r>
          </a:p>
        </p:txBody>
      </p:sp>
      <p:sp>
        <p:nvSpPr>
          <p:cNvPr id="73754" name="Rectangle 28"/>
          <p:cNvSpPr>
            <a:spLocks noChangeArrowheads="1"/>
          </p:cNvSpPr>
          <p:nvPr/>
        </p:nvSpPr>
        <p:spPr bwMode="auto">
          <a:xfrm>
            <a:off x="5888038" y="229235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46</a:t>
            </a:r>
          </a:p>
        </p:txBody>
      </p:sp>
      <p:sp>
        <p:nvSpPr>
          <p:cNvPr id="73755" name="Rectangle 29"/>
          <p:cNvSpPr>
            <a:spLocks noChangeArrowheads="1"/>
          </p:cNvSpPr>
          <p:nvPr/>
        </p:nvSpPr>
        <p:spPr bwMode="auto">
          <a:xfrm>
            <a:off x="6176963" y="229076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47</a:t>
            </a:r>
          </a:p>
        </p:txBody>
      </p:sp>
      <p:sp>
        <p:nvSpPr>
          <p:cNvPr id="73756" name="Rectangle 30"/>
          <p:cNvSpPr>
            <a:spLocks noChangeArrowheads="1"/>
          </p:cNvSpPr>
          <p:nvPr/>
        </p:nvSpPr>
        <p:spPr bwMode="auto">
          <a:xfrm>
            <a:off x="6465888" y="228917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48</a:t>
            </a:r>
          </a:p>
        </p:txBody>
      </p:sp>
      <p:sp>
        <p:nvSpPr>
          <p:cNvPr id="73757" name="Rectangle 31"/>
          <p:cNvSpPr>
            <a:spLocks noChangeArrowheads="1"/>
          </p:cNvSpPr>
          <p:nvPr/>
        </p:nvSpPr>
        <p:spPr bwMode="auto">
          <a:xfrm>
            <a:off x="6754813" y="228758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49</a:t>
            </a:r>
          </a:p>
        </p:txBody>
      </p:sp>
      <p:sp>
        <p:nvSpPr>
          <p:cNvPr id="73758" name="Rectangle 32"/>
          <p:cNvSpPr>
            <a:spLocks noChangeArrowheads="1"/>
          </p:cNvSpPr>
          <p:nvPr/>
        </p:nvSpPr>
        <p:spPr bwMode="auto">
          <a:xfrm>
            <a:off x="7043738" y="2286000"/>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50</a:t>
            </a:r>
          </a:p>
        </p:txBody>
      </p:sp>
      <p:sp>
        <p:nvSpPr>
          <p:cNvPr id="73759" name="Rectangle 33"/>
          <p:cNvSpPr>
            <a:spLocks noChangeArrowheads="1"/>
          </p:cNvSpPr>
          <p:nvPr/>
        </p:nvSpPr>
        <p:spPr bwMode="auto">
          <a:xfrm>
            <a:off x="7332663" y="2284413"/>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51</a:t>
            </a:r>
          </a:p>
        </p:txBody>
      </p:sp>
      <p:sp>
        <p:nvSpPr>
          <p:cNvPr id="73760" name="Rectangle 34"/>
          <p:cNvSpPr>
            <a:spLocks noChangeArrowheads="1"/>
          </p:cNvSpPr>
          <p:nvPr/>
        </p:nvSpPr>
        <p:spPr bwMode="auto">
          <a:xfrm>
            <a:off x="7621588" y="2282825"/>
            <a:ext cx="215900" cy="287338"/>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52</a:t>
            </a:r>
          </a:p>
        </p:txBody>
      </p:sp>
      <p:sp>
        <p:nvSpPr>
          <p:cNvPr id="73761" name="Rectangle 35"/>
          <p:cNvSpPr>
            <a:spLocks noChangeArrowheads="1"/>
          </p:cNvSpPr>
          <p:nvPr/>
        </p:nvSpPr>
        <p:spPr bwMode="auto">
          <a:xfrm>
            <a:off x="7910513" y="2281238"/>
            <a:ext cx="215900" cy="287337"/>
          </a:xfrm>
          <a:prstGeom prst="rect">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53</a:t>
            </a:r>
          </a:p>
        </p:txBody>
      </p:sp>
      <p:sp>
        <p:nvSpPr>
          <p:cNvPr id="73762" name="Rectangle 36"/>
          <p:cNvSpPr>
            <a:spLocks noChangeArrowheads="1"/>
          </p:cNvSpPr>
          <p:nvPr/>
        </p:nvSpPr>
        <p:spPr bwMode="auto">
          <a:xfrm>
            <a:off x="8199438" y="2279650"/>
            <a:ext cx="215900" cy="28733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54</a:t>
            </a:r>
          </a:p>
        </p:txBody>
      </p:sp>
      <p:sp>
        <p:nvSpPr>
          <p:cNvPr id="73763" name="Rectangle 37"/>
          <p:cNvSpPr>
            <a:spLocks noChangeArrowheads="1"/>
          </p:cNvSpPr>
          <p:nvPr/>
        </p:nvSpPr>
        <p:spPr bwMode="auto">
          <a:xfrm>
            <a:off x="8488363" y="227806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55</a:t>
            </a:r>
          </a:p>
        </p:txBody>
      </p:sp>
      <p:sp>
        <p:nvSpPr>
          <p:cNvPr id="73764" name="Text Box 38"/>
          <p:cNvSpPr txBox="1">
            <a:spLocks noChangeArrowheads="1"/>
          </p:cNvSpPr>
          <p:nvPr/>
        </p:nvSpPr>
        <p:spPr bwMode="auto">
          <a:xfrm>
            <a:off x="4287838" y="2763838"/>
            <a:ext cx="24701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已发送但未收到确认</a:t>
            </a:r>
          </a:p>
        </p:txBody>
      </p:sp>
      <p:sp>
        <p:nvSpPr>
          <p:cNvPr id="73765" name="Rectangle 39"/>
          <p:cNvSpPr>
            <a:spLocks noChangeArrowheads="1"/>
          </p:cNvSpPr>
          <p:nvPr/>
        </p:nvSpPr>
        <p:spPr bwMode="auto">
          <a:xfrm>
            <a:off x="8769350" y="2278063"/>
            <a:ext cx="215900" cy="28733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a:latin typeface="Times New Roman" pitchFamily="18" charset="0"/>
              </a:rPr>
              <a:t>56</a:t>
            </a:r>
          </a:p>
        </p:txBody>
      </p:sp>
      <p:sp>
        <p:nvSpPr>
          <p:cNvPr id="73766" name="Line 41"/>
          <p:cNvSpPr>
            <a:spLocks noChangeShapeType="1"/>
          </p:cNvSpPr>
          <p:nvPr/>
        </p:nvSpPr>
        <p:spPr bwMode="auto">
          <a:xfrm flipV="1">
            <a:off x="2519363" y="2613025"/>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67" name="Text Box 42"/>
          <p:cNvSpPr txBox="1">
            <a:spLocks noChangeArrowheads="1"/>
          </p:cNvSpPr>
          <p:nvPr/>
        </p:nvSpPr>
        <p:spPr bwMode="auto">
          <a:xfrm>
            <a:off x="2325688" y="3176588"/>
            <a:ext cx="44608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1</a:t>
            </a:r>
          </a:p>
        </p:txBody>
      </p:sp>
      <p:sp>
        <p:nvSpPr>
          <p:cNvPr id="73768" name="Text Box 43"/>
          <p:cNvSpPr txBox="1">
            <a:spLocks noChangeArrowheads="1"/>
          </p:cNvSpPr>
          <p:nvPr/>
        </p:nvSpPr>
        <p:spPr bwMode="auto">
          <a:xfrm>
            <a:off x="8128000" y="3176588"/>
            <a:ext cx="4460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2</a:t>
            </a:r>
          </a:p>
        </p:txBody>
      </p:sp>
      <p:sp>
        <p:nvSpPr>
          <p:cNvPr id="73769" name="Line 44"/>
          <p:cNvSpPr>
            <a:spLocks noChangeShapeType="1"/>
          </p:cNvSpPr>
          <p:nvPr/>
        </p:nvSpPr>
        <p:spPr bwMode="auto">
          <a:xfrm flipV="1">
            <a:off x="8286750" y="2565400"/>
            <a:ext cx="0" cy="576263"/>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70" name="Text Box 45"/>
          <p:cNvSpPr txBox="1">
            <a:spLocks noChangeArrowheads="1"/>
          </p:cNvSpPr>
          <p:nvPr/>
        </p:nvSpPr>
        <p:spPr bwMode="auto">
          <a:xfrm>
            <a:off x="8128000" y="3463925"/>
            <a:ext cx="4460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a:solidFill>
                  <a:schemeClr val="folHlink"/>
                </a:solidFill>
                <a:latin typeface="Arial" pitchFamily="34" charset="0"/>
              </a:rPr>
              <a:t>P</a:t>
            </a:r>
            <a:r>
              <a:rPr lang="en-US" altLang="zh-CN" sz="2000" baseline="-25000">
                <a:solidFill>
                  <a:schemeClr val="folHlink"/>
                </a:solidFill>
                <a:latin typeface="Arial" pitchFamily="34" charset="0"/>
              </a:rPr>
              <a:t>3</a:t>
            </a:r>
          </a:p>
        </p:txBody>
      </p:sp>
      <p:sp>
        <p:nvSpPr>
          <p:cNvPr id="73771" name="Text Box 46"/>
          <p:cNvSpPr txBox="1">
            <a:spLocks noChangeArrowheads="1"/>
          </p:cNvSpPr>
          <p:nvPr/>
        </p:nvSpPr>
        <p:spPr bwMode="auto">
          <a:xfrm>
            <a:off x="890588" y="201613"/>
            <a:ext cx="7215187" cy="107632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3200">
                <a:solidFill>
                  <a:schemeClr val="folHlink"/>
                </a:solidFill>
                <a:latin typeface="Arial" pitchFamily="34" charset="0"/>
                <a:ea typeface="黑体" pitchFamily="49" charset="-122"/>
              </a:rPr>
              <a:t>A </a:t>
            </a:r>
            <a:r>
              <a:rPr lang="zh-CN" altLang="en-US" sz="3200">
                <a:solidFill>
                  <a:schemeClr val="folHlink"/>
                </a:solidFill>
                <a:latin typeface="Arial" pitchFamily="34" charset="0"/>
                <a:ea typeface="黑体" pitchFamily="49" charset="-122"/>
              </a:rPr>
              <a:t>的发送窗口内的序号都已用完，</a:t>
            </a:r>
          </a:p>
          <a:p>
            <a:pPr algn="ctr" eaLnBrk="1" hangingPunct="1"/>
            <a:r>
              <a:rPr lang="zh-CN" altLang="en-US" sz="3200">
                <a:solidFill>
                  <a:schemeClr val="folHlink"/>
                </a:solidFill>
                <a:latin typeface="Arial" pitchFamily="34" charset="0"/>
                <a:ea typeface="黑体" pitchFamily="49" charset="-122"/>
              </a:rPr>
              <a:t>但还没有再收到确认，必须停止发送。 </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FF6D841-D7F7-4080-8A12-BA66E073153F}" type="slidenum">
              <a:rPr lang="en-US" altLang="zh-CN" sz="1400"/>
              <a:pPr eaLnBrk="1" hangingPunct="1"/>
              <a:t>71</a:t>
            </a:fld>
            <a:endParaRPr lang="en-US" altLang="zh-CN" sz="1400"/>
          </a:p>
        </p:txBody>
      </p:sp>
      <p:sp>
        <p:nvSpPr>
          <p:cNvPr id="74755" name="Rectangle 4"/>
          <p:cNvSpPr>
            <a:spLocks noGrp="1" noChangeArrowheads="1"/>
          </p:cNvSpPr>
          <p:nvPr>
            <p:ph type="title"/>
          </p:nvPr>
        </p:nvSpPr>
        <p:spPr>
          <a:xfrm>
            <a:off x="1150938" y="214313"/>
            <a:ext cx="6805612" cy="1462087"/>
          </a:xfrm>
        </p:spPr>
        <p:txBody>
          <a:bodyPr/>
          <a:lstStyle/>
          <a:p>
            <a:pPr algn="ctr" eaLnBrk="1" hangingPunct="1"/>
            <a:r>
              <a:rPr lang="zh-CN" altLang="en-US" smtClean="0"/>
              <a:t>发送缓存 </a:t>
            </a:r>
            <a:r>
              <a:rPr lang="en-US" altLang="zh-CN" smtClean="0"/>
              <a:t>p199</a:t>
            </a:r>
          </a:p>
        </p:txBody>
      </p:sp>
      <p:sp>
        <p:nvSpPr>
          <p:cNvPr id="74756" name="Line 5"/>
          <p:cNvSpPr>
            <a:spLocks noChangeShapeType="1"/>
          </p:cNvSpPr>
          <p:nvPr/>
        </p:nvSpPr>
        <p:spPr bwMode="auto">
          <a:xfrm flipV="1">
            <a:off x="1844675" y="3716338"/>
            <a:ext cx="523557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57" name="Text Box 6"/>
          <p:cNvSpPr txBox="1">
            <a:spLocks noChangeArrowheads="1"/>
          </p:cNvSpPr>
          <p:nvPr/>
        </p:nvSpPr>
        <p:spPr bwMode="auto">
          <a:xfrm>
            <a:off x="931863" y="5486400"/>
            <a:ext cx="1708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Arial" pitchFamily="34" charset="0"/>
                <a:ea typeface="黑体" pitchFamily="49" charset="-122"/>
              </a:rPr>
              <a:t>最后被确认</a:t>
            </a:r>
          </a:p>
          <a:p>
            <a:pPr algn="ctr" eaLnBrk="1" hangingPunct="1"/>
            <a:r>
              <a:rPr lang="zh-CN" altLang="en-US" sz="2400">
                <a:solidFill>
                  <a:schemeClr val="folHlink"/>
                </a:solidFill>
                <a:latin typeface="Arial" pitchFamily="34" charset="0"/>
                <a:ea typeface="黑体" pitchFamily="49" charset="-122"/>
              </a:rPr>
              <a:t>的字节</a:t>
            </a:r>
          </a:p>
        </p:txBody>
      </p:sp>
      <p:sp>
        <p:nvSpPr>
          <p:cNvPr id="74758" name="Rectangle 7"/>
          <p:cNvSpPr>
            <a:spLocks noChangeArrowheads="1"/>
          </p:cNvSpPr>
          <p:nvPr/>
        </p:nvSpPr>
        <p:spPr bwMode="auto">
          <a:xfrm>
            <a:off x="4786313" y="4527550"/>
            <a:ext cx="1611312" cy="534988"/>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59" name="Oval 8"/>
          <p:cNvSpPr>
            <a:spLocks noChangeArrowheads="1"/>
          </p:cNvSpPr>
          <p:nvPr/>
        </p:nvSpPr>
        <p:spPr bwMode="auto">
          <a:xfrm>
            <a:off x="2906713" y="2060575"/>
            <a:ext cx="2552700" cy="75406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algn="ctr"/>
            <a:r>
              <a:rPr lang="zh-CN" altLang="en-US" sz="2400">
                <a:solidFill>
                  <a:schemeClr val="folHlink"/>
                </a:solidFill>
                <a:latin typeface="Arial" pitchFamily="34" charset="0"/>
                <a:ea typeface="黑体" pitchFamily="49" charset="-122"/>
              </a:rPr>
              <a:t>发送应用程序</a:t>
            </a:r>
          </a:p>
        </p:txBody>
      </p:sp>
      <p:sp>
        <p:nvSpPr>
          <p:cNvPr id="74760" name="Line 9"/>
          <p:cNvSpPr>
            <a:spLocks noChangeShapeType="1"/>
          </p:cNvSpPr>
          <p:nvPr/>
        </p:nvSpPr>
        <p:spPr bwMode="auto">
          <a:xfrm>
            <a:off x="222250" y="3138488"/>
            <a:ext cx="8597900" cy="3175"/>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1" name="Rectangle 30"/>
          <p:cNvSpPr>
            <a:spLocks noChangeArrowheads="1"/>
          </p:cNvSpPr>
          <p:nvPr/>
        </p:nvSpPr>
        <p:spPr bwMode="auto">
          <a:xfrm>
            <a:off x="1831975" y="4314825"/>
            <a:ext cx="3627438" cy="962025"/>
          </a:xfrm>
          <a:prstGeom prst="rect">
            <a:avLst/>
          </a:prstGeom>
          <a:solidFill>
            <a:srgbClr val="99CCFF"/>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62" name="Line 10"/>
          <p:cNvSpPr>
            <a:spLocks noChangeShapeType="1"/>
          </p:cNvSpPr>
          <p:nvPr/>
        </p:nvSpPr>
        <p:spPr bwMode="auto">
          <a:xfrm>
            <a:off x="222250" y="4527550"/>
            <a:ext cx="7518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3" name="Line 11"/>
          <p:cNvSpPr>
            <a:spLocks noChangeShapeType="1"/>
          </p:cNvSpPr>
          <p:nvPr/>
        </p:nvSpPr>
        <p:spPr bwMode="auto">
          <a:xfrm>
            <a:off x="222250" y="5062538"/>
            <a:ext cx="7518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4" name="Line 12"/>
          <p:cNvSpPr>
            <a:spLocks noChangeShapeType="1"/>
          </p:cNvSpPr>
          <p:nvPr/>
        </p:nvSpPr>
        <p:spPr bwMode="auto">
          <a:xfrm>
            <a:off x="1831975" y="4527550"/>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5" name="Line 13"/>
          <p:cNvSpPr>
            <a:spLocks noChangeShapeType="1"/>
          </p:cNvSpPr>
          <p:nvPr/>
        </p:nvSpPr>
        <p:spPr bwMode="auto">
          <a:xfrm flipH="1">
            <a:off x="6397625" y="4527550"/>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6" name="Text Box 14"/>
          <p:cNvSpPr txBox="1">
            <a:spLocks noChangeArrowheads="1"/>
          </p:cNvSpPr>
          <p:nvPr/>
        </p:nvSpPr>
        <p:spPr bwMode="auto">
          <a:xfrm>
            <a:off x="3443288" y="3354388"/>
            <a:ext cx="1403350" cy="4587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发送缓存</a:t>
            </a:r>
          </a:p>
        </p:txBody>
      </p:sp>
      <p:sp>
        <p:nvSpPr>
          <p:cNvPr id="74767" name="Text Box 16"/>
          <p:cNvSpPr txBox="1">
            <a:spLocks noChangeArrowheads="1"/>
          </p:cNvSpPr>
          <p:nvPr/>
        </p:nvSpPr>
        <p:spPr bwMode="auto">
          <a:xfrm>
            <a:off x="4038600" y="5486400"/>
            <a:ext cx="14017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Arial" pitchFamily="34" charset="0"/>
                <a:ea typeface="黑体" pitchFamily="49" charset="-122"/>
              </a:rPr>
              <a:t>最后发送</a:t>
            </a:r>
          </a:p>
          <a:p>
            <a:pPr algn="ctr" eaLnBrk="1" hangingPunct="1"/>
            <a:r>
              <a:rPr lang="zh-CN" altLang="en-US" sz="2400">
                <a:solidFill>
                  <a:schemeClr val="folHlink"/>
                </a:solidFill>
                <a:latin typeface="Arial" pitchFamily="34" charset="0"/>
                <a:ea typeface="黑体" pitchFamily="49" charset="-122"/>
              </a:rPr>
              <a:t>的字节</a:t>
            </a:r>
          </a:p>
        </p:txBody>
      </p:sp>
      <p:sp>
        <p:nvSpPr>
          <p:cNvPr id="74768" name="Line 17"/>
          <p:cNvSpPr>
            <a:spLocks noChangeShapeType="1"/>
          </p:cNvSpPr>
          <p:nvPr/>
        </p:nvSpPr>
        <p:spPr bwMode="auto">
          <a:xfrm>
            <a:off x="4786313" y="4527550"/>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69" name="Text Box 18"/>
          <p:cNvSpPr txBox="1">
            <a:spLocks noChangeArrowheads="1"/>
          </p:cNvSpPr>
          <p:nvPr/>
        </p:nvSpPr>
        <p:spPr bwMode="auto">
          <a:xfrm>
            <a:off x="2881313" y="38354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发送窗口</a:t>
            </a:r>
          </a:p>
        </p:txBody>
      </p:sp>
      <p:sp>
        <p:nvSpPr>
          <p:cNvPr id="74770" name="Rectangle 19"/>
          <p:cNvSpPr>
            <a:spLocks noChangeArrowheads="1"/>
          </p:cNvSpPr>
          <p:nvPr/>
        </p:nvSpPr>
        <p:spPr bwMode="auto">
          <a:xfrm>
            <a:off x="1831975" y="4527550"/>
            <a:ext cx="2954338" cy="534988"/>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182" name="Text Box 22"/>
          <p:cNvSpPr txBox="1">
            <a:spLocks noChangeArrowheads="1"/>
          </p:cNvSpPr>
          <p:nvPr/>
        </p:nvSpPr>
        <p:spPr bwMode="auto">
          <a:xfrm>
            <a:off x="2752725" y="4503738"/>
            <a:ext cx="1250950" cy="51911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C9DE06"/>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defRPr/>
            </a:pPr>
            <a:r>
              <a:rPr lang="zh-CN" altLang="en-US">
                <a:solidFill>
                  <a:srgbClr val="C9DE06"/>
                </a:solidFill>
                <a:effectLst>
                  <a:outerShdw blurRad="38100" dist="38100" dir="2700000" algn="tl">
                    <a:srgbClr val="C0C0C0"/>
                  </a:outerShdw>
                </a:effectLst>
                <a:latin typeface="Arial" charset="0"/>
                <a:ea typeface="黑体" pitchFamily="2" charset="-122"/>
              </a:rPr>
              <a:t>已发送</a:t>
            </a:r>
          </a:p>
        </p:txBody>
      </p:sp>
      <p:grpSp>
        <p:nvGrpSpPr>
          <p:cNvPr id="74772" name="Group 35"/>
          <p:cNvGrpSpPr>
            <a:grpSpLocks/>
          </p:cNvGrpSpPr>
          <p:nvPr/>
        </p:nvGrpSpPr>
        <p:grpSpPr bwMode="auto">
          <a:xfrm>
            <a:off x="1831975" y="5062538"/>
            <a:ext cx="2954338" cy="500062"/>
            <a:chOff x="1154" y="3189"/>
            <a:chExt cx="1861" cy="270"/>
          </a:xfrm>
        </p:grpSpPr>
        <p:sp>
          <p:nvSpPr>
            <p:cNvPr id="74781" name="Line 15"/>
            <p:cNvSpPr>
              <a:spLocks noChangeShapeType="1"/>
            </p:cNvSpPr>
            <p:nvPr/>
          </p:nvSpPr>
          <p:spPr bwMode="auto">
            <a:xfrm flipV="1">
              <a:off x="1154" y="3189"/>
              <a:ext cx="0" cy="27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82" name="Line 23"/>
            <p:cNvSpPr>
              <a:spLocks noChangeShapeType="1"/>
            </p:cNvSpPr>
            <p:nvPr/>
          </p:nvSpPr>
          <p:spPr bwMode="auto">
            <a:xfrm flipV="1">
              <a:off x="3015" y="3189"/>
              <a:ext cx="0" cy="270"/>
            </a:xfrm>
            <a:prstGeom prst="line">
              <a:avLst/>
            </a:prstGeom>
            <a:noFill/>
            <a:ln w="5715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4773" name="Line 24"/>
          <p:cNvSpPr>
            <a:spLocks noChangeShapeType="1"/>
          </p:cNvSpPr>
          <p:nvPr/>
        </p:nvSpPr>
        <p:spPr bwMode="auto">
          <a:xfrm>
            <a:off x="1831975" y="3459163"/>
            <a:ext cx="0" cy="855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4" name="Line 25"/>
          <p:cNvSpPr>
            <a:spLocks noChangeShapeType="1"/>
          </p:cNvSpPr>
          <p:nvPr/>
        </p:nvSpPr>
        <p:spPr bwMode="auto">
          <a:xfrm>
            <a:off x="7069138" y="3459163"/>
            <a:ext cx="0" cy="1603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5" name="Freeform 26"/>
          <p:cNvSpPr>
            <a:spLocks/>
          </p:cNvSpPr>
          <p:nvPr/>
        </p:nvSpPr>
        <p:spPr bwMode="auto">
          <a:xfrm>
            <a:off x="4165600" y="2813050"/>
            <a:ext cx="2232025" cy="1714500"/>
          </a:xfrm>
          <a:custGeom>
            <a:avLst/>
            <a:gdLst>
              <a:gd name="T0" fmla="*/ 0 w 754"/>
              <a:gd name="T1" fmla="*/ 0 h 727"/>
              <a:gd name="T2" fmla="*/ 201297 w 754"/>
              <a:gd name="T3" fmla="*/ 396198 h 727"/>
              <a:gd name="T4" fmla="*/ 769664 w 754"/>
              <a:gd name="T5" fmla="*/ 594297 h 727"/>
              <a:gd name="T6" fmla="*/ 1681419 w 754"/>
              <a:gd name="T7" fmla="*/ 735796 h 727"/>
              <a:gd name="T8" fmla="*/ 2084013 w 754"/>
              <a:gd name="T9" fmla="*/ 981062 h 727"/>
              <a:gd name="T10" fmla="*/ 2190582 w 754"/>
              <a:gd name="T11" fmla="*/ 1348960 h 727"/>
              <a:gd name="T12" fmla="*/ 2232025 w 754"/>
              <a:gd name="T13" fmla="*/ 1714500 h 7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5715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6" name="Text Box 27"/>
          <p:cNvSpPr txBox="1">
            <a:spLocks noChangeArrowheads="1"/>
          </p:cNvSpPr>
          <p:nvPr/>
        </p:nvSpPr>
        <p:spPr bwMode="auto">
          <a:xfrm>
            <a:off x="609600" y="3114675"/>
            <a:ext cx="796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Arial" pitchFamily="34" charset="0"/>
                <a:ea typeface="黑体" pitchFamily="49" charset="-122"/>
              </a:rPr>
              <a:t>TCP</a:t>
            </a:r>
          </a:p>
        </p:txBody>
      </p:sp>
      <p:sp>
        <p:nvSpPr>
          <p:cNvPr id="74777" name="Freeform 28"/>
          <p:cNvSpPr>
            <a:spLocks/>
          </p:cNvSpPr>
          <p:nvPr/>
        </p:nvSpPr>
        <p:spPr bwMode="auto">
          <a:xfrm>
            <a:off x="7681913" y="4459288"/>
            <a:ext cx="130175" cy="636587"/>
          </a:xfrm>
          <a:custGeom>
            <a:avLst/>
            <a:gdLst>
              <a:gd name="T0" fmla="*/ 43392 w 36"/>
              <a:gd name="T1" fmla="*/ 0 h 286"/>
              <a:gd name="T2" fmla="*/ 130175 w 36"/>
              <a:gd name="T3" fmla="*/ 191421 h 286"/>
              <a:gd name="T4" fmla="*/ 28928 w 36"/>
              <a:gd name="T5" fmla="*/ 227035 h 286"/>
              <a:gd name="T6" fmla="*/ 101247 w 36"/>
              <a:gd name="T7" fmla="*/ 307164 h 286"/>
              <a:gd name="T8" fmla="*/ 0 w 36"/>
              <a:gd name="T9" fmla="*/ 351681 h 286"/>
              <a:gd name="T10" fmla="*/ 86783 w 36"/>
              <a:gd name="T11" fmla="*/ 467424 h 286"/>
              <a:gd name="T12" fmla="*/ 28928 w 36"/>
              <a:gd name="T13" fmla="*/ 529747 h 286"/>
              <a:gd name="T14" fmla="*/ 115711 w 36"/>
              <a:gd name="T15" fmla="*/ 636587 h 2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8" name="Freeform 29"/>
          <p:cNvSpPr>
            <a:spLocks/>
          </p:cNvSpPr>
          <p:nvPr/>
        </p:nvSpPr>
        <p:spPr bwMode="auto">
          <a:xfrm>
            <a:off x="133350" y="4483100"/>
            <a:ext cx="195263" cy="646113"/>
          </a:xfrm>
          <a:custGeom>
            <a:avLst/>
            <a:gdLst>
              <a:gd name="T0" fmla="*/ 41419 w 66"/>
              <a:gd name="T1" fmla="*/ 0 h 274"/>
              <a:gd name="T2" fmla="*/ 195263 w 66"/>
              <a:gd name="T3" fmla="*/ 108472 h 274"/>
              <a:gd name="T4" fmla="*/ 17751 w 66"/>
              <a:gd name="T5" fmla="*/ 198078 h 274"/>
              <a:gd name="T6" fmla="*/ 159761 w 66"/>
              <a:gd name="T7" fmla="*/ 320698 h 274"/>
              <a:gd name="T8" fmla="*/ 0 w 66"/>
              <a:gd name="T9" fmla="*/ 419738 h 274"/>
              <a:gd name="T10" fmla="*/ 159761 w 66"/>
              <a:gd name="T11" fmla="*/ 504628 h 274"/>
              <a:gd name="T12" fmla="*/ 35502 w 66"/>
              <a:gd name="T13" fmla="*/ 646113 h 2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79" name="Line 31"/>
          <p:cNvSpPr>
            <a:spLocks noChangeShapeType="1"/>
          </p:cNvSpPr>
          <p:nvPr/>
        </p:nvSpPr>
        <p:spPr bwMode="auto">
          <a:xfrm>
            <a:off x="6264275" y="5516563"/>
            <a:ext cx="1343025" cy="0"/>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80" name="Text Box 32"/>
          <p:cNvSpPr txBox="1">
            <a:spLocks noChangeArrowheads="1"/>
          </p:cNvSpPr>
          <p:nvPr/>
        </p:nvSpPr>
        <p:spPr bwMode="auto">
          <a:xfrm>
            <a:off x="6240463" y="54864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Arial" pitchFamily="34" charset="0"/>
                <a:ea typeface="黑体" pitchFamily="49" charset="-122"/>
              </a:rPr>
              <a:t>序号增大</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3187763-FBF6-43E2-B9A7-938AB89502DA}" type="slidenum">
              <a:rPr lang="en-US" altLang="zh-CN" sz="1400"/>
              <a:pPr eaLnBrk="1" hangingPunct="1"/>
              <a:t>72</a:t>
            </a:fld>
            <a:endParaRPr lang="en-US" altLang="zh-CN" sz="1400"/>
          </a:p>
        </p:txBody>
      </p:sp>
      <p:sp>
        <p:nvSpPr>
          <p:cNvPr id="75779" name="Rectangle 20"/>
          <p:cNvSpPr>
            <a:spLocks noChangeArrowheads="1"/>
          </p:cNvSpPr>
          <p:nvPr/>
        </p:nvSpPr>
        <p:spPr bwMode="auto">
          <a:xfrm>
            <a:off x="4181475" y="4360863"/>
            <a:ext cx="3659188" cy="1016000"/>
          </a:xfrm>
          <a:prstGeom prst="rect">
            <a:avLst/>
          </a:prstGeom>
          <a:solidFill>
            <a:srgbClr val="99CCFF"/>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0" name="Rectangle 4"/>
          <p:cNvSpPr>
            <a:spLocks noGrp="1" noChangeArrowheads="1"/>
          </p:cNvSpPr>
          <p:nvPr>
            <p:ph type="title"/>
          </p:nvPr>
        </p:nvSpPr>
        <p:spPr>
          <a:xfrm>
            <a:off x="1150938" y="214313"/>
            <a:ext cx="7524750" cy="1462087"/>
          </a:xfrm>
        </p:spPr>
        <p:txBody>
          <a:bodyPr/>
          <a:lstStyle/>
          <a:p>
            <a:pPr algn="ctr" eaLnBrk="1" hangingPunct="1"/>
            <a:r>
              <a:rPr lang="zh-CN" altLang="en-US" smtClean="0"/>
              <a:t>接收缓存</a:t>
            </a:r>
          </a:p>
        </p:txBody>
      </p:sp>
      <p:sp>
        <p:nvSpPr>
          <p:cNvPr id="75781" name="Oval 5"/>
          <p:cNvSpPr>
            <a:spLocks noChangeArrowheads="1"/>
          </p:cNvSpPr>
          <p:nvPr/>
        </p:nvSpPr>
        <p:spPr bwMode="auto">
          <a:xfrm>
            <a:off x="3776663" y="1979613"/>
            <a:ext cx="2573337" cy="796925"/>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algn="ctr"/>
            <a:r>
              <a:rPr lang="zh-CN" altLang="en-US" sz="2400">
                <a:solidFill>
                  <a:schemeClr val="folHlink"/>
                </a:solidFill>
                <a:latin typeface="Arial" pitchFamily="34" charset="0"/>
                <a:ea typeface="黑体" pitchFamily="49" charset="-122"/>
              </a:rPr>
              <a:t>接收应用程序</a:t>
            </a:r>
          </a:p>
        </p:txBody>
      </p:sp>
      <p:sp>
        <p:nvSpPr>
          <p:cNvPr id="75782" name="Line 6"/>
          <p:cNvSpPr>
            <a:spLocks noChangeShapeType="1"/>
          </p:cNvSpPr>
          <p:nvPr/>
        </p:nvSpPr>
        <p:spPr bwMode="auto">
          <a:xfrm>
            <a:off x="933450" y="3117850"/>
            <a:ext cx="7585075" cy="0"/>
          </a:xfrm>
          <a:prstGeom prst="line">
            <a:avLst/>
          </a:prstGeom>
          <a:noFill/>
          <a:ln w="381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3" name="Line 7"/>
          <p:cNvSpPr>
            <a:spLocks noChangeShapeType="1"/>
          </p:cNvSpPr>
          <p:nvPr/>
        </p:nvSpPr>
        <p:spPr bwMode="auto">
          <a:xfrm>
            <a:off x="1339850" y="4584700"/>
            <a:ext cx="7583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4" name="Line 8"/>
          <p:cNvSpPr>
            <a:spLocks noChangeShapeType="1"/>
          </p:cNvSpPr>
          <p:nvPr/>
        </p:nvSpPr>
        <p:spPr bwMode="auto">
          <a:xfrm>
            <a:off x="1339850" y="5151438"/>
            <a:ext cx="7583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5" name="Rectangle 9"/>
          <p:cNvSpPr>
            <a:spLocks noChangeArrowheads="1"/>
          </p:cNvSpPr>
          <p:nvPr/>
        </p:nvSpPr>
        <p:spPr bwMode="auto">
          <a:xfrm>
            <a:off x="2557463" y="4584700"/>
            <a:ext cx="1624012" cy="566738"/>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6" name="Rectangle 10"/>
          <p:cNvSpPr>
            <a:spLocks noChangeArrowheads="1"/>
          </p:cNvSpPr>
          <p:nvPr/>
        </p:nvSpPr>
        <p:spPr bwMode="auto">
          <a:xfrm>
            <a:off x="5265738" y="4584700"/>
            <a:ext cx="271462" cy="566738"/>
          </a:xfrm>
          <a:prstGeom prst="rect">
            <a:avLst/>
          </a:prstGeom>
          <a:solidFill>
            <a:srgbClr val="FF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7" name="Text Box 13"/>
          <p:cNvSpPr txBox="1">
            <a:spLocks noChangeArrowheads="1"/>
          </p:cNvSpPr>
          <p:nvPr/>
        </p:nvSpPr>
        <p:spPr bwMode="auto">
          <a:xfrm>
            <a:off x="2771775" y="4581525"/>
            <a:ext cx="1250950" cy="51911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C9DE06"/>
                </a:solidFill>
                <a:latin typeface="Arial" pitchFamily="34" charset="0"/>
                <a:ea typeface="黑体" pitchFamily="49" charset="-122"/>
              </a:rPr>
              <a:t>已收到</a:t>
            </a:r>
          </a:p>
        </p:txBody>
      </p:sp>
      <p:sp>
        <p:nvSpPr>
          <p:cNvPr id="75788" name="Text Box 14"/>
          <p:cNvSpPr txBox="1">
            <a:spLocks noChangeArrowheads="1"/>
          </p:cNvSpPr>
          <p:nvPr/>
        </p:nvSpPr>
        <p:spPr bwMode="auto">
          <a:xfrm>
            <a:off x="5329238" y="3908425"/>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接收窗口</a:t>
            </a:r>
          </a:p>
        </p:txBody>
      </p:sp>
      <p:sp>
        <p:nvSpPr>
          <p:cNvPr id="75789" name="Line 15"/>
          <p:cNvSpPr>
            <a:spLocks noChangeShapeType="1"/>
          </p:cNvSpPr>
          <p:nvPr/>
        </p:nvSpPr>
        <p:spPr bwMode="auto">
          <a:xfrm>
            <a:off x="2557463" y="3457575"/>
            <a:ext cx="0" cy="1127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0" name="Text Box 16"/>
          <p:cNvSpPr txBox="1">
            <a:spLocks noChangeArrowheads="1"/>
          </p:cNvSpPr>
          <p:nvPr/>
        </p:nvSpPr>
        <p:spPr bwMode="auto">
          <a:xfrm>
            <a:off x="784225" y="3114675"/>
            <a:ext cx="79375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400">
                <a:solidFill>
                  <a:schemeClr val="folHlink"/>
                </a:solidFill>
                <a:latin typeface="Arial" pitchFamily="34" charset="0"/>
                <a:ea typeface="黑体" pitchFamily="49" charset="-122"/>
              </a:rPr>
              <a:t>TCP</a:t>
            </a:r>
          </a:p>
        </p:txBody>
      </p:sp>
      <p:sp>
        <p:nvSpPr>
          <p:cNvPr id="75791" name="Line 17"/>
          <p:cNvSpPr>
            <a:spLocks noChangeShapeType="1"/>
          </p:cNvSpPr>
          <p:nvPr/>
        </p:nvSpPr>
        <p:spPr bwMode="auto">
          <a:xfrm flipV="1">
            <a:off x="2557463" y="3729038"/>
            <a:ext cx="5283200"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2" name="Text Box 18"/>
          <p:cNvSpPr txBox="1">
            <a:spLocks noChangeArrowheads="1"/>
          </p:cNvSpPr>
          <p:nvPr/>
        </p:nvSpPr>
        <p:spPr bwMode="auto">
          <a:xfrm>
            <a:off x="4321175" y="3476625"/>
            <a:ext cx="14033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400">
                <a:solidFill>
                  <a:schemeClr val="folHlink"/>
                </a:solidFill>
                <a:latin typeface="Arial" pitchFamily="34" charset="0"/>
                <a:ea typeface="黑体" pitchFamily="49" charset="-122"/>
              </a:rPr>
              <a:t>接收缓存</a:t>
            </a:r>
          </a:p>
        </p:txBody>
      </p:sp>
      <p:sp>
        <p:nvSpPr>
          <p:cNvPr id="75793" name="Line 19"/>
          <p:cNvSpPr>
            <a:spLocks noChangeShapeType="1"/>
          </p:cNvSpPr>
          <p:nvPr/>
        </p:nvSpPr>
        <p:spPr bwMode="auto">
          <a:xfrm>
            <a:off x="7827963" y="3457575"/>
            <a:ext cx="12700" cy="903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4" name="Freeform 21"/>
          <p:cNvSpPr>
            <a:spLocks/>
          </p:cNvSpPr>
          <p:nvPr/>
        </p:nvSpPr>
        <p:spPr bwMode="auto">
          <a:xfrm flipH="1">
            <a:off x="2557463" y="2779713"/>
            <a:ext cx="2251075" cy="1811337"/>
          </a:xfrm>
          <a:custGeom>
            <a:avLst/>
            <a:gdLst>
              <a:gd name="T0" fmla="*/ 0 w 754"/>
              <a:gd name="T1" fmla="*/ 0 h 727"/>
              <a:gd name="T2" fmla="*/ 203015 w 754"/>
              <a:gd name="T3" fmla="*/ 418576 h 727"/>
              <a:gd name="T4" fmla="*/ 776233 w 754"/>
              <a:gd name="T5" fmla="*/ 627864 h 727"/>
              <a:gd name="T6" fmla="*/ 1695770 w 754"/>
              <a:gd name="T7" fmla="*/ 777355 h 727"/>
              <a:gd name="T8" fmla="*/ 2101799 w 754"/>
              <a:gd name="T9" fmla="*/ 1036473 h 727"/>
              <a:gd name="T10" fmla="*/ 2209278 w 754"/>
              <a:gd name="T11" fmla="*/ 1425151 h 727"/>
              <a:gd name="T12" fmla="*/ 2251075 w 754"/>
              <a:gd name="T13" fmla="*/ 1811337 h 7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chemeClr val="hlink"/>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5" name="Text Box 22"/>
          <p:cNvSpPr txBox="1">
            <a:spLocks noChangeArrowheads="1"/>
          </p:cNvSpPr>
          <p:nvPr/>
        </p:nvSpPr>
        <p:spPr bwMode="auto">
          <a:xfrm>
            <a:off x="919163" y="3686175"/>
            <a:ext cx="1708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Arial" pitchFamily="34" charset="0"/>
                <a:ea typeface="黑体" pitchFamily="49" charset="-122"/>
              </a:rPr>
              <a:t>下一个读取</a:t>
            </a:r>
          </a:p>
          <a:p>
            <a:pPr algn="ctr" eaLnBrk="1" hangingPunct="1"/>
            <a:r>
              <a:rPr lang="zh-CN" altLang="en-US" sz="2400">
                <a:solidFill>
                  <a:schemeClr val="folHlink"/>
                </a:solidFill>
                <a:latin typeface="Arial" pitchFamily="34" charset="0"/>
                <a:ea typeface="黑体" pitchFamily="49" charset="-122"/>
              </a:rPr>
              <a:t>的字节</a:t>
            </a:r>
          </a:p>
        </p:txBody>
      </p:sp>
      <p:sp>
        <p:nvSpPr>
          <p:cNvPr id="75796" name="Line 23"/>
          <p:cNvSpPr>
            <a:spLocks noChangeShapeType="1"/>
          </p:cNvSpPr>
          <p:nvPr/>
        </p:nvSpPr>
        <p:spPr bwMode="auto">
          <a:xfrm>
            <a:off x="7165975" y="5661025"/>
            <a:ext cx="1355725" cy="0"/>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7" name="Text Box 24"/>
          <p:cNvSpPr txBox="1">
            <a:spLocks noChangeArrowheads="1"/>
          </p:cNvSpPr>
          <p:nvPr/>
        </p:nvSpPr>
        <p:spPr bwMode="auto">
          <a:xfrm>
            <a:off x="7146925" y="5661025"/>
            <a:ext cx="14033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Arial" pitchFamily="34" charset="0"/>
                <a:ea typeface="黑体" pitchFamily="49" charset="-122"/>
              </a:rPr>
              <a:t>序号增大</a:t>
            </a:r>
          </a:p>
        </p:txBody>
      </p:sp>
      <p:sp>
        <p:nvSpPr>
          <p:cNvPr id="75798" name="Text Box 25"/>
          <p:cNvSpPr txBox="1">
            <a:spLocks noChangeArrowheads="1"/>
          </p:cNvSpPr>
          <p:nvPr/>
        </p:nvSpPr>
        <p:spPr bwMode="auto">
          <a:xfrm>
            <a:off x="2825750" y="5734050"/>
            <a:ext cx="2622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zh-CN" altLang="en-US" sz="2400">
                <a:solidFill>
                  <a:schemeClr val="folHlink"/>
                </a:solidFill>
                <a:latin typeface="Arial" pitchFamily="34" charset="0"/>
                <a:ea typeface="黑体" pitchFamily="49" charset="-122"/>
              </a:rPr>
              <a:t>下一个期望收到的</a:t>
            </a:r>
          </a:p>
          <a:p>
            <a:pPr algn="ctr" eaLnBrk="1" hangingPunct="1"/>
            <a:r>
              <a:rPr lang="zh-CN" altLang="en-US" sz="2400">
                <a:solidFill>
                  <a:schemeClr val="folHlink"/>
                </a:solidFill>
                <a:latin typeface="Arial" pitchFamily="34" charset="0"/>
                <a:ea typeface="黑体" pitchFamily="49" charset="-122"/>
              </a:rPr>
              <a:t>字节（确认号）</a:t>
            </a:r>
          </a:p>
        </p:txBody>
      </p:sp>
      <p:sp>
        <p:nvSpPr>
          <p:cNvPr id="75799" name="Line 26"/>
          <p:cNvSpPr>
            <a:spLocks noChangeShapeType="1"/>
          </p:cNvSpPr>
          <p:nvPr/>
        </p:nvSpPr>
        <p:spPr bwMode="auto">
          <a:xfrm flipV="1">
            <a:off x="4178300" y="5151438"/>
            <a:ext cx="3175" cy="62230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0" name="Freeform 27"/>
          <p:cNvSpPr>
            <a:spLocks/>
          </p:cNvSpPr>
          <p:nvPr/>
        </p:nvSpPr>
        <p:spPr bwMode="auto">
          <a:xfrm>
            <a:off x="8878888" y="4513263"/>
            <a:ext cx="131762" cy="673100"/>
          </a:xfrm>
          <a:custGeom>
            <a:avLst/>
            <a:gdLst>
              <a:gd name="T0" fmla="*/ 43921 w 36"/>
              <a:gd name="T1" fmla="*/ 0 h 286"/>
              <a:gd name="T2" fmla="*/ 131762 w 36"/>
              <a:gd name="T3" fmla="*/ 202401 h 286"/>
              <a:gd name="T4" fmla="*/ 29280 w 36"/>
              <a:gd name="T5" fmla="*/ 240057 h 286"/>
              <a:gd name="T6" fmla="*/ 102482 w 36"/>
              <a:gd name="T7" fmla="*/ 324783 h 286"/>
              <a:gd name="T8" fmla="*/ 0 w 36"/>
              <a:gd name="T9" fmla="*/ 371852 h 286"/>
              <a:gd name="T10" fmla="*/ 87841 w 36"/>
              <a:gd name="T11" fmla="*/ 494234 h 286"/>
              <a:gd name="T12" fmla="*/ 29280 w 36"/>
              <a:gd name="T13" fmla="*/ 560132 h 286"/>
              <a:gd name="T14" fmla="*/ 117122 w 36"/>
              <a:gd name="T15" fmla="*/ 673100 h 2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1" name="Freeform 28"/>
          <p:cNvSpPr>
            <a:spLocks/>
          </p:cNvSpPr>
          <p:nvPr/>
        </p:nvSpPr>
        <p:spPr bwMode="auto">
          <a:xfrm>
            <a:off x="1276350" y="4538663"/>
            <a:ext cx="196850" cy="682625"/>
          </a:xfrm>
          <a:custGeom>
            <a:avLst/>
            <a:gdLst>
              <a:gd name="T0" fmla="*/ 41756 w 66"/>
              <a:gd name="T1" fmla="*/ 0 h 274"/>
              <a:gd name="T2" fmla="*/ 196850 w 66"/>
              <a:gd name="T3" fmla="*/ 114601 h 274"/>
              <a:gd name="T4" fmla="*/ 17895 w 66"/>
              <a:gd name="T5" fmla="*/ 209272 h 274"/>
              <a:gd name="T6" fmla="*/ 161059 w 66"/>
              <a:gd name="T7" fmla="*/ 338821 h 274"/>
              <a:gd name="T8" fmla="*/ 0 w 66"/>
              <a:gd name="T9" fmla="*/ 443457 h 274"/>
              <a:gd name="T10" fmla="*/ 161059 w 66"/>
              <a:gd name="T11" fmla="*/ 533145 h 274"/>
              <a:gd name="T12" fmla="*/ 35791 w 66"/>
              <a:gd name="T13" fmla="*/ 682625 h 2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A40DE72C-F8B0-4EBB-968A-1DBD560886F6}" type="slidenum">
              <a:rPr lang="en-US" altLang="zh-CN" sz="1400"/>
              <a:pPr eaLnBrk="1" hangingPunct="1"/>
              <a:t>73</a:t>
            </a:fld>
            <a:endParaRPr lang="en-US" altLang="zh-CN" sz="1400"/>
          </a:p>
        </p:txBody>
      </p:sp>
      <p:sp>
        <p:nvSpPr>
          <p:cNvPr id="76803" name="Rectangle 2"/>
          <p:cNvSpPr>
            <a:spLocks noGrp="1" noChangeArrowheads="1"/>
          </p:cNvSpPr>
          <p:nvPr>
            <p:ph type="title"/>
          </p:nvPr>
        </p:nvSpPr>
        <p:spPr/>
        <p:txBody>
          <a:bodyPr/>
          <a:lstStyle/>
          <a:p>
            <a:pPr eaLnBrk="1" hangingPunct="1"/>
            <a:endParaRPr lang="zh-CN" altLang="zh-CN" smtClean="0"/>
          </a:p>
        </p:txBody>
      </p:sp>
      <p:sp>
        <p:nvSpPr>
          <p:cNvPr id="76804" name="Rectangle 3"/>
          <p:cNvSpPr>
            <a:spLocks noGrp="1" noChangeArrowheads="1"/>
          </p:cNvSpPr>
          <p:nvPr>
            <p:ph type="body" idx="1"/>
          </p:nvPr>
        </p:nvSpPr>
        <p:spPr/>
        <p:txBody>
          <a:bodyPr/>
          <a:lstStyle/>
          <a:p>
            <a:pPr eaLnBrk="1" hangingPunct="1"/>
            <a:r>
              <a:rPr lang="en-US" altLang="zh-CN" smtClean="0"/>
              <a:t>5-13</a:t>
            </a:r>
          </a:p>
          <a:p>
            <a:pPr eaLnBrk="1" hangingPunct="1"/>
            <a:r>
              <a:rPr lang="en-US" altLang="zh-CN" smtClean="0"/>
              <a:t>5-26</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5E9BDEF-D7A2-4583-B631-AA2E18A13386}" type="slidenum">
              <a:rPr lang="en-US" altLang="zh-CN" sz="1400"/>
              <a:pPr eaLnBrk="1" hangingPunct="1"/>
              <a:t>74</a:t>
            </a:fld>
            <a:endParaRPr lang="en-US" altLang="zh-CN" sz="1400"/>
          </a:p>
        </p:txBody>
      </p:sp>
      <p:sp>
        <p:nvSpPr>
          <p:cNvPr id="77827" name="Rectangle 2"/>
          <p:cNvSpPr>
            <a:spLocks noGrp="1" noChangeArrowheads="1"/>
          </p:cNvSpPr>
          <p:nvPr>
            <p:ph type="title"/>
          </p:nvPr>
        </p:nvSpPr>
        <p:spPr/>
        <p:txBody>
          <a:bodyPr/>
          <a:lstStyle/>
          <a:p>
            <a:pPr algn="ctr" eaLnBrk="1" hangingPunct="1"/>
            <a:r>
              <a:rPr lang="zh-CN" altLang="en-US" smtClean="0"/>
              <a:t>发送缓存与接收缓存的作用</a:t>
            </a:r>
          </a:p>
        </p:txBody>
      </p:sp>
      <p:sp>
        <p:nvSpPr>
          <p:cNvPr id="77828" name="Rectangle 3"/>
          <p:cNvSpPr>
            <a:spLocks noGrp="1" noChangeArrowheads="1"/>
          </p:cNvSpPr>
          <p:nvPr>
            <p:ph type="body" idx="1"/>
          </p:nvPr>
        </p:nvSpPr>
        <p:spPr/>
        <p:txBody>
          <a:bodyPr/>
          <a:lstStyle/>
          <a:p>
            <a:pPr eaLnBrk="1" hangingPunct="1"/>
            <a:r>
              <a:rPr lang="zh-CN" altLang="en-US" smtClean="0"/>
              <a:t>发送缓存用来暂时存放：</a:t>
            </a:r>
          </a:p>
          <a:p>
            <a:pPr lvl="1" eaLnBrk="1" hangingPunct="1"/>
            <a:r>
              <a:rPr lang="zh-CN" altLang="en-US" smtClean="0"/>
              <a:t> </a:t>
            </a:r>
            <a:r>
              <a:rPr lang="zh-CN" altLang="en-US" smtClean="0">
                <a:solidFill>
                  <a:schemeClr val="folHlink"/>
                </a:solidFill>
                <a:latin typeface="Arial" pitchFamily="34" charset="0"/>
                <a:ea typeface="黑体" pitchFamily="49" charset="-122"/>
              </a:rPr>
              <a:t>发送应用程序传送给发送方 </a:t>
            </a:r>
            <a:r>
              <a:rPr lang="en-US" altLang="zh-CN" smtClean="0">
                <a:solidFill>
                  <a:schemeClr val="folHlink"/>
                </a:solidFill>
                <a:latin typeface="Arial" pitchFamily="34" charset="0"/>
                <a:ea typeface="黑体" pitchFamily="49" charset="-122"/>
              </a:rPr>
              <a:t>TCP </a:t>
            </a:r>
            <a:r>
              <a:rPr lang="zh-CN" altLang="en-US" smtClean="0">
                <a:solidFill>
                  <a:schemeClr val="folHlink"/>
                </a:solidFill>
                <a:latin typeface="Arial" pitchFamily="34" charset="0"/>
                <a:ea typeface="黑体" pitchFamily="49" charset="-122"/>
              </a:rPr>
              <a:t>准备发送的数据；</a:t>
            </a:r>
          </a:p>
          <a:p>
            <a:pPr lvl="1" eaLnBrk="1" hangingPunct="1"/>
            <a:r>
              <a:rPr lang="zh-CN" altLang="en-US" smtClean="0">
                <a:solidFill>
                  <a:schemeClr val="folHlink"/>
                </a:solidFill>
                <a:latin typeface="Arial" pitchFamily="34" charset="0"/>
                <a:ea typeface="黑体" pitchFamily="49" charset="-122"/>
              </a:rPr>
              <a:t> </a:t>
            </a:r>
            <a:r>
              <a:rPr lang="en-US" altLang="zh-CN" smtClean="0">
                <a:solidFill>
                  <a:schemeClr val="folHlink"/>
                </a:solidFill>
                <a:latin typeface="Arial" pitchFamily="34" charset="0"/>
                <a:ea typeface="黑体" pitchFamily="49" charset="-122"/>
              </a:rPr>
              <a:t>TCP </a:t>
            </a:r>
            <a:r>
              <a:rPr lang="zh-CN" altLang="en-US" smtClean="0">
                <a:solidFill>
                  <a:schemeClr val="folHlink"/>
                </a:solidFill>
                <a:latin typeface="Arial" pitchFamily="34" charset="0"/>
                <a:ea typeface="黑体" pitchFamily="49" charset="-122"/>
              </a:rPr>
              <a:t>已发送出但尚未收到确认的数据。</a:t>
            </a:r>
          </a:p>
          <a:p>
            <a:pPr eaLnBrk="1" hangingPunct="1"/>
            <a:r>
              <a:rPr lang="zh-CN" altLang="en-US" smtClean="0"/>
              <a:t>接收缓存用来暂时存放：</a:t>
            </a:r>
          </a:p>
          <a:p>
            <a:pPr lvl="1" eaLnBrk="1" hangingPunct="1"/>
            <a:r>
              <a:rPr lang="zh-CN" altLang="en-US" smtClean="0"/>
              <a:t> </a:t>
            </a:r>
            <a:r>
              <a:rPr lang="zh-CN" altLang="en-US" smtClean="0">
                <a:solidFill>
                  <a:schemeClr val="folHlink"/>
                </a:solidFill>
                <a:latin typeface="黑体" pitchFamily="49" charset="-122"/>
                <a:ea typeface="黑体" pitchFamily="49" charset="-122"/>
              </a:rPr>
              <a:t>按序到达的、但尚未被接收应用程序读取的数据；</a:t>
            </a:r>
          </a:p>
          <a:p>
            <a:pPr lvl="1" eaLnBrk="1" hangingPunct="1"/>
            <a:r>
              <a:rPr lang="zh-CN" altLang="en-US" smtClean="0">
                <a:solidFill>
                  <a:schemeClr val="folHlink"/>
                </a:solidFill>
                <a:latin typeface="黑体" pitchFamily="49" charset="-122"/>
                <a:ea typeface="黑体" pitchFamily="49" charset="-122"/>
              </a:rPr>
              <a:t> 不按序到达的数据。</a:t>
            </a:r>
            <a:r>
              <a:rPr lang="zh-CN" altLang="en-US" smtClean="0"/>
              <a:t> </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DAE1C51-2007-4B0C-BDBD-8D7F206A42E6}" type="slidenum">
              <a:rPr lang="en-US" altLang="zh-CN" sz="1400"/>
              <a:pPr eaLnBrk="1" hangingPunct="1"/>
              <a:t>75</a:t>
            </a:fld>
            <a:endParaRPr lang="en-US" altLang="zh-CN" sz="1400"/>
          </a:p>
        </p:txBody>
      </p:sp>
      <p:sp>
        <p:nvSpPr>
          <p:cNvPr id="78851" name="Rectangle 2"/>
          <p:cNvSpPr>
            <a:spLocks noGrp="1" noChangeArrowheads="1"/>
          </p:cNvSpPr>
          <p:nvPr>
            <p:ph type="title"/>
          </p:nvPr>
        </p:nvSpPr>
        <p:spPr/>
        <p:txBody>
          <a:bodyPr/>
          <a:lstStyle/>
          <a:p>
            <a:pPr algn="ctr" eaLnBrk="1" hangingPunct="1"/>
            <a:r>
              <a:rPr lang="zh-CN" altLang="en-US" sz="4000" smtClean="0"/>
              <a:t>需要强调三点</a:t>
            </a:r>
          </a:p>
        </p:txBody>
      </p:sp>
      <p:sp>
        <p:nvSpPr>
          <p:cNvPr id="78852" name="Rectangle 3"/>
          <p:cNvSpPr>
            <a:spLocks noGrp="1" noChangeArrowheads="1"/>
          </p:cNvSpPr>
          <p:nvPr>
            <p:ph type="body" idx="1"/>
          </p:nvPr>
        </p:nvSpPr>
        <p:spPr>
          <a:xfrm>
            <a:off x="1042988" y="1906588"/>
            <a:ext cx="7772400" cy="4114800"/>
          </a:xfrm>
        </p:spPr>
        <p:txBody>
          <a:bodyPr/>
          <a:lstStyle/>
          <a:p>
            <a:pPr eaLnBrk="1" hangingPunct="1"/>
            <a:r>
              <a:rPr lang="en-US" altLang="zh-CN" sz="2800" smtClean="0"/>
              <a:t>A </a:t>
            </a:r>
            <a:r>
              <a:rPr lang="zh-CN" altLang="en-US" sz="2800" smtClean="0"/>
              <a:t>的发送窗口并不总是和 </a:t>
            </a:r>
            <a:r>
              <a:rPr lang="en-US" altLang="zh-CN" sz="2800" smtClean="0"/>
              <a:t>B </a:t>
            </a:r>
            <a:r>
              <a:rPr lang="zh-CN" altLang="en-US" sz="2800" smtClean="0"/>
              <a:t>的接收窗口一样大（因为有一定的时间滞后）。</a:t>
            </a:r>
          </a:p>
          <a:p>
            <a:pPr eaLnBrk="1" hangingPunct="1"/>
            <a:r>
              <a:rPr lang="en-US" altLang="zh-CN" sz="2800" smtClean="0"/>
              <a:t>TCP </a:t>
            </a:r>
            <a:r>
              <a:rPr lang="zh-CN" altLang="en-US" sz="2800" smtClean="0"/>
              <a:t>标准没有规定对不按序到达的数据应如何处理。通常是先临时存放在接收窗口中，等到字节流中所缺少的字节收到后，再按序交付上层的应用进程。</a:t>
            </a:r>
          </a:p>
          <a:p>
            <a:pPr eaLnBrk="1" hangingPunct="1"/>
            <a:r>
              <a:rPr lang="en-US" altLang="zh-CN" sz="2800" smtClean="0"/>
              <a:t>TCP </a:t>
            </a:r>
            <a:r>
              <a:rPr lang="zh-CN" altLang="en-US" sz="2800" smtClean="0"/>
              <a:t>要求接收方必须有累积确认的功能，这样可以减小传输开销。  </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E47FDD0-46C4-4BC2-8C20-E7492A795493}" type="slidenum">
              <a:rPr lang="en-US" altLang="zh-CN" sz="1400"/>
              <a:pPr eaLnBrk="1" hangingPunct="1"/>
              <a:t>76</a:t>
            </a:fld>
            <a:endParaRPr lang="en-US" altLang="zh-CN" sz="1400"/>
          </a:p>
        </p:txBody>
      </p:sp>
      <p:sp>
        <p:nvSpPr>
          <p:cNvPr id="79875" name="Rectangle 2"/>
          <p:cNvSpPr>
            <a:spLocks noGrp="1" noChangeArrowheads="1"/>
          </p:cNvSpPr>
          <p:nvPr>
            <p:ph type="title"/>
          </p:nvPr>
        </p:nvSpPr>
        <p:spPr/>
        <p:txBody>
          <a:bodyPr/>
          <a:lstStyle/>
          <a:p>
            <a:pPr algn="ctr" eaLnBrk="1" hangingPunct="1"/>
            <a:r>
              <a:rPr lang="en-US" altLang="zh-CN" smtClean="0"/>
              <a:t>5.6.2  </a:t>
            </a:r>
            <a:r>
              <a:rPr lang="zh-CN" altLang="en-US" smtClean="0"/>
              <a:t>超时重传时间的选择</a:t>
            </a:r>
          </a:p>
        </p:txBody>
      </p:sp>
      <p:sp>
        <p:nvSpPr>
          <p:cNvPr id="755715" name="Rectangle 3"/>
          <p:cNvSpPr>
            <a:spLocks noGrp="1" noChangeArrowheads="1"/>
          </p:cNvSpPr>
          <p:nvPr>
            <p:ph type="body" idx="1"/>
          </p:nvPr>
        </p:nvSpPr>
        <p:spPr>
          <a:xfrm>
            <a:off x="1042988" y="1906588"/>
            <a:ext cx="7772400" cy="4114800"/>
          </a:xfrm>
        </p:spPr>
        <p:txBody>
          <a:bodyPr/>
          <a:lstStyle/>
          <a:p>
            <a:pPr eaLnBrk="1" hangingPunct="1"/>
            <a:r>
              <a:rPr lang="zh-CN" altLang="en-US" smtClean="0"/>
              <a:t>重传机制是 </a:t>
            </a:r>
            <a:r>
              <a:rPr lang="en-US" altLang="zh-CN" smtClean="0"/>
              <a:t>TCP </a:t>
            </a:r>
            <a:r>
              <a:rPr lang="zh-CN" altLang="en-US" smtClean="0"/>
              <a:t>中最重要和最复杂的问题之一。</a:t>
            </a:r>
          </a:p>
          <a:p>
            <a:pPr eaLnBrk="1" hangingPunct="1"/>
            <a:r>
              <a:rPr lang="en-US" altLang="zh-CN" smtClean="0"/>
              <a:t>TCP </a:t>
            </a:r>
            <a:r>
              <a:rPr lang="zh-CN" altLang="en-US" smtClean="0"/>
              <a:t>每发送一个报文段，就对这个报文段设置一次计时器。只要计时器设置的重传时间到但还没有收到确认，就要重传这一报文段。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557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551FA87-F586-452E-96E7-3FA8D4E3404D}" type="slidenum">
              <a:rPr lang="en-US" altLang="zh-CN" sz="1400"/>
              <a:pPr eaLnBrk="1" hangingPunct="1"/>
              <a:t>77</a:t>
            </a:fld>
            <a:endParaRPr lang="en-US" altLang="zh-CN" sz="1400"/>
          </a:p>
        </p:txBody>
      </p:sp>
      <p:sp>
        <p:nvSpPr>
          <p:cNvPr id="80899" name="Rectangle 2"/>
          <p:cNvSpPr>
            <a:spLocks noGrp="1" noChangeArrowheads="1"/>
          </p:cNvSpPr>
          <p:nvPr>
            <p:ph type="title"/>
          </p:nvPr>
        </p:nvSpPr>
        <p:spPr/>
        <p:txBody>
          <a:bodyPr/>
          <a:lstStyle/>
          <a:p>
            <a:pPr algn="ctr" eaLnBrk="1" hangingPunct="1"/>
            <a:r>
              <a:rPr lang="zh-CN" altLang="en-US" smtClean="0"/>
              <a:t>往返时延的方差很大</a:t>
            </a:r>
          </a:p>
        </p:txBody>
      </p:sp>
      <p:sp>
        <p:nvSpPr>
          <p:cNvPr id="80900" name="Rectangle 3"/>
          <p:cNvSpPr>
            <a:spLocks noGrp="1" noChangeArrowheads="1"/>
          </p:cNvSpPr>
          <p:nvPr>
            <p:ph type="body" idx="1"/>
          </p:nvPr>
        </p:nvSpPr>
        <p:spPr>
          <a:xfrm>
            <a:off x="971550" y="2852738"/>
            <a:ext cx="7772400" cy="1439862"/>
          </a:xfrm>
        </p:spPr>
        <p:txBody>
          <a:bodyPr/>
          <a:lstStyle/>
          <a:p>
            <a:pPr eaLnBrk="1" hangingPunct="1"/>
            <a:r>
              <a:rPr lang="zh-CN" altLang="en-US" sz="2800" smtClean="0"/>
              <a:t>由于 </a:t>
            </a:r>
            <a:r>
              <a:rPr lang="en-US" altLang="zh-CN" sz="2800" smtClean="0"/>
              <a:t>TCP </a:t>
            </a:r>
            <a:r>
              <a:rPr lang="zh-CN" altLang="en-US" sz="2800" smtClean="0"/>
              <a:t>的下层是一个互联网环境，</a:t>
            </a:r>
            <a:r>
              <a:rPr lang="en-US" altLang="zh-CN" sz="2800" smtClean="0"/>
              <a:t>IP </a:t>
            </a:r>
            <a:r>
              <a:rPr lang="zh-CN" altLang="en-US" sz="2800" smtClean="0"/>
              <a:t>数据报所选择的路由变化很大。因而运输层的往返时间的方差也很大。</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705CFA9-C61F-482C-8A83-73C9DDA353E2}" type="slidenum">
              <a:rPr lang="en-US" altLang="zh-CN" sz="1400"/>
              <a:pPr eaLnBrk="1" hangingPunct="1"/>
              <a:t>78</a:t>
            </a:fld>
            <a:endParaRPr lang="en-US" altLang="zh-CN" sz="1400"/>
          </a:p>
        </p:txBody>
      </p:sp>
      <p:sp>
        <p:nvSpPr>
          <p:cNvPr id="81923" name="Rectangle 4"/>
          <p:cNvSpPr>
            <a:spLocks noChangeArrowheads="1"/>
          </p:cNvSpPr>
          <p:nvPr/>
        </p:nvSpPr>
        <p:spPr bwMode="auto">
          <a:xfrm>
            <a:off x="1116013" y="3789363"/>
            <a:ext cx="7550150" cy="9683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1924" name="Rectangle 2"/>
          <p:cNvSpPr>
            <a:spLocks noGrp="1" noChangeArrowheads="1"/>
          </p:cNvSpPr>
          <p:nvPr>
            <p:ph type="title"/>
          </p:nvPr>
        </p:nvSpPr>
        <p:spPr/>
        <p:txBody>
          <a:bodyPr/>
          <a:lstStyle/>
          <a:p>
            <a:pPr algn="ctr" eaLnBrk="1" hangingPunct="1"/>
            <a:r>
              <a:rPr lang="zh-CN" altLang="en-US" smtClean="0"/>
              <a:t>加权平均往返时间</a:t>
            </a:r>
          </a:p>
        </p:txBody>
      </p:sp>
      <p:sp>
        <p:nvSpPr>
          <p:cNvPr id="81925" name="Rectangle 3"/>
          <p:cNvSpPr>
            <a:spLocks noGrp="1" noChangeArrowheads="1"/>
          </p:cNvSpPr>
          <p:nvPr>
            <p:ph type="body" idx="1"/>
          </p:nvPr>
        </p:nvSpPr>
        <p:spPr>
          <a:xfrm>
            <a:off x="1042988" y="1773238"/>
            <a:ext cx="7772400" cy="5084762"/>
          </a:xfrm>
        </p:spPr>
        <p:txBody>
          <a:bodyPr/>
          <a:lstStyle/>
          <a:p>
            <a:pPr eaLnBrk="1" hangingPunct="1"/>
            <a:r>
              <a:rPr lang="zh-CN" altLang="en-US" sz="2400" smtClean="0">
                <a:solidFill>
                  <a:schemeClr val="hlink"/>
                </a:solidFill>
              </a:rPr>
              <a:t>加权平均往返时间</a:t>
            </a:r>
            <a:r>
              <a:rPr lang="zh-CN" altLang="en-US" sz="2400" smtClean="0"/>
              <a:t> </a:t>
            </a:r>
            <a:r>
              <a:rPr lang="en-US" altLang="zh-CN" sz="2400" smtClean="0"/>
              <a:t>RTT</a:t>
            </a:r>
            <a:r>
              <a:rPr lang="en-US" altLang="zh-CN" sz="2400" baseline="-25000" smtClean="0"/>
              <a:t>S</a:t>
            </a:r>
            <a:r>
              <a:rPr lang="zh-CN" altLang="en-US" sz="2400" smtClean="0"/>
              <a:t>（又称为</a:t>
            </a:r>
            <a:r>
              <a:rPr lang="zh-CN" altLang="en-US" sz="2400" smtClean="0">
                <a:solidFill>
                  <a:schemeClr val="hlink"/>
                </a:solidFill>
              </a:rPr>
              <a:t>平滑的往返时间</a:t>
            </a:r>
            <a:r>
              <a:rPr lang="zh-CN" altLang="en-US" sz="2400" smtClean="0"/>
              <a:t>）。</a:t>
            </a:r>
          </a:p>
          <a:p>
            <a:pPr eaLnBrk="1" hangingPunct="1"/>
            <a:r>
              <a:rPr lang="zh-CN" altLang="en-US" sz="2400" smtClean="0"/>
              <a:t>第一次测量到 </a:t>
            </a:r>
            <a:r>
              <a:rPr lang="en-US" altLang="zh-CN" sz="2400" smtClean="0"/>
              <a:t>RTT </a:t>
            </a:r>
            <a:r>
              <a:rPr lang="zh-CN" altLang="en-US" sz="2400" smtClean="0"/>
              <a:t>样本时，</a:t>
            </a:r>
            <a:r>
              <a:rPr lang="en-US" altLang="zh-CN" sz="2400" smtClean="0"/>
              <a:t>RTT</a:t>
            </a:r>
            <a:r>
              <a:rPr lang="en-US" altLang="zh-CN" sz="2400" baseline="-25000" smtClean="0"/>
              <a:t>S </a:t>
            </a:r>
            <a:r>
              <a:rPr lang="zh-CN" altLang="en-US" sz="2400" smtClean="0"/>
              <a:t>值就取为所测量到的 </a:t>
            </a:r>
            <a:r>
              <a:rPr lang="en-US" altLang="zh-CN" sz="2400" smtClean="0"/>
              <a:t>RTT </a:t>
            </a:r>
            <a:r>
              <a:rPr lang="zh-CN" altLang="en-US" sz="2400" smtClean="0"/>
              <a:t>样本值。以后每测量到一个新的 </a:t>
            </a:r>
            <a:r>
              <a:rPr lang="en-US" altLang="zh-CN" sz="2400" smtClean="0"/>
              <a:t>RTT </a:t>
            </a:r>
            <a:r>
              <a:rPr lang="zh-CN" altLang="en-US" sz="2400" smtClean="0"/>
              <a:t>样本，就按下式重新计算一次 </a:t>
            </a:r>
            <a:r>
              <a:rPr lang="en-US" altLang="zh-CN" sz="2400" smtClean="0"/>
              <a:t>RTT</a:t>
            </a:r>
            <a:r>
              <a:rPr lang="en-US" altLang="zh-CN" sz="2400" baseline="-25000" smtClean="0"/>
              <a:t>S</a:t>
            </a:r>
            <a:r>
              <a:rPr lang="zh-CN" altLang="en-US" sz="2400" smtClean="0"/>
              <a:t>：</a:t>
            </a:r>
          </a:p>
          <a:p>
            <a:pPr eaLnBrk="1" hangingPunct="1">
              <a:spcBef>
                <a:spcPct val="30000"/>
              </a:spcBef>
              <a:buFont typeface="Wingdings" pitchFamily="2" charset="2"/>
              <a:buNone/>
            </a:pPr>
            <a:r>
              <a:rPr lang="zh-CN" altLang="en-US" sz="2800" smtClean="0"/>
              <a:t> </a:t>
            </a:r>
            <a:r>
              <a:rPr lang="zh-CN" altLang="en-US" sz="2400" smtClean="0"/>
              <a:t>新的 </a:t>
            </a:r>
            <a:r>
              <a:rPr lang="en-US" altLang="zh-CN" sz="2400" smtClean="0"/>
              <a:t>RTT</a:t>
            </a:r>
            <a:r>
              <a:rPr lang="en-US" altLang="zh-CN" sz="2400" baseline="-25000" smtClean="0"/>
              <a:t>S</a:t>
            </a:r>
            <a:r>
              <a:rPr lang="en-US" altLang="zh-CN" sz="2400" smtClean="0"/>
              <a:t> </a:t>
            </a:r>
            <a:r>
              <a:rPr lang="en-US" altLang="zh-CN" sz="2400" smtClean="0">
                <a:sym typeface="Symbol" pitchFamily="18" charset="2"/>
              </a:rPr>
              <a:t></a:t>
            </a:r>
            <a:r>
              <a:rPr lang="en-US" altLang="zh-CN" sz="2400" smtClean="0"/>
              <a:t> (1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a:t>
            </a:r>
            <a:r>
              <a:rPr lang="zh-CN" altLang="en-US" sz="2400" smtClean="0"/>
              <a:t>旧的 </a:t>
            </a:r>
            <a:r>
              <a:rPr lang="en-US" altLang="zh-CN" sz="2400" smtClean="0"/>
              <a:t>RTT</a:t>
            </a:r>
            <a:r>
              <a:rPr lang="en-US" altLang="zh-CN" sz="2400" baseline="-25000" smtClean="0"/>
              <a:t>S</a:t>
            </a:r>
            <a:r>
              <a:rPr lang="en-US" altLang="zh-CN" sz="2400" smtClean="0"/>
              <a:t>) </a:t>
            </a:r>
          </a:p>
          <a:p>
            <a:pPr eaLnBrk="1" hangingPunct="1">
              <a:spcAft>
                <a:spcPct val="10000"/>
              </a:spcAft>
              <a:buFont typeface="Wingdings" pitchFamily="2" charset="2"/>
              <a:buNone/>
            </a:pPr>
            <a:r>
              <a:rPr lang="en-US" altLang="zh-CN" sz="2400" smtClean="0"/>
              <a:t>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a:t>
            </a:r>
            <a:r>
              <a:rPr lang="zh-CN" altLang="en-US" sz="2400" smtClean="0"/>
              <a:t>新的 </a:t>
            </a:r>
            <a:r>
              <a:rPr lang="en-US" altLang="zh-CN" sz="2400" smtClean="0"/>
              <a:t>RTT </a:t>
            </a:r>
            <a:r>
              <a:rPr lang="zh-CN" altLang="en-US" sz="2400" smtClean="0"/>
              <a:t>样本</a:t>
            </a:r>
            <a:r>
              <a:rPr lang="en-US" altLang="zh-CN" sz="2400" smtClean="0"/>
              <a:t>)                     (5-4)</a:t>
            </a:r>
          </a:p>
          <a:p>
            <a:pPr eaLnBrk="1" hangingPunct="1"/>
            <a:r>
              <a:rPr lang="zh-CN" altLang="en-US" sz="2400" smtClean="0"/>
              <a:t>式中，</a:t>
            </a:r>
            <a:r>
              <a:rPr lang="en-US" altLang="zh-CN" sz="2400" smtClean="0"/>
              <a:t>0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1</a:t>
            </a:r>
            <a:r>
              <a:rPr lang="zh-CN" altLang="en-US" sz="2400" smtClean="0"/>
              <a:t>。若 </a:t>
            </a:r>
            <a:r>
              <a:rPr lang="zh-CN" altLang="en-US" sz="2400" smtClean="0">
                <a:sym typeface="Symbol" pitchFamily="18" charset="2"/>
              </a:rPr>
              <a:t> </a:t>
            </a:r>
            <a:r>
              <a:rPr lang="zh-CN" altLang="en-US" sz="2400" smtClean="0"/>
              <a:t>很接近于零，表示 </a:t>
            </a:r>
            <a:r>
              <a:rPr lang="en-US" altLang="zh-CN" sz="2400" smtClean="0"/>
              <a:t>RTT </a:t>
            </a:r>
            <a:r>
              <a:rPr lang="zh-CN" altLang="en-US" sz="2400" smtClean="0"/>
              <a:t>值更新较慢。若选择 </a:t>
            </a:r>
            <a:r>
              <a:rPr lang="zh-CN" altLang="en-US" sz="2400" smtClean="0">
                <a:sym typeface="Symbol" pitchFamily="18" charset="2"/>
              </a:rPr>
              <a:t> </a:t>
            </a:r>
            <a:r>
              <a:rPr lang="zh-CN" altLang="en-US" sz="2400" smtClean="0"/>
              <a:t>接近于 </a:t>
            </a:r>
            <a:r>
              <a:rPr lang="en-US" altLang="zh-CN" sz="2400" smtClean="0"/>
              <a:t>1</a:t>
            </a:r>
            <a:r>
              <a:rPr lang="zh-CN" altLang="en-US" sz="2400" smtClean="0"/>
              <a:t>，则表示 </a:t>
            </a:r>
            <a:r>
              <a:rPr lang="en-US" altLang="zh-CN" sz="2400" smtClean="0"/>
              <a:t>RTT </a:t>
            </a:r>
            <a:r>
              <a:rPr lang="zh-CN" altLang="en-US" sz="2400" smtClean="0"/>
              <a:t>值更新较快。</a:t>
            </a:r>
          </a:p>
          <a:p>
            <a:pPr eaLnBrk="1" hangingPunct="1"/>
            <a:r>
              <a:rPr lang="en-US" altLang="zh-CN" sz="2400" smtClean="0"/>
              <a:t>RFC 2988 </a:t>
            </a:r>
            <a:r>
              <a:rPr lang="zh-CN" altLang="en-US" sz="2400" smtClean="0"/>
              <a:t>推荐的 </a:t>
            </a:r>
            <a:r>
              <a:rPr lang="zh-CN" altLang="en-US" sz="2400" smtClean="0">
                <a:sym typeface="Symbol" pitchFamily="18" charset="2"/>
              </a:rPr>
              <a:t> </a:t>
            </a:r>
            <a:r>
              <a:rPr lang="zh-CN" altLang="en-US" sz="2400" smtClean="0"/>
              <a:t>值为 </a:t>
            </a:r>
            <a:r>
              <a:rPr lang="en-US" altLang="zh-CN" sz="2400" smtClean="0"/>
              <a:t>1/8</a:t>
            </a:r>
            <a:r>
              <a:rPr lang="zh-CN" altLang="en-US" sz="2400" smtClean="0"/>
              <a:t>，即 </a:t>
            </a:r>
            <a:r>
              <a:rPr lang="en-US" altLang="zh-CN" sz="2400" smtClean="0"/>
              <a:t>0.125</a:t>
            </a:r>
            <a:r>
              <a:rPr lang="zh-CN" altLang="en-US" sz="2400" smtClean="0"/>
              <a:t>。 </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BDC95EE-44A3-4339-9A72-31004AFBC1D1}" type="slidenum">
              <a:rPr lang="en-US" altLang="zh-CN" sz="1400"/>
              <a:pPr eaLnBrk="1" hangingPunct="1"/>
              <a:t>79</a:t>
            </a:fld>
            <a:endParaRPr lang="en-US" altLang="zh-CN" sz="1400"/>
          </a:p>
        </p:txBody>
      </p:sp>
      <p:sp>
        <p:nvSpPr>
          <p:cNvPr id="82947" name="Rectangle 4"/>
          <p:cNvSpPr>
            <a:spLocks noChangeArrowheads="1"/>
          </p:cNvSpPr>
          <p:nvPr/>
        </p:nvSpPr>
        <p:spPr bwMode="auto">
          <a:xfrm>
            <a:off x="611188" y="4943475"/>
            <a:ext cx="8347075" cy="10604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a:p>
        </p:txBody>
      </p:sp>
      <p:sp>
        <p:nvSpPr>
          <p:cNvPr id="82948" name="Rectangle 2"/>
          <p:cNvSpPr>
            <a:spLocks noGrp="1" noChangeArrowheads="1"/>
          </p:cNvSpPr>
          <p:nvPr>
            <p:ph type="title"/>
          </p:nvPr>
        </p:nvSpPr>
        <p:spPr/>
        <p:txBody>
          <a:bodyPr/>
          <a:lstStyle/>
          <a:p>
            <a:pPr algn="ctr" eaLnBrk="1" hangingPunct="1"/>
            <a:r>
              <a:rPr lang="zh-CN" altLang="en-US" smtClean="0">
                <a:solidFill>
                  <a:schemeClr val="hlink"/>
                </a:solidFill>
              </a:rPr>
              <a:t>超时重传时间</a:t>
            </a:r>
            <a:r>
              <a:rPr lang="zh-CN" altLang="en-US" smtClean="0"/>
              <a:t> </a:t>
            </a:r>
            <a:r>
              <a:rPr lang="en-US" altLang="zh-CN" smtClean="0"/>
              <a:t>RTO </a:t>
            </a:r>
            <a:r>
              <a:rPr lang="en-US" altLang="zh-CN" sz="4000" smtClean="0"/>
              <a:t>(RetransmissionTime-Out)</a:t>
            </a:r>
            <a:r>
              <a:rPr lang="en-US" altLang="zh-CN" smtClean="0"/>
              <a:t> </a:t>
            </a:r>
          </a:p>
        </p:txBody>
      </p:sp>
      <p:sp>
        <p:nvSpPr>
          <p:cNvPr id="82949" name="Rectangle 3"/>
          <p:cNvSpPr>
            <a:spLocks noGrp="1" noChangeArrowheads="1"/>
          </p:cNvSpPr>
          <p:nvPr>
            <p:ph type="body" idx="1"/>
          </p:nvPr>
        </p:nvSpPr>
        <p:spPr>
          <a:xfrm>
            <a:off x="1042988" y="1773238"/>
            <a:ext cx="7772400" cy="4824412"/>
          </a:xfrm>
        </p:spPr>
        <p:txBody>
          <a:bodyPr/>
          <a:lstStyle/>
          <a:p>
            <a:pPr eaLnBrk="1" hangingPunct="1"/>
            <a:r>
              <a:rPr lang="en-US" altLang="zh-CN" sz="2400" smtClean="0"/>
              <a:t>RTO </a:t>
            </a:r>
            <a:r>
              <a:rPr lang="zh-CN" altLang="en-US" sz="2400" smtClean="0"/>
              <a:t>应略大于上面得出的加权平均往返时间 </a:t>
            </a:r>
            <a:r>
              <a:rPr lang="en-US" altLang="zh-CN" sz="2400" smtClean="0"/>
              <a:t>RTT</a:t>
            </a:r>
            <a:r>
              <a:rPr lang="en-US" altLang="zh-CN" sz="2400" baseline="-25000" smtClean="0"/>
              <a:t>S</a:t>
            </a:r>
            <a:r>
              <a:rPr lang="zh-CN" altLang="en-US" sz="2400" smtClean="0"/>
              <a:t>。</a:t>
            </a:r>
          </a:p>
          <a:p>
            <a:pPr eaLnBrk="1" hangingPunct="1"/>
            <a:r>
              <a:rPr lang="en-US" altLang="zh-CN" sz="2400" smtClean="0"/>
              <a:t>RFC 2988 </a:t>
            </a:r>
            <a:r>
              <a:rPr lang="zh-CN" altLang="en-US" sz="2400" smtClean="0"/>
              <a:t>建议使用下式计算 </a:t>
            </a:r>
            <a:r>
              <a:rPr lang="en-US" altLang="zh-CN" sz="2400" smtClean="0"/>
              <a:t>RTO</a:t>
            </a:r>
            <a:r>
              <a:rPr lang="zh-CN" altLang="en-US" sz="2400" smtClean="0"/>
              <a:t>：</a:t>
            </a:r>
          </a:p>
          <a:p>
            <a:pPr eaLnBrk="1" hangingPunct="1">
              <a:spcBef>
                <a:spcPct val="30000"/>
              </a:spcBef>
              <a:spcAft>
                <a:spcPct val="20000"/>
              </a:spcAft>
            </a:pPr>
            <a:r>
              <a:rPr lang="zh-CN" altLang="en-US" sz="2400" smtClean="0"/>
              <a:t>                   </a:t>
            </a:r>
            <a:r>
              <a:rPr lang="en-US" altLang="zh-CN" sz="2400" smtClean="0"/>
              <a:t>RTO </a:t>
            </a:r>
            <a:r>
              <a:rPr lang="en-US" altLang="zh-CN" sz="2400" smtClean="0">
                <a:sym typeface="Symbol" pitchFamily="18" charset="2"/>
              </a:rPr>
              <a:t></a:t>
            </a:r>
            <a:r>
              <a:rPr lang="en-US" altLang="zh-CN" sz="2400" smtClean="0"/>
              <a:t> RTT</a:t>
            </a:r>
            <a:r>
              <a:rPr lang="en-US" altLang="zh-CN" sz="2400" baseline="-25000" smtClean="0"/>
              <a:t>S</a:t>
            </a:r>
            <a:r>
              <a:rPr lang="en-US" altLang="zh-CN" sz="2400" smtClean="0"/>
              <a:t> + 4 </a:t>
            </a:r>
            <a:r>
              <a:rPr lang="en-US" altLang="zh-CN" sz="2400" smtClean="0">
                <a:sym typeface="Symbol" pitchFamily="18" charset="2"/>
              </a:rPr>
              <a:t></a:t>
            </a:r>
            <a:r>
              <a:rPr lang="en-US" altLang="zh-CN" sz="2400" smtClean="0"/>
              <a:t> RTT</a:t>
            </a:r>
            <a:r>
              <a:rPr lang="en-US" altLang="zh-CN" sz="2400" baseline="-25000" smtClean="0"/>
              <a:t>D</a:t>
            </a:r>
            <a:r>
              <a:rPr lang="en-US" altLang="zh-CN" sz="2400" smtClean="0"/>
              <a:t>                  (5-5)</a:t>
            </a:r>
          </a:p>
          <a:p>
            <a:pPr eaLnBrk="1" hangingPunct="1">
              <a:spcAft>
                <a:spcPct val="10000"/>
              </a:spcAft>
            </a:pPr>
            <a:r>
              <a:rPr lang="en-US" altLang="zh-CN" sz="2400" smtClean="0"/>
              <a:t>RTT</a:t>
            </a:r>
            <a:r>
              <a:rPr lang="en-US" altLang="zh-CN" sz="2400" baseline="-25000" smtClean="0"/>
              <a:t>D </a:t>
            </a:r>
            <a:r>
              <a:rPr lang="zh-CN" altLang="en-US" sz="2400" smtClean="0"/>
              <a:t>是 </a:t>
            </a:r>
            <a:r>
              <a:rPr lang="en-US" altLang="zh-CN" sz="2400" smtClean="0">
                <a:solidFill>
                  <a:schemeClr val="hlink"/>
                </a:solidFill>
              </a:rPr>
              <a:t>RTT </a:t>
            </a:r>
            <a:r>
              <a:rPr lang="zh-CN" altLang="en-US" sz="2400" smtClean="0">
                <a:solidFill>
                  <a:schemeClr val="hlink"/>
                </a:solidFill>
              </a:rPr>
              <a:t>的偏差的加权平均值</a:t>
            </a:r>
            <a:r>
              <a:rPr lang="zh-CN" altLang="en-US" sz="2400" smtClean="0"/>
              <a:t>。</a:t>
            </a:r>
          </a:p>
          <a:p>
            <a:pPr eaLnBrk="1" hangingPunct="1">
              <a:lnSpc>
                <a:spcPct val="110000"/>
              </a:lnSpc>
            </a:pPr>
            <a:r>
              <a:rPr lang="en-US" altLang="zh-CN" sz="2400" smtClean="0"/>
              <a:t>RFC 2988 </a:t>
            </a:r>
            <a:r>
              <a:rPr lang="zh-CN" altLang="en-US" sz="2400" smtClean="0"/>
              <a:t>建议这样计算 </a:t>
            </a:r>
            <a:r>
              <a:rPr lang="en-US" altLang="zh-CN" sz="2400" smtClean="0"/>
              <a:t>RTT</a:t>
            </a:r>
            <a:r>
              <a:rPr lang="en-US" altLang="zh-CN" sz="2400" baseline="-25000" smtClean="0"/>
              <a:t>D</a:t>
            </a:r>
            <a:r>
              <a:rPr lang="zh-CN" altLang="en-US" sz="2400" smtClean="0"/>
              <a:t>。第一次测量时，</a:t>
            </a:r>
            <a:r>
              <a:rPr lang="en-US" altLang="zh-CN" sz="2400" smtClean="0"/>
              <a:t>RTT</a:t>
            </a:r>
            <a:r>
              <a:rPr lang="en-US" altLang="zh-CN" sz="2400" baseline="-25000" smtClean="0"/>
              <a:t>D </a:t>
            </a:r>
            <a:r>
              <a:rPr lang="zh-CN" altLang="en-US" sz="2400" smtClean="0"/>
              <a:t>值取为测量到的 </a:t>
            </a:r>
            <a:r>
              <a:rPr lang="en-US" altLang="zh-CN" sz="2400" smtClean="0"/>
              <a:t>RTT </a:t>
            </a:r>
            <a:r>
              <a:rPr lang="zh-CN" altLang="en-US" sz="2400" smtClean="0"/>
              <a:t>样本值的一半。在以后的测量中，则使用下式计算加权平均的 </a:t>
            </a:r>
            <a:r>
              <a:rPr lang="en-US" altLang="zh-CN" sz="2400" smtClean="0"/>
              <a:t>RTT</a:t>
            </a:r>
            <a:r>
              <a:rPr lang="en-US" altLang="zh-CN" sz="2400" baseline="-25000" smtClean="0"/>
              <a:t>D</a:t>
            </a:r>
            <a:r>
              <a:rPr lang="zh-CN" altLang="en-US" sz="2400" smtClean="0"/>
              <a:t>：</a:t>
            </a:r>
          </a:p>
          <a:p>
            <a:pPr eaLnBrk="1" hangingPunct="1">
              <a:spcAft>
                <a:spcPct val="20000"/>
              </a:spcAft>
              <a:buFont typeface="Wingdings" pitchFamily="2" charset="2"/>
              <a:buNone/>
            </a:pPr>
            <a:r>
              <a:rPr lang="zh-CN" altLang="en-US" sz="2400" smtClean="0"/>
              <a:t>新的 </a:t>
            </a:r>
            <a:r>
              <a:rPr lang="en-US" altLang="zh-CN" sz="2400" smtClean="0"/>
              <a:t>RTT</a:t>
            </a:r>
            <a:r>
              <a:rPr lang="en-US" altLang="zh-CN" sz="2400" baseline="-25000" smtClean="0"/>
              <a:t>D</a:t>
            </a:r>
            <a:r>
              <a:rPr lang="en-US" altLang="zh-CN" sz="2400" smtClean="0"/>
              <a:t> = (1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a:t>
            </a:r>
            <a:r>
              <a:rPr lang="zh-CN" altLang="en-US" sz="2400" smtClean="0"/>
              <a:t>旧的</a:t>
            </a:r>
            <a:r>
              <a:rPr lang="en-US" altLang="zh-CN" sz="2400" smtClean="0"/>
              <a:t>RTT</a:t>
            </a:r>
            <a:r>
              <a:rPr lang="en-US" altLang="zh-CN" sz="2400" baseline="-25000" smtClean="0"/>
              <a:t>D</a:t>
            </a:r>
            <a:r>
              <a:rPr lang="en-US" altLang="zh-CN" sz="2400" smtClean="0"/>
              <a:t>) </a:t>
            </a:r>
          </a:p>
          <a:p>
            <a:pPr eaLnBrk="1" hangingPunct="1">
              <a:spcAft>
                <a:spcPct val="15000"/>
              </a:spcAft>
              <a:buFont typeface="Wingdings" pitchFamily="2" charset="2"/>
              <a:buNone/>
            </a:pPr>
            <a:r>
              <a:rPr lang="en-US" altLang="zh-CN" sz="2400" smtClean="0"/>
              <a:t>                   +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 </a:t>
            </a:r>
            <a:r>
              <a:rPr lang="en-US" altLang="zh-CN" sz="2400" smtClean="0">
                <a:sym typeface="Symbol" pitchFamily="18" charset="2"/>
              </a:rPr>
              <a:t></a:t>
            </a:r>
            <a:r>
              <a:rPr lang="en-US" altLang="zh-CN" sz="2400" smtClean="0"/>
              <a:t>RTT</a:t>
            </a:r>
            <a:r>
              <a:rPr lang="en-US" altLang="zh-CN" sz="2400" baseline="-25000" smtClean="0"/>
              <a:t>S</a:t>
            </a:r>
            <a:r>
              <a:rPr lang="en-US" altLang="zh-CN" sz="2400" smtClean="0"/>
              <a:t> </a:t>
            </a:r>
            <a:r>
              <a:rPr lang="en-US" altLang="zh-CN" sz="2400" smtClean="0">
                <a:sym typeface="Symbol" pitchFamily="18" charset="2"/>
              </a:rPr>
              <a:t></a:t>
            </a:r>
            <a:r>
              <a:rPr lang="en-US" altLang="zh-CN" sz="2400" smtClean="0"/>
              <a:t> </a:t>
            </a:r>
            <a:r>
              <a:rPr lang="zh-CN" altLang="en-US" sz="2400" smtClean="0"/>
              <a:t>新的 </a:t>
            </a:r>
            <a:r>
              <a:rPr lang="en-US" altLang="zh-CN" sz="2400" smtClean="0"/>
              <a:t>RTT </a:t>
            </a:r>
            <a:r>
              <a:rPr lang="zh-CN" altLang="en-US" sz="2400" smtClean="0"/>
              <a:t>样本</a:t>
            </a:r>
            <a:r>
              <a:rPr lang="zh-CN" altLang="en-US" sz="2400" smtClean="0">
                <a:sym typeface="Symbol" pitchFamily="18" charset="2"/>
              </a:rPr>
              <a:t></a:t>
            </a:r>
            <a:r>
              <a:rPr lang="zh-CN" altLang="en-US" sz="2400" smtClean="0"/>
              <a:t>           </a:t>
            </a:r>
            <a:r>
              <a:rPr lang="en-US" altLang="zh-CN" sz="2400" smtClean="0"/>
              <a:t>(5-6)</a:t>
            </a:r>
          </a:p>
          <a:p>
            <a:pPr eaLnBrk="1" hangingPunct="1">
              <a:spcBef>
                <a:spcPct val="40000"/>
              </a:spcBef>
            </a:pPr>
            <a:r>
              <a:rPr lang="en-US" altLang="zh-CN" sz="2400" smtClean="0">
                <a:sym typeface="Symbol" pitchFamily="18" charset="2"/>
              </a:rPr>
              <a:t> </a:t>
            </a:r>
            <a:r>
              <a:rPr lang="zh-CN" altLang="en-US" sz="2400" smtClean="0"/>
              <a:t>是个小于 </a:t>
            </a:r>
            <a:r>
              <a:rPr lang="en-US" altLang="zh-CN" sz="2400" smtClean="0"/>
              <a:t>1 </a:t>
            </a:r>
            <a:r>
              <a:rPr lang="zh-CN" altLang="en-US" sz="2400" smtClean="0"/>
              <a:t>的系数，其推荐值是 </a:t>
            </a:r>
            <a:r>
              <a:rPr lang="en-US" altLang="zh-CN" sz="2400" smtClean="0"/>
              <a:t>1/4</a:t>
            </a:r>
            <a:r>
              <a:rPr lang="zh-CN" altLang="en-US" sz="2400" smtClean="0"/>
              <a:t>，即 </a:t>
            </a:r>
            <a:r>
              <a:rPr lang="en-US" altLang="zh-CN" sz="2400" smtClean="0"/>
              <a:t>0.25</a:t>
            </a:r>
            <a:r>
              <a:rPr lang="zh-CN" altLang="en-US" sz="2400" smtClean="0"/>
              <a:t>。</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9E94697-B383-4800-AD45-C9C2C89A1C49}" type="slidenum">
              <a:rPr lang="en-US" altLang="zh-CN" sz="1400"/>
              <a:pPr eaLnBrk="1" hangingPunct="1"/>
              <a:t>80</a:t>
            </a:fld>
            <a:endParaRPr lang="en-US" altLang="zh-CN" sz="1400"/>
          </a:p>
        </p:txBody>
      </p:sp>
      <p:sp>
        <p:nvSpPr>
          <p:cNvPr id="83971" name="Line 2"/>
          <p:cNvSpPr>
            <a:spLocks noChangeShapeType="1"/>
          </p:cNvSpPr>
          <p:nvPr/>
        </p:nvSpPr>
        <p:spPr bwMode="auto">
          <a:xfrm>
            <a:off x="3611563" y="5715000"/>
            <a:ext cx="349408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2" name="Text Box 3"/>
          <p:cNvSpPr txBox="1">
            <a:spLocks noChangeArrowheads="1"/>
          </p:cNvSpPr>
          <p:nvPr/>
        </p:nvSpPr>
        <p:spPr bwMode="auto">
          <a:xfrm>
            <a:off x="4487863" y="5480050"/>
            <a:ext cx="1906587"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往返时间 </a:t>
            </a:r>
            <a:r>
              <a:rPr kumimoji="1" lang="en-US" altLang="zh-CN" sz="2000">
                <a:solidFill>
                  <a:srgbClr val="333399"/>
                </a:solidFill>
                <a:latin typeface="Arial" pitchFamily="34" charset="0"/>
                <a:ea typeface="黑体" pitchFamily="49" charset="-122"/>
              </a:rPr>
              <a:t>RTT?</a:t>
            </a:r>
          </a:p>
        </p:txBody>
      </p:sp>
      <p:sp>
        <p:nvSpPr>
          <p:cNvPr id="83973" name="Rectangle 4"/>
          <p:cNvSpPr>
            <a:spLocks noGrp="1" noChangeArrowheads="1"/>
          </p:cNvSpPr>
          <p:nvPr>
            <p:ph type="title"/>
          </p:nvPr>
        </p:nvSpPr>
        <p:spPr>
          <a:xfrm>
            <a:off x="1150938" y="692150"/>
            <a:ext cx="7237412" cy="839788"/>
          </a:xfrm>
        </p:spPr>
        <p:txBody>
          <a:bodyPr/>
          <a:lstStyle/>
          <a:p>
            <a:pPr algn="ctr" eaLnBrk="1" hangingPunct="1"/>
            <a:r>
              <a:rPr lang="zh-CN" altLang="en-US" sz="4000" smtClean="0"/>
              <a:t>往返时间的测量相当复杂 </a:t>
            </a:r>
          </a:p>
        </p:txBody>
      </p:sp>
      <p:sp>
        <p:nvSpPr>
          <p:cNvPr id="83974" name="Rectangle 5"/>
          <p:cNvSpPr>
            <a:spLocks noGrp="1" noChangeArrowheads="1"/>
          </p:cNvSpPr>
          <p:nvPr>
            <p:ph type="body" idx="1"/>
          </p:nvPr>
        </p:nvSpPr>
        <p:spPr>
          <a:xfrm>
            <a:off x="1042988" y="1773238"/>
            <a:ext cx="7772400" cy="1943100"/>
          </a:xfrm>
        </p:spPr>
        <p:txBody>
          <a:bodyPr/>
          <a:lstStyle/>
          <a:p>
            <a:pPr eaLnBrk="1" hangingPunct="1"/>
            <a:r>
              <a:rPr lang="en-US" altLang="zh-CN" sz="2800" smtClean="0"/>
              <a:t>TCP </a:t>
            </a:r>
            <a:r>
              <a:rPr lang="zh-CN" altLang="en-US" sz="2800" smtClean="0"/>
              <a:t>报文段 </a:t>
            </a:r>
            <a:r>
              <a:rPr lang="en-US" altLang="zh-CN" sz="2800" smtClean="0"/>
              <a:t>1 </a:t>
            </a:r>
            <a:r>
              <a:rPr lang="zh-CN" altLang="en-US" sz="2800" smtClean="0"/>
              <a:t>没有收到确认。重传（即报文段 </a:t>
            </a:r>
            <a:r>
              <a:rPr lang="en-US" altLang="zh-CN" sz="2800" smtClean="0"/>
              <a:t>2</a:t>
            </a:r>
            <a:r>
              <a:rPr lang="zh-CN" altLang="en-US" sz="2800" smtClean="0"/>
              <a:t>）后，收到了确认报文段 </a:t>
            </a:r>
            <a:r>
              <a:rPr lang="en-US" altLang="zh-CN" sz="2800" smtClean="0"/>
              <a:t>ACK</a:t>
            </a:r>
            <a:r>
              <a:rPr lang="zh-CN" altLang="en-US" sz="2800" smtClean="0"/>
              <a:t>。</a:t>
            </a:r>
          </a:p>
          <a:p>
            <a:pPr eaLnBrk="1" hangingPunct="1"/>
            <a:r>
              <a:rPr lang="zh-CN" altLang="en-US" sz="2800" smtClean="0"/>
              <a:t>如何判定此确认报文段是对原来的报文段 </a:t>
            </a:r>
            <a:r>
              <a:rPr lang="en-US" altLang="zh-CN" sz="2800" smtClean="0"/>
              <a:t>1 </a:t>
            </a:r>
            <a:r>
              <a:rPr lang="zh-CN" altLang="en-US" sz="2800" smtClean="0"/>
              <a:t>的确认，还是对重传的报文段 </a:t>
            </a:r>
            <a:r>
              <a:rPr lang="en-US" altLang="zh-CN" sz="2800" smtClean="0"/>
              <a:t>2 </a:t>
            </a:r>
            <a:r>
              <a:rPr lang="zh-CN" altLang="en-US" sz="2800" smtClean="0"/>
              <a:t>的确认？ </a:t>
            </a:r>
          </a:p>
        </p:txBody>
      </p:sp>
      <p:sp>
        <p:nvSpPr>
          <p:cNvPr id="83975" name="Line 6"/>
          <p:cNvSpPr>
            <a:spLocks noChangeShapeType="1"/>
          </p:cNvSpPr>
          <p:nvPr/>
        </p:nvSpPr>
        <p:spPr bwMode="auto">
          <a:xfrm>
            <a:off x="700088" y="5414963"/>
            <a:ext cx="7861300" cy="0"/>
          </a:xfrm>
          <a:prstGeom prst="line">
            <a:avLst/>
          </a:prstGeom>
          <a:noFill/>
          <a:ln w="28575">
            <a:solidFill>
              <a:srgbClr val="333399"/>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6" name="Line 7"/>
          <p:cNvSpPr>
            <a:spLocks noChangeShapeType="1"/>
          </p:cNvSpPr>
          <p:nvPr/>
        </p:nvSpPr>
        <p:spPr bwMode="auto">
          <a:xfrm rot="-5400000">
            <a:off x="700881" y="5123657"/>
            <a:ext cx="582613" cy="0"/>
          </a:xfrm>
          <a:prstGeom prst="line">
            <a:avLst/>
          </a:prstGeom>
          <a:noFill/>
          <a:ln w="762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7" name="Text Box 8"/>
          <p:cNvSpPr txBox="1">
            <a:spLocks noChangeArrowheads="1"/>
          </p:cNvSpPr>
          <p:nvPr/>
        </p:nvSpPr>
        <p:spPr bwMode="auto">
          <a:xfrm>
            <a:off x="261938" y="4222750"/>
            <a:ext cx="1527175"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发送一个</a:t>
            </a:r>
          </a:p>
          <a:p>
            <a:pPr algn="ctr" eaLnBrk="1" hangingPunct="1"/>
            <a:r>
              <a:rPr kumimoji="1" lang="en-US" altLang="zh-CN" sz="2000">
                <a:solidFill>
                  <a:srgbClr val="333399"/>
                </a:solidFill>
                <a:latin typeface="Arial" pitchFamily="34" charset="0"/>
                <a:ea typeface="黑体" pitchFamily="49" charset="-122"/>
              </a:rPr>
              <a:t>TCP </a:t>
            </a:r>
            <a:r>
              <a:rPr kumimoji="1" lang="zh-CN" altLang="en-US" sz="2000">
                <a:solidFill>
                  <a:srgbClr val="333399"/>
                </a:solidFill>
                <a:latin typeface="Arial" pitchFamily="34" charset="0"/>
                <a:ea typeface="黑体" pitchFamily="49" charset="-122"/>
              </a:rPr>
              <a:t>报文段</a:t>
            </a:r>
          </a:p>
        </p:txBody>
      </p:sp>
      <p:sp>
        <p:nvSpPr>
          <p:cNvPr id="83978" name="Line 9"/>
          <p:cNvSpPr>
            <a:spLocks noChangeShapeType="1"/>
          </p:cNvSpPr>
          <p:nvPr/>
        </p:nvSpPr>
        <p:spPr bwMode="auto">
          <a:xfrm rot="-5400000">
            <a:off x="3320256" y="5123657"/>
            <a:ext cx="582613" cy="0"/>
          </a:xfrm>
          <a:prstGeom prst="line">
            <a:avLst/>
          </a:prstGeom>
          <a:noFill/>
          <a:ln w="762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9" name="Text Box 10"/>
          <p:cNvSpPr txBox="1">
            <a:spLocks noChangeArrowheads="1"/>
          </p:cNvSpPr>
          <p:nvPr/>
        </p:nvSpPr>
        <p:spPr bwMode="auto">
          <a:xfrm>
            <a:off x="2816225" y="4222750"/>
            <a:ext cx="1524000"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超时重传</a:t>
            </a:r>
          </a:p>
          <a:p>
            <a:pPr algn="ctr" eaLnBrk="1" hangingPunct="1"/>
            <a:r>
              <a:rPr kumimoji="1" lang="en-US" altLang="zh-CN" sz="2000">
                <a:solidFill>
                  <a:srgbClr val="333399"/>
                </a:solidFill>
                <a:latin typeface="Arial" pitchFamily="34" charset="0"/>
                <a:ea typeface="黑体" pitchFamily="49" charset="-122"/>
              </a:rPr>
              <a:t>TCP </a:t>
            </a:r>
            <a:r>
              <a:rPr kumimoji="1" lang="zh-CN" altLang="en-US" sz="2000">
                <a:solidFill>
                  <a:srgbClr val="333399"/>
                </a:solidFill>
                <a:latin typeface="Arial" pitchFamily="34" charset="0"/>
                <a:ea typeface="黑体" pitchFamily="49" charset="-122"/>
              </a:rPr>
              <a:t>报文段</a:t>
            </a:r>
          </a:p>
        </p:txBody>
      </p:sp>
      <p:sp>
        <p:nvSpPr>
          <p:cNvPr id="83980" name="Line 11"/>
          <p:cNvSpPr>
            <a:spLocks noChangeShapeType="1"/>
          </p:cNvSpPr>
          <p:nvPr/>
        </p:nvSpPr>
        <p:spPr bwMode="auto">
          <a:xfrm rot="-5400000">
            <a:off x="6814343" y="5123657"/>
            <a:ext cx="582613" cy="0"/>
          </a:xfrm>
          <a:prstGeom prst="line">
            <a:avLst/>
          </a:prstGeom>
          <a:noFill/>
          <a:ln w="762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1" name="Text Box 12"/>
          <p:cNvSpPr txBox="1">
            <a:spLocks noChangeArrowheads="1"/>
          </p:cNvSpPr>
          <p:nvPr/>
        </p:nvSpPr>
        <p:spPr bwMode="auto">
          <a:xfrm>
            <a:off x="6462713" y="4484688"/>
            <a:ext cx="1285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收到 </a:t>
            </a:r>
            <a:r>
              <a:rPr kumimoji="1" lang="en-US" altLang="zh-CN" sz="2000">
                <a:solidFill>
                  <a:srgbClr val="333399"/>
                </a:solidFill>
                <a:latin typeface="Arial" pitchFamily="34" charset="0"/>
                <a:ea typeface="黑体" pitchFamily="49" charset="-122"/>
              </a:rPr>
              <a:t>ACK</a:t>
            </a:r>
          </a:p>
        </p:txBody>
      </p:sp>
      <p:sp>
        <p:nvSpPr>
          <p:cNvPr id="83982" name="Text Box 13"/>
          <p:cNvSpPr txBox="1">
            <a:spLocks noChangeArrowheads="1"/>
          </p:cNvSpPr>
          <p:nvPr/>
        </p:nvSpPr>
        <p:spPr bwMode="auto">
          <a:xfrm>
            <a:off x="8126413" y="4989513"/>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时间</a:t>
            </a:r>
          </a:p>
        </p:txBody>
      </p:sp>
      <p:sp>
        <p:nvSpPr>
          <p:cNvPr id="83983" name="Text Box 14"/>
          <p:cNvSpPr txBox="1">
            <a:spLocks noChangeArrowheads="1"/>
          </p:cNvSpPr>
          <p:nvPr/>
        </p:nvSpPr>
        <p:spPr bwMode="auto">
          <a:xfrm>
            <a:off x="630238" y="4968875"/>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2000">
                <a:solidFill>
                  <a:srgbClr val="333399"/>
                </a:solidFill>
                <a:latin typeface="Arial" pitchFamily="34" charset="0"/>
                <a:ea typeface="黑体" pitchFamily="49" charset="-122"/>
              </a:rPr>
              <a:t>1</a:t>
            </a:r>
          </a:p>
        </p:txBody>
      </p:sp>
      <p:sp>
        <p:nvSpPr>
          <p:cNvPr id="83984" name="Text Box 15"/>
          <p:cNvSpPr txBox="1">
            <a:spLocks noChangeArrowheads="1"/>
          </p:cNvSpPr>
          <p:nvPr/>
        </p:nvSpPr>
        <p:spPr bwMode="auto">
          <a:xfrm>
            <a:off x="3260725" y="4968875"/>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2000">
                <a:solidFill>
                  <a:srgbClr val="333399"/>
                </a:solidFill>
                <a:latin typeface="Arial" pitchFamily="34" charset="0"/>
                <a:ea typeface="黑体" pitchFamily="49" charset="-122"/>
              </a:rPr>
              <a:t>2</a:t>
            </a:r>
          </a:p>
        </p:txBody>
      </p:sp>
      <p:sp>
        <p:nvSpPr>
          <p:cNvPr id="83985" name="Line 16"/>
          <p:cNvSpPr>
            <a:spLocks noChangeShapeType="1"/>
          </p:cNvSpPr>
          <p:nvPr/>
        </p:nvSpPr>
        <p:spPr bwMode="auto">
          <a:xfrm>
            <a:off x="3611563" y="5497513"/>
            <a:ext cx="0" cy="250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6" name="Line 17"/>
          <p:cNvSpPr>
            <a:spLocks noChangeShapeType="1"/>
          </p:cNvSpPr>
          <p:nvPr/>
        </p:nvSpPr>
        <p:spPr bwMode="auto">
          <a:xfrm>
            <a:off x="7105650" y="5497513"/>
            <a:ext cx="0" cy="739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7" name="Line 18"/>
          <p:cNvSpPr>
            <a:spLocks noChangeShapeType="1"/>
          </p:cNvSpPr>
          <p:nvPr/>
        </p:nvSpPr>
        <p:spPr bwMode="auto">
          <a:xfrm>
            <a:off x="992188" y="5497513"/>
            <a:ext cx="0" cy="739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8" name="Line 19"/>
          <p:cNvSpPr>
            <a:spLocks noChangeShapeType="1"/>
          </p:cNvSpPr>
          <p:nvPr/>
        </p:nvSpPr>
        <p:spPr bwMode="auto">
          <a:xfrm>
            <a:off x="992188" y="6069013"/>
            <a:ext cx="6113462"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9" name="Text Box 20"/>
          <p:cNvSpPr txBox="1">
            <a:spLocks noChangeArrowheads="1"/>
          </p:cNvSpPr>
          <p:nvPr/>
        </p:nvSpPr>
        <p:spPr bwMode="auto">
          <a:xfrm>
            <a:off x="2954338" y="5840413"/>
            <a:ext cx="1906587"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往返时间 </a:t>
            </a:r>
            <a:r>
              <a:rPr kumimoji="1" lang="en-US" altLang="zh-CN" sz="2000">
                <a:solidFill>
                  <a:srgbClr val="333399"/>
                </a:solidFill>
                <a:latin typeface="Arial" pitchFamily="34" charset="0"/>
                <a:ea typeface="黑体" pitchFamily="49" charset="-122"/>
              </a:rPr>
              <a:t>RTT?</a:t>
            </a:r>
          </a:p>
        </p:txBody>
      </p:sp>
      <p:sp>
        <p:nvSpPr>
          <p:cNvPr id="83990" name="Freeform 21"/>
          <p:cNvSpPr>
            <a:spLocks/>
          </p:cNvSpPr>
          <p:nvPr/>
        </p:nvSpPr>
        <p:spPr bwMode="auto">
          <a:xfrm>
            <a:off x="4194175" y="4211638"/>
            <a:ext cx="2717800" cy="328612"/>
          </a:xfrm>
          <a:custGeom>
            <a:avLst/>
            <a:gdLst>
              <a:gd name="T0" fmla="*/ 2717800 w 1472"/>
              <a:gd name="T1" fmla="*/ 328612 h 189"/>
              <a:gd name="T2" fmla="*/ 2289451 w 1472"/>
              <a:gd name="T3" fmla="*/ 147788 h 189"/>
              <a:gd name="T4" fmla="*/ 1750322 w 1472"/>
              <a:gd name="T5" fmla="*/ 29558 h 189"/>
              <a:gd name="T6" fmla="*/ 1262891 w 1472"/>
              <a:gd name="T7" fmla="*/ 1739 h 189"/>
              <a:gd name="T8" fmla="*/ 886239 w 1472"/>
              <a:gd name="T9" fmla="*/ 22603 h 189"/>
              <a:gd name="T10" fmla="*/ 494817 w 1472"/>
              <a:gd name="T11" fmla="*/ 106060 h 189"/>
              <a:gd name="T12" fmla="*/ 177248 w 1472"/>
              <a:gd name="T13" fmla="*/ 203426 h 189"/>
              <a:gd name="T14" fmla="*/ 0 w 1472"/>
              <a:gd name="T15" fmla="*/ 286883 h 1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cap="flat" cmpd="sng">
            <a:solidFill>
              <a:schemeClr val="hlink"/>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1" name="Freeform 22"/>
          <p:cNvSpPr>
            <a:spLocks/>
          </p:cNvSpPr>
          <p:nvPr/>
        </p:nvSpPr>
        <p:spPr bwMode="auto">
          <a:xfrm>
            <a:off x="1574800" y="3921125"/>
            <a:ext cx="5337175" cy="577850"/>
          </a:xfrm>
          <a:custGeom>
            <a:avLst/>
            <a:gdLst>
              <a:gd name="T0" fmla="*/ 5337175 w 1472"/>
              <a:gd name="T1" fmla="*/ 577850 h 189"/>
              <a:gd name="T2" fmla="*/ 4495990 w 1472"/>
              <a:gd name="T3" fmla="*/ 259880 h 189"/>
              <a:gd name="T4" fmla="*/ 3437257 w 1472"/>
              <a:gd name="T5" fmla="*/ 51976 h 189"/>
              <a:gd name="T6" fmla="*/ 2480046 w 1472"/>
              <a:gd name="T7" fmla="*/ 3057 h 189"/>
              <a:gd name="T8" fmla="*/ 1740383 w 1472"/>
              <a:gd name="T9" fmla="*/ 39746 h 189"/>
              <a:gd name="T10" fmla="*/ 971714 w 1472"/>
              <a:gd name="T11" fmla="*/ 186502 h 189"/>
              <a:gd name="T12" fmla="*/ 348077 w 1472"/>
              <a:gd name="T13" fmla="*/ 357717 h 189"/>
              <a:gd name="T14" fmla="*/ 0 w 1472"/>
              <a:gd name="T15" fmla="*/ 504472 h 1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cap="flat" cmpd="sng">
            <a:solidFill>
              <a:schemeClr val="hlink"/>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2" name="Text Box 23"/>
          <p:cNvSpPr txBox="1">
            <a:spLocks noChangeArrowheads="1"/>
          </p:cNvSpPr>
          <p:nvPr/>
        </p:nvSpPr>
        <p:spPr bwMode="auto">
          <a:xfrm>
            <a:off x="6276975" y="3775075"/>
            <a:ext cx="2216150" cy="70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是对哪一个报文段</a:t>
            </a:r>
          </a:p>
          <a:p>
            <a:pPr algn="ctr" eaLnBrk="1" hangingPunct="1"/>
            <a:r>
              <a:rPr kumimoji="1" lang="zh-CN" altLang="en-US" sz="2000">
                <a:solidFill>
                  <a:srgbClr val="333399"/>
                </a:solidFill>
                <a:latin typeface="Arial" pitchFamily="34" charset="0"/>
                <a:ea typeface="黑体" pitchFamily="49" charset="-122"/>
              </a:rPr>
              <a:t>的确认？</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98BFFF7-897D-476F-A4C7-9E9542990BB9}" type="slidenum">
              <a:rPr lang="en-US" altLang="zh-CN" sz="1400"/>
              <a:pPr eaLnBrk="1" hangingPunct="1"/>
              <a:t>81</a:t>
            </a:fld>
            <a:endParaRPr lang="en-US" altLang="zh-CN" sz="1400"/>
          </a:p>
        </p:txBody>
      </p:sp>
      <p:sp>
        <p:nvSpPr>
          <p:cNvPr id="84995" name="Rectangle 2"/>
          <p:cNvSpPr>
            <a:spLocks noGrp="1" noChangeArrowheads="1"/>
          </p:cNvSpPr>
          <p:nvPr>
            <p:ph type="title"/>
          </p:nvPr>
        </p:nvSpPr>
        <p:spPr/>
        <p:txBody>
          <a:bodyPr/>
          <a:lstStyle/>
          <a:p>
            <a:pPr algn="ctr" eaLnBrk="1" hangingPunct="1"/>
            <a:r>
              <a:rPr lang="en-US" altLang="zh-CN" smtClean="0"/>
              <a:t>Karn </a:t>
            </a:r>
            <a:r>
              <a:rPr lang="zh-CN" altLang="en-US" smtClean="0"/>
              <a:t>算法 </a:t>
            </a:r>
          </a:p>
        </p:txBody>
      </p:sp>
      <p:sp>
        <p:nvSpPr>
          <p:cNvPr id="84996" name="Rectangle 3"/>
          <p:cNvSpPr>
            <a:spLocks noGrp="1" noChangeArrowheads="1"/>
          </p:cNvSpPr>
          <p:nvPr>
            <p:ph type="body" idx="1"/>
          </p:nvPr>
        </p:nvSpPr>
        <p:spPr>
          <a:xfrm>
            <a:off x="1042988" y="1906588"/>
            <a:ext cx="7772400" cy="4114800"/>
          </a:xfrm>
        </p:spPr>
        <p:txBody>
          <a:bodyPr/>
          <a:lstStyle/>
          <a:p>
            <a:pPr eaLnBrk="1" hangingPunct="1"/>
            <a:r>
              <a:rPr lang="zh-CN" altLang="en-US" smtClean="0"/>
              <a:t>在计算平均往返时间 </a:t>
            </a:r>
            <a:r>
              <a:rPr lang="en-US" altLang="zh-CN" smtClean="0"/>
              <a:t>RTT </a:t>
            </a:r>
            <a:r>
              <a:rPr lang="zh-CN" altLang="en-US" smtClean="0"/>
              <a:t>时，只要报文段重传了，就不采用其往返时间样本。</a:t>
            </a:r>
          </a:p>
          <a:p>
            <a:pPr eaLnBrk="1" hangingPunct="1"/>
            <a:r>
              <a:rPr lang="zh-CN" altLang="en-US" smtClean="0"/>
              <a:t>这样得出的加权平均平均往返时间 </a:t>
            </a:r>
            <a:r>
              <a:rPr lang="en-US" altLang="zh-CN" smtClean="0"/>
              <a:t>RTT</a:t>
            </a:r>
            <a:r>
              <a:rPr lang="en-US" altLang="zh-CN" baseline="-25000" smtClean="0"/>
              <a:t>S</a:t>
            </a:r>
            <a:r>
              <a:rPr lang="en-US" altLang="zh-CN" smtClean="0"/>
              <a:t> </a:t>
            </a:r>
            <a:r>
              <a:rPr lang="zh-CN" altLang="en-US" smtClean="0"/>
              <a:t>和超时重传时间 </a:t>
            </a:r>
            <a:r>
              <a:rPr lang="en-US" altLang="zh-CN" smtClean="0"/>
              <a:t>RTO </a:t>
            </a:r>
            <a:r>
              <a:rPr lang="zh-CN" altLang="en-US" smtClean="0"/>
              <a:t>就较准确。 </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2B8A3D2-F51B-42C6-B777-58F4F801B41D}" type="slidenum">
              <a:rPr lang="en-US" altLang="zh-CN" sz="1400"/>
              <a:pPr eaLnBrk="1" hangingPunct="1"/>
              <a:t>82</a:t>
            </a:fld>
            <a:endParaRPr lang="en-US" altLang="zh-CN" sz="1400"/>
          </a:p>
        </p:txBody>
      </p:sp>
      <p:sp>
        <p:nvSpPr>
          <p:cNvPr id="86019" name="Rectangle 2"/>
          <p:cNvSpPr>
            <a:spLocks noChangeArrowheads="1"/>
          </p:cNvSpPr>
          <p:nvPr/>
        </p:nvSpPr>
        <p:spPr bwMode="auto">
          <a:xfrm>
            <a:off x="755650" y="2636838"/>
            <a:ext cx="8047038" cy="841375"/>
          </a:xfrm>
          <a:prstGeom prst="rect">
            <a:avLst/>
          </a:prstGeom>
          <a:solidFill>
            <a:srgbClr val="CCECFF"/>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20" name="Rectangle 4"/>
          <p:cNvSpPr>
            <a:spLocks noGrp="1" noChangeArrowheads="1"/>
          </p:cNvSpPr>
          <p:nvPr>
            <p:ph type="body" idx="1"/>
          </p:nvPr>
        </p:nvSpPr>
        <p:spPr>
          <a:xfrm>
            <a:off x="395288" y="2051050"/>
            <a:ext cx="8420100" cy="4114800"/>
          </a:xfrm>
        </p:spPr>
        <p:txBody>
          <a:bodyPr/>
          <a:lstStyle/>
          <a:p>
            <a:pPr algn="just" eaLnBrk="1" hangingPunct="1">
              <a:lnSpc>
                <a:spcPct val="110000"/>
              </a:lnSpc>
            </a:pPr>
            <a:r>
              <a:rPr lang="zh-CN" altLang="en-US" sz="2800" smtClean="0"/>
              <a:t>报文段每重传一次，就把 </a:t>
            </a:r>
            <a:r>
              <a:rPr lang="en-US" altLang="zh-CN" sz="2800" smtClean="0"/>
              <a:t>RTO </a:t>
            </a:r>
            <a:r>
              <a:rPr lang="zh-CN" altLang="en-US" sz="2800" smtClean="0"/>
              <a:t>增大一些：</a:t>
            </a:r>
          </a:p>
          <a:p>
            <a:pPr algn="ctr" eaLnBrk="1" hangingPunct="1">
              <a:lnSpc>
                <a:spcPct val="110000"/>
              </a:lnSpc>
              <a:spcBef>
                <a:spcPct val="60000"/>
              </a:spcBef>
              <a:spcAft>
                <a:spcPct val="50000"/>
              </a:spcAft>
              <a:buFont typeface="Wingdings" pitchFamily="2" charset="2"/>
              <a:buNone/>
            </a:pPr>
            <a:r>
              <a:rPr lang="zh-CN" altLang="en-US" sz="2800" smtClean="0"/>
              <a:t>新的 </a:t>
            </a:r>
            <a:r>
              <a:rPr lang="en-US" altLang="zh-CN" sz="2800" smtClean="0"/>
              <a:t>RTO </a:t>
            </a:r>
            <a:r>
              <a:rPr lang="en-US" altLang="zh-CN" sz="2800" smtClean="0">
                <a:sym typeface="Symbol" pitchFamily="18" charset="2"/>
              </a:rPr>
              <a:t></a:t>
            </a:r>
            <a:r>
              <a:rPr lang="en-US" altLang="zh-CN" sz="2800" smtClean="0"/>
              <a:t> </a:t>
            </a:r>
            <a:r>
              <a:rPr lang="en-US" altLang="zh-CN" sz="2800" smtClean="0">
                <a:sym typeface="Symbol" pitchFamily="18" charset="2"/>
              </a:rPr>
              <a:t></a:t>
            </a:r>
            <a:r>
              <a:rPr lang="en-US" altLang="zh-CN" sz="2800" smtClean="0"/>
              <a:t> </a:t>
            </a:r>
            <a:r>
              <a:rPr lang="en-US" altLang="zh-CN" sz="2800" smtClean="0">
                <a:sym typeface="Symbol" pitchFamily="18" charset="2"/>
              </a:rPr>
              <a:t></a:t>
            </a:r>
            <a:r>
              <a:rPr lang="en-US" altLang="zh-CN" sz="2800" smtClean="0"/>
              <a:t> (</a:t>
            </a:r>
            <a:r>
              <a:rPr lang="zh-CN" altLang="en-US" sz="2800" smtClean="0"/>
              <a:t>旧的 </a:t>
            </a:r>
            <a:r>
              <a:rPr lang="en-US" altLang="zh-CN" sz="2800" smtClean="0"/>
              <a:t>RTO)      </a:t>
            </a:r>
          </a:p>
          <a:p>
            <a:pPr eaLnBrk="1" hangingPunct="1">
              <a:lnSpc>
                <a:spcPct val="110000"/>
              </a:lnSpc>
            </a:pPr>
            <a:r>
              <a:rPr lang="zh-CN" altLang="en-US" sz="2800" smtClean="0"/>
              <a:t>系数 </a:t>
            </a:r>
            <a:r>
              <a:rPr lang="zh-CN" altLang="en-US" sz="2800" smtClean="0">
                <a:sym typeface="Symbol" pitchFamily="18" charset="2"/>
              </a:rPr>
              <a:t> </a:t>
            </a:r>
            <a:r>
              <a:rPr lang="zh-CN" altLang="en-US" sz="2800" smtClean="0"/>
              <a:t>的典型值是 </a:t>
            </a:r>
            <a:r>
              <a:rPr lang="en-US" altLang="zh-CN" sz="2800" smtClean="0"/>
              <a:t>2 </a:t>
            </a:r>
            <a:r>
              <a:rPr lang="zh-CN" altLang="en-US" sz="2800" smtClean="0"/>
              <a:t>。</a:t>
            </a:r>
          </a:p>
          <a:p>
            <a:pPr eaLnBrk="1" hangingPunct="1">
              <a:lnSpc>
                <a:spcPct val="110000"/>
              </a:lnSpc>
            </a:pPr>
            <a:r>
              <a:rPr lang="zh-CN" altLang="en-US" sz="2800" smtClean="0"/>
              <a:t>当不再发生报文段的重传时，才根据报文段的往返时延更新平均往返时延 </a:t>
            </a:r>
            <a:r>
              <a:rPr lang="en-US" altLang="zh-CN" sz="2800" smtClean="0"/>
              <a:t>RTT </a:t>
            </a:r>
            <a:r>
              <a:rPr lang="zh-CN" altLang="en-US" sz="2800" smtClean="0"/>
              <a:t>和超时重传时间 </a:t>
            </a:r>
            <a:r>
              <a:rPr lang="en-US" altLang="zh-CN" sz="2800" smtClean="0"/>
              <a:t>RTO </a:t>
            </a:r>
            <a:r>
              <a:rPr lang="zh-CN" altLang="en-US" sz="2800" smtClean="0"/>
              <a:t>的数值。</a:t>
            </a:r>
          </a:p>
          <a:p>
            <a:pPr eaLnBrk="1" hangingPunct="1">
              <a:lnSpc>
                <a:spcPct val="110000"/>
              </a:lnSpc>
            </a:pPr>
            <a:r>
              <a:rPr lang="zh-CN" altLang="en-US" sz="2800" smtClean="0"/>
              <a:t>实践证明，这种策略较为合理。 </a:t>
            </a:r>
          </a:p>
        </p:txBody>
      </p:sp>
      <p:sp>
        <p:nvSpPr>
          <p:cNvPr id="86021" name="Rectangle 3"/>
          <p:cNvSpPr>
            <a:spLocks noGrp="1" noChangeArrowheads="1"/>
          </p:cNvSpPr>
          <p:nvPr>
            <p:ph type="title"/>
          </p:nvPr>
        </p:nvSpPr>
        <p:spPr/>
        <p:txBody>
          <a:bodyPr/>
          <a:lstStyle/>
          <a:p>
            <a:pPr algn="ctr" eaLnBrk="1" hangingPunct="1"/>
            <a:r>
              <a:rPr lang="zh-CN" altLang="en-US" smtClean="0"/>
              <a:t>修正的 </a:t>
            </a:r>
            <a:r>
              <a:rPr lang="en-US" altLang="zh-CN" smtClean="0"/>
              <a:t>Karn </a:t>
            </a:r>
            <a:r>
              <a:rPr lang="zh-CN" altLang="en-US" smtClean="0"/>
              <a:t>算法 </a:t>
            </a:r>
            <a:r>
              <a:rPr lang="en-US" altLang="zh-CN" smtClean="0"/>
              <a:t>202</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84A3862-A680-45F8-BFAD-54B5F25F0DBF}" type="slidenum">
              <a:rPr lang="en-US" altLang="zh-CN" sz="1400"/>
              <a:pPr eaLnBrk="1" hangingPunct="1"/>
              <a:t>83</a:t>
            </a:fld>
            <a:endParaRPr lang="en-US" altLang="zh-CN" sz="1400"/>
          </a:p>
        </p:txBody>
      </p:sp>
      <p:sp>
        <p:nvSpPr>
          <p:cNvPr id="87043" name="Rectangle 2"/>
          <p:cNvSpPr>
            <a:spLocks noGrp="1" noChangeArrowheads="1"/>
          </p:cNvSpPr>
          <p:nvPr>
            <p:ph type="title"/>
          </p:nvPr>
        </p:nvSpPr>
        <p:spPr/>
        <p:txBody>
          <a:bodyPr/>
          <a:lstStyle/>
          <a:p>
            <a:pPr algn="ctr" eaLnBrk="1" hangingPunct="1"/>
            <a:r>
              <a:rPr lang="en-US" altLang="zh-CN" smtClean="0"/>
              <a:t>5.6.3  </a:t>
            </a:r>
            <a:r>
              <a:rPr lang="zh-CN" altLang="en-US" smtClean="0"/>
              <a:t>选择确认 </a:t>
            </a:r>
            <a:r>
              <a:rPr lang="en-US" altLang="zh-CN" smtClean="0"/>
              <a:t>SACK</a:t>
            </a:r>
            <a:br>
              <a:rPr lang="en-US" altLang="zh-CN" smtClean="0"/>
            </a:br>
            <a:r>
              <a:rPr lang="en-US" altLang="zh-CN" sz="4000" smtClean="0"/>
              <a:t>(Selective ACK)</a:t>
            </a:r>
            <a:r>
              <a:rPr lang="en-US" altLang="zh-CN" smtClean="0"/>
              <a:t> </a:t>
            </a:r>
          </a:p>
        </p:txBody>
      </p:sp>
      <p:sp>
        <p:nvSpPr>
          <p:cNvPr id="87044" name="Rectangle 3"/>
          <p:cNvSpPr>
            <a:spLocks noGrp="1" noChangeArrowheads="1"/>
          </p:cNvSpPr>
          <p:nvPr>
            <p:ph type="body" idx="1"/>
          </p:nvPr>
        </p:nvSpPr>
        <p:spPr/>
        <p:txBody>
          <a:bodyPr/>
          <a:lstStyle/>
          <a:p>
            <a:pPr eaLnBrk="1" hangingPunct="1"/>
            <a:r>
              <a:rPr lang="zh-CN" altLang="en-US" smtClean="0"/>
              <a:t>接收方收到了和前面的字节流不连续的两个字节块。</a:t>
            </a:r>
          </a:p>
          <a:p>
            <a:pPr eaLnBrk="1" hangingPunct="1"/>
            <a:r>
              <a:rPr lang="zh-CN" altLang="en-US" smtClean="0"/>
              <a:t>如果这些字节的序号都在接收窗口之内，那么接收方就先收下这些数据，但要把这些信息准确地告诉发送方，使发送方不要再重复发送这些已收到的数据。 </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13775AB-E2D7-4149-AD4D-3812EC00A2CC}" type="slidenum">
              <a:rPr lang="en-US" altLang="zh-CN" sz="1400"/>
              <a:pPr eaLnBrk="1" hangingPunct="1"/>
              <a:t>84</a:t>
            </a:fld>
            <a:endParaRPr lang="en-US" altLang="zh-CN" sz="1400"/>
          </a:p>
        </p:txBody>
      </p:sp>
      <p:sp>
        <p:nvSpPr>
          <p:cNvPr id="88067" name="Rectangle 6"/>
          <p:cNvSpPr>
            <a:spLocks noChangeArrowheads="1"/>
          </p:cNvSpPr>
          <p:nvPr/>
        </p:nvSpPr>
        <p:spPr bwMode="auto">
          <a:xfrm>
            <a:off x="179388" y="2805113"/>
            <a:ext cx="2089150" cy="431800"/>
          </a:xfrm>
          <a:prstGeom prst="rect">
            <a:avLst/>
          </a:prstGeom>
          <a:solidFill>
            <a:schemeClr val="bg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68" name="Rectangle 7"/>
          <p:cNvSpPr>
            <a:spLocks noChangeArrowheads="1"/>
          </p:cNvSpPr>
          <p:nvPr/>
        </p:nvSpPr>
        <p:spPr bwMode="auto">
          <a:xfrm>
            <a:off x="3132138" y="2805113"/>
            <a:ext cx="1944687" cy="431800"/>
          </a:xfrm>
          <a:prstGeom prst="rect">
            <a:avLst/>
          </a:prstGeom>
          <a:solidFill>
            <a:schemeClr val="bg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69" name="Rectangle 8"/>
          <p:cNvSpPr>
            <a:spLocks noChangeArrowheads="1"/>
          </p:cNvSpPr>
          <p:nvPr/>
        </p:nvSpPr>
        <p:spPr bwMode="auto">
          <a:xfrm>
            <a:off x="5867400" y="2805113"/>
            <a:ext cx="2736850" cy="431800"/>
          </a:xfrm>
          <a:prstGeom prst="rect">
            <a:avLst/>
          </a:prstGeom>
          <a:solidFill>
            <a:schemeClr val="bg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0" name="Text Box 15"/>
          <p:cNvSpPr txBox="1">
            <a:spLocks noChangeArrowheads="1"/>
          </p:cNvSpPr>
          <p:nvPr/>
        </p:nvSpPr>
        <p:spPr bwMode="auto">
          <a:xfrm>
            <a:off x="215900" y="2852738"/>
            <a:ext cx="84137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600">
                <a:solidFill>
                  <a:schemeClr val="tx2"/>
                </a:solidFill>
                <a:latin typeface="Times New Roman" pitchFamily="18" charset="0"/>
                <a:ea typeface="黑体" pitchFamily="49" charset="-122"/>
              </a:rPr>
              <a:t>1                            1000                  1501                     3000                 3501                                    4500</a:t>
            </a:r>
          </a:p>
        </p:txBody>
      </p:sp>
      <p:sp>
        <p:nvSpPr>
          <p:cNvPr id="88071" name="Text Box 19"/>
          <p:cNvSpPr txBox="1">
            <a:spLocks noChangeArrowheads="1"/>
          </p:cNvSpPr>
          <p:nvPr/>
        </p:nvSpPr>
        <p:spPr bwMode="auto">
          <a:xfrm>
            <a:off x="1403350" y="3452813"/>
            <a:ext cx="14160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600">
                <a:solidFill>
                  <a:schemeClr val="tx2"/>
                </a:solidFill>
                <a:latin typeface="Times New Roman" pitchFamily="18" charset="0"/>
                <a:ea typeface="黑体" pitchFamily="49" charset="-122"/>
              </a:rPr>
              <a:t>确认号 </a:t>
            </a:r>
            <a:r>
              <a:rPr lang="en-US" altLang="zh-CN" sz="1600">
                <a:solidFill>
                  <a:schemeClr val="tx2"/>
                </a:solidFill>
                <a:latin typeface="Times New Roman" pitchFamily="18" charset="0"/>
                <a:ea typeface="黑体" pitchFamily="49" charset="-122"/>
              </a:rPr>
              <a:t>= 1001</a:t>
            </a:r>
          </a:p>
        </p:txBody>
      </p:sp>
      <p:sp>
        <p:nvSpPr>
          <p:cNvPr id="88072" name="Text Box 26"/>
          <p:cNvSpPr txBox="1">
            <a:spLocks noChangeArrowheads="1"/>
          </p:cNvSpPr>
          <p:nvPr/>
        </p:nvSpPr>
        <p:spPr bwMode="auto">
          <a:xfrm>
            <a:off x="2924175" y="3452813"/>
            <a:ext cx="10001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600">
                <a:solidFill>
                  <a:schemeClr val="tx2"/>
                </a:solidFill>
                <a:latin typeface="Times New Roman" pitchFamily="18" charset="0"/>
                <a:ea typeface="黑体" pitchFamily="49" charset="-122"/>
              </a:rPr>
              <a:t>L</a:t>
            </a:r>
            <a:r>
              <a:rPr lang="en-US" altLang="zh-CN" sz="1600" baseline="-25000">
                <a:solidFill>
                  <a:schemeClr val="tx2"/>
                </a:solidFill>
                <a:latin typeface="Times New Roman" pitchFamily="18" charset="0"/>
                <a:ea typeface="黑体" pitchFamily="49" charset="-122"/>
              </a:rPr>
              <a:t>1</a:t>
            </a:r>
            <a:r>
              <a:rPr lang="en-US" altLang="zh-CN" sz="1600">
                <a:solidFill>
                  <a:schemeClr val="tx2"/>
                </a:solidFill>
                <a:latin typeface="Times New Roman" pitchFamily="18" charset="0"/>
                <a:ea typeface="黑体" pitchFamily="49" charset="-122"/>
              </a:rPr>
              <a:t> = 1501</a:t>
            </a:r>
          </a:p>
        </p:txBody>
      </p:sp>
      <p:sp>
        <p:nvSpPr>
          <p:cNvPr id="88073" name="Text Box 27"/>
          <p:cNvSpPr txBox="1">
            <a:spLocks noChangeArrowheads="1"/>
          </p:cNvSpPr>
          <p:nvPr/>
        </p:nvSpPr>
        <p:spPr bwMode="auto">
          <a:xfrm>
            <a:off x="5659438" y="3452813"/>
            <a:ext cx="10001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600">
                <a:solidFill>
                  <a:schemeClr val="tx2"/>
                </a:solidFill>
                <a:latin typeface="Times New Roman" pitchFamily="18" charset="0"/>
                <a:ea typeface="黑体" pitchFamily="49" charset="-122"/>
              </a:rPr>
              <a:t>L</a:t>
            </a:r>
            <a:r>
              <a:rPr lang="en-US" altLang="zh-CN" sz="1600" baseline="-25000">
                <a:solidFill>
                  <a:schemeClr val="tx2"/>
                </a:solidFill>
                <a:latin typeface="Times New Roman" pitchFamily="18" charset="0"/>
                <a:ea typeface="黑体" pitchFamily="49" charset="-122"/>
              </a:rPr>
              <a:t>2</a:t>
            </a:r>
            <a:r>
              <a:rPr lang="en-US" altLang="zh-CN" sz="1600">
                <a:solidFill>
                  <a:schemeClr val="tx2"/>
                </a:solidFill>
                <a:latin typeface="Times New Roman" pitchFamily="18" charset="0"/>
                <a:ea typeface="黑体" pitchFamily="49" charset="-122"/>
              </a:rPr>
              <a:t> = 3501</a:t>
            </a:r>
          </a:p>
        </p:txBody>
      </p:sp>
      <p:sp>
        <p:nvSpPr>
          <p:cNvPr id="88074" name="Text Box 28"/>
          <p:cNvSpPr txBox="1">
            <a:spLocks noChangeArrowheads="1"/>
          </p:cNvSpPr>
          <p:nvPr/>
        </p:nvSpPr>
        <p:spPr bwMode="auto">
          <a:xfrm>
            <a:off x="4643438" y="3452813"/>
            <a:ext cx="10112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600">
                <a:solidFill>
                  <a:schemeClr val="tx2"/>
                </a:solidFill>
                <a:latin typeface="Times New Roman" pitchFamily="18" charset="0"/>
                <a:ea typeface="黑体" pitchFamily="49" charset="-122"/>
              </a:rPr>
              <a:t>R</a:t>
            </a:r>
            <a:r>
              <a:rPr lang="en-US" altLang="zh-CN" sz="1600" baseline="-25000">
                <a:solidFill>
                  <a:schemeClr val="tx2"/>
                </a:solidFill>
                <a:latin typeface="Times New Roman" pitchFamily="18" charset="0"/>
                <a:ea typeface="黑体" pitchFamily="49" charset="-122"/>
              </a:rPr>
              <a:t>1</a:t>
            </a:r>
            <a:r>
              <a:rPr lang="en-US" altLang="zh-CN" sz="1600">
                <a:solidFill>
                  <a:schemeClr val="tx2"/>
                </a:solidFill>
                <a:latin typeface="Times New Roman" pitchFamily="18" charset="0"/>
                <a:ea typeface="黑体" pitchFamily="49" charset="-122"/>
              </a:rPr>
              <a:t> = 3001</a:t>
            </a:r>
          </a:p>
        </p:txBody>
      </p:sp>
      <p:sp>
        <p:nvSpPr>
          <p:cNvPr id="88075" name="Text Box 29"/>
          <p:cNvSpPr txBox="1">
            <a:spLocks noChangeArrowheads="1"/>
          </p:cNvSpPr>
          <p:nvPr/>
        </p:nvSpPr>
        <p:spPr bwMode="auto">
          <a:xfrm>
            <a:off x="8097838" y="3452813"/>
            <a:ext cx="10112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600">
                <a:solidFill>
                  <a:schemeClr val="tx2"/>
                </a:solidFill>
                <a:latin typeface="Times New Roman" pitchFamily="18" charset="0"/>
                <a:ea typeface="黑体" pitchFamily="49" charset="-122"/>
              </a:rPr>
              <a:t>R</a:t>
            </a:r>
            <a:r>
              <a:rPr lang="en-US" altLang="zh-CN" sz="1600" baseline="-25000">
                <a:solidFill>
                  <a:schemeClr val="tx2"/>
                </a:solidFill>
                <a:latin typeface="Times New Roman" pitchFamily="18" charset="0"/>
                <a:ea typeface="黑体" pitchFamily="49" charset="-122"/>
              </a:rPr>
              <a:t>1</a:t>
            </a:r>
            <a:r>
              <a:rPr lang="en-US" altLang="zh-CN" sz="1600">
                <a:solidFill>
                  <a:schemeClr val="tx2"/>
                </a:solidFill>
                <a:latin typeface="Times New Roman" pitchFamily="18" charset="0"/>
                <a:ea typeface="黑体" pitchFamily="49" charset="-122"/>
              </a:rPr>
              <a:t> = 4501</a:t>
            </a:r>
          </a:p>
        </p:txBody>
      </p:sp>
      <p:sp>
        <p:nvSpPr>
          <p:cNvPr id="88076" name="Rectangle 4"/>
          <p:cNvSpPr>
            <a:spLocks noGrp="1" noChangeArrowheads="1"/>
          </p:cNvSpPr>
          <p:nvPr>
            <p:ph type="title"/>
          </p:nvPr>
        </p:nvSpPr>
        <p:spPr/>
        <p:txBody>
          <a:bodyPr/>
          <a:lstStyle/>
          <a:p>
            <a:pPr eaLnBrk="1" hangingPunct="1"/>
            <a:r>
              <a:rPr lang="zh-CN" altLang="en-US" smtClean="0"/>
              <a:t>接收到的字节流序号不连续 </a:t>
            </a:r>
          </a:p>
        </p:txBody>
      </p:sp>
      <p:sp>
        <p:nvSpPr>
          <p:cNvPr id="88077" name="Line 5"/>
          <p:cNvSpPr>
            <a:spLocks noChangeShapeType="1"/>
          </p:cNvSpPr>
          <p:nvPr/>
        </p:nvSpPr>
        <p:spPr bwMode="auto">
          <a:xfrm>
            <a:off x="179388" y="2613025"/>
            <a:ext cx="2089150"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8" name="Text Box 9"/>
          <p:cNvSpPr txBox="1">
            <a:spLocks noChangeArrowheads="1"/>
          </p:cNvSpPr>
          <p:nvPr/>
        </p:nvSpPr>
        <p:spPr bwMode="auto">
          <a:xfrm>
            <a:off x="2268538" y="254317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600" b="1">
                <a:solidFill>
                  <a:schemeClr val="tx2"/>
                </a:solidFill>
                <a:latin typeface="Times New Roman" pitchFamily="18" charset="0"/>
                <a:ea typeface="黑体" pitchFamily="49" charset="-122"/>
              </a:rPr>
              <a:t>…</a:t>
            </a:r>
          </a:p>
        </p:txBody>
      </p:sp>
      <p:sp>
        <p:nvSpPr>
          <p:cNvPr id="88079" name="Text Box 10"/>
          <p:cNvSpPr txBox="1">
            <a:spLocks noChangeArrowheads="1"/>
          </p:cNvSpPr>
          <p:nvPr/>
        </p:nvSpPr>
        <p:spPr bwMode="auto">
          <a:xfrm>
            <a:off x="5076825" y="2447925"/>
            <a:ext cx="7429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4400" b="1">
                <a:solidFill>
                  <a:schemeClr val="tx2"/>
                </a:solidFill>
                <a:latin typeface="Times New Roman" pitchFamily="18" charset="0"/>
                <a:ea typeface="黑体" pitchFamily="49" charset="-122"/>
              </a:rPr>
              <a:t>…</a:t>
            </a:r>
          </a:p>
        </p:txBody>
      </p:sp>
      <p:sp>
        <p:nvSpPr>
          <p:cNvPr id="88080" name="Line 11"/>
          <p:cNvSpPr>
            <a:spLocks noChangeShapeType="1"/>
          </p:cNvSpPr>
          <p:nvPr/>
        </p:nvSpPr>
        <p:spPr bwMode="auto">
          <a:xfrm flipH="1">
            <a:off x="171450" y="2516188"/>
            <a:ext cx="7938" cy="265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1" name="Text Box 12"/>
          <p:cNvSpPr txBox="1">
            <a:spLocks noChangeArrowheads="1"/>
          </p:cNvSpPr>
          <p:nvPr/>
        </p:nvSpPr>
        <p:spPr bwMode="auto">
          <a:xfrm>
            <a:off x="539750" y="2417763"/>
            <a:ext cx="1403350"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600">
                <a:solidFill>
                  <a:schemeClr val="tx2"/>
                </a:solidFill>
                <a:latin typeface="Times New Roman" pitchFamily="18" charset="0"/>
                <a:ea typeface="黑体" pitchFamily="49" charset="-122"/>
              </a:rPr>
              <a:t>连续的字节流</a:t>
            </a:r>
          </a:p>
        </p:txBody>
      </p:sp>
      <p:sp>
        <p:nvSpPr>
          <p:cNvPr id="88082" name="Line 13"/>
          <p:cNvSpPr>
            <a:spLocks noChangeShapeType="1"/>
          </p:cNvSpPr>
          <p:nvPr/>
        </p:nvSpPr>
        <p:spPr bwMode="auto">
          <a:xfrm flipH="1">
            <a:off x="2260600" y="2516188"/>
            <a:ext cx="7938" cy="265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3" name="Line 14"/>
          <p:cNvSpPr>
            <a:spLocks noChangeShapeType="1"/>
          </p:cNvSpPr>
          <p:nvPr/>
        </p:nvSpPr>
        <p:spPr bwMode="auto">
          <a:xfrm flipV="1">
            <a:off x="2314575" y="3092450"/>
            <a:ext cx="0" cy="43180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4" name="Text Box 16"/>
          <p:cNvSpPr txBox="1">
            <a:spLocks noChangeArrowheads="1"/>
          </p:cNvSpPr>
          <p:nvPr/>
        </p:nvSpPr>
        <p:spPr bwMode="auto">
          <a:xfrm>
            <a:off x="987425" y="270668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tx2"/>
                </a:solidFill>
                <a:latin typeface="Times New Roman" pitchFamily="18" charset="0"/>
                <a:ea typeface="黑体" pitchFamily="49" charset="-122"/>
              </a:rPr>
              <a:t>…</a:t>
            </a:r>
          </a:p>
        </p:txBody>
      </p:sp>
      <p:sp>
        <p:nvSpPr>
          <p:cNvPr id="88085" name="Text Box 17"/>
          <p:cNvSpPr txBox="1">
            <a:spLocks noChangeArrowheads="1"/>
          </p:cNvSpPr>
          <p:nvPr/>
        </p:nvSpPr>
        <p:spPr bwMode="auto">
          <a:xfrm>
            <a:off x="3867150" y="270668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tx2"/>
                </a:solidFill>
                <a:latin typeface="Times New Roman" pitchFamily="18" charset="0"/>
                <a:ea typeface="黑体" pitchFamily="49" charset="-122"/>
              </a:rPr>
              <a:t>…</a:t>
            </a:r>
          </a:p>
        </p:txBody>
      </p:sp>
      <p:sp>
        <p:nvSpPr>
          <p:cNvPr id="88086" name="Text Box 18"/>
          <p:cNvSpPr txBox="1">
            <a:spLocks noChangeArrowheads="1"/>
          </p:cNvSpPr>
          <p:nvPr/>
        </p:nvSpPr>
        <p:spPr bwMode="auto">
          <a:xfrm>
            <a:off x="7107238" y="2706688"/>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400">
                <a:solidFill>
                  <a:schemeClr val="tx2"/>
                </a:solidFill>
                <a:latin typeface="Times New Roman" pitchFamily="18" charset="0"/>
                <a:ea typeface="黑体" pitchFamily="49" charset="-122"/>
              </a:rPr>
              <a:t>…</a:t>
            </a:r>
          </a:p>
        </p:txBody>
      </p:sp>
      <p:sp>
        <p:nvSpPr>
          <p:cNvPr id="88087" name="Line 20"/>
          <p:cNvSpPr>
            <a:spLocks noChangeShapeType="1"/>
          </p:cNvSpPr>
          <p:nvPr/>
        </p:nvSpPr>
        <p:spPr bwMode="auto">
          <a:xfrm flipV="1">
            <a:off x="3348038" y="3092450"/>
            <a:ext cx="0" cy="43180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8" name="Line 21"/>
          <p:cNvSpPr>
            <a:spLocks noChangeShapeType="1"/>
          </p:cNvSpPr>
          <p:nvPr/>
        </p:nvSpPr>
        <p:spPr bwMode="auto">
          <a:xfrm flipV="1">
            <a:off x="5148263" y="3092450"/>
            <a:ext cx="0" cy="43180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9" name="Line 22"/>
          <p:cNvSpPr>
            <a:spLocks noChangeShapeType="1"/>
          </p:cNvSpPr>
          <p:nvPr/>
        </p:nvSpPr>
        <p:spPr bwMode="auto">
          <a:xfrm flipV="1">
            <a:off x="6084888" y="3092450"/>
            <a:ext cx="0" cy="43180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0" name="Line 23"/>
          <p:cNvSpPr>
            <a:spLocks noChangeShapeType="1"/>
          </p:cNvSpPr>
          <p:nvPr/>
        </p:nvSpPr>
        <p:spPr bwMode="auto">
          <a:xfrm flipV="1">
            <a:off x="8675688" y="3092450"/>
            <a:ext cx="0" cy="431800"/>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1" name="Text Box 24"/>
          <p:cNvSpPr txBox="1">
            <a:spLocks noChangeArrowheads="1"/>
          </p:cNvSpPr>
          <p:nvPr/>
        </p:nvSpPr>
        <p:spPr bwMode="auto">
          <a:xfrm>
            <a:off x="3419475" y="2405063"/>
            <a:ext cx="14033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600">
                <a:solidFill>
                  <a:schemeClr val="tx2"/>
                </a:solidFill>
                <a:latin typeface="Times New Roman" pitchFamily="18" charset="0"/>
                <a:ea typeface="黑体" pitchFamily="49" charset="-122"/>
              </a:rPr>
              <a:t>第一个字节块</a:t>
            </a:r>
          </a:p>
        </p:txBody>
      </p:sp>
      <p:sp>
        <p:nvSpPr>
          <p:cNvPr id="88092" name="Text Box 25"/>
          <p:cNvSpPr txBox="1">
            <a:spLocks noChangeArrowheads="1"/>
          </p:cNvSpPr>
          <p:nvPr/>
        </p:nvSpPr>
        <p:spPr bwMode="auto">
          <a:xfrm>
            <a:off x="6624638" y="2395538"/>
            <a:ext cx="14033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600">
                <a:solidFill>
                  <a:schemeClr val="tx2"/>
                </a:solidFill>
                <a:latin typeface="Times New Roman" pitchFamily="18" charset="0"/>
                <a:ea typeface="黑体" pitchFamily="49" charset="-122"/>
              </a:rPr>
              <a:t>第二个字节块</a:t>
            </a:r>
          </a:p>
        </p:txBody>
      </p:sp>
      <p:sp>
        <p:nvSpPr>
          <p:cNvPr id="88093" name="Text Box 30"/>
          <p:cNvSpPr txBox="1">
            <a:spLocks noChangeArrowheads="1"/>
          </p:cNvSpPr>
          <p:nvPr/>
        </p:nvSpPr>
        <p:spPr bwMode="auto">
          <a:xfrm>
            <a:off x="403225" y="4098925"/>
            <a:ext cx="8426450" cy="2292350"/>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buFontTx/>
              <a:buChar char="•"/>
            </a:pPr>
            <a:r>
              <a:rPr lang="en-US" altLang="zh-CN" sz="2400">
                <a:solidFill>
                  <a:schemeClr val="tx2"/>
                </a:solidFill>
                <a:latin typeface="Arial" pitchFamily="34" charset="0"/>
                <a:ea typeface="黑体" pitchFamily="49" charset="-122"/>
              </a:rPr>
              <a:t>  </a:t>
            </a:r>
            <a:r>
              <a:rPr lang="zh-CN" altLang="en-US" sz="2400">
                <a:solidFill>
                  <a:schemeClr val="tx2"/>
                </a:solidFill>
                <a:latin typeface="Arial" pitchFamily="34" charset="0"/>
                <a:ea typeface="黑体" pitchFamily="49" charset="-122"/>
              </a:rPr>
              <a:t>和前后字节不连续的每一个字节块都有两个边界：</a:t>
            </a:r>
          </a:p>
          <a:p>
            <a:pPr eaLnBrk="1" hangingPunct="1"/>
            <a:r>
              <a:rPr lang="zh-CN" altLang="en-US" sz="2400">
                <a:solidFill>
                  <a:schemeClr val="tx2"/>
                </a:solidFill>
                <a:latin typeface="Arial" pitchFamily="34" charset="0"/>
                <a:ea typeface="黑体" pitchFamily="49" charset="-122"/>
              </a:rPr>
              <a:t>   左边界和右边界。图中用四个指针标记这些边界。</a:t>
            </a:r>
          </a:p>
          <a:p>
            <a:pPr eaLnBrk="1" hangingPunct="1">
              <a:buFontTx/>
              <a:buChar char="•"/>
            </a:pPr>
            <a:r>
              <a:rPr lang="zh-CN" altLang="en-US" sz="2400">
                <a:solidFill>
                  <a:schemeClr val="tx2"/>
                </a:solidFill>
                <a:latin typeface="Arial" pitchFamily="34" charset="0"/>
                <a:ea typeface="黑体" pitchFamily="49" charset="-122"/>
              </a:rPr>
              <a:t>  第一个字节块的左边界 </a:t>
            </a:r>
            <a:r>
              <a:rPr lang="en-US" altLang="zh-CN" sz="2400">
                <a:solidFill>
                  <a:schemeClr val="tx2"/>
                </a:solidFill>
                <a:latin typeface="Arial" pitchFamily="34" charset="0"/>
                <a:ea typeface="黑体" pitchFamily="49" charset="-122"/>
              </a:rPr>
              <a:t>L</a:t>
            </a:r>
            <a:r>
              <a:rPr lang="en-US" altLang="zh-CN" sz="2400" baseline="-25000">
                <a:solidFill>
                  <a:schemeClr val="tx2"/>
                </a:solidFill>
                <a:latin typeface="Arial" pitchFamily="34" charset="0"/>
                <a:ea typeface="黑体" pitchFamily="49" charset="-122"/>
              </a:rPr>
              <a:t>1</a:t>
            </a:r>
            <a:r>
              <a:rPr lang="en-US" altLang="zh-CN" sz="2400">
                <a:solidFill>
                  <a:schemeClr val="tx2"/>
                </a:solidFill>
                <a:latin typeface="Arial" pitchFamily="34" charset="0"/>
                <a:ea typeface="黑体" pitchFamily="49" charset="-122"/>
              </a:rPr>
              <a:t> = 1501</a:t>
            </a:r>
            <a:r>
              <a:rPr lang="zh-CN" altLang="en-US" sz="2400">
                <a:solidFill>
                  <a:schemeClr val="tx2"/>
                </a:solidFill>
                <a:latin typeface="Arial" pitchFamily="34" charset="0"/>
                <a:ea typeface="黑体" pitchFamily="49" charset="-122"/>
              </a:rPr>
              <a:t>，但右边界 </a:t>
            </a:r>
            <a:r>
              <a:rPr lang="en-US" altLang="zh-CN" sz="2400">
                <a:solidFill>
                  <a:schemeClr val="tx2"/>
                </a:solidFill>
                <a:latin typeface="Arial" pitchFamily="34" charset="0"/>
                <a:ea typeface="黑体" pitchFamily="49" charset="-122"/>
              </a:rPr>
              <a:t>R</a:t>
            </a:r>
            <a:r>
              <a:rPr lang="en-US" altLang="zh-CN" sz="2400" baseline="-25000">
                <a:solidFill>
                  <a:schemeClr val="tx2"/>
                </a:solidFill>
                <a:latin typeface="Arial" pitchFamily="34" charset="0"/>
                <a:ea typeface="黑体" pitchFamily="49" charset="-122"/>
              </a:rPr>
              <a:t>1</a:t>
            </a:r>
            <a:r>
              <a:rPr lang="en-US" altLang="zh-CN" sz="2400">
                <a:solidFill>
                  <a:schemeClr val="tx2"/>
                </a:solidFill>
                <a:latin typeface="Arial" pitchFamily="34" charset="0"/>
                <a:ea typeface="黑体" pitchFamily="49" charset="-122"/>
              </a:rPr>
              <a:t> = 3001</a:t>
            </a:r>
            <a:r>
              <a:rPr lang="zh-CN" altLang="en-US" sz="2400">
                <a:solidFill>
                  <a:schemeClr val="tx2"/>
                </a:solidFill>
                <a:latin typeface="Arial" pitchFamily="34" charset="0"/>
                <a:ea typeface="黑体" pitchFamily="49" charset="-122"/>
              </a:rPr>
              <a:t>。</a:t>
            </a:r>
          </a:p>
          <a:p>
            <a:pPr eaLnBrk="1" hangingPunct="1">
              <a:buFontTx/>
              <a:buChar char="•"/>
            </a:pPr>
            <a:r>
              <a:rPr lang="zh-CN" altLang="en-US" sz="2400">
                <a:solidFill>
                  <a:schemeClr val="tx2"/>
                </a:solidFill>
                <a:latin typeface="Arial" pitchFamily="34" charset="0"/>
                <a:ea typeface="黑体" pitchFamily="49" charset="-122"/>
              </a:rPr>
              <a:t>  左边界指出字节块的第一个字节的序号，但右边界减 </a:t>
            </a:r>
            <a:r>
              <a:rPr lang="en-US" altLang="zh-CN" sz="2400">
                <a:solidFill>
                  <a:schemeClr val="tx2"/>
                </a:solidFill>
                <a:latin typeface="Arial" pitchFamily="34" charset="0"/>
                <a:ea typeface="黑体" pitchFamily="49" charset="-122"/>
              </a:rPr>
              <a:t>1 </a:t>
            </a:r>
            <a:r>
              <a:rPr lang="zh-CN" altLang="en-US" sz="2400">
                <a:solidFill>
                  <a:schemeClr val="tx2"/>
                </a:solidFill>
                <a:latin typeface="Arial" pitchFamily="34" charset="0"/>
                <a:ea typeface="黑体" pitchFamily="49" charset="-122"/>
              </a:rPr>
              <a:t>才是</a:t>
            </a:r>
          </a:p>
          <a:p>
            <a:pPr eaLnBrk="1" hangingPunct="1"/>
            <a:r>
              <a:rPr lang="zh-CN" altLang="en-US" sz="2400">
                <a:solidFill>
                  <a:schemeClr val="tx2"/>
                </a:solidFill>
                <a:latin typeface="Arial" pitchFamily="34" charset="0"/>
                <a:ea typeface="黑体" pitchFamily="49" charset="-122"/>
              </a:rPr>
              <a:t>    字节块中的最后一个序号。</a:t>
            </a:r>
          </a:p>
          <a:p>
            <a:pPr eaLnBrk="1" hangingPunct="1">
              <a:buFontTx/>
              <a:buChar char="•"/>
            </a:pPr>
            <a:r>
              <a:rPr lang="zh-CN" altLang="en-US" sz="2400">
                <a:solidFill>
                  <a:schemeClr val="tx2"/>
                </a:solidFill>
                <a:latin typeface="Arial" pitchFamily="34" charset="0"/>
                <a:ea typeface="黑体" pitchFamily="49" charset="-122"/>
              </a:rPr>
              <a:t>  第二个字节块的左边界 </a:t>
            </a:r>
            <a:r>
              <a:rPr lang="en-US" altLang="zh-CN" sz="2400">
                <a:solidFill>
                  <a:schemeClr val="tx2"/>
                </a:solidFill>
                <a:latin typeface="Arial" pitchFamily="34" charset="0"/>
                <a:ea typeface="黑体" pitchFamily="49" charset="-122"/>
              </a:rPr>
              <a:t>L</a:t>
            </a:r>
            <a:r>
              <a:rPr lang="en-US" altLang="zh-CN" sz="2400" baseline="-25000">
                <a:solidFill>
                  <a:schemeClr val="tx2"/>
                </a:solidFill>
                <a:latin typeface="Arial" pitchFamily="34" charset="0"/>
                <a:ea typeface="黑体" pitchFamily="49" charset="-122"/>
              </a:rPr>
              <a:t>2</a:t>
            </a:r>
            <a:r>
              <a:rPr lang="en-US" altLang="zh-CN" sz="2400">
                <a:solidFill>
                  <a:schemeClr val="tx2"/>
                </a:solidFill>
                <a:latin typeface="Arial" pitchFamily="34" charset="0"/>
                <a:ea typeface="黑体" pitchFamily="49" charset="-122"/>
              </a:rPr>
              <a:t> = 3501</a:t>
            </a:r>
            <a:r>
              <a:rPr lang="zh-CN" altLang="en-US" sz="2400">
                <a:solidFill>
                  <a:schemeClr val="tx2"/>
                </a:solidFill>
                <a:latin typeface="Arial" pitchFamily="34" charset="0"/>
                <a:ea typeface="黑体" pitchFamily="49" charset="-122"/>
              </a:rPr>
              <a:t>，而右边界 </a:t>
            </a:r>
            <a:r>
              <a:rPr lang="en-US" altLang="zh-CN" sz="2400">
                <a:solidFill>
                  <a:schemeClr val="tx2"/>
                </a:solidFill>
                <a:latin typeface="Arial" pitchFamily="34" charset="0"/>
                <a:ea typeface="黑体" pitchFamily="49" charset="-122"/>
              </a:rPr>
              <a:t>R</a:t>
            </a:r>
            <a:r>
              <a:rPr lang="en-US" altLang="zh-CN" sz="2400" baseline="-25000">
                <a:solidFill>
                  <a:schemeClr val="tx2"/>
                </a:solidFill>
                <a:latin typeface="Arial" pitchFamily="34" charset="0"/>
                <a:ea typeface="黑体" pitchFamily="49" charset="-122"/>
              </a:rPr>
              <a:t>2</a:t>
            </a:r>
            <a:r>
              <a:rPr lang="en-US" altLang="zh-CN" sz="2400">
                <a:solidFill>
                  <a:schemeClr val="tx2"/>
                </a:solidFill>
                <a:latin typeface="Arial" pitchFamily="34" charset="0"/>
                <a:ea typeface="黑体" pitchFamily="49" charset="-122"/>
              </a:rPr>
              <a:t> = 4501</a:t>
            </a:r>
            <a:r>
              <a:rPr lang="zh-CN" altLang="en-US" sz="2400">
                <a:solidFill>
                  <a:schemeClr val="tx2"/>
                </a:solidFill>
                <a:latin typeface="Arial" pitchFamily="34" charset="0"/>
                <a:ea typeface="黑体" pitchFamily="49" charset="-122"/>
              </a:rPr>
              <a:t>。 </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82C79A7-084D-4419-8C7E-35D1A206C527}" type="slidenum">
              <a:rPr lang="en-US" altLang="zh-CN" sz="1400"/>
              <a:pPr eaLnBrk="1" hangingPunct="1"/>
              <a:t>85</a:t>
            </a:fld>
            <a:endParaRPr lang="en-US" altLang="zh-CN" sz="1400"/>
          </a:p>
        </p:txBody>
      </p:sp>
      <p:sp>
        <p:nvSpPr>
          <p:cNvPr id="89091" name="Rectangle 2"/>
          <p:cNvSpPr>
            <a:spLocks noGrp="1" noChangeArrowheads="1"/>
          </p:cNvSpPr>
          <p:nvPr>
            <p:ph type="title"/>
          </p:nvPr>
        </p:nvSpPr>
        <p:spPr/>
        <p:txBody>
          <a:bodyPr/>
          <a:lstStyle/>
          <a:p>
            <a:pPr algn="ctr" eaLnBrk="1" hangingPunct="1"/>
            <a:r>
              <a:rPr lang="en-US" altLang="zh-CN" smtClean="0"/>
              <a:t>5.7  TCP </a:t>
            </a:r>
            <a:r>
              <a:rPr lang="zh-CN" altLang="en-US" smtClean="0"/>
              <a:t>的流量控制</a:t>
            </a:r>
            <a:r>
              <a:rPr lang="zh-CN" altLang="en-US" sz="4000" smtClean="0"/>
              <a:t/>
            </a:r>
            <a:br>
              <a:rPr lang="zh-CN" altLang="en-US" sz="4000" smtClean="0"/>
            </a:br>
            <a:r>
              <a:rPr lang="en-US" altLang="zh-CN" sz="3600" smtClean="0"/>
              <a:t>5.7.1  </a:t>
            </a:r>
            <a:r>
              <a:rPr lang="zh-CN" altLang="en-US" sz="3600" smtClean="0"/>
              <a:t>利用滑动窗口实现流量控制</a:t>
            </a:r>
          </a:p>
        </p:txBody>
      </p:sp>
      <p:sp>
        <p:nvSpPr>
          <p:cNvPr id="89092" name="Rectangle 3"/>
          <p:cNvSpPr>
            <a:spLocks noGrp="1" noChangeArrowheads="1"/>
          </p:cNvSpPr>
          <p:nvPr>
            <p:ph type="body" idx="1"/>
          </p:nvPr>
        </p:nvSpPr>
        <p:spPr>
          <a:xfrm>
            <a:off x="1042988" y="1835150"/>
            <a:ext cx="7772400" cy="4689475"/>
          </a:xfrm>
        </p:spPr>
        <p:txBody>
          <a:bodyPr/>
          <a:lstStyle/>
          <a:p>
            <a:pPr eaLnBrk="1" hangingPunct="1"/>
            <a:r>
              <a:rPr lang="zh-CN" altLang="en-US" smtClean="0"/>
              <a:t>一般说来，我们总是希望数据传输得更快一些。但如果发送方把数据发送得过快，接收方就可能来不及接收，这就会造成数据的丢失。</a:t>
            </a:r>
          </a:p>
          <a:p>
            <a:pPr eaLnBrk="1" hangingPunct="1"/>
            <a:r>
              <a:rPr lang="zh-CN" altLang="en-US" smtClean="0">
                <a:solidFill>
                  <a:schemeClr val="hlink"/>
                </a:solidFill>
              </a:rPr>
              <a:t>流量控制</a:t>
            </a:r>
            <a:r>
              <a:rPr lang="en-US" altLang="zh-CN" smtClean="0"/>
              <a:t>(flow control)</a:t>
            </a:r>
            <a:r>
              <a:rPr lang="zh-CN" altLang="en-US" smtClean="0"/>
              <a:t>就是让发送方的发送速率不要太快，既要让接收方来得及接收，也不要使网络发生拥塞。</a:t>
            </a:r>
          </a:p>
          <a:p>
            <a:pPr eaLnBrk="1" hangingPunct="1">
              <a:spcAft>
                <a:spcPct val="10000"/>
              </a:spcAft>
            </a:pPr>
            <a:r>
              <a:rPr lang="zh-CN" altLang="en-US" smtClean="0"/>
              <a:t>利用滑动窗口机制可以很方便地在 </a:t>
            </a:r>
            <a:r>
              <a:rPr lang="en-US" altLang="zh-CN" smtClean="0"/>
              <a:t>TCP </a:t>
            </a:r>
            <a:r>
              <a:rPr lang="zh-CN" altLang="en-US" smtClean="0"/>
              <a:t>连接上实现流量控制。 </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Line 4"/>
          <p:cNvSpPr>
            <a:spLocks noChangeShapeType="1"/>
          </p:cNvSpPr>
          <p:nvPr/>
        </p:nvSpPr>
        <p:spPr bwMode="auto">
          <a:xfrm>
            <a:off x="3433763" y="2490788"/>
            <a:ext cx="0" cy="41322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15" name="Line 5"/>
          <p:cNvSpPr>
            <a:spLocks noChangeShapeType="1"/>
          </p:cNvSpPr>
          <p:nvPr/>
        </p:nvSpPr>
        <p:spPr bwMode="auto">
          <a:xfrm>
            <a:off x="231775" y="2649538"/>
            <a:ext cx="3190875"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6" name="Rectangle 6"/>
          <p:cNvSpPr>
            <a:spLocks noChangeArrowheads="1"/>
          </p:cNvSpPr>
          <p:nvPr/>
        </p:nvSpPr>
        <p:spPr bwMode="auto">
          <a:xfrm>
            <a:off x="754063" y="2327275"/>
            <a:ext cx="1592262"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seq = 1, DATA</a:t>
            </a:r>
          </a:p>
        </p:txBody>
      </p:sp>
      <p:sp>
        <p:nvSpPr>
          <p:cNvPr id="90117" name="Line 7"/>
          <p:cNvSpPr>
            <a:spLocks noChangeShapeType="1"/>
          </p:cNvSpPr>
          <p:nvPr/>
        </p:nvSpPr>
        <p:spPr bwMode="auto">
          <a:xfrm>
            <a:off x="233363" y="5200650"/>
            <a:ext cx="3186112"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18" name="Rectangle 8"/>
          <p:cNvSpPr>
            <a:spLocks noChangeArrowheads="1"/>
          </p:cNvSpPr>
          <p:nvPr/>
        </p:nvSpPr>
        <p:spPr bwMode="auto">
          <a:xfrm>
            <a:off x="754063" y="4854575"/>
            <a:ext cx="1820862"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seq = 201, DATA</a:t>
            </a:r>
          </a:p>
        </p:txBody>
      </p:sp>
      <p:sp>
        <p:nvSpPr>
          <p:cNvPr id="90119" name="Line 9"/>
          <p:cNvSpPr>
            <a:spLocks noChangeShapeType="1"/>
          </p:cNvSpPr>
          <p:nvPr/>
        </p:nvSpPr>
        <p:spPr bwMode="auto">
          <a:xfrm>
            <a:off x="234950" y="4781550"/>
            <a:ext cx="3182938"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0" name="Rectangle 10"/>
          <p:cNvSpPr>
            <a:spLocks noChangeArrowheads="1"/>
          </p:cNvSpPr>
          <p:nvPr/>
        </p:nvSpPr>
        <p:spPr bwMode="auto">
          <a:xfrm>
            <a:off x="754063" y="4437063"/>
            <a:ext cx="182086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seq = 401, DATA</a:t>
            </a:r>
          </a:p>
        </p:txBody>
      </p:sp>
      <p:sp>
        <p:nvSpPr>
          <p:cNvPr id="90121" name="Line 11"/>
          <p:cNvSpPr>
            <a:spLocks noChangeShapeType="1"/>
          </p:cNvSpPr>
          <p:nvPr/>
        </p:nvSpPr>
        <p:spPr bwMode="auto">
          <a:xfrm>
            <a:off x="228600" y="4346575"/>
            <a:ext cx="3195638"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2" name="Rectangle 12"/>
          <p:cNvSpPr>
            <a:spLocks noChangeArrowheads="1"/>
          </p:cNvSpPr>
          <p:nvPr/>
        </p:nvSpPr>
        <p:spPr bwMode="auto">
          <a:xfrm>
            <a:off x="754063" y="3992563"/>
            <a:ext cx="182086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seq = 301, DATA</a:t>
            </a:r>
          </a:p>
        </p:txBody>
      </p:sp>
      <p:sp>
        <p:nvSpPr>
          <p:cNvPr id="90123" name="Line 13"/>
          <p:cNvSpPr>
            <a:spLocks noChangeShapeType="1"/>
          </p:cNvSpPr>
          <p:nvPr/>
        </p:nvSpPr>
        <p:spPr bwMode="auto">
          <a:xfrm>
            <a:off x="230188" y="3068638"/>
            <a:ext cx="3192462"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4" name="Rectangle 14"/>
          <p:cNvSpPr>
            <a:spLocks noChangeArrowheads="1"/>
          </p:cNvSpPr>
          <p:nvPr/>
        </p:nvSpPr>
        <p:spPr bwMode="auto">
          <a:xfrm>
            <a:off x="754063" y="2730500"/>
            <a:ext cx="1820862"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seq = 101, DATA</a:t>
            </a:r>
          </a:p>
        </p:txBody>
      </p:sp>
      <p:sp>
        <p:nvSpPr>
          <p:cNvPr id="90125" name="Line 15"/>
          <p:cNvSpPr>
            <a:spLocks noChangeShapeType="1"/>
          </p:cNvSpPr>
          <p:nvPr/>
        </p:nvSpPr>
        <p:spPr bwMode="auto">
          <a:xfrm>
            <a:off x="225425" y="3511550"/>
            <a:ext cx="2144713"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6" name="Rectangle 16"/>
          <p:cNvSpPr>
            <a:spLocks noChangeArrowheads="1"/>
          </p:cNvSpPr>
          <p:nvPr/>
        </p:nvSpPr>
        <p:spPr bwMode="auto">
          <a:xfrm>
            <a:off x="754063" y="3190875"/>
            <a:ext cx="1820862"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seq = 201, DATA</a:t>
            </a:r>
          </a:p>
        </p:txBody>
      </p:sp>
      <p:sp>
        <p:nvSpPr>
          <p:cNvPr id="90127" name="Line 17"/>
          <p:cNvSpPr>
            <a:spLocks noChangeShapeType="1"/>
          </p:cNvSpPr>
          <p:nvPr/>
        </p:nvSpPr>
        <p:spPr bwMode="auto">
          <a:xfrm>
            <a:off x="231775" y="6057900"/>
            <a:ext cx="3189288" cy="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28" name="Rectangle 18"/>
          <p:cNvSpPr>
            <a:spLocks noChangeArrowheads="1"/>
          </p:cNvSpPr>
          <p:nvPr/>
        </p:nvSpPr>
        <p:spPr bwMode="auto">
          <a:xfrm>
            <a:off x="827088" y="5741988"/>
            <a:ext cx="182086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seq = 501, DATA</a:t>
            </a:r>
          </a:p>
        </p:txBody>
      </p:sp>
      <p:sp>
        <p:nvSpPr>
          <p:cNvPr id="90129" name="Line 19"/>
          <p:cNvSpPr>
            <a:spLocks noChangeShapeType="1"/>
          </p:cNvSpPr>
          <p:nvPr/>
        </p:nvSpPr>
        <p:spPr bwMode="auto">
          <a:xfrm flipH="1">
            <a:off x="201613" y="3937000"/>
            <a:ext cx="3249612" cy="0"/>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0" name="Rectangle 20"/>
          <p:cNvSpPr>
            <a:spLocks noChangeArrowheads="1"/>
          </p:cNvSpPr>
          <p:nvPr/>
        </p:nvSpPr>
        <p:spPr bwMode="auto">
          <a:xfrm flipH="1">
            <a:off x="325438" y="3614738"/>
            <a:ext cx="3208337"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ACK = 1, ack = 201, rwnd = 300</a:t>
            </a:r>
          </a:p>
        </p:txBody>
      </p:sp>
      <p:sp>
        <p:nvSpPr>
          <p:cNvPr id="90131" name="Line 21"/>
          <p:cNvSpPr>
            <a:spLocks noChangeShapeType="1"/>
          </p:cNvSpPr>
          <p:nvPr/>
        </p:nvSpPr>
        <p:spPr bwMode="auto">
          <a:xfrm flipH="1">
            <a:off x="214313" y="6488113"/>
            <a:ext cx="3225800" cy="0"/>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2" name="Rectangle 22"/>
          <p:cNvSpPr>
            <a:spLocks noChangeArrowheads="1"/>
          </p:cNvSpPr>
          <p:nvPr/>
        </p:nvSpPr>
        <p:spPr bwMode="auto">
          <a:xfrm flipH="1">
            <a:off x="323850" y="6165850"/>
            <a:ext cx="297973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ACK = 1, ack = 601, rwnd = 0</a:t>
            </a:r>
          </a:p>
        </p:txBody>
      </p:sp>
      <p:sp>
        <p:nvSpPr>
          <p:cNvPr id="90133" name="Line 23"/>
          <p:cNvSpPr>
            <a:spLocks noChangeShapeType="1"/>
          </p:cNvSpPr>
          <p:nvPr/>
        </p:nvSpPr>
        <p:spPr bwMode="auto">
          <a:xfrm flipH="1">
            <a:off x="198438" y="5629275"/>
            <a:ext cx="3252787" cy="0"/>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34" name="Rectangle 24"/>
          <p:cNvSpPr>
            <a:spLocks noChangeArrowheads="1"/>
          </p:cNvSpPr>
          <p:nvPr/>
        </p:nvSpPr>
        <p:spPr bwMode="auto">
          <a:xfrm flipH="1">
            <a:off x="250825" y="5314950"/>
            <a:ext cx="320833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ACK = 1, ack = 501, </a:t>
            </a:r>
            <a:r>
              <a:rPr kumimoji="1" lang="en-US" altLang="zh-CN" sz="1800">
                <a:solidFill>
                  <a:schemeClr val="folHlink"/>
                </a:solidFill>
                <a:latin typeface="Times New Roman" pitchFamily="18" charset="0"/>
              </a:rPr>
              <a:t>rwnd</a:t>
            </a:r>
            <a:r>
              <a:rPr kumimoji="1" lang="en-US" altLang="zh-CN" sz="1800">
                <a:solidFill>
                  <a:schemeClr val="folHlink"/>
                </a:solidFill>
                <a:latin typeface="Times New Roman" pitchFamily="18" charset="0"/>
                <a:ea typeface="黑体" pitchFamily="49" charset="-122"/>
              </a:rPr>
              <a:t> = 100</a:t>
            </a:r>
          </a:p>
        </p:txBody>
      </p:sp>
      <p:sp>
        <p:nvSpPr>
          <p:cNvPr id="90135" name="Rectangle 25"/>
          <p:cNvSpPr>
            <a:spLocks noChangeArrowheads="1"/>
          </p:cNvSpPr>
          <p:nvPr/>
        </p:nvSpPr>
        <p:spPr bwMode="auto">
          <a:xfrm>
            <a:off x="34925" y="2127250"/>
            <a:ext cx="3460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90136" name="Rectangle 26"/>
          <p:cNvSpPr>
            <a:spLocks noChangeArrowheads="1"/>
          </p:cNvSpPr>
          <p:nvPr/>
        </p:nvSpPr>
        <p:spPr bwMode="auto">
          <a:xfrm>
            <a:off x="3246438" y="2127250"/>
            <a:ext cx="3333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90137" name="Rectangle 27"/>
          <p:cNvSpPr>
            <a:spLocks noChangeArrowheads="1"/>
          </p:cNvSpPr>
          <p:nvPr/>
        </p:nvSpPr>
        <p:spPr bwMode="auto">
          <a:xfrm>
            <a:off x="3576638" y="3736975"/>
            <a:ext cx="417512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允许 </a:t>
            </a:r>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发送序号 </a:t>
            </a:r>
            <a:r>
              <a:rPr kumimoji="1" lang="en-US" altLang="zh-CN" sz="1800">
                <a:solidFill>
                  <a:schemeClr val="folHlink"/>
                </a:solidFill>
                <a:latin typeface="Times New Roman" pitchFamily="18" charset="0"/>
                <a:ea typeface="黑体" pitchFamily="49" charset="-122"/>
              </a:rPr>
              <a:t>201 </a:t>
            </a:r>
            <a:r>
              <a:rPr kumimoji="1" lang="zh-CN" altLang="en-US" sz="1800">
                <a:solidFill>
                  <a:schemeClr val="folHlink"/>
                </a:solidFill>
                <a:latin typeface="Times New Roman" pitchFamily="18" charset="0"/>
                <a:ea typeface="黑体" pitchFamily="49" charset="-122"/>
              </a:rPr>
              <a:t>至 </a:t>
            </a:r>
            <a:r>
              <a:rPr kumimoji="1" lang="en-US" altLang="zh-CN" sz="1800">
                <a:solidFill>
                  <a:schemeClr val="folHlink"/>
                </a:solidFill>
                <a:latin typeface="Times New Roman" pitchFamily="18" charset="0"/>
                <a:ea typeface="黑体" pitchFamily="49" charset="-122"/>
              </a:rPr>
              <a:t>500  </a:t>
            </a:r>
            <a:r>
              <a:rPr kumimoji="1" lang="zh-CN" altLang="en-US" sz="1800">
                <a:solidFill>
                  <a:schemeClr val="folHlink"/>
                </a:solidFill>
                <a:latin typeface="Times New Roman" pitchFamily="18" charset="0"/>
                <a:ea typeface="黑体" pitchFamily="49" charset="-122"/>
              </a:rPr>
              <a:t>共 </a:t>
            </a:r>
            <a:r>
              <a:rPr kumimoji="1" lang="en-US" altLang="zh-CN" sz="1800">
                <a:solidFill>
                  <a:schemeClr val="folHlink"/>
                </a:solidFill>
                <a:latin typeface="Times New Roman" pitchFamily="18" charset="0"/>
                <a:ea typeface="黑体" pitchFamily="49" charset="-122"/>
              </a:rPr>
              <a:t>300 </a:t>
            </a:r>
            <a:r>
              <a:rPr kumimoji="1" lang="zh-CN" altLang="en-US" sz="1800">
                <a:solidFill>
                  <a:schemeClr val="folHlink"/>
                </a:solidFill>
                <a:latin typeface="Times New Roman" pitchFamily="18" charset="0"/>
                <a:ea typeface="黑体" pitchFamily="49" charset="-122"/>
              </a:rPr>
              <a:t>字节</a:t>
            </a:r>
          </a:p>
        </p:txBody>
      </p:sp>
      <p:sp>
        <p:nvSpPr>
          <p:cNvPr id="90138" name="Rectangle 28"/>
          <p:cNvSpPr>
            <a:spLocks noChangeArrowheads="1"/>
          </p:cNvSpPr>
          <p:nvPr/>
        </p:nvSpPr>
        <p:spPr bwMode="auto">
          <a:xfrm>
            <a:off x="3562350" y="2862263"/>
            <a:ext cx="46894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发送了序号 </a:t>
            </a:r>
            <a:r>
              <a:rPr kumimoji="1" lang="en-US" altLang="zh-CN" sz="1800">
                <a:solidFill>
                  <a:schemeClr val="folHlink"/>
                </a:solidFill>
                <a:latin typeface="Times New Roman" pitchFamily="18" charset="0"/>
                <a:ea typeface="黑体" pitchFamily="49" charset="-122"/>
              </a:rPr>
              <a:t>101 </a:t>
            </a:r>
            <a:r>
              <a:rPr kumimoji="1" lang="zh-CN" altLang="en-US" sz="1800">
                <a:solidFill>
                  <a:schemeClr val="folHlink"/>
                </a:solidFill>
                <a:latin typeface="Times New Roman" pitchFamily="18" charset="0"/>
                <a:ea typeface="黑体" pitchFamily="49" charset="-122"/>
              </a:rPr>
              <a:t>至 </a:t>
            </a:r>
            <a:r>
              <a:rPr kumimoji="1" lang="en-US" altLang="zh-CN" sz="1800">
                <a:solidFill>
                  <a:schemeClr val="folHlink"/>
                </a:solidFill>
                <a:latin typeface="Times New Roman" pitchFamily="18" charset="0"/>
                <a:ea typeface="黑体" pitchFamily="49" charset="-122"/>
              </a:rPr>
              <a:t>200</a:t>
            </a:r>
            <a:r>
              <a:rPr kumimoji="1" lang="zh-CN" altLang="en-US" sz="1800">
                <a:solidFill>
                  <a:schemeClr val="folHlink"/>
                </a:solidFill>
                <a:latin typeface="Times New Roman" pitchFamily="18" charset="0"/>
                <a:ea typeface="黑体" pitchFamily="49" charset="-122"/>
              </a:rPr>
              <a:t>，还能发送 </a:t>
            </a:r>
            <a:r>
              <a:rPr kumimoji="1" lang="en-US" altLang="zh-CN" sz="1800">
                <a:solidFill>
                  <a:schemeClr val="folHlink"/>
                </a:solidFill>
                <a:latin typeface="Times New Roman" pitchFamily="18" charset="0"/>
                <a:ea typeface="黑体" pitchFamily="49" charset="-122"/>
              </a:rPr>
              <a:t>200 </a:t>
            </a:r>
            <a:r>
              <a:rPr kumimoji="1" lang="zh-CN" altLang="en-US" sz="1800">
                <a:solidFill>
                  <a:schemeClr val="folHlink"/>
                </a:solidFill>
                <a:latin typeface="Times New Roman" pitchFamily="18" charset="0"/>
                <a:ea typeface="黑体" pitchFamily="49" charset="-122"/>
              </a:rPr>
              <a:t>字节</a:t>
            </a:r>
          </a:p>
        </p:txBody>
      </p:sp>
      <p:sp>
        <p:nvSpPr>
          <p:cNvPr id="90139" name="Rectangle 29"/>
          <p:cNvSpPr>
            <a:spLocks noChangeArrowheads="1"/>
          </p:cNvSpPr>
          <p:nvPr/>
        </p:nvSpPr>
        <p:spPr bwMode="auto">
          <a:xfrm>
            <a:off x="3562350" y="4148138"/>
            <a:ext cx="56038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发送了序号 </a:t>
            </a:r>
            <a:r>
              <a:rPr kumimoji="1" lang="en-US" altLang="zh-CN" sz="1800">
                <a:solidFill>
                  <a:schemeClr val="folHlink"/>
                </a:solidFill>
                <a:latin typeface="Times New Roman" pitchFamily="18" charset="0"/>
                <a:ea typeface="黑体" pitchFamily="49" charset="-122"/>
              </a:rPr>
              <a:t>301 </a:t>
            </a:r>
            <a:r>
              <a:rPr kumimoji="1" lang="zh-CN" altLang="en-US" sz="1800">
                <a:solidFill>
                  <a:schemeClr val="folHlink"/>
                </a:solidFill>
                <a:latin typeface="Times New Roman" pitchFamily="18" charset="0"/>
                <a:ea typeface="黑体" pitchFamily="49" charset="-122"/>
              </a:rPr>
              <a:t>至 </a:t>
            </a:r>
            <a:r>
              <a:rPr kumimoji="1" lang="en-US" altLang="zh-CN" sz="1800">
                <a:solidFill>
                  <a:schemeClr val="folHlink"/>
                </a:solidFill>
                <a:latin typeface="Times New Roman" pitchFamily="18" charset="0"/>
                <a:ea typeface="黑体" pitchFamily="49" charset="-122"/>
              </a:rPr>
              <a:t>400</a:t>
            </a:r>
            <a:r>
              <a:rPr kumimoji="1" lang="zh-CN" altLang="en-US" sz="1800">
                <a:solidFill>
                  <a:schemeClr val="folHlink"/>
                </a:solidFill>
                <a:latin typeface="Times New Roman" pitchFamily="18" charset="0"/>
                <a:ea typeface="黑体" pitchFamily="49" charset="-122"/>
              </a:rPr>
              <a:t>，还能再发送 </a:t>
            </a:r>
            <a:r>
              <a:rPr kumimoji="1" lang="en-US" altLang="zh-CN" sz="1800">
                <a:solidFill>
                  <a:schemeClr val="folHlink"/>
                </a:solidFill>
                <a:latin typeface="Times New Roman" pitchFamily="18" charset="0"/>
                <a:ea typeface="黑体" pitchFamily="49" charset="-122"/>
              </a:rPr>
              <a:t>100 </a:t>
            </a:r>
            <a:r>
              <a:rPr kumimoji="1" lang="zh-CN" altLang="en-US" sz="1800">
                <a:solidFill>
                  <a:schemeClr val="folHlink"/>
                </a:solidFill>
                <a:latin typeface="Times New Roman" pitchFamily="18" charset="0"/>
                <a:ea typeface="黑体" pitchFamily="49" charset="-122"/>
              </a:rPr>
              <a:t>字节新数据</a:t>
            </a:r>
          </a:p>
        </p:txBody>
      </p:sp>
      <p:sp>
        <p:nvSpPr>
          <p:cNvPr id="90140" name="Rectangle 30"/>
          <p:cNvSpPr>
            <a:spLocks noChangeArrowheads="1"/>
          </p:cNvSpPr>
          <p:nvPr/>
        </p:nvSpPr>
        <p:spPr bwMode="auto">
          <a:xfrm>
            <a:off x="3562350" y="2447925"/>
            <a:ext cx="44608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发送了序号 </a:t>
            </a:r>
            <a:r>
              <a:rPr kumimoji="1" lang="en-US" altLang="zh-CN" sz="1800">
                <a:solidFill>
                  <a:schemeClr val="folHlink"/>
                </a:solidFill>
                <a:latin typeface="Times New Roman" pitchFamily="18" charset="0"/>
                <a:ea typeface="黑体" pitchFamily="49" charset="-122"/>
              </a:rPr>
              <a:t>1 </a:t>
            </a:r>
            <a:r>
              <a:rPr kumimoji="1" lang="zh-CN" altLang="en-US" sz="1800">
                <a:solidFill>
                  <a:schemeClr val="folHlink"/>
                </a:solidFill>
                <a:latin typeface="Times New Roman" pitchFamily="18" charset="0"/>
                <a:ea typeface="黑体" pitchFamily="49" charset="-122"/>
              </a:rPr>
              <a:t>至 </a:t>
            </a:r>
            <a:r>
              <a:rPr kumimoji="1" lang="en-US" altLang="zh-CN" sz="1800">
                <a:solidFill>
                  <a:schemeClr val="folHlink"/>
                </a:solidFill>
                <a:latin typeface="Times New Roman" pitchFamily="18" charset="0"/>
                <a:ea typeface="黑体" pitchFamily="49" charset="-122"/>
              </a:rPr>
              <a:t>100</a:t>
            </a:r>
            <a:r>
              <a:rPr kumimoji="1" lang="zh-CN" altLang="en-US" sz="1800">
                <a:solidFill>
                  <a:schemeClr val="folHlink"/>
                </a:solidFill>
                <a:latin typeface="Times New Roman" pitchFamily="18" charset="0"/>
                <a:ea typeface="黑体" pitchFamily="49" charset="-122"/>
              </a:rPr>
              <a:t>，还能发送 </a:t>
            </a:r>
            <a:r>
              <a:rPr kumimoji="1" lang="en-US" altLang="zh-CN" sz="1800">
                <a:solidFill>
                  <a:schemeClr val="folHlink"/>
                </a:solidFill>
                <a:latin typeface="Times New Roman" pitchFamily="18" charset="0"/>
                <a:ea typeface="黑体" pitchFamily="49" charset="-122"/>
              </a:rPr>
              <a:t>300 </a:t>
            </a:r>
            <a:r>
              <a:rPr kumimoji="1" lang="zh-CN" altLang="en-US" sz="1800">
                <a:solidFill>
                  <a:schemeClr val="folHlink"/>
                </a:solidFill>
                <a:latin typeface="Times New Roman" pitchFamily="18" charset="0"/>
                <a:ea typeface="黑体" pitchFamily="49" charset="-122"/>
              </a:rPr>
              <a:t>字节</a:t>
            </a:r>
          </a:p>
        </p:txBody>
      </p:sp>
      <p:sp>
        <p:nvSpPr>
          <p:cNvPr id="90141" name="Rectangle 31"/>
          <p:cNvSpPr>
            <a:spLocks noChangeArrowheads="1"/>
          </p:cNvSpPr>
          <p:nvPr/>
        </p:nvSpPr>
        <p:spPr bwMode="auto">
          <a:xfrm>
            <a:off x="3576638" y="4587875"/>
            <a:ext cx="49180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发送了序号 </a:t>
            </a:r>
            <a:r>
              <a:rPr kumimoji="1" lang="en-US" altLang="zh-CN" sz="1800">
                <a:solidFill>
                  <a:schemeClr val="folHlink"/>
                </a:solidFill>
                <a:latin typeface="Times New Roman" pitchFamily="18" charset="0"/>
                <a:ea typeface="黑体" pitchFamily="49" charset="-122"/>
              </a:rPr>
              <a:t>401 </a:t>
            </a:r>
            <a:r>
              <a:rPr kumimoji="1" lang="zh-CN" altLang="en-US" sz="1800">
                <a:solidFill>
                  <a:schemeClr val="folHlink"/>
                </a:solidFill>
                <a:latin typeface="Times New Roman" pitchFamily="18" charset="0"/>
                <a:ea typeface="黑体" pitchFamily="49" charset="-122"/>
              </a:rPr>
              <a:t>至 </a:t>
            </a:r>
            <a:r>
              <a:rPr kumimoji="1" lang="en-US" altLang="zh-CN" sz="1800">
                <a:solidFill>
                  <a:schemeClr val="folHlink"/>
                </a:solidFill>
                <a:latin typeface="Times New Roman" pitchFamily="18" charset="0"/>
                <a:ea typeface="黑体" pitchFamily="49" charset="-122"/>
              </a:rPr>
              <a:t>500</a:t>
            </a:r>
            <a:r>
              <a:rPr kumimoji="1" lang="zh-CN" altLang="en-US" sz="1800">
                <a:solidFill>
                  <a:schemeClr val="folHlink"/>
                </a:solidFill>
                <a:latin typeface="Times New Roman" pitchFamily="18" charset="0"/>
                <a:ea typeface="黑体" pitchFamily="49" charset="-122"/>
              </a:rPr>
              <a:t>，不能再发送新数据了</a:t>
            </a:r>
          </a:p>
        </p:txBody>
      </p:sp>
      <p:sp>
        <p:nvSpPr>
          <p:cNvPr id="90142" name="Rectangle 32"/>
          <p:cNvSpPr>
            <a:spLocks noChangeArrowheads="1"/>
          </p:cNvSpPr>
          <p:nvPr/>
        </p:nvSpPr>
        <p:spPr bwMode="auto">
          <a:xfrm>
            <a:off x="3562350" y="5014913"/>
            <a:ext cx="451802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超时重传旧的数据，但不能发送新的数据</a:t>
            </a:r>
          </a:p>
        </p:txBody>
      </p:sp>
      <p:sp>
        <p:nvSpPr>
          <p:cNvPr id="90143" name="Rectangle 33"/>
          <p:cNvSpPr>
            <a:spLocks noChangeArrowheads="1"/>
          </p:cNvSpPr>
          <p:nvPr/>
        </p:nvSpPr>
        <p:spPr bwMode="auto">
          <a:xfrm>
            <a:off x="3546475" y="5429250"/>
            <a:ext cx="419258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允许 </a:t>
            </a:r>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发送序号 </a:t>
            </a:r>
            <a:r>
              <a:rPr kumimoji="1" lang="en-US" altLang="zh-CN" sz="1800">
                <a:solidFill>
                  <a:schemeClr val="folHlink"/>
                </a:solidFill>
                <a:latin typeface="Times New Roman" pitchFamily="18" charset="0"/>
                <a:ea typeface="黑体" pitchFamily="49" charset="-122"/>
              </a:rPr>
              <a:t>501 </a:t>
            </a:r>
            <a:r>
              <a:rPr kumimoji="1" lang="zh-CN" altLang="en-US" sz="1800">
                <a:solidFill>
                  <a:schemeClr val="folHlink"/>
                </a:solidFill>
                <a:latin typeface="Times New Roman" pitchFamily="18" charset="0"/>
                <a:ea typeface="黑体" pitchFamily="49" charset="-122"/>
              </a:rPr>
              <a:t>至 </a:t>
            </a:r>
            <a:r>
              <a:rPr kumimoji="1" lang="en-US" altLang="zh-CN" sz="1800">
                <a:solidFill>
                  <a:schemeClr val="folHlink"/>
                </a:solidFill>
                <a:latin typeface="Times New Roman" pitchFamily="18" charset="0"/>
                <a:ea typeface="黑体" pitchFamily="49" charset="-122"/>
              </a:rPr>
              <a:t>600 </a:t>
            </a:r>
            <a:r>
              <a:rPr kumimoji="1" lang="zh-CN" altLang="en-US" sz="1800">
                <a:solidFill>
                  <a:schemeClr val="folHlink"/>
                </a:solidFill>
                <a:latin typeface="Times New Roman" pitchFamily="18" charset="0"/>
                <a:ea typeface="黑体" pitchFamily="49" charset="-122"/>
              </a:rPr>
              <a:t>共 </a:t>
            </a:r>
            <a:r>
              <a:rPr kumimoji="1" lang="en-US" altLang="zh-CN" sz="1800">
                <a:solidFill>
                  <a:schemeClr val="folHlink"/>
                </a:solidFill>
                <a:latin typeface="Times New Roman" pitchFamily="18" charset="0"/>
                <a:ea typeface="黑体" pitchFamily="49" charset="-122"/>
              </a:rPr>
              <a:t>100 </a:t>
            </a:r>
            <a:r>
              <a:rPr kumimoji="1" lang="zh-CN" altLang="en-US" sz="1800">
                <a:solidFill>
                  <a:schemeClr val="folHlink"/>
                </a:solidFill>
                <a:latin typeface="Times New Roman" pitchFamily="18" charset="0"/>
                <a:ea typeface="黑体" pitchFamily="49" charset="-122"/>
              </a:rPr>
              <a:t>字节</a:t>
            </a:r>
          </a:p>
        </p:txBody>
      </p:sp>
      <p:sp>
        <p:nvSpPr>
          <p:cNvPr id="90144" name="Rectangle 34"/>
          <p:cNvSpPr>
            <a:spLocks noChangeArrowheads="1"/>
          </p:cNvSpPr>
          <p:nvPr/>
        </p:nvSpPr>
        <p:spPr bwMode="auto">
          <a:xfrm>
            <a:off x="3562350" y="5859463"/>
            <a:ext cx="42322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发送了序号 </a:t>
            </a:r>
            <a:r>
              <a:rPr kumimoji="1" lang="en-US" altLang="zh-CN" sz="1800">
                <a:solidFill>
                  <a:schemeClr val="folHlink"/>
                </a:solidFill>
                <a:latin typeface="Times New Roman" pitchFamily="18" charset="0"/>
                <a:ea typeface="黑体" pitchFamily="49" charset="-122"/>
              </a:rPr>
              <a:t>501 </a:t>
            </a:r>
            <a:r>
              <a:rPr kumimoji="1" lang="zh-CN" altLang="en-US" sz="1800">
                <a:solidFill>
                  <a:schemeClr val="folHlink"/>
                </a:solidFill>
                <a:latin typeface="Times New Roman" pitchFamily="18" charset="0"/>
                <a:ea typeface="黑体" pitchFamily="49" charset="-122"/>
              </a:rPr>
              <a:t>至 </a:t>
            </a:r>
            <a:r>
              <a:rPr kumimoji="1" lang="en-US" altLang="zh-CN" sz="1800">
                <a:solidFill>
                  <a:schemeClr val="folHlink"/>
                </a:solidFill>
                <a:latin typeface="Times New Roman" pitchFamily="18" charset="0"/>
                <a:ea typeface="黑体" pitchFamily="49" charset="-122"/>
              </a:rPr>
              <a:t>600</a:t>
            </a:r>
            <a:r>
              <a:rPr kumimoji="1" lang="zh-CN" altLang="en-US" sz="1800">
                <a:solidFill>
                  <a:schemeClr val="folHlink"/>
                </a:solidFill>
                <a:latin typeface="Times New Roman" pitchFamily="18" charset="0"/>
                <a:ea typeface="黑体" pitchFamily="49" charset="-122"/>
              </a:rPr>
              <a:t>，不能再发送了</a:t>
            </a:r>
          </a:p>
        </p:txBody>
      </p:sp>
      <p:sp>
        <p:nvSpPr>
          <p:cNvPr id="90145" name="Rectangle 35"/>
          <p:cNvSpPr>
            <a:spLocks noChangeArrowheads="1"/>
          </p:cNvSpPr>
          <p:nvPr/>
        </p:nvSpPr>
        <p:spPr bwMode="auto">
          <a:xfrm>
            <a:off x="3562350" y="6305550"/>
            <a:ext cx="54895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不允许 </a:t>
            </a:r>
            <a:r>
              <a:rPr kumimoji="1" lang="en-US" altLang="zh-CN" sz="1800">
                <a:solidFill>
                  <a:schemeClr val="folHlink"/>
                </a:solidFill>
                <a:latin typeface="Times New Roman" pitchFamily="18" charset="0"/>
                <a:ea typeface="黑体" pitchFamily="49" charset="-122"/>
              </a:rPr>
              <a:t>A </a:t>
            </a:r>
            <a:r>
              <a:rPr kumimoji="1" lang="zh-CN" altLang="en-US" sz="1800">
                <a:solidFill>
                  <a:schemeClr val="folHlink"/>
                </a:solidFill>
                <a:latin typeface="Times New Roman" pitchFamily="18" charset="0"/>
                <a:ea typeface="黑体" pitchFamily="49" charset="-122"/>
              </a:rPr>
              <a:t>再发送（到序号 </a:t>
            </a:r>
            <a:r>
              <a:rPr kumimoji="1" lang="en-US" altLang="zh-CN" sz="1800">
                <a:solidFill>
                  <a:schemeClr val="folHlink"/>
                </a:solidFill>
                <a:latin typeface="Times New Roman" pitchFamily="18" charset="0"/>
                <a:ea typeface="黑体" pitchFamily="49" charset="-122"/>
              </a:rPr>
              <a:t>600 </a:t>
            </a:r>
            <a:r>
              <a:rPr kumimoji="1" lang="zh-CN" altLang="en-US" sz="1800">
                <a:solidFill>
                  <a:schemeClr val="folHlink"/>
                </a:solidFill>
                <a:latin typeface="Times New Roman" pitchFamily="18" charset="0"/>
                <a:ea typeface="黑体" pitchFamily="49" charset="-122"/>
              </a:rPr>
              <a:t>为止的数据都收到了）</a:t>
            </a:r>
          </a:p>
        </p:txBody>
      </p:sp>
      <p:sp>
        <p:nvSpPr>
          <p:cNvPr id="90146" name="AutoShape 36"/>
          <p:cNvSpPr>
            <a:spLocks noChangeArrowheads="1"/>
          </p:cNvSpPr>
          <p:nvPr/>
        </p:nvSpPr>
        <p:spPr bwMode="auto">
          <a:xfrm>
            <a:off x="2544763" y="3135313"/>
            <a:ext cx="1163637" cy="547687"/>
          </a:xfrm>
          <a:prstGeom prst="irregularSeal1">
            <a:avLst/>
          </a:prstGeom>
          <a:solidFill>
            <a:srgbClr val="C9DE0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147" name="Rectangle 37"/>
          <p:cNvSpPr>
            <a:spLocks noChangeArrowheads="1"/>
          </p:cNvSpPr>
          <p:nvPr/>
        </p:nvSpPr>
        <p:spPr bwMode="auto">
          <a:xfrm>
            <a:off x="2771775" y="3230563"/>
            <a:ext cx="8667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丢失！</a:t>
            </a:r>
          </a:p>
        </p:txBody>
      </p:sp>
      <p:sp>
        <p:nvSpPr>
          <p:cNvPr id="90148" name="Line 38"/>
          <p:cNvSpPr>
            <a:spLocks noChangeShapeType="1"/>
          </p:cNvSpPr>
          <p:nvPr/>
        </p:nvSpPr>
        <p:spPr bwMode="auto">
          <a:xfrm>
            <a:off x="200025" y="2490788"/>
            <a:ext cx="0" cy="41322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49" name="Rectangle 39"/>
          <p:cNvSpPr>
            <a:spLocks noGrp="1" noChangeArrowheads="1"/>
          </p:cNvSpPr>
          <p:nvPr>
            <p:ph type="title"/>
          </p:nvPr>
        </p:nvSpPr>
        <p:spPr>
          <a:xfrm>
            <a:off x="611188" y="44450"/>
            <a:ext cx="7993062" cy="839788"/>
          </a:xfrm>
          <a:solidFill>
            <a:srgbClr val="C9DE06"/>
          </a:solidFill>
          <a:ln>
            <a:solidFill>
              <a:schemeClr val="folHlink"/>
            </a:solidFill>
            <a:miter lim="800000"/>
            <a:headEnd/>
            <a:tailEnd/>
          </a:ln>
        </p:spPr>
        <p:txBody>
          <a:bodyPr/>
          <a:lstStyle/>
          <a:p>
            <a:pPr algn="ctr" eaLnBrk="1" hangingPunct="1">
              <a:lnSpc>
                <a:spcPct val="90000"/>
              </a:lnSpc>
            </a:pPr>
            <a:r>
              <a:rPr lang="zh-CN" altLang="en-US" sz="4000" smtClean="0"/>
              <a:t>流量控制举例</a:t>
            </a:r>
            <a:endParaRPr lang="zh-CN" altLang="en-US" smtClean="0"/>
          </a:p>
        </p:txBody>
      </p:sp>
      <p:sp>
        <p:nvSpPr>
          <p:cNvPr id="90150" name="Text Box 40"/>
          <p:cNvSpPr txBox="1">
            <a:spLocks noChangeArrowheads="1"/>
          </p:cNvSpPr>
          <p:nvPr/>
        </p:nvSpPr>
        <p:spPr bwMode="auto">
          <a:xfrm>
            <a:off x="611188" y="1042988"/>
            <a:ext cx="80057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rgbClr val="333399"/>
                </a:solidFill>
              </a:rPr>
              <a:t>A </a:t>
            </a:r>
            <a:r>
              <a:rPr lang="zh-CN" altLang="en-US">
                <a:solidFill>
                  <a:srgbClr val="333399"/>
                </a:solidFill>
              </a:rPr>
              <a:t>向 </a:t>
            </a:r>
            <a:r>
              <a:rPr lang="en-US" altLang="zh-CN">
                <a:solidFill>
                  <a:srgbClr val="333399"/>
                </a:solidFill>
              </a:rPr>
              <a:t>B </a:t>
            </a:r>
            <a:r>
              <a:rPr lang="zh-CN" altLang="en-US">
                <a:solidFill>
                  <a:srgbClr val="333399"/>
                </a:solidFill>
              </a:rPr>
              <a:t>发送数据。在连接建立时，</a:t>
            </a:r>
            <a:br>
              <a:rPr lang="zh-CN" altLang="en-US">
                <a:solidFill>
                  <a:srgbClr val="333399"/>
                </a:solidFill>
              </a:rPr>
            </a:br>
            <a:r>
              <a:rPr lang="en-US" altLang="zh-CN">
                <a:solidFill>
                  <a:srgbClr val="333399"/>
                </a:solidFill>
              </a:rPr>
              <a:t>B </a:t>
            </a:r>
            <a:r>
              <a:rPr lang="zh-CN" altLang="en-US">
                <a:solidFill>
                  <a:srgbClr val="333399"/>
                </a:solidFill>
              </a:rPr>
              <a:t>告诉 </a:t>
            </a:r>
            <a:r>
              <a:rPr lang="en-US" altLang="zh-CN">
                <a:solidFill>
                  <a:srgbClr val="333399"/>
                </a:solidFill>
              </a:rPr>
              <a:t>A</a:t>
            </a:r>
            <a:r>
              <a:rPr lang="zh-CN" altLang="en-US">
                <a:solidFill>
                  <a:srgbClr val="333399"/>
                </a:solidFill>
              </a:rPr>
              <a:t>：</a:t>
            </a:r>
            <a:r>
              <a:rPr lang="zh-CN" altLang="en-US">
                <a:solidFill>
                  <a:srgbClr val="333399"/>
                </a:solidFill>
                <a:latin typeface="Arial" pitchFamily="34" charset="0"/>
              </a:rPr>
              <a:t>“</a:t>
            </a:r>
            <a:r>
              <a:rPr lang="zh-CN" altLang="en-US">
                <a:solidFill>
                  <a:srgbClr val="333399"/>
                </a:solidFill>
              </a:rPr>
              <a:t>我的接收窗口 </a:t>
            </a:r>
            <a:r>
              <a:rPr lang="en-US" altLang="zh-CN">
                <a:solidFill>
                  <a:srgbClr val="333399"/>
                </a:solidFill>
              </a:rPr>
              <a:t>rwnd = 400</a:t>
            </a:r>
            <a:r>
              <a:rPr lang="zh-CN" altLang="en-US">
                <a:solidFill>
                  <a:srgbClr val="333399"/>
                </a:solidFill>
              </a:rPr>
              <a:t>（字节）</a:t>
            </a:r>
            <a:r>
              <a:rPr lang="zh-CN" altLang="en-US">
                <a:solidFill>
                  <a:srgbClr val="333399"/>
                </a:solidFill>
                <a:latin typeface="Arial" pitchFamily="34" charset="0"/>
              </a:rPr>
              <a:t>”</a:t>
            </a:r>
            <a:r>
              <a:rPr lang="zh-CN" altLang="en-US">
                <a:solidFill>
                  <a:srgbClr val="333399"/>
                </a:solidFill>
              </a:rPr>
              <a:t>。</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760DBE9-03B1-4DB6-AC6C-DA6994120E99}" type="slidenum">
              <a:rPr lang="en-US" altLang="zh-CN" sz="1400"/>
              <a:pPr eaLnBrk="1" hangingPunct="1"/>
              <a:t>87</a:t>
            </a:fld>
            <a:endParaRPr lang="en-US" altLang="zh-CN" sz="1400"/>
          </a:p>
        </p:txBody>
      </p:sp>
      <p:sp>
        <p:nvSpPr>
          <p:cNvPr id="91139" name="Rectangle 2"/>
          <p:cNvSpPr>
            <a:spLocks noGrp="1" noChangeArrowheads="1"/>
          </p:cNvSpPr>
          <p:nvPr>
            <p:ph type="title"/>
          </p:nvPr>
        </p:nvSpPr>
        <p:spPr>
          <a:xfrm>
            <a:off x="1150938" y="214313"/>
            <a:ext cx="6805612" cy="1462087"/>
          </a:xfrm>
        </p:spPr>
        <p:txBody>
          <a:bodyPr/>
          <a:lstStyle/>
          <a:p>
            <a:pPr algn="ctr" eaLnBrk="1" hangingPunct="1"/>
            <a:r>
              <a:rPr lang="zh-CN" altLang="en-US" sz="4000" smtClean="0">
                <a:solidFill>
                  <a:schemeClr val="folHlink"/>
                </a:solidFill>
              </a:rPr>
              <a:t>持续计时器</a:t>
            </a:r>
            <a:br>
              <a:rPr lang="zh-CN" altLang="en-US" sz="4000" smtClean="0">
                <a:solidFill>
                  <a:schemeClr val="folHlink"/>
                </a:solidFill>
              </a:rPr>
            </a:br>
            <a:r>
              <a:rPr lang="en-US" altLang="zh-CN" sz="4000" smtClean="0"/>
              <a:t>(persistence timer)</a:t>
            </a:r>
            <a:r>
              <a:rPr lang="zh-CN" altLang="en-US" sz="4000" smtClean="0"/>
              <a:t>。</a:t>
            </a:r>
          </a:p>
        </p:txBody>
      </p:sp>
      <p:sp>
        <p:nvSpPr>
          <p:cNvPr id="91140" name="Rectangle 3"/>
          <p:cNvSpPr>
            <a:spLocks noGrp="1" noChangeArrowheads="1"/>
          </p:cNvSpPr>
          <p:nvPr>
            <p:ph type="body" idx="1"/>
          </p:nvPr>
        </p:nvSpPr>
        <p:spPr>
          <a:xfrm>
            <a:off x="1042988" y="1773238"/>
            <a:ext cx="7772400" cy="5084762"/>
          </a:xfrm>
        </p:spPr>
        <p:txBody>
          <a:bodyPr/>
          <a:lstStyle/>
          <a:p>
            <a:pPr eaLnBrk="1" hangingPunct="1"/>
            <a:r>
              <a:rPr lang="en-US" altLang="zh-CN" sz="2800" smtClean="0"/>
              <a:t>TCP </a:t>
            </a:r>
            <a:r>
              <a:rPr lang="zh-CN" altLang="en-US" sz="2800" smtClean="0"/>
              <a:t>为每一个连接设有一个</a:t>
            </a:r>
            <a:r>
              <a:rPr lang="zh-CN" altLang="en-US" sz="2800" smtClean="0">
                <a:solidFill>
                  <a:schemeClr val="hlink"/>
                </a:solidFill>
              </a:rPr>
              <a:t>持续计时器</a:t>
            </a:r>
            <a:r>
              <a:rPr lang="zh-CN" altLang="en-US" sz="2800" smtClean="0"/>
              <a:t>。</a:t>
            </a:r>
          </a:p>
          <a:p>
            <a:pPr eaLnBrk="1" hangingPunct="1"/>
            <a:r>
              <a:rPr lang="zh-CN" altLang="en-US" sz="2800" smtClean="0"/>
              <a:t>只要 </a:t>
            </a:r>
            <a:r>
              <a:rPr lang="en-US" altLang="zh-CN" sz="2800" smtClean="0"/>
              <a:t>TCP </a:t>
            </a:r>
            <a:r>
              <a:rPr lang="zh-CN" altLang="en-US" sz="2800" smtClean="0"/>
              <a:t>连接的一方收到对方的</a:t>
            </a:r>
            <a:r>
              <a:rPr lang="zh-CN" altLang="en-US" sz="2800" smtClean="0">
                <a:solidFill>
                  <a:schemeClr val="hlink"/>
                </a:solidFill>
              </a:rPr>
              <a:t>零窗口</a:t>
            </a:r>
            <a:r>
              <a:rPr lang="zh-CN" altLang="en-US" sz="2800" smtClean="0"/>
              <a:t>通知，就启动持续计时器。</a:t>
            </a:r>
          </a:p>
          <a:p>
            <a:pPr eaLnBrk="1" hangingPunct="1"/>
            <a:r>
              <a:rPr lang="zh-CN" altLang="en-US" sz="2800" smtClean="0"/>
              <a:t>若持续计时器设置的时间到期，就发送一个零窗口探测报文段（仅携带 </a:t>
            </a:r>
            <a:r>
              <a:rPr lang="en-US" altLang="zh-CN" sz="2800" smtClean="0"/>
              <a:t>1 </a:t>
            </a:r>
            <a:r>
              <a:rPr lang="zh-CN" altLang="en-US" sz="2800" smtClean="0"/>
              <a:t>字节的数据），而对方就在确认这个探测报文段时给出了现在的窗口值。</a:t>
            </a:r>
          </a:p>
          <a:p>
            <a:pPr eaLnBrk="1" hangingPunct="1"/>
            <a:r>
              <a:rPr lang="zh-CN" altLang="en-US" sz="2800" smtClean="0"/>
              <a:t>若窗口仍然是零，则收到这个报文段的一方就重新设置持续计时器。</a:t>
            </a:r>
          </a:p>
          <a:p>
            <a:pPr eaLnBrk="1" hangingPunct="1"/>
            <a:r>
              <a:rPr lang="zh-CN" altLang="en-US" sz="2800" smtClean="0"/>
              <a:t>若窗口不是零，则</a:t>
            </a:r>
            <a:r>
              <a:rPr lang="zh-CN" altLang="en-US" sz="2800" smtClean="0">
                <a:solidFill>
                  <a:schemeClr val="hlink"/>
                </a:solidFill>
              </a:rPr>
              <a:t>死锁</a:t>
            </a:r>
            <a:r>
              <a:rPr lang="zh-CN" altLang="en-US" sz="2800" smtClean="0"/>
              <a:t>的僵局就可以打破了。 </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CBE43BA9-558A-44F1-A960-488E90453C85}" type="slidenum">
              <a:rPr lang="en-US" altLang="zh-CN" sz="1400"/>
              <a:pPr eaLnBrk="1" hangingPunct="1"/>
              <a:t>88</a:t>
            </a:fld>
            <a:endParaRPr lang="en-US" altLang="zh-CN" sz="1400"/>
          </a:p>
        </p:txBody>
      </p:sp>
      <p:sp>
        <p:nvSpPr>
          <p:cNvPr id="92163" name="Rectangle 2"/>
          <p:cNvSpPr>
            <a:spLocks noGrp="1" noChangeArrowheads="1"/>
          </p:cNvSpPr>
          <p:nvPr>
            <p:ph type="title"/>
          </p:nvPr>
        </p:nvSpPr>
        <p:spPr/>
        <p:txBody>
          <a:bodyPr/>
          <a:lstStyle/>
          <a:p>
            <a:pPr algn="ctr" eaLnBrk="1" hangingPunct="1"/>
            <a:r>
              <a:rPr lang="en-US" altLang="zh-CN" smtClean="0"/>
              <a:t>5.8   TCP</a:t>
            </a:r>
            <a:r>
              <a:rPr lang="zh-CN" altLang="en-US" smtClean="0"/>
              <a:t>的拥塞控制</a:t>
            </a:r>
            <a:br>
              <a:rPr lang="zh-CN" altLang="en-US" smtClean="0"/>
            </a:br>
            <a:r>
              <a:rPr lang="en-US" altLang="zh-CN" smtClean="0"/>
              <a:t>5.8.1  </a:t>
            </a:r>
            <a:r>
              <a:rPr lang="zh-CN" altLang="en-US" smtClean="0"/>
              <a:t>拥塞控制的一般原理 </a:t>
            </a:r>
          </a:p>
        </p:txBody>
      </p:sp>
      <p:sp>
        <p:nvSpPr>
          <p:cNvPr id="764932" name="Rectangle 4"/>
          <p:cNvSpPr>
            <a:spLocks noGrp="1" noChangeArrowheads="1"/>
          </p:cNvSpPr>
          <p:nvPr>
            <p:ph type="body" idx="1"/>
          </p:nvPr>
        </p:nvSpPr>
        <p:spPr>
          <a:xfrm>
            <a:off x="1042988" y="1773238"/>
            <a:ext cx="7772400" cy="4608512"/>
          </a:xfrm>
          <a:noFill/>
        </p:spPr>
        <p:txBody>
          <a:bodyPr/>
          <a:lstStyle/>
          <a:p>
            <a:pPr eaLnBrk="1" hangingPunct="1"/>
            <a:r>
              <a:rPr lang="zh-CN" altLang="en-US" sz="2800" smtClean="0"/>
              <a:t>在某段时间，若对网络中某资源的需求超过了该资源所能提供的可用部分，网络的性能就要变坏</a:t>
            </a:r>
            <a:r>
              <a:rPr lang="en-US" altLang="zh-CN" sz="2800" smtClean="0"/>
              <a:t>——</a:t>
            </a:r>
            <a:r>
              <a:rPr lang="zh-CN" altLang="en-US" sz="2800" smtClean="0"/>
              <a:t>产生</a:t>
            </a:r>
            <a:r>
              <a:rPr lang="zh-CN" altLang="en-US" sz="2800" smtClean="0">
                <a:solidFill>
                  <a:schemeClr val="hlink"/>
                </a:solidFill>
              </a:rPr>
              <a:t>拥塞</a:t>
            </a:r>
            <a:r>
              <a:rPr lang="en-US" altLang="zh-CN" sz="2800" smtClean="0"/>
              <a:t>(congestion)</a:t>
            </a:r>
            <a:r>
              <a:rPr lang="zh-CN" altLang="en-US" sz="2800" smtClean="0"/>
              <a:t>。</a:t>
            </a:r>
          </a:p>
          <a:p>
            <a:pPr eaLnBrk="1" hangingPunct="1"/>
            <a:r>
              <a:rPr lang="zh-CN" altLang="en-US" sz="2800" smtClean="0"/>
              <a:t>出现资源拥塞的条件：</a:t>
            </a:r>
          </a:p>
          <a:p>
            <a:pPr eaLnBrk="1" hangingPunct="1">
              <a:spcBef>
                <a:spcPct val="40000"/>
              </a:spcBef>
              <a:spcAft>
                <a:spcPct val="30000"/>
              </a:spcAft>
              <a:buFont typeface="Wingdings" pitchFamily="2" charset="2"/>
              <a:buNone/>
            </a:pPr>
            <a:r>
              <a:rPr lang="zh-CN" altLang="en-US" sz="2800" smtClean="0"/>
              <a:t>             对资源需求的总和 </a:t>
            </a:r>
            <a:r>
              <a:rPr lang="en-US" altLang="zh-CN" sz="2800" smtClean="0"/>
              <a:t>&gt; </a:t>
            </a:r>
            <a:r>
              <a:rPr lang="zh-CN" altLang="en-US" sz="2800" smtClean="0"/>
              <a:t>可用资源       </a:t>
            </a:r>
            <a:r>
              <a:rPr lang="en-US" altLang="zh-CN" sz="2800" smtClean="0"/>
              <a:t>(5-7) </a:t>
            </a:r>
          </a:p>
          <a:p>
            <a:pPr eaLnBrk="1" hangingPunct="1"/>
            <a:r>
              <a:rPr lang="zh-CN" altLang="en-US" sz="2800" smtClean="0"/>
              <a:t>若网络中有许多资源同时产生拥塞，网络的性能就要明显变坏，整个网络的吞吐量将随输入负荷的增大而下降。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4932">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64932">
                                            <p:txEl>
                                              <p:pRg st="2" end="2"/>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649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2"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240770D2-43B8-488E-A849-190D4ABD49C9}" type="slidenum">
              <a:rPr lang="en-US" altLang="zh-CN" sz="1400"/>
              <a:pPr eaLnBrk="1" hangingPunct="1"/>
              <a:t>89</a:t>
            </a:fld>
            <a:endParaRPr lang="en-US" altLang="zh-CN" sz="1400"/>
          </a:p>
        </p:txBody>
      </p:sp>
      <p:sp>
        <p:nvSpPr>
          <p:cNvPr id="93187" name="Rectangle 2"/>
          <p:cNvSpPr>
            <a:spLocks noGrp="1" noChangeArrowheads="1"/>
          </p:cNvSpPr>
          <p:nvPr>
            <p:ph type="title"/>
          </p:nvPr>
        </p:nvSpPr>
        <p:spPr/>
        <p:txBody>
          <a:bodyPr/>
          <a:lstStyle/>
          <a:p>
            <a:pPr algn="ctr" eaLnBrk="1" hangingPunct="1"/>
            <a:r>
              <a:rPr lang="zh-CN" altLang="en-US" smtClean="0"/>
              <a:t>拥塞控制与流量控制的关系 </a:t>
            </a:r>
          </a:p>
        </p:txBody>
      </p:sp>
      <p:sp>
        <p:nvSpPr>
          <p:cNvPr id="766979" name="Rectangle 3"/>
          <p:cNvSpPr>
            <a:spLocks noGrp="1" noChangeArrowheads="1"/>
          </p:cNvSpPr>
          <p:nvPr>
            <p:ph type="body" idx="1"/>
          </p:nvPr>
        </p:nvSpPr>
        <p:spPr>
          <a:xfrm>
            <a:off x="827088" y="1773238"/>
            <a:ext cx="8137525" cy="4319587"/>
          </a:xfrm>
        </p:spPr>
        <p:txBody>
          <a:bodyPr/>
          <a:lstStyle/>
          <a:p>
            <a:pPr eaLnBrk="1" hangingPunct="1"/>
            <a:r>
              <a:rPr lang="zh-CN" altLang="en-US" smtClean="0">
                <a:solidFill>
                  <a:schemeClr val="hlink"/>
                </a:solidFill>
              </a:rPr>
              <a:t>拥塞控制是一个全局性的过程</a:t>
            </a:r>
            <a:r>
              <a:rPr lang="zh-CN" altLang="en-US" smtClean="0"/>
              <a:t>，涉及到所有的主机、所有的路由器，以及与降低网络传输性能有关的所有因素。 </a:t>
            </a:r>
          </a:p>
          <a:p>
            <a:pPr eaLnBrk="1" hangingPunct="1"/>
            <a:r>
              <a:rPr lang="zh-CN" altLang="en-US" smtClean="0">
                <a:solidFill>
                  <a:schemeClr val="hlink"/>
                </a:solidFill>
              </a:rPr>
              <a:t>流量控制</a:t>
            </a:r>
            <a:r>
              <a:rPr lang="zh-CN" altLang="en-US" smtClean="0"/>
              <a:t>往往指在给定的发送端和接收端之间的点对点通信量的控制。 </a:t>
            </a:r>
          </a:p>
          <a:p>
            <a:pPr eaLnBrk="1" hangingPunct="1"/>
            <a:r>
              <a:rPr lang="zh-CN" altLang="en-US" smtClean="0"/>
              <a:t>流量控制所要做的就是抑制发送端发送数据的速率，以便使接收端来得及接收。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69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69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69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79"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47D0FB52-FA92-46D8-A11E-E896BF2752D2}" type="slidenum">
              <a:rPr lang="en-US" altLang="zh-CN" sz="1400"/>
              <a:pPr eaLnBrk="1" hangingPunct="1"/>
              <a:t>90</a:t>
            </a:fld>
            <a:endParaRPr lang="en-US" altLang="zh-CN" sz="1400"/>
          </a:p>
        </p:txBody>
      </p:sp>
      <p:sp>
        <p:nvSpPr>
          <p:cNvPr id="94211" name="Rectangle 2"/>
          <p:cNvSpPr>
            <a:spLocks noGrp="1" noChangeArrowheads="1"/>
          </p:cNvSpPr>
          <p:nvPr>
            <p:ph type="title"/>
          </p:nvPr>
        </p:nvSpPr>
        <p:spPr/>
        <p:txBody>
          <a:bodyPr/>
          <a:lstStyle/>
          <a:p>
            <a:pPr algn="ctr" eaLnBrk="1" hangingPunct="1"/>
            <a:r>
              <a:rPr lang="zh-CN" altLang="en-US" sz="4800" smtClean="0"/>
              <a:t>拥塞控制所起的作用</a:t>
            </a:r>
            <a:r>
              <a:rPr lang="en-US" altLang="zh-CN" sz="3200" smtClean="0"/>
              <a:t>207 </a:t>
            </a:r>
          </a:p>
        </p:txBody>
      </p:sp>
      <p:sp>
        <p:nvSpPr>
          <p:cNvPr id="94212" name="Line 3"/>
          <p:cNvSpPr>
            <a:spLocks noChangeShapeType="1"/>
          </p:cNvSpPr>
          <p:nvPr/>
        </p:nvSpPr>
        <p:spPr bwMode="auto">
          <a:xfrm rot="-5400000">
            <a:off x="-707231" y="3909219"/>
            <a:ext cx="3481388" cy="0"/>
          </a:xfrm>
          <a:prstGeom prst="line">
            <a:avLst/>
          </a:prstGeom>
          <a:noFill/>
          <a:ln w="190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13" name="Text Box 5"/>
          <p:cNvSpPr txBox="1">
            <a:spLocks noChangeArrowheads="1"/>
          </p:cNvSpPr>
          <p:nvPr/>
        </p:nvSpPr>
        <p:spPr bwMode="auto">
          <a:xfrm>
            <a:off x="7092950" y="5229225"/>
            <a:ext cx="1454150"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提供的负载</a:t>
            </a:r>
          </a:p>
        </p:txBody>
      </p:sp>
      <p:sp>
        <p:nvSpPr>
          <p:cNvPr id="94214" name="Text Box 6"/>
          <p:cNvSpPr txBox="1">
            <a:spLocks noChangeArrowheads="1"/>
          </p:cNvSpPr>
          <p:nvPr/>
        </p:nvSpPr>
        <p:spPr bwMode="auto">
          <a:xfrm>
            <a:off x="1033463" y="2020888"/>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吞吐量</a:t>
            </a:r>
          </a:p>
        </p:txBody>
      </p:sp>
      <p:grpSp>
        <p:nvGrpSpPr>
          <p:cNvPr id="768007" name="Group 7"/>
          <p:cNvGrpSpPr>
            <a:grpSpLocks/>
          </p:cNvGrpSpPr>
          <p:nvPr/>
        </p:nvGrpSpPr>
        <p:grpSpPr bwMode="auto">
          <a:xfrm>
            <a:off x="1033463" y="2852738"/>
            <a:ext cx="6480175" cy="2797175"/>
            <a:chOff x="651" y="1797"/>
            <a:chExt cx="4082" cy="1762"/>
          </a:xfrm>
        </p:grpSpPr>
        <p:sp>
          <p:nvSpPr>
            <p:cNvPr id="94244" name="Line 8"/>
            <p:cNvSpPr>
              <a:spLocks noChangeShapeType="1"/>
            </p:cNvSpPr>
            <p:nvPr/>
          </p:nvSpPr>
          <p:spPr bwMode="auto">
            <a:xfrm flipV="1">
              <a:off x="651" y="2077"/>
              <a:ext cx="1925" cy="1482"/>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5" name="Line 9"/>
            <p:cNvSpPr>
              <a:spLocks noChangeShapeType="1"/>
            </p:cNvSpPr>
            <p:nvPr/>
          </p:nvSpPr>
          <p:spPr bwMode="auto">
            <a:xfrm>
              <a:off x="2576" y="2077"/>
              <a:ext cx="2157" cy="0"/>
            </a:xfrm>
            <a:prstGeom prst="line">
              <a:avLst/>
            </a:prstGeom>
            <a:noFill/>
            <a:ln w="38100">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46" name="Text Box 10"/>
            <p:cNvSpPr txBox="1">
              <a:spLocks noChangeArrowheads="1"/>
            </p:cNvSpPr>
            <p:nvPr/>
          </p:nvSpPr>
          <p:spPr bwMode="auto">
            <a:xfrm>
              <a:off x="2901" y="1797"/>
              <a:ext cx="1235"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chemeClr val="hlink"/>
                  </a:solidFill>
                  <a:latin typeface="Arial" pitchFamily="34" charset="0"/>
                  <a:ea typeface="黑体" pitchFamily="49" charset="-122"/>
                </a:rPr>
                <a:t>理想的拥塞控制</a:t>
              </a:r>
            </a:p>
          </p:txBody>
        </p:sp>
      </p:grpSp>
      <p:sp>
        <p:nvSpPr>
          <p:cNvPr id="94216" name="Rectangle 15"/>
          <p:cNvSpPr>
            <a:spLocks noChangeArrowheads="1"/>
          </p:cNvSpPr>
          <p:nvPr/>
        </p:nvSpPr>
        <p:spPr bwMode="auto">
          <a:xfrm>
            <a:off x="4425950" y="5745163"/>
            <a:ext cx="641350" cy="2936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68023" name="Group 23"/>
          <p:cNvGrpSpPr>
            <a:grpSpLocks/>
          </p:cNvGrpSpPr>
          <p:nvPr/>
        </p:nvGrpSpPr>
        <p:grpSpPr bwMode="auto">
          <a:xfrm>
            <a:off x="1033463" y="3462338"/>
            <a:ext cx="6573837" cy="2187575"/>
            <a:chOff x="651" y="2181"/>
            <a:chExt cx="4141" cy="1378"/>
          </a:xfrm>
        </p:grpSpPr>
        <p:sp>
          <p:nvSpPr>
            <p:cNvPr id="94240" name="Freeform 24"/>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241" name="Group 25"/>
            <p:cNvGrpSpPr>
              <a:grpSpLocks/>
            </p:cNvGrpSpPr>
            <p:nvPr/>
          </p:nvGrpSpPr>
          <p:grpSpPr bwMode="auto">
            <a:xfrm>
              <a:off x="2499" y="2181"/>
              <a:ext cx="1235" cy="382"/>
              <a:chOff x="2499" y="2181"/>
              <a:chExt cx="1235" cy="382"/>
            </a:xfrm>
          </p:grpSpPr>
          <p:sp>
            <p:nvSpPr>
              <p:cNvPr id="94242" name="Text Box 26"/>
              <p:cNvSpPr txBox="1">
                <a:spLocks noChangeArrowheads="1"/>
              </p:cNvSpPr>
              <p:nvPr/>
            </p:nvSpPr>
            <p:spPr bwMode="auto">
              <a:xfrm>
                <a:off x="2499" y="2181"/>
                <a:ext cx="1235"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实际的拥塞控制</a:t>
                </a:r>
              </a:p>
            </p:txBody>
          </p:sp>
          <p:sp>
            <p:nvSpPr>
              <p:cNvPr id="94243" name="Line 27"/>
              <p:cNvSpPr>
                <a:spLocks noChangeShapeType="1"/>
              </p:cNvSpPr>
              <p:nvPr/>
            </p:nvSpPr>
            <p:spPr bwMode="auto">
              <a:xfrm>
                <a:off x="3016" y="2387"/>
                <a:ext cx="100" cy="176"/>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94218" name="Line 32"/>
          <p:cNvSpPr>
            <a:spLocks noChangeShapeType="1"/>
          </p:cNvSpPr>
          <p:nvPr/>
        </p:nvSpPr>
        <p:spPr bwMode="auto">
          <a:xfrm>
            <a:off x="1033463" y="5649913"/>
            <a:ext cx="6970712" cy="0"/>
          </a:xfrm>
          <a:prstGeom prst="line">
            <a:avLst/>
          </a:prstGeom>
          <a:noFill/>
          <a:ln w="190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19" name="Text Box 33"/>
          <p:cNvSpPr txBox="1">
            <a:spLocks noChangeArrowheads="1"/>
          </p:cNvSpPr>
          <p:nvPr/>
        </p:nvSpPr>
        <p:spPr bwMode="auto">
          <a:xfrm>
            <a:off x="781050" y="55038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0</a:t>
            </a:r>
          </a:p>
        </p:txBody>
      </p:sp>
      <p:grpSp>
        <p:nvGrpSpPr>
          <p:cNvPr id="768038" name="Group 38"/>
          <p:cNvGrpSpPr>
            <a:grpSpLocks/>
          </p:cNvGrpSpPr>
          <p:nvPr/>
        </p:nvGrpSpPr>
        <p:grpSpPr bwMode="auto">
          <a:xfrm>
            <a:off x="5378450" y="4667250"/>
            <a:ext cx="3097213" cy="1019175"/>
            <a:chOff x="3388" y="2940"/>
            <a:chExt cx="1951" cy="642"/>
          </a:xfrm>
        </p:grpSpPr>
        <p:grpSp>
          <p:nvGrpSpPr>
            <p:cNvPr id="94236" name="Group 17"/>
            <p:cNvGrpSpPr>
              <a:grpSpLocks/>
            </p:cNvGrpSpPr>
            <p:nvPr/>
          </p:nvGrpSpPr>
          <p:grpSpPr bwMode="auto">
            <a:xfrm>
              <a:off x="3429" y="2940"/>
              <a:ext cx="1910" cy="590"/>
              <a:chOff x="3429" y="2940"/>
              <a:chExt cx="1910" cy="590"/>
            </a:xfrm>
          </p:grpSpPr>
          <p:sp>
            <p:nvSpPr>
              <p:cNvPr id="94238" name="Text Box 18"/>
              <p:cNvSpPr txBox="1">
                <a:spLocks noChangeArrowheads="1"/>
              </p:cNvSpPr>
              <p:nvPr/>
            </p:nvSpPr>
            <p:spPr bwMode="auto">
              <a:xfrm>
                <a:off x="3833" y="2940"/>
                <a:ext cx="15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死锁（吞吐量 </a:t>
                </a:r>
                <a:r>
                  <a:rPr kumimoji="1" lang="en-US" altLang="zh-CN" sz="2000">
                    <a:solidFill>
                      <a:srgbClr val="333399"/>
                    </a:solidFill>
                    <a:latin typeface="Arial" pitchFamily="34" charset="0"/>
                    <a:ea typeface="黑体" pitchFamily="49" charset="-122"/>
                  </a:rPr>
                  <a:t>= 0</a:t>
                </a:r>
                <a:r>
                  <a:rPr kumimoji="1" lang="zh-CN" altLang="en-US" sz="2000">
                    <a:solidFill>
                      <a:srgbClr val="333399"/>
                    </a:solidFill>
                    <a:latin typeface="Arial" pitchFamily="34" charset="0"/>
                    <a:ea typeface="黑体" pitchFamily="49" charset="-122"/>
                  </a:rPr>
                  <a:t>）</a:t>
                </a:r>
              </a:p>
            </p:txBody>
          </p:sp>
          <p:sp>
            <p:nvSpPr>
              <p:cNvPr id="94239" name="Line 19"/>
              <p:cNvSpPr>
                <a:spLocks noChangeShapeType="1"/>
              </p:cNvSpPr>
              <p:nvPr/>
            </p:nvSpPr>
            <p:spPr bwMode="auto">
              <a:xfrm flipH="1">
                <a:off x="3429" y="3144"/>
                <a:ext cx="457" cy="386"/>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4237" name="Oval 34"/>
            <p:cNvSpPr>
              <a:spLocks noChangeArrowheads="1"/>
            </p:cNvSpPr>
            <p:nvPr/>
          </p:nvSpPr>
          <p:spPr bwMode="auto">
            <a:xfrm>
              <a:off x="3388" y="3522"/>
              <a:ext cx="63" cy="60"/>
            </a:xfrm>
            <a:prstGeom prst="ellipse">
              <a:avLst/>
            </a:prstGeom>
            <a:solidFill>
              <a:srgbClr val="FF00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8040" name="Group 40"/>
          <p:cNvGrpSpPr>
            <a:grpSpLocks/>
          </p:cNvGrpSpPr>
          <p:nvPr/>
        </p:nvGrpSpPr>
        <p:grpSpPr bwMode="auto">
          <a:xfrm>
            <a:off x="1033463" y="4090988"/>
            <a:ext cx="5975350" cy="2146300"/>
            <a:chOff x="651" y="2577"/>
            <a:chExt cx="3764" cy="1352"/>
          </a:xfrm>
        </p:grpSpPr>
        <p:sp>
          <p:nvSpPr>
            <p:cNvPr id="94222" name="Line 14"/>
            <p:cNvSpPr>
              <a:spLocks noChangeShapeType="1"/>
            </p:cNvSpPr>
            <p:nvPr/>
          </p:nvSpPr>
          <p:spPr bwMode="auto">
            <a:xfrm>
              <a:off x="2585" y="3737"/>
              <a:ext cx="848"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3" name="Line 30"/>
            <p:cNvSpPr>
              <a:spLocks noChangeShapeType="1"/>
            </p:cNvSpPr>
            <p:nvPr/>
          </p:nvSpPr>
          <p:spPr bwMode="auto">
            <a:xfrm>
              <a:off x="1633" y="3737"/>
              <a:ext cx="943" cy="0"/>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4224" name="Group 39"/>
            <p:cNvGrpSpPr>
              <a:grpSpLocks/>
            </p:cNvGrpSpPr>
            <p:nvPr/>
          </p:nvGrpSpPr>
          <p:grpSpPr bwMode="auto">
            <a:xfrm>
              <a:off x="651" y="2577"/>
              <a:ext cx="3764" cy="1352"/>
              <a:chOff x="651" y="2577"/>
              <a:chExt cx="3764" cy="1352"/>
            </a:xfrm>
          </p:grpSpPr>
          <p:grpSp>
            <p:nvGrpSpPr>
              <p:cNvPr id="94225" name="Group 37"/>
              <p:cNvGrpSpPr>
                <a:grpSpLocks/>
              </p:cNvGrpSpPr>
              <p:nvPr/>
            </p:nvGrpSpPr>
            <p:grpSpPr bwMode="auto">
              <a:xfrm>
                <a:off x="651" y="2577"/>
                <a:ext cx="3764" cy="1219"/>
                <a:chOff x="651" y="2577"/>
                <a:chExt cx="3764" cy="1219"/>
              </a:xfrm>
            </p:grpSpPr>
            <p:sp>
              <p:nvSpPr>
                <p:cNvPr id="94228" name="Freeform 4"/>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FF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29" name="Line 11"/>
                <p:cNvSpPr>
                  <a:spLocks noChangeShapeType="1"/>
                </p:cNvSpPr>
                <p:nvPr/>
              </p:nvSpPr>
              <p:spPr bwMode="auto">
                <a:xfrm>
                  <a:off x="2576" y="2611"/>
                  <a:ext cx="0" cy="948"/>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0" name="Text Box 21"/>
                <p:cNvSpPr txBox="1">
                  <a:spLocks noChangeArrowheads="1"/>
                </p:cNvSpPr>
                <p:nvPr/>
              </p:nvSpPr>
              <p:spPr bwMode="auto">
                <a:xfrm>
                  <a:off x="3500" y="2577"/>
                  <a:ext cx="91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无拥塞控制</a:t>
                  </a:r>
                </a:p>
              </p:txBody>
            </p:sp>
            <p:sp>
              <p:nvSpPr>
                <p:cNvPr id="94231" name="Line 22"/>
                <p:cNvSpPr>
                  <a:spLocks noChangeShapeType="1"/>
                </p:cNvSpPr>
                <p:nvPr/>
              </p:nvSpPr>
              <p:spPr bwMode="auto">
                <a:xfrm flipH="1">
                  <a:off x="3125" y="2759"/>
                  <a:ext cx="453" cy="14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2" name="Line 28"/>
                <p:cNvSpPr>
                  <a:spLocks noChangeShapeType="1"/>
                </p:cNvSpPr>
                <p:nvPr/>
              </p:nvSpPr>
              <p:spPr bwMode="auto">
                <a:xfrm>
                  <a:off x="1619" y="2848"/>
                  <a:ext cx="0" cy="713"/>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3" name="Line 12"/>
                <p:cNvSpPr>
                  <a:spLocks noChangeShapeType="1"/>
                </p:cNvSpPr>
                <p:nvPr/>
              </p:nvSpPr>
              <p:spPr bwMode="auto">
                <a:xfrm>
                  <a:off x="2576" y="3559"/>
                  <a:ext cx="0" cy="23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4" name="Line 13"/>
                <p:cNvSpPr>
                  <a:spLocks noChangeShapeType="1"/>
                </p:cNvSpPr>
                <p:nvPr/>
              </p:nvSpPr>
              <p:spPr bwMode="auto">
                <a:xfrm>
                  <a:off x="3424" y="3559"/>
                  <a:ext cx="0" cy="23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235" name="Line 29"/>
                <p:cNvSpPr>
                  <a:spLocks noChangeShapeType="1"/>
                </p:cNvSpPr>
                <p:nvPr/>
              </p:nvSpPr>
              <p:spPr bwMode="auto">
                <a:xfrm>
                  <a:off x="1619" y="3559"/>
                  <a:ext cx="0" cy="23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4226" name="Text Box 16"/>
              <p:cNvSpPr txBox="1">
                <a:spLocks noChangeArrowheads="1"/>
              </p:cNvSpPr>
              <p:nvPr/>
            </p:nvSpPr>
            <p:spPr bwMode="auto">
              <a:xfrm>
                <a:off x="2748" y="3589"/>
                <a:ext cx="436" cy="2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拥塞</a:t>
                </a:r>
              </a:p>
            </p:txBody>
          </p:sp>
          <p:sp>
            <p:nvSpPr>
              <p:cNvPr id="94227" name="Text Box 31"/>
              <p:cNvSpPr txBox="1">
                <a:spLocks noChangeArrowheads="1"/>
              </p:cNvSpPr>
              <p:nvPr/>
            </p:nvSpPr>
            <p:spPr bwMode="auto">
              <a:xfrm>
                <a:off x="1850" y="3563"/>
                <a:ext cx="436" cy="36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lnSpc>
                    <a:spcPct val="80000"/>
                  </a:lnSpc>
                </a:pPr>
                <a:r>
                  <a:rPr kumimoji="1" lang="zh-CN" altLang="en-US" sz="2000">
                    <a:solidFill>
                      <a:srgbClr val="333399"/>
                    </a:solidFill>
                    <a:latin typeface="Arial" pitchFamily="34" charset="0"/>
                    <a:ea typeface="黑体" pitchFamily="49" charset="-122"/>
                  </a:rPr>
                  <a:t>轻度</a:t>
                </a:r>
              </a:p>
              <a:p>
                <a:pPr eaLnBrk="1" hangingPunct="1">
                  <a:lnSpc>
                    <a:spcPct val="80000"/>
                  </a:lnSpc>
                </a:pPr>
                <a:r>
                  <a:rPr kumimoji="1" lang="zh-CN" altLang="en-US" sz="2000">
                    <a:solidFill>
                      <a:srgbClr val="333399"/>
                    </a:solidFill>
                    <a:latin typeface="Arial" pitchFamily="34" charset="0"/>
                    <a:ea typeface="黑体" pitchFamily="49" charset="-122"/>
                  </a:rPr>
                  <a:t>拥塞</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0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680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68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F0FB93B-24A0-4847-8A67-D23589C20FBE}" type="slidenum">
              <a:rPr lang="en-US" altLang="zh-CN" sz="1400"/>
              <a:pPr eaLnBrk="1" hangingPunct="1"/>
              <a:t>91</a:t>
            </a:fld>
            <a:endParaRPr lang="en-US" altLang="zh-CN" sz="1400"/>
          </a:p>
        </p:txBody>
      </p:sp>
      <p:sp>
        <p:nvSpPr>
          <p:cNvPr id="95235" name="Rectangle 2"/>
          <p:cNvSpPr>
            <a:spLocks noGrp="1" noChangeArrowheads="1"/>
          </p:cNvSpPr>
          <p:nvPr>
            <p:ph type="title"/>
          </p:nvPr>
        </p:nvSpPr>
        <p:spPr>
          <a:xfrm>
            <a:off x="1150938" y="836613"/>
            <a:ext cx="7793037" cy="839787"/>
          </a:xfrm>
        </p:spPr>
        <p:txBody>
          <a:bodyPr/>
          <a:lstStyle/>
          <a:p>
            <a:pPr eaLnBrk="1" hangingPunct="1"/>
            <a:r>
              <a:rPr lang="zh-CN" altLang="en-US" smtClean="0"/>
              <a:t>死锁</a:t>
            </a:r>
          </a:p>
        </p:txBody>
      </p:sp>
      <p:sp>
        <p:nvSpPr>
          <p:cNvPr id="95236" name="Rectangle 3"/>
          <p:cNvSpPr>
            <a:spLocks noGrp="1" noChangeArrowheads="1"/>
          </p:cNvSpPr>
          <p:nvPr>
            <p:ph type="body" idx="1"/>
          </p:nvPr>
        </p:nvSpPr>
        <p:spPr/>
        <p:txBody>
          <a:bodyPr/>
          <a:lstStyle/>
          <a:p>
            <a:pPr eaLnBrk="1" hangingPunct="1">
              <a:lnSpc>
                <a:spcPct val="90000"/>
              </a:lnSpc>
            </a:pPr>
            <a:r>
              <a:rPr lang="zh-CN" altLang="en-US" sz="2800" smtClean="0"/>
              <a:t>死锁是网络 阻塞</a:t>
            </a:r>
            <a:r>
              <a:rPr lang="en-US" altLang="zh-CN" sz="2800" smtClean="0"/>
              <a:t>/</a:t>
            </a:r>
            <a:r>
              <a:rPr lang="zh-CN" altLang="en-US" sz="2800" smtClean="0"/>
              <a:t>拥塞 的极端结果。</a:t>
            </a:r>
          </a:p>
          <a:p>
            <a:pPr lvl="1" eaLnBrk="1" hangingPunct="1">
              <a:lnSpc>
                <a:spcPct val="90000"/>
              </a:lnSpc>
            </a:pPr>
            <a:r>
              <a:rPr lang="zh-CN" altLang="en-US" sz="2400" smtClean="0"/>
              <a:t> 当提供的负载达到一定的某一数值时，网络的吞吐量反而随着提供的负载增大而下降，这时网络就进入了拥塞状态。当提供的负载继续增大到某一数值，网络的吞吐量就下降到零，网络已无法工作。这就是所谓的死锁。 </a:t>
            </a:r>
          </a:p>
          <a:p>
            <a:pPr lvl="1" eaLnBrk="1" hangingPunct="1">
              <a:lnSpc>
                <a:spcPct val="90000"/>
              </a:lnSpc>
            </a:pPr>
            <a:r>
              <a:rPr lang="zh-CN" altLang="en-US" sz="2400" smtClean="0"/>
              <a:t>死锁中有一种是直接死锁，即由互相占用了对方需要的资源而造成的死锁。 还有一种死锁是由于路由器的缓存的拥塞而引起的重装死锁。 解决死锁的方法：采取合适的拥塞控制后，网络就不易出现拥塞现象和死锁。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73B607BD-4491-4CF5-869B-05973E0A2556}" type="slidenum">
              <a:rPr lang="en-US" altLang="zh-CN" sz="1400"/>
              <a:pPr eaLnBrk="1" hangingPunct="1"/>
              <a:t>92</a:t>
            </a:fld>
            <a:endParaRPr lang="en-US" altLang="zh-CN" sz="1400"/>
          </a:p>
        </p:txBody>
      </p:sp>
      <p:sp>
        <p:nvSpPr>
          <p:cNvPr id="96259" name="Rectangle 2"/>
          <p:cNvSpPr>
            <a:spLocks noGrp="1" noChangeArrowheads="1"/>
          </p:cNvSpPr>
          <p:nvPr>
            <p:ph type="title"/>
          </p:nvPr>
        </p:nvSpPr>
        <p:spPr/>
        <p:txBody>
          <a:bodyPr/>
          <a:lstStyle/>
          <a:p>
            <a:pPr eaLnBrk="1" hangingPunct="1"/>
            <a:endParaRPr lang="zh-CN" altLang="zh-CN" smtClean="0"/>
          </a:p>
        </p:txBody>
      </p:sp>
      <p:sp>
        <p:nvSpPr>
          <p:cNvPr id="96260" name="Rectangle 3"/>
          <p:cNvSpPr>
            <a:spLocks noGrp="1" noChangeArrowheads="1"/>
          </p:cNvSpPr>
          <p:nvPr>
            <p:ph type="body" idx="1"/>
          </p:nvPr>
        </p:nvSpPr>
        <p:spPr/>
        <p:txBody>
          <a:bodyPr/>
          <a:lstStyle/>
          <a:p>
            <a:pPr lvl="1" eaLnBrk="1" hangingPunct="1">
              <a:lnSpc>
                <a:spcPct val="90000"/>
              </a:lnSpc>
            </a:pPr>
            <a:r>
              <a:rPr lang="en-US" altLang="zh-CN" sz="2000" smtClean="0"/>
              <a:t>A</a:t>
            </a:r>
            <a:r>
              <a:rPr lang="zh-CN" altLang="en-US" sz="2000" smtClean="0"/>
              <a:t>节点的所有缓冲区装满了等待输出到</a:t>
            </a:r>
            <a:r>
              <a:rPr lang="en-US" altLang="zh-CN" sz="2000" smtClean="0"/>
              <a:t>B</a:t>
            </a:r>
            <a:r>
              <a:rPr lang="zh-CN" altLang="en-US" sz="2000" smtClean="0"/>
              <a:t>节点的分组</a:t>
            </a:r>
            <a:r>
              <a:rPr lang="en-US" altLang="zh-CN" sz="2000" smtClean="0"/>
              <a:t>,</a:t>
            </a:r>
            <a:r>
              <a:rPr lang="zh-CN" altLang="en-US" sz="2000" smtClean="0"/>
              <a:t>而</a:t>
            </a:r>
            <a:r>
              <a:rPr lang="en-US" altLang="zh-CN" sz="2000" smtClean="0"/>
              <a:t>B</a:t>
            </a:r>
            <a:r>
              <a:rPr lang="zh-CN" altLang="en-US" sz="2000" smtClean="0"/>
              <a:t>节点的所有缓冲区也全部装满了等待输出到</a:t>
            </a:r>
            <a:r>
              <a:rPr lang="en-US" altLang="zh-CN" sz="2000" smtClean="0"/>
              <a:t>A</a:t>
            </a:r>
            <a:r>
              <a:rPr lang="zh-CN" altLang="en-US" sz="2000" smtClean="0"/>
              <a:t>节点的分组</a:t>
            </a:r>
            <a:r>
              <a:rPr lang="en-US" altLang="zh-CN" sz="2000" smtClean="0"/>
              <a:t>;</a:t>
            </a:r>
            <a:r>
              <a:rPr lang="zh-CN" altLang="en-US" sz="2000" smtClean="0"/>
              <a:t>此时</a:t>
            </a:r>
            <a:r>
              <a:rPr lang="en-US" altLang="zh-CN" sz="2000" smtClean="0"/>
              <a:t>,A</a:t>
            </a:r>
            <a:r>
              <a:rPr lang="zh-CN" altLang="en-US" sz="2000" smtClean="0"/>
              <a:t>节点不能从</a:t>
            </a:r>
            <a:r>
              <a:rPr lang="en-US" altLang="zh-CN" sz="2000" smtClean="0"/>
              <a:t>B</a:t>
            </a:r>
            <a:r>
              <a:rPr lang="zh-CN" altLang="en-US" sz="2000" smtClean="0"/>
              <a:t>节点接收分组</a:t>
            </a:r>
            <a:r>
              <a:rPr lang="en-US" altLang="zh-CN" sz="2000" smtClean="0"/>
              <a:t>,B</a:t>
            </a:r>
            <a:r>
              <a:rPr lang="zh-CN" altLang="en-US" sz="2000" smtClean="0"/>
              <a:t>节点也不能从</a:t>
            </a:r>
            <a:r>
              <a:rPr lang="en-US" altLang="zh-CN" sz="2000" smtClean="0"/>
              <a:t>A</a:t>
            </a:r>
            <a:r>
              <a:rPr lang="zh-CN" altLang="en-US" sz="2000" smtClean="0"/>
              <a:t>节点接收分组</a:t>
            </a:r>
            <a:r>
              <a:rPr lang="en-US" altLang="zh-CN" sz="2000" smtClean="0"/>
              <a:t>,</a:t>
            </a:r>
            <a:r>
              <a:rPr lang="zh-CN" altLang="en-US" sz="2000" smtClean="0"/>
              <a:t>从而造成两节点间的死锁。</a:t>
            </a:r>
          </a:p>
          <a:p>
            <a:pPr lvl="1" eaLnBrk="1" hangingPunct="1">
              <a:lnSpc>
                <a:spcPct val="90000"/>
              </a:lnSpc>
            </a:pPr>
            <a:r>
              <a:rPr lang="zh-CN" altLang="en-US" sz="2000" smtClean="0"/>
              <a:t>死锁中比较严重的情况是重装死锁。假设发给一个端系统的报文很长</a:t>
            </a:r>
            <a:r>
              <a:rPr lang="en-US" altLang="zh-CN" sz="2000" smtClean="0"/>
              <a:t>,</a:t>
            </a:r>
            <a:r>
              <a:rPr lang="zh-CN" altLang="en-US" sz="2000" smtClean="0"/>
              <a:t>被源节点拆成若干个分组发送</a:t>
            </a:r>
            <a:r>
              <a:rPr lang="en-US" altLang="zh-CN" sz="2000" smtClean="0"/>
              <a:t>,</a:t>
            </a:r>
            <a:r>
              <a:rPr lang="zh-CN" altLang="en-US" sz="2000" smtClean="0"/>
              <a:t>目的节点要将所有具有相同编号的分组重新装配成报文递交给目的端系统</a:t>
            </a:r>
            <a:r>
              <a:rPr lang="en-US" altLang="zh-CN" sz="2000" smtClean="0"/>
              <a:t>,</a:t>
            </a:r>
            <a:r>
              <a:rPr lang="zh-CN" altLang="en-US" sz="2000" smtClean="0"/>
              <a:t>若目的节点用于重装报文的缓冲区空间有限</a:t>
            </a:r>
            <a:r>
              <a:rPr lang="en-US" altLang="zh-CN" sz="2000" smtClean="0"/>
              <a:t>,</a:t>
            </a:r>
            <a:r>
              <a:rPr lang="zh-CN" altLang="en-US" sz="2000" smtClean="0"/>
              <a:t>而且它无法知道正在接收的报文究竟被拆成多少个分组</a:t>
            </a:r>
            <a:r>
              <a:rPr lang="en-US" altLang="zh-CN" sz="2000" smtClean="0"/>
              <a:t>,</a:t>
            </a:r>
            <a:r>
              <a:rPr lang="zh-CN" altLang="en-US" sz="2000" smtClean="0"/>
              <a:t>此时</a:t>
            </a:r>
            <a:r>
              <a:rPr lang="en-US" altLang="zh-CN" sz="2000" smtClean="0"/>
              <a:t>,</a:t>
            </a:r>
            <a:r>
              <a:rPr lang="zh-CN" altLang="en-US" sz="2000" smtClean="0"/>
              <a:t>就可能发生严重的问题</a:t>
            </a:r>
            <a:r>
              <a:rPr lang="en-US" altLang="zh-CN" sz="2000" smtClean="0"/>
              <a:t>:</a:t>
            </a:r>
            <a:r>
              <a:rPr lang="zh-CN" altLang="en-US" sz="2000" smtClean="0"/>
              <a:t>为了接收更多的分组</a:t>
            </a:r>
            <a:r>
              <a:rPr lang="en-US" altLang="zh-CN" sz="2000" smtClean="0"/>
              <a:t>,</a:t>
            </a:r>
            <a:r>
              <a:rPr lang="zh-CN" altLang="en-US" sz="2000" smtClean="0"/>
              <a:t>该目的节点用完了它的缓冲空间</a:t>
            </a:r>
            <a:r>
              <a:rPr lang="en-US" altLang="zh-CN" sz="2000" smtClean="0"/>
              <a:t>,</a:t>
            </a:r>
            <a:r>
              <a:rPr lang="zh-CN" altLang="en-US" sz="2000" smtClean="0"/>
              <a:t>但它又不能将尚未拼装完整的报文递送给目的端系统</a:t>
            </a:r>
            <a:r>
              <a:rPr lang="en-US" altLang="zh-CN" sz="2000" smtClean="0"/>
              <a:t>,</a:t>
            </a:r>
            <a:r>
              <a:rPr lang="zh-CN" altLang="en-US" sz="2000" smtClean="0"/>
              <a:t>而邻节点仍在不断地向它传送分组</a:t>
            </a:r>
            <a:r>
              <a:rPr lang="en-US" altLang="zh-CN" sz="2000" smtClean="0"/>
              <a:t>,</a:t>
            </a:r>
            <a:r>
              <a:rPr lang="zh-CN" altLang="en-US" sz="2000" smtClean="0"/>
              <a:t>但它却无法接收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2AA1F88D-D0BC-49AB-AB20-842E21C3BBBB}" type="slidenum">
              <a:rPr lang="en-US" altLang="zh-CN" sz="1400"/>
              <a:pPr eaLnBrk="1" hangingPunct="1"/>
              <a:t>93</a:t>
            </a:fld>
            <a:endParaRPr lang="en-US" altLang="zh-CN" sz="1400"/>
          </a:p>
        </p:txBody>
      </p:sp>
      <p:sp>
        <p:nvSpPr>
          <p:cNvPr id="97283" name="Rectangle 2"/>
          <p:cNvSpPr>
            <a:spLocks noGrp="1" noChangeArrowheads="1"/>
          </p:cNvSpPr>
          <p:nvPr>
            <p:ph type="title"/>
          </p:nvPr>
        </p:nvSpPr>
        <p:spPr/>
        <p:txBody>
          <a:bodyPr/>
          <a:lstStyle/>
          <a:p>
            <a:pPr algn="ctr" eaLnBrk="1" hangingPunct="1"/>
            <a:r>
              <a:rPr lang="zh-CN" altLang="en-US" smtClean="0"/>
              <a:t>开环控制和闭环控制 </a:t>
            </a:r>
          </a:p>
        </p:txBody>
      </p:sp>
      <p:sp>
        <p:nvSpPr>
          <p:cNvPr id="772099" name="Rectangle 3"/>
          <p:cNvSpPr>
            <a:spLocks noGrp="1" noChangeArrowheads="1"/>
          </p:cNvSpPr>
          <p:nvPr>
            <p:ph type="body" idx="1"/>
          </p:nvPr>
        </p:nvSpPr>
        <p:spPr>
          <a:xfrm>
            <a:off x="827088" y="1917700"/>
            <a:ext cx="8137525" cy="4319588"/>
          </a:xfrm>
        </p:spPr>
        <p:txBody>
          <a:bodyPr/>
          <a:lstStyle/>
          <a:p>
            <a:pPr eaLnBrk="1" hangingPunct="1">
              <a:lnSpc>
                <a:spcPct val="90000"/>
              </a:lnSpc>
            </a:pPr>
            <a:r>
              <a:rPr lang="zh-CN" altLang="en-US" smtClean="0"/>
              <a:t>开环控制方法就是在设计网络时事先将有关发生拥塞的因素考虑周到，力求网络在工作时不产生拥塞。 </a:t>
            </a:r>
          </a:p>
          <a:p>
            <a:pPr eaLnBrk="1" hangingPunct="1">
              <a:lnSpc>
                <a:spcPct val="90000"/>
              </a:lnSpc>
            </a:pPr>
            <a:r>
              <a:rPr lang="zh-CN" altLang="en-US" smtClean="0"/>
              <a:t>闭环控制是基于反馈环路的概念。属于闭环控制的有以下几种措施： </a:t>
            </a:r>
          </a:p>
          <a:p>
            <a:pPr lvl="1" eaLnBrk="1" hangingPunct="1">
              <a:lnSpc>
                <a:spcPct val="90000"/>
              </a:lnSpc>
            </a:pPr>
            <a:r>
              <a:rPr lang="zh-CN" altLang="en-US" smtClean="0">
                <a:solidFill>
                  <a:srgbClr val="333399"/>
                </a:solidFill>
                <a:ea typeface="黑体" pitchFamily="49" charset="-122"/>
              </a:rPr>
              <a:t>监测网络系统以便检测到拥塞在何时、何处发生。</a:t>
            </a:r>
          </a:p>
          <a:p>
            <a:pPr lvl="1" eaLnBrk="1" hangingPunct="1">
              <a:lnSpc>
                <a:spcPct val="90000"/>
              </a:lnSpc>
            </a:pPr>
            <a:r>
              <a:rPr lang="zh-CN" altLang="en-US" smtClean="0">
                <a:solidFill>
                  <a:srgbClr val="333399"/>
                </a:solidFill>
                <a:ea typeface="黑体" pitchFamily="49" charset="-122"/>
              </a:rPr>
              <a:t>将拥塞发生的信息传送到可采取行动的地方。</a:t>
            </a:r>
          </a:p>
          <a:p>
            <a:pPr lvl="1" eaLnBrk="1" hangingPunct="1">
              <a:lnSpc>
                <a:spcPct val="90000"/>
              </a:lnSpc>
            </a:pPr>
            <a:r>
              <a:rPr lang="zh-CN" altLang="en-US" smtClean="0">
                <a:solidFill>
                  <a:srgbClr val="333399"/>
                </a:solidFill>
                <a:ea typeface="黑体" pitchFamily="49" charset="-122"/>
              </a:rPr>
              <a:t>调整网络系统的运行以解决出现的问题。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209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209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209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2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6BE5192-0F02-4B06-ADE3-F40A4D48482C}" type="slidenum">
              <a:rPr lang="en-US" altLang="zh-CN" sz="1400"/>
              <a:pPr eaLnBrk="1" hangingPunct="1"/>
              <a:t>94</a:t>
            </a:fld>
            <a:endParaRPr lang="en-US" altLang="zh-CN" sz="1400"/>
          </a:p>
        </p:txBody>
      </p:sp>
      <p:sp>
        <p:nvSpPr>
          <p:cNvPr id="98307" name="Rectangle 2"/>
          <p:cNvSpPr>
            <a:spLocks noGrp="1" noChangeArrowheads="1"/>
          </p:cNvSpPr>
          <p:nvPr>
            <p:ph type="title"/>
          </p:nvPr>
        </p:nvSpPr>
        <p:spPr/>
        <p:txBody>
          <a:bodyPr/>
          <a:lstStyle/>
          <a:p>
            <a:pPr algn="ctr" eaLnBrk="1" hangingPunct="1"/>
            <a:r>
              <a:rPr lang="en-US" altLang="zh-CN" smtClean="0"/>
              <a:t>5.8.2  </a:t>
            </a:r>
            <a:r>
              <a:rPr lang="zh-CN" altLang="en-US" smtClean="0"/>
              <a:t>几种拥塞控制方法</a:t>
            </a:r>
            <a:br>
              <a:rPr lang="zh-CN" altLang="en-US" smtClean="0"/>
            </a:br>
            <a:r>
              <a:rPr lang="en-US" altLang="zh-CN" sz="4000" smtClean="0"/>
              <a:t>1.  </a:t>
            </a:r>
            <a:r>
              <a:rPr lang="zh-CN" altLang="en-US" sz="4000" smtClean="0"/>
              <a:t>慢开始和拥塞避免</a:t>
            </a:r>
          </a:p>
        </p:txBody>
      </p:sp>
      <p:sp>
        <p:nvSpPr>
          <p:cNvPr id="98308" name="Rectangle 3"/>
          <p:cNvSpPr>
            <a:spLocks noGrp="1" noChangeArrowheads="1"/>
          </p:cNvSpPr>
          <p:nvPr>
            <p:ph type="body" idx="1"/>
          </p:nvPr>
        </p:nvSpPr>
        <p:spPr>
          <a:xfrm>
            <a:off x="827088" y="1917700"/>
            <a:ext cx="8137525" cy="4606925"/>
          </a:xfrm>
        </p:spPr>
        <p:txBody>
          <a:bodyPr/>
          <a:lstStyle/>
          <a:p>
            <a:pPr eaLnBrk="1" hangingPunct="1"/>
            <a:r>
              <a:rPr lang="zh-CN" altLang="en-US" sz="2800" smtClean="0"/>
              <a:t>发送方维持一个叫做</a:t>
            </a:r>
            <a:r>
              <a:rPr lang="zh-CN" altLang="en-US" sz="2800" smtClean="0">
                <a:solidFill>
                  <a:schemeClr val="hlink"/>
                </a:solidFill>
              </a:rPr>
              <a:t>拥塞窗口 </a:t>
            </a:r>
            <a:r>
              <a:rPr lang="en-US" altLang="zh-CN" sz="2800" smtClean="0">
                <a:solidFill>
                  <a:schemeClr val="hlink"/>
                </a:solidFill>
              </a:rPr>
              <a:t>cwnd</a:t>
            </a:r>
            <a:r>
              <a:rPr lang="en-US" altLang="zh-CN" sz="2800" smtClean="0"/>
              <a:t> (congestion window)</a:t>
            </a:r>
            <a:r>
              <a:rPr lang="zh-CN" altLang="en-US" sz="2800" smtClean="0"/>
              <a:t>的状态变量。拥塞窗口的大小取决于网络的拥塞程度，并且动态地在变化。发送方让自己的</a:t>
            </a:r>
            <a:r>
              <a:rPr lang="zh-CN" altLang="en-US" sz="2800" smtClean="0">
                <a:solidFill>
                  <a:schemeClr val="hlink"/>
                </a:solidFill>
              </a:rPr>
              <a:t>发送窗口等于拥塞窗口</a:t>
            </a:r>
            <a:r>
              <a:rPr lang="zh-CN" altLang="en-US" sz="2800" smtClean="0"/>
              <a:t>。如再考虑到接收方的接收能力，则发送窗口还可能小于拥塞窗口。</a:t>
            </a:r>
          </a:p>
          <a:p>
            <a:pPr eaLnBrk="1" hangingPunct="1"/>
            <a:r>
              <a:rPr lang="zh-CN" altLang="en-US" sz="2800" smtClean="0"/>
              <a:t>发送方控制拥塞窗口的原则是：只要网络没有出现拥塞，拥塞窗口就再增大一些，以便把更多的分组发送出去。但只要网络出现拥塞，拥塞窗口就减小一些，以减少注入到网络中的分组数。 </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D6E89FD-5D73-491C-8354-A138328CD397}" type="slidenum">
              <a:rPr lang="en-US" altLang="zh-CN" sz="1400"/>
              <a:pPr eaLnBrk="1" hangingPunct="1"/>
              <a:t>95</a:t>
            </a:fld>
            <a:endParaRPr lang="en-US" altLang="zh-CN" sz="1400"/>
          </a:p>
        </p:txBody>
      </p:sp>
      <p:sp>
        <p:nvSpPr>
          <p:cNvPr id="99331" name="Rectangle 212"/>
          <p:cNvSpPr>
            <a:spLocks noGrp="1" noChangeArrowheads="1"/>
          </p:cNvSpPr>
          <p:nvPr>
            <p:ph type="title"/>
          </p:nvPr>
        </p:nvSpPr>
        <p:spPr>
          <a:xfrm>
            <a:off x="755650" y="549275"/>
            <a:ext cx="7793038" cy="695325"/>
          </a:xfrm>
        </p:spPr>
        <p:txBody>
          <a:bodyPr/>
          <a:lstStyle/>
          <a:p>
            <a:pPr algn="ctr" eaLnBrk="1" hangingPunct="1"/>
            <a:r>
              <a:rPr lang="zh-CN" altLang="en-US" smtClean="0"/>
              <a:t>慢开始算法的原理 </a:t>
            </a:r>
          </a:p>
        </p:txBody>
      </p:sp>
      <p:sp>
        <p:nvSpPr>
          <p:cNvPr id="251093" name="Rectangle 213"/>
          <p:cNvSpPr>
            <a:spLocks noGrp="1" noChangeArrowheads="1"/>
          </p:cNvSpPr>
          <p:nvPr>
            <p:ph type="body" idx="1"/>
          </p:nvPr>
        </p:nvSpPr>
        <p:spPr>
          <a:xfrm>
            <a:off x="755650" y="2133600"/>
            <a:ext cx="7772400" cy="4391025"/>
          </a:xfrm>
        </p:spPr>
        <p:txBody>
          <a:bodyPr/>
          <a:lstStyle/>
          <a:p>
            <a:pPr algn="just" eaLnBrk="1" hangingPunct="1">
              <a:lnSpc>
                <a:spcPct val="105000"/>
              </a:lnSpc>
            </a:pPr>
            <a:r>
              <a:rPr lang="zh-CN" altLang="en-US" smtClean="0"/>
              <a:t>在主机刚刚开始发送报文段时可先设置拥塞窗口 </a:t>
            </a:r>
            <a:r>
              <a:rPr lang="en-US" altLang="zh-CN" smtClean="0"/>
              <a:t>cwnd = 1</a:t>
            </a:r>
            <a:r>
              <a:rPr lang="zh-CN" altLang="en-US" smtClean="0"/>
              <a:t>，即设置为一个最大报文段 </a:t>
            </a:r>
            <a:r>
              <a:rPr lang="en-US" altLang="zh-CN" smtClean="0"/>
              <a:t>MSS </a:t>
            </a:r>
            <a:r>
              <a:rPr lang="zh-CN" altLang="en-US" smtClean="0"/>
              <a:t>的数值。</a:t>
            </a:r>
          </a:p>
          <a:p>
            <a:pPr algn="just" eaLnBrk="1" hangingPunct="1">
              <a:lnSpc>
                <a:spcPct val="105000"/>
              </a:lnSpc>
            </a:pPr>
            <a:r>
              <a:rPr lang="zh-CN" altLang="en-US" smtClean="0"/>
              <a:t>在每收到一个对新的报文段的确认后，将拥塞窗口加 </a:t>
            </a:r>
            <a:r>
              <a:rPr lang="en-US" altLang="zh-CN" smtClean="0"/>
              <a:t>1</a:t>
            </a:r>
          </a:p>
          <a:p>
            <a:pPr algn="just" eaLnBrk="1" hangingPunct="1">
              <a:lnSpc>
                <a:spcPct val="105000"/>
              </a:lnSpc>
            </a:pPr>
            <a:r>
              <a:rPr lang="zh-CN" altLang="en-US" smtClean="0"/>
              <a:t>用这样的方法逐步增大发送端的拥塞窗口 </a:t>
            </a:r>
            <a:r>
              <a:rPr lang="en-US" altLang="zh-CN" smtClean="0"/>
              <a:t>cwnd</a:t>
            </a:r>
            <a:r>
              <a:rPr lang="zh-CN" altLang="en-US" smtClean="0"/>
              <a:t>，可以使分组注入到网络的速率更加合理。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109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109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093" grpId="0" build="p"/>
    </p:bld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Rectangle 45"/>
          <p:cNvSpPr>
            <a:spLocks noChangeArrowheads="1"/>
          </p:cNvSpPr>
          <p:nvPr/>
        </p:nvSpPr>
        <p:spPr bwMode="auto">
          <a:xfrm>
            <a:off x="3101975" y="2735263"/>
            <a:ext cx="5969000" cy="11049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355" name="Rectangle 41"/>
          <p:cNvSpPr>
            <a:spLocks noChangeArrowheads="1"/>
          </p:cNvSpPr>
          <p:nvPr/>
        </p:nvSpPr>
        <p:spPr bwMode="auto">
          <a:xfrm>
            <a:off x="3111500" y="3933825"/>
            <a:ext cx="5969000" cy="17145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356" name="Rectangle 40"/>
          <p:cNvSpPr>
            <a:spLocks noChangeArrowheads="1"/>
          </p:cNvSpPr>
          <p:nvPr/>
        </p:nvSpPr>
        <p:spPr bwMode="auto">
          <a:xfrm>
            <a:off x="3098800" y="1739900"/>
            <a:ext cx="5969000" cy="8255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357" name="Text Box 4"/>
          <p:cNvSpPr txBox="1">
            <a:spLocks noChangeArrowheads="1"/>
          </p:cNvSpPr>
          <p:nvPr/>
        </p:nvSpPr>
        <p:spPr bwMode="auto">
          <a:xfrm>
            <a:off x="2590800" y="1087438"/>
            <a:ext cx="947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发送方</a:t>
            </a:r>
          </a:p>
        </p:txBody>
      </p:sp>
      <p:sp>
        <p:nvSpPr>
          <p:cNvPr id="100358" name="Text Box 5"/>
          <p:cNvSpPr txBox="1">
            <a:spLocks noChangeArrowheads="1"/>
          </p:cNvSpPr>
          <p:nvPr/>
        </p:nvSpPr>
        <p:spPr bwMode="auto">
          <a:xfrm>
            <a:off x="5903913" y="108585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接收方</a:t>
            </a:r>
          </a:p>
        </p:txBody>
      </p:sp>
      <p:sp>
        <p:nvSpPr>
          <p:cNvPr id="100359" name="Text Box 6"/>
          <p:cNvSpPr txBox="1">
            <a:spLocks noChangeArrowheads="1"/>
          </p:cNvSpPr>
          <p:nvPr/>
        </p:nvSpPr>
        <p:spPr bwMode="auto">
          <a:xfrm>
            <a:off x="2016125" y="1501775"/>
            <a:ext cx="1065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p>
        </p:txBody>
      </p:sp>
      <p:sp>
        <p:nvSpPr>
          <p:cNvPr id="100360" name="Line 7"/>
          <p:cNvSpPr>
            <a:spLocks noChangeShapeType="1"/>
          </p:cNvSpPr>
          <p:nvPr/>
        </p:nvSpPr>
        <p:spPr bwMode="auto">
          <a:xfrm>
            <a:off x="3101975" y="1771650"/>
            <a:ext cx="3309938" cy="319088"/>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61" name="Line 8"/>
          <p:cNvSpPr>
            <a:spLocks noChangeShapeType="1"/>
          </p:cNvSpPr>
          <p:nvPr/>
        </p:nvSpPr>
        <p:spPr bwMode="auto">
          <a:xfrm>
            <a:off x="3101975" y="2760663"/>
            <a:ext cx="3309938" cy="31908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62" name="Line 9"/>
          <p:cNvSpPr>
            <a:spLocks noChangeShapeType="1"/>
          </p:cNvSpPr>
          <p:nvPr/>
        </p:nvSpPr>
        <p:spPr bwMode="auto">
          <a:xfrm flipH="1">
            <a:off x="3101975" y="2227263"/>
            <a:ext cx="3309938" cy="319087"/>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63" name="Text Box 10"/>
          <p:cNvSpPr txBox="1">
            <a:spLocks noChangeArrowheads="1"/>
          </p:cNvSpPr>
          <p:nvPr/>
        </p:nvSpPr>
        <p:spPr bwMode="auto">
          <a:xfrm>
            <a:off x="6330950" y="2024063"/>
            <a:ext cx="11350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 </a:t>
            </a:r>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a:t>
            </a:r>
            <a:endParaRPr lang="en-US" altLang="zh-CN" sz="2000">
              <a:solidFill>
                <a:schemeClr val="folHlink"/>
              </a:solidFill>
              <a:latin typeface="Arial" pitchFamily="34" charset="0"/>
              <a:ea typeface="黑体" pitchFamily="49" charset="-122"/>
            </a:endParaRPr>
          </a:p>
        </p:txBody>
      </p:sp>
      <p:sp>
        <p:nvSpPr>
          <p:cNvPr id="100364" name="Line 11"/>
          <p:cNvSpPr>
            <a:spLocks noChangeShapeType="1"/>
          </p:cNvSpPr>
          <p:nvPr/>
        </p:nvSpPr>
        <p:spPr bwMode="auto">
          <a:xfrm>
            <a:off x="3101975" y="5741988"/>
            <a:ext cx="3309938" cy="31908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65" name="Line 12"/>
          <p:cNvSpPr>
            <a:spLocks noChangeShapeType="1"/>
          </p:cNvSpPr>
          <p:nvPr/>
        </p:nvSpPr>
        <p:spPr bwMode="auto">
          <a:xfrm flipH="1">
            <a:off x="3101975" y="4356100"/>
            <a:ext cx="3309938" cy="319088"/>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0366" name="Group 13"/>
          <p:cNvGrpSpPr>
            <a:grpSpLocks/>
          </p:cNvGrpSpPr>
          <p:nvPr/>
        </p:nvGrpSpPr>
        <p:grpSpPr bwMode="auto">
          <a:xfrm>
            <a:off x="3101975" y="1614488"/>
            <a:ext cx="3309938" cy="4872037"/>
            <a:chOff x="2042" y="674"/>
            <a:chExt cx="1569" cy="2711"/>
          </a:xfrm>
        </p:grpSpPr>
        <p:sp>
          <p:nvSpPr>
            <p:cNvPr id="100393" name="Line 14"/>
            <p:cNvSpPr>
              <a:spLocks noChangeShapeType="1"/>
            </p:cNvSpPr>
            <p:nvPr/>
          </p:nvSpPr>
          <p:spPr bwMode="auto">
            <a:xfrm>
              <a:off x="2042" y="674"/>
              <a:ext cx="0" cy="2711"/>
            </a:xfrm>
            <a:prstGeom prst="line">
              <a:avLst/>
            </a:prstGeom>
            <a:noFill/>
            <a:ln w="952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94" name="Line 15"/>
            <p:cNvSpPr>
              <a:spLocks noChangeShapeType="1"/>
            </p:cNvSpPr>
            <p:nvPr/>
          </p:nvSpPr>
          <p:spPr bwMode="auto">
            <a:xfrm>
              <a:off x="3611" y="674"/>
              <a:ext cx="0" cy="2711"/>
            </a:xfrm>
            <a:prstGeom prst="line">
              <a:avLst/>
            </a:prstGeom>
            <a:noFill/>
            <a:ln w="952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0367" name="Text Box 16"/>
          <p:cNvSpPr txBox="1">
            <a:spLocks noChangeArrowheads="1"/>
          </p:cNvSpPr>
          <p:nvPr/>
        </p:nvSpPr>
        <p:spPr bwMode="auto">
          <a:xfrm>
            <a:off x="1612900" y="2565400"/>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2</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3</a:t>
            </a:r>
          </a:p>
        </p:txBody>
      </p:sp>
      <p:sp>
        <p:nvSpPr>
          <p:cNvPr id="100368" name="Line 17"/>
          <p:cNvSpPr>
            <a:spLocks noChangeShapeType="1"/>
          </p:cNvSpPr>
          <p:nvPr/>
        </p:nvSpPr>
        <p:spPr bwMode="auto">
          <a:xfrm>
            <a:off x="3101975" y="3079750"/>
            <a:ext cx="3309938" cy="319088"/>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69" name="Text Box 18"/>
          <p:cNvSpPr txBox="1">
            <a:spLocks noChangeArrowheads="1"/>
          </p:cNvSpPr>
          <p:nvPr/>
        </p:nvSpPr>
        <p:spPr bwMode="auto">
          <a:xfrm>
            <a:off x="6330950" y="2960688"/>
            <a:ext cx="163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 </a:t>
            </a:r>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2</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3 </a:t>
            </a:r>
            <a:endParaRPr lang="en-US" altLang="zh-CN" sz="2000">
              <a:solidFill>
                <a:schemeClr val="folHlink"/>
              </a:solidFill>
              <a:latin typeface="Arial" pitchFamily="34" charset="0"/>
              <a:ea typeface="黑体" pitchFamily="49" charset="-122"/>
            </a:endParaRPr>
          </a:p>
        </p:txBody>
      </p:sp>
      <p:sp>
        <p:nvSpPr>
          <p:cNvPr id="100370" name="Line 19"/>
          <p:cNvSpPr>
            <a:spLocks noChangeShapeType="1"/>
          </p:cNvSpPr>
          <p:nvPr/>
        </p:nvSpPr>
        <p:spPr bwMode="auto">
          <a:xfrm flipH="1">
            <a:off x="3101975" y="3187700"/>
            <a:ext cx="3309938" cy="319088"/>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71" name="Line 20"/>
          <p:cNvSpPr>
            <a:spLocks noChangeShapeType="1"/>
          </p:cNvSpPr>
          <p:nvPr/>
        </p:nvSpPr>
        <p:spPr bwMode="auto">
          <a:xfrm flipH="1">
            <a:off x="3101975" y="3506788"/>
            <a:ext cx="3309938" cy="319087"/>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72" name="Text Box 21"/>
          <p:cNvSpPr txBox="1">
            <a:spLocks noChangeArrowheads="1"/>
          </p:cNvSpPr>
          <p:nvPr/>
        </p:nvSpPr>
        <p:spPr bwMode="auto">
          <a:xfrm>
            <a:off x="1558925" y="3679825"/>
            <a:ext cx="1517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4</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7</a:t>
            </a:r>
          </a:p>
        </p:txBody>
      </p:sp>
      <p:sp>
        <p:nvSpPr>
          <p:cNvPr id="100373" name="Text Box 22"/>
          <p:cNvSpPr txBox="1">
            <a:spLocks noChangeArrowheads="1"/>
          </p:cNvSpPr>
          <p:nvPr/>
        </p:nvSpPr>
        <p:spPr bwMode="auto">
          <a:xfrm>
            <a:off x="6330950" y="4149725"/>
            <a:ext cx="16303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 </a:t>
            </a:r>
            <a:r>
              <a:rPr lang="zh-CN" altLang="en-US" sz="2000">
                <a:solidFill>
                  <a:schemeClr val="folHlink"/>
                </a:solidFill>
                <a:latin typeface="Arial" pitchFamily="34" charset="0"/>
                <a:ea typeface="黑体" pitchFamily="49" charset="-122"/>
              </a:rPr>
              <a:t>确认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4</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7 </a:t>
            </a:r>
            <a:endParaRPr lang="en-US" altLang="zh-CN" sz="2000">
              <a:solidFill>
                <a:schemeClr val="folHlink"/>
              </a:solidFill>
              <a:latin typeface="Arial" pitchFamily="34" charset="0"/>
              <a:ea typeface="黑体" pitchFamily="49" charset="-122"/>
            </a:endParaRPr>
          </a:p>
        </p:txBody>
      </p:sp>
      <p:sp>
        <p:nvSpPr>
          <p:cNvPr id="100374" name="Line 23"/>
          <p:cNvSpPr>
            <a:spLocks noChangeShapeType="1"/>
          </p:cNvSpPr>
          <p:nvPr/>
        </p:nvSpPr>
        <p:spPr bwMode="auto">
          <a:xfrm flipH="1">
            <a:off x="3101975" y="4675188"/>
            <a:ext cx="3309938" cy="320675"/>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75" name="Line 24"/>
          <p:cNvSpPr>
            <a:spLocks noChangeShapeType="1"/>
          </p:cNvSpPr>
          <p:nvPr/>
        </p:nvSpPr>
        <p:spPr bwMode="auto">
          <a:xfrm flipH="1">
            <a:off x="3101975" y="4995863"/>
            <a:ext cx="3309938" cy="319087"/>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76" name="Line 25"/>
          <p:cNvSpPr>
            <a:spLocks noChangeShapeType="1"/>
          </p:cNvSpPr>
          <p:nvPr/>
        </p:nvSpPr>
        <p:spPr bwMode="auto">
          <a:xfrm flipH="1">
            <a:off x="3101975" y="5314950"/>
            <a:ext cx="3309938" cy="319088"/>
          </a:xfrm>
          <a:prstGeom prst="line">
            <a:avLst/>
          </a:prstGeom>
          <a:noFill/>
          <a:ln w="28575">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77" name="Text Box 26"/>
          <p:cNvSpPr txBox="1">
            <a:spLocks noChangeArrowheads="1"/>
          </p:cNvSpPr>
          <p:nvPr/>
        </p:nvSpPr>
        <p:spPr bwMode="auto">
          <a:xfrm>
            <a:off x="179388" y="1509713"/>
            <a:ext cx="1285875" cy="406400"/>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cwnd = 1 </a:t>
            </a:r>
          </a:p>
        </p:txBody>
      </p:sp>
      <p:sp>
        <p:nvSpPr>
          <p:cNvPr id="100378" name="Text Box 27"/>
          <p:cNvSpPr txBox="1">
            <a:spLocks noChangeArrowheads="1"/>
          </p:cNvSpPr>
          <p:nvPr/>
        </p:nvSpPr>
        <p:spPr bwMode="auto">
          <a:xfrm>
            <a:off x="179388" y="2586038"/>
            <a:ext cx="1285875" cy="406400"/>
          </a:xfrm>
          <a:prstGeom prst="rect">
            <a:avLst/>
          </a:prstGeom>
          <a:solidFill>
            <a:srgbClr val="FFCCFF"/>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cwnd = 2 </a:t>
            </a:r>
          </a:p>
        </p:txBody>
      </p:sp>
      <p:sp>
        <p:nvSpPr>
          <p:cNvPr id="100379" name="Text Box 28"/>
          <p:cNvSpPr txBox="1">
            <a:spLocks noChangeArrowheads="1"/>
          </p:cNvSpPr>
          <p:nvPr/>
        </p:nvSpPr>
        <p:spPr bwMode="auto">
          <a:xfrm>
            <a:off x="179388" y="3679825"/>
            <a:ext cx="1285875" cy="406400"/>
          </a:xfrm>
          <a:prstGeom prst="rect">
            <a:avLst/>
          </a:prstGeom>
          <a:solidFill>
            <a:srgbClr val="99FF33"/>
          </a:solidFill>
          <a:ln>
            <a:noFill/>
          </a:ln>
          <a:effectLst>
            <a:outerShdw dist="35921" dir="2700000" algn="ctr" rotWithShape="0">
              <a:schemeClr val="bg2"/>
            </a:outerShdw>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cwnd = 4 </a:t>
            </a:r>
          </a:p>
        </p:txBody>
      </p:sp>
      <p:sp>
        <p:nvSpPr>
          <p:cNvPr id="100380" name="Text Box 29"/>
          <p:cNvSpPr txBox="1">
            <a:spLocks noChangeArrowheads="1"/>
          </p:cNvSpPr>
          <p:nvPr/>
        </p:nvSpPr>
        <p:spPr bwMode="auto">
          <a:xfrm>
            <a:off x="1474788" y="5553075"/>
            <a:ext cx="16081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发送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8</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15</a:t>
            </a:r>
          </a:p>
        </p:txBody>
      </p:sp>
      <p:sp>
        <p:nvSpPr>
          <p:cNvPr id="100381" name="Text Box 30"/>
          <p:cNvSpPr txBox="1">
            <a:spLocks noChangeArrowheads="1"/>
          </p:cNvSpPr>
          <p:nvPr/>
        </p:nvSpPr>
        <p:spPr bwMode="auto">
          <a:xfrm>
            <a:off x="179388" y="5553075"/>
            <a:ext cx="1276350" cy="396875"/>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folHlink"/>
                </a:solidFill>
                <a:miter lim="800000"/>
                <a:headEnd/>
                <a:tailEnd/>
              </a14:hiddenLine>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2000">
                <a:solidFill>
                  <a:schemeClr val="folHlink"/>
                </a:solidFill>
                <a:latin typeface="Arial" pitchFamily="34" charset="0"/>
                <a:ea typeface="黑体" pitchFamily="49" charset="-122"/>
              </a:rPr>
              <a:t>cwnd = 8 </a:t>
            </a:r>
          </a:p>
        </p:txBody>
      </p:sp>
      <p:sp>
        <p:nvSpPr>
          <p:cNvPr id="100382" name="Text Box 31"/>
          <p:cNvSpPr txBox="1">
            <a:spLocks noChangeArrowheads="1"/>
          </p:cNvSpPr>
          <p:nvPr/>
        </p:nvSpPr>
        <p:spPr bwMode="auto">
          <a:xfrm rot="5400000">
            <a:off x="4578350" y="5994401"/>
            <a:ext cx="5413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b="1">
                <a:solidFill>
                  <a:schemeClr val="folHlink"/>
                </a:solidFill>
                <a:latin typeface="Arial" pitchFamily="34" charset="0"/>
                <a:ea typeface="黑体" pitchFamily="49" charset="-122"/>
              </a:rPr>
              <a:t>…</a:t>
            </a:r>
          </a:p>
        </p:txBody>
      </p:sp>
      <p:sp>
        <p:nvSpPr>
          <p:cNvPr id="100383" name="Line 32"/>
          <p:cNvSpPr>
            <a:spLocks noChangeShapeType="1"/>
          </p:cNvSpPr>
          <p:nvPr/>
        </p:nvSpPr>
        <p:spPr bwMode="auto">
          <a:xfrm>
            <a:off x="3101975" y="3932238"/>
            <a:ext cx="3309938" cy="31908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84" name="Line 33"/>
          <p:cNvSpPr>
            <a:spLocks noChangeShapeType="1"/>
          </p:cNvSpPr>
          <p:nvPr/>
        </p:nvSpPr>
        <p:spPr bwMode="auto">
          <a:xfrm>
            <a:off x="3101975" y="4251325"/>
            <a:ext cx="3309938" cy="319088"/>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85" name="Line 34"/>
          <p:cNvSpPr>
            <a:spLocks noChangeShapeType="1"/>
          </p:cNvSpPr>
          <p:nvPr/>
        </p:nvSpPr>
        <p:spPr bwMode="auto">
          <a:xfrm>
            <a:off x="3101975" y="4570413"/>
            <a:ext cx="3309938" cy="319087"/>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86" name="Line 35"/>
          <p:cNvSpPr>
            <a:spLocks noChangeShapeType="1"/>
          </p:cNvSpPr>
          <p:nvPr/>
        </p:nvSpPr>
        <p:spPr bwMode="auto">
          <a:xfrm>
            <a:off x="3101975" y="4889500"/>
            <a:ext cx="3309938" cy="319088"/>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0387" name="Rectangle 36"/>
          <p:cNvSpPr>
            <a:spLocks noChangeArrowheads="1"/>
          </p:cNvSpPr>
          <p:nvPr/>
        </p:nvSpPr>
        <p:spPr bwMode="auto">
          <a:xfrm>
            <a:off x="3149600" y="6272213"/>
            <a:ext cx="25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
        <p:nvSpPr>
          <p:cNvPr id="100388" name="Rectangle 37"/>
          <p:cNvSpPr>
            <a:spLocks noChangeArrowheads="1"/>
          </p:cNvSpPr>
          <p:nvPr/>
        </p:nvSpPr>
        <p:spPr bwMode="auto">
          <a:xfrm>
            <a:off x="6465888" y="6272213"/>
            <a:ext cx="252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kumimoji="1" lang="en-US" altLang="zh-CN" sz="2000" i="1">
                <a:solidFill>
                  <a:schemeClr val="folHlink"/>
                </a:solidFill>
                <a:latin typeface="Arial" pitchFamily="34" charset="0"/>
                <a:ea typeface="黑体" pitchFamily="49" charset="-122"/>
              </a:rPr>
              <a:t>t</a:t>
            </a:r>
          </a:p>
        </p:txBody>
      </p:sp>
      <p:sp>
        <p:nvSpPr>
          <p:cNvPr id="100389" name="Text Box 39"/>
          <p:cNvSpPr txBox="1">
            <a:spLocks noChangeArrowheads="1"/>
          </p:cNvSpPr>
          <p:nvPr/>
        </p:nvSpPr>
        <p:spPr bwMode="auto">
          <a:xfrm>
            <a:off x="1671638" y="106363"/>
            <a:ext cx="6240462" cy="955675"/>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chemeClr val="folHlink"/>
                </a:solidFill>
                <a:latin typeface="Arial" pitchFamily="34" charset="0"/>
                <a:ea typeface="黑体" pitchFamily="49" charset="-122"/>
              </a:rPr>
              <a:t>发送方每收到一个对新报文段的确认</a:t>
            </a:r>
          </a:p>
          <a:p>
            <a:pPr eaLnBrk="1" hangingPunct="1"/>
            <a:r>
              <a:rPr lang="zh-CN" altLang="en-US">
                <a:solidFill>
                  <a:schemeClr val="folHlink"/>
                </a:solidFill>
                <a:latin typeface="Arial" pitchFamily="34" charset="0"/>
                <a:ea typeface="黑体" pitchFamily="49" charset="-122"/>
              </a:rPr>
              <a:t>（重传的不算在内）就使 </a:t>
            </a:r>
            <a:r>
              <a:rPr lang="en-US" altLang="zh-CN">
                <a:solidFill>
                  <a:schemeClr val="folHlink"/>
                </a:solidFill>
                <a:latin typeface="Arial" pitchFamily="34" charset="0"/>
                <a:ea typeface="黑体" pitchFamily="49" charset="-122"/>
              </a:rPr>
              <a:t>cwnd </a:t>
            </a:r>
            <a:r>
              <a:rPr lang="zh-CN" altLang="en-US">
                <a:solidFill>
                  <a:schemeClr val="folHlink"/>
                </a:solidFill>
                <a:latin typeface="Arial" pitchFamily="34" charset="0"/>
                <a:ea typeface="黑体" pitchFamily="49" charset="-122"/>
              </a:rPr>
              <a:t>加 </a:t>
            </a:r>
            <a:r>
              <a:rPr lang="en-US" altLang="zh-CN">
                <a:solidFill>
                  <a:schemeClr val="folHlink"/>
                </a:solidFill>
                <a:latin typeface="Arial" pitchFamily="34" charset="0"/>
                <a:ea typeface="黑体" pitchFamily="49" charset="-122"/>
              </a:rPr>
              <a:t>1</a:t>
            </a:r>
            <a:r>
              <a:rPr lang="zh-CN" altLang="en-US">
                <a:solidFill>
                  <a:schemeClr val="folHlink"/>
                </a:solidFill>
                <a:latin typeface="Arial" pitchFamily="34" charset="0"/>
                <a:ea typeface="黑体" pitchFamily="49" charset="-122"/>
              </a:rPr>
              <a:t>。 </a:t>
            </a:r>
          </a:p>
        </p:txBody>
      </p:sp>
      <p:sp>
        <p:nvSpPr>
          <p:cNvPr id="100390" name="Text Box 42"/>
          <p:cNvSpPr txBox="1">
            <a:spLocks noChangeArrowheads="1"/>
          </p:cNvSpPr>
          <p:nvPr/>
        </p:nvSpPr>
        <p:spPr bwMode="auto">
          <a:xfrm>
            <a:off x="8027988" y="1930400"/>
            <a:ext cx="903287" cy="396875"/>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轮次 </a:t>
            </a:r>
            <a:r>
              <a:rPr lang="en-US" altLang="zh-CN" sz="2000">
                <a:solidFill>
                  <a:schemeClr val="folHlink"/>
                </a:solidFill>
                <a:latin typeface="Arial" pitchFamily="34" charset="0"/>
                <a:ea typeface="黑体" pitchFamily="49" charset="-122"/>
              </a:rPr>
              <a:t>1</a:t>
            </a:r>
          </a:p>
        </p:txBody>
      </p:sp>
      <p:sp>
        <p:nvSpPr>
          <p:cNvPr id="100391" name="Text Box 43"/>
          <p:cNvSpPr txBox="1">
            <a:spLocks noChangeArrowheads="1"/>
          </p:cNvSpPr>
          <p:nvPr/>
        </p:nvSpPr>
        <p:spPr bwMode="auto">
          <a:xfrm>
            <a:off x="8027988" y="2960688"/>
            <a:ext cx="903287" cy="396875"/>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轮次 </a:t>
            </a:r>
            <a:r>
              <a:rPr lang="en-US" altLang="zh-CN" sz="2000">
                <a:solidFill>
                  <a:schemeClr val="folHlink"/>
                </a:solidFill>
                <a:latin typeface="Arial" pitchFamily="34" charset="0"/>
                <a:ea typeface="黑体" pitchFamily="49" charset="-122"/>
              </a:rPr>
              <a:t>2</a:t>
            </a:r>
          </a:p>
        </p:txBody>
      </p:sp>
      <p:sp>
        <p:nvSpPr>
          <p:cNvPr id="100392" name="Text Box 44"/>
          <p:cNvSpPr txBox="1">
            <a:spLocks noChangeArrowheads="1"/>
          </p:cNvSpPr>
          <p:nvPr/>
        </p:nvSpPr>
        <p:spPr bwMode="auto">
          <a:xfrm>
            <a:off x="8027988" y="4616450"/>
            <a:ext cx="903287" cy="396875"/>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99CCFF"/>
                </a:solidFill>
                <a:miter lim="800000"/>
                <a:headEnd/>
                <a:tailEnd/>
              </a14:hiddenLine>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chemeClr val="folHlink"/>
                </a:solidFill>
                <a:latin typeface="Arial" pitchFamily="34" charset="0"/>
                <a:ea typeface="黑体" pitchFamily="49" charset="-122"/>
              </a:rPr>
              <a:t>轮次 </a:t>
            </a:r>
            <a:r>
              <a:rPr lang="en-US" altLang="zh-CN" sz="2000">
                <a:solidFill>
                  <a:schemeClr val="folHlink"/>
                </a:solidFill>
                <a:latin typeface="Arial" pitchFamily="34" charset="0"/>
                <a:ea typeface="黑体" pitchFamily="49" charset="-122"/>
              </a:rPr>
              <a:t>3</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0C2908FB-FB83-4F97-81C1-619F36E81965}" type="slidenum">
              <a:rPr lang="en-US" altLang="zh-CN" sz="1400"/>
              <a:pPr eaLnBrk="1" hangingPunct="1"/>
              <a:t>97</a:t>
            </a:fld>
            <a:endParaRPr lang="en-US" altLang="zh-CN" sz="1400"/>
          </a:p>
        </p:txBody>
      </p:sp>
      <p:sp>
        <p:nvSpPr>
          <p:cNvPr id="101379" name="Rectangle 2"/>
          <p:cNvSpPr>
            <a:spLocks noGrp="1" noChangeArrowheads="1"/>
          </p:cNvSpPr>
          <p:nvPr>
            <p:ph type="title"/>
          </p:nvPr>
        </p:nvSpPr>
        <p:spPr>
          <a:xfrm>
            <a:off x="1150938" y="214313"/>
            <a:ext cx="7237412" cy="1462087"/>
          </a:xfrm>
        </p:spPr>
        <p:txBody>
          <a:bodyPr/>
          <a:lstStyle/>
          <a:p>
            <a:pPr algn="ctr" eaLnBrk="1" hangingPunct="1"/>
            <a:r>
              <a:rPr lang="zh-CN" altLang="en-US" sz="4000" smtClean="0"/>
              <a:t>传输轮次</a:t>
            </a:r>
            <a:br>
              <a:rPr lang="zh-CN" altLang="en-US" sz="4000" smtClean="0"/>
            </a:br>
            <a:r>
              <a:rPr lang="en-US" altLang="zh-CN" sz="4000" smtClean="0"/>
              <a:t>(transmission round)</a:t>
            </a:r>
          </a:p>
        </p:txBody>
      </p:sp>
      <p:sp>
        <p:nvSpPr>
          <p:cNvPr id="101380" name="Rectangle 3"/>
          <p:cNvSpPr>
            <a:spLocks noGrp="1" noChangeArrowheads="1"/>
          </p:cNvSpPr>
          <p:nvPr>
            <p:ph type="body" idx="1"/>
          </p:nvPr>
        </p:nvSpPr>
        <p:spPr>
          <a:xfrm>
            <a:off x="1042988" y="1989138"/>
            <a:ext cx="7772400" cy="4608512"/>
          </a:xfrm>
        </p:spPr>
        <p:txBody>
          <a:bodyPr/>
          <a:lstStyle/>
          <a:p>
            <a:pPr eaLnBrk="1" hangingPunct="1"/>
            <a:r>
              <a:rPr lang="zh-CN" altLang="en-US" sz="2400" smtClean="0"/>
              <a:t>使用慢开始算法后，每经过一个</a:t>
            </a:r>
            <a:r>
              <a:rPr lang="zh-CN" altLang="en-US" sz="2400" smtClean="0">
                <a:solidFill>
                  <a:schemeClr val="hlink"/>
                </a:solidFill>
              </a:rPr>
              <a:t>传输轮次</a:t>
            </a:r>
            <a:r>
              <a:rPr lang="zh-CN" altLang="en-US" sz="2400" smtClean="0"/>
              <a:t>，拥塞窗口 </a:t>
            </a:r>
            <a:r>
              <a:rPr lang="en-US" altLang="zh-CN" sz="2400" smtClean="0"/>
              <a:t>cwnd </a:t>
            </a:r>
            <a:r>
              <a:rPr lang="zh-CN" altLang="en-US" sz="2400" smtClean="0"/>
              <a:t>就加倍。 </a:t>
            </a:r>
          </a:p>
          <a:p>
            <a:pPr eaLnBrk="1" hangingPunct="1"/>
            <a:r>
              <a:rPr lang="zh-CN" altLang="en-US" sz="2400" smtClean="0"/>
              <a:t>一个传输轮次所经历的时间其实就是往返时间 </a:t>
            </a:r>
            <a:r>
              <a:rPr lang="en-US" altLang="zh-CN" sz="2400" smtClean="0"/>
              <a:t>RTT</a:t>
            </a:r>
            <a:r>
              <a:rPr lang="zh-CN" altLang="en-US" sz="2400" smtClean="0"/>
              <a:t>。</a:t>
            </a:r>
          </a:p>
          <a:p>
            <a:pPr eaLnBrk="1" hangingPunct="1"/>
            <a:r>
              <a:rPr lang="zh-CN" altLang="en-US" sz="2400" smtClean="0"/>
              <a:t>“</a:t>
            </a:r>
            <a:r>
              <a:rPr lang="zh-CN" altLang="en-US" sz="2400" smtClean="0">
                <a:solidFill>
                  <a:schemeClr val="hlink"/>
                </a:solidFill>
              </a:rPr>
              <a:t>传输轮次</a:t>
            </a:r>
            <a:r>
              <a:rPr lang="zh-CN" altLang="en-US" sz="2400" smtClean="0"/>
              <a:t>”更加强调：把拥塞窗口 </a:t>
            </a:r>
            <a:r>
              <a:rPr lang="en-US" altLang="zh-CN" sz="2400" smtClean="0"/>
              <a:t>cwnd </a:t>
            </a:r>
            <a:r>
              <a:rPr lang="zh-CN" altLang="en-US" sz="2400" smtClean="0"/>
              <a:t>所允许发送的报文段都连续发送出去，并收到了对已发送的最后一个字节的确认。</a:t>
            </a:r>
          </a:p>
          <a:p>
            <a:pPr eaLnBrk="1" hangingPunct="1"/>
            <a:r>
              <a:rPr lang="zh-CN" altLang="en-US" sz="2400" smtClean="0"/>
              <a:t>例如，拥塞窗口 </a:t>
            </a:r>
            <a:r>
              <a:rPr lang="en-US" altLang="zh-CN" sz="2400" smtClean="0"/>
              <a:t>cwnd = 4</a:t>
            </a:r>
            <a:r>
              <a:rPr lang="zh-CN" altLang="en-US" sz="2400" smtClean="0"/>
              <a:t>，这时的往返时间 </a:t>
            </a:r>
            <a:r>
              <a:rPr lang="en-US" altLang="zh-CN" sz="2400" smtClean="0"/>
              <a:t>RTT </a:t>
            </a:r>
            <a:r>
              <a:rPr lang="zh-CN" altLang="en-US" sz="2400" smtClean="0"/>
              <a:t>就是发送方连续发送 </a:t>
            </a:r>
            <a:r>
              <a:rPr lang="en-US" altLang="zh-CN" sz="2400" smtClean="0"/>
              <a:t>4 </a:t>
            </a:r>
            <a:r>
              <a:rPr lang="zh-CN" altLang="en-US" sz="2400" smtClean="0"/>
              <a:t>个报文段，并收到这 </a:t>
            </a:r>
            <a:r>
              <a:rPr lang="en-US" altLang="zh-CN" sz="2400" smtClean="0"/>
              <a:t>4 </a:t>
            </a:r>
            <a:r>
              <a:rPr lang="zh-CN" altLang="en-US" sz="2400" smtClean="0"/>
              <a:t>个报文段的确认，总共经历的时间。 </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B4BA088B-AD25-4ED8-8A16-1243DF3B45A8}" type="slidenum">
              <a:rPr lang="en-US" altLang="zh-CN" sz="1400"/>
              <a:pPr eaLnBrk="1" hangingPunct="1"/>
              <a:t>98</a:t>
            </a:fld>
            <a:endParaRPr lang="en-US" altLang="zh-CN" sz="1400"/>
          </a:p>
        </p:txBody>
      </p:sp>
      <p:sp>
        <p:nvSpPr>
          <p:cNvPr id="102403" name="Rectangle 2"/>
          <p:cNvSpPr>
            <a:spLocks noGrp="1" noChangeArrowheads="1"/>
          </p:cNvSpPr>
          <p:nvPr>
            <p:ph type="title"/>
          </p:nvPr>
        </p:nvSpPr>
        <p:spPr>
          <a:xfrm>
            <a:off x="1150938" y="311150"/>
            <a:ext cx="7793037" cy="1462088"/>
          </a:xfrm>
        </p:spPr>
        <p:txBody>
          <a:bodyPr/>
          <a:lstStyle/>
          <a:p>
            <a:pPr algn="ctr" eaLnBrk="1" hangingPunct="1"/>
            <a:r>
              <a:rPr lang="zh-CN" altLang="en-US" smtClean="0"/>
              <a:t>设置慢开始门限状态变量</a:t>
            </a:r>
            <a:r>
              <a:rPr lang="en-US" altLang="zh-CN" smtClean="0"/>
              <a:t>ssthresh</a:t>
            </a:r>
          </a:p>
        </p:txBody>
      </p:sp>
      <p:sp>
        <p:nvSpPr>
          <p:cNvPr id="102404" name="Rectangle 3"/>
          <p:cNvSpPr>
            <a:spLocks noGrp="1" noChangeArrowheads="1"/>
          </p:cNvSpPr>
          <p:nvPr>
            <p:ph type="body" idx="1"/>
          </p:nvPr>
        </p:nvSpPr>
        <p:spPr>
          <a:xfrm>
            <a:off x="1042988" y="1906588"/>
            <a:ext cx="7772400" cy="4114800"/>
          </a:xfrm>
        </p:spPr>
        <p:txBody>
          <a:bodyPr/>
          <a:lstStyle/>
          <a:p>
            <a:pPr eaLnBrk="1" hangingPunct="1"/>
            <a:r>
              <a:rPr lang="zh-CN" altLang="en-US" sz="2400" smtClean="0"/>
              <a:t>慢开始门限 </a:t>
            </a:r>
            <a:r>
              <a:rPr lang="en-US" altLang="zh-CN" sz="2400" smtClean="0"/>
              <a:t>ssthresh </a:t>
            </a:r>
            <a:r>
              <a:rPr lang="zh-CN" altLang="en-US" sz="2400" smtClean="0"/>
              <a:t>的用法如下：</a:t>
            </a:r>
          </a:p>
          <a:p>
            <a:pPr eaLnBrk="1" hangingPunct="1"/>
            <a:r>
              <a:rPr lang="zh-CN" altLang="en-US" sz="2400" smtClean="0"/>
              <a:t>当 </a:t>
            </a:r>
            <a:r>
              <a:rPr lang="en-US" altLang="zh-CN" sz="2400" smtClean="0"/>
              <a:t>cwnd &lt; ssthresh </a:t>
            </a:r>
            <a:r>
              <a:rPr lang="zh-CN" altLang="en-US" sz="2400" smtClean="0"/>
              <a:t>时，使用慢开始算法。</a:t>
            </a:r>
          </a:p>
          <a:p>
            <a:pPr eaLnBrk="1" hangingPunct="1"/>
            <a:r>
              <a:rPr lang="zh-CN" altLang="en-US" sz="2400" smtClean="0"/>
              <a:t>当 </a:t>
            </a:r>
            <a:r>
              <a:rPr lang="en-US" altLang="zh-CN" sz="2400" smtClean="0"/>
              <a:t>cwnd &gt; ssthresh </a:t>
            </a:r>
            <a:r>
              <a:rPr lang="zh-CN" altLang="en-US" sz="2400" smtClean="0"/>
              <a:t>时，停止使用慢开始算法而改用拥塞避免算法。</a:t>
            </a:r>
          </a:p>
          <a:p>
            <a:pPr eaLnBrk="1" hangingPunct="1"/>
            <a:r>
              <a:rPr lang="zh-CN" altLang="en-US" sz="2400" smtClean="0"/>
              <a:t>当 </a:t>
            </a:r>
            <a:r>
              <a:rPr lang="en-US" altLang="zh-CN" sz="2400" smtClean="0"/>
              <a:t>cwnd = ssthresh </a:t>
            </a:r>
            <a:r>
              <a:rPr lang="zh-CN" altLang="en-US" sz="2400" smtClean="0"/>
              <a:t>时，既可使用慢开始算法，也可使用拥塞避免算法。</a:t>
            </a:r>
          </a:p>
          <a:p>
            <a:pPr eaLnBrk="1" hangingPunct="1"/>
            <a:r>
              <a:rPr lang="zh-CN" altLang="en-US" sz="2400" smtClean="0"/>
              <a:t>拥塞避免算法的思路是让拥塞窗口 </a:t>
            </a:r>
            <a:r>
              <a:rPr lang="en-US" altLang="zh-CN" sz="2400" smtClean="0"/>
              <a:t>cwnd </a:t>
            </a:r>
            <a:r>
              <a:rPr lang="zh-CN" altLang="en-US" sz="2400" smtClean="0"/>
              <a:t>缓慢地增大，即每经过一个往返时间 </a:t>
            </a:r>
            <a:r>
              <a:rPr lang="en-US" altLang="zh-CN" sz="2400" smtClean="0"/>
              <a:t>RTT </a:t>
            </a:r>
            <a:r>
              <a:rPr lang="zh-CN" altLang="en-US" sz="2400" smtClean="0"/>
              <a:t>就把发送方的拥塞窗口 </a:t>
            </a:r>
            <a:r>
              <a:rPr lang="en-US" altLang="zh-CN" sz="2400" smtClean="0"/>
              <a:t>cwnd </a:t>
            </a:r>
            <a:r>
              <a:rPr lang="zh-CN" altLang="en-US" sz="2400" smtClean="0"/>
              <a:t>加 </a:t>
            </a:r>
            <a:r>
              <a:rPr lang="en-US" altLang="zh-CN" sz="2400" smtClean="0"/>
              <a:t>1</a:t>
            </a:r>
            <a:r>
              <a:rPr lang="zh-CN" altLang="en-US" sz="2400" smtClean="0"/>
              <a:t>，而不是加倍，使拥塞窗口 </a:t>
            </a:r>
            <a:r>
              <a:rPr lang="en-US" altLang="zh-CN" sz="2400" smtClean="0"/>
              <a:t>cwnd </a:t>
            </a:r>
            <a:r>
              <a:rPr lang="zh-CN" altLang="en-US" sz="2400" smtClean="0"/>
              <a:t>按线性规律缓慢增长。</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94D5AB23-E1FB-47E5-A8DB-3A0BEE956416}" type="slidenum">
              <a:rPr lang="en-US" altLang="zh-CN" sz="1400"/>
              <a:pPr eaLnBrk="1" hangingPunct="1"/>
              <a:t>99</a:t>
            </a:fld>
            <a:endParaRPr lang="en-US" altLang="zh-CN" sz="1400"/>
          </a:p>
        </p:txBody>
      </p:sp>
      <p:sp>
        <p:nvSpPr>
          <p:cNvPr id="103427" name="Rectangle 2"/>
          <p:cNvSpPr>
            <a:spLocks noGrp="1" noChangeArrowheads="1"/>
          </p:cNvSpPr>
          <p:nvPr>
            <p:ph type="title"/>
          </p:nvPr>
        </p:nvSpPr>
        <p:spPr/>
        <p:txBody>
          <a:bodyPr/>
          <a:lstStyle/>
          <a:p>
            <a:pPr algn="ctr" eaLnBrk="1" hangingPunct="1"/>
            <a:r>
              <a:rPr lang="zh-CN" altLang="en-US" smtClean="0"/>
              <a:t>当网络出现拥塞时</a:t>
            </a:r>
          </a:p>
        </p:txBody>
      </p:sp>
      <p:sp>
        <p:nvSpPr>
          <p:cNvPr id="103428" name="Rectangle 3"/>
          <p:cNvSpPr>
            <a:spLocks noGrp="1" noChangeArrowheads="1"/>
          </p:cNvSpPr>
          <p:nvPr>
            <p:ph type="body" idx="1"/>
          </p:nvPr>
        </p:nvSpPr>
        <p:spPr/>
        <p:txBody>
          <a:bodyPr/>
          <a:lstStyle/>
          <a:p>
            <a:pPr eaLnBrk="1" hangingPunct="1">
              <a:lnSpc>
                <a:spcPct val="90000"/>
              </a:lnSpc>
            </a:pPr>
            <a:r>
              <a:rPr lang="zh-CN" altLang="en-US" sz="2800" smtClean="0"/>
              <a:t>无论在慢开始阶段还是在拥塞避免阶段，只要发送方判断网络出现拥塞（</a:t>
            </a:r>
            <a:r>
              <a:rPr lang="zh-CN" altLang="en-US" sz="2800" smtClean="0">
                <a:solidFill>
                  <a:schemeClr val="hlink"/>
                </a:solidFill>
              </a:rPr>
              <a:t>其根据就是没有按时收到确认</a:t>
            </a:r>
            <a:r>
              <a:rPr lang="en-US" altLang="zh-CN" sz="2800" smtClean="0">
                <a:solidFill>
                  <a:schemeClr val="hlink"/>
                </a:solidFill>
              </a:rPr>
              <a:t>&lt;</a:t>
            </a:r>
            <a:r>
              <a:rPr lang="zh-CN" altLang="en-US" sz="2800" smtClean="0">
                <a:solidFill>
                  <a:schemeClr val="hlink"/>
                </a:solidFill>
              </a:rPr>
              <a:t>超时重传</a:t>
            </a:r>
            <a:r>
              <a:rPr lang="en-US" altLang="zh-CN" sz="2800" smtClean="0">
                <a:solidFill>
                  <a:schemeClr val="hlink"/>
                </a:solidFill>
              </a:rPr>
              <a:t>&gt;</a:t>
            </a:r>
            <a:r>
              <a:rPr lang="zh-CN" altLang="en-US" sz="2800" smtClean="0">
                <a:solidFill>
                  <a:schemeClr val="hlink"/>
                </a:solidFill>
              </a:rPr>
              <a:t>），</a:t>
            </a:r>
            <a:r>
              <a:rPr lang="zh-CN" altLang="en-US" sz="2800" smtClean="0"/>
              <a:t>就要把慢开始门限 </a:t>
            </a:r>
            <a:r>
              <a:rPr lang="en-US" altLang="zh-CN" sz="2800" smtClean="0"/>
              <a:t>ssthresh </a:t>
            </a:r>
            <a:r>
              <a:rPr lang="zh-CN" altLang="en-US" sz="2800" smtClean="0"/>
              <a:t>设置为</a:t>
            </a:r>
            <a:r>
              <a:rPr lang="zh-CN" altLang="en-US" sz="2800" smtClean="0">
                <a:solidFill>
                  <a:schemeClr val="hlink"/>
                </a:solidFill>
              </a:rPr>
              <a:t>出现拥塞时的发送方窗口值</a:t>
            </a:r>
            <a:r>
              <a:rPr lang="zh-CN" altLang="en-US" sz="2800" smtClean="0"/>
              <a:t>的一半（但不能小于</a:t>
            </a:r>
            <a:r>
              <a:rPr lang="en-US" altLang="zh-CN" sz="2800" smtClean="0"/>
              <a:t>2</a:t>
            </a:r>
            <a:r>
              <a:rPr lang="zh-CN" altLang="en-US" sz="2800" smtClean="0"/>
              <a:t>）。</a:t>
            </a:r>
          </a:p>
          <a:p>
            <a:pPr eaLnBrk="1" hangingPunct="1">
              <a:lnSpc>
                <a:spcPct val="90000"/>
              </a:lnSpc>
            </a:pPr>
            <a:r>
              <a:rPr lang="zh-CN" altLang="en-US" sz="2800" smtClean="0"/>
              <a:t>然后把拥塞窗口 </a:t>
            </a:r>
            <a:r>
              <a:rPr lang="en-US" altLang="zh-CN" sz="2800" smtClean="0"/>
              <a:t>cwnd </a:t>
            </a:r>
            <a:r>
              <a:rPr lang="zh-CN" altLang="en-US" sz="2800" smtClean="0"/>
              <a:t>重新设置为 </a:t>
            </a:r>
            <a:r>
              <a:rPr lang="en-US" altLang="zh-CN" sz="2800" smtClean="0"/>
              <a:t>1</a:t>
            </a:r>
            <a:r>
              <a:rPr lang="zh-CN" altLang="en-US" sz="2800" smtClean="0"/>
              <a:t>，执行慢开始算法。</a:t>
            </a:r>
          </a:p>
          <a:p>
            <a:pPr eaLnBrk="1" hangingPunct="1">
              <a:lnSpc>
                <a:spcPct val="90000"/>
              </a:lnSpc>
            </a:pPr>
            <a:r>
              <a:rPr lang="zh-CN" altLang="en-US" sz="2800" smtClean="0"/>
              <a:t>这样做的目的就是要迅速减少主机发送到网络中的分组数，使得发生拥塞的路由器有足够时间把队列中积压的分组处理完毕。 </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Line 255"/>
          <p:cNvSpPr>
            <a:spLocks noChangeShapeType="1"/>
          </p:cNvSpPr>
          <p:nvPr/>
        </p:nvSpPr>
        <p:spPr bwMode="auto">
          <a:xfrm>
            <a:off x="2290763" y="958850"/>
            <a:ext cx="0" cy="2703513"/>
          </a:xfrm>
          <a:prstGeom prst="line">
            <a:avLst/>
          </a:prstGeom>
          <a:noFill/>
          <a:ln w="9525">
            <a:solidFill>
              <a:schemeClr val="folHlink"/>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1" name="Text Box 295"/>
          <p:cNvSpPr txBox="1">
            <a:spLocks noChangeArrowheads="1"/>
          </p:cNvSpPr>
          <p:nvPr/>
        </p:nvSpPr>
        <p:spPr bwMode="auto">
          <a:xfrm>
            <a:off x="7854950" y="36845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22</a:t>
            </a:r>
          </a:p>
        </p:txBody>
      </p:sp>
      <p:sp>
        <p:nvSpPr>
          <p:cNvPr id="104452" name="Text Box 301"/>
          <p:cNvSpPr txBox="1">
            <a:spLocks noChangeArrowheads="1"/>
          </p:cNvSpPr>
          <p:nvPr/>
        </p:nvSpPr>
        <p:spPr bwMode="auto">
          <a:xfrm>
            <a:off x="1852613" y="1946275"/>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16</a:t>
            </a:r>
          </a:p>
        </p:txBody>
      </p:sp>
      <p:sp>
        <p:nvSpPr>
          <p:cNvPr id="104453" name="Rectangle 4"/>
          <p:cNvSpPr>
            <a:spLocks noGrp="1" noChangeArrowheads="1"/>
          </p:cNvSpPr>
          <p:nvPr>
            <p:ph type="title"/>
          </p:nvPr>
        </p:nvSpPr>
        <p:spPr>
          <a:xfrm>
            <a:off x="811213" y="68263"/>
            <a:ext cx="7793037" cy="623887"/>
          </a:xfrm>
        </p:spPr>
        <p:txBody>
          <a:bodyPr/>
          <a:lstStyle/>
          <a:p>
            <a:pPr algn="ctr" eaLnBrk="1" hangingPunct="1"/>
            <a:r>
              <a:rPr lang="zh-CN" altLang="en-US" sz="3200" smtClean="0"/>
              <a:t>慢开始和拥塞避免算法的实现举例 </a:t>
            </a:r>
          </a:p>
        </p:txBody>
      </p:sp>
      <p:sp>
        <p:nvSpPr>
          <p:cNvPr id="104454" name="Text Box 109"/>
          <p:cNvSpPr txBox="1">
            <a:spLocks noChangeArrowheads="1"/>
          </p:cNvSpPr>
          <p:nvPr/>
        </p:nvSpPr>
        <p:spPr bwMode="auto">
          <a:xfrm>
            <a:off x="250825" y="4829175"/>
            <a:ext cx="87677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当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连接进行初始化时，将拥塞窗口置为 </a:t>
            </a:r>
            <a:r>
              <a:rPr lang="en-US" altLang="zh-CN">
                <a:solidFill>
                  <a:srgbClr val="333399"/>
                </a:solidFill>
                <a:latin typeface="Arial" pitchFamily="34" charset="0"/>
                <a:ea typeface="黑体" pitchFamily="49" charset="-122"/>
              </a:rPr>
              <a:t>1</a:t>
            </a:r>
            <a:r>
              <a:rPr lang="zh-CN" altLang="en-US">
                <a:solidFill>
                  <a:srgbClr val="333399"/>
                </a:solidFill>
                <a:latin typeface="Arial" pitchFamily="34" charset="0"/>
                <a:ea typeface="黑体" pitchFamily="49" charset="-122"/>
              </a:rPr>
              <a:t>。图中的窗口单位不使用字节而使用</a:t>
            </a:r>
            <a:r>
              <a:rPr lang="zh-CN" altLang="en-US">
                <a:solidFill>
                  <a:schemeClr val="hlink"/>
                </a:solidFill>
                <a:latin typeface="Arial" pitchFamily="34" charset="0"/>
                <a:ea typeface="黑体" pitchFamily="49" charset="-122"/>
              </a:rPr>
              <a:t>报文段</a:t>
            </a:r>
            <a:r>
              <a:rPr lang="zh-CN" altLang="en-US">
                <a:solidFill>
                  <a:srgbClr val="333399"/>
                </a:solidFill>
                <a:latin typeface="Arial" pitchFamily="34" charset="0"/>
                <a:ea typeface="黑体" pitchFamily="49" charset="-122"/>
              </a:rPr>
              <a:t>。</a:t>
            </a:r>
          </a:p>
        </p:txBody>
      </p:sp>
      <p:sp>
        <p:nvSpPr>
          <p:cNvPr id="528494" name="Text Box 110"/>
          <p:cNvSpPr txBox="1">
            <a:spLocks noChangeArrowheads="1"/>
          </p:cNvSpPr>
          <p:nvPr/>
        </p:nvSpPr>
        <p:spPr bwMode="auto">
          <a:xfrm>
            <a:off x="250825" y="5805488"/>
            <a:ext cx="68230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慢开始门限的初始值设置为 </a:t>
            </a:r>
            <a:r>
              <a:rPr lang="en-US" altLang="zh-CN">
                <a:solidFill>
                  <a:srgbClr val="333399"/>
                </a:solidFill>
                <a:latin typeface="Arial" pitchFamily="34" charset="0"/>
                <a:ea typeface="黑体" pitchFamily="49" charset="-122"/>
              </a:rPr>
              <a:t>16 </a:t>
            </a:r>
            <a:r>
              <a:rPr lang="zh-CN" altLang="en-US">
                <a:solidFill>
                  <a:srgbClr val="333399"/>
                </a:solidFill>
                <a:latin typeface="Arial" pitchFamily="34" charset="0"/>
                <a:ea typeface="黑体" pitchFamily="49" charset="-122"/>
              </a:rPr>
              <a:t>个报文段，</a:t>
            </a:r>
          </a:p>
          <a:p>
            <a:pPr eaLnBrk="1" hangingPunct="1"/>
            <a:r>
              <a:rPr lang="zh-CN" altLang="en-US">
                <a:solidFill>
                  <a:srgbClr val="333399"/>
                </a:solidFill>
                <a:latin typeface="Arial" pitchFamily="34" charset="0"/>
                <a:ea typeface="黑体" pitchFamily="49" charset="-122"/>
              </a:rPr>
              <a:t>即 </a:t>
            </a:r>
            <a:r>
              <a:rPr lang="en-US" altLang="zh-CN">
                <a:solidFill>
                  <a:srgbClr val="333399"/>
                </a:solidFill>
                <a:latin typeface="Arial" pitchFamily="34" charset="0"/>
                <a:ea typeface="黑体" pitchFamily="49" charset="-122"/>
              </a:rPr>
              <a:t>ssthresh = 16</a:t>
            </a:r>
            <a:r>
              <a:rPr lang="zh-CN" altLang="en-US">
                <a:solidFill>
                  <a:srgbClr val="333399"/>
                </a:solidFill>
                <a:latin typeface="Arial" pitchFamily="34" charset="0"/>
                <a:ea typeface="黑体" pitchFamily="49" charset="-122"/>
              </a:rPr>
              <a:t>。</a:t>
            </a:r>
            <a:endParaRPr lang="zh-CN" altLang="en-US">
              <a:latin typeface="Arial" pitchFamily="34" charset="0"/>
              <a:ea typeface="黑体" pitchFamily="49" charset="-122"/>
            </a:endParaRPr>
          </a:p>
        </p:txBody>
      </p:sp>
      <p:sp>
        <p:nvSpPr>
          <p:cNvPr id="104456" name="Line 248"/>
          <p:cNvSpPr>
            <a:spLocks noChangeShapeType="1"/>
          </p:cNvSpPr>
          <p:nvPr/>
        </p:nvSpPr>
        <p:spPr bwMode="auto">
          <a:xfrm>
            <a:off x="6157913" y="1354138"/>
            <a:ext cx="0" cy="1158875"/>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7" name="Text Box 249"/>
          <p:cNvSpPr txBox="1">
            <a:spLocks noChangeArrowheads="1"/>
          </p:cNvSpPr>
          <p:nvPr/>
        </p:nvSpPr>
        <p:spPr bwMode="auto">
          <a:xfrm>
            <a:off x="5441950" y="1701800"/>
            <a:ext cx="137795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a:t>
            </a:r>
            <a:r>
              <a:rPr kumimoji="1" lang="zh-CN" altLang="en-US" sz="1800">
                <a:solidFill>
                  <a:schemeClr val="folHlink"/>
                </a:solidFill>
                <a:latin typeface="Arial" pitchFamily="34" charset="0"/>
                <a:ea typeface="黑体" pitchFamily="49" charset="-122"/>
              </a:rPr>
              <a:t>乘法减小”</a:t>
            </a:r>
          </a:p>
        </p:txBody>
      </p:sp>
      <p:sp>
        <p:nvSpPr>
          <p:cNvPr id="104458" name="Rectangle 250"/>
          <p:cNvSpPr>
            <a:spLocks noChangeArrowheads="1"/>
          </p:cNvSpPr>
          <p:nvPr/>
        </p:nvSpPr>
        <p:spPr bwMode="auto">
          <a:xfrm>
            <a:off x="6750050" y="1074738"/>
            <a:ext cx="1558925" cy="1519237"/>
          </a:xfrm>
          <a:prstGeom prst="rect">
            <a:avLst/>
          </a:prstGeom>
          <a:solidFill>
            <a:srgbClr val="FF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59" name="Rectangle 251"/>
          <p:cNvSpPr>
            <a:spLocks noChangeArrowheads="1"/>
          </p:cNvSpPr>
          <p:nvPr/>
        </p:nvSpPr>
        <p:spPr bwMode="auto">
          <a:xfrm>
            <a:off x="3319463" y="792163"/>
            <a:ext cx="2174875" cy="15176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0" name="Rectangle 252"/>
          <p:cNvSpPr>
            <a:spLocks noChangeArrowheads="1"/>
          </p:cNvSpPr>
          <p:nvPr/>
        </p:nvSpPr>
        <p:spPr bwMode="auto">
          <a:xfrm>
            <a:off x="5711825" y="3679825"/>
            <a:ext cx="1073150" cy="828675"/>
          </a:xfrm>
          <a:prstGeom prst="rect">
            <a:avLst/>
          </a:prstGeom>
          <a:solidFill>
            <a:srgbClr val="CC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1" name="Rectangle 253"/>
          <p:cNvSpPr>
            <a:spLocks noChangeArrowheads="1"/>
          </p:cNvSpPr>
          <p:nvPr/>
        </p:nvSpPr>
        <p:spPr bwMode="auto">
          <a:xfrm>
            <a:off x="2298700" y="3670300"/>
            <a:ext cx="1073150" cy="828675"/>
          </a:xfrm>
          <a:prstGeom prst="rect">
            <a:avLst/>
          </a:prstGeom>
          <a:solidFill>
            <a:srgbClr val="CC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2" name="Line 254"/>
          <p:cNvSpPr>
            <a:spLocks noChangeShapeType="1"/>
          </p:cNvSpPr>
          <p:nvPr/>
        </p:nvSpPr>
        <p:spPr bwMode="auto">
          <a:xfrm>
            <a:off x="2290763" y="3662363"/>
            <a:ext cx="6221412" cy="0"/>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3" name="Line 256"/>
          <p:cNvSpPr>
            <a:spLocks noChangeShapeType="1"/>
          </p:cNvSpPr>
          <p:nvPr/>
        </p:nvSpPr>
        <p:spPr bwMode="auto">
          <a:xfrm>
            <a:off x="2554288" y="3584575"/>
            <a:ext cx="0" cy="77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4" name="Line 257"/>
          <p:cNvSpPr>
            <a:spLocks noChangeShapeType="1"/>
          </p:cNvSpPr>
          <p:nvPr/>
        </p:nvSpPr>
        <p:spPr bwMode="auto">
          <a:xfrm>
            <a:off x="2816225"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5" name="Line 258"/>
          <p:cNvSpPr>
            <a:spLocks noChangeShapeType="1"/>
          </p:cNvSpPr>
          <p:nvPr/>
        </p:nvSpPr>
        <p:spPr bwMode="auto">
          <a:xfrm>
            <a:off x="3079750"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6" name="Line 259"/>
          <p:cNvSpPr>
            <a:spLocks noChangeShapeType="1"/>
          </p:cNvSpPr>
          <p:nvPr/>
        </p:nvSpPr>
        <p:spPr bwMode="auto">
          <a:xfrm>
            <a:off x="3341688"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7" name="Line 260"/>
          <p:cNvSpPr>
            <a:spLocks noChangeShapeType="1"/>
          </p:cNvSpPr>
          <p:nvPr/>
        </p:nvSpPr>
        <p:spPr bwMode="auto">
          <a:xfrm>
            <a:off x="3605213"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8" name="Line 261"/>
          <p:cNvSpPr>
            <a:spLocks noChangeShapeType="1"/>
          </p:cNvSpPr>
          <p:nvPr/>
        </p:nvSpPr>
        <p:spPr bwMode="auto">
          <a:xfrm>
            <a:off x="3868738"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69" name="Line 262"/>
          <p:cNvSpPr>
            <a:spLocks noChangeShapeType="1"/>
          </p:cNvSpPr>
          <p:nvPr/>
        </p:nvSpPr>
        <p:spPr bwMode="auto">
          <a:xfrm>
            <a:off x="4130675"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0" name="Line 263"/>
          <p:cNvSpPr>
            <a:spLocks noChangeShapeType="1"/>
          </p:cNvSpPr>
          <p:nvPr/>
        </p:nvSpPr>
        <p:spPr bwMode="auto">
          <a:xfrm>
            <a:off x="4394200"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1" name="Line 264"/>
          <p:cNvSpPr>
            <a:spLocks noChangeShapeType="1"/>
          </p:cNvSpPr>
          <p:nvPr/>
        </p:nvSpPr>
        <p:spPr bwMode="auto">
          <a:xfrm>
            <a:off x="4656138"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2" name="Line 265"/>
          <p:cNvSpPr>
            <a:spLocks noChangeShapeType="1"/>
          </p:cNvSpPr>
          <p:nvPr/>
        </p:nvSpPr>
        <p:spPr bwMode="auto">
          <a:xfrm>
            <a:off x="4919663"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3" name="Line 266"/>
          <p:cNvSpPr>
            <a:spLocks noChangeShapeType="1"/>
          </p:cNvSpPr>
          <p:nvPr/>
        </p:nvSpPr>
        <p:spPr bwMode="auto">
          <a:xfrm>
            <a:off x="5183188"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4" name="Line 267"/>
          <p:cNvSpPr>
            <a:spLocks noChangeShapeType="1"/>
          </p:cNvSpPr>
          <p:nvPr/>
        </p:nvSpPr>
        <p:spPr bwMode="auto">
          <a:xfrm>
            <a:off x="5445125"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5" name="Line 268"/>
          <p:cNvSpPr>
            <a:spLocks noChangeShapeType="1"/>
          </p:cNvSpPr>
          <p:nvPr/>
        </p:nvSpPr>
        <p:spPr bwMode="auto">
          <a:xfrm>
            <a:off x="5708650"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6" name="Line 269"/>
          <p:cNvSpPr>
            <a:spLocks noChangeShapeType="1"/>
          </p:cNvSpPr>
          <p:nvPr/>
        </p:nvSpPr>
        <p:spPr bwMode="auto">
          <a:xfrm>
            <a:off x="5970588" y="3584575"/>
            <a:ext cx="0" cy="77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7" name="Line 270"/>
          <p:cNvSpPr>
            <a:spLocks noChangeShapeType="1"/>
          </p:cNvSpPr>
          <p:nvPr/>
        </p:nvSpPr>
        <p:spPr bwMode="auto">
          <a:xfrm>
            <a:off x="6234113"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8" name="Line 271"/>
          <p:cNvSpPr>
            <a:spLocks noChangeShapeType="1"/>
          </p:cNvSpPr>
          <p:nvPr/>
        </p:nvSpPr>
        <p:spPr bwMode="auto">
          <a:xfrm>
            <a:off x="6497638"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79" name="Line 272"/>
          <p:cNvSpPr>
            <a:spLocks noChangeShapeType="1"/>
          </p:cNvSpPr>
          <p:nvPr/>
        </p:nvSpPr>
        <p:spPr bwMode="auto">
          <a:xfrm>
            <a:off x="6759575"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0" name="Line 273"/>
          <p:cNvSpPr>
            <a:spLocks noChangeShapeType="1"/>
          </p:cNvSpPr>
          <p:nvPr/>
        </p:nvSpPr>
        <p:spPr bwMode="auto">
          <a:xfrm>
            <a:off x="7023100"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1" name="Line 274"/>
          <p:cNvSpPr>
            <a:spLocks noChangeShapeType="1"/>
          </p:cNvSpPr>
          <p:nvPr/>
        </p:nvSpPr>
        <p:spPr bwMode="auto">
          <a:xfrm>
            <a:off x="7285038"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2" name="Line 275"/>
          <p:cNvSpPr>
            <a:spLocks noChangeShapeType="1"/>
          </p:cNvSpPr>
          <p:nvPr/>
        </p:nvSpPr>
        <p:spPr bwMode="auto">
          <a:xfrm>
            <a:off x="7548563"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3" name="Line 276"/>
          <p:cNvSpPr>
            <a:spLocks noChangeShapeType="1"/>
          </p:cNvSpPr>
          <p:nvPr/>
        </p:nvSpPr>
        <p:spPr bwMode="auto">
          <a:xfrm>
            <a:off x="7812088"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4" name="Line 277"/>
          <p:cNvSpPr>
            <a:spLocks noChangeShapeType="1"/>
          </p:cNvSpPr>
          <p:nvPr/>
        </p:nvSpPr>
        <p:spPr bwMode="auto">
          <a:xfrm>
            <a:off x="8074025" y="35083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5" name="Line 278"/>
          <p:cNvSpPr>
            <a:spLocks noChangeShapeType="1"/>
          </p:cNvSpPr>
          <p:nvPr/>
        </p:nvSpPr>
        <p:spPr bwMode="auto">
          <a:xfrm>
            <a:off x="280988" y="-817563"/>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6" name="Line 279"/>
          <p:cNvSpPr>
            <a:spLocks noChangeShapeType="1"/>
          </p:cNvSpPr>
          <p:nvPr/>
        </p:nvSpPr>
        <p:spPr bwMode="auto">
          <a:xfrm>
            <a:off x="2290763" y="3276600"/>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7" name="Line 280"/>
          <p:cNvSpPr>
            <a:spLocks noChangeShapeType="1"/>
          </p:cNvSpPr>
          <p:nvPr/>
        </p:nvSpPr>
        <p:spPr bwMode="auto">
          <a:xfrm>
            <a:off x="2290763" y="2889250"/>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8" name="Line 281"/>
          <p:cNvSpPr>
            <a:spLocks noChangeShapeType="1"/>
          </p:cNvSpPr>
          <p:nvPr/>
        </p:nvSpPr>
        <p:spPr bwMode="auto">
          <a:xfrm>
            <a:off x="2290763" y="2503488"/>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89" name="Line 282"/>
          <p:cNvSpPr>
            <a:spLocks noChangeShapeType="1"/>
          </p:cNvSpPr>
          <p:nvPr/>
        </p:nvSpPr>
        <p:spPr bwMode="auto">
          <a:xfrm>
            <a:off x="2290763" y="2117725"/>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90" name="Line 283"/>
          <p:cNvSpPr>
            <a:spLocks noChangeShapeType="1"/>
          </p:cNvSpPr>
          <p:nvPr/>
        </p:nvSpPr>
        <p:spPr bwMode="auto">
          <a:xfrm>
            <a:off x="2290763" y="1731963"/>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91" name="Line 284"/>
          <p:cNvSpPr>
            <a:spLocks noChangeShapeType="1"/>
          </p:cNvSpPr>
          <p:nvPr/>
        </p:nvSpPr>
        <p:spPr bwMode="auto">
          <a:xfrm>
            <a:off x="2290763" y="1344613"/>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92" name="Text Box 285"/>
          <p:cNvSpPr txBox="1">
            <a:spLocks noChangeArrowheads="1"/>
          </p:cNvSpPr>
          <p:nvPr/>
        </p:nvSpPr>
        <p:spPr bwMode="auto">
          <a:xfrm>
            <a:off x="2641600" y="36845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a:t>
            </a:r>
          </a:p>
        </p:txBody>
      </p:sp>
      <p:sp>
        <p:nvSpPr>
          <p:cNvPr id="104493" name="Text Box 286"/>
          <p:cNvSpPr txBox="1">
            <a:spLocks noChangeArrowheads="1"/>
          </p:cNvSpPr>
          <p:nvPr/>
        </p:nvSpPr>
        <p:spPr bwMode="auto">
          <a:xfrm>
            <a:off x="3167063" y="3684588"/>
            <a:ext cx="298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4</a:t>
            </a:r>
          </a:p>
        </p:txBody>
      </p:sp>
      <p:sp>
        <p:nvSpPr>
          <p:cNvPr id="104494" name="Text Box 287"/>
          <p:cNvSpPr txBox="1">
            <a:spLocks noChangeArrowheads="1"/>
          </p:cNvSpPr>
          <p:nvPr/>
        </p:nvSpPr>
        <p:spPr bwMode="auto">
          <a:xfrm>
            <a:off x="3692525" y="36845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6</a:t>
            </a:r>
          </a:p>
        </p:txBody>
      </p:sp>
      <p:sp>
        <p:nvSpPr>
          <p:cNvPr id="104495" name="Text Box 288"/>
          <p:cNvSpPr txBox="1">
            <a:spLocks noChangeArrowheads="1"/>
          </p:cNvSpPr>
          <p:nvPr/>
        </p:nvSpPr>
        <p:spPr bwMode="auto">
          <a:xfrm>
            <a:off x="4233863" y="3684588"/>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8</a:t>
            </a:r>
          </a:p>
        </p:txBody>
      </p:sp>
      <p:sp>
        <p:nvSpPr>
          <p:cNvPr id="104496" name="Text Box 289"/>
          <p:cNvSpPr txBox="1">
            <a:spLocks noChangeArrowheads="1"/>
          </p:cNvSpPr>
          <p:nvPr/>
        </p:nvSpPr>
        <p:spPr bwMode="auto">
          <a:xfrm>
            <a:off x="4672013" y="36845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10</a:t>
            </a:r>
          </a:p>
        </p:txBody>
      </p:sp>
      <p:sp>
        <p:nvSpPr>
          <p:cNvPr id="104497" name="Text Box 290"/>
          <p:cNvSpPr txBox="1">
            <a:spLocks noChangeArrowheads="1"/>
          </p:cNvSpPr>
          <p:nvPr/>
        </p:nvSpPr>
        <p:spPr bwMode="auto">
          <a:xfrm>
            <a:off x="5240338" y="36845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12</a:t>
            </a:r>
          </a:p>
        </p:txBody>
      </p:sp>
      <p:sp>
        <p:nvSpPr>
          <p:cNvPr id="104498" name="Text Box 291"/>
          <p:cNvSpPr txBox="1">
            <a:spLocks noChangeArrowheads="1"/>
          </p:cNvSpPr>
          <p:nvPr/>
        </p:nvSpPr>
        <p:spPr bwMode="auto">
          <a:xfrm>
            <a:off x="5737225" y="36845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14</a:t>
            </a:r>
          </a:p>
        </p:txBody>
      </p:sp>
      <p:sp>
        <p:nvSpPr>
          <p:cNvPr id="104499" name="Text Box 292"/>
          <p:cNvSpPr txBox="1">
            <a:spLocks noChangeArrowheads="1"/>
          </p:cNvSpPr>
          <p:nvPr/>
        </p:nvSpPr>
        <p:spPr bwMode="auto">
          <a:xfrm>
            <a:off x="6262688" y="36845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16</a:t>
            </a:r>
          </a:p>
        </p:txBody>
      </p:sp>
      <p:sp>
        <p:nvSpPr>
          <p:cNvPr id="104500" name="Text Box 293"/>
          <p:cNvSpPr txBox="1">
            <a:spLocks noChangeArrowheads="1"/>
          </p:cNvSpPr>
          <p:nvPr/>
        </p:nvSpPr>
        <p:spPr bwMode="auto">
          <a:xfrm>
            <a:off x="6818313" y="36845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18</a:t>
            </a:r>
          </a:p>
        </p:txBody>
      </p:sp>
      <p:sp>
        <p:nvSpPr>
          <p:cNvPr id="104501" name="Text Box 294"/>
          <p:cNvSpPr txBox="1">
            <a:spLocks noChangeArrowheads="1"/>
          </p:cNvSpPr>
          <p:nvPr/>
        </p:nvSpPr>
        <p:spPr bwMode="auto">
          <a:xfrm>
            <a:off x="7343775" y="36845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20</a:t>
            </a:r>
          </a:p>
        </p:txBody>
      </p:sp>
      <p:sp>
        <p:nvSpPr>
          <p:cNvPr id="104502" name="Text Box 296"/>
          <p:cNvSpPr txBox="1">
            <a:spLocks noChangeArrowheads="1"/>
          </p:cNvSpPr>
          <p:nvPr/>
        </p:nvSpPr>
        <p:spPr bwMode="auto">
          <a:xfrm>
            <a:off x="2159000" y="36845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0</a:t>
            </a:r>
          </a:p>
        </p:txBody>
      </p:sp>
      <p:sp>
        <p:nvSpPr>
          <p:cNvPr id="104503" name="Text Box 297"/>
          <p:cNvSpPr txBox="1">
            <a:spLocks noChangeArrowheads="1"/>
          </p:cNvSpPr>
          <p:nvPr/>
        </p:nvSpPr>
        <p:spPr bwMode="auto">
          <a:xfrm>
            <a:off x="1984375" y="34528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0</a:t>
            </a:r>
          </a:p>
        </p:txBody>
      </p:sp>
      <p:sp>
        <p:nvSpPr>
          <p:cNvPr id="104504" name="Text Box 298"/>
          <p:cNvSpPr txBox="1">
            <a:spLocks noChangeArrowheads="1"/>
          </p:cNvSpPr>
          <p:nvPr/>
        </p:nvSpPr>
        <p:spPr bwMode="auto">
          <a:xfrm>
            <a:off x="1984375" y="306705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4</a:t>
            </a:r>
          </a:p>
        </p:txBody>
      </p:sp>
      <p:sp>
        <p:nvSpPr>
          <p:cNvPr id="104505" name="Text Box 299"/>
          <p:cNvSpPr txBox="1">
            <a:spLocks noChangeArrowheads="1"/>
          </p:cNvSpPr>
          <p:nvPr/>
        </p:nvSpPr>
        <p:spPr bwMode="auto">
          <a:xfrm>
            <a:off x="1984375" y="26939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8</a:t>
            </a:r>
          </a:p>
        </p:txBody>
      </p:sp>
      <p:sp>
        <p:nvSpPr>
          <p:cNvPr id="104506" name="Text Box 300"/>
          <p:cNvSpPr txBox="1">
            <a:spLocks noChangeArrowheads="1"/>
          </p:cNvSpPr>
          <p:nvPr/>
        </p:nvSpPr>
        <p:spPr bwMode="auto">
          <a:xfrm>
            <a:off x="1852613" y="2320925"/>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12</a:t>
            </a:r>
          </a:p>
        </p:txBody>
      </p:sp>
      <p:sp>
        <p:nvSpPr>
          <p:cNvPr id="104507" name="Text Box 302"/>
          <p:cNvSpPr txBox="1">
            <a:spLocks noChangeArrowheads="1"/>
          </p:cNvSpPr>
          <p:nvPr/>
        </p:nvSpPr>
        <p:spPr bwMode="auto">
          <a:xfrm>
            <a:off x="1852613" y="1560513"/>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20</a:t>
            </a:r>
          </a:p>
        </p:txBody>
      </p:sp>
      <p:sp>
        <p:nvSpPr>
          <p:cNvPr id="104508" name="Text Box 303"/>
          <p:cNvSpPr txBox="1">
            <a:spLocks noChangeArrowheads="1"/>
          </p:cNvSpPr>
          <p:nvPr/>
        </p:nvSpPr>
        <p:spPr bwMode="auto">
          <a:xfrm>
            <a:off x="1852613" y="1174750"/>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24</a:t>
            </a:r>
          </a:p>
        </p:txBody>
      </p:sp>
      <p:sp>
        <p:nvSpPr>
          <p:cNvPr id="104509" name="Oval 304"/>
          <p:cNvSpPr>
            <a:spLocks noChangeArrowheads="1"/>
          </p:cNvSpPr>
          <p:nvPr/>
        </p:nvSpPr>
        <p:spPr bwMode="auto">
          <a:xfrm>
            <a:off x="3024188" y="2851150"/>
            <a:ext cx="103187"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0" name="Oval 305"/>
          <p:cNvSpPr>
            <a:spLocks noChangeArrowheads="1"/>
          </p:cNvSpPr>
          <p:nvPr/>
        </p:nvSpPr>
        <p:spPr bwMode="auto">
          <a:xfrm>
            <a:off x="2762250" y="323691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1" name="Oval 306"/>
          <p:cNvSpPr>
            <a:spLocks noChangeArrowheads="1"/>
          </p:cNvSpPr>
          <p:nvPr/>
        </p:nvSpPr>
        <p:spPr bwMode="auto">
          <a:xfrm>
            <a:off x="2247900" y="3487738"/>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2" name="Oval 307"/>
          <p:cNvSpPr>
            <a:spLocks noChangeArrowheads="1"/>
          </p:cNvSpPr>
          <p:nvPr/>
        </p:nvSpPr>
        <p:spPr bwMode="auto">
          <a:xfrm>
            <a:off x="2487613" y="3421063"/>
            <a:ext cx="103187"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3" name="Oval 308"/>
          <p:cNvSpPr>
            <a:spLocks noChangeArrowheads="1"/>
          </p:cNvSpPr>
          <p:nvPr/>
        </p:nvSpPr>
        <p:spPr bwMode="auto">
          <a:xfrm>
            <a:off x="3287713" y="20748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4" name="Oval 309"/>
          <p:cNvSpPr>
            <a:spLocks noChangeArrowheads="1"/>
          </p:cNvSpPr>
          <p:nvPr/>
        </p:nvSpPr>
        <p:spPr bwMode="auto">
          <a:xfrm>
            <a:off x="3551238" y="1973263"/>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5" name="Oval 310"/>
          <p:cNvSpPr>
            <a:spLocks noChangeArrowheads="1"/>
          </p:cNvSpPr>
          <p:nvPr/>
        </p:nvSpPr>
        <p:spPr bwMode="auto">
          <a:xfrm>
            <a:off x="3813175" y="1881188"/>
            <a:ext cx="103188"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6" name="Oval 311"/>
          <p:cNvSpPr>
            <a:spLocks noChangeArrowheads="1"/>
          </p:cNvSpPr>
          <p:nvPr/>
        </p:nvSpPr>
        <p:spPr bwMode="auto">
          <a:xfrm>
            <a:off x="4344988" y="168751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7" name="Oval 312"/>
          <p:cNvSpPr>
            <a:spLocks noChangeArrowheads="1"/>
          </p:cNvSpPr>
          <p:nvPr/>
        </p:nvSpPr>
        <p:spPr bwMode="auto">
          <a:xfrm>
            <a:off x="4076700" y="1784350"/>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8" name="Oval 313"/>
          <p:cNvSpPr>
            <a:spLocks noChangeArrowheads="1"/>
          </p:cNvSpPr>
          <p:nvPr/>
        </p:nvSpPr>
        <p:spPr bwMode="auto">
          <a:xfrm>
            <a:off x="4606925" y="1590675"/>
            <a:ext cx="103188"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19" name="Oval 314"/>
          <p:cNvSpPr>
            <a:spLocks noChangeArrowheads="1"/>
          </p:cNvSpPr>
          <p:nvPr/>
        </p:nvSpPr>
        <p:spPr bwMode="auto">
          <a:xfrm>
            <a:off x="4865688" y="1500188"/>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0" name="Oval 315"/>
          <p:cNvSpPr>
            <a:spLocks noChangeArrowheads="1"/>
          </p:cNvSpPr>
          <p:nvPr/>
        </p:nvSpPr>
        <p:spPr bwMode="auto">
          <a:xfrm>
            <a:off x="5384800" y="1292225"/>
            <a:ext cx="103188"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1" name="Oval 316"/>
          <p:cNvSpPr>
            <a:spLocks noChangeArrowheads="1"/>
          </p:cNvSpPr>
          <p:nvPr/>
        </p:nvSpPr>
        <p:spPr bwMode="auto">
          <a:xfrm>
            <a:off x="5127625" y="1389063"/>
            <a:ext cx="103188"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2" name="Oval 318"/>
          <p:cNvSpPr>
            <a:spLocks noChangeArrowheads="1"/>
          </p:cNvSpPr>
          <p:nvPr/>
        </p:nvSpPr>
        <p:spPr bwMode="auto">
          <a:xfrm>
            <a:off x="6716713" y="2455863"/>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3" name="Oval 319"/>
          <p:cNvSpPr>
            <a:spLocks noChangeArrowheads="1"/>
          </p:cNvSpPr>
          <p:nvPr/>
        </p:nvSpPr>
        <p:spPr bwMode="auto">
          <a:xfrm>
            <a:off x="5916613" y="3411538"/>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4" name="Oval 320"/>
          <p:cNvSpPr>
            <a:spLocks noChangeArrowheads="1"/>
          </p:cNvSpPr>
          <p:nvPr/>
        </p:nvSpPr>
        <p:spPr bwMode="auto">
          <a:xfrm>
            <a:off x="6184900" y="3222625"/>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5" name="Oval 321"/>
          <p:cNvSpPr>
            <a:spLocks noChangeArrowheads="1"/>
          </p:cNvSpPr>
          <p:nvPr/>
        </p:nvSpPr>
        <p:spPr bwMode="auto">
          <a:xfrm>
            <a:off x="5648325" y="3487738"/>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6" name="Oval 322"/>
          <p:cNvSpPr>
            <a:spLocks noChangeArrowheads="1"/>
          </p:cNvSpPr>
          <p:nvPr/>
        </p:nvSpPr>
        <p:spPr bwMode="auto">
          <a:xfrm>
            <a:off x="6437313" y="2841625"/>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7" name="Oval 323"/>
          <p:cNvSpPr>
            <a:spLocks noChangeArrowheads="1"/>
          </p:cNvSpPr>
          <p:nvPr/>
        </p:nvSpPr>
        <p:spPr bwMode="auto">
          <a:xfrm>
            <a:off x="6973888" y="23542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8" name="Oval 324"/>
          <p:cNvSpPr>
            <a:spLocks noChangeArrowheads="1"/>
          </p:cNvSpPr>
          <p:nvPr/>
        </p:nvSpPr>
        <p:spPr bwMode="auto">
          <a:xfrm>
            <a:off x="7756525" y="2063750"/>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29" name="Oval 325"/>
          <p:cNvSpPr>
            <a:spLocks noChangeArrowheads="1"/>
          </p:cNvSpPr>
          <p:nvPr/>
        </p:nvSpPr>
        <p:spPr bwMode="auto">
          <a:xfrm>
            <a:off x="7231063" y="22526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30" name="Oval 326"/>
          <p:cNvSpPr>
            <a:spLocks noChangeArrowheads="1"/>
          </p:cNvSpPr>
          <p:nvPr/>
        </p:nvSpPr>
        <p:spPr bwMode="auto">
          <a:xfrm>
            <a:off x="7493000" y="2160588"/>
            <a:ext cx="103188"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31" name="Text Box 328"/>
          <p:cNvSpPr txBox="1">
            <a:spLocks noChangeArrowheads="1"/>
          </p:cNvSpPr>
          <p:nvPr/>
        </p:nvSpPr>
        <p:spPr bwMode="auto">
          <a:xfrm>
            <a:off x="1203325" y="674688"/>
            <a:ext cx="1695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拥塞窗口 </a:t>
            </a:r>
            <a:r>
              <a:rPr kumimoji="1" lang="en-US" altLang="zh-CN" sz="1800">
                <a:solidFill>
                  <a:schemeClr val="folHlink"/>
                </a:solidFill>
                <a:latin typeface="Arial" pitchFamily="34" charset="0"/>
                <a:ea typeface="黑体" pitchFamily="49" charset="-122"/>
              </a:rPr>
              <a:t>cwnd</a:t>
            </a:r>
          </a:p>
        </p:txBody>
      </p:sp>
      <p:sp>
        <p:nvSpPr>
          <p:cNvPr id="104532" name="Text Box 329"/>
          <p:cNvSpPr txBox="1">
            <a:spLocks noChangeArrowheads="1"/>
          </p:cNvSpPr>
          <p:nvPr/>
        </p:nvSpPr>
        <p:spPr bwMode="auto">
          <a:xfrm>
            <a:off x="179388" y="2266950"/>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新的 </a:t>
            </a:r>
            <a:r>
              <a:rPr kumimoji="1" lang="en-US" altLang="zh-CN" sz="1800">
                <a:solidFill>
                  <a:schemeClr val="folHlink"/>
                </a:solidFill>
                <a:latin typeface="Arial" pitchFamily="34" charset="0"/>
                <a:ea typeface="黑体" pitchFamily="49" charset="-122"/>
              </a:rPr>
              <a:t>ssthresh </a:t>
            </a:r>
            <a:r>
              <a:rPr kumimoji="1" lang="zh-CN" altLang="en-US" sz="1800">
                <a:solidFill>
                  <a:schemeClr val="folHlink"/>
                </a:solidFill>
                <a:latin typeface="Arial" pitchFamily="34" charset="0"/>
                <a:ea typeface="黑体" pitchFamily="49" charset="-122"/>
              </a:rPr>
              <a:t>值</a:t>
            </a:r>
          </a:p>
        </p:txBody>
      </p:sp>
      <p:sp>
        <p:nvSpPr>
          <p:cNvPr id="104533" name="Text Box 330"/>
          <p:cNvSpPr txBox="1">
            <a:spLocks noChangeArrowheads="1"/>
          </p:cNvSpPr>
          <p:nvPr/>
        </p:nvSpPr>
        <p:spPr bwMode="auto">
          <a:xfrm>
            <a:off x="5708650" y="8064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网络拥塞</a:t>
            </a:r>
          </a:p>
        </p:txBody>
      </p:sp>
      <p:sp>
        <p:nvSpPr>
          <p:cNvPr id="104534" name="Line 331"/>
          <p:cNvSpPr>
            <a:spLocks noChangeShapeType="1"/>
          </p:cNvSpPr>
          <p:nvPr/>
        </p:nvSpPr>
        <p:spPr bwMode="auto">
          <a:xfrm flipH="1">
            <a:off x="5445125" y="1052513"/>
            <a:ext cx="346075" cy="292100"/>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35" name="Text Box 332"/>
          <p:cNvSpPr txBox="1">
            <a:spLocks noChangeArrowheads="1"/>
          </p:cNvSpPr>
          <p:nvPr/>
        </p:nvSpPr>
        <p:spPr bwMode="auto">
          <a:xfrm>
            <a:off x="3517900" y="3017838"/>
            <a:ext cx="155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指数规律增长</a:t>
            </a:r>
          </a:p>
        </p:txBody>
      </p:sp>
      <p:sp>
        <p:nvSpPr>
          <p:cNvPr id="104536" name="Line 333"/>
          <p:cNvSpPr>
            <a:spLocks noChangeShapeType="1"/>
          </p:cNvSpPr>
          <p:nvPr/>
        </p:nvSpPr>
        <p:spPr bwMode="auto">
          <a:xfrm flipH="1" flipV="1">
            <a:off x="2905125" y="3121025"/>
            <a:ext cx="700088" cy="77788"/>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37" name="Rectangle 334"/>
          <p:cNvSpPr>
            <a:spLocks noChangeArrowheads="1"/>
          </p:cNvSpPr>
          <p:nvPr/>
        </p:nvSpPr>
        <p:spPr bwMode="auto">
          <a:xfrm>
            <a:off x="2378075" y="1268413"/>
            <a:ext cx="219075" cy="2058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38" name="Line 335"/>
          <p:cNvSpPr>
            <a:spLocks noChangeShapeType="1"/>
          </p:cNvSpPr>
          <p:nvPr/>
        </p:nvSpPr>
        <p:spPr bwMode="auto">
          <a:xfrm>
            <a:off x="2378075" y="2117725"/>
            <a:ext cx="963613"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39" name="Rectangle 338"/>
          <p:cNvSpPr>
            <a:spLocks noChangeArrowheads="1"/>
          </p:cNvSpPr>
          <p:nvPr/>
        </p:nvSpPr>
        <p:spPr bwMode="auto">
          <a:xfrm>
            <a:off x="2728913" y="3430588"/>
            <a:ext cx="2803525" cy="153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40" name="Rectangle 339"/>
          <p:cNvSpPr>
            <a:spLocks noChangeArrowheads="1"/>
          </p:cNvSpPr>
          <p:nvPr/>
        </p:nvSpPr>
        <p:spPr bwMode="auto">
          <a:xfrm>
            <a:off x="6146800" y="3430588"/>
            <a:ext cx="2014538" cy="153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41" name="Text Box 340"/>
          <p:cNvSpPr txBox="1">
            <a:spLocks noChangeArrowheads="1"/>
          </p:cNvSpPr>
          <p:nvPr/>
        </p:nvSpPr>
        <p:spPr bwMode="auto">
          <a:xfrm>
            <a:off x="20638" y="1925638"/>
            <a:ext cx="2025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Arial" pitchFamily="34" charset="0"/>
                <a:ea typeface="黑体" pitchFamily="49" charset="-122"/>
              </a:rPr>
              <a:t>ssthresh </a:t>
            </a:r>
            <a:r>
              <a:rPr kumimoji="1" lang="zh-CN" altLang="en-US" sz="1800">
                <a:solidFill>
                  <a:schemeClr val="folHlink"/>
                </a:solidFill>
                <a:latin typeface="Arial" pitchFamily="34" charset="0"/>
                <a:ea typeface="黑体" pitchFamily="49" charset="-122"/>
              </a:rPr>
              <a:t>的初始值</a:t>
            </a:r>
          </a:p>
        </p:txBody>
      </p:sp>
      <p:sp>
        <p:nvSpPr>
          <p:cNvPr id="104542" name="Text Box 341"/>
          <p:cNvSpPr txBox="1">
            <a:spLocks noChangeArrowheads="1"/>
          </p:cNvSpPr>
          <p:nvPr/>
        </p:nvSpPr>
        <p:spPr bwMode="auto">
          <a:xfrm>
            <a:off x="779463" y="3151188"/>
            <a:ext cx="985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4543" name="Line 342"/>
          <p:cNvSpPr>
            <a:spLocks noChangeShapeType="1"/>
          </p:cNvSpPr>
          <p:nvPr/>
        </p:nvSpPr>
        <p:spPr bwMode="auto">
          <a:xfrm>
            <a:off x="1633538" y="3371850"/>
            <a:ext cx="614362" cy="155575"/>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44" name="Text Box 343"/>
          <p:cNvSpPr txBox="1">
            <a:spLocks noChangeArrowheads="1"/>
          </p:cNvSpPr>
          <p:nvPr/>
        </p:nvSpPr>
        <p:spPr bwMode="auto">
          <a:xfrm>
            <a:off x="2403475" y="4043363"/>
            <a:ext cx="985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4545" name="Text Box 344"/>
          <p:cNvSpPr txBox="1">
            <a:spLocks noChangeArrowheads="1"/>
          </p:cNvSpPr>
          <p:nvPr/>
        </p:nvSpPr>
        <p:spPr bwMode="auto">
          <a:xfrm>
            <a:off x="5799138" y="4067175"/>
            <a:ext cx="9858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4546" name="Text Box 345"/>
          <p:cNvSpPr txBox="1">
            <a:spLocks noChangeArrowheads="1"/>
          </p:cNvSpPr>
          <p:nvPr/>
        </p:nvSpPr>
        <p:spPr bwMode="auto">
          <a:xfrm>
            <a:off x="3705225" y="758825"/>
            <a:ext cx="1250950" cy="6413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拥塞避免</a:t>
            </a:r>
          </a:p>
          <a:p>
            <a:pPr algn="ctr" eaLnBrk="1" hangingPunct="1"/>
            <a:r>
              <a:rPr kumimoji="1" lang="zh-CN" altLang="en-US" sz="1800">
                <a:solidFill>
                  <a:schemeClr val="folHlink"/>
                </a:solidFill>
                <a:latin typeface="Arial" pitchFamily="34" charset="0"/>
                <a:ea typeface="黑体" pitchFamily="49" charset="-122"/>
              </a:rPr>
              <a:t>“加法增大”</a:t>
            </a:r>
          </a:p>
        </p:txBody>
      </p:sp>
      <p:sp>
        <p:nvSpPr>
          <p:cNvPr id="104547" name="Text Box 346"/>
          <p:cNvSpPr txBox="1">
            <a:spLocks noChangeArrowheads="1"/>
          </p:cNvSpPr>
          <p:nvPr/>
        </p:nvSpPr>
        <p:spPr bwMode="auto">
          <a:xfrm>
            <a:off x="6867525" y="1165225"/>
            <a:ext cx="1250950" cy="6413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拥塞避免</a:t>
            </a:r>
          </a:p>
          <a:p>
            <a:pPr algn="ctr" eaLnBrk="1" hangingPunct="1"/>
            <a:r>
              <a:rPr kumimoji="1" lang="zh-CN" altLang="en-US" sz="1800">
                <a:solidFill>
                  <a:schemeClr val="folHlink"/>
                </a:solidFill>
                <a:latin typeface="Arial" pitchFamily="34" charset="0"/>
                <a:ea typeface="黑体" pitchFamily="49" charset="-122"/>
              </a:rPr>
              <a:t>“加法增大”</a:t>
            </a:r>
          </a:p>
        </p:txBody>
      </p:sp>
      <p:sp>
        <p:nvSpPr>
          <p:cNvPr id="104548" name="Line 337"/>
          <p:cNvSpPr>
            <a:spLocks noChangeShapeType="1"/>
          </p:cNvSpPr>
          <p:nvPr/>
        </p:nvSpPr>
        <p:spPr bwMode="auto">
          <a:xfrm rot="10800000">
            <a:off x="2378075" y="2503488"/>
            <a:ext cx="4645025"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49" name="Line 336"/>
          <p:cNvSpPr>
            <a:spLocks noChangeShapeType="1"/>
          </p:cNvSpPr>
          <p:nvPr/>
        </p:nvSpPr>
        <p:spPr bwMode="auto">
          <a:xfrm flipV="1">
            <a:off x="2378075" y="1343025"/>
            <a:ext cx="4194175" cy="1588"/>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50" name="Freeform 317"/>
          <p:cNvSpPr>
            <a:spLocks/>
          </p:cNvSpPr>
          <p:nvPr/>
        </p:nvSpPr>
        <p:spPr bwMode="auto">
          <a:xfrm>
            <a:off x="2203450" y="1344613"/>
            <a:ext cx="5772150" cy="2205037"/>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51" name="Text Box 327"/>
          <p:cNvSpPr txBox="1">
            <a:spLocks noChangeArrowheads="1"/>
          </p:cNvSpPr>
          <p:nvPr/>
        </p:nvSpPr>
        <p:spPr bwMode="auto">
          <a:xfrm>
            <a:off x="8027988" y="327660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传输轮次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8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494" grpId="0"/>
    </p:bld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Line 118"/>
          <p:cNvSpPr>
            <a:spLocks noChangeShapeType="1"/>
          </p:cNvSpPr>
          <p:nvPr/>
        </p:nvSpPr>
        <p:spPr bwMode="auto">
          <a:xfrm>
            <a:off x="2290763" y="1174750"/>
            <a:ext cx="0" cy="2703513"/>
          </a:xfrm>
          <a:prstGeom prst="line">
            <a:avLst/>
          </a:prstGeom>
          <a:noFill/>
          <a:ln w="9525">
            <a:solidFill>
              <a:schemeClr val="folHlink"/>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75" name="Text Box 119"/>
          <p:cNvSpPr txBox="1">
            <a:spLocks noChangeArrowheads="1"/>
          </p:cNvSpPr>
          <p:nvPr/>
        </p:nvSpPr>
        <p:spPr bwMode="auto">
          <a:xfrm>
            <a:off x="7854950"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22</a:t>
            </a:r>
          </a:p>
        </p:txBody>
      </p:sp>
      <p:sp>
        <p:nvSpPr>
          <p:cNvPr id="105476" name="Text Box 120"/>
          <p:cNvSpPr txBox="1">
            <a:spLocks noChangeArrowheads="1"/>
          </p:cNvSpPr>
          <p:nvPr/>
        </p:nvSpPr>
        <p:spPr bwMode="auto">
          <a:xfrm>
            <a:off x="1852613" y="2162175"/>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16</a:t>
            </a:r>
          </a:p>
        </p:txBody>
      </p:sp>
      <p:sp>
        <p:nvSpPr>
          <p:cNvPr id="105477" name="Line 121"/>
          <p:cNvSpPr>
            <a:spLocks noChangeShapeType="1"/>
          </p:cNvSpPr>
          <p:nvPr/>
        </p:nvSpPr>
        <p:spPr bwMode="auto">
          <a:xfrm>
            <a:off x="6157913" y="1570038"/>
            <a:ext cx="0" cy="1158875"/>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78" name="Text Box 122"/>
          <p:cNvSpPr txBox="1">
            <a:spLocks noChangeArrowheads="1"/>
          </p:cNvSpPr>
          <p:nvPr/>
        </p:nvSpPr>
        <p:spPr bwMode="auto">
          <a:xfrm>
            <a:off x="5441950" y="1917700"/>
            <a:ext cx="137795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a:t>
            </a:r>
            <a:r>
              <a:rPr kumimoji="1" lang="zh-CN" altLang="en-US" sz="1800">
                <a:solidFill>
                  <a:schemeClr val="folHlink"/>
                </a:solidFill>
                <a:latin typeface="Arial" pitchFamily="34" charset="0"/>
                <a:ea typeface="黑体" pitchFamily="49" charset="-122"/>
              </a:rPr>
              <a:t>乘法减小”</a:t>
            </a:r>
          </a:p>
        </p:txBody>
      </p:sp>
      <p:sp>
        <p:nvSpPr>
          <p:cNvPr id="105479" name="Rectangle 123"/>
          <p:cNvSpPr>
            <a:spLocks noChangeArrowheads="1"/>
          </p:cNvSpPr>
          <p:nvPr/>
        </p:nvSpPr>
        <p:spPr bwMode="auto">
          <a:xfrm>
            <a:off x="6750050" y="1290638"/>
            <a:ext cx="1558925" cy="1519237"/>
          </a:xfrm>
          <a:prstGeom prst="rect">
            <a:avLst/>
          </a:prstGeom>
          <a:solidFill>
            <a:srgbClr val="FF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0" name="Rectangle 124"/>
          <p:cNvSpPr>
            <a:spLocks noChangeArrowheads="1"/>
          </p:cNvSpPr>
          <p:nvPr/>
        </p:nvSpPr>
        <p:spPr bwMode="auto">
          <a:xfrm>
            <a:off x="3319463" y="1008063"/>
            <a:ext cx="2174875" cy="15176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1" name="Rectangle 125"/>
          <p:cNvSpPr>
            <a:spLocks noChangeArrowheads="1"/>
          </p:cNvSpPr>
          <p:nvPr/>
        </p:nvSpPr>
        <p:spPr bwMode="auto">
          <a:xfrm>
            <a:off x="5711825" y="3895725"/>
            <a:ext cx="1073150" cy="828675"/>
          </a:xfrm>
          <a:prstGeom prst="rect">
            <a:avLst/>
          </a:prstGeom>
          <a:solidFill>
            <a:srgbClr val="CC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2" name="Rectangle 126"/>
          <p:cNvSpPr>
            <a:spLocks noChangeArrowheads="1"/>
          </p:cNvSpPr>
          <p:nvPr/>
        </p:nvSpPr>
        <p:spPr bwMode="auto">
          <a:xfrm>
            <a:off x="2298700" y="3886200"/>
            <a:ext cx="1073150" cy="828675"/>
          </a:xfrm>
          <a:prstGeom prst="rect">
            <a:avLst/>
          </a:prstGeom>
          <a:solidFill>
            <a:srgbClr val="CC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3" name="Line 127"/>
          <p:cNvSpPr>
            <a:spLocks noChangeShapeType="1"/>
          </p:cNvSpPr>
          <p:nvPr/>
        </p:nvSpPr>
        <p:spPr bwMode="auto">
          <a:xfrm>
            <a:off x="2290763" y="3878263"/>
            <a:ext cx="6221412" cy="0"/>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4" name="Line 128"/>
          <p:cNvSpPr>
            <a:spLocks noChangeShapeType="1"/>
          </p:cNvSpPr>
          <p:nvPr/>
        </p:nvSpPr>
        <p:spPr bwMode="auto">
          <a:xfrm>
            <a:off x="2554288" y="3800475"/>
            <a:ext cx="0" cy="77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5" name="Line 129"/>
          <p:cNvSpPr>
            <a:spLocks noChangeShapeType="1"/>
          </p:cNvSpPr>
          <p:nvPr/>
        </p:nvSpPr>
        <p:spPr bwMode="auto">
          <a:xfrm>
            <a:off x="281622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6" name="Line 130"/>
          <p:cNvSpPr>
            <a:spLocks noChangeShapeType="1"/>
          </p:cNvSpPr>
          <p:nvPr/>
        </p:nvSpPr>
        <p:spPr bwMode="auto">
          <a:xfrm>
            <a:off x="3079750"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7" name="Line 131"/>
          <p:cNvSpPr>
            <a:spLocks noChangeShapeType="1"/>
          </p:cNvSpPr>
          <p:nvPr/>
        </p:nvSpPr>
        <p:spPr bwMode="auto">
          <a:xfrm>
            <a:off x="334168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8" name="Line 132"/>
          <p:cNvSpPr>
            <a:spLocks noChangeShapeType="1"/>
          </p:cNvSpPr>
          <p:nvPr/>
        </p:nvSpPr>
        <p:spPr bwMode="auto">
          <a:xfrm>
            <a:off x="3605213"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89" name="Line 133"/>
          <p:cNvSpPr>
            <a:spLocks noChangeShapeType="1"/>
          </p:cNvSpPr>
          <p:nvPr/>
        </p:nvSpPr>
        <p:spPr bwMode="auto">
          <a:xfrm>
            <a:off x="386873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0" name="Line 134"/>
          <p:cNvSpPr>
            <a:spLocks noChangeShapeType="1"/>
          </p:cNvSpPr>
          <p:nvPr/>
        </p:nvSpPr>
        <p:spPr bwMode="auto">
          <a:xfrm>
            <a:off x="413067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1" name="Line 135"/>
          <p:cNvSpPr>
            <a:spLocks noChangeShapeType="1"/>
          </p:cNvSpPr>
          <p:nvPr/>
        </p:nvSpPr>
        <p:spPr bwMode="auto">
          <a:xfrm>
            <a:off x="4394200"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2" name="Line 136"/>
          <p:cNvSpPr>
            <a:spLocks noChangeShapeType="1"/>
          </p:cNvSpPr>
          <p:nvPr/>
        </p:nvSpPr>
        <p:spPr bwMode="auto">
          <a:xfrm>
            <a:off x="465613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3" name="Line 137"/>
          <p:cNvSpPr>
            <a:spLocks noChangeShapeType="1"/>
          </p:cNvSpPr>
          <p:nvPr/>
        </p:nvSpPr>
        <p:spPr bwMode="auto">
          <a:xfrm>
            <a:off x="4919663"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4" name="Line 138"/>
          <p:cNvSpPr>
            <a:spLocks noChangeShapeType="1"/>
          </p:cNvSpPr>
          <p:nvPr/>
        </p:nvSpPr>
        <p:spPr bwMode="auto">
          <a:xfrm>
            <a:off x="518318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5" name="Line 139"/>
          <p:cNvSpPr>
            <a:spLocks noChangeShapeType="1"/>
          </p:cNvSpPr>
          <p:nvPr/>
        </p:nvSpPr>
        <p:spPr bwMode="auto">
          <a:xfrm>
            <a:off x="544512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6" name="Line 140"/>
          <p:cNvSpPr>
            <a:spLocks noChangeShapeType="1"/>
          </p:cNvSpPr>
          <p:nvPr/>
        </p:nvSpPr>
        <p:spPr bwMode="auto">
          <a:xfrm>
            <a:off x="5708650"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7" name="Line 141"/>
          <p:cNvSpPr>
            <a:spLocks noChangeShapeType="1"/>
          </p:cNvSpPr>
          <p:nvPr/>
        </p:nvSpPr>
        <p:spPr bwMode="auto">
          <a:xfrm>
            <a:off x="5970588" y="3800475"/>
            <a:ext cx="0" cy="77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8" name="Line 142"/>
          <p:cNvSpPr>
            <a:spLocks noChangeShapeType="1"/>
          </p:cNvSpPr>
          <p:nvPr/>
        </p:nvSpPr>
        <p:spPr bwMode="auto">
          <a:xfrm>
            <a:off x="6234113"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99" name="Line 143"/>
          <p:cNvSpPr>
            <a:spLocks noChangeShapeType="1"/>
          </p:cNvSpPr>
          <p:nvPr/>
        </p:nvSpPr>
        <p:spPr bwMode="auto">
          <a:xfrm>
            <a:off x="649763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0" name="Line 144"/>
          <p:cNvSpPr>
            <a:spLocks noChangeShapeType="1"/>
          </p:cNvSpPr>
          <p:nvPr/>
        </p:nvSpPr>
        <p:spPr bwMode="auto">
          <a:xfrm>
            <a:off x="675957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1" name="Line 145"/>
          <p:cNvSpPr>
            <a:spLocks noChangeShapeType="1"/>
          </p:cNvSpPr>
          <p:nvPr/>
        </p:nvSpPr>
        <p:spPr bwMode="auto">
          <a:xfrm>
            <a:off x="7023100"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2" name="Line 146"/>
          <p:cNvSpPr>
            <a:spLocks noChangeShapeType="1"/>
          </p:cNvSpPr>
          <p:nvPr/>
        </p:nvSpPr>
        <p:spPr bwMode="auto">
          <a:xfrm>
            <a:off x="728503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3" name="Line 147"/>
          <p:cNvSpPr>
            <a:spLocks noChangeShapeType="1"/>
          </p:cNvSpPr>
          <p:nvPr/>
        </p:nvSpPr>
        <p:spPr bwMode="auto">
          <a:xfrm>
            <a:off x="7548563"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4" name="Line 148"/>
          <p:cNvSpPr>
            <a:spLocks noChangeShapeType="1"/>
          </p:cNvSpPr>
          <p:nvPr/>
        </p:nvSpPr>
        <p:spPr bwMode="auto">
          <a:xfrm>
            <a:off x="781208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5" name="Line 149"/>
          <p:cNvSpPr>
            <a:spLocks noChangeShapeType="1"/>
          </p:cNvSpPr>
          <p:nvPr/>
        </p:nvSpPr>
        <p:spPr bwMode="auto">
          <a:xfrm>
            <a:off x="807402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6" name="Line 150"/>
          <p:cNvSpPr>
            <a:spLocks noChangeShapeType="1"/>
          </p:cNvSpPr>
          <p:nvPr/>
        </p:nvSpPr>
        <p:spPr bwMode="auto">
          <a:xfrm>
            <a:off x="2290763" y="3492500"/>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7" name="Line 151"/>
          <p:cNvSpPr>
            <a:spLocks noChangeShapeType="1"/>
          </p:cNvSpPr>
          <p:nvPr/>
        </p:nvSpPr>
        <p:spPr bwMode="auto">
          <a:xfrm>
            <a:off x="2290763" y="3105150"/>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8" name="Line 152"/>
          <p:cNvSpPr>
            <a:spLocks noChangeShapeType="1"/>
          </p:cNvSpPr>
          <p:nvPr/>
        </p:nvSpPr>
        <p:spPr bwMode="auto">
          <a:xfrm>
            <a:off x="2290763" y="2719388"/>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09" name="Line 153"/>
          <p:cNvSpPr>
            <a:spLocks noChangeShapeType="1"/>
          </p:cNvSpPr>
          <p:nvPr/>
        </p:nvSpPr>
        <p:spPr bwMode="auto">
          <a:xfrm>
            <a:off x="2290763" y="2333625"/>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10" name="Line 154"/>
          <p:cNvSpPr>
            <a:spLocks noChangeShapeType="1"/>
          </p:cNvSpPr>
          <p:nvPr/>
        </p:nvSpPr>
        <p:spPr bwMode="auto">
          <a:xfrm>
            <a:off x="2290763" y="1947863"/>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11" name="Line 155"/>
          <p:cNvSpPr>
            <a:spLocks noChangeShapeType="1"/>
          </p:cNvSpPr>
          <p:nvPr/>
        </p:nvSpPr>
        <p:spPr bwMode="auto">
          <a:xfrm>
            <a:off x="2290763" y="1560513"/>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12" name="Text Box 156"/>
          <p:cNvSpPr txBox="1">
            <a:spLocks noChangeArrowheads="1"/>
          </p:cNvSpPr>
          <p:nvPr/>
        </p:nvSpPr>
        <p:spPr bwMode="auto">
          <a:xfrm>
            <a:off x="2641600" y="39004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a:t>
            </a:r>
          </a:p>
        </p:txBody>
      </p:sp>
      <p:sp>
        <p:nvSpPr>
          <p:cNvPr id="105513" name="Text Box 157"/>
          <p:cNvSpPr txBox="1">
            <a:spLocks noChangeArrowheads="1"/>
          </p:cNvSpPr>
          <p:nvPr/>
        </p:nvSpPr>
        <p:spPr bwMode="auto">
          <a:xfrm>
            <a:off x="3167063" y="3900488"/>
            <a:ext cx="298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4</a:t>
            </a:r>
          </a:p>
        </p:txBody>
      </p:sp>
      <p:sp>
        <p:nvSpPr>
          <p:cNvPr id="105514" name="Text Box 158"/>
          <p:cNvSpPr txBox="1">
            <a:spLocks noChangeArrowheads="1"/>
          </p:cNvSpPr>
          <p:nvPr/>
        </p:nvSpPr>
        <p:spPr bwMode="auto">
          <a:xfrm>
            <a:off x="3692525" y="39004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6</a:t>
            </a:r>
          </a:p>
        </p:txBody>
      </p:sp>
      <p:sp>
        <p:nvSpPr>
          <p:cNvPr id="105515" name="Text Box 159"/>
          <p:cNvSpPr txBox="1">
            <a:spLocks noChangeArrowheads="1"/>
          </p:cNvSpPr>
          <p:nvPr/>
        </p:nvSpPr>
        <p:spPr bwMode="auto">
          <a:xfrm>
            <a:off x="4233863" y="3900488"/>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8</a:t>
            </a:r>
          </a:p>
        </p:txBody>
      </p:sp>
      <p:sp>
        <p:nvSpPr>
          <p:cNvPr id="105516" name="Text Box 160"/>
          <p:cNvSpPr txBox="1">
            <a:spLocks noChangeArrowheads="1"/>
          </p:cNvSpPr>
          <p:nvPr/>
        </p:nvSpPr>
        <p:spPr bwMode="auto">
          <a:xfrm>
            <a:off x="4672013"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10</a:t>
            </a:r>
          </a:p>
        </p:txBody>
      </p:sp>
      <p:sp>
        <p:nvSpPr>
          <p:cNvPr id="105517" name="Text Box 161"/>
          <p:cNvSpPr txBox="1">
            <a:spLocks noChangeArrowheads="1"/>
          </p:cNvSpPr>
          <p:nvPr/>
        </p:nvSpPr>
        <p:spPr bwMode="auto">
          <a:xfrm>
            <a:off x="5240338"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12</a:t>
            </a:r>
          </a:p>
        </p:txBody>
      </p:sp>
      <p:sp>
        <p:nvSpPr>
          <p:cNvPr id="105518" name="Text Box 162"/>
          <p:cNvSpPr txBox="1">
            <a:spLocks noChangeArrowheads="1"/>
          </p:cNvSpPr>
          <p:nvPr/>
        </p:nvSpPr>
        <p:spPr bwMode="auto">
          <a:xfrm>
            <a:off x="5737225"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14</a:t>
            </a:r>
          </a:p>
        </p:txBody>
      </p:sp>
      <p:sp>
        <p:nvSpPr>
          <p:cNvPr id="105519" name="Text Box 163"/>
          <p:cNvSpPr txBox="1">
            <a:spLocks noChangeArrowheads="1"/>
          </p:cNvSpPr>
          <p:nvPr/>
        </p:nvSpPr>
        <p:spPr bwMode="auto">
          <a:xfrm>
            <a:off x="6262688"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16</a:t>
            </a:r>
          </a:p>
        </p:txBody>
      </p:sp>
      <p:sp>
        <p:nvSpPr>
          <p:cNvPr id="105520" name="Text Box 164"/>
          <p:cNvSpPr txBox="1">
            <a:spLocks noChangeArrowheads="1"/>
          </p:cNvSpPr>
          <p:nvPr/>
        </p:nvSpPr>
        <p:spPr bwMode="auto">
          <a:xfrm>
            <a:off x="6818313"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18</a:t>
            </a:r>
          </a:p>
        </p:txBody>
      </p:sp>
      <p:sp>
        <p:nvSpPr>
          <p:cNvPr id="105521" name="Text Box 165"/>
          <p:cNvSpPr txBox="1">
            <a:spLocks noChangeArrowheads="1"/>
          </p:cNvSpPr>
          <p:nvPr/>
        </p:nvSpPr>
        <p:spPr bwMode="auto">
          <a:xfrm>
            <a:off x="7343775"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20</a:t>
            </a:r>
          </a:p>
        </p:txBody>
      </p:sp>
      <p:sp>
        <p:nvSpPr>
          <p:cNvPr id="105522" name="Text Box 166"/>
          <p:cNvSpPr txBox="1">
            <a:spLocks noChangeArrowheads="1"/>
          </p:cNvSpPr>
          <p:nvPr/>
        </p:nvSpPr>
        <p:spPr bwMode="auto">
          <a:xfrm>
            <a:off x="2159000" y="39004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0</a:t>
            </a:r>
          </a:p>
        </p:txBody>
      </p:sp>
      <p:sp>
        <p:nvSpPr>
          <p:cNvPr id="105523" name="Text Box 167"/>
          <p:cNvSpPr txBox="1">
            <a:spLocks noChangeArrowheads="1"/>
          </p:cNvSpPr>
          <p:nvPr/>
        </p:nvSpPr>
        <p:spPr bwMode="auto">
          <a:xfrm>
            <a:off x="1984375" y="36687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0</a:t>
            </a:r>
          </a:p>
        </p:txBody>
      </p:sp>
      <p:sp>
        <p:nvSpPr>
          <p:cNvPr id="105524" name="Text Box 168"/>
          <p:cNvSpPr txBox="1">
            <a:spLocks noChangeArrowheads="1"/>
          </p:cNvSpPr>
          <p:nvPr/>
        </p:nvSpPr>
        <p:spPr bwMode="auto">
          <a:xfrm>
            <a:off x="1984375" y="328295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4</a:t>
            </a:r>
          </a:p>
        </p:txBody>
      </p:sp>
      <p:sp>
        <p:nvSpPr>
          <p:cNvPr id="105525" name="Text Box 169"/>
          <p:cNvSpPr txBox="1">
            <a:spLocks noChangeArrowheads="1"/>
          </p:cNvSpPr>
          <p:nvPr/>
        </p:nvSpPr>
        <p:spPr bwMode="auto">
          <a:xfrm>
            <a:off x="1984375" y="29098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8</a:t>
            </a:r>
          </a:p>
        </p:txBody>
      </p:sp>
      <p:sp>
        <p:nvSpPr>
          <p:cNvPr id="105526" name="Text Box 170"/>
          <p:cNvSpPr txBox="1">
            <a:spLocks noChangeArrowheads="1"/>
          </p:cNvSpPr>
          <p:nvPr/>
        </p:nvSpPr>
        <p:spPr bwMode="auto">
          <a:xfrm>
            <a:off x="1852613" y="2536825"/>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12</a:t>
            </a:r>
          </a:p>
        </p:txBody>
      </p:sp>
      <p:sp>
        <p:nvSpPr>
          <p:cNvPr id="105527" name="Text Box 171"/>
          <p:cNvSpPr txBox="1">
            <a:spLocks noChangeArrowheads="1"/>
          </p:cNvSpPr>
          <p:nvPr/>
        </p:nvSpPr>
        <p:spPr bwMode="auto">
          <a:xfrm>
            <a:off x="1852613" y="1776413"/>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20</a:t>
            </a:r>
          </a:p>
        </p:txBody>
      </p:sp>
      <p:sp>
        <p:nvSpPr>
          <p:cNvPr id="105528" name="Text Box 172"/>
          <p:cNvSpPr txBox="1">
            <a:spLocks noChangeArrowheads="1"/>
          </p:cNvSpPr>
          <p:nvPr/>
        </p:nvSpPr>
        <p:spPr bwMode="auto">
          <a:xfrm>
            <a:off x="1852613" y="1390650"/>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24</a:t>
            </a:r>
          </a:p>
        </p:txBody>
      </p:sp>
      <p:sp>
        <p:nvSpPr>
          <p:cNvPr id="105529" name="Oval 173"/>
          <p:cNvSpPr>
            <a:spLocks noChangeArrowheads="1"/>
          </p:cNvSpPr>
          <p:nvPr/>
        </p:nvSpPr>
        <p:spPr bwMode="auto">
          <a:xfrm>
            <a:off x="3024188" y="3067050"/>
            <a:ext cx="103187"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0" name="Oval 174"/>
          <p:cNvSpPr>
            <a:spLocks noChangeArrowheads="1"/>
          </p:cNvSpPr>
          <p:nvPr/>
        </p:nvSpPr>
        <p:spPr bwMode="auto">
          <a:xfrm>
            <a:off x="2762250" y="345281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1" name="Oval 175"/>
          <p:cNvSpPr>
            <a:spLocks noChangeArrowheads="1"/>
          </p:cNvSpPr>
          <p:nvPr/>
        </p:nvSpPr>
        <p:spPr bwMode="auto">
          <a:xfrm>
            <a:off x="2247900" y="3703638"/>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2" name="Oval 176"/>
          <p:cNvSpPr>
            <a:spLocks noChangeArrowheads="1"/>
          </p:cNvSpPr>
          <p:nvPr/>
        </p:nvSpPr>
        <p:spPr bwMode="auto">
          <a:xfrm>
            <a:off x="2487613" y="3636963"/>
            <a:ext cx="103187"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3" name="Oval 177"/>
          <p:cNvSpPr>
            <a:spLocks noChangeArrowheads="1"/>
          </p:cNvSpPr>
          <p:nvPr/>
        </p:nvSpPr>
        <p:spPr bwMode="auto">
          <a:xfrm>
            <a:off x="3287713" y="22907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4" name="Oval 178"/>
          <p:cNvSpPr>
            <a:spLocks noChangeArrowheads="1"/>
          </p:cNvSpPr>
          <p:nvPr/>
        </p:nvSpPr>
        <p:spPr bwMode="auto">
          <a:xfrm>
            <a:off x="3551238" y="2189163"/>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5" name="Oval 179"/>
          <p:cNvSpPr>
            <a:spLocks noChangeArrowheads="1"/>
          </p:cNvSpPr>
          <p:nvPr/>
        </p:nvSpPr>
        <p:spPr bwMode="auto">
          <a:xfrm>
            <a:off x="3813175" y="2097088"/>
            <a:ext cx="103188"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6" name="Oval 180"/>
          <p:cNvSpPr>
            <a:spLocks noChangeArrowheads="1"/>
          </p:cNvSpPr>
          <p:nvPr/>
        </p:nvSpPr>
        <p:spPr bwMode="auto">
          <a:xfrm>
            <a:off x="4344988" y="190341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7" name="Oval 181"/>
          <p:cNvSpPr>
            <a:spLocks noChangeArrowheads="1"/>
          </p:cNvSpPr>
          <p:nvPr/>
        </p:nvSpPr>
        <p:spPr bwMode="auto">
          <a:xfrm>
            <a:off x="4076700" y="2000250"/>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8" name="Oval 182"/>
          <p:cNvSpPr>
            <a:spLocks noChangeArrowheads="1"/>
          </p:cNvSpPr>
          <p:nvPr/>
        </p:nvSpPr>
        <p:spPr bwMode="auto">
          <a:xfrm>
            <a:off x="4606925" y="1806575"/>
            <a:ext cx="103188"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39" name="Oval 183"/>
          <p:cNvSpPr>
            <a:spLocks noChangeArrowheads="1"/>
          </p:cNvSpPr>
          <p:nvPr/>
        </p:nvSpPr>
        <p:spPr bwMode="auto">
          <a:xfrm>
            <a:off x="4865688" y="1716088"/>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0" name="Oval 184"/>
          <p:cNvSpPr>
            <a:spLocks noChangeArrowheads="1"/>
          </p:cNvSpPr>
          <p:nvPr/>
        </p:nvSpPr>
        <p:spPr bwMode="auto">
          <a:xfrm>
            <a:off x="5384800" y="1508125"/>
            <a:ext cx="103188"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1" name="Oval 185"/>
          <p:cNvSpPr>
            <a:spLocks noChangeArrowheads="1"/>
          </p:cNvSpPr>
          <p:nvPr/>
        </p:nvSpPr>
        <p:spPr bwMode="auto">
          <a:xfrm>
            <a:off x="5127625" y="1604963"/>
            <a:ext cx="103188"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2" name="Oval 186"/>
          <p:cNvSpPr>
            <a:spLocks noChangeArrowheads="1"/>
          </p:cNvSpPr>
          <p:nvPr/>
        </p:nvSpPr>
        <p:spPr bwMode="auto">
          <a:xfrm>
            <a:off x="6716713" y="2671763"/>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3" name="Oval 187"/>
          <p:cNvSpPr>
            <a:spLocks noChangeArrowheads="1"/>
          </p:cNvSpPr>
          <p:nvPr/>
        </p:nvSpPr>
        <p:spPr bwMode="auto">
          <a:xfrm>
            <a:off x="5916613" y="3627438"/>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4" name="Oval 188"/>
          <p:cNvSpPr>
            <a:spLocks noChangeArrowheads="1"/>
          </p:cNvSpPr>
          <p:nvPr/>
        </p:nvSpPr>
        <p:spPr bwMode="auto">
          <a:xfrm>
            <a:off x="6184900" y="3438525"/>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5" name="Oval 189"/>
          <p:cNvSpPr>
            <a:spLocks noChangeArrowheads="1"/>
          </p:cNvSpPr>
          <p:nvPr/>
        </p:nvSpPr>
        <p:spPr bwMode="auto">
          <a:xfrm>
            <a:off x="5648325" y="3703638"/>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6" name="Oval 190"/>
          <p:cNvSpPr>
            <a:spLocks noChangeArrowheads="1"/>
          </p:cNvSpPr>
          <p:nvPr/>
        </p:nvSpPr>
        <p:spPr bwMode="auto">
          <a:xfrm>
            <a:off x="6437313" y="3057525"/>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7" name="Oval 191"/>
          <p:cNvSpPr>
            <a:spLocks noChangeArrowheads="1"/>
          </p:cNvSpPr>
          <p:nvPr/>
        </p:nvSpPr>
        <p:spPr bwMode="auto">
          <a:xfrm>
            <a:off x="6973888" y="25701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8" name="Oval 192"/>
          <p:cNvSpPr>
            <a:spLocks noChangeArrowheads="1"/>
          </p:cNvSpPr>
          <p:nvPr/>
        </p:nvSpPr>
        <p:spPr bwMode="auto">
          <a:xfrm>
            <a:off x="7756525" y="2279650"/>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49" name="Oval 193"/>
          <p:cNvSpPr>
            <a:spLocks noChangeArrowheads="1"/>
          </p:cNvSpPr>
          <p:nvPr/>
        </p:nvSpPr>
        <p:spPr bwMode="auto">
          <a:xfrm>
            <a:off x="7231063" y="24685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50" name="Oval 194"/>
          <p:cNvSpPr>
            <a:spLocks noChangeArrowheads="1"/>
          </p:cNvSpPr>
          <p:nvPr/>
        </p:nvSpPr>
        <p:spPr bwMode="auto">
          <a:xfrm>
            <a:off x="7493000" y="2376488"/>
            <a:ext cx="103188"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51" name="Text Box 196"/>
          <p:cNvSpPr txBox="1">
            <a:spLocks noChangeArrowheads="1"/>
          </p:cNvSpPr>
          <p:nvPr/>
        </p:nvSpPr>
        <p:spPr bwMode="auto">
          <a:xfrm>
            <a:off x="1203325" y="890588"/>
            <a:ext cx="1695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拥塞窗口 </a:t>
            </a:r>
            <a:r>
              <a:rPr kumimoji="1" lang="en-US" altLang="zh-CN" sz="1800">
                <a:solidFill>
                  <a:schemeClr val="folHlink"/>
                </a:solidFill>
                <a:latin typeface="Arial" pitchFamily="34" charset="0"/>
                <a:ea typeface="黑体" pitchFamily="49" charset="-122"/>
              </a:rPr>
              <a:t>cwnd</a:t>
            </a:r>
          </a:p>
        </p:txBody>
      </p:sp>
      <p:sp>
        <p:nvSpPr>
          <p:cNvPr id="105552" name="Text Box 197"/>
          <p:cNvSpPr txBox="1">
            <a:spLocks noChangeArrowheads="1"/>
          </p:cNvSpPr>
          <p:nvPr/>
        </p:nvSpPr>
        <p:spPr bwMode="auto">
          <a:xfrm>
            <a:off x="179388" y="2482850"/>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新的 </a:t>
            </a:r>
            <a:r>
              <a:rPr kumimoji="1" lang="en-US" altLang="zh-CN" sz="1800">
                <a:solidFill>
                  <a:schemeClr val="folHlink"/>
                </a:solidFill>
                <a:latin typeface="Arial" pitchFamily="34" charset="0"/>
                <a:ea typeface="黑体" pitchFamily="49" charset="-122"/>
              </a:rPr>
              <a:t>ssthresh </a:t>
            </a:r>
            <a:r>
              <a:rPr kumimoji="1" lang="zh-CN" altLang="en-US" sz="1800">
                <a:solidFill>
                  <a:schemeClr val="folHlink"/>
                </a:solidFill>
                <a:latin typeface="Arial" pitchFamily="34" charset="0"/>
                <a:ea typeface="黑体" pitchFamily="49" charset="-122"/>
              </a:rPr>
              <a:t>值</a:t>
            </a:r>
          </a:p>
        </p:txBody>
      </p:sp>
      <p:sp>
        <p:nvSpPr>
          <p:cNvPr id="105553" name="Text Box 198"/>
          <p:cNvSpPr txBox="1">
            <a:spLocks noChangeArrowheads="1"/>
          </p:cNvSpPr>
          <p:nvPr/>
        </p:nvSpPr>
        <p:spPr bwMode="auto">
          <a:xfrm>
            <a:off x="5708650" y="10223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网络拥塞</a:t>
            </a:r>
          </a:p>
        </p:txBody>
      </p:sp>
      <p:sp>
        <p:nvSpPr>
          <p:cNvPr id="105554" name="Line 199"/>
          <p:cNvSpPr>
            <a:spLocks noChangeShapeType="1"/>
          </p:cNvSpPr>
          <p:nvPr/>
        </p:nvSpPr>
        <p:spPr bwMode="auto">
          <a:xfrm flipH="1">
            <a:off x="5445125" y="1268413"/>
            <a:ext cx="346075" cy="292100"/>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55" name="Text Box 200"/>
          <p:cNvSpPr txBox="1">
            <a:spLocks noChangeArrowheads="1"/>
          </p:cNvSpPr>
          <p:nvPr/>
        </p:nvSpPr>
        <p:spPr bwMode="auto">
          <a:xfrm>
            <a:off x="3517900" y="3233738"/>
            <a:ext cx="155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指数规律增长</a:t>
            </a:r>
          </a:p>
        </p:txBody>
      </p:sp>
      <p:sp>
        <p:nvSpPr>
          <p:cNvPr id="105556" name="Line 201"/>
          <p:cNvSpPr>
            <a:spLocks noChangeShapeType="1"/>
          </p:cNvSpPr>
          <p:nvPr/>
        </p:nvSpPr>
        <p:spPr bwMode="auto">
          <a:xfrm flipH="1" flipV="1">
            <a:off x="2905125" y="3336925"/>
            <a:ext cx="700088" cy="77788"/>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57" name="Rectangle 202"/>
          <p:cNvSpPr>
            <a:spLocks noChangeArrowheads="1"/>
          </p:cNvSpPr>
          <p:nvPr/>
        </p:nvSpPr>
        <p:spPr bwMode="auto">
          <a:xfrm>
            <a:off x="2378075" y="1484313"/>
            <a:ext cx="219075" cy="2058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58" name="Line 203"/>
          <p:cNvSpPr>
            <a:spLocks noChangeShapeType="1"/>
          </p:cNvSpPr>
          <p:nvPr/>
        </p:nvSpPr>
        <p:spPr bwMode="auto">
          <a:xfrm>
            <a:off x="2378075" y="2333625"/>
            <a:ext cx="963613"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59" name="Rectangle 204"/>
          <p:cNvSpPr>
            <a:spLocks noChangeArrowheads="1"/>
          </p:cNvSpPr>
          <p:nvPr/>
        </p:nvSpPr>
        <p:spPr bwMode="auto">
          <a:xfrm>
            <a:off x="2728913" y="3646488"/>
            <a:ext cx="2803525" cy="153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60" name="Rectangle 205"/>
          <p:cNvSpPr>
            <a:spLocks noChangeArrowheads="1"/>
          </p:cNvSpPr>
          <p:nvPr/>
        </p:nvSpPr>
        <p:spPr bwMode="auto">
          <a:xfrm>
            <a:off x="6146800" y="3646488"/>
            <a:ext cx="2014538" cy="153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61" name="Text Box 206"/>
          <p:cNvSpPr txBox="1">
            <a:spLocks noChangeArrowheads="1"/>
          </p:cNvSpPr>
          <p:nvPr/>
        </p:nvSpPr>
        <p:spPr bwMode="auto">
          <a:xfrm>
            <a:off x="20638" y="2141538"/>
            <a:ext cx="2025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Arial" pitchFamily="34" charset="0"/>
                <a:ea typeface="黑体" pitchFamily="49" charset="-122"/>
              </a:rPr>
              <a:t>ssthresh </a:t>
            </a:r>
            <a:r>
              <a:rPr kumimoji="1" lang="zh-CN" altLang="en-US" sz="1800">
                <a:solidFill>
                  <a:schemeClr val="folHlink"/>
                </a:solidFill>
                <a:latin typeface="Arial" pitchFamily="34" charset="0"/>
                <a:ea typeface="黑体" pitchFamily="49" charset="-122"/>
              </a:rPr>
              <a:t>的初始值</a:t>
            </a:r>
          </a:p>
        </p:txBody>
      </p:sp>
      <p:sp>
        <p:nvSpPr>
          <p:cNvPr id="105562" name="Text Box 207"/>
          <p:cNvSpPr txBox="1">
            <a:spLocks noChangeArrowheads="1"/>
          </p:cNvSpPr>
          <p:nvPr/>
        </p:nvSpPr>
        <p:spPr bwMode="auto">
          <a:xfrm>
            <a:off x="779463" y="3367088"/>
            <a:ext cx="985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5563" name="Line 208"/>
          <p:cNvSpPr>
            <a:spLocks noChangeShapeType="1"/>
          </p:cNvSpPr>
          <p:nvPr/>
        </p:nvSpPr>
        <p:spPr bwMode="auto">
          <a:xfrm>
            <a:off x="1633538" y="3587750"/>
            <a:ext cx="614362" cy="155575"/>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64" name="Text Box 209"/>
          <p:cNvSpPr txBox="1">
            <a:spLocks noChangeArrowheads="1"/>
          </p:cNvSpPr>
          <p:nvPr/>
        </p:nvSpPr>
        <p:spPr bwMode="auto">
          <a:xfrm>
            <a:off x="2403475" y="4259263"/>
            <a:ext cx="985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5565" name="Text Box 210"/>
          <p:cNvSpPr txBox="1">
            <a:spLocks noChangeArrowheads="1"/>
          </p:cNvSpPr>
          <p:nvPr/>
        </p:nvSpPr>
        <p:spPr bwMode="auto">
          <a:xfrm>
            <a:off x="5799138" y="4283075"/>
            <a:ext cx="9858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5566" name="Text Box 211"/>
          <p:cNvSpPr txBox="1">
            <a:spLocks noChangeArrowheads="1"/>
          </p:cNvSpPr>
          <p:nvPr/>
        </p:nvSpPr>
        <p:spPr bwMode="auto">
          <a:xfrm>
            <a:off x="3705225" y="974725"/>
            <a:ext cx="1250950" cy="6413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拥塞避免</a:t>
            </a:r>
          </a:p>
          <a:p>
            <a:pPr algn="ctr" eaLnBrk="1" hangingPunct="1"/>
            <a:r>
              <a:rPr kumimoji="1" lang="zh-CN" altLang="en-US" sz="1800">
                <a:solidFill>
                  <a:schemeClr val="folHlink"/>
                </a:solidFill>
                <a:latin typeface="Arial" pitchFamily="34" charset="0"/>
                <a:ea typeface="黑体" pitchFamily="49" charset="-122"/>
              </a:rPr>
              <a:t>“加法增大”</a:t>
            </a:r>
          </a:p>
        </p:txBody>
      </p:sp>
      <p:sp>
        <p:nvSpPr>
          <p:cNvPr id="105567" name="Text Box 212"/>
          <p:cNvSpPr txBox="1">
            <a:spLocks noChangeArrowheads="1"/>
          </p:cNvSpPr>
          <p:nvPr/>
        </p:nvSpPr>
        <p:spPr bwMode="auto">
          <a:xfrm>
            <a:off x="6867525" y="1381125"/>
            <a:ext cx="1250950" cy="6413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拥塞避免</a:t>
            </a:r>
          </a:p>
          <a:p>
            <a:pPr algn="ctr" eaLnBrk="1" hangingPunct="1"/>
            <a:r>
              <a:rPr kumimoji="1" lang="zh-CN" altLang="en-US" sz="1800">
                <a:solidFill>
                  <a:schemeClr val="folHlink"/>
                </a:solidFill>
                <a:latin typeface="Arial" pitchFamily="34" charset="0"/>
                <a:ea typeface="黑体" pitchFamily="49" charset="-122"/>
              </a:rPr>
              <a:t>“加法增大”</a:t>
            </a:r>
          </a:p>
        </p:txBody>
      </p:sp>
      <p:sp>
        <p:nvSpPr>
          <p:cNvPr id="105568" name="Line 213"/>
          <p:cNvSpPr>
            <a:spLocks noChangeShapeType="1"/>
          </p:cNvSpPr>
          <p:nvPr/>
        </p:nvSpPr>
        <p:spPr bwMode="auto">
          <a:xfrm rot="10800000">
            <a:off x="2378075" y="2719388"/>
            <a:ext cx="4645025"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69" name="Line 214"/>
          <p:cNvSpPr>
            <a:spLocks noChangeShapeType="1"/>
          </p:cNvSpPr>
          <p:nvPr/>
        </p:nvSpPr>
        <p:spPr bwMode="auto">
          <a:xfrm flipV="1">
            <a:off x="2378075" y="1558925"/>
            <a:ext cx="4194175" cy="1588"/>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70" name="Freeform 215"/>
          <p:cNvSpPr>
            <a:spLocks/>
          </p:cNvSpPr>
          <p:nvPr/>
        </p:nvSpPr>
        <p:spPr bwMode="auto">
          <a:xfrm>
            <a:off x="2203450" y="1560513"/>
            <a:ext cx="5772150" cy="2205037"/>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71" name="Rectangle 2"/>
          <p:cNvSpPr>
            <a:spLocks noGrp="1" noChangeArrowheads="1"/>
          </p:cNvSpPr>
          <p:nvPr>
            <p:ph type="title"/>
          </p:nvPr>
        </p:nvSpPr>
        <p:spPr>
          <a:xfrm>
            <a:off x="811213" y="188913"/>
            <a:ext cx="7793037" cy="623887"/>
          </a:xfrm>
        </p:spPr>
        <p:txBody>
          <a:bodyPr/>
          <a:lstStyle/>
          <a:p>
            <a:pPr algn="ctr" eaLnBrk="1" hangingPunct="1"/>
            <a:r>
              <a:rPr lang="zh-CN" altLang="en-US" sz="3200" smtClean="0"/>
              <a:t>慢开始和拥塞避免算法的实现举例 </a:t>
            </a:r>
          </a:p>
        </p:txBody>
      </p:sp>
      <p:sp>
        <p:nvSpPr>
          <p:cNvPr id="105572" name="Line 3"/>
          <p:cNvSpPr>
            <a:spLocks noChangeShapeType="1"/>
          </p:cNvSpPr>
          <p:nvPr/>
        </p:nvSpPr>
        <p:spPr bwMode="auto">
          <a:xfrm>
            <a:off x="450850" y="-1035050"/>
            <a:ext cx="277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73" name="Text Box 4"/>
          <p:cNvSpPr txBox="1">
            <a:spLocks noChangeArrowheads="1"/>
          </p:cNvSpPr>
          <p:nvPr/>
        </p:nvSpPr>
        <p:spPr bwMode="auto">
          <a:xfrm>
            <a:off x="323850" y="4868863"/>
            <a:ext cx="864711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假定拥塞窗口的数值增长到 </a:t>
            </a:r>
            <a:r>
              <a:rPr lang="en-US" altLang="zh-CN">
                <a:solidFill>
                  <a:srgbClr val="333399"/>
                </a:solidFill>
                <a:latin typeface="Arial" pitchFamily="34" charset="0"/>
                <a:ea typeface="黑体" pitchFamily="49" charset="-122"/>
              </a:rPr>
              <a:t>24 </a:t>
            </a:r>
            <a:r>
              <a:rPr lang="zh-CN" altLang="en-US">
                <a:solidFill>
                  <a:srgbClr val="333399"/>
                </a:solidFill>
                <a:latin typeface="Arial" pitchFamily="34" charset="0"/>
                <a:ea typeface="黑体" pitchFamily="49" charset="-122"/>
              </a:rPr>
              <a:t>时，网络出现超时，表明网络拥塞了。 </a:t>
            </a:r>
          </a:p>
        </p:txBody>
      </p:sp>
      <p:sp>
        <p:nvSpPr>
          <p:cNvPr id="536692" name="Line 116"/>
          <p:cNvSpPr>
            <a:spLocks noChangeShapeType="1"/>
          </p:cNvSpPr>
          <p:nvPr/>
        </p:nvSpPr>
        <p:spPr bwMode="auto">
          <a:xfrm>
            <a:off x="4716463" y="1052513"/>
            <a:ext cx="647700" cy="4318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575" name="Text Box 195"/>
          <p:cNvSpPr txBox="1">
            <a:spLocks noChangeArrowheads="1"/>
          </p:cNvSpPr>
          <p:nvPr/>
        </p:nvSpPr>
        <p:spPr bwMode="auto">
          <a:xfrm>
            <a:off x="8027988" y="349250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传输轮次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536692"/>
                                        </p:tgtEl>
                                        <p:attrNameLst>
                                          <p:attrName>style.visibility</p:attrName>
                                        </p:attrNameLst>
                                      </p:cBhvr>
                                      <p:to>
                                        <p:strVal val="visible"/>
                                      </p:to>
                                    </p:set>
                                    <p:animEffect transition="in" filter="wipe(left)">
                                      <p:cBhvr>
                                        <p:cTn id="7" dur="1000"/>
                                        <p:tgtEl>
                                          <p:spTgt spid="536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692" grpId="0" animBg="1"/>
    </p:bld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Line 119"/>
          <p:cNvSpPr>
            <a:spLocks noChangeShapeType="1"/>
          </p:cNvSpPr>
          <p:nvPr/>
        </p:nvSpPr>
        <p:spPr bwMode="auto">
          <a:xfrm>
            <a:off x="2290763" y="1174750"/>
            <a:ext cx="0" cy="2703513"/>
          </a:xfrm>
          <a:prstGeom prst="line">
            <a:avLst/>
          </a:prstGeom>
          <a:noFill/>
          <a:ln w="9525">
            <a:solidFill>
              <a:schemeClr val="folHlink"/>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99" name="Text Box 120"/>
          <p:cNvSpPr txBox="1">
            <a:spLocks noChangeArrowheads="1"/>
          </p:cNvSpPr>
          <p:nvPr/>
        </p:nvSpPr>
        <p:spPr bwMode="auto">
          <a:xfrm>
            <a:off x="7854950"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22</a:t>
            </a:r>
          </a:p>
        </p:txBody>
      </p:sp>
      <p:sp>
        <p:nvSpPr>
          <p:cNvPr id="106500" name="Text Box 121"/>
          <p:cNvSpPr txBox="1">
            <a:spLocks noChangeArrowheads="1"/>
          </p:cNvSpPr>
          <p:nvPr/>
        </p:nvSpPr>
        <p:spPr bwMode="auto">
          <a:xfrm>
            <a:off x="1852613" y="2162175"/>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16</a:t>
            </a:r>
          </a:p>
        </p:txBody>
      </p:sp>
      <p:sp>
        <p:nvSpPr>
          <p:cNvPr id="106501" name="Line 122"/>
          <p:cNvSpPr>
            <a:spLocks noChangeShapeType="1"/>
          </p:cNvSpPr>
          <p:nvPr/>
        </p:nvSpPr>
        <p:spPr bwMode="auto">
          <a:xfrm>
            <a:off x="6157913" y="1570038"/>
            <a:ext cx="0" cy="1158875"/>
          </a:xfrm>
          <a:prstGeom prst="line">
            <a:avLst/>
          </a:prstGeom>
          <a:noFill/>
          <a:ln w="9525">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2" name="Text Box 123"/>
          <p:cNvSpPr txBox="1">
            <a:spLocks noChangeArrowheads="1"/>
          </p:cNvSpPr>
          <p:nvPr/>
        </p:nvSpPr>
        <p:spPr bwMode="auto">
          <a:xfrm>
            <a:off x="5441950" y="1917700"/>
            <a:ext cx="1377950" cy="3667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a:t>
            </a:r>
            <a:r>
              <a:rPr kumimoji="1" lang="zh-CN" altLang="en-US" sz="1800">
                <a:solidFill>
                  <a:schemeClr val="folHlink"/>
                </a:solidFill>
                <a:latin typeface="Arial" pitchFamily="34" charset="0"/>
                <a:ea typeface="黑体" pitchFamily="49" charset="-122"/>
              </a:rPr>
              <a:t>乘法减小”</a:t>
            </a:r>
          </a:p>
        </p:txBody>
      </p:sp>
      <p:sp>
        <p:nvSpPr>
          <p:cNvPr id="106503" name="Rectangle 124"/>
          <p:cNvSpPr>
            <a:spLocks noChangeArrowheads="1"/>
          </p:cNvSpPr>
          <p:nvPr/>
        </p:nvSpPr>
        <p:spPr bwMode="auto">
          <a:xfrm>
            <a:off x="6750050" y="1290638"/>
            <a:ext cx="1558925" cy="1519237"/>
          </a:xfrm>
          <a:prstGeom prst="rect">
            <a:avLst/>
          </a:prstGeom>
          <a:solidFill>
            <a:srgbClr val="FF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4" name="Rectangle 125"/>
          <p:cNvSpPr>
            <a:spLocks noChangeArrowheads="1"/>
          </p:cNvSpPr>
          <p:nvPr/>
        </p:nvSpPr>
        <p:spPr bwMode="auto">
          <a:xfrm>
            <a:off x="3319463" y="1008063"/>
            <a:ext cx="2174875" cy="15176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5" name="Rectangle 126"/>
          <p:cNvSpPr>
            <a:spLocks noChangeArrowheads="1"/>
          </p:cNvSpPr>
          <p:nvPr/>
        </p:nvSpPr>
        <p:spPr bwMode="auto">
          <a:xfrm>
            <a:off x="5711825" y="3895725"/>
            <a:ext cx="1073150" cy="828675"/>
          </a:xfrm>
          <a:prstGeom prst="rect">
            <a:avLst/>
          </a:prstGeom>
          <a:solidFill>
            <a:srgbClr val="CC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6" name="Rectangle 127"/>
          <p:cNvSpPr>
            <a:spLocks noChangeArrowheads="1"/>
          </p:cNvSpPr>
          <p:nvPr/>
        </p:nvSpPr>
        <p:spPr bwMode="auto">
          <a:xfrm>
            <a:off x="2298700" y="3886200"/>
            <a:ext cx="1073150" cy="828675"/>
          </a:xfrm>
          <a:prstGeom prst="rect">
            <a:avLst/>
          </a:prstGeom>
          <a:solidFill>
            <a:srgbClr val="CC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7" name="Line 128"/>
          <p:cNvSpPr>
            <a:spLocks noChangeShapeType="1"/>
          </p:cNvSpPr>
          <p:nvPr/>
        </p:nvSpPr>
        <p:spPr bwMode="auto">
          <a:xfrm>
            <a:off x="2290763" y="3878263"/>
            <a:ext cx="6221412" cy="0"/>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8" name="Line 129"/>
          <p:cNvSpPr>
            <a:spLocks noChangeShapeType="1"/>
          </p:cNvSpPr>
          <p:nvPr/>
        </p:nvSpPr>
        <p:spPr bwMode="auto">
          <a:xfrm>
            <a:off x="2554288" y="3800475"/>
            <a:ext cx="0" cy="77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09" name="Line 130"/>
          <p:cNvSpPr>
            <a:spLocks noChangeShapeType="1"/>
          </p:cNvSpPr>
          <p:nvPr/>
        </p:nvSpPr>
        <p:spPr bwMode="auto">
          <a:xfrm>
            <a:off x="281622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0" name="Line 131"/>
          <p:cNvSpPr>
            <a:spLocks noChangeShapeType="1"/>
          </p:cNvSpPr>
          <p:nvPr/>
        </p:nvSpPr>
        <p:spPr bwMode="auto">
          <a:xfrm>
            <a:off x="3079750"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1" name="Line 132"/>
          <p:cNvSpPr>
            <a:spLocks noChangeShapeType="1"/>
          </p:cNvSpPr>
          <p:nvPr/>
        </p:nvSpPr>
        <p:spPr bwMode="auto">
          <a:xfrm>
            <a:off x="334168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2" name="Line 133"/>
          <p:cNvSpPr>
            <a:spLocks noChangeShapeType="1"/>
          </p:cNvSpPr>
          <p:nvPr/>
        </p:nvSpPr>
        <p:spPr bwMode="auto">
          <a:xfrm>
            <a:off x="3605213"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3" name="Line 134"/>
          <p:cNvSpPr>
            <a:spLocks noChangeShapeType="1"/>
          </p:cNvSpPr>
          <p:nvPr/>
        </p:nvSpPr>
        <p:spPr bwMode="auto">
          <a:xfrm>
            <a:off x="386873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4" name="Line 135"/>
          <p:cNvSpPr>
            <a:spLocks noChangeShapeType="1"/>
          </p:cNvSpPr>
          <p:nvPr/>
        </p:nvSpPr>
        <p:spPr bwMode="auto">
          <a:xfrm>
            <a:off x="413067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5" name="Line 136"/>
          <p:cNvSpPr>
            <a:spLocks noChangeShapeType="1"/>
          </p:cNvSpPr>
          <p:nvPr/>
        </p:nvSpPr>
        <p:spPr bwMode="auto">
          <a:xfrm>
            <a:off x="4394200"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6" name="Line 137"/>
          <p:cNvSpPr>
            <a:spLocks noChangeShapeType="1"/>
          </p:cNvSpPr>
          <p:nvPr/>
        </p:nvSpPr>
        <p:spPr bwMode="auto">
          <a:xfrm>
            <a:off x="465613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7" name="Line 138"/>
          <p:cNvSpPr>
            <a:spLocks noChangeShapeType="1"/>
          </p:cNvSpPr>
          <p:nvPr/>
        </p:nvSpPr>
        <p:spPr bwMode="auto">
          <a:xfrm>
            <a:off x="4919663"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8" name="Line 139"/>
          <p:cNvSpPr>
            <a:spLocks noChangeShapeType="1"/>
          </p:cNvSpPr>
          <p:nvPr/>
        </p:nvSpPr>
        <p:spPr bwMode="auto">
          <a:xfrm>
            <a:off x="518318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19" name="Line 140"/>
          <p:cNvSpPr>
            <a:spLocks noChangeShapeType="1"/>
          </p:cNvSpPr>
          <p:nvPr/>
        </p:nvSpPr>
        <p:spPr bwMode="auto">
          <a:xfrm>
            <a:off x="544512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0" name="Line 141"/>
          <p:cNvSpPr>
            <a:spLocks noChangeShapeType="1"/>
          </p:cNvSpPr>
          <p:nvPr/>
        </p:nvSpPr>
        <p:spPr bwMode="auto">
          <a:xfrm>
            <a:off x="5708650"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1" name="Line 142"/>
          <p:cNvSpPr>
            <a:spLocks noChangeShapeType="1"/>
          </p:cNvSpPr>
          <p:nvPr/>
        </p:nvSpPr>
        <p:spPr bwMode="auto">
          <a:xfrm>
            <a:off x="5970588" y="3800475"/>
            <a:ext cx="0" cy="77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2" name="Line 143"/>
          <p:cNvSpPr>
            <a:spLocks noChangeShapeType="1"/>
          </p:cNvSpPr>
          <p:nvPr/>
        </p:nvSpPr>
        <p:spPr bwMode="auto">
          <a:xfrm>
            <a:off x="6234113"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3" name="Line 144"/>
          <p:cNvSpPr>
            <a:spLocks noChangeShapeType="1"/>
          </p:cNvSpPr>
          <p:nvPr/>
        </p:nvSpPr>
        <p:spPr bwMode="auto">
          <a:xfrm>
            <a:off x="649763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4" name="Line 145"/>
          <p:cNvSpPr>
            <a:spLocks noChangeShapeType="1"/>
          </p:cNvSpPr>
          <p:nvPr/>
        </p:nvSpPr>
        <p:spPr bwMode="auto">
          <a:xfrm>
            <a:off x="675957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5" name="Line 146"/>
          <p:cNvSpPr>
            <a:spLocks noChangeShapeType="1"/>
          </p:cNvSpPr>
          <p:nvPr/>
        </p:nvSpPr>
        <p:spPr bwMode="auto">
          <a:xfrm>
            <a:off x="7023100"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6" name="Line 147"/>
          <p:cNvSpPr>
            <a:spLocks noChangeShapeType="1"/>
          </p:cNvSpPr>
          <p:nvPr/>
        </p:nvSpPr>
        <p:spPr bwMode="auto">
          <a:xfrm>
            <a:off x="728503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7" name="Line 148"/>
          <p:cNvSpPr>
            <a:spLocks noChangeShapeType="1"/>
          </p:cNvSpPr>
          <p:nvPr/>
        </p:nvSpPr>
        <p:spPr bwMode="auto">
          <a:xfrm>
            <a:off x="7548563"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8" name="Line 149"/>
          <p:cNvSpPr>
            <a:spLocks noChangeShapeType="1"/>
          </p:cNvSpPr>
          <p:nvPr/>
        </p:nvSpPr>
        <p:spPr bwMode="auto">
          <a:xfrm>
            <a:off x="7812088"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29" name="Line 150"/>
          <p:cNvSpPr>
            <a:spLocks noChangeShapeType="1"/>
          </p:cNvSpPr>
          <p:nvPr/>
        </p:nvSpPr>
        <p:spPr bwMode="auto">
          <a:xfrm>
            <a:off x="8074025" y="3724275"/>
            <a:ext cx="0" cy="153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30" name="Line 151"/>
          <p:cNvSpPr>
            <a:spLocks noChangeShapeType="1"/>
          </p:cNvSpPr>
          <p:nvPr/>
        </p:nvSpPr>
        <p:spPr bwMode="auto">
          <a:xfrm>
            <a:off x="2290763" y="3492500"/>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31" name="Line 152"/>
          <p:cNvSpPr>
            <a:spLocks noChangeShapeType="1"/>
          </p:cNvSpPr>
          <p:nvPr/>
        </p:nvSpPr>
        <p:spPr bwMode="auto">
          <a:xfrm>
            <a:off x="2290763" y="3105150"/>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32" name="Line 153"/>
          <p:cNvSpPr>
            <a:spLocks noChangeShapeType="1"/>
          </p:cNvSpPr>
          <p:nvPr/>
        </p:nvSpPr>
        <p:spPr bwMode="auto">
          <a:xfrm>
            <a:off x="2290763" y="2719388"/>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33" name="Line 154"/>
          <p:cNvSpPr>
            <a:spLocks noChangeShapeType="1"/>
          </p:cNvSpPr>
          <p:nvPr/>
        </p:nvSpPr>
        <p:spPr bwMode="auto">
          <a:xfrm>
            <a:off x="2290763" y="2333625"/>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34" name="Line 155"/>
          <p:cNvSpPr>
            <a:spLocks noChangeShapeType="1"/>
          </p:cNvSpPr>
          <p:nvPr/>
        </p:nvSpPr>
        <p:spPr bwMode="auto">
          <a:xfrm>
            <a:off x="2290763" y="1947863"/>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35" name="Line 156"/>
          <p:cNvSpPr>
            <a:spLocks noChangeShapeType="1"/>
          </p:cNvSpPr>
          <p:nvPr/>
        </p:nvSpPr>
        <p:spPr bwMode="auto">
          <a:xfrm>
            <a:off x="2290763" y="1560513"/>
            <a:ext cx="2635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36" name="Text Box 157"/>
          <p:cNvSpPr txBox="1">
            <a:spLocks noChangeArrowheads="1"/>
          </p:cNvSpPr>
          <p:nvPr/>
        </p:nvSpPr>
        <p:spPr bwMode="auto">
          <a:xfrm>
            <a:off x="2641600" y="39004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a:t>
            </a:r>
          </a:p>
        </p:txBody>
      </p:sp>
      <p:sp>
        <p:nvSpPr>
          <p:cNvPr id="106537" name="Text Box 158"/>
          <p:cNvSpPr txBox="1">
            <a:spLocks noChangeArrowheads="1"/>
          </p:cNvSpPr>
          <p:nvPr/>
        </p:nvSpPr>
        <p:spPr bwMode="auto">
          <a:xfrm>
            <a:off x="3167063" y="3900488"/>
            <a:ext cx="298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4</a:t>
            </a:r>
          </a:p>
        </p:txBody>
      </p:sp>
      <p:sp>
        <p:nvSpPr>
          <p:cNvPr id="106538" name="Text Box 159"/>
          <p:cNvSpPr txBox="1">
            <a:spLocks noChangeArrowheads="1"/>
          </p:cNvSpPr>
          <p:nvPr/>
        </p:nvSpPr>
        <p:spPr bwMode="auto">
          <a:xfrm>
            <a:off x="3692525" y="39004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6</a:t>
            </a:r>
          </a:p>
        </p:txBody>
      </p:sp>
      <p:sp>
        <p:nvSpPr>
          <p:cNvPr id="106539" name="Text Box 160"/>
          <p:cNvSpPr txBox="1">
            <a:spLocks noChangeArrowheads="1"/>
          </p:cNvSpPr>
          <p:nvPr/>
        </p:nvSpPr>
        <p:spPr bwMode="auto">
          <a:xfrm>
            <a:off x="4233863" y="3900488"/>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8</a:t>
            </a:r>
          </a:p>
        </p:txBody>
      </p:sp>
      <p:sp>
        <p:nvSpPr>
          <p:cNvPr id="106540" name="Text Box 161"/>
          <p:cNvSpPr txBox="1">
            <a:spLocks noChangeArrowheads="1"/>
          </p:cNvSpPr>
          <p:nvPr/>
        </p:nvSpPr>
        <p:spPr bwMode="auto">
          <a:xfrm>
            <a:off x="4672013"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10</a:t>
            </a:r>
          </a:p>
        </p:txBody>
      </p:sp>
      <p:sp>
        <p:nvSpPr>
          <p:cNvPr id="106541" name="Text Box 162"/>
          <p:cNvSpPr txBox="1">
            <a:spLocks noChangeArrowheads="1"/>
          </p:cNvSpPr>
          <p:nvPr/>
        </p:nvSpPr>
        <p:spPr bwMode="auto">
          <a:xfrm>
            <a:off x="5240338"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12</a:t>
            </a:r>
          </a:p>
        </p:txBody>
      </p:sp>
      <p:sp>
        <p:nvSpPr>
          <p:cNvPr id="106542" name="Text Box 163"/>
          <p:cNvSpPr txBox="1">
            <a:spLocks noChangeArrowheads="1"/>
          </p:cNvSpPr>
          <p:nvPr/>
        </p:nvSpPr>
        <p:spPr bwMode="auto">
          <a:xfrm>
            <a:off x="5737225"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14</a:t>
            </a:r>
          </a:p>
        </p:txBody>
      </p:sp>
      <p:sp>
        <p:nvSpPr>
          <p:cNvPr id="106543" name="Text Box 164"/>
          <p:cNvSpPr txBox="1">
            <a:spLocks noChangeArrowheads="1"/>
          </p:cNvSpPr>
          <p:nvPr/>
        </p:nvSpPr>
        <p:spPr bwMode="auto">
          <a:xfrm>
            <a:off x="6262688"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16</a:t>
            </a:r>
          </a:p>
        </p:txBody>
      </p:sp>
      <p:sp>
        <p:nvSpPr>
          <p:cNvPr id="106544" name="Text Box 165"/>
          <p:cNvSpPr txBox="1">
            <a:spLocks noChangeArrowheads="1"/>
          </p:cNvSpPr>
          <p:nvPr/>
        </p:nvSpPr>
        <p:spPr bwMode="auto">
          <a:xfrm>
            <a:off x="6818313"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18</a:t>
            </a:r>
          </a:p>
        </p:txBody>
      </p:sp>
      <p:sp>
        <p:nvSpPr>
          <p:cNvPr id="106545" name="Text Box 166"/>
          <p:cNvSpPr txBox="1">
            <a:spLocks noChangeArrowheads="1"/>
          </p:cNvSpPr>
          <p:nvPr/>
        </p:nvSpPr>
        <p:spPr bwMode="auto">
          <a:xfrm>
            <a:off x="7343775" y="3900488"/>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20</a:t>
            </a:r>
          </a:p>
        </p:txBody>
      </p:sp>
      <p:sp>
        <p:nvSpPr>
          <p:cNvPr id="106546" name="Text Box 167"/>
          <p:cNvSpPr txBox="1">
            <a:spLocks noChangeArrowheads="1"/>
          </p:cNvSpPr>
          <p:nvPr/>
        </p:nvSpPr>
        <p:spPr bwMode="auto">
          <a:xfrm>
            <a:off x="2159000" y="39004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0</a:t>
            </a:r>
          </a:p>
        </p:txBody>
      </p:sp>
      <p:sp>
        <p:nvSpPr>
          <p:cNvPr id="106547" name="Text Box 168"/>
          <p:cNvSpPr txBox="1">
            <a:spLocks noChangeArrowheads="1"/>
          </p:cNvSpPr>
          <p:nvPr/>
        </p:nvSpPr>
        <p:spPr bwMode="auto">
          <a:xfrm>
            <a:off x="1984375" y="36687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0</a:t>
            </a:r>
          </a:p>
        </p:txBody>
      </p:sp>
      <p:sp>
        <p:nvSpPr>
          <p:cNvPr id="106548" name="Text Box 169"/>
          <p:cNvSpPr txBox="1">
            <a:spLocks noChangeArrowheads="1"/>
          </p:cNvSpPr>
          <p:nvPr/>
        </p:nvSpPr>
        <p:spPr bwMode="auto">
          <a:xfrm>
            <a:off x="1984375" y="328295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4</a:t>
            </a:r>
          </a:p>
        </p:txBody>
      </p:sp>
      <p:sp>
        <p:nvSpPr>
          <p:cNvPr id="106549" name="Text Box 170"/>
          <p:cNvSpPr txBox="1">
            <a:spLocks noChangeArrowheads="1"/>
          </p:cNvSpPr>
          <p:nvPr/>
        </p:nvSpPr>
        <p:spPr bwMode="auto">
          <a:xfrm>
            <a:off x="1984375" y="2909888"/>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8</a:t>
            </a:r>
          </a:p>
        </p:txBody>
      </p:sp>
      <p:sp>
        <p:nvSpPr>
          <p:cNvPr id="106550" name="Text Box 171"/>
          <p:cNvSpPr txBox="1">
            <a:spLocks noChangeArrowheads="1"/>
          </p:cNvSpPr>
          <p:nvPr/>
        </p:nvSpPr>
        <p:spPr bwMode="auto">
          <a:xfrm>
            <a:off x="1852613" y="2536825"/>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12</a:t>
            </a:r>
          </a:p>
        </p:txBody>
      </p:sp>
      <p:sp>
        <p:nvSpPr>
          <p:cNvPr id="106551" name="Text Box 172"/>
          <p:cNvSpPr txBox="1">
            <a:spLocks noChangeArrowheads="1"/>
          </p:cNvSpPr>
          <p:nvPr/>
        </p:nvSpPr>
        <p:spPr bwMode="auto">
          <a:xfrm>
            <a:off x="1852613" y="1776413"/>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20</a:t>
            </a:r>
          </a:p>
        </p:txBody>
      </p:sp>
      <p:sp>
        <p:nvSpPr>
          <p:cNvPr id="106552" name="Text Box 173"/>
          <p:cNvSpPr txBox="1">
            <a:spLocks noChangeArrowheads="1"/>
          </p:cNvSpPr>
          <p:nvPr/>
        </p:nvSpPr>
        <p:spPr bwMode="auto">
          <a:xfrm>
            <a:off x="1852613" y="1390650"/>
            <a:ext cx="40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600">
                <a:solidFill>
                  <a:schemeClr val="folHlink"/>
                </a:solidFill>
                <a:latin typeface="Arial" pitchFamily="34" charset="0"/>
                <a:ea typeface="黑体" pitchFamily="49" charset="-122"/>
              </a:rPr>
              <a:t>24</a:t>
            </a:r>
          </a:p>
        </p:txBody>
      </p:sp>
      <p:sp>
        <p:nvSpPr>
          <p:cNvPr id="106553" name="Oval 174"/>
          <p:cNvSpPr>
            <a:spLocks noChangeArrowheads="1"/>
          </p:cNvSpPr>
          <p:nvPr/>
        </p:nvSpPr>
        <p:spPr bwMode="auto">
          <a:xfrm>
            <a:off x="3024188" y="3067050"/>
            <a:ext cx="103187"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54" name="Oval 175"/>
          <p:cNvSpPr>
            <a:spLocks noChangeArrowheads="1"/>
          </p:cNvSpPr>
          <p:nvPr/>
        </p:nvSpPr>
        <p:spPr bwMode="auto">
          <a:xfrm>
            <a:off x="2762250" y="345281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55" name="Oval 176"/>
          <p:cNvSpPr>
            <a:spLocks noChangeArrowheads="1"/>
          </p:cNvSpPr>
          <p:nvPr/>
        </p:nvSpPr>
        <p:spPr bwMode="auto">
          <a:xfrm>
            <a:off x="2247900" y="3703638"/>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56" name="Oval 177"/>
          <p:cNvSpPr>
            <a:spLocks noChangeArrowheads="1"/>
          </p:cNvSpPr>
          <p:nvPr/>
        </p:nvSpPr>
        <p:spPr bwMode="auto">
          <a:xfrm>
            <a:off x="2487613" y="3636963"/>
            <a:ext cx="103187"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57" name="Oval 178"/>
          <p:cNvSpPr>
            <a:spLocks noChangeArrowheads="1"/>
          </p:cNvSpPr>
          <p:nvPr/>
        </p:nvSpPr>
        <p:spPr bwMode="auto">
          <a:xfrm>
            <a:off x="3287713" y="22907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58" name="Oval 179"/>
          <p:cNvSpPr>
            <a:spLocks noChangeArrowheads="1"/>
          </p:cNvSpPr>
          <p:nvPr/>
        </p:nvSpPr>
        <p:spPr bwMode="auto">
          <a:xfrm>
            <a:off x="3551238" y="2189163"/>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59" name="Oval 180"/>
          <p:cNvSpPr>
            <a:spLocks noChangeArrowheads="1"/>
          </p:cNvSpPr>
          <p:nvPr/>
        </p:nvSpPr>
        <p:spPr bwMode="auto">
          <a:xfrm>
            <a:off x="3813175" y="2097088"/>
            <a:ext cx="103188"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0" name="Oval 181"/>
          <p:cNvSpPr>
            <a:spLocks noChangeArrowheads="1"/>
          </p:cNvSpPr>
          <p:nvPr/>
        </p:nvSpPr>
        <p:spPr bwMode="auto">
          <a:xfrm>
            <a:off x="4344988" y="190341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1" name="Oval 182"/>
          <p:cNvSpPr>
            <a:spLocks noChangeArrowheads="1"/>
          </p:cNvSpPr>
          <p:nvPr/>
        </p:nvSpPr>
        <p:spPr bwMode="auto">
          <a:xfrm>
            <a:off x="4076700" y="2000250"/>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2" name="Oval 183"/>
          <p:cNvSpPr>
            <a:spLocks noChangeArrowheads="1"/>
          </p:cNvSpPr>
          <p:nvPr/>
        </p:nvSpPr>
        <p:spPr bwMode="auto">
          <a:xfrm>
            <a:off x="4606925" y="1806575"/>
            <a:ext cx="103188"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3" name="Oval 184"/>
          <p:cNvSpPr>
            <a:spLocks noChangeArrowheads="1"/>
          </p:cNvSpPr>
          <p:nvPr/>
        </p:nvSpPr>
        <p:spPr bwMode="auto">
          <a:xfrm>
            <a:off x="4865688" y="1716088"/>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4" name="Oval 185"/>
          <p:cNvSpPr>
            <a:spLocks noChangeArrowheads="1"/>
          </p:cNvSpPr>
          <p:nvPr/>
        </p:nvSpPr>
        <p:spPr bwMode="auto">
          <a:xfrm>
            <a:off x="5384800" y="1508125"/>
            <a:ext cx="103188"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5" name="Oval 186"/>
          <p:cNvSpPr>
            <a:spLocks noChangeArrowheads="1"/>
          </p:cNvSpPr>
          <p:nvPr/>
        </p:nvSpPr>
        <p:spPr bwMode="auto">
          <a:xfrm>
            <a:off x="5127625" y="1604963"/>
            <a:ext cx="103188"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6" name="Oval 187"/>
          <p:cNvSpPr>
            <a:spLocks noChangeArrowheads="1"/>
          </p:cNvSpPr>
          <p:nvPr/>
        </p:nvSpPr>
        <p:spPr bwMode="auto">
          <a:xfrm>
            <a:off x="6716713" y="2671763"/>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7" name="Oval 188"/>
          <p:cNvSpPr>
            <a:spLocks noChangeArrowheads="1"/>
          </p:cNvSpPr>
          <p:nvPr/>
        </p:nvSpPr>
        <p:spPr bwMode="auto">
          <a:xfrm>
            <a:off x="5916613" y="3627438"/>
            <a:ext cx="101600" cy="88900"/>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8" name="Oval 189"/>
          <p:cNvSpPr>
            <a:spLocks noChangeArrowheads="1"/>
          </p:cNvSpPr>
          <p:nvPr/>
        </p:nvSpPr>
        <p:spPr bwMode="auto">
          <a:xfrm>
            <a:off x="6184900" y="3438525"/>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69" name="Oval 190"/>
          <p:cNvSpPr>
            <a:spLocks noChangeArrowheads="1"/>
          </p:cNvSpPr>
          <p:nvPr/>
        </p:nvSpPr>
        <p:spPr bwMode="auto">
          <a:xfrm>
            <a:off x="5648325" y="3703638"/>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70" name="Oval 191"/>
          <p:cNvSpPr>
            <a:spLocks noChangeArrowheads="1"/>
          </p:cNvSpPr>
          <p:nvPr/>
        </p:nvSpPr>
        <p:spPr bwMode="auto">
          <a:xfrm>
            <a:off x="6437313" y="3057525"/>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71" name="Oval 192"/>
          <p:cNvSpPr>
            <a:spLocks noChangeArrowheads="1"/>
          </p:cNvSpPr>
          <p:nvPr/>
        </p:nvSpPr>
        <p:spPr bwMode="auto">
          <a:xfrm>
            <a:off x="6973888" y="25701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72" name="Oval 193"/>
          <p:cNvSpPr>
            <a:spLocks noChangeArrowheads="1"/>
          </p:cNvSpPr>
          <p:nvPr/>
        </p:nvSpPr>
        <p:spPr bwMode="auto">
          <a:xfrm>
            <a:off x="7756525" y="2279650"/>
            <a:ext cx="101600" cy="90488"/>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73" name="Oval 194"/>
          <p:cNvSpPr>
            <a:spLocks noChangeArrowheads="1"/>
          </p:cNvSpPr>
          <p:nvPr/>
        </p:nvSpPr>
        <p:spPr bwMode="auto">
          <a:xfrm>
            <a:off x="7231063" y="2468563"/>
            <a:ext cx="101600"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74" name="Oval 195"/>
          <p:cNvSpPr>
            <a:spLocks noChangeArrowheads="1"/>
          </p:cNvSpPr>
          <p:nvPr/>
        </p:nvSpPr>
        <p:spPr bwMode="auto">
          <a:xfrm>
            <a:off x="7493000" y="2376488"/>
            <a:ext cx="103188" cy="90487"/>
          </a:xfrm>
          <a:prstGeom prst="ellipse">
            <a:avLst/>
          </a:prstGeom>
          <a:solidFill>
            <a:schemeClr val="folHlink"/>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75" name="Text Box 197"/>
          <p:cNvSpPr txBox="1">
            <a:spLocks noChangeArrowheads="1"/>
          </p:cNvSpPr>
          <p:nvPr/>
        </p:nvSpPr>
        <p:spPr bwMode="auto">
          <a:xfrm>
            <a:off x="1203325" y="890588"/>
            <a:ext cx="1695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拥塞窗口 </a:t>
            </a:r>
            <a:r>
              <a:rPr kumimoji="1" lang="en-US" altLang="zh-CN" sz="1800">
                <a:solidFill>
                  <a:schemeClr val="folHlink"/>
                </a:solidFill>
                <a:latin typeface="Arial" pitchFamily="34" charset="0"/>
                <a:ea typeface="黑体" pitchFamily="49" charset="-122"/>
              </a:rPr>
              <a:t>cwnd</a:t>
            </a:r>
          </a:p>
        </p:txBody>
      </p:sp>
      <p:sp>
        <p:nvSpPr>
          <p:cNvPr id="106576" name="Text Box 198"/>
          <p:cNvSpPr txBox="1">
            <a:spLocks noChangeArrowheads="1"/>
          </p:cNvSpPr>
          <p:nvPr/>
        </p:nvSpPr>
        <p:spPr bwMode="auto">
          <a:xfrm>
            <a:off x="179388" y="2482850"/>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新的 </a:t>
            </a:r>
            <a:r>
              <a:rPr kumimoji="1" lang="en-US" altLang="zh-CN" sz="1800">
                <a:solidFill>
                  <a:schemeClr val="folHlink"/>
                </a:solidFill>
                <a:latin typeface="Arial" pitchFamily="34" charset="0"/>
                <a:ea typeface="黑体" pitchFamily="49" charset="-122"/>
              </a:rPr>
              <a:t>ssthresh </a:t>
            </a:r>
            <a:r>
              <a:rPr kumimoji="1" lang="zh-CN" altLang="en-US" sz="1800">
                <a:solidFill>
                  <a:schemeClr val="folHlink"/>
                </a:solidFill>
                <a:latin typeface="Arial" pitchFamily="34" charset="0"/>
                <a:ea typeface="黑体" pitchFamily="49" charset="-122"/>
              </a:rPr>
              <a:t>值</a:t>
            </a:r>
          </a:p>
        </p:txBody>
      </p:sp>
      <p:sp>
        <p:nvSpPr>
          <p:cNvPr id="106577" name="Text Box 199"/>
          <p:cNvSpPr txBox="1">
            <a:spLocks noChangeArrowheads="1"/>
          </p:cNvSpPr>
          <p:nvPr/>
        </p:nvSpPr>
        <p:spPr bwMode="auto">
          <a:xfrm>
            <a:off x="5708650" y="10223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网络拥塞</a:t>
            </a:r>
          </a:p>
        </p:txBody>
      </p:sp>
      <p:sp>
        <p:nvSpPr>
          <p:cNvPr id="106578" name="Line 200"/>
          <p:cNvSpPr>
            <a:spLocks noChangeShapeType="1"/>
          </p:cNvSpPr>
          <p:nvPr/>
        </p:nvSpPr>
        <p:spPr bwMode="auto">
          <a:xfrm flipH="1">
            <a:off x="5445125" y="1268413"/>
            <a:ext cx="346075" cy="292100"/>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79" name="Text Box 201"/>
          <p:cNvSpPr txBox="1">
            <a:spLocks noChangeArrowheads="1"/>
          </p:cNvSpPr>
          <p:nvPr/>
        </p:nvSpPr>
        <p:spPr bwMode="auto">
          <a:xfrm>
            <a:off x="3517900" y="3233738"/>
            <a:ext cx="1555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指数规律增长</a:t>
            </a:r>
          </a:p>
        </p:txBody>
      </p:sp>
      <p:sp>
        <p:nvSpPr>
          <p:cNvPr id="106580" name="Line 202"/>
          <p:cNvSpPr>
            <a:spLocks noChangeShapeType="1"/>
          </p:cNvSpPr>
          <p:nvPr/>
        </p:nvSpPr>
        <p:spPr bwMode="auto">
          <a:xfrm flipH="1" flipV="1">
            <a:off x="2905125" y="3336925"/>
            <a:ext cx="700088" cy="77788"/>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81" name="Rectangle 203"/>
          <p:cNvSpPr>
            <a:spLocks noChangeArrowheads="1"/>
          </p:cNvSpPr>
          <p:nvPr/>
        </p:nvSpPr>
        <p:spPr bwMode="auto">
          <a:xfrm>
            <a:off x="2378075" y="1484313"/>
            <a:ext cx="219075" cy="2058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82" name="Line 204"/>
          <p:cNvSpPr>
            <a:spLocks noChangeShapeType="1"/>
          </p:cNvSpPr>
          <p:nvPr/>
        </p:nvSpPr>
        <p:spPr bwMode="auto">
          <a:xfrm>
            <a:off x="2378075" y="2333625"/>
            <a:ext cx="963613"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83" name="Rectangle 205"/>
          <p:cNvSpPr>
            <a:spLocks noChangeArrowheads="1"/>
          </p:cNvSpPr>
          <p:nvPr/>
        </p:nvSpPr>
        <p:spPr bwMode="auto">
          <a:xfrm>
            <a:off x="2728913" y="3646488"/>
            <a:ext cx="2803525" cy="153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84" name="Rectangle 206"/>
          <p:cNvSpPr>
            <a:spLocks noChangeArrowheads="1"/>
          </p:cNvSpPr>
          <p:nvPr/>
        </p:nvSpPr>
        <p:spPr bwMode="auto">
          <a:xfrm>
            <a:off x="6146800" y="3646488"/>
            <a:ext cx="2014538" cy="1539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85" name="Text Box 207"/>
          <p:cNvSpPr txBox="1">
            <a:spLocks noChangeArrowheads="1"/>
          </p:cNvSpPr>
          <p:nvPr/>
        </p:nvSpPr>
        <p:spPr bwMode="auto">
          <a:xfrm>
            <a:off x="20638" y="2141538"/>
            <a:ext cx="2025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Arial" pitchFamily="34" charset="0"/>
                <a:ea typeface="黑体" pitchFamily="49" charset="-122"/>
              </a:rPr>
              <a:t>ssthresh </a:t>
            </a:r>
            <a:r>
              <a:rPr kumimoji="1" lang="zh-CN" altLang="en-US" sz="1800">
                <a:solidFill>
                  <a:schemeClr val="folHlink"/>
                </a:solidFill>
                <a:latin typeface="Arial" pitchFamily="34" charset="0"/>
                <a:ea typeface="黑体" pitchFamily="49" charset="-122"/>
              </a:rPr>
              <a:t>的初始值</a:t>
            </a:r>
          </a:p>
        </p:txBody>
      </p:sp>
      <p:sp>
        <p:nvSpPr>
          <p:cNvPr id="106586" name="Text Box 208"/>
          <p:cNvSpPr txBox="1">
            <a:spLocks noChangeArrowheads="1"/>
          </p:cNvSpPr>
          <p:nvPr/>
        </p:nvSpPr>
        <p:spPr bwMode="auto">
          <a:xfrm>
            <a:off x="779463" y="3367088"/>
            <a:ext cx="985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6587" name="Line 209"/>
          <p:cNvSpPr>
            <a:spLocks noChangeShapeType="1"/>
          </p:cNvSpPr>
          <p:nvPr/>
        </p:nvSpPr>
        <p:spPr bwMode="auto">
          <a:xfrm>
            <a:off x="1633538" y="3587750"/>
            <a:ext cx="614362" cy="155575"/>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88" name="Text Box 210"/>
          <p:cNvSpPr txBox="1">
            <a:spLocks noChangeArrowheads="1"/>
          </p:cNvSpPr>
          <p:nvPr/>
        </p:nvSpPr>
        <p:spPr bwMode="auto">
          <a:xfrm>
            <a:off x="2403475" y="4259263"/>
            <a:ext cx="985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6589" name="Text Box 211"/>
          <p:cNvSpPr txBox="1">
            <a:spLocks noChangeArrowheads="1"/>
          </p:cNvSpPr>
          <p:nvPr/>
        </p:nvSpPr>
        <p:spPr bwMode="auto">
          <a:xfrm>
            <a:off x="5799138" y="4283075"/>
            <a:ext cx="9858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06590" name="Text Box 212"/>
          <p:cNvSpPr txBox="1">
            <a:spLocks noChangeArrowheads="1"/>
          </p:cNvSpPr>
          <p:nvPr/>
        </p:nvSpPr>
        <p:spPr bwMode="auto">
          <a:xfrm>
            <a:off x="3705225" y="974725"/>
            <a:ext cx="1250950" cy="6413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拥塞避免</a:t>
            </a:r>
          </a:p>
          <a:p>
            <a:pPr algn="ctr" eaLnBrk="1" hangingPunct="1"/>
            <a:r>
              <a:rPr kumimoji="1" lang="zh-CN" altLang="en-US" sz="1800">
                <a:solidFill>
                  <a:schemeClr val="folHlink"/>
                </a:solidFill>
                <a:latin typeface="Arial" pitchFamily="34" charset="0"/>
                <a:ea typeface="黑体" pitchFamily="49" charset="-122"/>
              </a:rPr>
              <a:t>“加法增大”</a:t>
            </a:r>
          </a:p>
        </p:txBody>
      </p:sp>
      <p:sp>
        <p:nvSpPr>
          <p:cNvPr id="106591" name="Text Box 213"/>
          <p:cNvSpPr txBox="1">
            <a:spLocks noChangeArrowheads="1"/>
          </p:cNvSpPr>
          <p:nvPr/>
        </p:nvSpPr>
        <p:spPr bwMode="auto">
          <a:xfrm>
            <a:off x="6867525" y="1381125"/>
            <a:ext cx="1250950" cy="6413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拥塞避免</a:t>
            </a:r>
          </a:p>
          <a:p>
            <a:pPr algn="ctr" eaLnBrk="1" hangingPunct="1"/>
            <a:r>
              <a:rPr kumimoji="1" lang="zh-CN" altLang="en-US" sz="1800">
                <a:solidFill>
                  <a:schemeClr val="folHlink"/>
                </a:solidFill>
                <a:latin typeface="Arial" pitchFamily="34" charset="0"/>
                <a:ea typeface="黑体" pitchFamily="49" charset="-122"/>
              </a:rPr>
              <a:t>“加法增大”</a:t>
            </a:r>
          </a:p>
        </p:txBody>
      </p:sp>
      <p:sp>
        <p:nvSpPr>
          <p:cNvPr id="106592" name="Line 214"/>
          <p:cNvSpPr>
            <a:spLocks noChangeShapeType="1"/>
          </p:cNvSpPr>
          <p:nvPr/>
        </p:nvSpPr>
        <p:spPr bwMode="auto">
          <a:xfrm rot="10800000">
            <a:off x="2378075" y="2719388"/>
            <a:ext cx="4645025" cy="0"/>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93" name="Line 215"/>
          <p:cNvSpPr>
            <a:spLocks noChangeShapeType="1"/>
          </p:cNvSpPr>
          <p:nvPr/>
        </p:nvSpPr>
        <p:spPr bwMode="auto">
          <a:xfrm flipV="1">
            <a:off x="2378075" y="1558925"/>
            <a:ext cx="4194175" cy="1588"/>
          </a:xfrm>
          <a:prstGeom prst="line">
            <a:avLst/>
          </a:prstGeom>
          <a:noFill/>
          <a:ln w="9525">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94" name="Freeform 216"/>
          <p:cNvSpPr>
            <a:spLocks/>
          </p:cNvSpPr>
          <p:nvPr/>
        </p:nvSpPr>
        <p:spPr bwMode="auto">
          <a:xfrm>
            <a:off x="2203450" y="1560513"/>
            <a:ext cx="5772150" cy="2205037"/>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95" name="Rectangle 2"/>
          <p:cNvSpPr>
            <a:spLocks noGrp="1" noChangeArrowheads="1"/>
          </p:cNvSpPr>
          <p:nvPr>
            <p:ph type="title"/>
          </p:nvPr>
        </p:nvSpPr>
        <p:spPr>
          <a:xfrm>
            <a:off x="811213" y="188913"/>
            <a:ext cx="7793037" cy="623887"/>
          </a:xfrm>
        </p:spPr>
        <p:txBody>
          <a:bodyPr/>
          <a:lstStyle/>
          <a:p>
            <a:pPr algn="ctr" eaLnBrk="1" hangingPunct="1"/>
            <a:r>
              <a:rPr lang="zh-CN" altLang="en-US" sz="3200" smtClean="0"/>
              <a:t>慢开始和拥塞避免算法的实现举例 </a:t>
            </a:r>
          </a:p>
        </p:txBody>
      </p:sp>
      <p:sp>
        <p:nvSpPr>
          <p:cNvPr id="106596" name="Line 3"/>
          <p:cNvSpPr>
            <a:spLocks noChangeShapeType="1"/>
          </p:cNvSpPr>
          <p:nvPr/>
        </p:nvSpPr>
        <p:spPr bwMode="auto">
          <a:xfrm>
            <a:off x="450850" y="-1035050"/>
            <a:ext cx="277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97" name="Text Box 4"/>
          <p:cNvSpPr txBox="1">
            <a:spLocks noChangeArrowheads="1"/>
          </p:cNvSpPr>
          <p:nvPr/>
        </p:nvSpPr>
        <p:spPr bwMode="auto">
          <a:xfrm>
            <a:off x="323850" y="4935538"/>
            <a:ext cx="8647113"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a:solidFill>
                  <a:srgbClr val="333399"/>
                </a:solidFill>
                <a:latin typeface="Arial" pitchFamily="34" charset="0"/>
                <a:ea typeface="黑体" pitchFamily="49" charset="-122"/>
              </a:rPr>
              <a:t>更新后的 </a:t>
            </a:r>
            <a:r>
              <a:rPr lang="en-US" altLang="zh-CN">
                <a:solidFill>
                  <a:srgbClr val="333399"/>
                </a:solidFill>
                <a:latin typeface="Arial" pitchFamily="34" charset="0"/>
                <a:ea typeface="黑体" pitchFamily="49" charset="-122"/>
              </a:rPr>
              <a:t>ssthresh </a:t>
            </a:r>
            <a:r>
              <a:rPr lang="zh-CN" altLang="en-US">
                <a:solidFill>
                  <a:srgbClr val="333399"/>
                </a:solidFill>
                <a:latin typeface="Arial" pitchFamily="34" charset="0"/>
                <a:ea typeface="黑体" pitchFamily="49" charset="-122"/>
              </a:rPr>
              <a:t>值变为 </a:t>
            </a:r>
            <a:r>
              <a:rPr lang="en-US" altLang="zh-CN">
                <a:solidFill>
                  <a:srgbClr val="333399"/>
                </a:solidFill>
                <a:latin typeface="Arial" pitchFamily="34" charset="0"/>
                <a:ea typeface="黑体" pitchFamily="49" charset="-122"/>
              </a:rPr>
              <a:t>12</a:t>
            </a:r>
            <a:r>
              <a:rPr lang="zh-CN" altLang="en-US">
                <a:solidFill>
                  <a:srgbClr val="333399"/>
                </a:solidFill>
                <a:latin typeface="Arial" pitchFamily="34" charset="0"/>
                <a:ea typeface="黑体" pitchFamily="49" charset="-122"/>
              </a:rPr>
              <a:t>（即发送窗口数值 </a:t>
            </a:r>
            <a:r>
              <a:rPr lang="en-US" altLang="zh-CN">
                <a:solidFill>
                  <a:srgbClr val="333399"/>
                </a:solidFill>
                <a:latin typeface="Arial" pitchFamily="34" charset="0"/>
                <a:ea typeface="黑体" pitchFamily="49" charset="-122"/>
              </a:rPr>
              <a:t>24 </a:t>
            </a:r>
            <a:r>
              <a:rPr lang="zh-CN" altLang="en-US">
                <a:solidFill>
                  <a:srgbClr val="333399"/>
                </a:solidFill>
                <a:latin typeface="Arial" pitchFamily="34" charset="0"/>
                <a:ea typeface="黑体" pitchFamily="49" charset="-122"/>
              </a:rPr>
              <a:t>的一半），拥塞窗口再重新设置为 </a:t>
            </a:r>
            <a:r>
              <a:rPr lang="en-US" altLang="zh-CN">
                <a:solidFill>
                  <a:srgbClr val="333399"/>
                </a:solidFill>
                <a:latin typeface="Arial" pitchFamily="34" charset="0"/>
                <a:ea typeface="黑体" pitchFamily="49" charset="-122"/>
              </a:rPr>
              <a:t>1</a:t>
            </a:r>
            <a:r>
              <a:rPr lang="zh-CN" altLang="en-US">
                <a:solidFill>
                  <a:srgbClr val="333399"/>
                </a:solidFill>
                <a:latin typeface="Arial" pitchFamily="34" charset="0"/>
                <a:ea typeface="黑体" pitchFamily="49" charset="-122"/>
              </a:rPr>
              <a:t>，并执行慢开始算法。 </a:t>
            </a:r>
          </a:p>
        </p:txBody>
      </p:sp>
      <p:sp>
        <p:nvSpPr>
          <p:cNvPr id="537716" name="Line 116"/>
          <p:cNvSpPr>
            <a:spLocks noChangeShapeType="1"/>
          </p:cNvSpPr>
          <p:nvPr/>
        </p:nvSpPr>
        <p:spPr bwMode="auto">
          <a:xfrm>
            <a:off x="5003800" y="3284538"/>
            <a:ext cx="647700" cy="4318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599" name="Text Box 196"/>
          <p:cNvSpPr txBox="1">
            <a:spLocks noChangeArrowheads="1"/>
          </p:cNvSpPr>
          <p:nvPr/>
        </p:nvSpPr>
        <p:spPr bwMode="auto">
          <a:xfrm>
            <a:off x="8027988" y="349250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传输轮次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537716"/>
                                        </p:tgtEl>
                                        <p:attrNameLst>
                                          <p:attrName>style.visibility</p:attrName>
                                        </p:attrNameLst>
                                      </p:cBhvr>
                                      <p:to>
                                        <p:strVal val="visible"/>
                                      </p:to>
                                    </p:set>
                                    <p:animEffect transition="in" filter="wipe(left)">
                                      <p:cBhvr>
                                        <p:cTn id="7" dur="1000"/>
                                        <p:tgtEl>
                                          <p:spTgt spid="537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716"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A5EA54B7-D38C-4071-B5A5-6AFAB72D4D56}" type="slidenum">
              <a:rPr lang="en-US" altLang="zh-CN" sz="1400"/>
              <a:pPr eaLnBrk="1" hangingPunct="1"/>
              <a:t>103</a:t>
            </a:fld>
            <a:endParaRPr lang="en-US" altLang="zh-CN" sz="1400"/>
          </a:p>
        </p:txBody>
      </p:sp>
      <p:sp>
        <p:nvSpPr>
          <p:cNvPr id="107523" name="Rectangle 45"/>
          <p:cNvSpPr>
            <a:spLocks noGrp="1" noChangeArrowheads="1"/>
          </p:cNvSpPr>
          <p:nvPr>
            <p:ph type="title"/>
          </p:nvPr>
        </p:nvSpPr>
        <p:spPr>
          <a:xfrm>
            <a:off x="755650" y="333375"/>
            <a:ext cx="7793038" cy="1439863"/>
          </a:xfrm>
        </p:spPr>
        <p:txBody>
          <a:bodyPr/>
          <a:lstStyle/>
          <a:p>
            <a:pPr algn="ctr" eaLnBrk="1" hangingPunct="1"/>
            <a:r>
              <a:rPr lang="zh-CN" altLang="en-US" smtClean="0"/>
              <a:t>乘法减小</a:t>
            </a:r>
            <a:br>
              <a:rPr lang="zh-CN" altLang="en-US" smtClean="0"/>
            </a:br>
            <a:r>
              <a:rPr lang="en-US" altLang="zh-CN" sz="4000" smtClean="0"/>
              <a:t>(multiplicative decrease)</a:t>
            </a:r>
            <a:r>
              <a:rPr lang="en-US" altLang="zh-CN" smtClean="0"/>
              <a:t> </a:t>
            </a:r>
          </a:p>
        </p:txBody>
      </p:sp>
      <p:sp>
        <p:nvSpPr>
          <p:cNvPr id="390193" name="Rectangle 49"/>
          <p:cNvSpPr>
            <a:spLocks noGrp="1" noChangeArrowheads="1"/>
          </p:cNvSpPr>
          <p:nvPr>
            <p:ph type="body" idx="1"/>
          </p:nvPr>
        </p:nvSpPr>
        <p:spPr>
          <a:xfrm>
            <a:off x="827088" y="1906588"/>
            <a:ext cx="8101012" cy="4114800"/>
          </a:xfrm>
        </p:spPr>
        <p:txBody>
          <a:bodyPr/>
          <a:lstStyle/>
          <a:p>
            <a:pPr algn="just" eaLnBrk="1" hangingPunct="1">
              <a:lnSpc>
                <a:spcPct val="105000"/>
              </a:lnSpc>
            </a:pPr>
            <a:r>
              <a:rPr lang="en-US" altLang="zh-CN" smtClean="0"/>
              <a:t>“</a:t>
            </a:r>
            <a:r>
              <a:rPr lang="zh-CN" altLang="en-US" smtClean="0"/>
              <a:t>乘法减小“是指不论在慢开始阶段还是拥塞避免阶段，只要出现一次超时（即出现一次网络拥塞），就把慢开始门限值 </a:t>
            </a:r>
            <a:r>
              <a:rPr lang="en-US" altLang="zh-CN" smtClean="0"/>
              <a:t>ssthresh </a:t>
            </a:r>
            <a:r>
              <a:rPr lang="zh-CN" altLang="en-US" smtClean="0"/>
              <a:t>设置为当前的窗口值乘以 </a:t>
            </a:r>
            <a:r>
              <a:rPr lang="en-US" altLang="zh-CN" smtClean="0"/>
              <a:t>0.5</a:t>
            </a:r>
            <a:r>
              <a:rPr lang="zh-CN" altLang="en-US" smtClean="0"/>
              <a:t>。</a:t>
            </a:r>
          </a:p>
          <a:p>
            <a:pPr algn="just" eaLnBrk="1" hangingPunct="1">
              <a:lnSpc>
                <a:spcPct val="105000"/>
              </a:lnSpc>
            </a:pPr>
            <a:r>
              <a:rPr lang="zh-CN" altLang="en-US" smtClean="0"/>
              <a:t>当网络频繁出现拥塞时，</a:t>
            </a:r>
            <a:r>
              <a:rPr lang="en-US" altLang="zh-CN" smtClean="0"/>
              <a:t>ssthresh </a:t>
            </a:r>
            <a:r>
              <a:rPr lang="zh-CN" altLang="en-US" smtClean="0"/>
              <a:t>值就下降得很快，以大大减少注入到网络中的分组数。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19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E9725C83-421A-4EC3-B5D5-31C80AA5CD8C}" type="slidenum">
              <a:rPr lang="en-US" altLang="zh-CN" sz="1400"/>
              <a:pPr eaLnBrk="1" hangingPunct="1"/>
              <a:t>104</a:t>
            </a:fld>
            <a:endParaRPr lang="en-US" altLang="zh-CN" sz="1400"/>
          </a:p>
        </p:txBody>
      </p:sp>
      <p:sp>
        <p:nvSpPr>
          <p:cNvPr id="10854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8548" name="Rectangle 3"/>
          <p:cNvSpPr>
            <a:spLocks noChangeArrowheads="1"/>
          </p:cNvSpPr>
          <p:nvPr/>
        </p:nvSpPr>
        <p:spPr bwMode="auto">
          <a:xfrm>
            <a:off x="0" y="3238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8549"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8550" name="Rectangle 5"/>
          <p:cNvSpPr>
            <a:spLocks noChangeArrowheads="1"/>
          </p:cNvSpPr>
          <p:nvPr/>
        </p:nvSpPr>
        <p:spPr bwMode="auto">
          <a:xfrm>
            <a:off x="0" y="3243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8551" name="Rectangle 41"/>
          <p:cNvSpPr>
            <a:spLocks noGrp="1" noChangeArrowheads="1"/>
          </p:cNvSpPr>
          <p:nvPr>
            <p:ph type="title"/>
          </p:nvPr>
        </p:nvSpPr>
        <p:spPr>
          <a:xfrm>
            <a:off x="1150938" y="214313"/>
            <a:ext cx="6877050" cy="1462087"/>
          </a:xfrm>
        </p:spPr>
        <p:txBody>
          <a:bodyPr/>
          <a:lstStyle/>
          <a:p>
            <a:pPr algn="ctr" eaLnBrk="1" hangingPunct="1"/>
            <a:r>
              <a:rPr lang="zh-CN" altLang="en-US" smtClean="0"/>
              <a:t>加法增大</a:t>
            </a:r>
            <a:br>
              <a:rPr lang="zh-CN" altLang="en-US" smtClean="0"/>
            </a:br>
            <a:r>
              <a:rPr lang="en-US" altLang="zh-CN" sz="4000" smtClean="0"/>
              <a:t>(additive increase)</a:t>
            </a:r>
            <a:r>
              <a:rPr lang="en-US" altLang="zh-CN" smtClean="0"/>
              <a:t> </a:t>
            </a:r>
          </a:p>
        </p:txBody>
      </p:sp>
      <p:sp>
        <p:nvSpPr>
          <p:cNvPr id="108552" name="Rectangle 42"/>
          <p:cNvSpPr>
            <a:spLocks noGrp="1" noChangeArrowheads="1"/>
          </p:cNvSpPr>
          <p:nvPr>
            <p:ph type="body" idx="1"/>
          </p:nvPr>
        </p:nvSpPr>
        <p:spPr>
          <a:xfrm>
            <a:off x="611188" y="1916113"/>
            <a:ext cx="8132762" cy="4465637"/>
          </a:xfrm>
        </p:spPr>
        <p:txBody>
          <a:bodyPr/>
          <a:lstStyle/>
          <a:p>
            <a:pPr algn="just" eaLnBrk="1" hangingPunct="1"/>
            <a:r>
              <a:rPr lang="en-US" altLang="zh-CN" smtClean="0"/>
              <a:t>“</a:t>
            </a:r>
            <a:r>
              <a:rPr lang="zh-CN" altLang="en-US" smtClean="0"/>
              <a:t>加法增大”是指执行拥塞避免算法后，在收到对所有报文段的确认后（即经过一个往返时间），就把拥塞窗口 </a:t>
            </a:r>
            <a:r>
              <a:rPr lang="en-US" altLang="zh-CN" smtClean="0"/>
              <a:t>cwnd</a:t>
            </a:r>
            <a:r>
              <a:rPr lang="zh-CN" altLang="en-US" smtClean="0"/>
              <a:t>增加一个 </a:t>
            </a:r>
            <a:r>
              <a:rPr lang="en-US" altLang="zh-CN" smtClean="0"/>
              <a:t>MSS </a:t>
            </a:r>
            <a:r>
              <a:rPr lang="zh-CN" altLang="en-US" smtClean="0"/>
              <a:t>大小，使拥塞窗口缓慢增大，以防止网络过早出现拥塞。 </a:t>
            </a:r>
          </a:p>
        </p:txBody>
      </p:sp>
      <p:sp>
        <p:nvSpPr>
          <p:cNvPr id="108553" name="Rectangle 7"/>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08554"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17B4C765-F31A-48F2-9AAB-AAED4D76154C}" type="slidenum">
              <a:rPr lang="en-US" altLang="zh-CN" sz="1400"/>
              <a:pPr eaLnBrk="1" hangingPunct="1"/>
              <a:t>105</a:t>
            </a:fld>
            <a:endParaRPr lang="en-US" altLang="zh-CN" sz="1400"/>
          </a:p>
        </p:txBody>
      </p:sp>
      <p:sp>
        <p:nvSpPr>
          <p:cNvPr id="109571" name="Rectangle 2"/>
          <p:cNvSpPr>
            <a:spLocks noGrp="1" noChangeArrowheads="1"/>
          </p:cNvSpPr>
          <p:nvPr>
            <p:ph type="title"/>
          </p:nvPr>
        </p:nvSpPr>
        <p:spPr/>
        <p:txBody>
          <a:bodyPr/>
          <a:lstStyle/>
          <a:p>
            <a:pPr algn="ctr" eaLnBrk="1" hangingPunct="1"/>
            <a:r>
              <a:rPr lang="en-US" altLang="zh-CN" smtClean="0"/>
              <a:t>2.  </a:t>
            </a:r>
            <a:r>
              <a:rPr lang="zh-CN" altLang="en-US" smtClean="0"/>
              <a:t>快重传和快恢复</a:t>
            </a:r>
          </a:p>
        </p:txBody>
      </p:sp>
      <p:sp>
        <p:nvSpPr>
          <p:cNvPr id="539651" name="Rectangle 3"/>
          <p:cNvSpPr>
            <a:spLocks noGrp="1" noChangeArrowheads="1"/>
          </p:cNvSpPr>
          <p:nvPr>
            <p:ph type="body" idx="4294967295"/>
          </p:nvPr>
        </p:nvSpPr>
        <p:spPr>
          <a:xfrm>
            <a:off x="1187450" y="1978025"/>
            <a:ext cx="7088188" cy="4114800"/>
          </a:xfrm>
        </p:spPr>
        <p:txBody>
          <a:bodyPr/>
          <a:lstStyle/>
          <a:p>
            <a:pPr algn="just" eaLnBrk="1" hangingPunct="1">
              <a:lnSpc>
                <a:spcPct val="110000"/>
              </a:lnSpc>
            </a:pPr>
            <a:r>
              <a:rPr lang="zh-CN" altLang="en-US" sz="2400" smtClean="0"/>
              <a:t>快重传算法首先要求接收方每收到一个失序的报文段后就立即发出重复确认。这样做可以让发送方及早知道有报文段没有到达接收方。 </a:t>
            </a:r>
          </a:p>
          <a:p>
            <a:pPr algn="just" eaLnBrk="1" hangingPunct="1">
              <a:lnSpc>
                <a:spcPct val="110000"/>
              </a:lnSpc>
            </a:pPr>
            <a:r>
              <a:rPr lang="zh-CN" altLang="en-US" sz="2400" smtClean="0"/>
              <a:t>发送方只要一连收到三个重复确认就应当立即重传对方尚未收到的报文段。 </a:t>
            </a:r>
          </a:p>
          <a:p>
            <a:pPr algn="just" eaLnBrk="1" hangingPunct="1">
              <a:lnSpc>
                <a:spcPct val="110000"/>
              </a:lnSpc>
            </a:pPr>
            <a:r>
              <a:rPr lang="zh-CN" altLang="en-US" sz="2400" smtClean="0"/>
              <a:t>不难看出，快重传并非取消重传计时器，而是在某些情况下可更早地重传丢失的报文段。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9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Rectangle 4"/>
          <p:cNvSpPr>
            <a:spLocks noGrp="1" noChangeArrowheads="1"/>
          </p:cNvSpPr>
          <p:nvPr>
            <p:ph type="title"/>
          </p:nvPr>
        </p:nvSpPr>
        <p:spPr>
          <a:xfrm>
            <a:off x="1150938" y="404813"/>
            <a:ext cx="6734175" cy="550862"/>
          </a:xfrm>
          <a:solidFill>
            <a:srgbClr val="FFFF99"/>
          </a:solidFill>
          <a:ln>
            <a:solidFill>
              <a:schemeClr val="folHlink"/>
            </a:solidFill>
            <a:miter lim="800000"/>
            <a:headEnd/>
            <a:tailEnd/>
          </a:ln>
          <a:effectLst>
            <a:outerShdw dist="35921" dir="2700000" algn="ctr" rotWithShape="0">
              <a:schemeClr val="bg2"/>
            </a:outerShdw>
          </a:effectLst>
        </p:spPr>
        <p:txBody>
          <a:bodyPr/>
          <a:lstStyle/>
          <a:p>
            <a:pPr algn="ctr" eaLnBrk="1" hangingPunct="1"/>
            <a:r>
              <a:rPr lang="zh-CN" altLang="en-US" sz="3600" smtClean="0"/>
              <a:t>快重传举例</a:t>
            </a:r>
          </a:p>
        </p:txBody>
      </p:sp>
      <p:sp>
        <p:nvSpPr>
          <p:cNvPr id="110595" name="Text Box 73"/>
          <p:cNvSpPr txBox="1">
            <a:spLocks noChangeArrowheads="1"/>
          </p:cNvSpPr>
          <p:nvPr/>
        </p:nvSpPr>
        <p:spPr bwMode="auto">
          <a:xfrm>
            <a:off x="3459163" y="1201738"/>
            <a:ext cx="8699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发送方</a:t>
            </a:r>
          </a:p>
        </p:txBody>
      </p:sp>
      <p:sp>
        <p:nvSpPr>
          <p:cNvPr id="110596" name="Text Box 74"/>
          <p:cNvSpPr txBox="1">
            <a:spLocks noChangeArrowheads="1"/>
          </p:cNvSpPr>
          <p:nvPr/>
        </p:nvSpPr>
        <p:spPr bwMode="auto">
          <a:xfrm>
            <a:off x="6750050" y="1263650"/>
            <a:ext cx="87153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接收方</a:t>
            </a:r>
          </a:p>
        </p:txBody>
      </p:sp>
      <p:sp>
        <p:nvSpPr>
          <p:cNvPr id="110597" name="Text Box 75"/>
          <p:cNvSpPr txBox="1">
            <a:spLocks noChangeArrowheads="1"/>
          </p:cNvSpPr>
          <p:nvPr/>
        </p:nvSpPr>
        <p:spPr bwMode="auto">
          <a:xfrm>
            <a:off x="2944813" y="1628775"/>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发送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1</a:t>
            </a:r>
          </a:p>
        </p:txBody>
      </p:sp>
      <p:sp>
        <p:nvSpPr>
          <p:cNvPr id="110598" name="Line 76"/>
          <p:cNvSpPr>
            <a:spLocks noChangeShapeType="1"/>
          </p:cNvSpPr>
          <p:nvPr/>
        </p:nvSpPr>
        <p:spPr bwMode="auto">
          <a:xfrm>
            <a:off x="3922713" y="1873250"/>
            <a:ext cx="3400425"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599" name="Line 78"/>
          <p:cNvSpPr>
            <a:spLocks noChangeShapeType="1"/>
          </p:cNvSpPr>
          <p:nvPr/>
        </p:nvSpPr>
        <p:spPr bwMode="auto">
          <a:xfrm flipH="1">
            <a:off x="3922713" y="2309813"/>
            <a:ext cx="3400425" cy="314325"/>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0" name="Text Box 79"/>
          <p:cNvSpPr txBox="1">
            <a:spLocks noChangeArrowheads="1"/>
          </p:cNvSpPr>
          <p:nvPr/>
        </p:nvSpPr>
        <p:spPr bwMode="auto">
          <a:xfrm>
            <a:off x="7221538" y="2133600"/>
            <a:ext cx="1044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800">
                <a:solidFill>
                  <a:schemeClr val="folHlink"/>
                </a:solidFill>
                <a:latin typeface="Arial" pitchFamily="34" charset="0"/>
                <a:ea typeface="黑体" pitchFamily="49" charset="-122"/>
              </a:rPr>
              <a:t> </a:t>
            </a:r>
            <a:r>
              <a:rPr lang="zh-CN" altLang="en-US" sz="1800">
                <a:solidFill>
                  <a:schemeClr val="folHlink"/>
                </a:solidFill>
                <a:latin typeface="Arial" pitchFamily="34" charset="0"/>
                <a:ea typeface="黑体" pitchFamily="49" charset="-122"/>
              </a:rPr>
              <a:t>确认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1</a:t>
            </a:r>
            <a:endParaRPr lang="en-US" altLang="zh-CN" sz="1800">
              <a:solidFill>
                <a:schemeClr val="folHlink"/>
              </a:solidFill>
              <a:latin typeface="Arial" pitchFamily="34" charset="0"/>
              <a:ea typeface="黑体" pitchFamily="49" charset="-122"/>
            </a:endParaRPr>
          </a:p>
        </p:txBody>
      </p:sp>
      <p:sp>
        <p:nvSpPr>
          <p:cNvPr id="110601" name="Text Box 81"/>
          <p:cNvSpPr txBox="1">
            <a:spLocks noChangeArrowheads="1"/>
          </p:cNvSpPr>
          <p:nvPr/>
        </p:nvSpPr>
        <p:spPr bwMode="auto">
          <a:xfrm>
            <a:off x="3929063" y="5753100"/>
            <a:ext cx="246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800" i="1">
                <a:solidFill>
                  <a:schemeClr val="folHlink"/>
                </a:solidFill>
                <a:latin typeface="Arial" pitchFamily="34" charset="0"/>
                <a:ea typeface="黑体" pitchFamily="49" charset="-122"/>
              </a:rPr>
              <a:t>t</a:t>
            </a:r>
          </a:p>
        </p:txBody>
      </p:sp>
      <p:grpSp>
        <p:nvGrpSpPr>
          <p:cNvPr id="110602" name="Group 82"/>
          <p:cNvGrpSpPr>
            <a:grpSpLocks/>
          </p:cNvGrpSpPr>
          <p:nvPr/>
        </p:nvGrpSpPr>
        <p:grpSpPr bwMode="auto">
          <a:xfrm>
            <a:off x="3922713" y="1719263"/>
            <a:ext cx="3400425" cy="4346575"/>
            <a:chOff x="1607" y="677"/>
            <a:chExt cx="1640" cy="2728"/>
          </a:xfrm>
        </p:grpSpPr>
        <p:sp>
          <p:nvSpPr>
            <p:cNvPr id="110636" name="Line 83"/>
            <p:cNvSpPr>
              <a:spLocks noChangeShapeType="1"/>
            </p:cNvSpPr>
            <p:nvPr/>
          </p:nvSpPr>
          <p:spPr bwMode="auto">
            <a:xfrm>
              <a:off x="1607" y="677"/>
              <a:ext cx="0" cy="2728"/>
            </a:xfrm>
            <a:prstGeom prst="line">
              <a:avLst/>
            </a:prstGeom>
            <a:noFill/>
            <a:ln w="9525">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7" name="Line 84"/>
            <p:cNvSpPr>
              <a:spLocks noChangeShapeType="1"/>
            </p:cNvSpPr>
            <p:nvPr/>
          </p:nvSpPr>
          <p:spPr bwMode="auto">
            <a:xfrm>
              <a:off x="3247" y="677"/>
              <a:ext cx="0" cy="2728"/>
            </a:xfrm>
            <a:prstGeom prst="line">
              <a:avLst/>
            </a:prstGeom>
            <a:noFill/>
            <a:ln w="9525">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0603" name="Text Box 86"/>
          <p:cNvSpPr txBox="1">
            <a:spLocks noChangeArrowheads="1"/>
          </p:cNvSpPr>
          <p:nvPr/>
        </p:nvSpPr>
        <p:spPr bwMode="auto">
          <a:xfrm>
            <a:off x="7221538" y="2620963"/>
            <a:ext cx="14954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800">
                <a:solidFill>
                  <a:schemeClr val="folHlink"/>
                </a:solidFill>
                <a:latin typeface="Arial" pitchFamily="34" charset="0"/>
                <a:ea typeface="黑体" pitchFamily="49" charset="-122"/>
              </a:rPr>
              <a:t> </a:t>
            </a:r>
            <a:r>
              <a:rPr lang="zh-CN" altLang="en-US" sz="1800">
                <a:solidFill>
                  <a:schemeClr val="folHlink"/>
                </a:solidFill>
                <a:latin typeface="Arial" pitchFamily="34" charset="0"/>
                <a:ea typeface="黑体" pitchFamily="49" charset="-122"/>
              </a:rPr>
              <a:t>确认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2 </a:t>
            </a:r>
            <a:endParaRPr lang="en-US" altLang="zh-CN" sz="1800">
              <a:solidFill>
                <a:schemeClr val="folHlink"/>
              </a:solidFill>
              <a:latin typeface="Arial" pitchFamily="34" charset="0"/>
              <a:ea typeface="黑体" pitchFamily="49" charset="-122"/>
            </a:endParaRPr>
          </a:p>
        </p:txBody>
      </p:sp>
      <p:sp>
        <p:nvSpPr>
          <p:cNvPr id="110604" name="Line 87"/>
          <p:cNvSpPr>
            <a:spLocks noChangeShapeType="1"/>
          </p:cNvSpPr>
          <p:nvPr/>
        </p:nvSpPr>
        <p:spPr bwMode="auto">
          <a:xfrm flipH="1">
            <a:off x="3922713" y="2833688"/>
            <a:ext cx="3400425" cy="312737"/>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5" name="Line 88"/>
          <p:cNvSpPr>
            <a:spLocks noChangeShapeType="1"/>
          </p:cNvSpPr>
          <p:nvPr/>
        </p:nvSpPr>
        <p:spPr bwMode="auto">
          <a:xfrm flipH="1">
            <a:off x="3922713" y="3878263"/>
            <a:ext cx="3400425" cy="311150"/>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6" name="Line 89"/>
          <p:cNvSpPr>
            <a:spLocks noChangeShapeType="1"/>
          </p:cNvSpPr>
          <p:nvPr/>
        </p:nvSpPr>
        <p:spPr bwMode="auto">
          <a:xfrm flipH="1">
            <a:off x="3922713" y="4397375"/>
            <a:ext cx="3400425" cy="314325"/>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7" name="Line 90"/>
          <p:cNvSpPr>
            <a:spLocks noChangeShapeType="1"/>
          </p:cNvSpPr>
          <p:nvPr/>
        </p:nvSpPr>
        <p:spPr bwMode="auto">
          <a:xfrm flipH="1">
            <a:off x="3922713" y="4916488"/>
            <a:ext cx="3400425" cy="315912"/>
          </a:xfrm>
          <a:prstGeom prst="line">
            <a:avLst/>
          </a:prstGeom>
          <a:noFill/>
          <a:ln w="38100">
            <a:solidFill>
              <a:schemeClr va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08" name="Text Box 91"/>
          <p:cNvSpPr txBox="1">
            <a:spLocks noChangeArrowheads="1"/>
          </p:cNvSpPr>
          <p:nvPr/>
        </p:nvSpPr>
        <p:spPr bwMode="auto">
          <a:xfrm>
            <a:off x="2944813" y="2132013"/>
            <a:ext cx="9794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发送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2</a:t>
            </a:r>
          </a:p>
        </p:txBody>
      </p:sp>
      <p:sp>
        <p:nvSpPr>
          <p:cNvPr id="110609" name="Text Box 92"/>
          <p:cNvSpPr txBox="1">
            <a:spLocks noChangeArrowheads="1"/>
          </p:cNvSpPr>
          <p:nvPr/>
        </p:nvSpPr>
        <p:spPr bwMode="auto">
          <a:xfrm>
            <a:off x="2944813" y="2641600"/>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发送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3</a:t>
            </a:r>
          </a:p>
        </p:txBody>
      </p:sp>
      <p:sp>
        <p:nvSpPr>
          <p:cNvPr id="110610" name="Text Box 93"/>
          <p:cNvSpPr txBox="1">
            <a:spLocks noChangeArrowheads="1"/>
          </p:cNvSpPr>
          <p:nvPr/>
        </p:nvSpPr>
        <p:spPr bwMode="auto">
          <a:xfrm>
            <a:off x="2944813" y="3148013"/>
            <a:ext cx="9794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发送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4</a:t>
            </a:r>
          </a:p>
        </p:txBody>
      </p:sp>
      <p:sp>
        <p:nvSpPr>
          <p:cNvPr id="110611" name="Line 94"/>
          <p:cNvSpPr>
            <a:spLocks noChangeShapeType="1"/>
          </p:cNvSpPr>
          <p:nvPr/>
        </p:nvSpPr>
        <p:spPr bwMode="auto">
          <a:xfrm>
            <a:off x="3922713" y="3457575"/>
            <a:ext cx="3400425"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12" name="Text Box 95"/>
          <p:cNvSpPr txBox="1">
            <a:spLocks noChangeArrowheads="1"/>
          </p:cNvSpPr>
          <p:nvPr/>
        </p:nvSpPr>
        <p:spPr bwMode="auto">
          <a:xfrm>
            <a:off x="5664200" y="2852738"/>
            <a:ext cx="649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lang="en-US" altLang="zh-CN" sz="2000" b="1">
                <a:solidFill>
                  <a:schemeClr val="folHlink"/>
                </a:solidFill>
                <a:latin typeface="Arial" pitchFamily="34" charset="0"/>
                <a:ea typeface="黑体" pitchFamily="49" charset="-122"/>
              </a:rPr>
              <a:t>   </a:t>
            </a:r>
            <a:r>
              <a:rPr lang="zh-CN" altLang="en-US" sz="2000" b="1">
                <a:solidFill>
                  <a:schemeClr val="folHlink"/>
                </a:solidFill>
                <a:latin typeface="Arial" pitchFamily="34" charset="0"/>
                <a:ea typeface="黑体" pitchFamily="49" charset="-122"/>
              </a:rPr>
              <a:t>？</a:t>
            </a:r>
          </a:p>
        </p:txBody>
      </p:sp>
      <p:sp>
        <p:nvSpPr>
          <p:cNvPr id="110613" name="Text Box 96"/>
          <p:cNvSpPr txBox="1">
            <a:spLocks noChangeArrowheads="1"/>
          </p:cNvSpPr>
          <p:nvPr/>
        </p:nvSpPr>
        <p:spPr bwMode="auto">
          <a:xfrm>
            <a:off x="2944813" y="3695700"/>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发送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5</a:t>
            </a:r>
          </a:p>
        </p:txBody>
      </p:sp>
      <p:sp>
        <p:nvSpPr>
          <p:cNvPr id="110614" name="Text Box 97"/>
          <p:cNvSpPr txBox="1">
            <a:spLocks noChangeArrowheads="1"/>
          </p:cNvSpPr>
          <p:nvPr/>
        </p:nvSpPr>
        <p:spPr bwMode="auto">
          <a:xfrm>
            <a:off x="2944813" y="4216400"/>
            <a:ext cx="9794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发送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6</a:t>
            </a:r>
          </a:p>
        </p:txBody>
      </p:sp>
      <p:sp>
        <p:nvSpPr>
          <p:cNvPr id="110615" name="Text Box 98"/>
          <p:cNvSpPr txBox="1">
            <a:spLocks noChangeArrowheads="1"/>
          </p:cNvSpPr>
          <p:nvPr/>
        </p:nvSpPr>
        <p:spPr bwMode="auto">
          <a:xfrm>
            <a:off x="7221538" y="3592513"/>
            <a:ext cx="15414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800">
                <a:solidFill>
                  <a:schemeClr val="folHlink"/>
                </a:solidFill>
                <a:latin typeface="Arial" pitchFamily="34" charset="0"/>
                <a:ea typeface="黑体" pitchFamily="49" charset="-122"/>
              </a:rPr>
              <a:t> </a:t>
            </a:r>
            <a:r>
              <a:rPr lang="zh-CN" altLang="en-US" sz="1800">
                <a:solidFill>
                  <a:schemeClr val="folHlink"/>
                </a:solidFill>
                <a:latin typeface="Arial" pitchFamily="34" charset="0"/>
                <a:ea typeface="黑体" pitchFamily="49" charset="-122"/>
              </a:rPr>
              <a:t>重复确认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2 </a:t>
            </a:r>
            <a:endParaRPr lang="en-US" altLang="zh-CN" sz="1800">
              <a:solidFill>
                <a:schemeClr val="folHlink"/>
              </a:solidFill>
              <a:latin typeface="Arial" pitchFamily="34" charset="0"/>
              <a:ea typeface="黑体" pitchFamily="49" charset="-122"/>
            </a:endParaRPr>
          </a:p>
        </p:txBody>
      </p:sp>
      <p:grpSp>
        <p:nvGrpSpPr>
          <p:cNvPr id="541813" name="Group 117"/>
          <p:cNvGrpSpPr>
            <a:grpSpLocks/>
          </p:cNvGrpSpPr>
          <p:nvPr/>
        </p:nvGrpSpPr>
        <p:grpSpPr bwMode="auto">
          <a:xfrm>
            <a:off x="3922713" y="5229225"/>
            <a:ext cx="3400425" cy="527050"/>
            <a:chOff x="2471" y="3294"/>
            <a:chExt cx="2142" cy="332"/>
          </a:xfrm>
        </p:grpSpPr>
        <p:sp>
          <p:nvSpPr>
            <p:cNvPr id="110634" name="Line 80"/>
            <p:cNvSpPr>
              <a:spLocks noChangeShapeType="1"/>
            </p:cNvSpPr>
            <p:nvPr/>
          </p:nvSpPr>
          <p:spPr bwMode="auto">
            <a:xfrm>
              <a:off x="2471" y="3427"/>
              <a:ext cx="2142" cy="199"/>
            </a:xfrm>
            <a:prstGeom prst="line">
              <a:avLst/>
            </a:prstGeom>
            <a:noFill/>
            <a:ln w="38100">
              <a:solidFill>
                <a:srgbClr val="99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5" name="Text Box 99"/>
            <p:cNvSpPr txBox="1">
              <a:spLocks noChangeArrowheads="1"/>
            </p:cNvSpPr>
            <p:nvPr/>
          </p:nvSpPr>
          <p:spPr bwMode="auto">
            <a:xfrm rot="275181">
              <a:off x="3187" y="3294"/>
              <a:ext cx="99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2000">
                  <a:solidFill>
                    <a:srgbClr val="CC3399"/>
                  </a:solidFill>
                  <a:latin typeface="Arial" pitchFamily="34" charset="0"/>
                  <a:ea typeface="黑体" pitchFamily="49" charset="-122"/>
                </a:rPr>
                <a:t>立即重传 </a:t>
              </a:r>
              <a:r>
                <a:rPr lang="en-US" altLang="zh-CN" sz="2000">
                  <a:solidFill>
                    <a:srgbClr val="CC3399"/>
                  </a:solidFill>
                  <a:latin typeface="Arial" pitchFamily="34" charset="0"/>
                  <a:ea typeface="黑体" pitchFamily="49" charset="-122"/>
                </a:rPr>
                <a:t>M</a:t>
              </a:r>
              <a:r>
                <a:rPr lang="en-US" altLang="zh-CN" sz="2000" baseline="-25000">
                  <a:solidFill>
                    <a:srgbClr val="CC3399"/>
                  </a:solidFill>
                  <a:latin typeface="Arial" pitchFamily="34" charset="0"/>
                  <a:ea typeface="黑体" pitchFamily="49" charset="-122"/>
                </a:rPr>
                <a:t>3</a:t>
              </a:r>
            </a:p>
          </p:txBody>
        </p:sp>
      </p:grpSp>
      <p:sp>
        <p:nvSpPr>
          <p:cNvPr id="110617" name="Text Box 100"/>
          <p:cNvSpPr txBox="1">
            <a:spLocks noChangeArrowheads="1"/>
          </p:cNvSpPr>
          <p:nvPr/>
        </p:nvSpPr>
        <p:spPr bwMode="auto">
          <a:xfrm>
            <a:off x="7221538" y="4146550"/>
            <a:ext cx="15414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800">
                <a:solidFill>
                  <a:schemeClr val="folHlink"/>
                </a:solidFill>
                <a:latin typeface="Arial" pitchFamily="34" charset="0"/>
                <a:ea typeface="黑体" pitchFamily="49" charset="-122"/>
              </a:rPr>
              <a:t> </a:t>
            </a:r>
            <a:r>
              <a:rPr lang="zh-CN" altLang="en-US" sz="1800">
                <a:solidFill>
                  <a:schemeClr val="folHlink"/>
                </a:solidFill>
                <a:latin typeface="Arial" pitchFamily="34" charset="0"/>
                <a:ea typeface="黑体" pitchFamily="49" charset="-122"/>
              </a:rPr>
              <a:t>重复确认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2 </a:t>
            </a:r>
            <a:endParaRPr lang="en-US" altLang="zh-CN" sz="1800">
              <a:solidFill>
                <a:schemeClr val="folHlink"/>
              </a:solidFill>
              <a:latin typeface="Arial" pitchFamily="34" charset="0"/>
              <a:ea typeface="黑体" pitchFamily="49" charset="-122"/>
            </a:endParaRPr>
          </a:p>
        </p:txBody>
      </p:sp>
      <p:sp>
        <p:nvSpPr>
          <p:cNvPr id="110618" name="Text Box 103"/>
          <p:cNvSpPr txBox="1">
            <a:spLocks noChangeArrowheads="1"/>
          </p:cNvSpPr>
          <p:nvPr/>
        </p:nvSpPr>
        <p:spPr bwMode="auto">
          <a:xfrm>
            <a:off x="7221538" y="4668838"/>
            <a:ext cx="15414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800">
                <a:solidFill>
                  <a:schemeClr val="folHlink"/>
                </a:solidFill>
                <a:latin typeface="Arial" pitchFamily="34" charset="0"/>
                <a:ea typeface="黑体" pitchFamily="49" charset="-122"/>
              </a:rPr>
              <a:t> </a:t>
            </a:r>
            <a:r>
              <a:rPr lang="zh-CN" altLang="en-US" sz="1800">
                <a:solidFill>
                  <a:schemeClr val="folHlink"/>
                </a:solidFill>
                <a:latin typeface="Arial" pitchFamily="34" charset="0"/>
                <a:ea typeface="黑体" pitchFamily="49" charset="-122"/>
              </a:rPr>
              <a:t>重复确认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2 </a:t>
            </a:r>
            <a:endParaRPr lang="en-US" altLang="zh-CN" sz="1800">
              <a:solidFill>
                <a:schemeClr val="folHlink"/>
              </a:solidFill>
              <a:latin typeface="Arial" pitchFamily="34" charset="0"/>
              <a:ea typeface="黑体" pitchFamily="49" charset="-122"/>
            </a:endParaRPr>
          </a:p>
        </p:txBody>
      </p:sp>
      <p:sp>
        <p:nvSpPr>
          <p:cNvPr id="110619" name="Text Box 104"/>
          <p:cNvSpPr txBox="1">
            <a:spLocks noChangeArrowheads="1"/>
          </p:cNvSpPr>
          <p:nvPr/>
        </p:nvSpPr>
        <p:spPr bwMode="auto">
          <a:xfrm>
            <a:off x="7313613" y="5753100"/>
            <a:ext cx="2476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1800" i="1">
                <a:solidFill>
                  <a:schemeClr val="folHlink"/>
                </a:solidFill>
                <a:latin typeface="Arial" pitchFamily="34" charset="0"/>
                <a:ea typeface="黑体" pitchFamily="49" charset="-122"/>
              </a:rPr>
              <a:t>t</a:t>
            </a:r>
          </a:p>
        </p:txBody>
      </p:sp>
      <p:sp>
        <p:nvSpPr>
          <p:cNvPr id="110620" name="Line 110"/>
          <p:cNvSpPr>
            <a:spLocks noChangeShapeType="1"/>
          </p:cNvSpPr>
          <p:nvPr/>
        </p:nvSpPr>
        <p:spPr bwMode="auto">
          <a:xfrm>
            <a:off x="3929063" y="5022850"/>
            <a:ext cx="3398837"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1" name="Text Box 111"/>
          <p:cNvSpPr txBox="1">
            <a:spLocks noChangeArrowheads="1"/>
          </p:cNvSpPr>
          <p:nvPr/>
        </p:nvSpPr>
        <p:spPr bwMode="auto">
          <a:xfrm>
            <a:off x="2944813" y="4770438"/>
            <a:ext cx="9794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发送 </a:t>
            </a:r>
            <a:r>
              <a:rPr lang="en-US" altLang="zh-CN" sz="1800">
                <a:solidFill>
                  <a:schemeClr val="folHlink"/>
                </a:solidFill>
                <a:latin typeface="Arial" pitchFamily="34" charset="0"/>
                <a:ea typeface="黑体" pitchFamily="49" charset="-122"/>
              </a:rPr>
              <a:t>M</a:t>
            </a:r>
            <a:r>
              <a:rPr lang="en-US" altLang="zh-CN" sz="1800" baseline="-25000">
                <a:solidFill>
                  <a:schemeClr val="folHlink"/>
                </a:solidFill>
                <a:latin typeface="Arial" pitchFamily="34" charset="0"/>
                <a:ea typeface="黑体" pitchFamily="49" charset="-122"/>
              </a:rPr>
              <a:t>7</a:t>
            </a:r>
          </a:p>
        </p:txBody>
      </p:sp>
      <p:grpSp>
        <p:nvGrpSpPr>
          <p:cNvPr id="541812" name="Group 116"/>
          <p:cNvGrpSpPr>
            <a:grpSpLocks/>
          </p:cNvGrpSpPr>
          <p:nvPr/>
        </p:nvGrpSpPr>
        <p:grpSpPr bwMode="auto">
          <a:xfrm>
            <a:off x="539750" y="3981450"/>
            <a:ext cx="3355975" cy="1349375"/>
            <a:chOff x="340" y="2508"/>
            <a:chExt cx="2114" cy="850"/>
          </a:xfrm>
        </p:grpSpPr>
        <p:grpSp>
          <p:nvGrpSpPr>
            <p:cNvPr id="110629" name="Group 105"/>
            <p:cNvGrpSpPr>
              <a:grpSpLocks/>
            </p:cNvGrpSpPr>
            <p:nvPr/>
          </p:nvGrpSpPr>
          <p:grpSpPr bwMode="auto">
            <a:xfrm>
              <a:off x="1729" y="2635"/>
              <a:ext cx="725" cy="666"/>
              <a:chOff x="1257" y="1749"/>
              <a:chExt cx="817" cy="460"/>
            </a:xfrm>
          </p:grpSpPr>
          <p:sp>
            <p:nvSpPr>
              <p:cNvPr id="110631" name="Line 106"/>
              <p:cNvSpPr>
                <a:spLocks noChangeShapeType="1"/>
              </p:cNvSpPr>
              <p:nvPr/>
            </p:nvSpPr>
            <p:spPr bwMode="auto">
              <a:xfrm>
                <a:off x="1257" y="1749"/>
                <a:ext cx="817" cy="0"/>
              </a:xfrm>
              <a:prstGeom prst="line">
                <a:avLst/>
              </a:prstGeom>
              <a:noFill/>
              <a:ln w="28575">
                <a:solidFill>
                  <a:schemeClr val="folHlink"/>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2" name="Line 107"/>
              <p:cNvSpPr>
                <a:spLocks noChangeShapeType="1"/>
              </p:cNvSpPr>
              <p:nvPr/>
            </p:nvSpPr>
            <p:spPr bwMode="auto">
              <a:xfrm>
                <a:off x="1257" y="1979"/>
                <a:ext cx="817" cy="0"/>
              </a:xfrm>
              <a:prstGeom prst="line">
                <a:avLst/>
              </a:prstGeom>
              <a:noFill/>
              <a:ln w="28575">
                <a:solidFill>
                  <a:schemeClr val="folHlink"/>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33" name="Line 108"/>
              <p:cNvSpPr>
                <a:spLocks noChangeShapeType="1"/>
              </p:cNvSpPr>
              <p:nvPr/>
            </p:nvSpPr>
            <p:spPr bwMode="auto">
              <a:xfrm>
                <a:off x="1257" y="2209"/>
                <a:ext cx="817" cy="0"/>
              </a:xfrm>
              <a:prstGeom prst="line">
                <a:avLst/>
              </a:prstGeom>
              <a:noFill/>
              <a:ln w="28575">
                <a:solidFill>
                  <a:schemeClr val="folHlink"/>
                </a:solidFill>
                <a:prstDash val="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0630" name="Text Box 112"/>
            <p:cNvSpPr txBox="1">
              <a:spLocks noChangeArrowheads="1"/>
            </p:cNvSpPr>
            <p:nvPr/>
          </p:nvSpPr>
          <p:spPr bwMode="auto">
            <a:xfrm>
              <a:off x="340" y="2508"/>
              <a:ext cx="1389" cy="8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endParaRPr lang="en-US" altLang="zh-CN" sz="900">
                <a:solidFill>
                  <a:schemeClr val="folHlink"/>
                </a:solidFill>
                <a:latin typeface="Arial" pitchFamily="34" charset="0"/>
                <a:ea typeface="黑体" pitchFamily="49" charset="-122"/>
              </a:endParaRPr>
            </a:p>
            <a:p>
              <a:pPr algn="ctr" eaLnBrk="1" hangingPunct="1"/>
              <a:r>
                <a:rPr lang="zh-CN" altLang="en-US" sz="2000">
                  <a:solidFill>
                    <a:schemeClr val="folHlink"/>
                  </a:solidFill>
                  <a:latin typeface="Arial" pitchFamily="34" charset="0"/>
                  <a:ea typeface="黑体" pitchFamily="49" charset="-122"/>
                </a:rPr>
                <a:t>收到三个连续的</a:t>
              </a:r>
            </a:p>
            <a:p>
              <a:pPr algn="ctr" eaLnBrk="1" hangingPunct="1"/>
              <a:r>
                <a:rPr lang="zh-CN" altLang="en-US" sz="2000">
                  <a:solidFill>
                    <a:schemeClr val="folHlink"/>
                  </a:solidFill>
                  <a:latin typeface="Arial" pitchFamily="34" charset="0"/>
                  <a:ea typeface="黑体" pitchFamily="49" charset="-122"/>
                </a:rPr>
                <a:t>对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2</a:t>
              </a:r>
              <a:r>
                <a:rPr lang="en-US" altLang="zh-CN" sz="2000">
                  <a:solidFill>
                    <a:schemeClr val="folHlink"/>
                  </a:solidFill>
                  <a:latin typeface="Arial" pitchFamily="34" charset="0"/>
                  <a:ea typeface="黑体" pitchFamily="49" charset="-122"/>
                </a:rPr>
                <a:t> </a:t>
              </a:r>
              <a:r>
                <a:rPr lang="zh-CN" altLang="en-US" sz="2000">
                  <a:solidFill>
                    <a:schemeClr val="folHlink"/>
                  </a:solidFill>
                  <a:latin typeface="Arial" pitchFamily="34" charset="0"/>
                  <a:ea typeface="黑体" pitchFamily="49" charset="-122"/>
                </a:rPr>
                <a:t>的重复确认</a:t>
              </a:r>
            </a:p>
            <a:p>
              <a:pPr algn="ctr" eaLnBrk="1" hangingPunct="1">
                <a:spcBef>
                  <a:spcPct val="20000"/>
                </a:spcBef>
              </a:pPr>
              <a:r>
                <a:rPr lang="zh-CN" altLang="en-US" sz="2000">
                  <a:solidFill>
                    <a:schemeClr val="folHlink"/>
                  </a:solidFill>
                  <a:latin typeface="Arial" pitchFamily="34" charset="0"/>
                  <a:ea typeface="黑体" pitchFamily="49" charset="-122"/>
                </a:rPr>
                <a:t>立即重传 </a:t>
              </a:r>
              <a:r>
                <a:rPr lang="en-US" altLang="zh-CN" sz="2000">
                  <a:solidFill>
                    <a:schemeClr val="folHlink"/>
                  </a:solidFill>
                  <a:latin typeface="Arial" pitchFamily="34" charset="0"/>
                  <a:ea typeface="黑体" pitchFamily="49" charset="-122"/>
                </a:rPr>
                <a:t>M</a:t>
              </a:r>
              <a:r>
                <a:rPr lang="en-US" altLang="zh-CN" sz="2000" baseline="-25000">
                  <a:solidFill>
                    <a:schemeClr val="folHlink"/>
                  </a:solidFill>
                  <a:latin typeface="Arial" pitchFamily="34" charset="0"/>
                  <a:ea typeface="黑体" pitchFamily="49" charset="-122"/>
                </a:rPr>
                <a:t>3</a:t>
              </a:r>
            </a:p>
            <a:p>
              <a:pPr algn="ctr" eaLnBrk="1" hangingPunct="1"/>
              <a:endParaRPr lang="en-US" altLang="zh-CN" sz="900">
                <a:solidFill>
                  <a:schemeClr val="folHlink"/>
                </a:solidFill>
                <a:latin typeface="Arial" pitchFamily="34" charset="0"/>
                <a:ea typeface="黑体" pitchFamily="49" charset="-122"/>
              </a:endParaRPr>
            </a:p>
          </p:txBody>
        </p:sp>
      </p:grpSp>
      <p:sp>
        <p:nvSpPr>
          <p:cNvPr id="110623" name="AutoShape 113"/>
          <p:cNvSpPr>
            <a:spLocks noChangeArrowheads="1"/>
          </p:cNvSpPr>
          <p:nvPr/>
        </p:nvSpPr>
        <p:spPr bwMode="auto">
          <a:xfrm>
            <a:off x="5665788" y="2565400"/>
            <a:ext cx="871537" cy="1096963"/>
          </a:xfrm>
          <a:prstGeom prst="irregularSeal1">
            <a:avLst/>
          </a:prstGeom>
          <a:solidFill>
            <a:srgbClr val="FFCCCC"/>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24" name="Text Box 114"/>
          <p:cNvSpPr txBox="1">
            <a:spLocks noChangeArrowheads="1"/>
          </p:cNvSpPr>
          <p:nvPr/>
        </p:nvSpPr>
        <p:spPr bwMode="auto">
          <a:xfrm>
            <a:off x="5737225" y="2847975"/>
            <a:ext cx="6397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zh-CN" altLang="en-US" sz="1800">
                <a:solidFill>
                  <a:schemeClr val="folHlink"/>
                </a:solidFill>
                <a:latin typeface="Arial" pitchFamily="34" charset="0"/>
                <a:ea typeface="黑体" pitchFamily="49" charset="-122"/>
              </a:rPr>
              <a:t>丢失</a:t>
            </a:r>
          </a:p>
        </p:txBody>
      </p:sp>
      <p:sp>
        <p:nvSpPr>
          <p:cNvPr id="110625" name="Line 77"/>
          <p:cNvSpPr>
            <a:spLocks noChangeShapeType="1"/>
          </p:cNvSpPr>
          <p:nvPr/>
        </p:nvSpPr>
        <p:spPr bwMode="auto">
          <a:xfrm>
            <a:off x="3922713" y="2417763"/>
            <a:ext cx="3400425"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6" name="Line 85"/>
          <p:cNvSpPr>
            <a:spLocks noChangeShapeType="1"/>
          </p:cNvSpPr>
          <p:nvPr/>
        </p:nvSpPr>
        <p:spPr bwMode="auto">
          <a:xfrm>
            <a:off x="3922713" y="2936875"/>
            <a:ext cx="1830387" cy="158750"/>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7" name="Line 101"/>
          <p:cNvSpPr>
            <a:spLocks noChangeShapeType="1"/>
          </p:cNvSpPr>
          <p:nvPr/>
        </p:nvSpPr>
        <p:spPr bwMode="auto">
          <a:xfrm>
            <a:off x="3929063" y="3978275"/>
            <a:ext cx="3398837" cy="315913"/>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0628" name="Line 102"/>
          <p:cNvSpPr>
            <a:spLocks noChangeShapeType="1"/>
          </p:cNvSpPr>
          <p:nvPr/>
        </p:nvSpPr>
        <p:spPr bwMode="auto">
          <a:xfrm>
            <a:off x="3929063" y="4500563"/>
            <a:ext cx="3398837" cy="314325"/>
          </a:xfrm>
          <a:prstGeom prst="line">
            <a:avLst/>
          </a:prstGeom>
          <a:noFill/>
          <a:ln w="38100">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541812"/>
                                        </p:tgtEl>
                                        <p:attrNameLst>
                                          <p:attrName>style.visibility</p:attrName>
                                        </p:attrNameLst>
                                      </p:cBhvr>
                                      <p:to>
                                        <p:strVal val="visible"/>
                                      </p:to>
                                    </p:set>
                                    <p:animEffect transition="in" filter="wipe(right)">
                                      <p:cBhvr>
                                        <p:cTn id="7" dur="1000"/>
                                        <p:tgtEl>
                                          <p:spTgt spid="541812"/>
                                        </p:tgtEl>
                                      </p:cBhvr>
                                    </p:animEffect>
                                  </p:childTnLst>
                                </p:cTn>
                              </p:par>
                            </p:childTnLst>
                          </p:cTn>
                        </p:par>
                        <p:par>
                          <p:cTn id="8" fill="hold" nodeType="afterGroup">
                            <p:stCondLst>
                              <p:cond delay="1000"/>
                            </p:stCondLst>
                            <p:childTnLst>
                              <p:par>
                                <p:cTn id="9" presetID="22" presetClass="entr" presetSubtype="8" fill="hold" nodeType="afterEffect">
                                  <p:stCondLst>
                                    <p:cond delay="500"/>
                                  </p:stCondLst>
                                  <p:childTnLst>
                                    <p:set>
                                      <p:cBhvr>
                                        <p:cTn id="10" dur="1" fill="hold">
                                          <p:stCondLst>
                                            <p:cond delay="0"/>
                                          </p:stCondLst>
                                        </p:cTn>
                                        <p:tgtEl>
                                          <p:spTgt spid="541813"/>
                                        </p:tgtEl>
                                        <p:attrNameLst>
                                          <p:attrName>style.visibility</p:attrName>
                                        </p:attrNameLst>
                                      </p:cBhvr>
                                      <p:to>
                                        <p:strVal val="visible"/>
                                      </p:to>
                                    </p:set>
                                    <p:animEffect transition="in" filter="wipe(left)">
                                      <p:cBhvr>
                                        <p:cTn id="11" dur="1000"/>
                                        <p:tgtEl>
                                          <p:spTgt spid="541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DC1BEDC1-F866-4D73-811A-3EADCD3979C8}" type="slidenum">
              <a:rPr lang="en-US" altLang="zh-CN" sz="1400"/>
              <a:pPr eaLnBrk="1" hangingPunct="1"/>
              <a:t>107</a:t>
            </a:fld>
            <a:endParaRPr lang="en-US" altLang="zh-CN" sz="1400"/>
          </a:p>
        </p:txBody>
      </p:sp>
      <p:sp>
        <p:nvSpPr>
          <p:cNvPr id="111619" name="Rectangle 2"/>
          <p:cNvSpPr>
            <a:spLocks noGrp="1" noChangeArrowheads="1"/>
          </p:cNvSpPr>
          <p:nvPr>
            <p:ph type="title"/>
          </p:nvPr>
        </p:nvSpPr>
        <p:spPr>
          <a:xfrm>
            <a:off x="1150938" y="214313"/>
            <a:ext cx="6445250" cy="1462087"/>
          </a:xfrm>
        </p:spPr>
        <p:txBody>
          <a:bodyPr/>
          <a:lstStyle/>
          <a:p>
            <a:pPr algn="ctr" eaLnBrk="1" hangingPunct="1"/>
            <a:r>
              <a:rPr lang="zh-CN" altLang="en-US" smtClean="0"/>
              <a:t>快恢复算法 </a:t>
            </a:r>
          </a:p>
        </p:txBody>
      </p:sp>
      <p:sp>
        <p:nvSpPr>
          <p:cNvPr id="111620" name="Rectangle 3"/>
          <p:cNvSpPr>
            <a:spLocks noGrp="1" noChangeArrowheads="1"/>
          </p:cNvSpPr>
          <p:nvPr>
            <p:ph type="body" idx="1"/>
          </p:nvPr>
        </p:nvSpPr>
        <p:spPr>
          <a:xfrm>
            <a:off x="1042988" y="1906588"/>
            <a:ext cx="7772400" cy="4475162"/>
          </a:xfrm>
        </p:spPr>
        <p:txBody>
          <a:bodyPr/>
          <a:lstStyle/>
          <a:p>
            <a:pPr eaLnBrk="1" hangingPunct="1">
              <a:buFont typeface="Wingdings" pitchFamily="2" charset="2"/>
              <a:buNone/>
            </a:pPr>
            <a:r>
              <a:rPr lang="en-US" altLang="zh-CN" sz="2800" smtClean="0"/>
              <a:t>(1) </a:t>
            </a:r>
            <a:r>
              <a:rPr lang="zh-CN" altLang="en-US" sz="2800" smtClean="0"/>
              <a:t>当发送端收到连续三个重复的确认时，就执行“乘法减小”算法，把慢开始门限 </a:t>
            </a:r>
            <a:r>
              <a:rPr lang="en-US" altLang="zh-CN" sz="2800" smtClean="0"/>
              <a:t>ssthresh </a:t>
            </a:r>
            <a:r>
              <a:rPr lang="zh-CN" altLang="en-US" sz="2800" smtClean="0">
                <a:solidFill>
                  <a:schemeClr val="hlink"/>
                </a:solidFill>
              </a:rPr>
              <a:t>减半</a:t>
            </a:r>
            <a:r>
              <a:rPr lang="zh-CN" altLang="en-US" sz="2800" smtClean="0"/>
              <a:t>。但接下去不执行慢开始算法。 </a:t>
            </a:r>
          </a:p>
          <a:p>
            <a:pPr eaLnBrk="1" hangingPunct="1">
              <a:buFont typeface="Wingdings" pitchFamily="2" charset="2"/>
              <a:buNone/>
            </a:pPr>
            <a:r>
              <a:rPr lang="en-US" altLang="zh-CN" sz="2800" smtClean="0"/>
              <a:t>(2)</a:t>
            </a:r>
            <a:r>
              <a:rPr lang="zh-CN" altLang="en-US" sz="2800" smtClean="0"/>
              <a:t>由于发送方现在认为网络很可能没有发生拥塞，因此现在不执行慢开始算法，即拥塞窗口 </a:t>
            </a:r>
            <a:r>
              <a:rPr lang="en-US" altLang="zh-CN" sz="2800" smtClean="0"/>
              <a:t>cwnd </a:t>
            </a:r>
            <a:r>
              <a:rPr lang="zh-CN" altLang="en-US" sz="2800" smtClean="0"/>
              <a:t>现在不设置为 </a:t>
            </a:r>
            <a:r>
              <a:rPr lang="en-US" altLang="zh-CN" sz="2800" smtClean="0"/>
              <a:t>1</a:t>
            </a:r>
            <a:r>
              <a:rPr lang="zh-CN" altLang="en-US" sz="2800" smtClean="0"/>
              <a:t>，而是设置为当前窗口 </a:t>
            </a:r>
            <a:r>
              <a:rPr lang="zh-CN" altLang="en-US" sz="2800" smtClean="0">
                <a:solidFill>
                  <a:schemeClr val="hlink"/>
                </a:solidFill>
              </a:rPr>
              <a:t>减半后</a:t>
            </a:r>
            <a:r>
              <a:rPr lang="zh-CN" altLang="en-US" sz="2800" smtClean="0"/>
              <a:t>的数值，然后开始执行拥塞避免算法（“加法增大”），使拥塞窗口缓慢地线性增大。 </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3"/>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A82872CD-7C23-44B2-9837-6AA70DBDF1FA}" type="slidenum">
              <a:rPr lang="en-US" altLang="zh-CN" sz="1400"/>
              <a:pPr eaLnBrk="1" hangingPunct="1"/>
              <a:t>108</a:t>
            </a:fld>
            <a:endParaRPr lang="en-US" altLang="zh-CN" sz="1400"/>
          </a:p>
        </p:txBody>
      </p:sp>
      <p:sp>
        <p:nvSpPr>
          <p:cNvPr id="112643" name="Oval 55"/>
          <p:cNvSpPr>
            <a:spLocks noChangeArrowheads="1"/>
          </p:cNvSpPr>
          <p:nvPr/>
        </p:nvSpPr>
        <p:spPr bwMode="auto">
          <a:xfrm>
            <a:off x="3048000" y="4654550"/>
            <a:ext cx="93663"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4" name="Oval 60"/>
          <p:cNvSpPr>
            <a:spLocks noChangeArrowheads="1"/>
          </p:cNvSpPr>
          <p:nvPr/>
        </p:nvSpPr>
        <p:spPr bwMode="auto">
          <a:xfrm>
            <a:off x="3527425" y="3663950"/>
            <a:ext cx="92075"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5" name="Oval 61"/>
          <p:cNvSpPr>
            <a:spLocks noChangeArrowheads="1"/>
          </p:cNvSpPr>
          <p:nvPr/>
        </p:nvSpPr>
        <p:spPr bwMode="auto">
          <a:xfrm>
            <a:off x="3767138" y="3560763"/>
            <a:ext cx="92075"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6" name="Oval 62"/>
          <p:cNvSpPr>
            <a:spLocks noChangeArrowheads="1"/>
          </p:cNvSpPr>
          <p:nvPr/>
        </p:nvSpPr>
        <p:spPr bwMode="auto">
          <a:xfrm>
            <a:off x="4249738" y="3343275"/>
            <a:ext cx="93662"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7" name="Oval 63"/>
          <p:cNvSpPr>
            <a:spLocks noChangeArrowheads="1"/>
          </p:cNvSpPr>
          <p:nvPr/>
        </p:nvSpPr>
        <p:spPr bwMode="auto">
          <a:xfrm>
            <a:off x="4005263" y="3452813"/>
            <a:ext cx="93662" cy="100012"/>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8" name="Oval 64"/>
          <p:cNvSpPr>
            <a:spLocks noChangeArrowheads="1"/>
          </p:cNvSpPr>
          <p:nvPr/>
        </p:nvSpPr>
        <p:spPr bwMode="auto">
          <a:xfrm>
            <a:off x="4489450" y="3233738"/>
            <a:ext cx="93663"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49" name="Oval 65"/>
          <p:cNvSpPr>
            <a:spLocks noChangeArrowheads="1"/>
          </p:cNvSpPr>
          <p:nvPr/>
        </p:nvSpPr>
        <p:spPr bwMode="auto">
          <a:xfrm>
            <a:off x="4724400" y="3130550"/>
            <a:ext cx="92075"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0" name="Oval 67"/>
          <p:cNvSpPr>
            <a:spLocks noChangeArrowheads="1"/>
          </p:cNvSpPr>
          <p:nvPr/>
        </p:nvSpPr>
        <p:spPr bwMode="auto">
          <a:xfrm>
            <a:off x="4962525" y="3006725"/>
            <a:ext cx="93663"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1" name="Line 84"/>
          <p:cNvSpPr>
            <a:spLocks noChangeShapeType="1"/>
          </p:cNvSpPr>
          <p:nvPr/>
        </p:nvSpPr>
        <p:spPr bwMode="auto">
          <a:xfrm>
            <a:off x="2460625" y="3827463"/>
            <a:ext cx="87788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2" name="Oval 96"/>
          <p:cNvSpPr>
            <a:spLocks noChangeArrowheads="1"/>
          </p:cNvSpPr>
          <p:nvPr/>
        </p:nvSpPr>
        <p:spPr bwMode="auto">
          <a:xfrm>
            <a:off x="5443538" y="4208463"/>
            <a:ext cx="93662"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3" name="Oval 97"/>
          <p:cNvSpPr>
            <a:spLocks noChangeArrowheads="1"/>
          </p:cNvSpPr>
          <p:nvPr/>
        </p:nvSpPr>
        <p:spPr bwMode="auto">
          <a:xfrm>
            <a:off x="5689600" y="4106863"/>
            <a:ext cx="93663"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4" name="Oval 98"/>
          <p:cNvSpPr>
            <a:spLocks noChangeArrowheads="1"/>
          </p:cNvSpPr>
          <p:nvPr/>
        </p:nvSpPr>
        <p:spPr bwMode="auto">
          <a:xfrm>
            <a:off x="5922963" y="3994150"/>
            <a:ext cx="92075"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5" name="Oval 99"/>
          <p:cNvSpPr>
            <a:spLocks noChangeArrowheads="1"/>
          </p:cNvSpPr>
          <p:nvPr/>
        </p:nvSpPr>
        <p:spPr bwMode="auto">
          <a:xfrm>
            <a:off x="6161088" y="3895725"/>
            <a:ext cx="93662"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6" name="Oval 100"/>
          <p:cNvSpPr>
            <a:spLocks noChangeArrowheads="1"/>
          </p:cNvSpPr>
          <p:nvPr/>
        </p:nvSpPr>
        <p:spPr bwMode="auto">
          <a:xfrm>
            <a:off x="6403975" y="3781425"/>
            <a:ext cx="93663"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7" name="Oval 101"/>
          <p:cNvSpPr>
            <a:spLocks noChangeArrowheads="1"/>
          </p:cNvSpPr>
          <p:nvPr/>
        </p:nvSpPr>
        <p:spPr bwMode="auto">
          <a:xfrm>
            <a:off x="6643688" y="3683000"/>
            <a:ext cx="93662"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8" name="Oval 102"/>
          <p:cNvSpPr>
            <a:spLocks noChangeArrowheads="1"/>
          </p:cNvSpPr>
          <p:nvPr/>
        </p:nvSpPr>
        <p:spPr bwMode="auto">
          <a:xfrm>
            <a:off x="6883400" y="3563938"/>
            <a:ext cx="92075"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59" name="Oval 103"/>
          <p:cNvSpPr>
            <a:spLocks noChangeArrowheads="1"/>
          </p:cNvSpPr>
          <p:nvPr/>
        </p:nvSpPr>
        <p:spPr bwMode="auto">
          <a:xfrm>
            <a:off x="7123113" y="3448050"/>
            <a:ext cx="92075"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0" name="Oval 104"/>
          <p:cNvSpPr>
            <a:spLocks noChangeArrowheads="1"/>
          </p:cNvSpPr>
          <p:nvPr/>
        </p:nvSpPr>
        <p:spPr bwMode="auto">
          <a:xfrm>
            <a:off x="7356475" y="3351213"/>
            <a:ext cx="93663"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1" name="Freeform 68"/>
          <p:cNvSpPr>
            <a:spLocks/>
          </p:cNvSpPr>
          <p:nvPr/>
        </p:nvSpPr>
        <p:spPr bwMode="auto">
          <a:xfrm>
            <a:off x="2300288" y="2957513"/>
            <a:ext cx="2947987" cy="2482850"/>
          </a:xfrm>
          <a:custGeom>
            <a:avLst/>
            <a:gdLst>
              <a:gd name="T0" fmla="*/ 2947987 w 1773"/>
              <a:gd name="T1" fmla="*/ 0 h 1370"/>
              <a:gd name="T2" fmla="*/ 1027556 w 1773"/>
              <a:gd name="T3" fmla="*/ 882590 h 1370"/>
              <a:gd name="T4" fmla="*/ 798101 w 1773"/>
              <a:gd name="T5" fmla="*/ 1741620 h 1370"/>
              <a:gd name="T6" fmla="*/ 550357 w 1773"/>
              <a:gd name="T7" fmla="*/ 2176571 h 1370"/>
              <a:gd name="T8" fmla="*/ 310927 w 1773"/>
              <a:gd name="T9" fmla="*/ 2394047 h 1370"/>
              <a:gd name="T10" fmla="*/ 91449 w 1773"/>
              <a:gd name="T11" fmla="*/ 2481038 h 1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2" name="Text Box 54"/>
          <p:cNvSpPr txBox="1">
            <a:spLocks noChangeArrowheads="1"/>
          </p:cNvSpPr>
          <p:nvPr/>
        </p:nvSpPr>
        <p:spPr bwMode="auto">
          <a:xfrm>
            <a:off x="1981200" y="2741613"/>
            <a:ext cx="438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24</a:t>
            </a:r>
          </a:p>
        </p:txBody>
      </p:sp>
      <p:sp>
        <p:nvSpPr>
          <p:cNvPr id="112663" name="Rectangle 4"/>
          <p:cNvSpPr>
            <a:spLocks noGrp="1" noChangeArrowheads="1"/>
          </p:cNvSpPr>
          <p:nvPr>
            <p:ph type="title"/>
          </p:nvPr>
        </p:nvSpPr>
        <p:spPr/>
        <p:txBody>
          <a:bodyPr/>
          <a:lstStyle/>
          <a:p>
            <a:pPr algn="ctr" eaLnBrk="1" hangingPunct="1"/>
            <a:r>
              <a:rPr lang="zh-CN" altLang="en-US" smtClean="0"/>
              <a:t>从连续收到三个重复的确认</a:t>
            </a:r>
            <a:br>
              <a:rPr lang="zh-CN" altLang="en-US" smtClean="0"/>
            </a:br>
            <a:r>
              <a:rPr lang="zh-CN" altLang="en-US" smtClean="0"/>
              <a:t>转入拥塞避免 </a:t>
            </a:r>
          </a:p>
        </p:txBody>
      </p:sp>
      <p:sp>
        <p:nvSpPr>
          <p:cNvPr id="112664" name="Line 5"/>
          <p:cNvSpPr>
            <a:spLocks noChangeShapeType="1"/>
          </p:cNvSpPr>
          <p:nvPr/>
        </p:nvSpPr>
        <p:spPr bwMode="auto">
          <a:xfrm>
            <a:off x="2379663" y="5567363"/>
            <a:ext cx="5665787" cy="0"/>
          </a:xfrm>
          <a:prstGeom prst="line">
            <a:avLst/>
          </a:prstGeom>
          <a:noFill/>
          <a:ln w="9525">
            <a:solidFill>
              <a:schemeClr val="folHlink"/>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5" name="Line 6"/>
          <p:cNvSpPr>
            <a:spLocks noChangeShapeType="1"/>
          </p:cNvSpPr>
          <p:nvPr/>
        </p:nvSpPr>
        <p:spPr bwMode="auto">
          <a:xfrm>
            <a:off x="2379663" y="2522538"/>
            <a:ext cx="0" cy="3044825"/>
          </a:xfrm>
          <a:prstGeom prst="line">
            <a:avLst/>
          </a:prstGeom>
          <a:noFill/>
          <a:ln w="9525">
            <a:solidFill>
              <a:schemeClr val="folHlink"/>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6" name="Line 7"/>
          <p:cNvSpPr>
            <a:spLocks noChangeShapeType="1"/>
          </p:cNvSpPr>
          <p:nvPr/>
        </p:nvSpPr>
        <p:spPr bwMode="auto">
          <a:xfrm>
            <a:off x="2619375" y="5480050"/>
            <a:ext cx="0" cy="87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7" name="Line 8"/>
          <p:cNvSpPr>
            <a:spLocks noChangeShapeType="1"/>
          </p:cNvSpPr>
          <p:nvPr/>
        </p:nvSpPr>
        <p:spPr bwMode="auto">
          <a:xfrm>
            <a:off x="2859088"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8" name="Line 9"/>
          <p:cNvSpPr>
            <a:spLocks noChangeShapeType="1"/>
          </p:cNvSpPr>
          <p:nvPr/>
        </p:nvSpPr>
        <p:spPr bwMode="auto">
          <a:xfrm>
            <a:off x="3098800"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69" name="Line 10"/>
          <p:cNvSpPr>
            <a:spLocks noChangeShapeType="1"/>
          </p:cNvSpPr>
          <p:nvPr/>
        </p:nvSpPr>
        <p:spPr bwMode="auto">
          <a:xfrm>
            <a:off x="3338513"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0" name="Line 11"/>
          <p:cNvSpPr>
            <a:spLocks noChangeShapeType="1"/>
          </p:cNvSpPr>
          <p:nvPr/>
        </p:nvSpPr>
        <p:spPr bwMode="auto">
          <a:xfrm>
            <a:off x="3576638"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1" name="Line 12"/>
          <p:cNvSpPr>
            <a:spLocks noChangeShapeType="1"/>
          </p:cNvSpPr>
          <p:nvPr/>
        </p:nvSpPr>
        <p:spPr bwMode="auto">
          <a:xfrm>
            <a:off x="3816350"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2" name="Line 13"/>
          <p:cNvSpPr>
            <a:spLocks noChangeShapeType="1"/>
          </p:cNvSpPr>
          <p:nvPr/>
        </p:nvSpPr>
        <p:spPr bwMode="auto">
          <a:xfrm>
            <a:off x="4056063"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3" name="Line 14"/>
          <p:cNvSpPr>
            <a:spLocks noChangeShapeType="1"/>
          </p:cNvSpPr>
          <p:nvPr/>
        </p:nvSpPr>
        <p:spPr bwMode="auto">
          <a:xfrm>
            <a:off x="4295775"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4" name="Line 15"/>
          <p:cNvSpPr>
            <a:spLocks noChangeShapeType="1"/>
          </p:cNvSpPr>
          <p:nvPr/>
        </p:nvSpPr>
        <p:spPr bwMode="auto">
          <a:xfrm>
            <a:off x="4533900"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5" name="Line 16"/>
          <p:cNvSpPr>
            <a:spLocks noChangeShapeType="1"/>
          </p:cNvSpPr>
          <p:nvPr/>
        </p:nvSpPr>
        <p:spPr bwMode="auto">
          <a:xfrm>
            <a:off x="4773613"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6" name="Line 17"/>
          <p:cNvSpPr>
            <a:spLocks noChangeShapeType="1"/>
          </p:cNvSpPr>
          <p:nvPr/>
        </p:nvSpPr>
        <p:spPr bwMode="auto">
          <a:xfrm>
            <a:off x="5013325"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7" name="Line 18"/>
          <p:cNvSpPr>
            <a:spLocks noChangeShapeType="1"/>
          </p:cNvSpPr>
          <p:nvPr/>
        </p:nvSpPr>
        <p:spPr bwMode="auto">
          <a:xfrm>
            <a:off x="5253038"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8" name="Line 19"/>
          <p:cNvSpPr>
            <a:spLocks noChangeShapeType="1"/>
          </p:cNvSpPr>
          <p:nvPr/>
        </p:nvSpPr>
        <p:spPr bwMode="auto">
          <a:xfrm>
            <a:off x="5491163"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79" name="Line 20"/>
          <p:cNvSpPr>
            <a:spLocks noChangeShapeType="1"/>
          </p:cNvSpPr>
          <p:nvPr/>
        </p:nvSpPr>
        <p:spPr bwMode="auto">
          <a:xfrm>
            <a:off x="5730875" y="5480050"/>
            <a:ext cx="0" cy="87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0" name="Line 21"/>
          <p:cNvSpPr>
            <a:spLocks noChangeShapeType="1"/>
          </p:cNvSpPr>
          <p:nvPr/>
        </p:nvSpPr>
        <p:spPr bwMode="auto">
          <a:xfrm>
            <a:off x="5970588"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1" name="Line 22"/>
          <p:cNvSpPr>
            <a:spLocks noChangeShapeType="1"/>
          </p:cNvSpPr>
          <p:nvPr/>
        </p:nvSpPr>
        <p:spPr bwMode="auto">
          <a:xfrm>
            <a:off x="6210300"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2" name="Line 23"/>
          <p:cNvSpPr>
            <a:spLocks noChangeShapeType="1"/>
          </p:cNvSpPr>
          <p:nvPr/>
        </p:nvSpPr>
        <p:spPr bwMode="auto">
          <a:xfrm>
            <a:off x="6450013"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3" name="Line 24"/>
          <p:cNvSpPr>
            <a:spLocks noChangeShapeType="1"/>
          </p:cNvSpPr>
          <p:nvPr/>
        </p:nvSpPr>
        <p:spPr bwMode="auto">
          <a:xfrm>
            <a:off x="6688138"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4" name="Line 25"/>
          <p:cNvSpPr>
            <a:spLocks noChangeShapeType="1"/>
          </p:cNvSpPr>
          <p:nvPr/>
        </p:nvSpPr>
        <p:spPr bwMode="auto">
          <a:xfrm>
            <a:off x="6927850"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5" name="Line 26"/>
          <p:cNvSpPr>
            <a:spLocks noChangeShapeType="1"/>
          </p:cNvSpPr>
          <p:nvPr/>
        </p:nvSpPr>
        <p:spPr bwMode="auto">
          <a:xfrm>
            <a:off x="7167563"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6" name="Line 27"/>
          <p:cNvSpPr>
            <a:spLocks noChangeShapeType="1"/>
          </p:cNvSpPr>
          <p:nvPr/>
        </p:nvSpPr>
        <p:spPr bwMode="auto">
          <a:xfrm>
            <a:off x="7407275"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7" name="Line 28"/>
          <p:cNvSpPr>
            <a:spLocks noChangeShapeType="1"/>
          </p:cNvSpPr>
          <p:nvPr/>
        </p:nvSpPr>
        <p:spPr bwMode="auto">
          <a:xfrm>
            <a:off x="7645400" y="5394325"/>
            <a:ext cx="0" cy="173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8" name="Line 30"/>
          <p:cNvSpPr>
            <a:spLocks noChangeShapeType="1"/>
          </p:cNvSpPr>
          <p:nvPr/>
        </p:nvSpPr>
        <p:spPr bwMode="auto">
          <a:xfrm>
            <a:off x="2379663" y="5132388"/>
            <a:ext cx="239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9" name="Line 31"/>
          <p:cNvSpPr>
            <a:spLocks noChangeShapeType="1"/>
          </p:cNvSpPr>
          <p:nvPr/>
        </p:nvSpPr>
        <p:spPr bwMode="auto">
          <a:xfrm>
            <a:off x="2379663" y="4697413"/>
            <a:ext cx="239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0" name="Line 32"/>
          <p:cNvSpPr>
            <a:spLocks noChangeShapeType="1"/>
          </p:cNvSpPr>
          <p:nvPr/>
        </p:nvSpPr>
        <p:spPr bwMode="auto">
          <a:xfrm>
            <a:off x="2379663" y="4262438"/>
            <a:ext cx="239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1" name="Line 33"/>
          <p:cNvSpPr>
            <a:spLocks noChangeShapeType="1"/>
          </p:cNvSpPr>
          <p:nvPr/>
        </p:nvSpPr>
        <p:spPr bwMode="auto">
          <a:xfrm>
            <a:off x="2379663" y="3827463"/>
            <a:ext cx="239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2" name="Line 34"/>
          <p:cNvSpPr>
            <a:spLocks noChangeShapeType="1"/>
          </p:cNvSpPr>
          <p:nvPr/>
        </p:nvSpPr>
        <p:spPr bwMode="auto">
          <a:xfrm>
            <a:off x="2379663" y="3392488"/>
            <a:ext cx="239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3" name="Line 35"/>
          <p:cNvSpPr>
            <a:spLocks noChangeShapeType="1"/>
          </p:cNvSpPr>
          <p:nvPr/>
        </p:nvSpPr>
        <p:spPr bwMode="auto">
          <a:xfrm>
            <a:off x="2379663" y="2957513"/>
            <a:ext cx="239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94" name="Text Box 36"/>
          <p:cNvSpPr txBox="1">
            <a:spLocks noChangeArrowheads="1"/>
          </p:cNvSpPr>
          <p:nvPr/>
        </p:nvSpPr>
        <p:spPr bwMode="auto">
          <a:xfrm>
            <a:off x="2698750" y="556895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2</a:t>
            </a:r>
          </a:p>
        </p:txBody>
      </p:sp>
      <p:sp>
        <p:nvSpPr>
          <p:cNvPr id="112695" name="Text Box 37"/>
          <p:cNvSpPr txBox="1">
            <a:spLocks noChangeArrowheads="1"/>
          </p:cNvSpPr>
          <p:nvPr/>
        </p:nvSpPr>
        <p:spPr bwMode="auto">
          <a:xfrm>
            <a:off x="3178175" y="556895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4</a:t>
            </a:r>
          </a:p>
        </p:txBody>
      </p:sp>
      <p:sp>
        <p:nvSpPr>
          <p:cNvPr id="112696" name="Text Box 38"/>
          <p:cNvSpPr txBox="1">
            <a:spLocks noChangeArrowheads="1"/>
          </p:cNvSpPr>
          <p:nvPr/>
        </p:nvSpPr>
        <p:spPr bwMode="auto">
          <a:xfrm>
            <a:off x="3657600" y="5568950"/>
            <a:ext cx="3095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6</a:t>
            </a:r>
          </a:p>
        </p:txBody>
      </p:sp>
      <p:sp>
        <p:nvSpPr>
          <p:cNvPr id="112697" name="Text Box 39"/>
          <p:cNvSpPr txBox="1">
            <a:spLocks noChangeArrowheads="1"/>
          </p:cNvSpPr>
          <p:nvPr/>
        </p:nvSpPr>
        <p:spPr bwMode="auto">
          <a:xfrm>
            <a:off x="4148138" y="5568950"/>
            <a:ext cx="3127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8</a:t>
            </a:r>
          </a:p>
        </p:txBody>
      </p:sp>
      <p:sp>
        <p:nvSpPr>
          <p:cNvPr id="112698" name="Text Box 40"/>
          <p:cNvSpPr txBox="1">
            <a:spLocks noChangeArrowheads="1"/>
          </p:cNvSpPr>
          <p:nvPr/>
        </p:nvSpPr>
        <p:spPr bwMode="auto">
          <a:xfrm>
            <a:off x="4548188" y="556895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10</a:t>
            </a:r>
          </a:p>
        </p:txBody>
      </p:sp>
      <p:sp>
        <p:nvSpPr>
          <p:cNvPr id="112699" name="Text Box 41"/>
          <p:cNvSpPr txBox="1">
            <a:spLocks noChangeArrowheads="1"/>
          </p:cNvSpPr>
          <p:nvPr/>
        </p:nvSpPr>
        <p:spPr bwMode="auto">
          <a:xfrm>
            <a:off x="5065713" y="5568950"/>
            <a:ext cx="4397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12</a:t>
            </a:r>
          </a:p>
        </p:txBody>
      </p:sp>
      <p:sp>
        <p:nvSpPr>
          <p:cNvPr id="112700" name="Text Box 42"/>
          <p:cNvSpPr txBox="1">
            <a:spLocks noChangeArrowheads="1"/>
          </p:cNvSpPr>
          <p:nvPr/>
        </p:nvSpPr>
        <p:spPr bwMode="auto">
          <a:xfrm>
            <a:off x="5518150" y="556895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14</a:t>
            </a:r>
          </a:p>
        </p:txBody>
      </p:sp>
      <p:sp>
        <p:nvSpPr>
          <p:cNvPr id="112701" name="Text Box 43"/>
          <p:cNvSpPr txBox="1">
            <a:spLocks noChangeArrowheads="1"/>
          </p:cNvSpPr>
          <p:nvPr/>
        </p:nvSpPr>
        <p:spPr bwMode="auto">
          <a:xfrm>
            <a:off x="5997575" y="556895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16</a:t>
            </a:r>
          </a:p>
        </p:txBody>
      </p:sp>
      <p:sp>
        <p:nvSpPr>
          <p:cNvPr id="112702" name="Text Box 44"/>
          <p:cNvSpPr txBox="1">
            <a:spLocks noChangeArrowheads="1"/>
          </p:cNvSpPr>
          <p:nvPr/>
        </p:nvSpPr>
        <p:spPr bwMode="auto">
          <a:xfrm>
            <a:off x="6502400" y="556895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18</a:t>
            </a:r>
          </a:p>
        </p:txBody>
      </p:sp>
      <p:sp>
        <p:nvSpPr>
          <p:cNvPr id="112703" name="Text Box 45"/>
          <p:cNvSpPr txBox="1">
            <a:spLocks noChangeArrowheads="1"/>
          </p:cNvSpPr>
          <p:nvPr/>
        </p:nvSpPr>
        <p:spPr bwMode="auto">
          <a:xfrm>
            <a:off x="6981825" y="556895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20</a:t>
            </a:r>
          </a:p>
        </p:txBody>
      </p:sp>
      <p:sp>
        <p:nvSpPr>
          <p:cNvPr id="112704" name="Text Box 46"/>
          <p:cNvSpPr txBox="1">
            <a:spLocks noChangeArrowheads="1"/>
          </p:cNvSpPr>
          <p:nvPr/>
        </p:nvSpPr>
        <p:spPr bwMode="auto">
          <a:xfrm>
            <a:off x="7446963" y="556895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22</a:t>
            </a:r>
          </a:p>
        </p:txBody>
      </p:sp>
      <p:sp>
        <p:nvSpPr>
          <p:cNvPr id="112705" name="Text Box 47"/>
          <p:cNvSpPr txBox="1">
            <a:spLocks noChangeArrowheads="1"/>
          </p:cNvSpPr>
          <p:nvPr/>
        </p:nvSpPr>
        <p:spPr bwMode="auto">
          <a:xfrm>
            <a:off x="2260600" y="5568950"/>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0</a:t>
            </a:r>
          </a:p>
        </p:txBody>
      </p:sp>
      <p:sp>
        <p:nvSpPr>
          <p:cNvPr id="112706" name="Text Box 48"/>
          <p:cNvSpPr txBox="1">
            <a:spLocks noChangeArrowheads="1"/>
          </p:cNvSpPr>
          <p:nvPr/>
        </p:nvSpPr>
        <p:spPr bwMode="auto">
          <a:xfrm>
            <a:off x="2101850" y="5308600"/>
            <a:ext cx="3095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0</a:t>
            </a:r>
          </a:p>
        </p:txBody>
      </p:sp>
      <p:sp>
        <p:nvSpPr>
          <p:cNvPr id="112707" name="Text Box 49"/>
          <p:cNvSpPr txBox="1">
            <a:spLocks noChangeArrowheads="1"/>
          </p:cNvSpPr>
          <p:nvPr/>
        </p:nvSpPr>
        <p:spPr bwMode="auto">
          <a:xfrm>
            <a:off x="2101850" y="4873625"/>
            <a:ext cx="3095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4</a:t>
            </a:r>
          </a:p>
        </p:txBody>
      </p:sp>
      <p:sp>
        <p:nvSpPr>
          <p:cNvPr id="112708" name="Text Box 50"/>
          <p:cNvSpPr txBox="1">
            <a:spLocks noChangeArrowheads="1"/>
          </p:cNvSpPr>
          <p:nvPr/>
        </p:nvSpPr>
        <p:spPr bwMode="auto">
          <a:xfrm>
            <a:off x="2101850" y="4452938"/>
            <a:ext cx="3095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8</a:t>
            </a:r>
          </a:p>
        </p:txBody>
      </p:sp>
      <p:sp>
        <p:nvSpPr>
          <p:cNvPr id="112709" name="Text Box 51"/>
          <p:cNvSpPr txBox="1">
            <a:spLocks noChangeArrowheads="1"/>
          </p:cNvSpPr>
          <p:nvPr/>
        </p:nvSpPr>
        <p:spPr bwMode="auto">
          <a:xfrm>
            <a:off x="1981200" y="4032250"/>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12</a:t>
            </a:r>
          </a:p>
        </p:txBody>
      </p:sp>
      <p:sp>
        <p:nvSpPr>
          <p:cNvPr id="112710" name="Text Box 52"/>
          <p:cNvSpPr txBox="1">
            <a:spLocks noChangeArrowheads="1"/>
          </p:cNvSpPr>
          <p:nvPr/>
        </p:nvSpPr>
        <p:spPr bwMode="auto">
          <a:xfrm>
            <a:off x="1981200" y="3611563"/>
            <a:ext cx="438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16</a:t>
            </a:r>
          </a:p>
        </p:txBody>
      </p:sp>
      <p:sp>
        <p:nvSpPr>
          <p:cNvPr id="112711" name="Text Box 53"/>
          <p:cNvSpPr txBox="1">
            <a:spLocks noChangeArrowheads="1"/>
          </p:cNvSpPr>
          <p:nvPr/>
        </p:nvSpPr>
        <p:spPr bwMode="auto">
          <a:xfrm>
            <a:off x="1981200" y="3176588"/>
            <a:ext cx="438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20</a:t>
            </a:r>
          </a:p>
        </p:txBody>
      </p:sp>
      <p:sp>
        <p:nvSpPr>
          <p:cNvPr id="112712" name="Oval 56"/>
          <p:cNvSpPr>
            <a:spLocks noChangeArrowheads="1"/>
          </p:cNvSpPr>
          <p:nvPr/>
        </p:nvSpPr>
        <p:spPr bwMode="auto">
          <a:xfrm>
            <a:off x="2809875" y="5089525"/>
            <a:ext cx="92075"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13" name="Oval 57"/>
          <p:cNvSpPr>
            <a:spLocks noChangeArrowheads="1"/>
          </p:cNvSpPr>
          <p:nvPr/>
        </p:nvSpPr>
        <p:spPr bwMode="auto">
          <a:xfrm>
            <a:off x="2339975" y="5372100"/>
            <a:ext cx="93663"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14" name="Oval 58"/>
          <p:cNvSpPr>
            <a:spLocks noChangeArrowheads="1"/>
          </p:cNvSpPr>
          <p:nvPr/>
        </p:nvSpPr>
        <p:spPr bwMode="auto">
          <a:xfrm>
            <a:off x="2560638" y="5295900"/>
            <a:ext cx="92075"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15" name="Oval 59"/>
          <p:cNvSpPr>
            <a:spLocks noChangeArrowheads="1"/>
          </p:cNvSpPr>
          <p:nvPr/>
        </p:nvSpPr>
        <p:spPr bwMode="auto">
          <a:xfrm>
            <a:off x="3287713" y="3779838"/>
            <a:ext cx="93662" cy="1016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16" name="Oval 66"/>
          <p:cNvSpPr>
            <a:spLocks noChangeArrowheads="1"/>
          </p:cNvSpPr>
          <p:nvPr/>
        </p:nvSpPr>
        <p:spPr bwMode="auto">
          <a:xfrm>
            <a:off x="5197475" y="2897188"/>
            <a:ext cx="93663" cy="1016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17" name="Oval 69"/>
          <p:cNvSpPr>
            <a:spLocks noChangeArrowheads="1"/>
          </p:cNvSpPr>
          <p:nvPr/>
        </p:nvSpPr>
        <p:spPr bwMode="auto">
          <a:xfrm>
            <a:off x="6408738" y="4208463"/>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18" name="Oval 70"/>
          <p:cNvSpPr>
            <a:spLocks noChangeArrowheads="1"/>
          </p:cNvSpPr>
          <p:nvPr/>
        </p:nvSpPr>
        <p:spPr bwMode="auto">
          <a:xfrm>
            <a:off x="5681663" y="5284788"/>
            <a:ext cx="92075"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19" name="Oval 71"/>
          <p:cNvSpPr>
            <a:spLocks noChangeArrowheads="1"/>
          </p:cNvSpPr>
          <p:nvPr/>
        </p:nvSpPr>
        <p:spPr bwMode="auto">
          <a:xfrm>
            <a:off x="5926138" y="5072063"/>
            <a:ext cx="92075"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20" name="Oval 72"/>
          <p:cNvSpPr>
            <a:spLocks noChangeArrowheads="1"/>
          </p:cNvSpPr>
          <p:nvPr/>
        </p:nvSpPr>
        <p:spPr bwMode="auto">
          <a:xfrm>
            <a:off x="5437188" y="5372100"/>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21" name="Oval 73"/>
          <p:cNvSpPr>
            <a:spLocks noChangeArrowheads="1"/>
          </p:cNvSpPr>
          <p:nvPr/>
        </p:nvSpPr>
        <p:spPr bwMode="auto">
          <a:xfrm>
            <a:off x="6154738" y="4643438"/>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22" name="Oval 74"/>
          <p:cNvSpPr>
            <a:spLocks noChangeArrowheads="1"/>
          </p:cNvSpPr>
          <p:nvPr/>
        </p:nvSpPr>
        <p:spPr bwMode="auto">
          <a:xfrm>
            <a:off x="6643688" y="4094163"/>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23" name="Oval 75"/>
          <p:cNvSpPr>
            <a:spLocks noChangeArrowheads="1"/>
          </p:cNvSpPr>
          <p:nvPr/>
        </p:nvSpPr>
        <p:spPr bwMode="auto">
          <a:xfrm>
            <a:off x="7356475" y="3767138"/>
            <a:ext cx="93663"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24" name="Oval 76"/>
          <p:cNvSpPr>
            <a:spLocks noChangeArrowheads="1"/>
          </p:cNvSpPr>
          <p:nvPr/>
        </p:nvSpPr>
        <p:spPr bwMode="auto">
          <a:xfrm>
            <a:off x="6878638" y="3979863"/>
            <a:ext cx="92075"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25" name="Oval 77"/>
          <p:cNvSpPr>
            <a:spLocks noChangeArrowheads="1"/>
          </p:cNvSpPr>
          <p:nvPr/>
        </p:nvSpPr>
        <p:spPr bwMode="auto">
          <a:xfrm>
            <a:off x="7116763" y="3876675"/>
            <a:ext cx="93662" cy="101600"/>
          </a:xfrm>
          <a:prstGeom prst="ellipse">
            <a:avLst/>
          </a:prstGeom>
          <a:solidFill>
            <a:srgbClr val="808080"/>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26" name="Text Box 78"/>
          <p:cNvSpPr txBox="1">
            <a:spLocks noChangeArrowheads="1"/>
          </p:cNvSpPr>
          <p:nvPr/>
        </p:nvSpPr>
        <p:spPr bwMode="auto">
          <a:xfrm>
            <a:off x="7645400" y="5135563"/>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传输轮次</a:t>
            </a:r>
          </a:p>
        </p:txBody>
      </p:sp>
      <p:sp>
        <p:nvSpPr>
          <p:cNvPr id="112727" name="Text Box 79"/>
          <p:cNvSpPr txBox="1">
            <a:spLocks noChangeArrowheads="1"/>
          </p:cNvSpPr>
          <p:nvPr/>
        </p:nvSpPr>
        <p:spPr bwMode="auto">
          <a:xfrm>
            <a:off x="1446213" y="2190750"/>
            <a:ext cx="16954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拥塞窗口 </a:t>
            </a:r>
            <a:r>
              <a:rPr kumimoji="1" lang="en-US" altLang="zh-CN" sz="1800">
                <a:solidFill>
                  <a:schemeClr val="folHlink"/>
                </a:solidFill>
                <a:latin typeface="Arial" pitchFamily="34" charset="0"/>
                <a:ea typeface="黑体" pitchFamily="49" charset="-122"/>
              </a:rPr>
              <a:t>cwnd</a:t>
            </a:r>
          </a:p>
        </p:txBody>
      </p:sp>
      <p:sp>
        <p:nvSpPr>
          <p:cNvPr id="112728" name="Text Box 80"/>
          <p:cNvSpPr txBox="1">
            <a:spLocks noChangeArrowheads="1"/>
          </p:cNvSpPr>
          <p:nvPr/>
        </p:nvSpPr>
        <p:spPr bwMode="auto">
          <a:xfrm>
            <a:off x="5549900" y="2271713"/>
            <a:ext cx="2266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收到 </a:t>
            </a:r>
            <a:r>
              <a:rPr kumimoji="1" lang="en-US" altLang="zh-CN" sz="1800">
                <a:solidFill>
                  <a:schemeClr val="folHlink"/>
                </a:solidFill>
                <a:latin typeface="Arial" pitchFamily="34" charset="0"/>
                <a:ea typeface="黑体" pitchFamily="49" charset="-122"/>
              </a:rPr>
              <a:t>3 </a:t>
            </a:r>
            <a:r>
              <a:rPr kumimoji="1" lang="zh-CN" altLang="en-US" sz="1800">
                <a:solidFill>
                  <a:schemeClr val="folHlink"/>
                </a:solidFill>
                <a:latin typeface="Arial" pitchFamily="34" charset="0"/>
                <a:ea typeface="黑体" pitchFamily="49" charset="-122"/>
              </a:rPr>
              <a:t>个重复的确认</a:t>
            </a:r>
          </a:p>
          <a:p>
            <a:pPr algn="ctr" eaLnBrk="1" hangingPunct="1"/>
            <a:r>
              <a:rPr kumimoji="1" lang="zh-CN" altLang="en-US" sz="1800">
                <a:solidFill>
                  <a:schemeClr val="folHlink"/>
                </a:solidFill>
                <a:latin typeface="Arial" pitchFamily="34" charset="0"/>
                <a:ea typeface="黑体" pitchFamily="49" charset="-122"/>
              </a:rPr>
              <a:t>执行快重传算法</a:t>
            </a:r>
          </a:p>
        </p:txBody>
      </p:sp>
      <p:sp>
        <p:nvSpPr>
          <p:cNvPr id="112729" name="Line 81"/>
          <p:cNvSpPr>
            <a:spLocks noChangeShapeType="1"/>
          </p:cNvSpPr>
          <p:nvPr/>
        </p:nvSpPr>
        <p:spPr bwMode="auto">
          <a:xfrm flipH="1">
            <a:off x="5273675" y="2708275"/>
            <a:ext cx="508000" cy="238125"/>
          </a:xfrm>
          <a:prstGeom prst="line">
            <a:avLst/>
          </a:prstGeom>
          <a:noFill/>
          <a:ln w="952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0" name="Line 82"/>
          <p:cNvSpPr>
            <a:spLocks noChangeShapeType="1"/>
          </p:cNvSpPr>
          <p:nvPr/>
        </p:nvSpPr>
        <p:spPr bwMode="auto">
          <a:xfrm>
            <a:off x="3595688" y="3201988"/>
            <a:ext cx="601662" cy="246062"/>
          </a:xfrm>
          <a:prstGeom prst="line">
            <a:avLst/>
          </a:prstGeom>
          <a:noFill/>
          <a:ln w="952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1" name="Rectangle 83"/>
          <p:cNvSpPr>
            <a:spLocks noChangeArrowheads="1"/>
          </p:cNvSpPr>
          <p:nvPr/>
        </p:nvSpPr>
        <p:spPr bwMode="auto">
          <a:xfrm>
            <a:off x="2460625" y="2870200"/>
            <a:ext cx="198438" cy="23209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2" name="Line 86"/>
          <p:cNvSpPr>
            <a:spLocks noChangeShapeType="1"/>
          </p:cNvSpPr>
          <p:nvPr/>
        </p:nvSpPr>
        <p:spPr bwMode="auto">
          <a:xfrm rot="10800000">
            <a:off x="2460625" y="4262438"/>
            <a:ext cx="3030538" cy="95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3" name="Rectangle 87"/>
          <p:cNvSpPr>
            <a:spLocks noChangeArrowheads="1"/>
          </p:cNvSpPr>
          <p:nvPr/>
        </p:nvSpPr>
        <p:spPr bwMode="auto">
          <a:xfrm>
            <a:off x="2779713" y="5307013"/>
            <a:ext cx="2552700" cy="1730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4" name="Rectangle 88"/>
          <p:cNvSpPr>
            <a:spLocks noChangeArrowheads="1"/>
          </p:cNvSpPr>
          <p:nvPr/>
        </p:nvSpPr>
        <p:spPr bwMode="auto">
          <a:xfrm>
            <a:off x="5891213" y="5307013"/>
            <a:ext cx="1835150" cy="1730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5" name="Line 89"/>
          <p:cNvSpPr>
            <a:spLocks noChangeShapeType="1"/>
          </p:cNvSpPr>
          <p:nvPr/>
        </p:nvSpPr>
        <p:spPr bwMode="auto">
          <a:xfrm>
            <a:off x="4813300" y="2968625"/>
            <a:ext cx="0" cy="1304925"/>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6" name="Text Box 90"/>
          <p:cNvSpPr txBox="1">
            <a:spLocks noChangeArrowheads="1"/>
          </p:cNvSpPr>
          <p:nvPr/>
        </p:nvSpPr>
        <p:spPr bwMode="auto">
          <a:xfrm>
            <a:off x="1003300" y="4991100"/>
            <a:ext cx="898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12737" name="Line 91"/>
          <p:cNvSpPr>
            <a:spLocks noChangeShapeType="1"/>
          </p:cNvSpPr>
          <p:nvPr/>
        </p:nvSpPr>
        <p:spPr bwMode="auto">
          <a:xfrm>
            <a:off x="1781175" y="5241925"/>
            <a:ext cx="558800" cy="173038"/>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8" name="Text Box 92"/>
          <p:cNvSpPr txBox="1">
            <a:spLocks noChangeArrowheads="1"/>
          </p:cNvSpPr>
          <p:nvPr/>
        </p:nvSpPr>
        <p:spPr bwMode="auto">
          <a:xfrm>
            <a:off x="4210050" y="3475038"/>
            <a:ext cx="1255713" cy="3667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1800">
                <a:solidFill>
                  <a:schemeClr val="folHlink"/>
                </a:solidFill>
                <a:latin typeface="Arial" pitchFamily="34" charset="0"/>
                <a:ea typeface="黑体" pitchFamily="49" charset="-122"/>
              </a:rPr>
              <a:t>“</a:t>
            </a:r>
            <a:r>
              <a:rPr kumimoji="1" lang="zh-CN" altLang="en-US" sz="1800">
                <a:solidFill>
                  <a:schemeClr val="folHlink"/>
                </a:solidFill>
                <a:latin typeface="Arial" pitchFamily="34" charset="0"/>
                <a:ea typeface="黑体" pitchFamily="49" charset="-122"/>
              </a:rPr>
              <a:t>乘法减小”</a:t>
            </a:r>
          </a:p>
        </p:txBody>
      </p:sp>
      <p:sp>
        <p:nvSpPr>
          <p:cNvPr id="112739" name="Text Box 93"/>
          <p:cNvSpPr txBox="1">
            <a:spLocks noChangeArrowheads="1"/>
          </p:cNvSpPr>
          <p:nvPr/>
        </p:nvSpPr>
        <p:spPr bwMode="auto">
          <a:xfrm>
            <a:off x="5546725" y="3087688"/>
            <a:ext cx="125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hlink"/>
                </a:solidFill>
                <a:latin typeface="Arial" pitchFamily="34" charset="0"/>
                <a:ea typeface="黑体" pitchFamily="49" charset="-122"/>
              </a:rPr>
              <a:t>拥塞避免</a:t>
            </a:r>
          </a:p>
          <a:p>
            <a:pPr algn="ctr" eaLnBrk="1" hangingPunct="1"/>
            <a:r>
              <a:rPr kumimoji="1" lang="zh-CN" altLang="en-US" sz="1800">
                <a:solidFill>
                  <a:schemeClr val="hlink"/>
                </a:solidFill>
                <a:latin typeface="Arial" pitchFamily="34" charset="0"/>
                <a:ea typeface="黑体" pitchFamily="49" charset="-122"/>
              </a:rPr>
              <a:t>“加法增大”</a:t>
            </a:r>
          </a:p>
        </p:txBody>
      </p:sp>
      <p:sp>
        <p:nvSpPr>
          <p:cNvPr id="112740" name="Freeform 94"/>
          <p:cNvSpPr>
            <a:spLocks/>
          </p:cNvSpPr>
          <p:nvPr/>
        </p:nvSpPr>
        <p:spPr bwMode="auto">
          <a:xfrm>
            <a:off x="5238750" y="2971800"/>
            <a:ext cx="2314575" cy="2457450"/>
          </a:xfrm>
          <a:custGeom>
            <a:avLst/>
            <a:gdLst>
              <a:gd name="T0" fmla="*/ 0 w 1392"/>
              <a:gd name="T1" fmla="*/ 0 h 1356"/>
              <a:gd name="T2" fmla="*/ 252741 w 1392"/>
              <a:gd name="T3" fmla="*/ 2457450 h 1356"/>
              <a:gd name="T4" fmla="*/ 498831 w 1392"/>
              <a:gd name="T5" fmla="*/ 2355962 h 1356"/>
              <a:gd name="T6" fmla="*/ 744921 w 1392"/>
              <a:gd name="T7" fmla="*/ 2152987 h 1356"/>
              <a:gd name="T8" fmla="*/ 957755 w 1392"/>
              <a:gd name="T9" fmla="*/ 1725289 h 1356"/>
              <a:gd name="T10" fmla="*/ 1210496 w 1392"/>
              <a:gd name="T11" fmla="*/ 1283093 h 1356"/>
              <a:gd name="T12" fmla="*/ 2314575 w 1392"/>
              <a:gd name="T13" fmla="*/ 775655 h 13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356">
                <a:moveTo>
                  <a:pt x="0" y="0"/>
                </a:moveTo>
                <a:lnTo>
                  <a:pt x="152" y="1356"/>
                </a:lnTo>
                <a:lnTo>
                  <a:pt x="300" y="1300"/>
                </a:lnTo>
                <a:lnTo>
                  <a:pt x="448" y="1188"/>
                </a:lnTo>
                <a:lnTo>
                  <a:pt x="576" y="952"/>
                </a:lnTo>
                <a:lnTo>
                  <a:pt x="728" y="708"/>
                </a:lnTo>
                <a:lnTo>
                  <a:pt x="1392" y="428"/>
                </a:lnTo>
              </a:path>
            </a:pathLst>
          </a:custGeom>
          <a:noFill/>
          <a:ln w="9525" cap="flat">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1" name="Text Box 105"/>
          <p:cNvSpPr txBox="1">
            <a:spLocks noChangeArrowheads="1"/>
          </p:cNvSpPr>
          <p:nvPr/>
        </p:nvSpPr>
        <p:spPr bwMode="auto">
          <a:xfrm>
            <a:off x="7569200" y="3003550"/>
            <a:ext cx="1250950" cy="641350"/>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Arial" pitchFamily="34" charset="0"/>
                <a:ea typeface="黑体" pitchFamily="49" charset="-122"/>
              </a:rPr>
              <a:t>TCP Reno</a:t>
            </a:r>
          </a:p>
          <a:p>
            <a:pPr algn="ctr" eaLnBrk="1" hangingPunct="1"/>
            <a:r>
              <a:rPr kumimoji="1" lang="zh-CN" altLang="en-US" sz="1800">
                <a:solidFill>
                  <a:schemeClr val="folHlink"/>
                </a:solidFill>
                <a:latin typeface="Arial" pitchFamily="34" charset="0"/>
                <a:ea typeface="黑体" pitchFamily="49" charset="-122"/>
              </a:rPr>
              <a:t>版本</a:t>
            </a:r>
          </a:p>
        </p:txBody>
      </p:sp>
      <p:sp>
        <p:nvSpPr>
          <p:cNvPr id="781418" name="Text Box 106"/>
          <p:cNvSpPr txBox="1">
            <a:spLocks noChangeArrowheads="1"/>
          </p:cNvSpPr>
          <p:nvPr/>
        </p:nvSpPr>
        <p:spPr bwMode="auto">
          <a:xfrm>
            <a:off x="6804025" y="4240213"/>
            <a:ext cx="1873250" cy="641350"/>
          </a:xfrm>
          <a:prstGeom prst="rect">
            <a:avLst/>
          </a:prstGeom>
          <a:solidFill>
            <a:srgbClr val="CCECFF"/>
          </a:solidFill>
          <a:ln>
            <a:noFill/>
          </a:ln>
          <a:effectLst>
            <a:outerShdw dist="45791" dir="2021404"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Arial" pitchFamily="34" charset="0"/>
                <a:ea typeface="黑体" pitchFamily="49" charset="-122"/>
              </a:rPr>
              <a:t>TCP Tahoe </a:t>
            </a:r>
            <a:r>
              <a:rPr kumimoji="1" lang="zh-CN" altLang="en-US" sz="1800">
                <a:solidFill>
                  <a:schemeClr val="folHlink"/>
                </a:solidFill>
                <a:latin typeface="Arial" pitchFamily="34" charset="0"/>
                <a:ea typeface="黑体" pitchFamily="49" charset="-122"/>
              </a:rPr>
              <a:t>版本</a:t>
            </a:r>
          </a:p>
          <a:p>
            <a:pPr algn="ctr" eaLnBrk="1" hangingPunct="1"/>
            <a:r>
              <a:rPr kumimoji="1" lang="en-US" altLang="zh-CN" sz="1800">
                <a:solidFill>
                  <a:schemeClr val="folHlink"/>
                </a:solidFill>
                <a:latin typeface="Arial" pitchFamily="34" charset="0"/>
                <a:ea typeface="黑体" pitchFamily="49" charset="-122"/>
              </a:rPr>
              <a:t>(</a:t>
            </a:r>
            <a:r>
              <a:rPr kumimoji="1" lang="zh-CN" altLang="en-US" sz="1800">
                <a:solidFill>
                  <a:schemeClr val="folHlink"/>
                </a:solidFill>
                <a:latin typeface="Arial" pitchFamily="34" charset="0"/>
                <a:ea typeface="黑体" pitchFamily="49" charset="-122"/>
              </a:rPr>
              <a:t>已废弃不用）</a:t>
            </a:r>
          </a:p>
        </p:txBody>
      </p:sp>
      <p:sp>
        <p:nvSpPr>
          <p:cNvPr id="112743" name="Text Box 107"/>
          <p:cNvSpPr txBox="1">
            <a:spLocks noChangeArrowheads="1"/>
          </p:cNvSpPr>
          <p:nvPr/>
        </p:nvSpPr>
        <p:spPr bwMode="auto">
          <a:xfrm>
            <a:off x="100013" y="3629025"/>
            <a:ext cx="2024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en-US" altLang="zh-CN" sz="1800">
                <a:solidFill>
                  <a:schemeClr val="folHlink"/>
                </a:solidFill>
                <a:latin typeface="Arial" pitchFamily="34" charset="0"/>
                <a:ea typeface="黑体" pitchFamily="49" charset="-122"/>
              </a:rPr>
              <a:t>ssthresh </a:t>
            </a:r>
            <a:r>
              <a:rPr kumimoji="1" lang="zh-CN" altLang="en-US" sz="1800">
                <a:solidFill>
                  <a:schemeClr val="folHlink"/>
                </a:solidFill>
                <a:latin typeface="Arial" pitchFamily="34" charset="0"/>
                <a:ea typeface="黑体" pitchFamily="49" charset="-122"/>
              </a:rPr>
              <a:t>的初始值</a:t>
            </a:r>
          </a:p>
        </p:txBody>
      </p:sp>
      <p:sp>
        <p:nvSpPr>
          <p:cNvPr id="112744" name="Text Box 108"/>
          <p:cNvSpPr txBox="1">
            <a:spLocks noChangeArrowheads="1"/>
          </p:cNvSpPr>
          <p:nvPr/>
        </p:nvSpPr>
        <p:spPr bwMode="auto">
          <a:xfrm>
            <a:off x="2532063" y="2922588"/>
            <a:ext cx="125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hlink"/>
                </a:solidFill>
                <a:latin typeface="Arial" pitchFamily="34" charset="0"/>
                <a:ea typeface="黑体" pitchFamily="49" charset="-122"/>
              </a:rPr>
              <a:t>拥塞避免</a:t>
            </a:r>
          </a:p>
          <a:p>
            <a:pPr algn="ctr" eaLnBrk="1" hangingPunct="1"/>
            <a:r>
              <a:rPr kumimoji="1" lang="zh-CN" altLang="en-US" sz="1800">
                <a:solidFill>
                  <a:schemeClr val="hlink"/>
                </a:solidFill>
                <a:latin typeface="Arial" pitchFamily="34" charset="0"/>
                <a:ea typeface="黑体" pitchFamily="49" charset="-122"/>
              </a:rPr>
              <a:t>“加法增大”</a:t>
            </a:r>
          </a:p>
        </p:txBody>
      </p:sp>
      <p:sp>
        <p:nvSpPr>
          <p:cNvPr id="112745" name="Text Box 109"/>
          <p:cNvSpPr txBox="1">
            <a:spLocks noChangeArrowheads="1"/>
          </p:cNvSpPr>
          <p:nvPr/>
        </p:nvSpPr>
        <p:spPr bwMode="auto">
          <a:xfrm>
            <a:off x="263525" y="4041775"/>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1800">
                <a:solidFill>
                  <a:schemeClr val="folHlink"/>
                </a:solidFill>
                <a:latin typeface="Arial" pitchFamily="34" charset="0"/>
                <a:ea typeface="黑体" pitchFamily="49" charset="-122"/>
              </a:rPr>
              <a:t>新的 </a:t>
            </a:r>
            <a:r>
              <a:rPr kumimoji="1" lang="en-US" altLang="zh-CN" sz="1800">
                <a:solidFill>
                  <a:schemeClr val="folHlink"/>
                </a:solidFill>
                <a:latin typeface="Arial" pitchFamily="34" charset="0"/>
                <a:ea typeface="黑体" pitchFamily="49" charset="-122"/>
              </a:rPr>
              <a:t>ssthresh </a:t>
            </a:r>
            <a:r>
              <a:rPr kumimoji="1" lang="zh-CN" altLang="en-US" sz="1800">
                <a:solidFill>
                  <a:schemeClr val="folHlink"/>
                </a:solidFill>
                <a:latin typeface="Arial" pitchFamily="34" charset="0"/>
                <a:ea typeface="黑体" pitchFamily="49" charset="-122"/>
              </a:rPr>
              <a:t>值</a:t>
            </a:r>
          </a:p>
        </p:txBody>
      </p:sp>
      <p:sp>
        <p:nvSpPr>
          <p:cNvPr id="112746" name="Line 110"/>
          <p:cNvSpPr>
            <a:spLocks noChangeShapeType="1"/>
          </p:cNvSpPr>
          <p:nvPr/>
        </p:nvSpPr>
        <p:spPr bwMode="auto">
          <a:xfrm>
            <a:off x="6310313" y="4518025"/>
            <a:ext cx="601662" cy="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47" name="Line 111"/>
          <p:cNvSpPr>
            <a:spLocks noChangeShapeType="1"/>
          </p:cNvSpPr>
          <p:nvPr/>
        </p:nvSpPr>
        <p:spPr bwMode="auto">
          <a:xfrm>
            <a:off x="4845050" y="5248275"/>
            <a:ext cx="558800" cy="174625"/>
          </a:xfrm>
          <a:prstGeom prst="line">
            <a:avLst/>
          </a:prstGeom>
          <a:noFill/>
          <a:ln w="9525">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48" name="Text Box 112"/>
          <p:cNvSpPr txBox="1">
            <a:spLocks noChangeArrowheads="1"/>
          </p:cNvSpPr>
          <p:nvPr/>
        </p:nvSpPr>
        <p:spPr bwMode="auto">
          <a:xfrm>
            <a:off x="3995738" y="5013325"/>
            <a:ext cx="1049337"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慢开始</a:t>
            </a:r>
          </a:p>
        </p:txBody>
      </p:sp>
      <p:sp>
        <p:nvSpPr>
          <p:cNvPr id="112749" name="Text Box 113"/>
          <p:cNvSpPr txBox="1">
            <a:spLocks noChangeArrowheads="1"/>
          </p:cNvSpPr>
          <p:nvPr/>
        </p:nvSpPr>
        <p:spPr bwMode="auto">
          <a:xfrm>
            <a:off x="4122738" y="4298950"/>
            <a:ext cx="8969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1800">
                <a:solidFill>
                  <a:schemeClr val="folHlink"/>
                </a:solidFill>
                <a:latin typeface="Arial" pitchFamily="34" charset="0"/>
                <a:ea typeface="黑体" pitchFamily="49" charset="-122"/>
              </a:rPr>
              <a:t>快恢复</a:t>
            </a:r>
          </a:p>
        </p:txBody>
      </p:sp>
      <p:sp>
        <p:nvSpPr>
          <p:cNvPr id="112750" name="Line 114"/>
          <p:cNvSpPr>
            <a:spLocks noChangeShapeType="1"/>
          </p:cNvSpPr>
          <p:nvPr/>
        </p:nvSpPr>
        <p:spPr bwMode="auto">
          <a:xfrm flipV="1">
            <a:off x="4876800" y="4300538"/>
            <a:ext cx="585788" cy="2174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51" name="Freeform 95"/>
          <p:cNvSpPr>
            <a:spLocks/>
          </p:cNvSpPr>
          <p:nvPr/>
        </p:nvSpPr>
        <p:spPr bwMode="auto">
          <a:xfrm>
            <a:off x="5253038" y="2946400"/>
            <a:ext cx="2224087" cy="1327150"/>
          </a:xfrm>
          <a:custGeom>
            <a:avLst/>
            <a:gdLst>
              <a:gd name="T0" fmla="*/ 0 w 1338"/>
              <a:gd name="T1" fmla="*/ 0 h 732"/>
              <a:gd name="T2" fmla="*/ 229390 w 1338"/>
              <a:gd name="T3" fmla="*/ 1327150 h 732"/>
              <a:gd name="T4" fmla="*/ 2224087 w 1338"/>
              <a:gd name="T5" fmla="*/ 424253 h 732"/>
              <a:gd name="T6" fmla="*/ 0 60000 65536"/>
              <a:gd name="T7" fmla="*/ 0 60000 65536"/>
              <a:gd name="T8" fmla="*/ 0 60000 65536"/>
            </a:gdLst>
            <a:ahLst/>
            <a:cxnLst>
              <a:cxn ang="T6">
                <a:pos x="T0" y="T1"/>
              </a:cxn>
              <a:cxn ang="T7">
                <a:pos x="T2" y="T3"/>
              </a:cxn>
              <a:cxn ang="T8">
                <a:pos x="T4" y="T5"/>
              </a:cxn>
            </a:cxnLst>
            <a:rect l="0" t="0" r="r" b="b"/>
            <a:pathLst>
              <a:path w="1338" h="732">
                <a:moveTo>
                  <a:pt x="0" y="0"/>
                </a:moveTo>
                <a:lnTo>
                  <a:pt x="138" y="732"/>
                </a:lnTo>
                <a:lnTo>
                  <a:pt x="1338" y="234"/>
                </a:lnTo>
              </a:path>
            </a:pathLst>
          </a:custGeom>
          <a:noFill/>
          <a:ln w="28575" cmpd="sng">
            <a:solidFill>
              <a:schemeClr val="tx2"/>
            </a:solidFill>
            <a:round/>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52" name="Line 85"/>
          <p:cNvSpPr>
            <a:spLocks noChangeShapeType="1"/>
          </p:cNvSpPr>
          <p:nvPr/>
        </p:nvSpPr>
        <p:spPr bwMode="auto">
          <a:xfrm>
            <a:off x="2460625" y="2957513"/>
            <a:ext cx="438785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mph" presetSubtype="0" repeatCount="4000" fill="hold" grpId="0" nodeType="afterEffect">
                                  <p:stCondLst>
                                    <p:cond delay="0"/>
                                  </p:stCondLst>
                                  <p:childTnLst>
                                    <p:anim calcmode="discrete" valueType="str">
                                      <p:cBhvr override="childStyle">
                                        <p:cTn id="6" dur="1000" fill="hold"/>
                                        <p:tgtEl>
                                          <p:spTgt spid="781418">
                                            <p:txEl>
                                              <p:charRg st="4294967295" end="4294967295"/>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41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6ABB0DC-6537-48F0-9653-3565B89D8AE3}" type="slidenum">
              <a:rPr lang="en-US" altLang="zh-CN" sz="1400"/>
              <a:pPr eaLnBrk="1" hangingPunct="1"/>
              <a:t>109</a:t>
            </a:fld>
            <a:endParaRPr lang="en-US" altLang="zh-CN" sz="1400"/>
          </a:p>
        </p:txBody>
      </p:sp>
      <p:sp>
        <p:nvSpPr>
          <p:cNvPr id="113667" name="Rectangle 2"/>
          <p:cNvSpPr>
            <a:spLocks noChangeArrowheads="1"/>
          </p:cNvSpPr>
          <p:nvPr/>
        </p:nvSpPr>
        <p:spPr bwMode="auto">
          <a:xfrm>
            <a:off x="250825" y="3284538"/>
            <a:ext cx="8731250" cy="785812"/>
          </a:xfrm>
          <a:prstGeom prst="rect">
            <a:avLst/>
          </a:prstGeom>
          <a:solidFill>
            <a:srgbClr val="FFFFCC"/>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668" name="Rectangle 3"/>
          <p:cNvSpPr>
            <a:spLocks noGrp="1" noChangeArrowheads="1"/>
          </p:cNvSpPr>
          <p:nvPr>
            <p:ph type="title"/>
          </p:nvPr>
        </p:nvSpPr>
        <p:spPr/>
        <p:txBody>
          <a:bodyPr/>
          <a:lstStyle/>
          <a:p>
            <a:pPr algn="ctr" eaLnBrk="1" hangingPunct="1"/>
            <a:r>
              <a:rPr lang="zh-CN" altLang="en-US" smtClean="0"/>
              <a:t>发送窗口的上限值</a:t>
            </a:r>
          </a:p>
        </p:txBody>
      </p:sp>
      <p:sp>
        <p:nvSpPr>
          <p:cNvPr id="801796" name="Rectangle 4"/>
          <p:cNvSpPr>
            <a:spLocks noGrp="1" noChangeArrowheads="1"/>
          </p:cNvSpPr>
          <p:nvPr>
            <p:ph type="body" idx="1"/>
          </p:nvPr>
        </p:nvSpPr>
        <p:spPr>
          <a:xfrm>
            <a:off x="468313" y="1989138"/>
            <a:ext cx="8675687" cy="4248150"/>
          </a:xfrm>
        </p:spPr>
        <p:txBody>
          <a:bodyPr/>
          <a:lstStyle/>
          <a:p>
            <a:pPr eaLnBrk="1" hangingPunct="1">
              <a:lnSpc>
                <a:spcPct val="80000"/>
              </a:lnSpc>
            </a:pPr>
            <a:r>
              <a:rPr lang="zh-CN" altLang="en-US" sz="2800" smtClean="0"/>
              <a:t>发送方的发送窗口的上限值应当取为接收方窗口 </a:t>
            </a:r>
            <a:r>
              <a:rPr lang="en-US" altLang="zh-CN" sz="2800" smtClean="0"/>
              <a:t>rwnd </a:t>
            </a:r>
            <a:r>
              <a:rPr lang="zh-CN" altLang="en-US" sz="2800" smtClean="0"/>
              <a:t>和拥塞窗口 </a:t>
            </a:r>
            <a:r>
              <a:rPr lang="en-US" altLang="zh-CN" sz="2800" smtClean="0"/>
              <a:t>cwnd </a:t>
            </a:r>
            <a:r>
              <a:rPr lang="zh-CN" altLang="en-US" sz="2800" smtClean="0"/>
              <a:t>这两个变量中较小的一个，即应按以下公式确定：</a:t>
            </a:r>
          </a:p>
          <a:p>
            <a:pPr eaLnBrk="1" hangingPunct="1">
              <a:lnSpc>
                <a:spcPct val="80000"/>
              </a:lnSpc>
              <a:spcBef>
                <a:spcPct val="70000"/>
              </a:spcBef>
              <a:spcAft>
                <a:spcPct val="60000"/>
              </a:spcAft>
              <a:buFont typeface="Wingdings" pitchFamily="2" charset="2"/>
              <a:buNone/>
            </a:pPr>
            <a:r>
              <a:rPr lang="zh-CN" altLang="en-US" sz="2800" smtClean="0"/>
              <a:t>发送窗口的上限值 </a:t>
            </a:r>
            <a:r>
              <a:rPr lang="zh-CN" altLang="en-US" sz="2800" smtClean="0">
                <a:sym typeface="Symbol" pitchFamily="18" charset="2"/>
              </a:rPr>
              <a:t></a:t>
            </a:r>
            <a:r>
              <a:rPr lang="zh-CN" altLang="en-US" sz="2800" smtClean="0"/>
              <a:t> </a:t>
            </a:r>
            <a:r>
              <a:rPr lang="en-US" altLang="zh-CN" sz="2800" smtClean="0"/>
              <a:t>Min [rwnd, cwnd]                 (5-8)</a:t>
            </a:r>
          </a:p>
          <a:p>
            <a:pPr eaLnBrk="1" hangingPunct="1">
              <a:lnSpc>
                <a:spcPct val="80000"/>
              </a:lnSpc>
            </a:pPr>
            <a:r>
              <a:rPr lang="zh-CN" altLang="en-US" sz="2800" smtClean="0"/>
              <a:t>当 </a:t>
            </a:r>
            <a:r>
              <a:rPr lang="en-US" altLang="zh-CN" sz="2800" smtClean="0"/>
              <a:t>rwnd &lt; cwnd </a:t>
            </a:r>
            <a:r>
              <a:rPr lang="zh-CN" altLang="en-US" sz="2800" smtClean="0"/>
              <a:t>时，是接收方的接收能力限制发送窗口的最大值。</a:t>
            </a:r>
          </a:p>
          <a:p>
            <a:pPr eaLnBrk="1" hangingPunct="1">
              <a:lnSpc>
                <a:spcPct val="80000"/>
              </a:lnSpc>
            </a:pPr>
            <a:r>
              <a:rPr lang="zh-CN" altLang="en-US" sz="2800" smtClean="0"/>
              <a:t>当 </a:t>
            </a:r>
            <a:r>
              <a:rPr lang="en-US" altLang="zh-CN" sz="2800" smtClean="0"/>
              <a:t>cwnd &lt; rwnd </a:t>
            </a:r>
            <a:r>
              <a:rPr lang="zh-CN" altLang="en-US" sz="2800" smtClean="0"/>
              <a:t>时，则是网络的拥塞限制发送窗口的最大值。</a:t>
            </a:r>
            <a:r>
              <a:rPr lang="zh-CN" altLang="en-US" smtClean="0"/>
              <a:t> </a:t>
            </a:r>
          </a:p>
          <a:p>
            <a:pPr eaLnBrk="1" hangingPunct="1">
              <a:lnSpc>
                <a:spcPct val="80000"/>
              </a:lnSpc>
            </a:pPr>
            <a:r>
              <a:rPr lang="en-US" altLang="zh-CN" sz="2800" smtClean="0"/>
              <a:t>P222  5-39</a:t>
            </a:r>
          </a:p>
          <a:p>
            <a:pPr eaLnBrk="1" hangingPunct="1">
              <a:lnSpc>
                <a:spcPct val="80000"/>
              </a:lnSpc>
            </a:pPr>
            <a:endParaRPr lang="en-US" altLang="zh-CN" sz="280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179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179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0179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6" grpId="0" build="p"/>
    </p:bld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323850" y="214313"/>
            <a:ext cx="7793038" cy="982662"/>
          </a:xfrm>
        </p:spPr>
        <p:txBody>
          <a:bodyPr/>
          <a:lstStyle/>
          <a:p>
            <a:pPr algn="ctr" eaLnBrk="1" hangingPunct="1">
              <a:lnSpc>
                <a:spcPct val="80000"/>
              </a:lnSpc>
            </a:pPr>
            <a:r>
              <a:rPr lang="en-US" altLang="zh-CN" smtClean="0"/>
              <a:t>5.8.3  </a:t>
            </a:r>
            <a:r>
              <a:rPr lang="zh-CN" altLang="en-US" smtClean="0"/>
              <a:t>随机早期检测 </a:t>
            </a:r>
            <a:r>
              <a:rPr lang="en-US" altLang="zh-CN" smtClean="0"/>
              <a:t>RED </a:t>
            </a:r>
            <a:r>
              <a:rPr lang="en-US" altLang="zh-CN" sz="3200" smtClean="0"/>
              <a:t>(Random Early Detection)</a:t>
            </a:r>
            <a:r>
              <a:rPr lang="en-US" altLang="zh-CN" sz="4000" smtClean="0"/>
              <a:t> </a:t>
            </a:r>
          </a:p>
        </p:txBody>
      </p:sp>
      <p:sp>
        <p:nvSpPr>
          <p:cNvPr id="114691" name="Rectangle 3"/>
          <p:cNvSpPr>
            <a:spLocks noGrp="1" noChangeArrowheads="1"/>
          </p:cNvSpPr>
          <p:nvPr>
            <p:ph type="body" idx="1"/>
          </p:nvPr>
        </p:nvSpPr>
        <p:spPr>
          <a:xfrm>
            <a:off x="827088" y="1196975"/>
            <a:ext cx="7921625" cy="5400675"/>
          </a:xfrm>
          <a:solidFill>
            <a:srgbClr val="FFFF99"/>
          </a:solidFill>
          <a:ln>
            <a:solidFill>
              <a:srgbClr val="333399"/>
            </a:solidFill>
            <a:miter lim="800000"/>
            <a:headEnd/>
            <a:tailEnd/>
          </a:ln>
        </p:spPr>
        <p:txBody>
          <a:bodyPr/>
          <a:lstStyle/>
          <a:p>
            <a:pPr eaLnBrk="1" hangingPunct="1"/>
            <a:r>
              <a:rPr lang="zh-CN" altLang="en-US" sz="2400" smtClean="0"/>
              <a:t>在拥塞早期，以一定的概率随机丢弃分组，防止很多</a:t>
            </a:r>
            <a:r>
              <a:rPr lang="en-US" altLang="zh-CN" sz="2400" smtClean="0"/>
              <a:t>TCP</a:t>
            </a:r>
            <a:r>
              <a:rPr lang="zh-CN" altLang="en-US" sz="2400" smtClean="0"/>
              <a:t>连接同时进入慢开始状态，全网通信量突然下降。</a:t>
            </a:r>
          </a:p>
          <a:p>
            <a:pPr eaLnBrk="1" hangingPunct="1"/>
            <a:r>
              <a:rPr lang="zh-CN" altLang="en-US" sz="2400" smtClean="0"/>
              <a:t>使路由器的队列维持两个参数，即队列长度最小门限 </a:t>
            </a:r>
            <a:r>
              <a:rPr lang="en-US" altLang="zh-CN" sz="2400" smtClean="0"/>
              <a:t>TH</a:t>
            </a:r>
            <a:r>
              <a:rPr lang="en-US" altLang="zh-CN" sz="2400" baseline="-25000" smtClean="0"/>
              <a:t>min</a:t>
            </a:r>
            <a:r>
              <a:rPr lang="en-US" altLang="zh-CN" sz="2400" smtClean="0"/>
              <a:t> </a:t>
            </a:r>
            <a:r>
              <a:rPr lang="zh-CN" altLang="en-US" sz="2400" smtClean="0"/>
              <a:t>和最大门限 </a:t>
            </a:r>
            <a:r>
              <a:rPr lang="en-US" altLang="zh-CN" sz="2400" smtClean="0"/>
              <a:t>TH</a:t>
            </a:r>
            <a:r>
              <a:rPr lang="en-US" altLang="zh-CN" sz="2400" baseline="-25000" smtClean="0"/>
              <a:t>max</a:t>
            </a:r>
            <a:r>
              <a:rPr lang="zh-CN" altLang="en-US" sz="2400" smtClean="0"/>
              <a:t>。</a:t>
            </a:r>
          </a:p>
          <a:p>
            <a:pPr eaLnBrk="1" hangingPunct="1"/>
            <a:r>
              <a:rPr lang="en-US" altLang="zh-CN" sz="2400" smtClean="0"/>
              <a:t>RED </a:t>
            </a:r>
            <a:r>
              <a:rPr lang="zh-CN" altLang="en-US" sz="2400" smtClean="0"/>
              <a:t>对每一个到达的数据报都先计算平均队列长度 </a:t>
            </a:r>
            <a:r>
              <a:rPr lang="en-US" altLang="zh-CN" sz="2400" i="1" smtClean="0"/>
              <a:t>L</a:t>
            </a:r>
            <a:r>
              <a:rPr lang="en-US" altLang="zh-CN" sz="2400" baseline="-25000" smtClean="0"/>
              <a:t>AV</a:t>
            </a:r>
            <a:r>
              <a:rPr lang="zh-CN" altLang="en-US" sz="2400" smtClean="0"/>
              <a:t>。</a:t>
            </a:r>
          </a:p>
          <a:p>
            <a:pPr eaLnBrk="1" hangingPunct="1"/>
            <a:r>
              <a:rPr lang="zh-CN" altLang="en-US" sz="2400" smtClean="0"/>
              <a:t>若平均队列长度小于最小门限 </a:t>
            </a:r>
            <a:r>
              <a:rPr lang="en-US" altLang="zh-CN" sz="2400" smtClean="0"/>
              <a:t>TH</a:t>
            </a:r>
            <a:r>
              <a:rPr lang="en-US" altLang="zh-CN" sz="2400" baseline="-25000" smtClean="0"/>
              <a:t>min</a:t>
            </a:r>
            <a:r>
              <a:rPr lang="zh-CN" altLang="en-US" sz="2400" smtClean="0"/>
              <a:t>，则将新到达的数据报放入队列进行排队。</a:t>
            </a:r>
          </a:p>
          <a:p>
            <a:pPr eaLnBrk="1" hangingPunct="1"/>
            <a:r>
              <a:rPr lang="zh-CN" altLang="en-US" sz="2400" smtClean="0"/>
              <a:t>若平均队列长度超过最大门限 </a:t>
            </a:r>
            <a:r>
              <a:rPr lang="en-US" altLang="zh-CN" sz="2400" smtClean="0"/>
              <a:t>TH</a:t>
            </a:r>
            <a:r>
              <a:rPr lang="en-US" altLang="zh-CN" sz="2400" baseline="-25000" smtClean="0"/>
              <a:t>max</a:t>
            </a:r>
            <a:r>
              <a:rPr lang="zh-CN" altLang="en-US" sz="2400" smtClean="0"/>
              <a:t>，则将新到达的数据报丢弃。</a:t>
            </a:r>
          </a:p>
          <a:p>
            <a:pPr algn="just" eaLnBrk="1" hangingPunct="1"/>
            <a:r>
              <a:rPr lang="zh-CN" altLang="en-US" sz="2400" smtClean="0"/>
              <a:t>若平均队列长度在最小门限 </a:t>
            </a:r>
            <a:r>
              <a:rPr lang="en-US" altLang="zh-CN" sz="2400" smtClean="0"/>
              <a:t>TH</a:t>
            </a:r>
            <a:r>
              <a:rPr lang="en-US" altLang="zh-CN" sz="2400" baseline="-25000" smtClean="0"/>
              <a:t>min </a:t>
            </a:r>
            <a:r>
              <a:rPr lang="zh-CN" altLang="en-US" sz="2400" smtClean="0"/>
              <a:t>和最大门限</a:t>
            </a:r>
            <a:r>
              <a:rPr lang="en-US" altLang="zh-CN" sz="2400" smtClean="0"/>
              <a:t>TH</a:t>
            </a:r>
            <a:r>
              <a:rPr lang="en-US" altLang="zh-CN" sz="2400" baseline="-25000" smtClean="0"/>
              <a:t>max </a:t>
            </a:r>
            <a:r>
              <a:rPr lang="zh-CN" altLang="en-US" sz="2400" smtClean="0"/>
              <a:t>之间，则按照某一概率 </a:t>
            </a:r>
            <a:r>
              <a:rPr lang="en-US" altLang="zh-CN" sz="2400" i="1" smtClean="0"/>
              <a:t>p </a:t>
            </a:r>
            <a:r>
              <a:rPr lang="zh-CN" altLang="en-US" sz="2400" smtClean="0"/>
              <a:t>将新到达的数据报丢弃。</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80020326-24DA-468A-8BCF-EA60C98278D6}" type="slidenum">
              <a:rPr lang="en-US" altLang="zh-CN" sz="1400"/>
              <a:pPr eaLnBrk="1" hangingPunct="1"/>
              <a:t>111</a:t>
            </a:fld>
            <a:endParaRPr lang="en-US" altLang="zh-CN" sz="1400"/>
          </a:p>
        </p:txBody>
      </p:sp>
      <p:sp>
        <p:nvSpPr>
          <p:cNvPr id="115715" name="Rectangle 35"/>
          <p:cNvSpPr>
            <a:spLocks noChangeArrowheads="1"/>
          </p:cNvSpPr>
          <p:nvPr/>
        </p:nvSpPr>
        <p:spPr bwMode="auto">
          <a:xfrm>
            <a:off x="2725738" y="1917700"/>
            <a:ext cx="3173412" cy="3013075"/>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16" name="Rectangle 34"/>
          <p:cNvSpPr>
            <a:spLocks noChangeArrowheads="1"/>
          </p:cNvSpPr>
          <p:nvPr/>
        </p:nvSpPr>
        <p:spPr bwMode="auto">
          <a:xfrm>
            <a:off x="5902325" y="1916113"/>
            <a:ext cx="946150" cy="24765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17" name="Rectangle 33"/>
          <p:cNvSpPr>
            <a:spLocks noChangeArrowheads="1"/>
          </p:cNvSpPr>
          <p:nvPr/>
        </p:nvSpPr>
        <p:spPr bwMode="auto">
          <a:xfrm>
            <a:off x="1547813" y="1916113"/>
            <a:ext cx="1177925" cy="34448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18" name="Rectangle 2"/>
          <p:cNvSpPr>
            <a:spLocks noGrp="1" noChangeArrowheads="1"/>
          </p:cNvSpPr>
          <p:nvPr>
            <p:ph type="title"/>
          </p:nvPr>
        </p:nvSpPr>
        <p:spPr/>
        <p:txBody>
          <a:bodyPr/>
          <a:lstStyle/>
          <a:p>
            <a:pPr algn="ctr" eaLnBrk="1" hangingPunct="1"/>
            <a:r>
              <a:rPr lang="en-US" altLang="zh-CN" sz="4000" smtClean="0"/>
              <a:t>RED </a:t>
            </a:r>
            <a:r>
              <a:rPr lang="zh-CN" altLang="en-US" sz="4000" smtClean="0"/>
              <a:t>将路由器的到达队列</a:t>
            </a:r>
            <a:br>
              <a:rPr lang="zh-CN" altLang="en-US" sz="4000" smtClean="0"/>
            </a:br>
            <a:r>
              <a:rPr lang="zh-CN" altLang="en-US" sz="4000" smtClean="0"/>
              <a:t>划分成为三个区域 </a:t>
            </a:r>
          </a:p>
        </p:txBody>
      </p:sp>
      <p:sp>
        <p:nvSpPr>
          <p:cNvPr id="115719" name="Rectangle 4"/>
          <p:cNvSpPr>
            <a:spLocks noChangeArrowheads="1"/>
          </p:cNvSpPr>
          <p:nvPr/>
        </p:nvSpPr>
        <p:spPr bwMode="auto">
          <a:xfrm>
            <a:off x="4592638" y="2616200"/>
            <a:ext cx="2257425" cy="1276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20" name="Freeform 5"/>
          <p:cNvSpPr>
            <a:spLocks/>
          </p:cNvSpPr>
          <p:nvPr/>
        </p:nvSpPr>
        <p:spPr bwMode="auto">
          <a:xfrm>
            <a:off x="1798638" y="2616200"/>
            <a:ext cx="5051425" cy="1276350"/>
          </a:xfrm>
          <a:custGeom>
            <a:avLst/>
            <a:gdLst>
              <a:gd name="T0" fmla="*/ 0 w 1920"/>
              <a:gd name="T1" fmla="*/ 0 h 528"/>
              <a:gd name="T2" fmla="*/ 5051425 w 1920"/>
              <a:gd name="T3" fmla="*/ 0 h 528"/>
              <a:gd name="T4" fmla="*/ 5051425 w 1920"/>
              <a:gd name="T5" fmla="*/ 1276350 h 528"/>
              <a:gd name="T6" fmla="*/ 0 w 1920"/>
              <a:gd name="T7" fmla="*/ 1276350 h 5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0" h="528">
                <a:moveTo>
                  <a:pt x="0" y="0"/>
                </a:moveTo>
                <a:lnTo>
                  <a:pt x="1920" y="0"/>
                </a:lnTo>
                <a:lnTo>
                  <a:pt x="1920" y="528"/>
                </a:lnTo>
                <a:lnTo>
                  <a:pt x="0" y="52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21" name="Line 6"/>
          <p:cNvSpPr>
            <a:spLocks noChangeShapeType="1"/>
          </p:cNvSpPr>
          <p:nvPr/>
        </p:nvSpPr>
        <p:spPr bwMode="auto">
          <a:xfrm>
            <a:off x="6529388" y="2616200"/>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22" name="Line 7"/>
          <p:cNvSpPr>
            <a:spLocks noChangeShapeType="1"/>
          </p:cNvSpPr>
          <p:nvPr/>
        </p:nvSpPr>
        <p:spPr bwMode="auto">
          <a:xfrm>
            <a:off x="6207125" y="2616200"/>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23" name="Line 8"/>
          <p:cNvSpPr>
            <a:spLocks noChangeShapeType="1"/>
          </p:cNvSpPr>
          <p:nvPr/>
        </p:nvSpPr>
        <p:spPr bwMode="auto">
          <a:xfrm>
            <a:off x="5883275" y="2149475"/>
            <a:ext cx="0" cy="203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24" name="Line 9"/>
          <p:cNvSpPr>
            <a:spLocks noChangeShapeType="1"/>
          </p:cNvSpPr>
          <p:nvPr/>
        </p:nvSpPr>
        <p:spPr bwMode="auto">
          <a:xfrm>
            <a:off x="5561013" y="2616200"/>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25" name="Line 10"/>
          <p:cNvSpPr>
            <a:spLocks noChangeShapeType="1"/>
          </p:cNvSpPr>
          <p:nvPr/>
        </p:nvSpPr>
        <p:spPr bwMode="auto">
          <a:xfrm>
            <a:off x="5238750" y="2616200"/>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26" name="Line 11"/>
          <p:cNvSpPr>
            <a:spLocks noChangeShapeType="1"/>
          </p:cNvSpPr>
          <p:nvPr/>
        </p:nvSpPr>
        <p:spPr bwMode="auto">
          <a:xfrm>
            <a:off x="4914900" y="2616200"/>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27" name="Line 12"/>
          <p:cNvSpPr>
            <a:spLocks noChangeShapeType="1"/>
          </p:cNvSpPr>
          <p:nvPr/>
        </p:nvSpPr>
        <p:spPr bwMode="auto">
          <a:xfrm>
            <a:off x="2735263" y="2154238"/>
            <a:ext cx="1587" cy="3175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28" name="AutoShape 13"/>
          <p:cNvSpPr>
            <a:spLocks noChangeArrowheads="1"/>
          </p:cNvSpPr>
          <p:nvPr/>
        </p:nvSpPr>
        <p:spPr bwMode="auto">
          <a:xfrm>
            <a:off x="6743700" y="2963863"/>
            <a:ext cx="968375" cy="465137"/>
          </a:xfrm>
          <a:prstGeom prst="rightArrow">
            <a:avLst>
              <a:gd name="adj1" fmla="val 50000"/>
              <a:gd name="adj2" fmla="val 52048"/>
            </a:avLst>
          </a:prstGeom>
          <a:solidFill>
            <a:schemeClr val="hlink"/>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29" name="Text Box 14"/>
          <p:cNvSpPr txBox="1">
            <a:spLocks noChangeArrowheads="1"/>
          </p:cNvSpPr>
          <p:nvPr/>
        </p:nvSpPr>
        <p:spPr bwMode="auto">
          <a:xfrm>
            <a:off x="7631113" y="2844800"/>
            <a:ext cx="946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从队首</a:t>
            </a:r>
          </a:p>
          <a:p>
            <a:pPr algn="ctr" eaLnBrk="1" hangingPunct="1"/>
            <a:r>
              <a:rPr kumimoji="1" lang="zh-CN" altLang="en-US" sz="2000">
                <a:solidFill>
                  <a:srgbClr val="333399"/>
                </a:solidFill>
                <a:latin typeface="Arial" pitchFamily="34" charset="0"/>
                <a:ea typeface="黑体" pitchFamily="49" charset="-122"/>
              </a:rPr>
              <a:t>发送</a:t>
            </a:r>
          </a:p>
        </p:txBody>
      </p:sp>
      <p:sp>
        <p:nvSpPr>
          <p:cNvPr id="115730" name="Line 15"/>
          <p:cNvSpPr>
            <a:spLocks noChangeShapeType="1"/>
          </p:cNvSpPr>
          <p:nvPr/>
        </p:nvSpPr>
        <p:spPr bwMode="auto">
          <a:xfrm>
            <a:off x="4592638" y="2616200"/>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31" name="Text Box 16"/>
          <p:cNvSpPr txBox="1">
            <a:spLocks noChangeArrowheads="1"/>
          </p:cNvSpPr>
          <p:nvPr/>
        </p:nvSpPr>
        <p:spPr bwMode="auto">
          <a:xfrm>
            <a:off x="7011988" y="4184650"/>
            <a:ext cx="1952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最小门限 </a:t>
            </a:r>
            <a:r>
              <a:rPr kumimoji="1" lang="en-US" altLang="zh-CN" sz="2000">
                <a:solidFill>
                  <a:srgbClr val="333399"/>
                </a:solidFill>
                <a:latin typeface="Arial" pitchFamily="34" charset="0"/>
                <a:ea typeface="黑体" pitchFamily="49" charset="-122"/>
              </a:rPr>
              <a:t>TH</a:t>
            </a:r>
            <a:r>
              <a:rPr kumimoji="1" lang="en-US" altLang="zh-CN" sz="2000" baseline="-25000">
                <a:solidFill>
                  <a:srgbClr val="333399"/>
                </a:solidFill>
                <a:latin typeface="Arial" pitchFamily="34" charset="0"/>
                <a:ea typeface="黑体" pitchFamily="49" charset="-122"/>
              </a:rPr>
              <a:t>min</a:t>
            </a:r>
          </a:p>
        </p:txBody>
      </p:sp>
      <p:sp>
        <p:nvSpPr>
          <p:cNvPr id="115732" name="Text Box 17"/>
          <p:cNvSpPr txBox="1">
            <a:spLocks noChangeArrowheads="1"/>
          </p:cNvSpPr>
          <p:nvPr/>
        </p:nvSpPr>
        <p:spPr bwMode="auto">
          <a:xfrm>
            <a:off x="3917950" y="5119688"/>
            <a:ext cx="1878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最大门限 </a:t>
            </a:r>
            <a:r>
              <a:rPr kumimoji="1" lang="en-US" altLang="zh-CN" sz="2000">
                <a:solidFill>
                  <a:srgbClr val="333399"/>
                </a:solidFill>
                <a:latin typeface="Arial" pitchFamily="34" charset="0"/>
                <a:ea typeface="黑体" pitchFamily="49" charset="-122"/>
              </a:rPr>
              <a:t>TH</a:t>
            </a:r>
            <a:r>
              <a:rPr kumimoji="1" lang="en-US" altLang="zh-CN" sz="2000" baseline="-25000">
                <a:solidFill>
                  <a:srgbClr val="333399"/>
                </a:solidFill>
                <a:latin typeface="Arial" pitchFamily="34" charset="0"/>
                <a:ea typeface="黑体" pitchFamily="49" charset="-122"/>
              </a:rPr>
              <a:t>min</a:t>
            </a:r>
          </a:p>
        </p:txBody>
      </p:sp>
      <p:sp>
        <p:nvSpPr>
          <p:cNvPr id="115733" name="AutoShape 18"/>
          <p:cNvSpPr>
            <a:spLocks noChangeArrowheads="1"/>
          </p:cNvSpPr>
          <p:nvPr/>
        </p:nvSpPr>
        <p:spPr bwMode="auto">
          <a:xfrm>
            <a:off x="1582738" y="2997200"/>
            <a:ext cx="1981200" cy="431800"/>
          </a:xfrm>
          <a:prstGeom prst="rightArrow">
            <a:avLst>
              <a:gd name="adj1" fmla="val 50000"/>
              <a:gd name="adj2" fmla="val 114706"/>
            </a:avLst>
          </a:prstGeom>
          <a:solidFill>
            <a:srgbClr val="CC9900"/>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734" name="Text Box 19"/>
          <p:cNvSpPr txBox="1">
            <a:spLocks noChangeArrowheads="1"/>
          </p:cNvSpPr>
          <p:nvPr/>
        </p:nvSpPr>
        <p:spPr bwMode="auto">
          <a:xfrm>
            <a:off x="728663" y="2800350"/>
            <a:ext cx="692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ctr" eaLnBrk="1" hangingPunct="1"/>
            <a:r>
              <a:rPr kumimoji="1" lang="zh-CN" altLang="en-US" sz="2000">
                <a:solidFill>
                  <a:srgbClr val="333399"/>
                </a:solidFill>
                <a:latin typeface="Arial" pitchFamily="34" charset="0"/>
                <a:ea typeface="黑体" pitchFamily="49" charset="-122"/>
              </a:rPr>
              <a:t>分组</a:t>
            </a:r>
          </a:p>
          <a:p>
            <a:pPr algn="ctr" eaLnBrk="1" hangingPunct="1"/>
            <a:r>
              <a:rPr kumimoji="1" lang="zh-CN" altLang="en-US" sz="2000">
                <a:solidFill>
                  <a:srgbClr val="333399"/>
                </a:solidFill>
                <a:latin typeface="Arial" pitchFamily="34" charset="0"/>
                <a:ea typeface="黑体" pitchFamily="49" charset="-122"/>
              </a:rPr>
              <a:t>到达</a:t>
            </a:r>
          </a:p>
        </p:txBody>
      </p:sp>
      <p:sp>
        <p:nvSpPr>
          <p:cNvPr id="115735" name="Text Box 20"/>
          <p:cNvSpPr txBox="1">
            <a:spLocks noChangeArrowheads="1"/>
          </p:cNvSpPr>
          <p:nvPr/>
        </p:nvSpPr>
        <p:spPr bwMode="auto">
          <a:xfrm>
            <a:off x="4710113" y="4545013"/>
            <a:ext cx="2093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平均队列长度 </a:t>
            </a:r>
            <a:r>
              <a:rPr kumimoji="1" lang="en-US" altLang="zh-CN" sz="2000" i="1">
                <a:solidFill>
                  <a:srgbClr val="333399"/>
                </a:solidFill>
                <a:latin typeface="Arial" pitchFamily="34" charset="0"/>
                <a:ea typeface="黑体" pitchFamily="49" charset="-122"/>
              </a:rPr>
              <a:t>L</a:t>
            </a:r>
            <a:r>
              <a:rPr kumimoji="1" lang="en-US" altLang="zh-CN" sz="2000" baseline="-25000">
                <a:solidFill>
                  <a:srgbClr val="333399"/>
                </a:solidFill>
                <a:latin typeface="Arial" pitchFamily="34" charset="0"/>
                <a:ea typeface="黑体" pitchFamily="49" charset="-122"/>
              </a:rPr>
              <a:t>av</a:t>
            </a:r>
          </a:p>
        </p:txBody>
      </p:sp>
      <p:sp>
        <p:nvSpPr>
          <p:cNvPr id="115736" name="Line 21"/>
          <p:cNvSpPr>
            <a:spLocks noChangeShapeType="1"/>
          </p:cNvSpPr>
          <p:nvPr/>
        </p:nvSpPr>
        <p:spPr bwMode="auto">
          <a:xfrm>
            <a:off x="6850063" y="2154238"/>
            <a:ext cx="0" cy="461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37" name="Text Box 22"/>
          <p:cNvSpPr txBox="1">
            <a:spLocks noChangeArrowheads="1"/>
          </p:cNvSpPr>
          <p:nvPr/>
        </p:nvSpPr>
        <p:spPr bwMode="auto">
          <a:xfrm>
            <a:off x="5991225" y="2166938"/>
            <a:ext cx="69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排队</a:t>
            </a:r>
          </a:p>
        </p:txBody>
      </p:sp>
      <p:sp>
        <p:nvSpPr>
          <p:cNvPr id="115738" name="Text Box 23"/>
          <p:cNvSpPr txBox="1">
            <a:spLocks noChangeArrowheads="1"/>
          </p:cNvSpPr>
          <p:nvPr/>
        </p:nvSpPr>
        <p:spPr bwMode="auto">
          <a:xfrm>
            <a:off x="1933575" y="216693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丢弃</a:t>
            </a:r>
          </a:p>
        </p:txBody>
      </p:sp>
      <p:sp>
        <p:nvSpPr>
          <p:cNvPr id="115739" name="Text Box 24"/>
          <p:cNvSpPr txBox="1">
            <a:spLocks noChangeArrowheads="1"/>
          </p:cNvSpPr>
          <p:nvPr/>
        </p:nvSpPr>
        <p:spPr bwMode="auto">
          <a:xfrm>
            <a:off x="3443288" y="2168525"/>
            <a:ext cx="173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以概率</a:t>
            </a:r>
            <a:r>
              <a:rPr kumimoji="1" lang="zh-CN" altLang="en-US" sz="2000" i="1">
                <a:solidFill>
                  <a:srgbClr val="333399"/>
                </a:solidFill>
                <a:latin typeface="Arial" pitchFamily="34" charset="0"/>
                <a:ea typeface="黑体" pitchFamily="49" charset="-122"/>
              </a:rPr>
              <a:t> </a:t>
            </a:r>
            <a:r>
              <a:rPr kumimoji="1" lang="en-US" altLang="zh-CN" sz="2000" i="1">
                <a:solidFill>
                  <a:srgbClr val="333399"/>
                </a:solidFill>
                <a:latin typeface="Arial" pitchFamily="34" charset="0"/>
                <a:ea typeface="黑体" pitchFamily="49" charset="-122"/>
              </a:rPr>
              <a:t>p</a:t>
            </a:r>
            <a:r>
              <a:rPr kumimoji="1" lang="en-US" altLang="zh-CN" sz="2000">
                <a:solidFill>
                  <a:srgbClr val="333399"/>
                </a:solidFill>
                <a:latin typeface="Arial" pitchFamily="34" charset="0"/>
                <a:ea typeface="黑体" pitchFamily="49" charset="-122"/>
              </a:rPr>
              <a:t> </a:t>
            </a:r>
            <a:r>
              <a:rPr kumimoji="1" lang="zh-CN" altLang="en-US" sz="2000">
                <a:solidFill>
                  <a:srgbClr val="333399"/>
                </a:solidFill>
                <a:latin typeface="Arial" pitchFamily="34" charset="0"/>
                <a:ea typeface="黑体" pitchFamily="49" charset="-122"/>
              </a:rPr>
              <a:t>丢弃</a:t>
            </a:r>
          </a:p>
        </p:txBody>
      </p:sp>
      <p:sp>
        <p:nvSpPr>
          <p:cNvPr id="115740" name="Line 25"/>
          <p:cNvSpPr>
            <a:spLocks noChangeShapeType="1"/>
          </p:cNvSpPr>
          <p:nvPr/>
        </p:nvSpPr>
        <p:spPr bwMode="auto">
          <a:xfrm>
            <a:off x="4606925" y="4562475"/>
            <a:ext cx="2225675"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1" name="Line 26"/>
          <p:cNvSpPr>
            <a:spLocks noChangeShapeType="1"/>
          </p:cNvSpPr>
          <p:nvPr/>
        </p:nvSpPr>
        <p:spPr bwMode="auto">
          <a:xfrm flipH="1">
            <a:off x="6850063" y="3935413"/>
            <a:ext cx="14287" cy="150971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2" name="Line 27"/>
          <p:cNvSpPr>
            <a:spLocks noChangeShapeType="1"/>
          </p:cNvSpPr>
          <p:nvPr/>
        </p:nvSpPr>
        <p:spPr bwMode="auto">
          <a:xfrm>
            <a:off x="4598988" y="3925888"/>
            <a:ext cx="0" cy="869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3" name="Line 28"/>
          <p:cNvSpPr>
            <a:spLocks noChangeShapeType="1"/>
          </p:cNvSpPr>
          <p:nvPr/>
        </p:nvSpPr>
        <p:spPr bwMode="auto">
          <a:xfrm>
            <a:off x="5880100" y="4086225"/>
            <a:ext cx="1006475"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4" name="Line 29"/>
          <p:cNvSpPr>
            <a:spLocks noChangeShapeType="1"/>
          </p:cNvSpPr>
          <p:nvPr/>
        </p:nvSpPr>
        <p:spPr bwMode="auto">
          <a:xfrm>
            <a:off x="2746375" y="5111750"/>
            <a:ext cx="4095750"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5" name="Line 30"/>
          <p:cNvSpPr>
            <a:spLocks noChangeShapeType="1"/>
          </p:cNvSpPr>
          <p:nvPr/>
        </p:nvSpPr>
        <p:spPr bwMode="auto">
          <a:xfrm flipH="1" flipV="1">
            <a:off x="6348413" y="4105275"/>
            <a:ext cx="652462" cy="2381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3333660F-4773-4233-8A0A-7CFD3923925B}" type="slidenum">
              <a:rPr lang="en-US" altLang="zh-CN" sz="1400"/>
              <a:pPr eaLnBrk="1" hangingPunct="1"/>
              <a:t>112</a:t>
            </a:fld>
            <a:endParaRPr lang="en-US" altLang="zh-CN" sz="1400"/>
          </a:p>
        </p:txBody>
      </p:sp>
      <p:sp>
        <p:nvSpPr>
          <p:cNvPr id="116739" name="Rectangle 2"/>
          <p:cNvSpPr>
            <a:spLocks noGrp="1" noChangeArrowheads="1"/>
          </p:cNvSpPr>
          <p:nvPr>
            <p:ph type="title"/>
          </p:nvPr>
        </p:nvSpPr>
        <p:spPr/>
        <p:txBody>
          <a:bodyPr/>
          <a:lstStyle/>
          <a:p>
            <a:pPr algn="ctr" eaLnBrk="1" hangingPunct="1"/>
            <a:r>
              <a:rPr lang="zh-CN" altLang="en-US" sz="3600" smtClean="0"/>
              <a:t>丢弃概率</a:t>
            </a:r>
            <a:r>
              <a:rPr lang="zh-CN" altLang="en-US" sz="1800" smtClean="0"/>
              <a:t> </a:t>
            </a:r>
            <a:r>
              <a:rPr lang="en-US" altLang="zh-CN" sz="3600" i="1" smtClean="0"/>
              <a:t>p </a:t>
            </a:r>
            <a:r>
              <a:rPr lang="zh-CN" altLang="en-US" sz="3600" smtClean="0"/>
              <a:t>与</a:t>
            </a:r>
            <a:r>
              <a:rPr lang="zh-CN" altLang="en-US" sz="2000" smtClean="0"/>
              <a:t> </a:t>
            </a:r>
            <a:r>
              <a:rPr lang="en-US" altLang="zh-CN" sz="3600" smtClean="0"/>
              <a:t>TH</a:t>
            </a:r>
            <a:r>
              <a:rPr lang="en-US" altLang="zh-CN" sz="3600" baseline="-25000" smtClean="0"/>
              <a:t>min </a:t>
            </a:r>
            <a:r>
              <a:rPr lang="zh-CN" altLang="en-US" sz="3600" smtClean="0"/>
              <a:t>和</a:t>
            </a:r>
            <a:r>
              <a:rPr lang="zh-CN" altLang="en-US" sz="2000" smtClean="0"/>
              <a:t> </a:t>
            </a:r>
            <a:r>
              <a:rPr lang="en-US" altLang="zh-CN" sz="3600" smtClean="0"/>
              <a:t>Th</a:t>
            </a:r>
            <a:r>
              <a:rPr lang="en-US" altLang="zh-CN" sz="3600" baseline="-25000" smtClean="0"/>
              <a:t>max </a:t>
            </a:r>
            <a:r>
              <a:rPr lang="zh-CN" altLang="en-US" sz="3600" smtClean="0"/>
              <a:t>的关系 </a:t>
            </a:r>
          </a:p>
        </p:txBody>
      </p:sp>
      <p:sp>
        <p:nvSpPr>
          <p:cNvPr id="116740" name="Line 4"/>
          <p:cNvSpPr>
            <a:spLocks noChangeShapeType="1"/>
          </p:cNvSpPr>
          <p:nvPr/>
        </p:nvSpPr>
        <p:spPr bwMode="auto">
          <a:xfrm>
            <a:off x="777875" y="5959475"/>
            <a:ext cx="7789863"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1" name="Line 5"/>
          <p:cNvSpPr>
            <a:spLocks noChangeShapeType="1"/>
          </p:cNvSpPr>
          <p:nvPr/>
        </p:nvSpPr>
        <p:spPr bwMode="auto">
          <a:xfrm rot="-5400000">
            <a:off x="-169863" y="5011738"/>
            <a:ext cx="1895475"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2" name="Text Box 6"/>
          <p:cNvSpPr txBox="1">
            <a:spLocks noChangeArrowheads="1"/>
          </p:cNvSpPr>
          <p:nvPr/>
        </p:nvSpPr>
        <p:spPr bwMode="auto">
          <a:xfrm>
            <a:off x="1906588" y="5984875"/>
            <a:ext cx="1876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最小门限 </a:t>
            </a:r>
            <a:r>
              <a:rPr kumimoji="1" lang="en-US" altLang="zh-CN" sz="2000">
                <a:solidFill>
                  <a:srgbClr val="333399"/>
                </a:solidFill>
                <a:latin typeface="Arial" pitchFamily="34" charset="0"/>
                <a:ea typeface="黑体" pitchFamily="49" charset="-122"/>
              </a:rPr>
              <a:t>TH</a:t>
            </a:r>
            <a:r>
              <a:rPr kumimoji="1" lang="en-US" altLang="zh-CN" sz="2000" baseline="-25000">
                <a:solidFill>
                  <a:srgbClr val="333399"/>
                </a:solidFill>
                <a:latin typeface="Arial" pitchFamily="34" charset="0"/>
                <a:ea typeface="黑体" pitchFamily="49" charset="-122"/>
              </a:rPr>
              <a:t>min</a:t>
            </a:r>
          </a:p>
        </p:txBody>
      </p:sp>
      <p:sp>
        <p:nvSpPr>
          <p:cNvPr id="116743" name="Text Box 7"/>
          <p:cNvSpPr txBox="1">
            <a:spLocks noChangeArrowheads="1"/>
          </p:cNvSpPr>
          <p:nvPr/>
        </p:nvSpPr>
        <p:spPr bwMode="auto">
          <a:xfrm>
            <a:off x="4716463" y="5953125"/>
            <a:ext cx="19224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最大门限 </a:t>
            </a:r>
            <a:r>
              <a:rPr kumimoji="1" lang="en-US" altLang="zh-CN" sz="2000">
                <a:solidFill>
                  <a:srgbClr val="333399"/>
                </a:solidFill>
                <a:latin typeface="Arial" pitchFamily="34" charset="0"/>
                <a:ea typeface="黑体" pitchFamily="49" charset="-122"/>
              </a:rPr>
              <a:t>TH</a:t>
            </a:r>
            <a:r>
              <a:rPr kumimoji="1" lang="en-US" altLang="zh-CN" sz="2000" baseline="-25000">
                <a:solidFill>
                  <a:srgbClr val="333399"/>
                </a:solidFill>
                <a:latin typeface="Arial" pitchFamily="34" charset="0"/>
                <a:ea typeface="黑体" pitchFamily="49" charset="-122"/>
              </a:rPr>
              <a:t>max</a:t>
            </a:r>
          </a:p>
        </p:txBody>
      </p:sp>
      <p:sp>
        <p:nvSpPr>
          <p:cNvPr id="116744" name="Text Box 8"/>
          <p:cNvSpPr txBox="1">
            <a:spLocks noChangeArrowheads="1"/>
          </p:cNvSpPr>
          <p:nvPr/>
        </p:nvSpPr>
        <p:spPr bwMode="auto">
          <a:xfrm>
            <a:off x="6819900" y="5518150"/>
            <a:ext cx="2093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平均队列长度 </a:t>
            </a:r>
            <a:r>
              <a:rPr kumimoji="1" lang="en-US" altLang="zh-CN" sz="2000" i="1">
                <a:solidFill>
                  <a:srgbClr val="333399"/>
                </a:solidFill>
                <a:latin typeface="Arial" pitchFamily="34" charset="0"/>
                <a:ea typeface="黑体" pitchFamily="49" charset="-122"/>
              </a:rPr>
              <a:t>L</a:t>
            </a:r>
            <a:r>
              <a:rPr kumimoji="1" lang="en-US" altLang="zh-CN" sz="2000" baseline="-25000">
                <a:solidFill>
                  <a:srgbClr val="333399"/>
                </a:solidFill>
                <a:latin typeface="Arial" pitchFamily="34" charset="0"/>
                <a:ea typeface="黑体" pitchFamily="49" charset="-122"/>
              </a:rPr>
              <a:t>av</a:t>
            </a:r>
          </a:p>
        </p:txBody>
      </p:sp>
      <p:sp>
        <p:nvSpPr>
          <p:cNvPr id="116745" name="Text Box 9"/>
          <p:cNvSpPr txBox="1">
            <a:spLocks noChangeArrowheads="1"/>
          </p:cNvSpPr>
          <p:nvPr/>
        </p:nvSpPr>
        <p:spPr bwMode="auto">
          <a:xfrm>
            <a:off x="890588" y="4040188"/>
            <a:ext cx="1919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zh-CN" altLang="en-US" sz="2000">
                <a:solidFill>
                  <a:srgbClr val="333399"/>
                </a:solidFill>
                <a:latin typeface="Arial" pitchFamily="34" charset="0"/>
                <a:ea typeface="黑体" pitchFamily="49" charset="-122"/>
              </a:rPr>
              <a:t>分组丢弃概率</a:t>
            </a:r>
            <a:r>
              <a:rPr kumimoji="1" lang="zh-CN" altLang="en-US" sz="2000" i="1">
                <a:solidFill>
                  <a:srgbClr val="333399"/>
                </a:solidFill>
                <a:latin typeface="Arial" pitchFamily="34" charset="0"/>
                <a:ea typeface="黑体" pitchFamily="49" charset="-122"/>
              </a:rPr>
              <a:t> </a:t>
            </a:r>
            <a:r>
              <a:rPr kumimoji="1" lang="en-US" altLang="zh-CN" sz="2000" i="1">
                <a:solidFill>
                  <a:srgbClr val="333399"/>
                </a:solidFill>
                <a:latin typeface="Arial" pitchFamily="34" charset="0"/>
                <a:ea typeface="黑体" pitchFamily="49" charset="-122"/>
              </a:rPr>
              <a:t>p</a:t>
            </a:r>
          </a:p>
        </p:txBody>
      </p:sp>
      <p:sp>
        <p:nvSpPr>
          <p:cNvPr id="116746" name="Line 10"/>
          <p:cNvSpPr>
            <a:spLocks noChangeShapeType="1"/>
          </p:cNvSpPr>
          <p:nvPr/>
        </p:nvSpPr>
        <p:spPr bwMode="auto">
          <a:xfrm>
            <a:off x="5857875" y="5484813"/>
            <a:ext cx="0" cy="474662"/>
          </a:xfrm>
          <a:prstGeom prst="line">
            <a:avLst/>
          </a:prstGeom>
          <a:noFill/>
          <a:ln w="28575">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7" name="Line 11"/>
          <p:cNvSpPr>
            <a:spLocks noChangeShapeType="1"/>
          </p:cNvSpPr>
          <p:nvPr/>
        </p:nvSpPr>
        <p:spPr bwMode="auto">
          <a:xfrm>
            <a:off x="3035300" y="5880100"/>
            <a:ext cx="0" cy="79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8" name="Line 12"/>
          <p:cNvSpPr>
            <a:spLocks noChangeShapeType="1"/>
          </p:cNvSpPr>
          <p:nvPr/>
        </p:nvSpPr>
        <p:spPr bwMode="auto">
          <a:xfrm rot="-5400000">
            <a:off x="834232" y="4402931"/>
            <a:ext cx="0" cy="112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49" name="Freeform 13"/>
          <p:cNvSpPr>
            <a:spLocks/>
          </p:cNvSpPr>
          <p:nvPr/>
        </p:nvSpPr>
        <p:spPr bwMode="auto">
          <a:xfrm>
            <a:off x="3035300" y="4459288"/>
            <a:ext cx="5307013" cy="1500187"/>
          </a:xfrm>
          <a:custGeom>
            <a:avLst/>
            <a:gdLst>
              <a:gd name="T0" fmla="*/ 0 w 2256"/>
              <a:gd name="T1" fmla="*/ 1500187 h 912"/>
              <a:gd name="T2" fmla="*/ 2822879 w 2256"/>
              <a:gd name="T3" fmla="*/ 1026444 h 912"/>
              <a:gd name="T4" fmla="*/ 2822879 w 2256"/>
              <a:gd name="T5" fmla="*/ 0 h 912"/>
              <a:gd name="T6" fmla="*/ 5307013 w 2256"/>
              <a:gd name="T7" fmla="*/ 0 h 9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56" h="912">
                <a:moveTo>
                  <a:pt x="0" y="912"/>
                </a:moveTo>
                <a:lnTo>
                  <a:pt x="1200" y="624"/>
                </a:lnTo>
                <a:lnTo>
                  <a:pt x="1200" y="0"/>
                </a:lnTo>
                <a:lnTo>
                  <a:pt x="2256" y="0"/>
                </a:ln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50" name="Text Box 14"/>
          <p:cNvSpPr txBox="1">
            <a:spLocks noChangeArrowheads="1"/>
          </p:cNvSpPr>
          <p:nvPr/>
        </p:nvSpPr>
        <p:spPr bwMode="auto">
          <a:xfrm>
            <a:off x="212725" y="4168775"/>
            <a:ext cx="536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1.0</a:t>
            </a:r>
            <a:endParaRPr kumimoji="1" lang="en-US" altLang="zh-CN" sz="2000" i="1">
              <a:solidFill>
                <a:srgbClr val="333399"/>
              </a:solidFill>
              <a:latin typeface="Arial" pitchFamily="34" charset="0"/>
              <a:ea typeface="黑体" pitchFamily="49" charset="-122"/>
            </a:endParaRPr>
          </a:p>
        </p:txBody>
      </p:sp>
      <p:sp>
        <p:nvSpPr>
          <p:cNvPr id="116751" name="Text Box 15"/>
          <p:cNvSpPr txBox="1">
            <a:spLocks noChangeArrowheads="1"/>
          </p:cNvSpPr>
          <p:nvPr/>
        </p:nvSpPr>
        <p:spPr bwMode="auto">
          <a:xfrm>
            <a:off x="354013" y="5637213"/>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a:solidFill>
                  <a:srgbClr val="333399"/>
                </a:solidFill>
                <a:latin typeface="Arial" pitchFamily="34" charset="0"/>
                <a:ea typeface="黑体" pitchFamily="49" charset="-122"/>
              </a:rPr>
              <a:t>0</a:t>
            </a:r>
            <a:endParaRPr kumimoji="1" lang="en-US" altLang="zh-CN" sz="2000" i="1">
              <a:solidFill>
                <a:srgbClr val="333399"/>
              </a:solidFill>
              <a:latin typeface="Arial" pitchFamily="34" charset="0"/>
              <a:ea typeface="黑体" pitchFamily="49" charset="-122"/>
            </a:endParaRPr>
          </a:p>
        </p:txBody>
      </p:sp>
      <p:sp>
        <p:nvSpPr>
          <p:cNvPr id="116752" name="Line 16"/>
          <p:cNvSpPr>
            <a:spLocks noChangeShapeType="1"/>
          </p:cNvSpPr>
          <p:nvPr/>
        </p:nvSpPr>
        <p:spPr bwMode="auto">
          <a:xfrm>
            <a:off x="777875" y="5484813"/>
            <a:ext cx="5080000" cy="0"/>
          </a:xfrm>
          <a:prstGeom prst="line">
            <a:avLst/>
          </a:prstGeom>
          <a:noFill/>
          <a:ln w="28575">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6753" name="Text Box 17"/>
          <p:cNvSpPr txBox="1">
            <a:spLocks noChangeArrowheads="1"/>
          </p:cNvSpPr>
          <p:nvPr/>
        </p:nvSpPr>
        <p:spPr bwMode="auto">
          <a:xfrm>
            <a:off x="117475" y="5175250"/>
            <a:ext cx="638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kumimoji="1" lang="en-US" altLang="zh-CN" sz="2000" i="1">
                <a:solidFill>
                  <a:srgbClr val="333399"/>
                </a:solidFill>
                <a:latin typeface="Arial" pitchFamily="34" charset="0"/>
                <a:ea typeface="黑体" pitchFamily="49" charset="-122"/>
              </a:rPr>
              <a:t>p</a:t>
            </a:r>
            <a:r>
              <a:rPr kumimoji="1" lang="en-US" altLang="zh-CN" sz="2000" baseline="-25000">
                <a:solidFill>
                  <a:srgbClr val="333399"/>
                </a:solidFill>
                <a:latin typeface="Arial" pitchFamily="34" charset="0"/>
                <a:ea typeface="黑体" pitchFamily="49" charset="-122"/>
              </a:rPr>
              <a:t>max</a:t>
            </a:r>
            <a:endParaRPr kumimoji="1" lang="en-US" altLang="zh-CN" sz="2000" i="1" baseline="-25000">
              <a:solidFill>
                <a:srgbClr val="333399"/>
              </a:solidFill>
              <a:latin typeface="Arial" pitchFamily="34" charset="0"/>
              <a:ea typeface="黑体" pitchFamily="49" charset="-122"/>
            </a:endParaRPr>
          </a:p>
        </p:txBody>
      </p:sp>
      <p:sp>
        <p:nvSpPr>
          <p:cNvPr id="116754" name="Rectangle 20"/>
          <p:cNvSpPr>
            <a:spLocks noGrp="1" noChangeArrowheads="1"/>
          </p:cNvSpPr>
          <p:nvPr>
            <p:ph type="body" idx="4294967295"/>
          </p:nvPr>
        </p:nvSpPr>
        <p:spPr>
          <a:xfrm>
            <a:off x="1371600" y="1916113"/>
            <a:ext cx="7772400" cy="2376487"/>
          </a:xfrm>
        </p:spPr>
        <p:txBody>
          <a:bodyPr/>
          <a:lstStyle/>
          <a:p>
            <a:pPr eaLnBrk="1" hangingPunct="1"/>
            <a:r>
              <a:rPr lang="zh-CN" altLang="en-US" sz="2800" smtClean="0"/>
              <a:t>当 </a:t>
            </a:r>
            <a:r>
              <a:rPr lang="en-US" altLang="zh-CN" sz="2800" i="1" smtClean="0"/>
              <a:t>L</a:t>
            </a:r>
            <a:r>
              <a:rPr lang="en-US" altLang="zh-CN" sz="2800" baseline="-25000" smtClean="0"/>
              <a:t>AV</a:t>
            </a:r>
            <a:r>
              <a:rPr lang="en-US" altLang="zh-CN" sz="2800" smtClean="0"/>
              <a:t> </a:t>
            </a:r>
            <a:r>
              <a:rPr lang="en-US" altLang="zh-CN" sz="2800" smtClean="0">
                <a:sym typeface="Symbol" pitchFamily="18" charset="2"/>
              </a:rPr>
              <a:t> </a:t>
            </a:r>
            <a:r>
              <a:rPr lang="en-US" altLang="zh-CN" sz="2800" smtClean="0"/>
              <a:t>Th</a:t>
            </a:r>
            <a:r>
              <a:rPr lang="en-US" altLang="zh-CN" sz="2800" baseline="-25000" smtClean="0"/>
              <a:t>min </a:t>
            </a:r>
            <a:r>
              <a:rPr lang="zh-CN" altLang="en-US" sz="2800" smtClean="0"/>
              <a:t>时，丢弃概率 </a:t>
            </a:r>
            <a:r>
              <a:rPr lang="en-US" altLang="zh-CN" sz="2800" i="1" smtClean="0"/>
              <a:t>p</a:t>
            </a:r>
            <a:r>
              <a:rPr lang="en-US" altLang="zh-CN" sz="2800" smtClean="0"/>
              <a:t> = 0</a:t>
            </a:r>
            <a:r>
              <a:rPr lang="zh-CN" altLang="en-US" sz="2800" smtClean="0"/>
              <a:t>。</a:t>
            </a:r>
          </a:p>
          <a:p>
            <a:pPr eaLnBrk="1" hangingPunct="1"/>
            <a:r>
              <a:rPr lang="zh-CN" altLang="en-US" sz="2800" smtClean="0"/>
              <a:t>当 </a:t>
            </a:r>
            <a:r>
              <a:rPr lang="en-US" altLang="zh-CN" sz="2800" i="1" smtClean="0"/>
              <a:t>L</a:t>
            </a:r>
            <a:r>
              <a:rPr lang="en-US" altLang="zh-CN" sz="2800" baseline="-25000" smtClean="0"/>
              <a:t>AV</a:t>
            </a:r>
            <a:r>
              <a:rPr lang="en-US" altLang="zh-CN" sz="2800" smtClean="0"/>
              <a:t> </a:t>
            </a:r>
            <a:r>
              <a:rPr lang="en-US" altLang="zh-CN" sz="2800" smtClean="0">
                <a:sym typeface="Symbol" pitchFamily="18" charset="2"/>
              </a:rPr>
              <a:t></a:t>
            </a:r>
            <a:r>
              <a:rPr lang="en-US" altLang="zh-CN" sz="2800" smtClean="0"/>
              <a:t>Th</a:t>
            </a:r>
            <a:r>
              <a:rPr lang="en-US" altLang="zh-CN" sz="2800" baseline="-25000" smtClean="0"/>
              <a:t>max </a:t>
            </a:r>
            <a:r>
              <a:rPr lang="zh-CN" altLang="en-US" sz="2800" smtClean="0"/>
              <a:t>时，丢弃概率 </a:t>
            </a:r>
            <a:r>
              <a:rPr lang="en-US" altLang="zh-CN" sz="2800" i="1" smtClean="0"/>
              <a:t>p</a:t>
            </a:r>
            <a:r>
              <a:rPr lang="en-US" altLang="zh-CN" sz="2800" smtClean="0"/>
              <a:t> = 1</a:t>
            </a:r>
            <a:r>
              <a:rPr lang="zh-CN" altLang="en-US" sz="2800" smtClean="0"/>
              <a:t>。</a:t>
            </a:r>
          </a:p>
          <a:p>
            <a:pPr eaLnBrk="1" hangingPunct="1"/>
            <a:r>
              <a:rPr lang="zh-CN" altLang="en-US" sz="2800" smtClean="0"/>
              <a:t>当 </a:t>
            </a:r>
            <a:r>
              <a:rPr lang="en-US" altLang="zh-CN" sz="2800" smtClean="0"/>
              <a:t>TH</a:t>
            </a:r>
            <a:r>
              <a:rPr lang="en-US" altLang="zh-CN" sz="2800" baseline="-25000" smtClean="0"/>
              <a:t>min</a:t>
            </a:r>
            <a:r>
              <a:rPr lang="en-US" altLang="zh-CN" sz="2800" smtClean="0"/>
              <a:t> </a:t>
            </a:r>
            <a:r>
              <a:rPr lang="en-US" altLang="zh-CN" sz="2800" smtClean="0">
                <a:sym typeface="Symbol" pitchFamily="18" charset="2"/>
              </a:rPr>
              <a:t></a:t>
            </a:r>
            <a:r>
              <a:rPr lang="en-US" altLang="zh-CN" sz="2800" smtClean="0"/>
              <a:t> </a:t>
            </a:r>
            <a:r>
              <a:rPr lang="en-US" altLang="zh-CN" sz="2800" i="1" smtClean="0"/>
              <a:t>L</a:t>
            </a:r>
            <a:r>
              <a:rPr lang="en-US" altLang="zh-CN" sz="2800" baseline="-25000" smtClean="0"/>
              <a:t>AV</a:t>
            </a:r>
            <a:r>
              <a:rPr lang="en-US" altLang="zh-CN" sz="2800" smtClean="0"/>
              <a:t> </a:t>
            </a:r>
            <a:r>
              <a:rPr lang="en-US" altLang="zh-CN" sz="2800" smtClean="0">
                <a:sym typeface="Symbol" pitchFamily="18" charset="2"/>
              </a:rPr>
              <a:t></a:t>
            </a:r>
            <a:r>
              <a:rPr lang="en-US" altLang="zh-CN" sz="2800" smtClean="0"/>
              <a:t> TH</a:t>
            </a:r>
            <a:r>
              <a:rPr lang="en-US" altLang="zh-CN" sz="2800" baseline="-25000" smtClean="0"/>
              <a:t>max</a:t>
            </a:r>
            <a:r>
              <a:rPr lang="zh-CN" altLang="en-US" sz="2800" smtClean="0"/>
              <a:t>时，</a:t>
            </a:r>
            <a:r>
              <a:rPr lang="zh-CN" altLang="en-US" sz="2800" i="1" smtClean="0"/>
              <a:t> </a:t>
            </a:r>
            <a:r>
              <a:rPr lang="zh-CN" altLang="en-US" sz="2800" smtClean="0"/>
              <a:t> </a:t>
            </a:r>
            <a:r>
              <a:rPr lang="en-US" altLang="zh-CN" sz="2800" smtClean="0"/>
              <a:t>0 </a:t>
            </a:r>
            <a:r>
              <a:rPr lang="en-US" altLang="zh-CN" sz="2800" smtClean="0">
                <a:sym typeface="Symbol" pitchFamily="18" charset="2"/>
              </a:rPr>
              <a:t></a:t>
            </a:r>
            <a:r>
              <a:rPr lang="en-US" altLang="zh-CN" sz="2800" smtClean="0"/>
              <a:t> </a:t>
            </a:r>
            <a:r>
              <a:rPr lang="en-US" altLang="zh-CN" sz="2800" i="1" smtClean="0"/>
              <a:t>p </a:t>
            </a:r>
            <a:r>
              <a:rPr lang="en-US" altLang="zh-CN" sz="2800" smtClean="0">
                <a:sym typeface="Symbol" pitchFamily="18" charset="2"/>
              </a:rPr>
              <a:t></a:t>
            </a:r>
            <a:r>
              <a:rPr lang="en-US" altLang="zh-CN" sz="2800" smtClean="0"/>
              <a:t> 1 </a:t>
            </a:r>
            <a:r>
              <a:rPr lang="zh-CN" altLang="en-US" sz="2800" smtClean="0"/>
              <a:t>。</a:t>
            </a:r>
          </a:p>
          <a:p>
            <a:pPr eaLnBrk="1" hangingPunct="1">
              <a:buFont typeface="Wingdings" pitchFamily="2" charset="2"/>
              <a:buNone/>
            </a:pPr>
            <a:r>
              <a:rPr lang="zh-CN" altLang="en-US" sz="2800" smtClean="0"/>
              <a:t>    例如，按线性规律变化，从 </a:t>
            </a:r>
            <a:r>
              <a:rPr lang="en-US" altLang="zh-CN" sz="2800" smtClean="0"/>
              <a:t>0 </a:t>
            </a:r>
            <a:r>
              <a:rPr lang="zh-CN" altLang="en-US" sz="2800" smtClean="0"/>
              <a:t>变到 </a:t>
            </a:r>
            <a:r>
              <a:rPr lang="en-US" altLang="zh-CN" sz="2800" i="1" smtClean="0"/>
              <a:t>p</a:t>
            </a:r>
            <a:r>
              <a:rPr lang="en-US" altLang="zh-CN" sz="2800" baseline="-25000" smtClean="0"/>
              <a:t>max</a:t>
            </a:r>
            <a:r>
              <a:rPr lang="zh-CN" altLang="en-US" sz="2800" smtClean="0"/>
              <a:t>。</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F47E9BFA-CF7E-44B6-BCE2-7969B8FA5478}" type="slidenum">
              <a:rPr lang="en-US" altLang="zh-CN" sz="1400"/>
              <a:pPr eaLnBrk="1" hangingPunct="1"/>
              <a:t>113</a:t>
            </a:fld>
            <a:endParaRPr lang="en-US" altLang="zh-CN" sz="1400"/>
          </a:p>
        </p:txBody>
      </p:sp>
      <p:sp>
        <p:nvSpPr>
          <p:cNvPr id="117763" name="Rectangle 2"/>
          <p:cNvSpPr>
            <a:spLocks noGrp="1" noChangeArrowheads="1"/>
          </p:cNvSpPr>
          <p:nvPr>
            <p:ph type="title"/>
          </p:nvPr>
        </p:nvSpPr>
        <p:spPr/>
        <p:txBody>
          <a:bodyPr/>
          <a:lstStyle/>
          <a:p>
            <a:pPr algn="ctr" eaLnBrk="1" hangingPunct="1"/>
            <a:r>
              <a:rPr lang="en-US" altLang="zh-CN" smtClean="0"/>
              <a:t>5-9    TCP </a:t>
            </a:r>
            <a:r>
              <a:rPr lang="zh-CN" altLang="en-US" smtClean="0"/>
              <a:t>的运输连接管理</a:t>
            </a:r>
            <a:br>
              <a:rPr lang="zh-CN" altLang="en-US" smtClean="0"/>
            </a:br>
            <a:r>
              <a:rPr lang="en-US" altLang="zh-CN" sz="4000" smtClean="0"/>
              <a:t>1.  </a:t>
            </a:r>
            <a:r>
              <a:rPr lang="zh-CN" altLang="en-US" sz="4000" smtClean="0"/>
              <a:t>运输连接的三个阶段</a:t>
            </a:r>
            <a:r>
              <a:rPr lang="zh-CN" altLang="en-US" smtClean="0"/>
              <a:t> </a:t>
            </a:r>
          </a:p>
        </p:txBody>
      </p:sp>
      <p:sp>
        <p:nvSpPr>
          <p:cNvPr id="556035" name="Rectangle 3"/>
          <p:cNvSpPr>
            <a:spLocks noGrp="1" noChangeArrowheads="1"/>
          </p:cNvSpPr>
          <p:nvPr>
            <p:ph type="body" idx="1"/>
          </p:nvPr>
        </p:nvSpPr>
        <p:spPr>
          <a:xfrm>
            <a:off x="1042988" y="1773238"/>
            <a:ext cx="7772400" cy="4679950"/>
          </a:xfrm>
        </p:spPr>
        <p:txBody>
          <a:bodyPr/>
          <a:lstStyle/>
          <a:p>
            <a:pPr eaLnBrk="1" hangingPunct="1">
              <a:lnSpc>
                <a:spcPct val="90000"/>
              </a:lnSpc>
            </a:pPr>
            <a:r>
              <a:rPr lang="zh-CN" altLang="en-US" smtClean="0"/>
              <a:t>运输连接就有三个阶段，即：</a:t>
            </a:r>
            <a:r>
              <a:rPr lang="zh-CN" altLang="en-US" smtClean="0">
                <a:solidFill>
                  <a:schemeClr val="hlink"/>
                </a:solidFill>
              </a:rPr>
              <a:t>连接建立</a:t>
            </a:r>
            <a:r>
              <a:rPr lang="zh-CN" altLang="en-US" smtClean="0"/>
              <a:t>、</a:t>
            </a:r>
            <a:r>
              <a:rPr lang="zh-CN" altLang="en-US" smtClean="0">
                <a:solidFill>
                  <a:schemeClr val="hlink"/>
                </a:solidFill>
              </a:rPr>
              <a:t>数据传送</a:t>
            </a:r>
            <a:r>
              <a:rPr lang="zh-CN" altLang="en-US" smtClean="0"/>
              <a:t>和</a:t>
            </a:r>
            <a:r>
              <a:rPr lang="zh-CN" altLang="en-US" smtClean="0">
                <a:solidFill>
                  <a:schemeClr val="hlink"/>
                </a:solidFill>
              </a:rPr>
              <a:t>连接释放</a:t>
            </a:r>
            <a:r>
              <a:rPr lang="zh-CN" altLang="en-US" smtClean="0"/>
              <a:t>。运输连接的管理就是使运输连接的建立和释放都能正常地进行。</a:t>
            </a:r>
          </a:p>
          <a:p>
            <a:pPr eaLnBrk="1" hangingPunct="1">
              <a:lnSpc>
                <a:spcPct val="90000"/>
              </a:lnSpc>
            </a:pPr>
            <a:r>
              <a:rPr lang="zh-CN" altLang="en-US" smtClean="0"/>
              <a:t>连接建立过程中要解决以下三个问题：</a:t>
            </a:r>
          </a:p>
          <a:p>
            <a:pPr lvl="1" eaLnBrk="1" hangingPunct="1">
              <a:lnSpc>
                <a:spcPct val="90000"/>
              </a:lnSpc>
            </a:pPr>
            <a:r>
              <a:rPr lang="zh-CN" altLang="en-US" smtClean="0">
                <a:solidFill>
                  <a:srgbClr val="333399"/>
                </a:solidFill>
                <a:latin typeface="黑体" pitchFamily="49" charset="-122"/>
                <a:ea typeface="黑体" pitchFamily="49" charset="-122"/>
              </a:rPr>
              <a:t>要使每一方能够确知对方的存在。</a:t>
            </a:r>
          </a:p>
          <a:p>
            <a:pPr lvl="1" eaLnBrk="1" hangingPunct="1">
              <a:lnSpc>
                <a:spcPct val="90000"/>
              </a:lnSpc>
            </a:pPr>
            <a:r>
              <a:rPr lang="zh-CN" altLang="en-US" smtClean="0">
                <a:solidFill>
                  <a:srgbClr val="333399"/>
                </a:solidFill>
                <a:latin typeface="黑体" pitchFamily="49" charset="-122"/>
                <a:ea typeface="黑体" pitchFamily="49" charset="-122"/>
              </a:rPr>
              <a:t>要允许双方协商一些参数（如最大报文段长度，最大窗口大小，服务质量等）。</a:t>
            </a:r>
          </a:p>
          <a:p>
            <a:pPr lvl="1" eaLnBrk="1" hangingPunct="1">
              <a:lnSpc>
                <a:spcPct val="90000"/>
              </a:lnSpc>
            </a:pPr>
            <a:r>
              <a:rPr lang="zh-CN" altLang="en-US" smtClean="0">
                <a:solidFill>
                  <a:srgbClr val="333399"/>
                </a:solidFill>
                <a:latin typeface="黑体" pitchFamily="49" charset="-122"/>
                <a:ea typeface="黑体" pitchFamily="49" charset="-122"/>
              </a:rPr>
              <a:t>能够对运输实体资源（如缓存大小）进行分配。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60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60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60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6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4"/>
          <p:cNvSpPr>
            <a:spLocks noGrp="1"/>
          </p:cNvSpPr>
          <p:nvPr>
            <p:ph type="sldNum" sz="quarter" idx="11"/>
          </p:nvPr>
        </p:nvSpPr>
        <p:spPr>
          <a:noFill/>
        </p:spPr>
        <p:txBody>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fld id="{5497484B-F5E1-41CB-B71A-6AB3598EFB29}" type="slidenum">
              <a:rPr lang="en-US" altLang="zh-CN" sz="1400"/>
              <a:pPr eaLnBrk="1" hangingPunct="1"/>
              <a:t>114</a:t>
            </a:fld>
            <a:endParaRPr lang="en-US" altLang="zh-CN" sz="1400"/>
          </a:p>
        </p:txBody>
      </p:sp>
      <p:sp>
        <p:nvSpPr>
          <p:cNvPr id="118787" name="Rectangle 2"/>
          <p:cNvSpPr>
            <a:spLocks noGrp="1" noChangeArrowheads="1"/>
          </p:cNvSpPr>
          <p:nvPr>
            <p:ph type="title"/>
          </p:nvPr>
        </p:nvSpPr>
        <p:spPr>
          <a:xfrm>
            <a:off x="1150938" y="214313"/>
            <a:ext cx="6734175" cy="1462087"/>
          </a:xfrm>
        </p:spPr>
        <p:txBody>
          <a:bodyPr/>
          <a:lstStyle/>
          <a:p>
            <a:pPr algn="ctr" eaLnBrk="1" hangingPunct="1"/>
            <a:r>
              <a:rPr lang="zh-CN" altLang="en-US" smtClean="0"/>
              <a:t>客户服务器方式 </a:t>
            </a:r>
          </a:p>
        </p:txBody>
      </p:sp>
      <p:sp>
        <p:nvSpPr>
          <p:cNvPr id="557059" name="Rectangle 3"/>
          <p:cNvSpPr>
            <a:spLocks noGrp="1" noChangeArrowheads="1"/>
          </p:cNvSpPr>
          <p:nvPr>
            <p:ph type="body" idx="1"/>
          </p:nvPr>
        </p:nvSpPr>
        <p:spPr/>
        <p:txBody>
          <a:bodyPr/>
          <a:lstStyle/>
          <a:p>
            <a:pPr eaLnBrk="1" hangingPunct="1"/>
            <a:r>
              <a:rPr lang="en-US" altLang="zh-CN" smtClean="0"/>
              <a:t>TCP </a:t>
            </a:r>
            <a:r>
              <a:rPr lang="zh-CN" altLang="en-US" smtClean="0"/>
              <a:t>连接的建立都是采用客户服务器方式。</a:t>
            </a:r>
          </a:p>
          <a:p>
            <a:pPr eaLnBrk="1" hangingPunct="1"/>
            <a:r>
              <a:rPr lang="zh-CN" altLang="en-US" smtClean="0"/>
              <a:t>主动发起连接建立的应用进程叫做</a:t>
            </a:r>
            <a:r>
              <a:rPr lang="zh-CN" altLang="en-US" smtClean="0">
                <a:solidFill>
                  <a:schemeClr val="hlink"/>
                </a:solidFill>
              </a:rPr>
              <a:t>客户</a:t>
            </a:r>
            <a:r>
              <a:rPr lang="en-US" altLang="zh-CN" smtClean="0"/>
              <a:t>(client)</a:t>
            </a:r>
            <a:r>
              <a:rPr lang="zh-CN" altLang="en-US" smtClean="0"/>
              <a:t>。</a:t>
            </a:r>
          </a:p>
          <a:p>
            <a:pPr eaLnBrk="1" hangingPunct="1"/>
            <a:r>
              <a:rPr lang="zh-CN" altLang="en-US" smtClean="0"/>
              <a:t>被动等待连接建立的应用进程叫做</a:t>
            </a:r>
            <a:r>
              <a:rPr lang="zh-CN" altLang="en-US" smtClean="0">
                <a:solidFill>
                  <a:schemeClr val="hlink"/>
                </a:solidFill>
              </a:rPr>
              <a:t>服务器</a:t>
            </a:r>
            <a:r>
              <a:rPr lang="en-US" altLang="zh-CN" smtClean="0"/>
              <a:t>(server)</a:t>
            </a:r>
            <a:r>
              <a:rPr lang="zh-CN" altLang="en-US" smtClean="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7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7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19810" name="Group 77"/>
          <p:cNvGrpSpPr>
            <a:grpSpLocks/>
          </p:cNvGrpSpPr>
          <p:nvPr/>
        </p:nvGrpSpPr>
        <p:grpSpPr bwMode="auto">
          <a:xfrm>
            <a:off x="2339975" y="2997200"/>
            <a:ext cx="4248150" cy="3441700"/>
            <a:chOff x="1474" y="1888"/>
            <a:chExt cx="2676" cy="2432"/>
          </a:xfrm>
        </p:grpSpPr>
        <p:sp>
          <p:nvSpPr>
            <p:cNvPr id="119833" name="Line 75"/>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9834" name="Line 76"/>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9811" name="Rectangle 4"/>
          <p:cNvSpPr>
            <a:spLocks noGrp="1" noChangeArrowheads="1"/>
          </p:cNvSpPr>
          <p:nvPr>
            <p:ph type="title"/>
          </p:nvPr>
        </p:nvSpPr>
        <p:spPr>
          <a:xfrm>
            <a:off x="1584325" y="692150"/>
            <a:ext cx="5508625" cy="768350"/>
          </a:xfrm>
        </p:spPr>
        <p:txBody>
          <a:bodyPr/>
          <a:lstStyle/>
          <a:p>
            <a:pPr algn="ctr" eaLnBrk="1" hangingPunct="1"/>
            <a:r>
              <a:rPr lang="en-US" altLang="zh-CN" sz="4000" smtClean="0"/>
              <a:t/>
            </a:r>
            <a:br>
              <a:rPr lang="en-US" altLang="zh-CN" sz="4000" smtClean="0"/>
            </a:br>
            <a:r>
              <a:rPr lang="zh-CN" altLang="en-US" sz="3200" smtClean="0"/>
              <a:t>用三次握手建立 </a:t>
            </a:r>
            <a:r>
              <a:rPr lang="en-US" altLang="zh-CN" sz="3200" smtClean="0"/>
              <a:t>TCP </a:t>
            </a:r>
            <a:r>
              <a:rPr lang="zh-CN" altLang="en-US" sz="3200" smtClean="0"/>
              <a:t>连接</a:t>
            </a:r>
            <a:r>
              <a:rPr lang="zh-CN" altLang="en-US" sz="4000" smtClean="0"/>
              <a:t> </a:t>
            </a:r>
          </a:p>
        </p:txBody>
      </p:sp>
      <p:grpSp>
        <p:nvGrpSpPr>
          <p:cNvPr id="558141" name="Group 61"/>
          <p:cNvGrpSpPr>
            <a:grpSpLocks/>
          </p:cNvGrpSpPr>
          <p:nvPr/>
        </p:nvGrpSpPr>
        <p:grpSpPr bwMode="auto">
          <a:xfrm>
            <a:off x="2413000" y="2982913"/>
            <a:ext cx="4111625" cy="823912"/>
            <a:chOff x="1520" y="1879"/>
            <a:chExt cx="2590" cy="519"/>
          </a:xfrm>
        </p:grpSpPr>
        <p:sp>
          <p:nvSpPr>
            <p:cNvPr id="119831" name="Rectangle 25"/>
            <p:cNvSpPr>
              <a:spLocks noChangeArrowheads="1"/>
            </p:cNvSpPr>
            <p:nvPr/>
          </p:nvSpPr>
          <p:spPr bwMode="auto">
            <a:xfrm rot="665985">
              <a:off x="2097" y="1879"/>
              <a:ext cx="134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SYN = 1, seq = x</a:t>
              </a:r>
            </a:p>
          </p:txBody>
        </p:sp>
        <p:sp>
          <p:nvSpPr>
            <p:cNvPr id="119832" name="Line 28"/>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9813" name="Rectangle 31"/>
          <p:cNvSpPr>
            <a:spLocks noChangeArrowheads="1"/>
          </p:cNvSpPr>
          <p:nvPr/>
        </p:nvSpPr>
        <p:spPr bwMode="auto">
          <a:xfrm>
            <a:off x="1436688" y="2393950"/>
            <a:ext cx="96678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19814" name="Text Box 32"/>
          <p:cNvSpPr txBox="1">
            <a:spLocks noChangeArrowheads="1"/>
          </p:cNvSpPr>
          <p:nvPr/>
        </p:nvSpPr>
        <p:spPr bwMode="auto">
          <a:xfrm>
            <a:off x="138747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sp>
        <p:nvSpPr>
          <p:cNvPr id="119815" name="Rectangle 37"/>
          <p:cNvSpPr>
            <a:spLocks noChangeArrowheads="1"/>
          </p:cNvSpPr>
          <p:nvPr/>
        </p:nvSpPr>
        <p:spPr bwMode="auto">
          <a:xfrm>
            <a:off x="6526213" y="2393950"/>
            <a:ext cx="98583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19816" name="Text Box 39"/>
          <p:cNvSpPr txBox="1">
            <a:spLocks noChangeArrowheads="1"/>
          </p:cNvSpPr>
          <p:nvPr/>
        </p:nvSpPr>
        <p:spPr bwMode="auto">
          <a:xfrm>
            <a:off x="648652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grpSp>
        <p:nvGrpSpPr>
          <p:cNvPr id="558147" name="Group 67"/>
          <p:cNvGrpSpPr>
            <a:grpSpLocks/>
          </p:cNvGrpSpPr>
          <p:nvPr/>
        </p:nvGrpSpPr>
        <p:grpSpPr bwMode="auto">
          <a:xfrm>
            <a:off x="395288" y="2057400"/>
            <a:ext cx="1320800" cy="947738"/>
            <a:chOff x="249" y="1296"/>
            <a:chExt cx="832" cy="597"/>
          </a:xfrm>
        </p:grpSpPr>
        <p:sp>
          <p:nvSpPr>
            <p:cNvPr id="119829" name="Rectangle 44"/>
            <p:cNvSpPr>
              <a:spLocks noChangeArrowheads="1"/>
            </p:cNvSpPr>
            <p:nvPr/>
          </p:nvSpPr>
          <p:spPr bwMode="auto">
            <a:xfrm>
              <a:off x="251" y="1638"/>
              <a:ext cx="69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主动打开</a:t>
              </a:r>
            </a:p>
          </p:txBody>
        </p:sp>
        <p:sp>
          <p:nvSpPr>
            <p:cNvPr id="119830" name="Freeform 46"/>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58146" name="Group 66"/>
          <p:cNvGrpSpPr>
            <a:grpSpLocks/>
          </p:cNvGrpSpPr>
          <p:nvPr/>
        </p:nvGrpSpPr>
        <p:grpSpPr bwMode="auto">
          <a:xfrm>
            <a:off x="7223125" y="2065338"/>
            <a:ext cx="1385888" cy="939800"/>
            <a:chOff x="4550" y="1301"/>
            <a:chExt cx="873" cy="592"/>
          </a:xfrm>
        </p:grpSpPr>
        <p:sp>
          <p:nvSpPr>
            <p:cNvPr id="119827" name="Rectangle 45"/>
            <p:cNvSpPr>
              <a:spLocks noChangeArrowheads="1"/>
            </p:cNvSpPr>
            <p:nvPr/>
          </p:nvSpPr>
          <p:spPr bwMode="auto">
            <a:xfrm>
              <a:off x="4732" y="1617"/>
              <a:ext cx="69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被动打开</a:t>
              </a:r>
            </a:p>
          </p:txBody>
        </p:sp>
        <p:sp>
          <p:nvSpPr>
            <p:cNvPr id="119828" name="Freeform 50"/>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19819"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005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9820"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910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9821" name="Rectangle 55"/>
          <p:cNvSpPr>
            <a:spLocks noChangeArrowheads="1"/>
          </p:cNvSpPr>
          <p:nvPr/>
        </p:nvSpPr>
        <p:spPr bwMode="auto">
          <a:xfrm>
            <a:off x="2093913" y="1779588"/>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19822" name="Rectangle 56"/>
          <p:cNvSpPr>
            <a:spLocks noChangeArrowheads="1"/>
          </p:cNvSpPr>
          <p:nvPr/>
        </p:nvSpPr>
        <p:spPr bwMode="auto">
          <a:xfrm>
            <a:off x="6535738" y="1779588"/>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19823" name="Rectangle 57"/>
          <p:cNvSpPr>
            <a:spLocks noChangeArrowheads="1"/>
          </p:cNvSpPr>
          <p:nvPr/>
        </p:nvSpPr>
        <p:spPr bwMode="auto">
          <a:xfrm>
            <a:off x="1589088" y="1425575"/>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19824" name="Rectangle 58"/>
          <p:cNvSpPr>
            <a:spLocks noChangeArrowheads="1"/>
          </p:cNvSpPr>
          <p:nvPr/>
        </p:nvSpPr>
        <p:spPr bwMode="auto">
          <a:xfrm>
            <a:off x="6584950" y="1425575"/>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19825" name="Text Box 60"/>
          <p:cNvSpPr txBox="1">
            <a:spLocks noChangeArrowheads="1"/>
          </p:cNvSpPr>
          <p:nvPr/>
        </p:nvSpPr>
        <p:spPr bwMode="auto">
          <a:xfrm>
            <a:off x="2124075" y="188913"/>
            <a:ext cx="4278313" cy="58896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200">
                <a:solidFill>
                  <a:srgbClr val="333399"/>
                </a:solidFill>
                <a:latin typeface="Arial" pitchFamily="34" charset="0"/>
                <a:ea typeface="黑体" pitchFamily="49" charset="-122"/>
              </a:rPr>
              <a:t>5.9.1  TCP </a:t>
            </a:r>
            <a:r>
              <a:rPr lang="zh-CN" altLang="en-US" sz="3200">
                <a:solidFill>
                  <a:srgbClr val="333399"/>
                </a:solidFill>
                <a:latin typeface="Arial" pitchFamily="34" charset="0"/>
                <a:ea typeface="黑体" pitchFamily="49" charset="-122"/>
              </a:rPr>
              <a:t>的连接建立</a:t>
            </a:r>
          </a:p>
        </p:txBody>
      </p:sp>
      <p:sp>
        <p:nvSpPr>
          <p:cNvPr id="558158" name="Text Box 78"/>
          <p:cNvSpPr txBox="1">
            <a:spLocks noChangeArrowheads="1"/>
          </p:cNvSpPr>
          <p:nvPr/>
        </p:nvSpPr>
        <p:spPr bwMode="auto">
          <a:xfrm>
            <a:off x="755650" y="4797425"/>
            <a:ext cx="7915275" cy="1809750"/>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rgbClr val="333399"/>
                </a:solidFill>
                <a:latin typeface="Arial" pitchFamily="34" charset="0"/>
                <a:ea typeface="黑体" pitchFamily="49" charset="-122"/>
              </a:rPr>
              <a:t>A </a:t>
            </a:r>
            <a:r>
              <a:rPr lang="zh-CN" altLang="en-US">
                <a:solidFill>
                  <a:srgbClr val="333399"/>
                </a:solidFill>
                <a:latin typeface="Arial" pitchFamily="34" charset="0"/>
                <a:ea typeface="黑体" pitchFamily="49" charset="-122"/>
              </a:rPr>
              <a:t>的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向 </a:t>
            </a:r>
            <a:r>
              <a:rPr lang="en-US" altLang="zh-CN">
                <a:solidFill>
                  <a:srgbClr val="333399"/>
                </a:solidFill>
                <a:latin typeface="Arial" pitchFamily="34" charset="0"/>
                <a:ea typeface="黑体" pitchFamily="49" charset="-122"/>
              </a:rPr>
              <a:t>B </a:t>
            </a:r>
            <a:r>
              <a:rPr lang="zh-CN" altLang="en-US">
                <a:solidFill>
                  <a:srgbClr val="333399"/>
                </a:solidFill>
                <a:latin typeface="Arial" pitchFamily="34" charset="0"/>
                <a:ea typeface="黑体" pitchFamily="49" charset="-122"/>
              </a:rPr>
              <a:t>发出连接请求报文段，其首部中的</a:t>
            </a:r>
          </a:p>
          <a:p>
            <a:pPr eaLnBrk="1" hangingPunct="1"/>
            <a:r>
              <a:rPr lang="zh-CN" altLang="en-US">
                <a:solidFill>
                  <a:srgbClr val="333399"/>
                </a:solidFill>
                <a:latin typeface="Arial" pitchFamily="34" charset="0"/>
                <a:ea typeface="黑体" pitchFamily="49" charset="-122"/>
              </a:rPr>
              <a:t>同步位 </a:t>
            </a:r>
            <a:r>
              <a:rPr lang="en-US" altLang="zh-CN">
                <a:solidFill>
                  <a:srgbClr val="333399"/>
                </a:solidFill>
                <a:latin typeface="Arial" pitchFamily="34" charset="0"/>
                <a:ea typeface="黑体" pitchFamily="49" charset="-122"/>
              </a:rPr>
              <a:t>SYN = 1</a:t>
            </a:r>
            <a:r>
              <a:rPr lang="zh-CN" altLang="en-US">
                <a:solidFill>
                  <a:srgbClr val="333399"/>
                </a:solidFill>
                <a:latin typeface="Arial" pitchFamily="34" charset="0"/>
                <a:ea typeface="黑体" pitchFamily="49" charset="-122"/>
              </a:rPr>
              <a:t>，并选择序号 </a:t>
            </a:r>
            <a:r>
              <a:rPr lang="en-US" altLang="zh-CN">
                <a:solidFill>
                  <a:srgbClr val="333399"/>
                </a:solidFill>
                <a:latin typeface="Arial" pitchFamily="34" charset="0"/>
                <a:ea typeface="黑体" pitchFamily="49" charset="-122"/>
              </a:rPr>
              <a:t>seq = x</a:t>
            </a:r>
            <a:r>
              <a:rPr lang="zh-CN" altLang="en-US">
                <a:solidFill>
                  <a:srgbClr val="333399"/>
                </a:solidFill>
                <a:latin typeface="Arial" pitchFamily="34" charset="0"/>
                <a:ea typeface="黑体" pitchFamily="49" charset="-122"/>
              </a:rPr>
              <a:t>，表明传送</a:t>
            </a:r>
          </a:p>
          <a:p>
            <a:pPr eaLnBrk="1" hangingPunct="1"/>
            <a:r>
              <a:rPr lang="zh-CN" altLang="en-US">
                <a:solidFill>
                  <a:srgbClr val="333399"/>
                </a:solidFill>
                <a:latin typeface="Arial" pitchFamily="34" charset="0"/>
                <a:ea typeface="黑体" pitchFamily="49" charset="-122"/>
              </a:rPr>
              <a:t>数据时的第一个数据字节的序号是 </a:t>
            </a:r>
            <a:r>
              <a:rPr lang="en-US" altLang="zh-CN">
                <a:solidFill>
                  <a:srgbClr val="333399"/>
                </a:solidFill>
                <a:latin typeface="Arial" pitchFamily="34" charset="0"/>
                <a:ea typeface="黑体" pitchFamily="49" charset="-122"/>
              </a:rPr>
              <a:t>x</a:t>
            </a:r>
            <a:r>
              <a:rPr lang="zh-CN" altLang="en-US">
                <a:solidFill>
                  <a:srgbClr val="333399"/>
                </a:solidFill>
                <a:latin typeface="Arial" pitchFamily="34" charset="0"/>
                <a:ea typeface="黑体" pitchFamily="49" charset="-122"/>
              </a:rPr>
              <a:t>。</a:t>
            </a:r>
          </a:p>
          <a:p>
            <a:pPr eaLnBrk="1" hangingPunct="1"/>
            <a:endParaRPr lang="en-US" altLang="zh-CN">
              <a:solidFill>
                <a:srgbClr val="333399"/>
              </a:solidFill>
              <a:latin typeface="Arial" pitchFamily="34" charset="0"/>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58146"/>
                                        </p:tgtEl>
                                        <p:attrNameLst>
                                          <p:attrName>style.visibility</p:attrName>
                                        </p:attrNameLst>
                                      </p:cBhvr>
                                      <p:to>
                                        <p:strVal val="visible"/>
                                      </p:to>
                                    </p:set>
                                    <p:animEffect transition="in" filter="wipe(up)">
                                      <p:cBhvr>
                                        <p:cTn id="7" dur="1000"/>
                                        <p:tgtEl>
                                          <p:spTgt spid="558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58147"/>
                                        </p:tgtEl>
                                        <p:attrNameLst>
                                          <p:attrName>style.visibility</p:attrName>
                                        </p:attrNameLst>
                                      </p:cBhvr>
                                      <p:to>
                                        <p:strVal val="visible"/>
                                      </p:to>
                                    </p:set>
                                    <p:animEffect transition="in" filter="wipe(up)">
                                      <p:cBhvr>
                                        <p:cTn id="12" dur="1000"/>
                                        <p:tgtEl>
                                          <p:spTgt spid="558147"/>
                                        </p:tgtEl>
                                      </p:cBhvr>
                                    </p:animEffect>
                                  </p:childTnLst>
                                </p:cTn>
                              </p:par>
                            </p:childTnLst>
                          </p:cTn>
                        </p:par>
                        <p:par>
                          <p:cTn id="13" fill="hold" nodeType="afterGroup">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558158"/>
                                        </p:tgtEl>
                                        <p:attrNameLst>
                                          <p:attrName>style.visibility</p:attrName>
                                        </p:attrNameLst>
                                      </p:cBhvr>
                                      <p:to>
                                        <p:strVal val="visible"/>
                                      </p:to>
                                    </p:set>
                                  </p:childTnLst>
                                </p:cTn>
                              </p:par>
                            </p:childTnLst>
                          </p:cTn>
                        </p:par>
                        <p:par>
                          <p:cTn id="16" fill="hold" nodeType="afterGroup">
                            <p:stCondLst>
                              <p:cond delay="1000"/>
                            </p:stCondLst>
                            <p:childTnLst>
                              <p:par>
                                <p:cTn id="17" presetID="22" presetClass="entr" presetSubtype="8" fill="hold" nodeType="afterEffect">
                                  <p:stCondLst>
                                    <p:cond delay="2000"/>
                                  </p:stCondLst>
                                  <p:childTnLst>
                                    <p:set>
                                      <p:cBhvr>
                                        <p:cTn id="18" dur="1" fill="hold">
                                          <p:stCondLst>
                                            <p:cond delay="0"/>
                                          </p:stCondLst>
                                        </p:cTn>
                                        <p:tgtEl>
                                          <p:spTgt spid="558141"/>
                                        </p:tgtEl>
                                        <p:attrNameLst>
                                          <p:attrName>style.visibility</p:attrName>
                                        </p:attrNameLst>
                                      </p:cBhvr>
                                      <p:to>
                                        <p:strVal val="visible"/>
                                      </p:to>
                                    </p:set>
                                    <p:animEffect transition="in" filter="wipe(left)">
                                      <p:cBhvr>
                                        <p:cTn id="19" dur="1000"/>
                                        <p:tgtEl>
                                          <p:spTgt spid="558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158" grpId="0" animBg="1"/>
    </p:bldLst>
  </p:timing>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0834" name="Group 18"/>
          <p:cNvGrpSpPr>
            <a:grpSpLocks/>
          </p:cNvGrpSpPr>
          <p:nvPr/>
        </p:nvGrpSpPr>
        <p:grpSpPr bwMode="auto">
          <a:xfrm>
            <a:off x="2339975" y="2997200"/>
            <a:ext cx="4248150" cy="3441700"/>
            <a:chOff x="1474" y="1888"/>
            <a:chExt cx="2676" cy="2432"/>
          </a:xfrm>
        </p:grpSpPr>
        <p:sp>
          <p:nvSpPr>
            <p:cNvPr id="120860" name="Line 19"/>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0861" name="Line 20"/>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0835" name="Rectangle 21"/>
          <p:cNvSpPr>
            <a:spLocks noGrp="1" noChangeArrowheads="1"/>
          </p:cNvSpPr>
          <p:nvPr>
            <p:ph type="title"/>
          </p:nvPr>
        </p:nvSpPr>
        <p:spPr>
          <a:xfrm>
            <a:off x="1584325" y="692150"/>
            <a:ext cx="5508625" cy="768350"/>
          </a:xfrm>
        </p:spPr>
        <p:txBody>
          <a:bodyPr/>
          <a:lstStyle/>
          <a:p>
            <a:pPr algn="ctr" eaLnBrk="1" hangingPunct="1"/>
            <a:r>
              <a:rPr lang="en-US" altLang="zh-CN" sz="4000" smtClean="0"/>
              <a:t/>
            </a:r>
            <a:br>
              <a:rPr lang="en-US" altLang="zh-CN" sz="4000" smtClean="0"/>
            </a:br>
            <a:r>
              <a:rPr lang="zh-CN" altLang="en-US" sz="3200" smtClean="0"/>
              <a:t>用三次握手建立 </a:t>
            </a:r>
            <a:r>
              <a:rPr lang="en-US" altLang="zh-CN" sz="3200" smtClean="0"/>
              <a:t>TCP </a:t>
            </a:r>
            <a:r>
              <a:rPr lang="zh-CN" altLang="en-US" sz="3200" smtClean="0"/>
              <a:t>连接</a:t>
            </a:r>
            <a:r>
              <a:rPr lang="zh-CN" altLang="en-US" sz="4000" smtClean="0"/>
              <a:t> </a:t>
            </a:r>
          </a:p>
        </p:txBody>
      </p:sp>
      <p:grpSp>
        <p:nvGrpSpPr>
          <p:cNvPr id="120836" name="Group 22"/>
          <p:cNvGrpSpPr>
            <a:grpSpLocks/>
          </p:cNvGrpSpPr>
          <p:nvPr/>
        </p:nvGrpSpPr>
        <p:grpSpPr bwMode="auto">
          <a:xfrm>
            <a:off x="2413000" y="2982913"/>
            <a:ext cx="4111625" cy="823912"/>
            <a:chOff x="1520" y="1879"/>
            <a:chExt cx="2590" cy="519"/>
          </a:xfrm>
        </p:grpSpPr>
        <p:sp>
          <p:nvSpPr>
            <p:cNvPr id="120858" name="Rectangle 23"/>
            <p:cNvSpPr>
              <a:spLocks noChangeArrowheads="1"/>
            </p:cNvSpPr>
            <p:nvPr/>
          </p:nvSpPr>
          <p:spPr bwMode="auto">
            <a:xfrm rot="665985">
              <a:off x="2097" y="1879"/>
              <a:ext cx="134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SYN = 1, seq = x</a:t>
              </a:r>
            </a:p>
          </p:txBody>
        </p:sp>
        <p:sp>
          <p:nvSpPr>
            <p:cNvPr id="120859" name="Line 24"/>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0837" name="Rectangle 28"/>
          <p:cNvSpPr>
            <a:spLocks noChangeArrowheads="1"/>
          </p:cNvSpPr>
          <p:nvPr/>
        </p:nvSpPr>
        <p:spPr bwMode="auto">
          <a:xfrm>
            <a:off x="1436688" y="2393950"/>
            <a:ext cx="96678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0838" name="Text Box 29"/>
          <p:cNvSpPr txBox="1">
            <a:spLocks noChangeArrowheads="1"/>
          </p:cNvSpPr>
          <p:nvPr/>
        </p:nvSpPr>
        <p:spPr bwMode="auto">
          <a:xfrm>
            <a:off x="138747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sp>
        <p:nvSpPr>
          <p:cNvPr id="120839" name="Rectangle 30"/>
          <p:cNvSpPr>
            <a:spLocks noChangeArrowheads="1"/>
          </p:cNvSpPr>
          <p:nvPr/>
        </p:nvSpPr>
        <p:spPr bwMode="auto">
          <a:xfrm>
            <a:off x="6526213" y="2393950"/>
            <a:ext cx="98583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0840" name="Text Box 31"/>
          <p:cNvSpPr txBox="1">
            <a:spLocks noChangeArrowheads="1"/>
          </p:cNvSpPr>
          <p:nvPr/>
        </p:nvSpPr>
        <p:spPr bwMode="auto">
          <a:xfrm>
            <a:off x="648652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grpSp>
        <p:nvGrpSpPr>
          <p:cNvPr id="120841" name="Group 35"/>
          <p:cNvGrpSpPr>
            <a:grpSpLocks/>
          </p:cNvGrpSpPr>
          <p:nvPr/>
        </p:nvGrpSpPr>
        <p:grpSpPr bwMode="auto">
          <a:xfrm>
            <a:off x="395288" y="2057400"/>
            <a:ext cx="1320800" cy="947738"/>
            <a:chOff x="249" y="1296"/>
            <a:chExt cx="832" cy="597"/>
          </a:xfrm>
        </p:grpSpPr>
        <p:sp>
          <p:nvSpPr>
            <p:cNvPr id="120856" name="Rectangle 36"/>
            <p:cNvSpPr>
              <a:spLocks noChangeArrowheads="1"/>
            </p:cNvSpPr>
            <p:nvPr/>
          </p:nvSpPr>
          <p:spPr bwMode="auto">
            <a:xfrm>
              <a:off x="251" y="1638"/>
              <a:ext cx="69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主动打开</a:t>
              </a:r>
            </a:p>
          </p:txBody>
        </p:sp>
        <p:sp>
          <p:nvSpPr>
            <p:cNvPr id="120857" name="Freeform 37"/>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0842" name="Group 38"/>
          <p:cNvGrpSpPr>
            <a:grpSpLocks/>
          </p:cNvGrpSpPr>
          <p:nvPr/>
        </p:nvGrpSpPr>
        <p:grpSpPr bwMode="auto">
          <a:xfrm>
            <a:off x="7223125" y="2065338"/>
            <a:ext cx="1385888" cy="939800"/>
            <a:chOff x="4550" y="1301"/>
            <a:chExt cx="873" cy="592"/>
          </a:xfrm>
        </p:grpSpPr>
        <p:sp>
          <p:nvSpPr>
            <p:cNvPr id="120854" name="Rectangle 39"/>
            <p:cNvSpPr>
              <a:spLocks noChangeArrowheads="1"/>
            </p:cNvSpPr>
            <p:nvPr/>
          </p:nvSpPr>
          <p:spPr bwMode="auto">
            <a:xfrm>
              <a:off x="4732" y="1617"/>
              <a:ext cx="69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被动打开</a:t>
              </a:r>
            </a:p>
          </p:txBody>
        </p:sp>
        <p:sp>
          <p:nvSpPr>
            <p:cNvPr id="120855" name="Freeform 40"/>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20843"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005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0844"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910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0845" name="Rectangle 43"/>
          <p:cNvSpPr>
            <a:spLocks noChangeArrowheads="1"/>
          </p:cNvSpPr>
          <p:nvPr/>
        </p:nvSpPr>
        <p:spPr bwMode="auto">
          <a:xfrm>
            <a:off x="2093913" y="1779588"/>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0846" name="Rectangle 44"/>
          <p:cNvSpPr>
            <a:spLocks noChangeArrowheads="1"/>
          </p:cNvSpPr>
          <p:nvPr/>
        </p:nvSpPr>
        <p:spPr bwMode="auto">
          <a:xfrm>
            <a:off x="6535738" y="1779588"/>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0847" name="Rectangle 45"/>
          <p:cNvSpPr>
            <a:spLocks noChangeArrowheads="1"/>
          </p:cNvSpPr>
          <p:nvPr/>
        </p:nvSpPr>
        <p:spPr bwMode="auto">
          <a:xfrm>
            <a:off x="1589088" y="1425575"/>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0848" name="Rectangle 46"/>
          <p:cNvSpPr>
            <a:spLocks noChangeArrowheads="1"/>
          </p:cNvSpPr>
          <p:nvPr/>
        </p:nvSpPr>
        <p:spPr bwMode="auto">
          <a:xfrm>
            <a:off x="6584950" y="1425575"/>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20849" name="Text Box 47"/>
          <p:cNvSpPr txBox="1">
            <a:spLocks noChangeArrowheads="1"/>
          </p:cNvSpPr>
          <p:nvPr/>
        </p:nvSpPr>
        <p:spPr bwMode="auto">
          <a:xfrm>
            <a:off x="2124075" y="188913"/>
            <a:ext cx="4278313" cy="58896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200">
                <a:solidFill>
                  <a:srgbClr val="333399"/>
                </a:solidFill>
                <a:latin typeface="Arial" pitchFamily="34" charset="0"/>
                <a:ea typeface="黑体" pitchFamily="49" charset="-122"/>
              </a:rPr>
              <a:t>5.9.1  TCP </a:t>
            </a:r>
            <a:r>
              <a:rPr lang="zh-CN" altLang="en-US" sz="3200">
                <a:solidFill>
                  <a:srgbClr val="333399"/>
                </a:solidFill>
                <a:latin typeface="Arial" pitchFamily="34" charset="0"/>
                <a:ea typeface="黑体" pitchFamily="49" charset="-122"/>
              </a:rPr>
              <a:t>的连接建立</a:t>
            </a:r>
          </a:p>
        </p:txBody>
      </p:sp>
      <p:grpSp>
        <p:nvGrpSpPr>
          <p:cNvPr id="784432" name="Group 48"/>
          <p:cNvGrpSpPr>
            <a:grpSpLocks/>
          </p:cNvGrpSpPr>
          <p:nvPr/>
        </p:nvGrpSpPr>
        <p:grpSpPr bwMode="auto">
          <a:xfrm>
            <a:off x="2344738" y="3881438"/>
            <a:ext cx="4179887" cy="801687"/>
            <a:chOff x="1477" y="2445"/>
            <a:chExt cx="2633" cy="505"/>
          </a:xfrm>
        </p:grpSpPr>
        <p:sp>
          <p:nvSpPr>
            <p:cNvPr id="120852" name="Line 49"/>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853" name="Rectangle 50"/>
            <p:cNvSpPr>
              <a:spLocks noChangeArrowheads="1"/>
            </p:cNvSpPr>
            <p:nvPr/>
          </p:nvSpPr>
          <p:spPr bwMode="auto">
            <a:xfrm rot="20990024" flipH="1">
              <a:off x="1477" y="2475"/>
              <a:ext cx="240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SYN = 1, ACK = 1, seq = y, ack= x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grpSp>
      <p:sp>
        <p:nvSpPr>
          <p:cNvPr id="784435" name="Text Box 51"/>
          <p:cNvSpPr txBox="1">
            <a:spLocks noChangeArrowheads="1"/>
          </p:cNvSpPr>
          <p:nvPr/>
        </p:nvSpPr>
        <p:spPr bwMode="auto">
          <a:xfrm>
            <a:off x="611188" y="4932363"/>
            <a:ext cx="8094662" cy="18097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buFontTx/>
              <a:buChar char="•"/>
            </a:pPr>
            <a:r>
              <a:rPr lang="en-US" altLang="zh-CN">
                <a:solidFill>
                  <a:srgbClr val="333399"/>
                </a:solidFill>
                <a:latin typeface="Arial" pitchFamily="34" charset="0"/>
                <a:ea typeface="黑体" pitchFamily="49" charset="-122"/>
              </a:rPr>
              <a:t>  B </a:t>
            </a:r>
            <a:r>
              <a:rPr lang="zh-CN" altLang="en-US">
                <a:solidFill>
                  <a:srgbClr val="333399"/>
                </a:solidFill>
                <a:latin typeface="Arial" pitchFamily="34" charset="0"/>
                <a:ea typeface="黑体" pitchFamily="49" charset="-122"/>
              </a:rPr>
              <a:t>的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收到连接请求报文段后，如同意，则</a:t>
            </a:r>
          </a:p>
          <a:p>
            <a:pPr eaLnBrk="1" hangingPunct="1"/>
            <a:r>
              <a:rPr lang="zh-CN" altLang="en-US">
                <a:solidFill>
                  <a:srgbClr val="333399"/>
                </a:solidFill>
                <a:latin typeface="Arial" pitchFamily="34" charset="0"/>
                <a:ea typeface="黑体" pitchFamily="49" charset="-122"/>
              </a:rPr>
              <a:t>   发回确认。</a:t>
            </a:r>
          </a:p>
          <a:p>
            <a:pPr eaLnBrk="1" hangingPunct="1">
              <a:buFontTx/>
              <a:buChar char="•"/>
            </a:pPr>
            <a:r>
              <a:rPr lang="zh-CN" altLang="en-US">
                <a:solidFill>
                  <a:srgbClr val="333399"/>
                </a:solidFill>
                <a:latin typeface="Arial" pitchFamily="34" charset="0"/>
                <a:ea typeface="黑体" pitchFamily="49" charset="-122"/>
              </a:rPr>
              <a:t>  </a:t>
            </a:r>
            <a:r>
              <a:rPr lang="en-US" altLang="zh-CN">
                <a:solidFill>
                  <a:srgbClr val="333399"/>
                </a:solidFill>
                <a:latin typeface="Arial" pitchFamily="34" charset="0"/>
                <a:ea typeface="黑体" pitchFamily="49" charset="-122"/>
              </a:rPr>
              <a:t>B </a:t>
            </a:r>
            <a:r>
              <a:rPr lang="zh-CN" altLang="en-US">
                <a:solidFill>
                  <a:srgbClr val="333399"/>
                </a:solidFill>
                <a:latin typeface="Arial" pitchFamily="34" charset="0"/>
                <a:ea typeface="黑体" pitchFamily="49" charset="-122"/>
              </a:rPr>
              <a:t>在确认报文段中应使 </a:t>
            </a:r>
            <a:r>
              <a:rPr lang="en-US" altLang="zh-CN">
                <a:solidFill>
                  <a:srgbClr val="333399"/>
                </a:solidFill>
                <a:latin typeface="Arial" pitchFamily="34" charset="0"/>
                <a:ea typeface="黑体" pitchFamily="49" charset="-122"/>
              </a:rPr>
              <a:t>SYN = 1</a:t>
            </a:r>
            <a:r>
              <a:rPr lang="zh-CN" altLang="en-US">
                <a:solidFill>
                  <a:srgbClr val="333399"/>
                </a:solidFill>
                <a:latin typeface="Arial" pitchFamily="34" charset="0"/>
                <a:ea typeface="黑体" pitchFamily="49" charset="-122"/>
              </a:rPr>
              <a:t>，使 </a:t>
            </a:r>
            <a:r>
              <a:rPr lang="en-US" altLang="zh-CN">
                <a:solidFill>
                  <a:srgbClr val="333399"/>
                </a:solidFill>
                <a:latin typeface="Arial" pitchFamily="34" charset="0"/>
                <a:ea typeface="黑体" pitchFamily="49" charset="-122"/>
              </a:rPr>
              <a:t>ACK = 1</a:t>
            </a:r>
            <a:r>
              <a:rPr lang="zh-CN" altLang="en-US">
                <a:solidFill>
                  <a:srgbClr val="333399"/>
                </a:solidFill>
                <a:latin typeface="Arial" pitchFamily="34" charset="0"/>
                <a:ea typeface="黑体" pitchFamily="49" charset="-122"/>
              </a:rPr>
              <a:t>，</a:t>
            </a:r>
          </a:p>
          <a:p>
            <a:pPr eaLnBrk="1" hangingPunct="1"/>
            <a:r>
              <a:rPr lang="zh-CN" altLang="en-US">
                <a:solidFill>
                  <a:srgbClr val="333399"/>
                </a:solidFill>
                <a:latin typeface="Arial" pitchFamily="34" charset="0"/>
                <a:ea typeface="黑体" pitchFamily="49" charset="-122"/>
              </a:rPr>
              <a:t>   其确认号</a:t>
            </a:r>
            <a:r>
              <a:rPr lang="en-US" altLang="zh-CN">
                <a:solidFill>
                  <a:srgbClr val="333399"/>
                </a:solidFill>
                <a:latin typeface="Arial" pitchFamily="34" charset="0"/>
                <a:ea typeface="黑体" pitchFamily="49" charset="-122"/>
              </a:rPr>
              <a:t>ack = x </a:t>
            </a:r>
            <a:r>
              <a:rPr lang="en-US" altLang="zh-CN">
                <a:solidFill>
                  <a:srgbClr val="333399"/>
                </a:solidFill>
                <a:latin typeface="Arial" pitchFamily="34" charset="0"/>
                <a:ea typeface="黑体" pitchFamily="49" charset="-122"/>
                <a:sym typeface="Symbol" pitchFamily="18" charset="2"/>
              </a:rPr>
              <a:t></a:t>
            </a:r>
            <a:r>
              <a:rPr lang="en-US" altLang="zh-CN">
                <a:solidFill>
                  <a:srgbClr val="333399"/>
                </a:solidFill>
                <a:latin typeface="Arial" pitchFamily="34" charset="0"/>
                <a:ea typeface="黑体" pitchFamily="49" charset="-122"/>
              </a:rPr>
              <a:t> 1</a:t>
            </a:r>
            <a:r>
              <a:rPr lang="zh-CN" altLang="en-US">
                <a:solidFill>
                  <a:srgbClr val="333399"/>
                </a:solidFill>
                <a:latin typeface="Arial" pitchFamily="34" charset="0"/>
                <a:ea typeface="黑体" pitchFamily="49" charset="-122"/>
              </a:rPr>
              <a:t>，自己选择的序号 </a:t>
            </a:r>
            <a:r>
              <a:rPr lang="en-US" altLang="zh-CN">
                <a:solidFill>
                  <a:srgbClr val="333399"/>
                </a:solidFill>
                <a:latin typeface="Arial" pitchFamily="34" charset="0"/>
                <a:ea typeface="黑体" pitchFamily="49" charset="-122"/>
              </a:rPr>
              <a:t>seq = y</a:t>
            </a:r>
            <a:r>
              <a:rPr lang="zh-CN" altLang="en-US">
                <a:solidFill>
                  <a:srgbClr val="333399"/>
                </a:solidFill>
                <a:latin typeface="Arial" pitchFamily="34" charset="0"/>
                <a:ea typeface="黑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8443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2" fill="hold" nodeType="afterEffect">
                                  <p:stCondLst>
                                    <p:cond delay="2000"/>
                                  </p:stCondLst>
                                  <p:childTnLst>
                                    <p:set>
                                      <p:cBhvr>
                                        <p:cTn id="9" dur="1" fill="hold">
                                          <p:stCondLst>
                                            <p:cond delay="0"/>
                                          </p:stCondLst>
                                        </p:cTn>
                                        <p:tgtEl>
                                          <p:spTgt spid="784432"/>
                                        </p:tgtEl>
                                        <p:attrNameLst>
                                          <p:attrName>style.visibility</p:attrName>
                                        </p:attrNameLst>
                                      </p:cBhvr>
                                      <p:to>
                                        <p:strVal val="visible"/>
                                      </p:to>
                                    </p:set>
                                    <p:animEffect transition="in" filter="wipe(right)">
                                      <p:cBhvr>
                                        <p:cTn id="10" dur="1000"/>
                                        <p:tgtEl>
                                          <p:spTgt spid="784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435" grpId="0" animBg="1"/>
    </p:bld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1858" name="Group 18"/>
          <p:cNvGrpSpPr>
            <a:grpSpLocks/>
          </p:cNvGrpSpPr>
          <p:nvPr/>
        </p:nvGrpSpPr>
        <p:grpSpPr bwMode="auto">
          <a:xfrm>
            <a:off x="2339975" y="2997200"/>
            <a:ext cx="4248150" cy="3441700"/>
            <a:chOff x="1474" y="1888"/>
            <a:chExt cx="2676" cy="2432"/>
          </a:xfrm>
        </p:grpSpPr>
        <p:sp>
          <p:nvSpPr>
            <p:cNvPr id="121885" name="Line 19"/>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1886" name="Line 20"/>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1859" name="Group 22"/>
          <p:cNvGrpSpPr>
            <a:grpSpLocks/>
          </p:cNvGrpSpPr>
          <p:nvPr/>
        </p:nvGrpSpPr>
        <p:grpSpPr bwMode="auto">
          <a:xfrm>
            <a:off x="2413000" y="2982913"/>
            <a:ext cx="4111625" cy="823912"/>
            <a:chOff x="1520" y="1879"/>
            <a:chExt cx="2590" cy="519"/>
          </a:xfrm>
        </p:grpSpPr>
        <p:sp>
          <p:nvSpPr>
            <p:cNvPr id="121883" name="Rectangle 23"/>
            <p:cNvSpPr>
              <a:spLocks noChangeArrowheads="1"/>
            </p:cNvSpPr>
            <p:nvPr/>
          </p:nvSpPr>
          <p:spPr bwMode="auto">
            <a:xfrm rot="665985">
              <a:off x="2097" y="1879"/>
              <a:ext cx="134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SYN = 1, seq = x</a:t>
              </a:r>
            </a:p>
          </p:txBody>
        </p:sp>
        <p:sp>
          <p:nvSpPr>
            <p:cNvPr id="121884" name="Line 24"/>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86457" name="Group 25"/>
          <p:cNvGrpSpPr>
            <a:grpSpLocks/>
          </p:cNvGrpSpPr>
          <p:nvPr/>
        </p:nvGrpSpPr>
        <p:grpSpPr bwMode="auto">
          <a:xfrm>
            <a:off x="2413000" y="4756150"/>
            <a:ext cx="4111625" cy="800100"/>
            <a:chOff x="1520" y="2996"/>
            <a:chExt cx="2590" cy="504"/>
          </a:xfrm>
        </p:grpSpPr>
        <p:sp>
          <p:nvSpPr>
            <p:cNvPr id="121881" name="Rectangle 26"/>
            <p:cNvSpPr>
              <a:spLocks noChangeArrowheads="1"/>
            </p:cNvSpPr>
            <p:nvPr/>
          </p:nvSpPr>
          <p:spPr bwMode="auto">
            <a:xfrm rot="649536">
              <a:off x="1973" y="3065"/>
              <a:ext cx="2077"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x + 1, ack = y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p>
          </p:txBody>
        </p:sp>
        <p:sp>
          <p:nvSpPr>
            <p:cNvPr id="121882" name="Line 27"/>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1861" name="Rectangle 28"/>
          <p:cNvSpPr>
            <a:spLocks noChangeArrowheads="1"/>
          </p:cNvSpPr>
          <p:nvPr/>
        </p:nvSpPr>
        <p:spPr bwMode="auto">
          <a:xfrm>
            <a:off x="1436688" y="2393950"/>
            <a:ext cx="96678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1862" name="Text Box 29"/>
          <p:cNvSpPr txBox="1">
            <a:spLocks noChangeArrowheads="1"/>
          </p:cNvSpPr>
          <p:nvPr/>
        </p:nvSpPr>
        <p:spPr bwMode="auto">
          <a:xfrm>
            <a:off x="138747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sp>
        <p:nvSpPr>
          <p:cNvPr id="121863" name="Rectangle 30"/>
          <p:cNvSpPr>
            <a:spLocks noChangeArrowheads="1"/>
          </p:cNvSpPr>
          <p:nvPr/>
        </p:nvSpPr>
        <p:spPr bwMode="auto">
          <a:xfrm>
            <a:off x="6526213" y="2393950"/>
            <a:ext cx="98583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1864" name="Text Box 31"/>
          <p:cNvSpPr txBox="1">
            <a:spLocks noChangeArrowheads="1"/>
          </p:cNvSpPr>
          <p:nvPr/>
        </p:nvSpPr>
        <p:spPr bwMode="auto">
          <a:xfrm>
            <a:off x="648652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grpSp>
        <p:nvGrpSpPr>
          <p:cNvPr id="121865" name="Group 35"/>
          <p:cNvGrpSpPr>
            <a:grpSpLocks/>
          </p:cNvGrpSpPr>
          <p:nvPr/>
        </p:nvGrpSpPr>
        <p:grpSpPr bwMode="auto">
          <a:xfrm>
            <a:off x="395288" y="2057400"/>
            <a:ext cx="1320800" cy="947738"/>
            <a:chOff x="249" y="1296"/>
            <a:chExt cx="832" cy="597"/>
          </a:xfrm>
        </p:grpSpPr>
        <p:sp>
          <p:nvSpPr>
            <p:cNvPr id="121879" name="Rectangle 36"/>
            <p:cNvSpPr>
              <a:spLocks noChangeArrowheads="1"/>
            </p:cNvSpPr>
            <p:nvPr/>
          </p:nvSpPr>
          <p:spPr bwMode="auto">
            <a:xfrm>
              <a:off x="251" y="1638"/>
              <a:ext cx="69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主动打开</a:t>
              </a:r>
            </a:p>
          </p:txBody>
        </p:sp>
        <p:sp>
          <p:nvSpPr>
            <p:cNvPr id="121880" name="Freeform 37"/>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1866" name="Group 38"/>
          <p:cNvGrpSpPr>
            <a:grpSpLocks/>
          </p:cNvGrpSpPr>
          <p:nvPr/>
        </p:nvGrpSpPr>
        <p:grpSpPr bwMode="auto">
          <a:xfrm>
            <a:off x="7223125" y="2065338"/>
            <a:ext cx="1385888" cy="939800"/>
            <a:chOff x="4550" y="1301"/>
            <a:chExt cx="873" cy="592"/>
          </a:xfrm>
        </p:grpSpPr>
        <p:sp>
          <p:nvSpPr>
            <p:cNvPr id="121877" name="Rectangle 39"/>
            <p:cNvSpPr>
              <a:spLocks noChangeArrowheads="1"/>
            </p:cNvSpPr>
            <p:nvPr/>
          </p:nvSpPr>
          <p:spPr bwMode="auto">
            <a:xfrm>
              <a:off x="4732" y="1617"/>
              <a:ext cx="69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被动打开</a:t>
              </a:r>
            </a:p>
          </p:txBody>
        </p:sp>
        <p:sp>
          <p:nvSpPr>
            <p:cNvPr id="121878" name="Freeform 40"/>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21867"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005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1868"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910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1869" name="Rectangle 43"/>
          <p:cNvSpPr>
            <a:spLocks noChangeArrowheads="1"/>
          </p:cNvSpPr>
          <p:nvPr/>
        </p:nvSpPr>
        <p:spPr bwMode="auto">
          <a:xfrm>
            <a:off x="2093913" y="1779588"/>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1870" name="Rectangle 44"/>
          <p:cNvSpPr>
            <a:spLocks noChangeArrowheads="1"/>
          </p:cNvSpPr>
          <p:nvPr/>
        </p:nvSpPr>
        <p:spPr bwMode="auto">
          <a:xfrm>
            <a:off x="6535738" y="1779588"/>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1871" name="Rectangle 45"/>
          <p:cNvSpPr>
            <a:spLocks noChangeArrowheads="1"/>
          </p:cNvSpPr>
          <p:nvPr/>
        </p:nvSpPr>
        <p:spPr bwMode="auto">
          <a:xfrm>
            <a:off x="1589088" y="1425575"/>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1872" name="Rectangle 46"/>
          <p:cNvSpPr>
            <a:spLocks noChangeArrowheads="1"/>
          </p:cNvSpPr>
          <p:nvPr/>
        </p:nvSpPr>
        <p:spPr bwMode="auto">
          <a:xfrm>
            <a:off x="6584950" y="1425575"/>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grpSp>
        <p:nvGrpSpPr>
          <p:cNvPr id="121873" name="Group 48"/>
          <p:cNvGrpSpPr>
            <a:grpSpLocks/>
          </p:cNvGrpSpPr>
          <p:nvPr/>
        </p:nvGrpSpPr>
        <p:grpSpPr bwMode="auto">
          <a:xfrm>
            <a:off x="2344738" y="3881438"/>
            <a:ext cx="4179887" cy="801687"/>
            <a:chOff x="1477" y="2445"/>
            <a:chExt cx="2633" cy="505"/>
          </a:xfrm>
        </p:grpSpPr>
        <p:sp>
          <p:nvSpPr>
            <p:cNvPr id="121875" name="Line 49"/>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1876" name="Rectangle 50"/>
            <p:cNvSpPr>
              <a:spLocks noChangeArrowheads="1"/>
            </p:cNvSpPr>
            <p:nvPr/>
          </p:nvSpPr>
          <p:spPr bwMode="auto">
            <a:xfrm rot="20990024" flipH="1">
              <a:off x="1477" y="2475"/>
              <a:ext cx="240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SYN = 1, ACK = 1, seq = y, ack= x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grpSp>
      <p:sp>
        <p:nvSpPr>
          <p:cNvPr id="121874" name="Text Box 51"/>
          <p:cNvSpPr txBox="1">
            <a:spLocks noChangeArrowheads="1"/>
          </p:cNvSpPr>
          <p:nvPr/>
        </p:nvSpPr>
        <p:spPr bwMode="auto">
          <a:xfrm>
            <a:off x="525463" y="44450"/>
            <a:ext cx="8294687" cy="1296988"/>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just" eaLnBrk="1" hangingPunct="1">
              <a:lnSpc>
                <a:spcPct val="90000"/>
              </a:lnSpc>
              <a:buFontTx/>
              <a:buChar char="•"/>
            </a:pPr>
            <a:r>
              <a:rPr lang="en-US" altLang="zh-CN">
                <a:solidFill>
                  <a:srgbClr val="333399"/>
                </a:solidFill>
                <a:latin typeface="Arial" pitchFamily="34" charset="0"/>
                <a:ea typeface="黑体" pitchFamily="49" charset="-122"/>
              </a:rPr>
              <a:t>  A </a:t>
            </a:r>
            <a:r>
              <a:rPr lang="zh-CN" altLang="en-US">
                <a:solidFill>
                  <a:srgbClr val="333399"/>
                </a:solidFill>
                <a:latin typeface="Arial" pitchFamily="34" charset="0"/>
                <a:ea typeface="黑体" pitchFamily="49" charset="-122"/>
              </a:rPr>
              <a:t>收到此报文段后向 </a:t>
            </a:r>
            <a:r>
              <a:rPr lang="en-US" altLang="zh-CN">
                <a:solidFill>
                  <a:srgbClr val="333399"/>
                </a:solidFill>
                <a:latin typeface="Arial" pitchFamily="34" charset="0"/>
                <a:ea typeface="黑体" pitchFamily="49" charset="-122"/>
              </a:rPr>
              <a:t>B </a:t>
            </a:r>
            <a:r>
              <a:rPr lang="zh-CN" altLang="en-US">
                <a:solidFill>
                  <a:srgbClr val="333399"/>
                </a:solidFill>
                <a:latin typeface="Arial" pitchFamily="34" charset="0"/>
                <a:ea typeface="黑体" pitchFamily="49" charset="-122"/>
              </a:rPr>
              <a:t>给出确认，其 </a:t>
            </a:r>
            <a:r>
              <a:rPr lang="en-US" altLang="zh-CN">
                <a:solidFill>
                  <a:srgbClr val="333399"/>
                </a:solidFill>
                <a:latin typeface="Arial" pitchFamily="34" charset="0"/>
                <a:ea typeface="黑体" pitchFamily="49" charset="-122"/>
              </a:rPr>
              <a:t>ACK = 1</a:t>
            </a:r>
            <a:r>
              <a:rPr lang="zh-CN" altLang="en-US">
                <a:solidFill>
                  <a:srgbClr val="333399"/>
                </a:solidFill>
                <a:latin typeface="Arial" pitchFamily="34" charset="0"/>
                <a:ea typeface="黑体" pitchFamily="49" charset="-122"/>
              </a:rPr>
              <a:t>，</a:t>
            </a:r>
          </a:p>
          <a:p>
            <a:pPr algn="just" eaLnBrk="1" hangingPunct="1">
              <a:lnSpc>
                <a:spcPct val="90000"/>
              </a:lnSpc>
            </a:pPr>
            <a:r>
              <a:rPr lang="zh-CN" altLang="en-US">
                <a:solidFill>
                  <a:srgbClr val="333399"/>
                </a:solidFill>
                <a:latin typeface="Arial" pitchFamily="34" charset="0"/>
                <a:ea typeface="黑体" pitchFamily="49" charset="-122"/>
              </a:rPr>
              <a:t>   确认号 </a:t>
            </a:r>
            <a:r>
              <a:rPr lang="en-US" altLang="zh-CN">
                <a:solidFill>
                  <a:srgbClr val="333399"/>
                </a:solidFill>
                <a:latin typeface="Arial" pitchFamily="34" charset="0"/>
                <a:ea typeface="黑体" pitchFamily="49" charset="-122"/>
              </a:rPr>
              <a:t>ack = y </a:t>
            </a:r>
            <a:r>
              <a:rPr lang="en-US" altLang="zh-CN">
                <a:solidFill>
                  <a:srgbClr val="333399"/>
                </a:solidFill>
                <a:latin typeface="Arial" pitchFamily="34" charset="0"/>
                <a:ea typeface="黑体" pitchFamily="49" charset="-122"/>
                <a:sym typeface="Symbol" pitchFamily="18" charset="2"/>
              </a:rPr>
              <a:t></a:t>
            </a:r>
            <a:r>
              <a:rPr lang="en-US" altLang="zh-CN">
                <a:solidFill>
                  <a:srgbClr val="333399"/>
                </a:solidFill>
                <a:latin typeface="Arial" pitchFamily="34" charset="0"/>
                <a:ea typeface="黑体" pitchFamily="49" charset="-122"/>
              </a:rPr>
              <a:t> 1</a:t>
            </a:r>
            <a:r>
              <a:rPr lang="zh-CN" altLang="en-US">
                <a:solidFill>
                  <a:srgbClr val="333399"/>
                </a:solidFill>
                <a:latin typeface="Arial" pitchFamily="34" charset="0"/>
                <a:ea typeface="黑体" pitchFamily="49" charset="-122"/>
              </a:rPr>
              <a:t>。</a:t>
            </a:r>
          </a:p>
          <a:p>
            <a:pPr algn="just" eaLnBrk="1" hangingPunct="1">
              <a:buFontTx/>
              <a:buChar char="•"/>
            </a:pPr>
            <a:r>
              <a:rPr lang="zh-CN" altLang="en-US">
                <a:solidFill>
                  <a:srgbClr val="333399"/>
                </a:solidFill>
                <a:latin typeface="Arial" pitchFamily="34" charset="0"/>
                <a:ea typeface="黑体" pitchFamily="49" charset="-122"/>
              </a:rPr>
              <a:t>  </a:t>
            </a:r>
            <a:r>
              <a:rPr lang="en-US" altLang="zh-CN">
                <a:solidFill>
                  <a:srgbClr val="333399"/>
                </a:solidFill>
                <a:latin typeface="Arial" pitchFamily="34" charset="0"/>
                <a:ea typeface="黑体" pitchFamily="49" charset="-122"/>
              </a:rPr>
              <a:t>A </a:t>
            </a:r>
            <a:r>
              <a:rPr lang="zh-CN" altLang="en-US">
                <a:solidFill>
                  <a:srgbClr val="333399"/>
                </a:solidFill>
                <a:latin typeface="Arial" pitchFamily="34" charset="0"/>
                <a:ea typeface="黑体" pitchFamily="49" charset="-122"/>
              </a:rPr>
              <a:t>的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通知上层应用进程，连接已经建立。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2000"/>
                                  </p:stCondLst>
                                  <p:childTnLst>
                                    <p:set>
                                      <p:cBhvr>
                                        <p:cTn id="6" dur="1" fill="hold">
                                          <p:stCondLst>
                                            <p:cond delay="0"/>
                                          </p:stCondLst>
                                        </p:cTn>
                                        <p:tgtEl>
                                          <p:spTgt spid="786457"/>
                                        </p:tgtEl>
                                        <p:attrNameLst>
                                          <p:attrName>style.visibility</p:attrName>
                                        </p:attrNameLst>
                                      </p:cBhvr>
                                      <p:to>
                                        <p:strVal val="visible"/>
                                      </p:to>
                                    </p:set>
                                    <p:animEffect transition="in" filter="wipe(left)">
                                      <p:cBhvr>
                                        <p:cTn id="7" dur="1000"/>
                                        <p:tgtEl>
                                          <p:spTgt spid="786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2882" name="Group 18"/>
          <p:cNvGrpSpPr>
            <a:grpSpLocks/>
          </p:cNvGrpSpPr>
          <p:nvPr/>
        </p:nvGrpSpPr>
        <p:grpSpPr bwMode="auto">
          <a:xfrm>
            <a:off x="2339975" y="2997200"/>
            <a:ext cx="4248150" cy="3441700"/>
            <a:chOff x="1474" y="1888"/>
            <a:chExt cx="2676" cy="2432"/>
          </a:xfrm>
        </p:grpSpPr>
        <p:sp>
          <p:nvSpPr>
            <p:cNvPr id="122912" name="Line 19"/>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2913" name="Line 20"/>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2883" name="Group 22"/>
          <p:cNvGrpSpPr>
            <a:grpSpLocks/>
          </p:cNvGrpSpPr>
          <p:nvPr/>
        </p:nvGrpSpPr>
        <p:grpSpPr bwMode="auto">
          <a:xfrm>
            <a:off x="2413000" y="2982913"/>
            <a:ext cx="4111625" cy="823912"/>
            <a:chOff x="1520" y="1879"/>
            <a:chExt cx="2590" cy="519"/>
          </a:xfrm>
        </p:grpSpPr>
        <p:sp>
          <p:nvSpPr>
            <p:cNvPr id="122910" name="Rectangle 23"/>
            <p:cNvSpPr>
              <a:spLocks noChangeArrowheads="1"/>
            </p:cNvSpPr>
            <p:nvPr/>
          </p:nvSpPr>
          <p:spPr bwMode="auto">
            <a:xfrm rot="665985">
              <a:off x="2097" y="1879"/>
              <a:ext cx="134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SYN = 1, seq = x</a:t>
              </a:r>
            </a:p>
          </p:txBody>
        </p:sp>
        <p:sp>
          <p:nvSpPr>
            <p:cNvPr id="122911" name="Line 24"/>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2884" name="Group 25"/>
          <p:cNvGrpSpPr>
            <a:grpSpLocks/>
          </p:cNvGrpSpPr>
          <p:nvPr/>
        </p:nvGrpSpPr>
        <p:grpSpPr bwMode="auto">
          <a:xfrm>
            <a:off x="2413000" y="4756150"/>
            <a:ext cx="4111625" cy="800100"/>
            <a:chOff x="1520" y="2996"/>
            <a:chExt cx="2590" cy="504"/>
          </a:xfrm>
        </p:grpSpPr>
        <p:sp>
          <p:nvSpPr>
            <p:cNvPr id="122908" name="Rectangle 26"/>
            <p:cNvSpPr>
              <a:spLocks noChangeArrowheads="1"/>
            </p:cNvSpPr>
            <p:nvPr/>
          </p:nvSpPr>
          <p:spPr bwMode="auto">
            <a:xfrm rot="649536">
              <a:off x="1973" y="3065"/>
              <a:ext cx="2077"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x + 1, ack = y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p>
          </p:txBody>
        </p:sp>
        <p:sp>
          <p:nvSpPr>
            <p:cNvPr id="122909" name="Line 27"/>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2885" name="Rectangle 28"/>
          <p:cNvSpPr>
            <a:spLocks noChangeArrowheads="1"/>
          </p:cNvSpPr>
          <p:nvPr/>
        </p:nvSpPr>
        <p:spPr bwMode="auto">
          <a:xfrm>
            <a:off x="1436688" y="2393950"/>
            <a:ext cx="96678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2886" name="Text Box 29"/>
          <p:cNvSpPr txBox="1">
            <a:spLocks noChangeArrowheads="1"/>
          </p:cNvSpPr>
          <p:nvPr/>
        </p:nvSpPr>
        <p:spPr bwMode="auto">
          <a:xfrm>
            <a:off x="138747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sp>
        <p:nvSpPr>
          <p:cNvPr id="122887" name="Rectangle 30"/>
          <p:cNvSpPr>
            <a:spLocks noChangeArrowheads="1"/>
          </p:cNvSpPr>
          <p:nvPr/>
        </p:nvSpPr>
        <p:spPr bwMode="auto">
          <a:xfrm>
            <a:off x="6526213" y="2393950"/>
            <a:ext cx="98583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2888" name="Text Box 31"/>
          <p:cNvSpPr txBox="1">
            <a:spLocks noChangeArrowheads="1"/>
          </p:cNvSpPr>
          <p:nvPr/>
        </p:nvSpPr>
        <p:spPr bwMode="auto">
          <a:xfrm>
            <a:off x="648652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grpSp>
        <p:nvGrpSpPr>
          <p:cNvPr id="788512" name="Group 32"/>
          <p:cNvGrpSpPr>
            <a:grpSpLocks/>
          </p:cNvGrpSpPr>
          <p:nvPr/>
        </p:nvGrpSpPr>
        <p:grpSpPr bwMode="auto">
          <a:xfrm>
            <a:off x="3314700" y="5840413"/>
            <a:ext cx="2371725" cy="401637"/>
            <a:chOff x="2088" y="3679"/>
            <a:chExt cx="1494" cy="253"/>
          </a:xfrm>
        </p:grpSpPr>
        <p:sp>
          <p:nvSpPr>
            <p:cNvPr id="122906" name="AutoShape 33"/>
            <p:cNvSpPr>
              <a:spLocks noChangeArrowheads="1"/>
            </p:cNvSpPr>
            <p:nvPr/>
          </p:nvSpPr>
          <p:spPr bwMode="auto">
            <a:xfrm>
              <a:off x="2088" y="3735"/>
              <a:ext cx="1494" cy="166"/>
            </a:xfrm>
            <a:prstGeom prst="leftRightArrow">
              <a:avLst>
                <a:gd name="adj1" fmla="val 55880"/>
                <a:gd name="adj2" fmla="val 103167"/>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07" name="Rectangle 34"/>
            <p:cNvSpPr>
              <a:spLocks noChangeArrowheads="1"/>
            </p:cNvSpPr>
            <p:nvPr/>
          </p:nvSpPr>
          <p:spPr bwMode="auto">
            <a:xfrm>
              <a:off x="2462" y="3679"/>
              <a:ext cx="714" cy="253"/>
            </a:xfrm>
            <a:prstGeom prst="rect">
              <a:avLst/>
            </a:prstGeom>
            <a:solidFill>
              <a:srgbClr val="CCECFF"/>
            </a:solidFill>
            <a:ln w="38100" cmpd="dbl">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grpSp>
      <p:grpSp>
        <p:nvGrpSpPr>
          <p:cNvPr id="122890" name="Group 35"/>
          <p:cNvGrpSpPr>
            <a:grpSpLocks/>
          </p:cNvGrpSpPr>
          <p:nvPr/>
        </p:nvGrpSpPr>
        <p:grpSpPr bwMode="auto">
          <a:xfrm>
            <a:off x="395288" y="2057400"/>
            <a:ext cx="1320800" cy="947738"/>
            <a:chOff x="249" y="1296"/>
            <a:chExt cx="832" cy="597"/>
          </a:xfrm>
        </p:grpSpPr>
        <p:sp>
          <p:nvSpPr>
            <p:cNvPr id="122904" name="Rectangle 36"/>
            <p:cNvSpPr>
              <a:spLocks noChangeArrowheads="1"/>
            </p:cNvSpPr>
            <p:nvPr/>
          </p:nvSpPr>
          <p:spPr bwMode="auto">
            <a:xfrm>
              <a:off x="251" y="1638"/>
              <a:ext cx="69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主动打开</a:t>
              </a:r>
            </a:p>
          </p:txBody>
        </p:sp>
        <p:sp>
          <p:nvSpPr>
            <p:cNvPr id="122905" name="Freeform 37"/>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2891" name="Group 38"/>
          <p:cNvGrpSpPr>
            <a:grpSpLocks/>
          </p:cNvGrpSpPr>
          <p:nvPr/>
        </p:nvGrpSpPr>
        <p:grpSpPr bwMode="auto">
          <a:xfrm>
            <a:off x="7223125" y="2065338"/>
            <a:ext cx="1385888" cy="939800"/>
            <a:chOff x="4550" y="1301"/>
            <a:chExt cx="873" cy="592"/>
          </a:xfrm>
        </p:grpSpPr>
        <p:sp>
          <p:nvSpPr>
            <p:cNvPr id="122902" name="Rectangle 39"/>
            <p:cNvSpPr>
              <a:spLocks noChangeArrowheads="1"/>
            </p:cNvSpPr>
            <p:nvPr/>
          </p:nvSpPr>
          <p:spPr bwMode="auto">
            <a:xfrm>
              <a:off x="4732" y="1617"/>
              <a:ext cx="69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被动打开</a:t>
              </a:r>
            </a:p>
          </p:txBody>
        </p:sp>
        <p:sp>
          <p:nvSpPr>
            <p:cNvPr id="122903" name="Freeform 40"/>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22892"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005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893"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910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894" name="Rectangle 43"/>
          <p:cNvSpPr>
            <a:spLocks noChangeArrowheads="1"/>
          </p:cNvSpPr>
          <p:nvPr/>
        </p:nvSpPr>
        <p:spPr bwMode="auto">
          <a:xfrm>
            <a:off x="2093913" y="1779588"/>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2895" name="Rectangle 44"/>
          <p:cNvSpPr>
            <a:spLocks noChangeArrowheads="1"/>
          </p:cNvSpPr>
          <p:nvPr/>
        </p:nvSpPr>
        <p:spPr bwMode="auto">
          <a:xfrm>
            <a:off x="6535738" y="1779588"/>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2896" name="Rectangle 45"/>
          <p:cNvSpPr>
            <a:spLocks noChangeArrowheads="1"/>
          </p:cNvSpPr>
          <p:nvPr/>
        </p:nvSpPr>
        <p:spPr bwMode="auto">
          <a:xfrm>
            <a:off x="1589088" y="1425575"/>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2897" name="Rectangle 46"/>
          <p:cNvSpPr>
            <a:spLocks noChangeArrowheads="1"/>
          </p:cNvSpPr>
          <p:nvPr/>
        </p:nvSpPr>
        <p:spPr bwMode="auto">
          <a:xfrm>
            <a:off x="6584950" y="1425575"/>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grpSp>
        <p:nvGrpSpPr>
          <p:cNvPr id="122898" name="Group 48"/>
          <p:cNvGrpSpPr>
            <a:grpSpLocks/>
          </p:cNvGrpSpPr>
          <p:nvPr/>
        </p:nvGrpSpPr>
        <p:grpSpPr bwMode="auto">
          <a:xfrm>
            <a:off x="2344738" y="3881438"/>
            <a:ext cx="4179887" cy="801687"/>
            <a:chOff x="1477" y="2445"/>
            <a:chExt cx="2633" cy="505"/>
          </a:xfrm>
        </p:grpSpPr>
        <p:sp>
          <p:nvSpPr>
            <p:cNvPr id="122900" name="Line 49"/>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01" name="Rectangle 50"/>
            <p:cNvSpPr>
              <a:spLocks noChangeArrowheads="1"/>
            </p:cNvSpPr>
            <p:nvPr/>
          </p:nvSpPr>
          <p:spPr bwMode="auto">
            <a:xfrm rot="20990024" flipH="1">
              <a:off x="1477" y="2475"/>
              <a:ext cx="240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SYN = 1, ACK = 1, seq = y, ack= x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grpSp>
      <p:sp>
        <p:nvSpPr>
          <p:cNvPr id="122899" name="Text Box 52"/>
          <p:cNvSpPr txBox="1">
            <a:spLocks noChangeArrowheads="1"/>
          </p:cNvSpPr>
          <p:nvPr/>
        </p:nvSpPr>
        <p:spPr bwMode="auto">
          <a:xfrm>
            <a:off x="525463" y="255588"/>
            <a:ext cx="8294687" cy="8699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algn="just" eaLnBrk="1" hangingPunct="1">
              <a:lnSpc>
                <a:spcPct val="90000"/>
              </a:lnSpc>
              <a:buFontTx/>
              <a:buChar char="•"/>
            </a:pPr>
            <a:r>
              <a:rPr lang="en-US" altLang="zh-CN">
                <a:solidFill>
                  <a:srgbClr val="333399"/>
                </a:solidFill>
                <a:latin typeface="Arial" pitchFamily="34" charset="0"/>
                <a:ea typeface="黑体" pitchFamily="49" charset="-122"/>
              </a:rPr>
              <a:t>   B </a:t>
            </a:r>
            <a:r>
              <a:rPr lang="zh-CN" altLang="en-US">
                <a:solidFill>
                  <a:srgbClr val="333399"/>
                </a:solidFill>
                <a:latin typeface="Arial" pitchFamily="34" charset="0"/>
                <a:ea typeface="黑体" pitchFamily="49" charset="-122"/>
              </a:rPr>
              <a:t>的 </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收到主机 </a:t>
            </a:r>
            <a:r>
              <a:rPr lang="en-US" altLang="zh-CN">
                <a:solidFill>
                  <a:srgbClr val="333399"/>
                </a:solidFill>
                <a:latin typeface="Arial" pitchFamily="34" charset="0"/>
                <a:ea typeface="黑体" pitchFamily="49" charset="-122"/>
              </a:rPr>
              <a:t>A </a:t>
            </a:r>
            <a:r>
              <a:rPr lang="zh-CN" altLang="en-US">
                <a:solidFill>
                  <a:srgbClr val="333399"/>
                </a:solidFill>
                <a:latin typeface="Arial" pitchFamily="34" charset="0"/>
                <a:ea typeface="黑体" pitchFamily="49" charset="-122"/>
              </a:rPr>
              <a:t>的确认后，也通知其上层</a:t>
            </a:r>
          </a:p>
          <a:p>
            <a:pPr algn="just" eaLnBrk="1" hangingPunct="1">
              <a:lnSpc>
                <a:spcPct val="90000"/>
              </a:lnSpc>
            </a:pPr>
            <a:r>
              <a:rPr lang="zh-CN" altLang="en-US">
                <a:solidFill>
                  <a:srgbClr val="333399"/>
                </a:solidFill>
                <a:latin typeface="Arial" pitchFamily="34" charset="0"/>
                <a:ea typeface="黑体" pitchFamily="49" charset="-122"/>
              </a:rPr>
              <a:t>    应用进程：</a:t>
            </a:r>
            <a:r>
              <a:rPr lang="en-US" altLang="zh-CN">
                <a:solidFill>
                  <a:srgbClr val="333399"/>
                </a:solidFill>
                <a:latin typeface="Arial" pitchFamily="34" charset="0"/>
                <a:ea typeface="黑体" pitchFamily="49" charset="-122"/>
              </a:rPr>
              <a:t>TCP </a:t>
            </a:r>
            <a:r>
              <a:rPr lang="zh-CN" altLang="en-US">
                <a:solidFill>
                  <a:srgbClr val="333399"/>
                </a:solidFill>
                <a:latin typeface="Arial" pitchFamily="34" charset="0"/>
                <a:ea typeface="黑体" pitchFamily="49" charset="-122"/>
              </a:rPr>
              <a:t>连接已经建立。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0"/>
                                          </p:stCondLst>
                                        </p:cTn>
                                        <p:tgtEl>
                                          <p:spTgt spid="7885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3906" name="Group 2"/>
          <p:cNvGrpSpPr>
            <a:grpSpLocks/>
          </p:cNvGrpSpPr>
          <p:nvPr/>
        </p:nvGrpSpPr>
        <p:grpSpPr bwMode="auto">
          <a:xfrm>
            <a:off x="1425575" y="3005138"/>
            <a:ext cx="6092825" cy="3765550"/>
            <a:chOff x="898" y="1893"/>
            <a:chExt cx="3838" cy="2372"/>
          </a:xfrm>
        </p:grpSpPr>
        <p:grpSp>
          <p:nvGrpSpPr>
            <p:cNvPr id="123937" name="Group 3"/>
            <p:cNvGrpSpPr>
              <a:grpSpLocks/>
            </p:cNvGrpSpPr>
            <p:nvPr/>
          </p:nvGrpSpPr>
          <p:grpSpPr bwMode="auto">
            <a:xfrm>
              <a:off x="899" y="1916"/>
              <a:ext cx="622" cy="1048"/>
              <a:chOff x="899" y="1916"/>
              <a:chExt cx="622" cy="1048"/>
            </a:xfrm>
          </p:grpSpPr>
          <p:sp>
            <p:nvSpPr>
              <p:cNvPr id="123950" name="Rectangle 4"/>
              <p:cNvSpPr>
                <a:spLocks noChangeArrowheads="1"/>
              </p:cNvSpPr>
              <p:nvPr/>
            </p:nvSpPr>
            <p:spPr bwMode="auto">
              <a:xfrm>
                <a:off x="899" y="1916"/>
                <a:ext cx="622" cy="1048"/>
              </a:xfrm>
              <a:prstGeom prst="rect">
                <a:avLst/>
              </a:prstGeom>
              <a:solidFill>
                <a:srgbClr val="FFCCCC"/>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3951" name="Rectangle 5"/>
              <p:cNvSpPr>
                <a:spLocks noChangeArrowheads="1"/>
              </p:cNvSpPr>
              <p:nvPr/>
            </p:nvSpPr>
            <p:spPr bwMode="auto">
              <a:xfrm>
                <a:off x="972" y="2169"/>
                <a:ext cx="47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SYN-</a:t>
                </a:r>
              </a:p>
              <a:p>
                <a:pPr algn="ctr" defTabSz="762000" eaLnBrk="0" hangingPunct="0"/>
                <a:r>
                  <a:rPr kumimoji="1" lang="en-US" altLang="zh-CN" sz="1800">
                    <a:solidFill>
                      <a:schemeClr val="folHlink"/>
                    </a:solidFill>
                    <a:latin typeface="Times New Roman" pitchFamily="18" charset="0"/>
                    <a:ea typeface="黑体" pitchFamily="49" charset="-122"/>
                  </a:rPr>
                  <a:t>SENT</a:t>
                </a:r>
              </a:p>
            </p:txBody>
          </p:sp>
        </p:grpSp>
        <p:grpSp>
          <p:nvGrpSpPr>
            <p:cNvPr id="123938" name="Group 6"/>
            <p:cNvGrpSpPr>
              <a:grpSpLocks/>
            </p:cNvGrpSpPr>
            <p:nvPr/>
          </p:nvGrpSpPr>
          <p:grpSpPr bwMode="auto">
            <a:xfrm>
              <a:off x="898" y="3013"/>
              <a:ext cx="626" cy="1252"/>
              <a:chOff x="898" y="3013"/>
              <a:chExt cx="626" cy="1252"/>
            </a:xfrm>
          </p:grpSpPr>
          <p:sp>
            <p:nvSpPr>
              <p:cNvPr id="123948" name="Rectangle 7"/>
              <p:cNvSpPr>
                <a:spLocks noChangeArrowheads="1"/>
              </p:cNvSpPr>
              <p:nvPr/>
            </p:nvSpPr>
            <p:spPr bwMode="auto">
              <a:xfrm>
                <a:off x="905" y="3013"/>
                <a:ext cx="609" cy="1252"/>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3949" name="Rectangle 8"/>
              <p:cNvSpPr>
                <a:spLocks noChangeArrowheads="1"/>
              </p:cNvSpPr>
              <p:nvPr/>
            </p:nvSpPr>
            <p:spPr bwMode="auto">
              <a:xfrm>
                <a:off x="898" y="3383"/>
                <a:ext cx="626"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grpSp>
        <p:grpSp>
          <p:nvGrpSpPr>
            <p:cNvPr id="123939" name="Group 9"/>
            <p:cNvGrpSpPr>
              <a:grpSpLocks/>
            </p:cNvGrpSpPr>
            <p:nvPr/>
          </p:nvGrpSpPr>
          <p:grpSpPr bwMode="auto">
            <a:xfrm>
              <a:off x="4111" y="2445"/>
              <a:ext cx="621" cy="1064"/>
              <a:chOff x="4111" y="2445"/>
              <a:chExt cx="621" cy="1064"/>
            </a:xfrm>
          </p:grpSpPr>
          <p:sp>
            <p:nvSpPr>
              <p:cNvPr id="123946" name="Rectangle 10"/>
              <p:cNvSpPr>
                <a:spLocks noChangeArrowheads="1"/>
              </p:cNvSpPr>
              <p:nvPr/>
            </p:nvSpPr>
            <p:spPr bwMode="auto">
              <a:xfrm>
                <a:off x="4111" y="2445"/>
                <a:ext cx="621" cy="1064"/>
              </a:xfrm>
              <a:prstGeom prst="rect">
                <a:avLst/>
              </a:prstGeom>
              <a:solidFill>
                <a:srgbClr val="FFCCCC"/>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23947" name="Rectangle 11"/>
              <p:cNvSpPr>
                <a:spLocks noChangeArrowheads="1"/>
              </p:cNvSpPr>
              <p:nvPr/>
            </p:nvSpPr>
            <p:spPr bwMode="auto">
              <a:xfrm>
                <a:off x="4164" y="2721"/>
                <a:ext cx="51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SYN-</a:t>
                </a:r>
              </a:p>
              <a:p>
                <a:pPr algn="ctr" defTabSz="762000" eaLnBrk="0" hangingPunct="0"/>
                <a:r>
                  <a:rPr kumimoji="1" lang="en-US" altLang="zh-CN" sz="1800">
                    <a:solidFill>
                      <a:schemeClr val="folHlink"/>
                    </a:solidFill>
                    <a:latin typeface="Times New Roman" pitchFamily="18" charset="0"/>
                    <a:ea typeface="黑体" pitchFamily="49" charset="-122"/>
                  </a:rPr>
                  <a:t>RCVD</a:t>
                </a:r>
              </a:p>
            </p:txBody>
          </p:sp>
        </p:grpSp>
        <p:grpSp>
          <p:nvGrpSpPr>
            <p:cNvPr id="123940" name="Group 12"/>
            <p:cNvGrpSpPr>
              <a:grpSpLocks/>
            </p:cNvGrpSpPr>
            <p:nvPr/>
          </p:nvGrpSpPr>
          <p:grpSpPr bwMode="auto">
            <a:xfrm>
              <a:off x="4111" y="1893"/>
              <a:ext cx="621" cy="519"/>
              <a:chOff x="4111" y="1893"/>
              <a:chExt cx="621" cy="519"/>
            </a:xfrm>
          </p:grpSpPr>
          <p:sp>
            <p:nvSpPr>
              <p:cNvPr id="123944" name="Rectangle 13"/>
              <p:cNvSpPr>
                <a:spLocks noChangeArrowheads="1"/>
              </p:cNvSpPr>
              <p:nvPr/>
            </p:nvSpPr>
            <p:spPr bwMode="auto">
              <a:xfrm>
                <a:off x="4111" y="1893"/>
                <a:ext cx="621" cy="519"/>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3945" name="Rectangle 14"/>
              <p:cNvSpPr>
                <a:spLocks noChangeArrowheads="1"/>
              </p:cNvSpPr>
              <p:nvPr/>
            </p:nvSpPr>
            <p:spPr bwMode="auto">
              <a:xfrm>
                <a:off x="4118" y="2004"/>
                <a:ext cx="61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LISTEN</a:t>
                </a:r>
              </a:p>
            </p:txBody>
          </p:sp>
        </p:grpSp>
        <p:grpSp>
          <p:nvGrpSpPr>
            <p:cNvPr id="123941" name="Group 15"/>
            <p:cNvGrpSpPr>
              <a:grpSpLocks/>
            </p:cNvGrpSpPr>
            <p:nvPr/>
          </p:nvGrpSpPr>
          <p:grpSpPr bwMode="auto">
            <a:xfrm>
              <a:off x="4110" y="3564"/>
              <a:ext cx="626" cy="701"/>
              <a:chOff x="4110" y="3564"/>
              <a:chExt cx="626" cy="701"/>
            </a:xfrm>
          </p:grpSpPr>
          <p:sp>
            <p:nvSpPr>
              <p:cNvPr id="123942" name="Rectangle 16"/>
              <p:cNvSpPr>
                <a:spLocks noChangeArrowheads="1"/>
              </p:cNvSpPr>
              <p:nvPr/>
            </p:nvSpPr>
            <p:spPr bwMode="auto">
              <a:xfrm>
                <a:off x="4111" y="3564"/>
                <a:ext cx="621" cy="701"/>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23943" name="Rectangle 17"/>
              <p:cNvSpPr>
                <a:spLocks noChangeArrowheads="1"/>
              </p:cNvSpPr>
              <p:nvPr/>
            </p:nvSpPr>
            <p:spPr bwMode="auto">
              <a:xfrm>
                <a:off x="4110" y="3708"/>
                <a:ext cx="626"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grpSp>
      </p:grpSp>
      <p:sp>
        <p:nvSpPr>
          <p:cNvPr id="123907" name="Rectangle 21"/>
          <p:cNvSpPr>
            <a:spLocks noGrp="1" noChangeArrowheads="1"/>
          </p:cNvSpPr>
          <p:nvPr>
            <p:ph type="title"/>
          </p:nvPr>
        </p:nvSpPr>
        <p:spPr>
          <a:xfrm>
            <a:off x="1042988" y="692150"/>
            <a:ext cx="7345362" cy="768350"/>
          </a:xfrm>
        </p:spPr>
        <p:txBody>
          <a:bodyPr/>
          <a:lstStyle/>
          <a:p>
            <a:pPr algn="ctr" eaLnBrk="1" hangingPunct="1"/>
            <a:r>
              <a:rPr lang="en-US" altLang="zh-CN" sz="4000" smtClean="0"/>
              <a:t/>
            </a:r>
            <a:br>
              <a:rPr lang="en-US" altLang="zh-CN" sz="4000" smtClean="0"/>
            </a:br>
            <a:r>
              <a:rPr lang="zh-CN" altLang="en-US" sz="3200" smtClean="0"/>
              <a:t>用三次握手建立 </a:t>
            </a:r>
            <a:r>
              <a:rPr lang="en-US" altLang="zh-CN" sz="3200" smtClean="0"/>
              <a:t>TCP </a:t>
            </a:r>
            <a:r>
              <a:rPr lang="zh-CN" altLang="en-US" sz="3200" smtClean="0"/>
              <a:t>连接的各状态</a:t>
            </a:r>
            <a:r>
              <a:rPr lang="zh-CN" altLang="en-US" sz="4000" smtClean="0"/>
              <a:t> </a:t>
            </a:r>
          </a:p>
        </p:txBody>
      </p:sp>
      <p:grpSp>
        <p:nvGrpSpPr>
          <p:cNvPr id="123908" name="Group 22"/>
          <p:cNvGrpSpPr>
            <a:grpSpLocks/>
          </p:cNvGrpSpPr>
          <p:nvPr/>
        </p:nvGrpSpPr>
        <p:grpSpPr bwMode="auto">
          <a:xfrm>
            <a:off x="2413000" y="2982913"/>
            <a:ext cx="4111625" cy="823912"/>
            <a:chOff x="1520" y="1879"/>
            <a:chExt cx="2590" cy="519"/>
          </a:xfrm>
        </p:grpSpPr>
        <p:sp>
          <p:nvSpPr>
            <p:cNvPr id="123935" name="Rectangle 23"/>
            <p:cNvSpPr>
              <a:spLocks noChangeArrowheads="1"/>
            </p:cNvSpPr>
            <p:nvPr/>
          </p:nvSpPr>
          <p:spPr bwMode="auto">
            <a:xfrm rot="665985">
              <a:off x="2097" y="1879"/>
              <a:ext cx="1342"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SYN = 1, seq = x</a:t>
              </a:r>
            </a:p>
          </p:txBody>
        </p:sp>
        <p:sp>
          <p:nvSpPr>
            <p:cNvPr id="123936" name="Line 24"/>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3909" name="Group 25"/>
          <p:cNvGrpSpPr>
            <a:grpSpLocks/>
          </p:cNvGrpSpPr>
          <p:nvPr/>
        </p:nvGrpSpPr>
        <p:grpSpPr bwMode="auto">
          <a:xfrm>
            <a:off x="2413000" y="4756150"/>
            <a:ext cx="4111625" cy="800100"/>
            <a:chOff x="1520" y="2996"/>
            <a:chExt cx="2590" cy="504"/>
          </a:xfrm>
        </p:grpSpPr>
        <p:sp>
          <p:nvSpPr>
            <p:cNvPr id="123933" name="Rectangle 26"/>
            <p:cNvSpPr>
              <a:spLocks noChangeArrowheads="1"/>
            </p:cNvSpPr>
            <p:nvPr/>
          </p:nvSpPr>
          <p:spPr bwMode="auto">
            <a:xfrm rot="649536">
              <a:off x="1973" y="3065"/>
              <a:ext cx="2077"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x + 1, ack = y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p>
          </p:txBody>
        </p:sp>
        <p:sp>
          <p:nvSpPr>
            <p:cNvPr id="123934" name="Line 27"/>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910" name="Rectangle 28"/>
          <p:cNvSpPr>
            <a:spLocks noChangeArrowheads="1"/>
          </p:cNvSpPr>
          <p:nvPr/>
        </p:nvSpPr>
        <p:spPr bwMode="auto">
          <a:xfrm>
            <a:off x="1436688" y="2393950"/>
            <a:ext cx="96678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3911" name="Text Box 29"/>
          <p:cNvSpPr txBox="1">
            <a:spLocks noChangeArrowheads="1"/>
          </p:cNvSpPr>
          <p:nvPr/>
        </p:nvSpPr>
        <p:spPr bwMode="auto">
          <a:xfrm>
            <a:off x="138747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sp>
        <p:nvSpPr>
          <p:cNvPr id="123912" name="Rectangle 30"/>
          <p:cNvSpPr>
            <a:spLocks noChangeArrowheads="1"/>
          </p:cNvSpPr>
          <p:nvPr/>
        </p:nvSpPr>
        <p:spPr bwMode="auto">
          <a:xfrm>
            <a:off x="6526213" y="2393950"/>
            <a:ext cx="985837" cy="549275"/>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23913" name="Text Box 31"/>
          <p:cNvSpPr txBox="1">
            <a:spLocks noChangeArrowheads="1"/>
          </p:cNvSpPr>
          <p:nvPr/>
        </p:nvSpPr>
        <p:spPr bwMode="auto">
          <a:xfrm>
            <a:off x="6486525" y="2455863"/>
            <a:ext cx="1073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grpSp>
        <p:nvGrpSpPr>
          <p:cNvPr id="123914" name="Group 32"/>
          <p:cNvGrpSpPr>
            <a:grpSpLocks/>
          </p:cNvGrpSpPr>
          <p:nvPr/>
        </p:nvGrpSpPr>
        <p:grpSpPr bwMode="auto">
          <a:xfrm>
            <a:off x="3314700" y="5840413"/>
            <a:ext cx="2371725" cy="401637"/>
            <a:chOff x="2088" y="3679"/>
            <a:chExt cx="1494" cy="253"/>
          </a:xfrm>
        </p:grpSpPr>
        <p:sp>
          <p:nvSpPr>
            <p:cNvPr id="123931" name="AutoShape 33"/>
            <p:cNvSpPr>
              <a:spLocks noChangeArrowheads="1"/>
            </p:cNvSpPr>
            <p:nvPr/>
          </p:nvSpPr>
          <p:spPr bwMode="auto">
            <a:xfrm>
              <a:off x="2088" y="3735"/>
              <a:ext cx="1494" cy="166"/>
            </a:xfrm>
            <a:prstGeom prst="leftRightArrow">
              <a:avLst>
                <a:gd name="adj1" fmla="val 55880"/>
                <a:gd name="adj2" fmla="val 103167"/>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32" name="Rectangle 34"/>
            <p:cNvSpPr>
              <a:spLocks noChangeArrowheads="1"/>
            </p:cNvSpPr>
            <p:nvPr/>
          </p:nvSpPr>
          <p:spPr bwMode="auto">
            <a:xfrm>
              <a:off x="2462" y="3679"/>
              <a:ext cx="714" cy="253"/>
            </a:xfrm>
            <a:prstGeom prst="rect">
              <a:avLst/>
            </a:prstGeom>
            <a:solidFill>
              <a:srgbClr val="CCECFF"/>
            </a:solidFill>
            <a:ln w="38100" cmpd="dbl">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grpSp>
      <p:grpSp>
        <p:nvGrpSpPr>
          <p:cNvPr id="123915" name="Group 35"/>
          <p:cNvGrpSpPr>
            <a:grpSpLocks/>
          </p:cNvGrpSpPr>
          <p:nvPr/>
        </p:nvGrpSpPr>
        <p:grpSpPr bwMode="auto">
          <a:xfrm>
            <a:off x="395288" y="2057400"/>
            <a:ext cx="1320800" cy="947738"/>
            <a:chOff x="249" y="1296"/>
            <a:chExt cx="832" cy="597"/>
          </a:xfrm>
        </p:grpSpPr>
        <p:sp>
          <p:nvSpPr>
            <p:cNvPr id="123929" name="Rectangle 36"/>
            <p:cNvSpPr>
              <a:spLocks noChangeArrowheads="1"/>
            </p:cNvSpPr>
            <p:nvPr/>
          </p:nvSpPr>
          <p:spPr bwMode="auto">
            <a:xfrm>
              <a:off x="251" y="1638"/>
              <a:ext cx="690"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主动打开</a:t>
              </a:r>
            </a:p>
          </p:txBody>
        </p:sp>
        <p:sp>
          <p:nvSpPr>
            <p:cNvPr id="123930" name="Freeform 37"/>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3916" name="Group 38"/>
          <p:cNvGrpSpPr>
            <a:grpSpLocks/>
          </p:cNvGrpSpPr>
          <p:nvPr/>
        </p:nvGrpSpPr>
        <p:grpSpPr bwMode="auto">
          <a:xfrm>
            <a:off x="7223125" y="2065338"/>
            <a:ext cx="1385888" cy="939800"/>
            <a:chOff x="4550" y="1301"/>
            <a:chExt cx="873" cy="592"/>
          </a:xfrm>
        </p:grpSpPr>
        <p:sp>
          <p:nvSpPr>
            <p:cNvPr id="123927" name="Rectangle 39"/>
            <p:cNvSpPr>
              <a:spLocks noChangeArrowheads="1"/>
            </p:cNvSpPr>
            <p:nvPr/>
          </p:nvSpPr>
          <p:spPr bwMode="auto">
            <a:xfrm>
              <a:off x="4732" y="1617"/>
              <a:ext cx="69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被动打开</a:t>
              </a:r>
            </a:p>
          </p:txBody>
        </p:sp>
        <p:sp>
          <p:nvSpPr>
            <p:cNvPr id="123928" name="Freeform 40"/>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123917"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005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918"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9100" y="1779588"/>
            <a:ext cx="501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19" name="Rectangle 43"/>
          <p:cNvSpPr>
            <a:spLocks noChangeArrowheads="1"/>
          </p:cNvSpPr>
          <p:nvPr/>
        </p:nvSpPr>
        <p:spPr bwMode="auto">
          <a:xfrm>
            <a:off x="2093913" y="1779588"/>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3920" name="Rectangle 44"/>
          <p:cNvSpPr>
            <a:spLocks noChangeArrowheads="1"/>
          </p:cNvSpPr>
          <p:nvPr/>
        </p:nvSpPr>
        <p:spPr bwMode="auto">
          <a:xfrm>
            <a:off x="6535738" y="1779588"/>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3921" name="Rectangle 45"/>
          <p:cNvSpPr>
            <a:spLocks noChangeArrowheads="1"/>
          </p:cNvSpPr>
          <p:nvPr/>
        </p:nvSpPr>
        <p:spPr bwMode="auto">
          <a:xfrm>
            <a:off x="1589088" y="1425575"/>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3922" name="Rectangle 46"/>
          <p:cNvSpPr>
            <a:spLocks noChangeArrowheads="1"/>
          </p:cNvSpPr>
          <p:nvPr/>
        </p:nvSpPr>
        <p:spPr bwMode="auto">
          <a:xfrm>
            <a:off x="6584950" y="1425575"/>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23923" name="Text Box 47"/>
          <p:cNvSpPr txBox="1">
            <a:spLocks noChangeArrowheads="1"/>
          </p:cNvSpPr>
          <p:nvPr/>
        </p:nvSpPr>
        <p:spPr bwMode="auto">
          <a:xfrm>
            <a:off x="2124075" y="188913"/>
            <a:ext cx="4278313" cy="58896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200">
                <a:solidFill>
                  <a:srgbClr val="333399"/>
                </a:solidFill>
                <a:latin typeface="Arial" pitchFamily="34" charset="0"/>
                <a:ea typeface="黑体" pitchFamily="49" charset="-122"/>
              </a:rPr>
              <a:t>5.9.1  TCP </a:t>
            </a:r>
            <a:r>
              <a:rPr lang="zh-CN" altLang="en-US" sz="3200">
                <a:solidFill>
                  <a:srgbClr val="333399"/>
                </a:solidFill>
                <a:latin typeface="Arial" pitchFamily="34" charset="0"/>
                <a:ea typeface="黑体" pitchFamily="49" charset="-122"/>
              </a:rPr>
              <a:t>的连接建立</a:t>
            </a:r>
          </a:p>
        </p:txBody>
      </p:sp>
      <p:grpSp>
        <p:nvGrpSpPr>
          <p:cNvPr id="123924" name="Group 48"/>
          <p:cNvGrpSpPr>
            <a:grpSpLocks/>
          </p:cNvGrpSpPr>
          <p:nvPr/>
        </p:nvGrpSpPr>
        <p:grpSpPr bwMode="auto">
          <a:xfrm>
            <a:off x="2344738" y="3881438"/>
            <a:ext cx="4179887" cy="801687"/>
            <a:chOff x="1477" y="2445"/>
            <a:chExt cx="2633" cy="505"/>
          </a:xfrm>
        </p:grpSpPr>
        <p:sp>
          <p:nvSpPr>
            <p:cNvPr id="123925" name="Line 49"/>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26" name="Rectangle 50"/>
            <p:cNvSpPr>
              <a:spLocks noChangeArrowheads="1"/>
            </p:cNvSpPr>
            <p:nvPr/>
          </p:nvSpPr>
          <p:spPr bwMode="auto">
            <a:xfrm rot="20990024" flipH="1">
              <a:off x="1477" y="2475"/>
              <a:ext cx="240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SYN = 1, ACK = 1, seq = y, ack= x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gr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4930" name="Group 54"/>
          <p:cNvGrpSpPr>
            <a:grpSpLocks/>
          </p:cNvGrpSpPr>
          <p:nvPr/>
        </p:nvGrpSpPr>
        <p:grpSpPr bwMode="auto">
          <a:xfrm>
            <a:off x="2509838" y="2349500"/>
            <a:ext cx="4248150" cy="4062413"/>
            <a:chOff x="1474" y="1888"/>
            <a:chExt cx="2676" cy="2432"/>
          </a:xfrm>
        </p:grpSpPr>
        <p:sp>
          <p:nvSpPr>
            <p:cNvPr id="124956" name="Line 55"/>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957" name="Line 56"/>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4931" name="AutoShape 5"/>
          <p:cNvSpPr>
            <a:spLocks noChangeArrowheads="1"/>
          </p:cNvSpPr>
          <p:nvPr/>
        </p:nvSpPr>
        <p:spPr bwMode="auto">
          <a:xfrm>
            <a:off x="3495675" y="1863725"/>
            <a:ext cx="2384425" cy="252413"/>
          </a:xfrm>
          <a:prstGeom prst="leftRightArrow">
            <a:avLst>
              <a:gd name="adj1" fmla="val 55880"/>
              <a:gd name="adj2" fmla="val 108285"/>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83418" name="Group 58"/>
          <p:cNvGrpSpPr>
            <a:grpSpLocks/>
          </p:cNvGrpSpPr>
          <p:nvPr/>
        </p:nvGrpSpPr>
        <p:grpSpPr bwMode="auto">
          <a:xfrm>
            <a:off x="2562225" y="2355850"/>
            <a:ext cx="4133850" cy="768350"/>
            <a:chOff x="1614" y="1484"/>
            <a:chExt cx="2604" cy="484"/>
          </a:xfrm>
        </p:grpSpPr>
        <p:sp>
          <p:nvSpPr>
            <p:cNvPr id="124954" name="Rectangle 6"/>
            <p:cNvSpPr>
              <a:spLocks noChangeArrowheads="1"/>
            </p:cNvSpPr>
            <p:nvPr/>
          </p:nvSpPr>
          <p:spPr bwMode="auto">
            <a:xfrm rot="597975">
              <a:off x="2497" y="1518"/>
              <a:ext cx="1165"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FIN = 1, seq = u</a:t>
              </a:r>
            </a:p>
          </p:txBody>
        </p:sp>
        <p:sp>
          <p:nvSpPr>
            <p:cNvPr id="124955" name="Line 9"/>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4933" name="Rectangle 15"/>
          <p:cNvSpPr>
            <a:spLocks noChangeArrowheads="1"/>
          </p:cNvSpPr>
          <p:nvPr/>
        </p:nvSpPr>
        <p:spPr bwMode="auto">
          <a:xfrm>
            <a:off x="1606550" y="1611313"/>
            <a:ext cx="954088" cy="67310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24934" name="Rectangle 17"/>
          <p:cNvSpPr>
            <a:spLocks noChangeArrowheads="1"/>
          </p:cNvSpPr>
          <p:nvPr/>
        </p:nvSpPr>
        <p:spPr bwMode="auto">
          <a:xfrm>
            <a:off x="6692900" y="1611313"/>
            <a:ext cx="955675" cy="147955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grpSp>
        <p:nvGrpSpPr>
          <p:cNvPr id="124935" name="Group 18"/>
          <p:cNvGrpSpPr>
            <a:grpSpLocks/>
          </p:cNvGrpSpPr>
          <p:nvPr/>
        </p:nvGrpSpPr>
        <p:grpSpPr bwMode="auto">
          <a:xfrm>
            <a:off x="1508125" y="1528763"/>
            <a:ext cx="6278563" cy="82550"/>
            <a:chOff x="1020" y="481"/>
            <a:chExt cx="4037" cy="46"/>
          </a:xfrm>
        </p:grpSpPr>
        <p:sp>
          <p:nvSpPr>
            <p:cNvPr id="124952" name="Line 19"/>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953" name="Line 20"/>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4936" name="Text Box 31"/>
          <p:cNvSpPr txBox="1">
            <a:spLocks noChangeArrowheads="1"/>
          </p:cNvSpPr>
          <p:nvPr/>
        </p:nvSpPr>
        <p:spPr bwMode="auto">
          <a:xfrm>
            <a:off x="1547813" y="6297613"/>
            <a:ext cx="971550" cy="336550"/>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grpSp>
        <p:nvGrpSpPr>
          <p:cNvPr id="783417" name="Group 57"/>
          <p:cNvGrpSpPr>
            <a:grpSpLocks/>
          </p:cNvGrpSpPr>
          <p:nvPr/>
        </p:nvGrpSpPr>
        <p:grpSpPr bwMode="auto">
          <a:xfrm>
            <a:off x="498475" y="1257300"/>
            <a:ext cx="1403350" cy="1082675"/>
            <a:chOff x="314" y="792"/>
            <a:chExt cx="884" cy="682"/>
          </a:xfrm>
        </p:grpSpPr>
        <p:sp>
          <p:nvSpPr>
            <p:cNvPr id="124950" name="Freeform 36"/>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4951" name="Rectangle 37"/>
            <p:cNvSpPr>
              <a:spLocks noChangeArrowheads="1"/>
            </p:cNvSpPr>
            <p:nvPr/>
          </p:nvSpPr>
          <p:spPr bwMode="auto">
            <a:xfrm>
              <a:off x="314" y="1227"/>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主动关闭</a:t>
              </a:r>
            </a:p>
          </p:txBody>
        </p:sp>
      </p:grpSp>
      <p:sp>
        <p:nvSpPr>
          <p:cNvPr id="124938" name="Rectangle 40"/>
          <p:cNvSpPr>
            <a:spLocks noChangeArrowheads="1"/>
          </p:cNvSpPr>
          <p:nvPr/>
        </p:nvSpPr>
        <p:spPr bwMode="auto">
          <a:xfrm>
            <a:off x="4130675" y="1778000"/>
            <a:ext cx="1133475" cy="401638"/>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sp>
        <p:nvSpPr>
          <p:cNvPr id="124939" name="Rectangle 43"/>
          <p:cNvSpPr>
            <a:spLocks noChangeArrowheads="1"/>
          </p:cNvSpPr>
          <p:nvPr/>
        </p:nvSpPr>
        <p:spPr bwMode="auto">
          <a:xfrm>
            <a:off x="1587500" y="1622425"/>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sp>
        <p:nvSpPr>
          <p:cNvPr id="124940" name="Rectangle 44"/>
          <p:cNvSpPr>
            <a:spLocks noChangeArrowheads="1"/>
          </p:cNvSpPr>
          <p:nvPr/>
        </p:nvSpPr>
        <p:spPr bwMode="auto">
          <a:xfrm>
            <a:off x="6673850" y="2058988"/>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pic>
        <p:nvPicPr>
          <p:cNvPr id="124941" name="Picture 4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197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4942" name="Picture 4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832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4943" name="Rectangle 47"/>
          <p:cNvSpPr>
            <a:spLocks noChangeArrowheads="1"/>
          </p:cNvSpPr>
          <p:nvPr/>
        </p:nvSpPr>
        <p:spPr bwMode="auto">
          <a:xfrm>
            <a:off x="2222500" y="938213"/>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4944" name="Rectangle 48"/>
          <p:cNvSpPr>
            <a:spLocks noChangeArrowheads="1"/>
          </p:cNvSpPr>
          <p:nvPr/>
        </p:nvSpPr>
        <p:spPr bwMode="auto">
          <a:xfrm>
            <a:off x="6723063" y="938213"/>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4945" name="Rectangle 49"/>
          <p:cNvSpPr>
            <a:spLocks noChangeArrowheads="1"/>
          </p:cNvSpPr>
          <p:nvPr/>
        </p:nvSpPr>
        <p:spPr bwMode="auto">
          <a:xfrm>
            <a:off x="1766888" y="6477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4946" name="Rectangle 50"/>
          <p:cNvSpPr>
            <a:spLocks noChangeArrowheads="1"/>
          </p:cNvSpPr>
          <p:nvPr/>
        </p:nvSpPr>
        <p:spPr bwMode="auto">
          <a:xfrm>
            <a:off x="6734175" y="647700"/>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24947" name="Text Box 53"/>
          <p:cNvSpPr txBox="1">
            <a:spLocks noChangeArrowheads="1"/>
          </p:cNvSpPr>
          <p:nvPr/>
        </p:nvSpPr>
        <p:spPr bwMode="auto">
          <a:xfrm>
            <a:off x="6645275" y="5803900"/>
            <a:ext cx="971550" cy="336550"/>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sp>
        <p:nvSpPr>
          <p:cNvPr id="124948" name="Text Box 61"/>
          <p:cNvSpPr txBox="1">
            <a:spLocks noChangeArrowheads="1"/>
          </p:cNvSpPr>
          <p:nvPr/>
        </p:nvSpPr>
        <p:spPr bwMode="auto">
          <a:xfrm>
            <a:off x="2484438" y="66675"/>
            <a:ext cx="4494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200">
                <a:solidFill>
                  <a:schemeClr val="folHlink"/>
                </a:solidFill>
                <a:latin typeface="Arial" pitchFamily="34" charset="0"/>
                <a:ea typeface="黑体" pitchFamily="49" charset="-122"/>
              </a:rPr>
              <a:t>5.9.2   TCP</a:t>
            </a:r>
            <a:r>
              <a:rPr lang="en-US" altLang="zh-CN" sz="3200" b="1">
                <a:solidFill>
                  <a:schemeClr val="folHlink"/>
                </a:solidFill>
                <a:latin typeface="Arial" pitchFamily="34" charset="0"/>
                <a:ea typeface="黑体" pitchFamily="49" charset="-122"/>
              </a:rPr>
              <a:t> </a:t>
            </a:r>
            <a:r>
              <a:rPr lang="zh-CN" altLang="en-US" sz="3200">
                <a:solidFill>
                  <a:schemeClr val="folHlink"/>
                </a:solidFill>
                <a:latin typeface="Arial" pitchFamily="34" charset="0"/>
                <a:ea typeface="黑体" pitchFamily="49" charset="-122"/>
              </a:rPr>
              <a:t>的连接释放 </a:t>
            </a:r>
          </a:p>
        </p:txBody>
      </p:sp>
      <p:sp>
        <p:nvSpPr>
          <p:cNvPr id="124949" name="Text Box 62"/>
          <p:cNvSpPr txBox="1">
            <a:spLocks noChangeArrowheads="1"/>
          </p:cNvSpPr>
          <p:nvPr/>
        </p:nvSpPr>
        <p:spPr bwMode="auto">
          <a:xfrm>
            <a:off x="771525" y="3727450"/>
            <a:ext cx="7626350" cy="266382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buFontTx/>
              <a:buChar char="•"/>
            </a:pPr>
            <a:r>
              <a:rPr lang="en-US" altLang="zh-CN">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数据传输结束后，通信的双方都可释放连接。</a:t>
            </a:r>
          </a:p>
          <a:p>
            <a:pPr eaLnBrk="1" hangingPunct="1"/>
            <a:r>
              <a:rPr lang="zh-CN" altLang="en-US">
                <a:solidFill>
                  <a:schemeClr val="folHlink"/>
                </a:solidFill>
                <a:latin typeface="Arial" pitchFamily="34" charset="0"/>
                <a:ea typeface="黑体" pitchFamily="49" charset="-122"/>
              </a:rPr>
              <a:t>   现在 </a:t>
            </a:r>
            <a:r>
              <a:rPr lang="en-US" altLang="zh-CN">
                <a:solidFill>
                  <a:schemeClr val="folHlink"/>
                </a:solidFill>
                <a:latin typeface="Arial" pitchFamily="34" charset="0"/>
                <a:ea typeface="黑体" pitchFamily="49" charset="-122"/>
              </a:rPr>
              <a:t>A </a:t>
            </a:r>
            <a:r>
              <a:rPr lang="zh-CN" altLang="en-US">
                <a:solidFill>
                  <a:schemeClr val="folHlink"/>
                </a:solidFill>
                <a:latin typeface="Arial" pitchFamily="34" charset="0"/>
                <a:ea typeface="黑体" pitchFamily="49" charset="-122"/>
              </a:rPr>
              <a:t>的应用进程先向其 </a:t>
            </a:r>
            <a:r>
              <a:rPr lang="en-US" altLang="zh-CN">
                <a:solidFill>
                  <a:schemeClr val="folHlink"/>
                </a:solidFill>
                <a:latin typeface="Arial" pitchFamily="34" charset="0"/>
                <a:ea typeface="黑体" pitchFamily="49" charset="-122"/>
              </a:rPr>
              <a:t>TCP </a:t>
            </a:r>
            <a:r>
              <a:rPr lang="zh-CN" altLang="en-US">
                <a:solidFill>
                  <a:schemeClr val="folHlink"/>
                </a:solidFill>
                <a:latin typeface="Arial" pitchFamily="34" charset="0"/>
                <a:ea typeface="黑体" pitchFamily="49" charset="-122"/>
              </a:rPr>
              <a:t>发出连接释放</a:t>
            </a:r>
          </a:p>
          <a:p>
            <a:pPr eaLnBrk="1" hangingPunct="1"/>
            <a:r>
              <a:rPr lang="zh-CN" altLang="en-US">
                <a:solidFill>
                  <a:schemeClr val="folHlink"/>
                </a:solidFill>
                <a:latin typeface="Arial" pitchFamily="34" charset="0"/>
                <a:ea typeface="黑体" pitchFamily="49" charset="-122"/>
              </a:rPr>
              <a:t>   报文段，并停止再发送数据，主动关闭 </a:t>
            </a:r>
            <a:r>
              <a:rPr lang="en-US" altLang="zh-CN">
                <a:solidFill>
                  <a:schemeClr val="folHlink"/>
                </a:solidFill>
                <a:latin typeface="Arial" pitchFamily="34" charset="0"/>
                <a:ea typeface="黑体" pitchFamily="49" charset="-122"/>
              </a:rPr>
              <a:t>TCP </a:t>
            </a:r>
          </a:p>
          <a:p>
            <a:pPr eaLnBrk="1" hangingPunct="1"/>
            <a:r>
              <a:rPr lang="en-US" altLang="zh-CN">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连接。</a:t>
            </a:r>
          </a:p>
          <a:p>
            <a:pPr eaLnBrk="1" hangingPunct="1">
              <a:buFontTx/>
              <a:buChar char="•"/>
            </a:pPr>
            <a:r>
              <a:rPr lang="zh-CN" altLang="en-US">
                <a:solidFill>
                  <a:schemeClr val="folHlink"/>
                </a:solidFill>
                <a:latin typeface="Arial" pitchFamily="34" charset="0"/>
                <a:ea typeface="黑体" pitchFamily="49" charset="-122"/>
              </a:rPr>
              <a:t>  </a:t>
            </a:r>
            <a:r>
              <a:rPr lang="en-US" altLang="zh-CN">
                <a:solidFill>
                  <a:schemeClr val="folHlink"/>
                </a:solidFill>
                <a:latin typeface="Arial" pitchFamily="34" charset="0"/>
                <a:ea typeface="黑体" pitchFamily="49" charset="-122"/>
              </a:rPr>
              <a:t>A </a:t>
            </a:r>
            <a:r>
              <a:rPr lang="zh-CN" altLang="en-US">
                <a:solidFill>
                  <a:schemeClr val="folHlink"/>
                </a:solidFill>
                <a:latin typeface="Arial" pitchFamily="34" charset="0"/>
                <a:ea typeface="黑体" pitchFamily="49" charset="-122"/>
              </a:rPr>
              <a:t>把连接释放报文段首部的 </a:t>
            </a:r>
            <a:r>
              <a:rPr lang="en-US" altLang="zh-CN">
                <a:solidFill>
                  <a:schemeClr val="folHlink"/>
                </a:solidFill>
                <a:latin typeface="Arial" pitchFamily="34" charset="0"/>
                <a:ea typeface="黑体" pitchFamily="49" charset="-122"/>
              </a:rPr>
              <a:t>FIN = 1</a:t>
            </a:r>
            <a:r>
              <a:rPr lang="zh-CN" altLang="en-US">
                <a:solidFill>
                  <a:schemeClr val="folHlink"/>
                </a:solidFill>
                <a:latin typeface="Arial" pitchFamily="34" charset="0"/>
                <a:ea typeface="黑体" pitchFamily="49" charset="-122"/>
              </a:rPr>
              <a:t>，其序号</a:t>
            </a:r>
          </a:p>
          <a:p>
            <a:pPr eaLnBrk="1" hangingPunct="1"/>
            <a:r>
              <a:rPr lang="zh-CN" altLang="en-US">
                <a:solidFill>
                  <a:schemeClr val="folHlink"/>
                </a:solidFill>
                <a:latin typeface="Arial" pitchFamily="34" charset="0"/>
                <a:ea typeface="黑体" pitchFamily="49" charset="-122"/>
              </a:rPr>
              <a:t>   </a:t>
            </a:r>
            <a:r>
              <a:rPr lang="en-US" altLang="zh-CN">
                <a:solidFill>
                  <a:schemeClr val="folHlink"/>
                </a:solidFill>
                <a:latin typeface="Arial" pitchFamily="34" charset="0"/>
                <a:ea typeface="黑体" pitchFamily="49" charset="-122"/>
              </a:rPr>
              <a:t>seq = u</a:t>
            </a:r>
            <a:r>
              <a:rPr lang="zh-CN" altLang="en-US">
                <a:solidFill>
                  <a:schemeClr val="folHlink"/>
                </a:solidFill>
                <a:latin typeface="Arial" pitchFamily="34" charset="0"/>
                <a:ea typeface="黑体" pitchFamily="49" charset="-122"/>
              </a:rPr>
              <a:t>，等待 </a:t>
            </a:r>
            <a:r>
              <a:rPr lang="en-US" altLang="zh-CN">
                <a:solidFill>
                  <a:schemeClr val="folHlink"/>
                </a:solidFill>
                <a:latin typeface="Arial" pitchFamily="34" charset="0"/>
                <a:ea typeface="黑体" pitchFamily="49" charset="-122"/>
              </a:rPr>
              <a:t>B </a:t>
            </a:r>
            <a:r>
              <a:rPr lang="zh-CN" altLang="en-US">
                <a:solidFill>
                  <a:schemeClr val="folHlink"/>
                </a:solidFill>
                <a:latin typeface="Arial" pitchFamily="34" charset="0"/>
                <a:ea typeface="黑体" pitchFamily="49" charset="-122"/>
              </a:rPr>
              <a:t>的确认。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1500"/>
                                  </p:stCondLst>
                                  <p:childTnLst>
                                    <p:set>
                                      <p:cBhvr>
                                        <p:cTn id="6" dur="1" fill="hold">
                                          <p:stCondLst>
                                            <p:cond delay="0"/>
                                          </p:stCondLst>
                                        </p:cTn>
                                        <p:tgtEl>
                                          <p:spTgt spid="783417"/>
                                        </p:tgtEl>
                                        <p:attrNameLst>
                                          <p:attrName>style.visibility</p:attrName>
                                        </p:attrNameLst>
                                      </p:cBhvr>
                                      <p:to>
                                        <p:strVal val="visible"/>
                                      </p:to>
                                    </p:set>
                                    <p:animEffect transition="in" filter="wipe(up)">
                                      <p:cBhvr>
                                        <p:cTn id="7" dur="1000"/>
                                        <p:tgtEl>
                                          <p:spTgt spid="783417"/>
                                        </p:tgtEl>
                                      </p:cBhvr>
                                    </p:animEffect>
                                  </p:childTnLst>
                                </p:cTn>
                              </p:par>
                            </p:childTnLst>
                          </p:cTn>
                        </p:par>
                        <p:par>
                          <p:cTn id="8" fill="hold" nodeType="afterGroup">
                            <p:stCondLst>
                              <p:cond delay="2500"/>
                            </p:stCondLst>
                            <p:childTnLst>
                              <p:par>
                                <p:cTn id="9" presetID="22" presetClass="entr" presetSubtype="8" fill="hold" nodeType="afterEffect">
                                  <p:stCondLst>
                                    <p:cond delay="0"/>
                                  </p:stCondLst>
                                  <p:childTnLst>
                                    <p:set>
                                      <p:cBhvr>
                                        <p:cTn id="10" dur="1" fill="hold">
                                          <p:stCondLst>
                                            <p:cond delay="0"/>
                                          </p:stCondLst>
                                        </p:cTn>
                                        <p:tgtEl>
                                          <p:spTgt spid="783418"/>
                                        </p:tgtEl>
                                        <p:attrNameLst>
                                          <p:attrName>style.visibility</p:attrName>
                                        </p:attrNameLst>
                                      </p:cBhvr>
                                      <p:to>
                                        <p:strVal val="visible"/>
                                      </p:to>
                                    </p:set>
                                    <p:animEffect transition="in" filter="wipe(left)">
                                      <p:cBhvr>
                                        <p:cTn id="11" dur="1000"/>
                                        <p:tgtEl>
                                          <p:spTgt spid="783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5954" name="Group 2"/>
          <p:cNvGrpSpPr>
            <a:grpSpLocks/>
          </p:cNvGrpSpPr>
          <p:nvPr/>
        </p:nvGrpSpPr>
        <p:grpSpPr bwMode="auto">
          <a:xfrm>
            <a:off x="2509838" y="2349500"/>
            <a:ext cx="4248150" cy="4062413"/>
            <a:chOff x="1474" y="1888"/>
            <a:chExt cx="2676" cy="2432"/>
          </a:xfrm>
        </p:grpSpPr>
        <p:sp>
          <p:nvSpPr>
            <p:cNvPr id="125983" name="Line 3"/>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84" name="Line 4"/>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5955" name="AutoShape 6"/>
          <p:cNvSpPr>
            <a:spLocks noChangeArrowheads="1"/>
          </p:cNvSpPr>
          <p:nvPr/>
        </p:nvSpPr>
        <p:spPr bwMode="auto">
          <a:xfrm>
            <a:off x="3495675" y="1863725"/>
            <a:ext cx="2384425" cy="252413"/>
          </a:xfrm>
          <a:prstGeom prst="leftRightArrow">
            <a:avLst>
              <a:gd name="adj1" fmla="val 55880"/>
              <a:gd name="adj2" fmla="val 108285"/>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5956" name="Group 8"/>
          <p:cNvGrpSpPr>
            <a:grpSpLocks/>
          </p:cNvGrpSpPr>
          <p:nvPr/>
        </p:nvGrpSpPr>
        <p:grpSpPr bwMode="auto">
          <a:xfrm>
            <a:off x="2562225" y="2355850"/>
            <a:ext cx="4133850" cy="768350"/>
            <a:chOff x="1614" y="1484"/>
            <a:chExt cx="2604" cy="484"/>
          </a:xfrm>
        </p:grpSpPr>
        <p:sp>
          <p:nvSpPr>
            <p:cNvPr id="125981" name="Rectangle 9"/>
            <p:cNvSpPr>
              <a:spLocks noChangeArrowheads="1"/>
            </p:cNvSpPr>
            <p:nvPr/>
          </p:nvSpPr>
          <p:spPr bwMode="auto">
            <a:xfrm rot="597975">
              <a:off x="2497" y="1518"/>
              <a:ext cx="1165"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FIN = 1, seq = u</a:t>
              </a:r>
            </a:p>
          </p:txBody>
        </p:sp>
        <p:sp>
          <p:nvSpPr>
            <p:cNvPr id="125982" name="Line 10"/>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3611" name="Group 11"/>
          <p:cNvGrpSpPr>
            <a:grpSpLocks/>
          </p:cNvGrpSpPr>
          <p:nvPr/>
        </p:nvGrpSpPr>
        <p:grpSpPr bwMode="auto">
          <a:xfrm>
            <a:off x="2576513" y="3167063"/>
            <a:ext cx="4133850" cy="769937"/>
            <a:chOff x="1623" y="1995"/>
            <a:chExt cx="2604" cy="485"/>
          </a:xfrm>
        </p:grpSpPr>
        <p:sp>
          <p:nvSpPr>
            <p:cNvPr id="125979" name="Rectangle 12"/>
            <p:cNvSpPr>
              <a:spLocks noChangeArrowheads="1"/>
            </p:cNvSpPr>
            <p:nvPr/>
          </p:nvSpPr>
          <p:spPr bwMode="auto">
            <a:xfrm rot="20990024" flipH="1">
              <a:off x="1936" y="2021"/>
              <a:ext cx="181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v,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sp>
          <p:nvSpPr>
            <p:cNvPr id="125980" name="Line 13"/>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5958" name="Rectangle 18"/>
          <p:cNvSpPr>
            <a:spLocks noChangeArrowheads="1"/>
          </p:cNvSpPr>
          <p:nvPr/>
        </p:nvSpPr>
        <p:spPr bwMode="auto">
          <a:xfrm>
            <a:off x="1606550" y="1611313"/>
            <a:ext cx="954088" cy="67310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25959" name="Rectangle 20"/>
          <p:cNvSpPr>
            <a:spLocks noChangeArrowheads="1"/>
          </p:cNvSpPr>
          <p:nvPr/>
        </p:nvSpPr>
        <p:spPr bwMode="auto">
          <a:xfrm>
            <a:off x="6692900" y="1611313"/>
            <a:ext cx="955675" cy="147955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grpSp>
        <p:nvGrpSpPr>
          <p:cNvPr id="125960" name="Group 21"/>
          <p:cNvGrpSpPr>
            <a:grpSpLocks/>
          </p:cNvGrpSpPr>
          <p:nvPr/>
        </p:nvGrpSpPr>
        <p:grpSpPr bwMode="auto">
          <a:xfrm>
            <a:off x="1508125" y="1528763"/>
            <a:ext cx="6278563" cy="82550"/>
            <a:chOff x="1020" y="481"/>
            <a:chExt cx="4037" cy="46"/>
          </a:xfrm>
        </p:grpSpPr>
        <p:sp>
          <p:nvSpPr>
            <p:cNvPr id="125977" name="Line 22"/>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78" name="Line 23"/>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5961" name="Group 38"/>
          <p:cNvGrpSpPr>
            <a:grpSpLocks/>
          </p:cNvGrpSpPr>
          <p:nvPr/>
        </p:nvGrpSpPr>
        <p:grpSpPr bwMode="auto">
          <a:xfrm>
            <a:off x="498475" y="1257300"/>
            <a:ext cx="1403350" cy="1082675"/>
            <a:chOff x="314" y="792"/>
            <a:chExt cx="884" cy="682"/>
          </a:xfrm>
        </p:grpSpPr>
        <p:sp>
          <p:nvSpPr>
            <p:cNvPr id="125975" name="Freeform 39"/>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76" name="Rectangle 40"/>
            <p:cNvSpPr>
              <a:spLocks noChangeArrowheads="1"/>
            </p:cNvSpPr>
            <p:nvPr/>
          </p:nvSpPr>
          <p:spPr bwMode="auto">
            <a:xfrm>
              <a:off x="314" y="1227"/>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主动关闭</a:t>
              </a:r>
            </a:p>
          </p:txBody>
        </p:sp>
      </p:grpSp>
      <p:sp>
        <p:nvSpPr>
          <p:cNvPr id="125962" name="Rectangle 43"/>
          <p:cNvSpPr>
            <a:spLocks noChangeArrowheads="1"/>
          </p:cNvSpPr>
          <p:nvPr/>
        </p:nvSpPr>
        <p:spPr bwMode="auto">
          <a:xfrm>
            <a:off x="4130675" y="1778000"/>
            <a:ext cx="1133475" cy="401638"/>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sp>
        <p:nvSpPr>
          <p:cNvPr id="793645" name="Freeform 45"/>
          <p:cNvSpPr>
            <a:spLocks/>
          </p:cNvSpPr>
          <p:nvPr/>
        </p:nvSpPr>
        <p:spPr bwMode="auto">
          <a:xfrm>
            <a:off x="7453313" y="1376363"/>
            <a:ext cx="573087" cy="1789112"/>
          </a:xfrm>
          <a:custGeom>
            <a:avLst/>
            <a:gdLst>
              <a:gd name="T0" fmla="*/ 127070 w 451"/>
              <a:gd name="T1" fmla="*/ 1789112 h 965"/>
              <a:gd name="T2" fmla="*/ 426956 w 451"/>
              <a:gd name="T3" fmla="*/ 1657478 h 965"/>
              <a:gd name="T4" fmla="*/ 541319 w 451"/>
              <a:gd name="T5" fmla="*/ 1312633 h 965"/>
              <a:gd name="T6" fmla="*/ 573087 w 451"/>
              <a:gd name="T7" fmla="*/ 773119 h 965"/>
              <a:gd name="T8" fmla="*/ 541319 w 451"/>
              <a:gd name="T9" fmla="*/ 383778 h 965"/>
              <a:gd name="T10" fmla="*/ 426956 w 451"/>
              <a:gd name="T11" fmla="*/ 133488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3646" name="Rectangle 46"/>
          <p:cNvSpPr>
            <a:spLocks noChangeArrowheads="1"/>
          </p:cNvSpPr>
          <p:nvPr/>
        </p:nvSpPr>
        <p:spPr bwMode="auto">
          <a:xfrm>
            <a:off x="8012113" y="1778000"/>
            <a:ext cx="638175"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通知</a:t>
            </a:r>
          </a:p>
          <a:p>
            <a:pPr defTabSz="762000" eaLnBrk="0" hangingPunct="0"/>
            <a:r>
              <a:rPr kumimoji="1" lang="zh-CN" altLang="en-US" sz="1800">
                <a:solidFill>
                  <a:schemeClr val="folHlink"/>
                </a:solidFill>
                <a:latin typeface="Times New Roman" pitchFamily="18" charset="0"/>
                <a:ea typeface="黑体" pitchFamily="49" charset="-122"/>
              </a:rPr>
              <a:t>应用</a:t>
            </a:r>
          </a:p>
          <a:p>
            <a:pPr defTabSz="762000" eaLnBrk="0" hangingPunct="0"/>
            <a:r>
              <a:rPr kumimoji="1" lang="zh-CN" altLang="en-US" sz="1800">
                <a:solidFill>
                  <a:schemeClr val="folHlink"/>
                </a:solidFill>
                <a:latin typeface="Times New Roman" pitchFamily="18" charset="0"/>
                <a:ea typeface="黑体" pitchFamily="49" charset="-122"/>
              </a:rPr>
              <a:t>进程</a:t>
            </a:r>
          </a:p>
        </p:txBody>
      </p:sp>
      <p:sp>
        <p:nvSpPr>
          <p:cNvPr id="125965" name="Rectangle 47"/>
          <p:cNvSpPr>
            <a:spLocks noChangeArrowheads="1"/>
          </p:cNvSpPr>
          <p:nvPr/>
        </p:nvSpPr>
        <p:spPr bwMode="auto">
          <a:xfrm>
            <a:off x="1587500" y="1622425"/>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sp>
        <p:nvSpPr>
          <p:cNvPr id="125966" name="Rectangle 48"/>
          <p:cNvSpPr>
            <a:spLocks noChangeArrowheads="1"/>
          </p:cNvSpPr>
          <p:nvPr/>
        </p:nvSpPr>
        <p:spPr bwMode="auto">
          <a:xfrm>
            <a:off x="6673850" y="2058988"/>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pic>
        <p:nvPicPr>
          <p:cNvPr id="125967" name="Picture 4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197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5968" name="Picture 5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832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5969" name="Rectangle 51"/>
          <p:cNvSpPr>
            <a:spLocks noChangeArrowheads="1"/>
          </p:cNvSpPr>
          <p:nvPr/>
        </p:nvSpPr>
        <p:spPr bwMode="auto">
          <a:xfrm>
            <a:off x="2222500" y="938213"/>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5970" name="Rectangle 52"/>
          <p:cNvSpPr>
            <a:spLocks noChangeArrowheads="1"/>
          </p:cNvSpPr>
          <p:nvPr/>
        </p:nvSpPr>
        <p:spPr bwMode="auto">
          <a:xfrm>
            <a:off x="6723063" y="938213"/>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5971" name="Rectangle 53"/>
          <p:cNvSpPr>
            <a:spLocks noChangeArrowheads="1"/>
          </p:cNvSpPr>
          <p:nvPr/>
        </p:nvSpPr>
        <p:spPr bwMode="auto">
          <a:xfrm>
            <a:off x="1766888" y="6477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5972" name="Rectangle 54"/>
          <p:cNvSpPr>
            <a:spLocks noChangeArrowheads="1"/>
          </p:cNvSpPr>
          <p:nvPr/>
        </p:nvSpPr>
        <p:spPr bwMode="auto">
          <a:xfrm>
            <a:off x="6734175" y="647700"/>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25973" name="Text Box 57"/>
          <p:cNvSpPr txBox="1">
            <a:spLocks noChangeArrowheads="1"/>
          </p:cNvSpPr>
          <p:nvPr/>
        </p:nvSpPr>
        <p:spPr bwMode="auto">
          <a:xfrm>
            <a:off x="2700338" y="115888"/>
            <a:ext cx="39576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5.9.2   TCP</a:t>
            </a:r>
            <a:r>
              <a:rPr lang="en-US" altLang="zh-CN" b="1">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的连接释放 </a:t>
            </a:r>
          </a:p>
        </p:txBody>
      </p:sp>
      <p:sp>
        <p:nvSpPr>
          <p:cNvPr id="125974" name="Text Box 58"/>
          <p:cNvSpPr txBox="1">
            <a:spLocks noChangeArrowheads="1"/>
          </p:cNvSpPr>
          <p:nvPr/>
        </p:nvSpPr>
        <p:spPr bwMode="auto">
          <a:xfrm>
            <a:off x="771525" y="4216400"/>
            <a:ext cx="7915275" cy="2236788"/>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buFontTx/>
              <a:buChar char="•"/>
            </a:pPr>
            <a:r>
              <a:rPr lang="en-US" altLang="zh-CN">
                <a:solidFill>
                  <a:schemeClr val="folHlink"/>
                </a:solidFill>
                <a:latin typeface="Arial" pitchFamily="34" charset="0"/>
                <a:ea typeface="黑体" pitchFamily="49" charset="-122"/>
              </a:rPr>
              <a:t>  B </a:t>
            </a:r>
            <a:r>
              <a:rPr lang="zh-CN" altLang="en-US">
                <a:solidFill>
                  <a:schemeClr val="folHlink"/>
                </a:solidFill>
                <a:latin typeface="Arial" pitchFamily="34" charset="0"/>
                <a:ea typeface="黑体" pitchFamily="49" charset="-122"/>
              </a:rPr>
              <a:t>发出确认，确认号 </a:t>
            </a:r>
            <a:r>
              <a:rPr lang="en-US" altLang="zh-CN">
                <a:solidFill>
                  <a:schemeClr val="folHlink"/>
                </a:solidFill>
                <a:latin typeface="Arial" pitchFamily="34" charset="0"/>
                <a:ea typeface="黑体" pitchFamily="49" charset="-122"/>
              </a:rPr>
              <a:t>ack = u </a:t>
            </a:r>
            <a:r>
              <a:rPr lang="en-US" altLang="zh-CN">
                <a:solidFill>
                  <a:schemeClr val="folHlink"/>
                </a:solidFill>
                <a:latin typeface="Arial" pitchFamily="34" charset="0"/>
                <a:ea typeface="黑体" pitchFamily="49" charset="-122"/>
                <a:sym typeface="Symbol" pitchFamily="18" charset="2"/>
              </a:rPr>
              <a:t></a:t>
            </a:r>
            <a:r>
              <a:rPr lang="en-US" altLang="zh-CN">
                <a:solidFill>
                  <a:schemeClr val="folHlink"/>
                </a:solidFill>
                <a:latin typeface="Arial" pitchFamily="34" charset="0"/>
                <a:ea typeface="黑体" pitchFamily="49" charset="-122"/>
              </a:rPr>
              <a:t> 1</a:t>
            </a:r>
            <a:r>
              <a:rPr lang="zh-CN" altLang="en-US">
                <a:solidFill>
                  <a:schemeClr val="folHlink"/>
                </a:solidFill>
                <a:latin typeface="Arial" pitchFamily="34" charset="0"/>
                <a:ea typeface="黑体" pitchFamily="49" charset="-122"/>
              </a:rPr>
              <a:t>，</a:t>
            </a:r>
          </a:p>
          <a:p>
            <a:pPr eaLnBrk="1" hangingPunct="1"/>
            <a:r>
              <a:rPr lang="zh-CN" altLang="en-US">
                <a:solidFill>
                  <a:schemeClr val="folHlink"/>
                </a:solidFill>
                <a:latin typeface="Arial" pitchFamily="34" charset="0"/>
                <a:ea typeface="黑体" pitchFamily="49" charset="-122"/>
              </a:rPr>
              <a:t>   而这个报文段自己的序号 </a:t>
            </a:r>
            <a:r>
              <a:rPr lang="en-US" altLang="zh-CN">
                <a:solidFill>
                  <a:schemeClr val="folHlink"/>
                </a:solidFill>
                <a:latin typeface="Arial" pitchFamily="34" charset="0"/>
                <a:ea typeface="黑体" pitchFamily="49" charset="-122"/>
              </a:rPr>
              <a:t>seq = v</a:t>
            </a:r>
            <a:r>
              <a:rPr lang="zh-CN" altLang="en-US">
                <a:solidFill>
                  <a:schemeClr val="folHlink"/>
                </a:solidFill>
                <a:latin typeface="Arial" pitchFamily="34" charset="0"/>
                <a:ea typeface="黑体" pitchFamily="49" charset="-122"/>
              </a:rPr>
              <a:t>。</a:t>
            </a:r>
          </a:p>
          <a:p>
            <a:pPr eaLnBrk="1" hangingPunct="1">
              <a:buFontTx/>
              <a:buChar char="•"/>
            </a:pPr>
            <a:r>
              <a:rPr lang="zh-CN" altLang="en-US">
                <a:solidFill>
                  <a:schemeClr val="folHlink"/>
                </a:solidFill>
                <a:latin typeface="Arial" pitchFamily="34" charset="0"/>
                <a:ea typeface="黑体" pitchFamily="49" charset="-122"/>
              </a:rPr>
              <a:t>  </a:t>
            </a:r>
            <a:r>
              <a:rPr lang="en-US" altLang="zh-CN">
                <a:solidFill>
                  <a:schemeClr val="folHlink"/>
                </a:solidFill>
                <a:latin typeface="Arial" pitchFamily="34" charset="0"/>
                <a:ea typeface="黑体" pitchFamily="49" charset="-122"/>
              </a:rPr>
              <a:t>TCP </a:t>
            </a:r>
            <a:r>
              <a:rPr lang="zh-CN" altLang="en-US">
                <a:solidFill>
                  <a:schemeClr val="folHlink"/>
                </a:solidFill>
                <a:latin typeface="Arial" pitchFamily="34" charset="0"/>
                <a:ea typeface="黑体" pitchFamily="49" charset="-122"/>
              </a:rPr>
              <a:t>服务器进程通知高层应用进程。</a:t>
            </a:r>
          </a:p>
          <a:p>
            <a:pPr eaLnBrk="1" hangingPunct="1">
              <a:buFontTx/>
              <a:buChar char="•"/>
            </a:pPr>
            <a:r>
              <a:rPr lang="zh-CN" altLang="en-US">
                <a:solidFill>
                  <a:schemeClr val="folHlink"/>
                </a:solidFill>
                <a:latin typeface="Arial" pitchFamily="34" charset="0"/>
                <a:ea typeface="黑体" pitchFamily="49" charset="-122"/>
              </a:rPr>
              <a:t>  从 </a:t>
            </a:r>
            <a:r>
              <a:rPr lang="en-US" altLang="zh-CN">
                <a:solidFill>
                  <a:schemeClr val="folHlink"/>
                </a:solidFill>
                <a:latin typeface="Arial" pitchFamily="34" charset="0"/>
                <a:ea typeface="黑体" pitchFamily="49" charset="-122"/>
              </a:rPr>
              <a:t>A </a:t>
            </a:r>
            <a:r>
              <a:rPr lang="zh-CN" altLang="en-US">
                <a:solidFill>
                  <a:schemeClr val="folHlink"/>
                </a:solidFill>
                <a:latin typeface="Arial" pitchFamily="34" charset="0"/>
                <a:ea typeface="黑体" pitchFamily="49" charset="-122"/>
              </a:rPr>
              <a:t>到 </a:t>
            </a:r>
            <a:r>
              <a:rPr lang="en-US" altLang="zh-CN">
                <a:solidFill>
                  <a:schemeClr val="folHlink"/>
                </a:solidFill>
                <a:latin typeface="Arial" pitchFamily="34" charset="0"/>
                <a:ea typeface="黑体" pitchFamily="49" charset="-122"/>
              </a:rPr>
              <a:t>B </a:t>
            </a:r>
            <a:r>
              <a:rPr lang="zh-CN" altLang="en-US">
                <a:solidFill>
                  <a:schemeClr val="folHlink"/>
                </a:solidFill>
                <a:latin typeface="Arial" pitchFamily="34" charset="0"/>
                <a:ea typeface="黑体" pitchFamily="49" charset="-122"/>
              </a:rPr>
              <a:t>这个方向的连接就释放了，</a:t>
            </a:r>
            <a:r>
              <a:rPr lang="en-US" altLang="zh-CN">
                <a:solidFill>
                  <a:schemeClr val="folHlink"/>
                </a:solidFill>
                <a:latin typeface="Arial" pitchFamily="34" charset="0"/>
                <a:ea typeface="黑体" pitchFamily="49" charset="-122"/>
              </a:rPr>
              <a:t>TCP </a:t>
            </a:r>
            <a:r>
              <a:rPr lang="zh-CN" altLang="en-US">
                <a:solidFill>
                  <a:schemeClr val="folHlink"/>
                </a:solidFill>
                <a:latin typeface="Arial" pitchFamily="34" charset="0"/>
                <a:ea typeface="黑体" pitchFamily="49" charset="-122"/>
              </a:rPr>
              <a:t>连接</a:t>
            </a:r>
          </a:p>
          <a:p>
            <a:pPr eaLnBrk="1" hangingPunct="1"/>
            <a:r>
              <a:rPr lang="zh-CN" altLang="en-US">
                <a:solidFill>
                  <a:schemeClr val="folHlink"/>
                </a:solidFill>
                <a:latin typeface="Arial" pitchFamily="34" charset="0"/>
                <a:ea typeface="黑体" pitchFamily="49" charset="-122"/>
              </a:rPr>
              <a:t>   处于</a:t>
            </a:r>
            <a:r>
              <a:rPr lang="zh-CN" altLang="en-US">
                <a:solidFill>
                  <a:schemeClr val="hlink"/>
                </a:solidFill>
                <a:latin typeface="Arial" pitchFamily="34" charset="0"/>
                <a:ea typeface="黑体" pitchFamily="49" charset="-122"/>
              </a:rPr>
              <a:t>半关闭</a:t>
            </a:r>
            <a:r>
              <a:rPr lang="zh-CN" altLang="en-US">
                <a:solidFill>
                  <a:schemeClr val="folHlink"/>
                </a:solidFill>
                <a:latin typeface="Arial" pitchFamily="34" charset="0"/>
                <a:ea typeface="黑体" pitchFamily="49" charset="-122"/>
              </a:rPr>
              <a:t>状态。</a:t>
            </a:r>
            <a:r>
              <a:rPr lang="en-US" altLang="zh-CN">
                <a:solidFill>
                  <a:schemeClr val="folHlink"/>
                </a:solidFill>
                <a:latin typeface="Arial" pitchFamily="34" charset="0"/>
                <a:ea typeface="黑体" pitchFamily="49" charset="-122"/>
              </a:rPr>
              <a:t>B </a:t>
            </a:r>
            <a:r>
              <a:rPr lang="zh-CN" altLang="en-US">
                <a:solidFill>
                  <a:schemeClr val="folHlink"/>
                </a:solidFill>
                <a:latin typeface="Arial" pitchFamily="34" charset="0"/>
                <a:ea typeface="黑体" pitchFamily="49" charset="-122"/>
              </a:rPr>
              <a:t>若发送数据，</a:t>
            </a:r>
            <a:r>
              <a:rPr lang="en-US" altLang="zh-CN">
                <a:solidFill>
                  <a:schemeClr val="folHlink"/>
                </a:solidFill>
                <a:latin typeface="Arial" pitchFamily="34" charset="0"/>
                <a:ea typeface="黑体" pitchFamily="49" charset="-122"/>
              </a:rPr>
              <a:t>A </a:t>
            </a:r>
            <a:r>
              <a:rPr lang="zh-CN" altLang="en-US">
                <a:solidFill>
                  <a:schemeClr val="folHlink"/>
                </a:solidFill>
                <a:latin typeface="Arial" pitchFamily="34" charset="0"/>
                <a:ea typeface="黑体" pitchFamily="49" charset="-122"/>
              </a:rPr>
              <a:t>仍要接收。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793611"/>
                                        </p:tgtEl>
                                        <p:attrNameLst>
                                          <p:attrName>style.visibility</p:attrName>
                                        </p:attrNameLst>
                                      </p:cBhvr>
                                      <p:to>
                                        <p:strVal val="visible"/>
                                      </p:to>
                                    </p:set>
                                    <p:animEffect transition="in" filter="wipe(right)">
                                      <p:cBhvr>
                                        <p:cTn id="7" dur="1000"/>
                                        <p:tgtEl>
                                          <p:spTgt spid="793611"/>
                                        </p:tgtEl>
                                      </p:cBhvr>
                                    </p:animEffect>
                                  </p:childTnLst>
                                </p:cTn>
                              </p:par>
                            </p:childTnLst>
                          </p:cTn>
                        </p:par>
                        <p:par>
                          <p:cTn id="8" fill="hold" nodeType="afterGroup">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793645"/>
                                        </p:tgtEl>
                                        <p:attrNameLst>
                                          <p:attrName>style.visibility</p:attrName>
                                        </p:attrNameLst>
                                      </p:cBhvr>
                                      <p:to>
                                        <p:strVal val="visible"/>
                                      </p:to>
                                    </p:set>
                                    <p:animEffect transition="in" filter="wipe(down)">
                                      <p:cBhvr>
                                        <p:cTn id="11" dur="1000"/>
                                        <p:tgtEl>
                                          <p:spTgt spid="793645"/>
                                        </p:tgtEl>
                                      </p:cBhvr>
                                    </p:animEffect>
                                  </p:childTnLst>
                                </p:cTn>
                              </p:par>
                            </p:childTnLst>
                          </p:cTn>
                        </p:par>
                        <p:par>
                          <p:cTn id="12" fill="hold" nodeType="afterGroup">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7936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45" grpId="0" animBg="1"/>
      <p:bldP spid="793646" grpId="0"/>
    </p:bld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6978" name="Group 2"/>
          <p:cNvGrpSpPr>
            <a:grpSpLocks/>
          </p:cNvGrpSpPr>
          <p:nvPr/>
        </p:nvGrpSpPr>
        <p:grpSpPr bwMode="auto">
          <a:xfrm>
            <a:off x="2509838" y="2349500"/>
            <a:ext cx="4248150" cy="4062413"/>
            <a:chOff x="1474" y="1888"/>
            <a:chExt cx="2676" cy="2432"/>
          </a:xfrm>
        </p:grpSpPr>
        <p:sp>
          <p:nvSpPr>
            <p:cNvPr id="127016" name="Line 3"/>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017" name="Line 4"/>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6979" name="AutoShape 5"/>
          <p:cNvSpPr>
            <a:spLocks noChangeArrowheads="1"/>
          </p:cNvSpPr>
          <p:nvPr/>
        </p:nvSpPr>
        <p:spPr bwMode="auto">
          <a:xfrm rot="-651552">
            <a:off x="3786188" y="3895725"/>
            <a:ext cx="676275" cy="236538"/>
          </a:xfrm>
          <a:prstGeom prst="leftArrow">
            <a:avLst>
              <a:gd name="adj1" fmla="val 53620"/>
              <a:gd name="adj2" fmla="val 119816"/>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6980" name="AutoShape 6"/>
          <p:cNvSpPr>
            <a:spLocks noChangeArrowheads="1"/>
          </p:cNvSpPr>
          <p:nvPr/>
        </p:nvSpPr>
        <p:spPr bwMode="auto">
          <a:xfrm>
            <a:off x="3495675" y="1863725"/>
            <a:ext cx="2384425" cy="252413"/>
          </a:xfrm>
          <a:prstGeom prst="leftRightArrow">
            <a:avLst>
              <a:gd name="adj1" fmla="val 55880"/>
              <a:gd name="adj2" fmla="val 108285"/>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6981" name="Group 8"/>
          <p:cNvGrpSpPr>
            <a:grpSpLocks/>
          </p:cNvGrpSpPr>
          <p:nvPr/>
        </p:nvGrpSpPr>
        <p:grpSpPr bwMode="auto">
          <a:xfrm>
            <a:off x="2562225" y="2355850"/>
            <a:ext cx="4133850" cy="768350"/>
            <a:chOff x="1614" y="1484"/>
            <a:chExt cx="2604" cy="484"/>
          </a:xfrm>
        </p:grpSpPr>
        <p:sp>
          <p:nvSpPr>
            <p:cNvPr id="127014" name="Rectangle 9"/>
            <p:cNvSpPr>
              <a:spLocks noChangeArrowheads="1"/>
            </p:cNvSpPr>
            <p:nvPr/>
          </p:nvSpPr>
          <p:spPr bwMode="auto">
            <a:xfrm rot="597975">
              <a:off x="2497" y="1518"/>
              <a:ext cx="1165"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FIN = 1, seq = u</a:t>
              </a:r>
            </a:p>
          </p:txBody>
        </p:sp>
        <p:sp>
          <p:nvSpPr>
            <p:cNvPr id="127015" name="Line 10"/>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6982" name="Group 11"/>
          <p:cNvGrpSpPr>
            <a:grpSpLocks/>
          </p:cNvGrpSpPr>
          <p:nvPr/>
        </p:nvGrpSpPr>
        <p:grpSpPr bwMode="auto">
          <a:xfrm>
            <a:off x="2576513" y="3167063"/>
            <a:ext cx="4133850" cy="769937"/>
            <a:chOff x="1623" y="1995"/>
            <a:chExt cx="2604" cy="485"/>
          </a:xfrm>
        </p:grpSpPr>
        <p:sp>
          <p:nvSpPr>
            <p:cNvPr id="127012" name="Rectangle 12"/>
            <p:cNvSpPr>
              <a:spLocks noChangeArrowheads="1"/>
            </p:cNvSpPr>
            <p:nvPr/>
          </p:nvSpPr>
          <p:spPr bwMode="auto">
            <a:xfrm rot="20990024" flipH="1">
              <a:off x="1936" y="2021"/>
              <a:ext cx="181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v,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sp>
          <p:nvSpPr>
            <p:cNvPr id="127013" name="Line 13"/>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94683" name="Group 59"/>
          <p:cNvGrpSpPr>
            <a:grpSpLocks/>
          </p:cNvGrpSpPr>
          <p:nvPr/>
        </p:nvGrpSpPr>
        <p:grpSpPr bwMode="auto">
          <a:xfrm>
            <a:off x="2541588" y="4089400"/>
            <a:ext cx="4133850" cy="784225"/>
            <a:chOff x="1601" y="2576"/>
            <a:chExt cx="2604" cy="494"/>
          </a:xfrm>
        </p:grpSpPr>
        <p:sp>
          <p:nvSpPr>
            <p:cNvPr id="127010" name="Line 15"/>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011" name="Rectangle 16"/>
            <p:cNvSpPr>
              <a:spLocks noChangeArrowheads="1"/>
            </p:cNvSpPr>
            <p:nvPr/>
          </p:nvSpPr>
          <p:spPr bwMode="auto">
            <a:xfrm rot="20943314" flipH="1">
              <a:off x="1808" y="2576"/>
              <a:ext cx="2377"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FIN = 1, ACK = 1, seq = w,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grpSp>
      <p:sp>
        <p:nvSpPr>
          <p:cNvPr id="126984" name="Rectangle 18"/>
          <p:cNvSpPr>
            <a:spLocks noChangeArrowheads="1"/>
          </p:cNvSpPr>
          <p:nvPr/>
        </p:nvSpPr>
        <p:spPr bwMode="auto">
          <a:xfrm>
            <a:off x="1606550" y="1611313"/>
            <a:ext cx="954088" cy="67310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26985" name="Rectangle 20"/>
          <p:cNvSpPr>
            <a:spLocks noChangeArrowheads="1"/>
          </p:cNvSpPr>
          <p:nvPr/>
        </p:nvSpPr>
        <p:spPr bwMode="auto">
          <a:xfrm>
            <a:off x="6692900" y="1611313"/>
            <a:ext cx="955675" cy="147955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grpSp>
        <p:nvGrpSpPr>
          <p:cNvPr id="126986" name="Group 21"/>
          <p:cNvGrpSpPr>
            <a:grpSpLocks/>
          </p:cNvGrpSpPr>
          <p:nvPr/>
        </p:nvGrpSpPr>
        <p:grpSpPr bwMode="auto">
          <a:xfrm>
            <a:off x="1508125" y="1528763"/>
            <a:ext cx="6278563" cy="82550"/>
            <a:chOff x="1020" y="481"/>
            <a:chExt cx="4037" cy="46"/>
          </a:xfrm>
        </p:grpSpPr>
        <p:sp>
          <p:nvSpPr>
            <p:cNvPr id="127008" name="Line 22"/>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009" name="Line 23"/>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6987" name="Group 38"/>
          <p:cNvGrpSpPr>
            <a:grpSpLocks/>
          </p:cNvGrpSpPr>
          <p:nvPr/>
        </p:nvGrpSpPr>
        <p:grpSpPr bwMode="auto">
          <a:xfrm>
            <a:off x="498475" y="1257300"/>
            <a:ext cx="1403350" cy="1082675"/>
            <a:chOff x="314" y="792"/>
            <a:chExt cx="884" cy="682"/>
          </a:xfrm>
        </p:grpSpPr>
        <p:sp>
          <p:nvSpPr>
            <p:cNvPr id="127006" name="Freeform 39"/>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007" name="Rectangle 40"/>
            <p:cNvSpPr>
              <a:spLocks noChangeArrowheads="1"/>
            </p:cNvSpPr>
            <p:nvPr/>
          </p:nvSpPr>
          <p:spPr bwMode="auto">
            <a:xfrm>
              <a:off x="314" y="1227"/>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主动关闭</a:t>
              </a:r>
            </a:p>
          </p:txBody>
        </p:sp>
      </p:grpSp>
      <p:grpSp>
        <p:nvGrpSpPr>
          <p:cNvPr id="794682" name="Group 58"/>
          <p:cNvGrpSpPr>
            <a:grpSpLocks/>
          </p:cNvGrpSpPr>
          <p:nvPr/>
        </p:nvGrpSpPr>
        <p:grpSpPr bwMode="auto">
          <a:xfrm>
            <a:off x="7412038" y="1190625"/>
            <a:ext cx="1408112" cy="2905125"/>
            <a:chOff x="4669" y="750"/>
            <a:chExt cx="887" cy="1830"/>
          </a:xfrm>
        </p:grpSpPr>
        <p:sp>
          <p:nvSpPr>
            <p:cNvPr id="127004" name="Freeform 41"/>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005" name="Rectangle 42"/>
            <p:cNvSpPr>
              <a:spLocks noChangeArrowheads="1"/>
            </p:cNvSpPr>
            <p:nvPr/>
          </p:nvSpPr>
          <p:spPr bwMode="auto">
            <a:xfrm>
              <a:off x="4855" y="2306"/>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被动关闭</a:t>
              </a:r>
            </a:p>
          </p:txBody>
        </p:sp>
      </p:grpSp>
      <p:sp>
        <p:nvSpPr>
          <p:cNvPr id="126989" name="Rectangle 43"/>
          <p:cNvSpPr>
            <a:spLocks noChangeArrowheads="1"/>
          </p:cNvSpPr>
          <p:nvPr/>
        </p:nvSpPr>
        <p:spPr bwMode="auto">
          <a:xfrm>
            <a:off x="4130675" y="1778000"/>
            <a:ext cx="1133475" cy="401638"/>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grpSp>
        <p:nvGrpSpPr>
          <p:cNvPr id="126990" name="Group 44"/>
          <p:cNvGrpSpPr>
            <a:grpSpLocks/>
          </p:cNvGrpSpPr>
          <p:nvPr/>
        </p:nvGrpSpPr>
        <p:grpSpPr bwMode="auto">
          <a:xfrm>
            <a:off x="7453313" y="1376363"/>
            <a:ext cx="1196975" cy="1789112"/>
            <a:chOff x="4695" y="867"/>
            <a:chExt cx="754" cy="1127"/>
          </a:xfrm>
        </p:grpSpPr>
        <p:sp>
          <p:nvSpPr>
            <p:cNvPr id="127002" name="Freeform 45"/>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003" name="Rectangle 46"/>
            <p:cNvSpPr>
              <a:spLocks noChangeArrowheads="1"/>
            </p:cNvSpPr>
            <p:nvPr/>
          </p:nvSpPr>
          <p:spPr bwMode="auto">
            <a:xfrm>
              <a:off x="5047" y="1120"/>
              <a:ext cx="402"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通知</a:t>
              </a:r>
            </a:p>
            <a:p>
              <a:pPr defTabSz="762000" eaLnBrk="0" hangingPunct="0"/>
              <a:r>
                <a:rPr kumimoji="1" lang="zh-CN" altLang="en-US" sz="1800">
                  <a:solidFill>
                    <a:schemeClr val="folHlink"/>
                  </a:solidFill>
                  <a:latin typeface="Times New Roman" pitchFamily="18" charset="0"/>
                  <a:ea typeface="黑体" pitchFamily="49" charset="-122"/>
                </a:rPr>
                <a:t>应用</a:t>
              </a:r>
            </a:p>
            <a:p>
              <a:pPr defTabSz="762000" eaLnBrk="0" hangingPunct="0"/>
              <a:r>
                <a:rPr kumimoji="1" lang="zh-CN" altLang="en-US" sz="1800">
                  <a:solidFill>
                    <a:schemeClr val="folHlink"/>
                  </a:solidFill>
                  <a:latin typeface="Times New Roman" pitchFamily="18" charset="0"/>
                  <a:ea typeface="黑体" pitchFamily="49" charset="-122"/>
                </a:rPr>
                <a:t>进程</a:t>
              </a:r>
            </a:p>
          </p:txBody>
        </p:sp>
      </p:grpSp>
      <p:sp>
        <p:nvSpPr>
          <p:cNvPr id="126991" name="Rectangle 47"/>
          <p:cNvSpPr>
            <a:spLocks noChangeArrowheads="1"/>
          </p:cNvSpPr>
          <p:nvPr/>
        </p:nvSpPr>
        <p:spPr bwMode="auto">
          <a:xfrm>
            <a:off x="1587500" y="1622425"/>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sp>
        <p:nvSpPr>
          <p:cNvPr id="126992" name="Rectangle 48"/>
          <p:cNvSpPr>
            <a:spLocks noChangeArrowheads="1"/>
          </p:cNvSpPr>
          <p:nvPr/>
        </p:nvSpPr>
        <p:spPr bwMode="auto">
          <a:xfrm>
            <a:off x="6673850" y="2058988"/>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pic>
        <p:nvPicPr>
          <p:cNvPr id="126993" name="Picture 4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197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6994" name="Picture 5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832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6995" name="Rectangle 51"/>
          <p:cNvSpPr>
            <a:spLocks noChangeArrowheads="1"/>
          </p:cNvSpPr>
          <p:nvPr/>
        </p:nvSpPr>
        <p:spPr bwMode="auto">
          <a:xfrm>
            <a:off x="2222500" y="938213"/>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6996" name="Rectangle 52"/>
          <p:cNvSpPr>
            <a:spLocks noChangeArrowheads="1"/>
          </p:cNvSpPr>
          <p:nvPr/>
        </p:nvSpPr>
        <p:spPr bwMode="auto">
          <a:xfrm>
            <a:off x="6723063" y="938213"/>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6997" name="Rectangle 53"/>
          <p:cNvSpPr>
            <a:spLocks noChangeArrowheads="1"/>
          </p:cNvSpPr>
          <p:nvPr/>
        </p:nvSpPr>
        <p:spPr bwMode="auto">
          <a:xfrm>
            <a:off x="1766888" y="6477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6998" name="Rectangle 54"/>
          <p:cNvSpPr>
            <a:spLocks noChangeArrowheads="1"/>
          </p:cNvSpPr>
          <p:nvPr/>
        </p:nvSpPr>
        <p:spPr bwMode="auto">
          <a:xfrm>
            <a:off x="6734175" y="647700"/>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26999" name="Rectangle 55"/>
          <p:cNvSpPr>
            <a:spLocks noChangeArrowheads="1"/>
          </p:cNvSpPr>
          <p:nvPr/>
        </p:nvSpPr>
        <p:spPr bwMode="auto">
          <a:xfrm rot="-628888">
            <a:off x="4340225" y="3627438"/>
            <a:ext cx="1133475" cy="401637"/>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sp>
        <p:nvSpPr>
          <p:cNvPr id="127000" name="Text Box 57"/>
          <p:cNvSpPr txBox="1">
            <a:spLocks noChangeArrowheads="1"/>
          </p:cNvSpPr>
          <p:nvPr/>
        </p:nvSpPr>
        <p:spPr bwMode="auto">
          <a:xfrm>
            <a:off x="2700338" y="115888"/>
            <a:ext cx="39576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5.9.2   TCP</a:t>
            </a:r>
            <a:r>
              <a:rPr lang="en-US" altLang="zh-CN" b="1">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的连接释放 </a:t>
            </a:r>
          </a:p>
        </p:txBody>
      </p:sp>
      <p:sp>
        <p:nvSpPr>
          <p:cNvPr id="794684" name="Text Box 60"/>
          <p:cNvSpPr txBox="1">
            <a:spLocks noChangeArrowheads="1"/>
          </p:cNvSpPr>
          <p:nvPr/>
        </p:nvSpPr>
        <p:spPr bwMode="auto">
          <a:xfrm>
            <a:off x="1495425" y="5373688"/>
            <a:ext cx="6118225" cy="9556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buFontTx/>
              <a:buChar char="•"/>
            </a:pPr>
            <a:r>
              <a:rPr lang="en-US" altLang="zh-CN">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若 </a:t>
            </a:r>
            <a:r>
              <a:rPr lang="en-US" altLang="zh-CN">
                <a:solidFill>
                  <a:schemeClr val="folHlink"/>
                </a:solidFill>
                <a:latin typeface="Arial" pitchFamily="34" charset="0"/>
                <a:ea typeface="黑体" pitchFamily="49" charset="-122"/>
              </a:rPr>
              <a:t>B </a:t>
            </a:r>
            <a:r>
              <a:rPr lang="zh-CN" altLang="en-US">
                <a:solidFill>
                  <a:schemeClr val="folHlink"/>
                </a:solidFill>
                <a:latin typeface="Arial" pitchFamily="34" charset="0"/>
                <a:ea typeface="黑体" pitchFamily="49" charset="-122"/>
              </a:rPr>
              <a:t>已经没有要向 </a:t>
            </a:r>
            <a:r>
              <a:rPr lang="en-US" altLang="zh-CN">
                <a:solidFill>
                  <a:schemeClr val="folHlink"/>
                </a:solidFill>
                <a:latin typeface="Arial" pitchFamily="34" charset="0"/>
                <a:ea typeface="黑体" pitchFamily="49" charset="-122"/>
              </a:rPr>
              <a:t>A </a:t>
            </a:r>
            <a:r>
              <a:rPr lang="zh-CN" altLang="en-US">
                <a:solidFill>
                  <a:schemeClr val="folHlink"/>
                </a:solidFill>
                <a:latin typeface="Arial" pitchFamily="34" charset="0"/>
                <a:ea typeface="黑体" pitchFamily="49" charset="-122"/>
              </a:rPr>
              <a:t>发送的数据，</a:t>
            </a:r>
          </a:p>
          <a:p>
            <a:pPr eaLnBrk="1" hangingPunct="1"/>
            <a:r>
              <a:rPr lang="zh-CN" altLang="en-US">
                <a:solidFill>
                  <a:schemeClr val="folHlink"/>
                </a:solidFill>
                <a:latin typeface="Arial" pitchFamily="34" charset="0"/>
                <a:ea typeface="黑体" pitchFamily="49" charset="-122"/>
              </a:rPr>
              <a:t>   其应用进程就通知 </a:t>
            </a:r>
            <a:r>
              <a:rPr lang="en-US" altLang="zh-CN">
                <a:solidFill>
                  <a:schemeClr val="folHlink"/>
                </a:solidFill>
                <a:latin typeface="Arial" pitchFamily="34" charset="0"/>
                <a:ea typeface="黑体" pitchFamily="49" charset="-122"/>
              </a:rPr>
              <a:t>TCP </a:t>
            </a:r>
            <a:r>
              <a:rPr lang="zh-CN" altLang="en-US">
                <a:solidFill>
                  <a:schemeClr val="folHlink"/>
                </a:solidFill>
                <a:latin typeface="Arial" pitchFamily="34" charset="0"/>
                <a:ea typeface="黑体" pitchFamily="49" charset="-122"/>
              </a:rPr>
              <a:t>释放连接。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94684"/>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nodeType="afterEffect">
                                  <p:stCondLst>
                                    <p:cond delay="1000"/>
                                  </p:stCondLst>
                                  <p:childTnLst>
                                    <p:set>
                                      <p:cBhvr>
                                        <p:cTn id="9" dur="1" fill="hold">
                                          <p:stCondLst>
                                            <p:cond delay="0"/>
                                          </p:stCondLst>
                                        </p:cTn>
                                        <p:tgtEl>
                                          <p:spTgt spid="794682"/>
                                        </p:tgtEl>
                                        <p:attrNameLst>
                                          <p:attrName>style.visibility</p:attrName>
                                        </p:attrNameLst>
                                      </p:cBhvr>
                                      <p:to>
                                        <p:strVal val="visible"/>
                                      </p:to>
                                    </p:set>
                                    <p:animEffect transition="in" filter="wipe(up)">
                                      <p:cBhvr>
                                        <p:cTn id="10" dur="1000"/>
                                        <p:tgtEl>
                                          <p:spTgt spid="794682"/>
                                        </p:tgtEl>
                                      </p:cBhvr>
                                    </p:animEffect>
                                  </p:childTnLst>
                                </p:cTn>
                              </p:par>
                            </p:childTnLst>
                          </p:cTn>
                        </p:par>
                        <p:par>
                          <p:cTn id="11" fill="hold" nodeType="afterGroup">
                            <p:stCondLst>
                              <p:cond delay="2000"/>
                            </p:stCondLst>
                            <p:childTnLst>
                              <p:par>
                                <p:cTn id="12" presetID="22" presetClass="entr" presetSubtype="2" fill="hold" nodeType="afterEffect">
                                  <p:stCondLst>
                                    <p:cond delay="0"/>
                                  </p:stCondLst>
                                  <p:childTnLst>
                                    <p:set>
                                      <p:cBhvr>
                                        <p:cTn id="13" dur="1" fill="hold">
                                          <p:stCondLst>
                                            <p:cond delay="0"/>
                                          </p:stCondLst>
                                        </p:cTn>
                                        <p:tgtEl>
                                          <p:spTgt spid="794683"/>
                                        </p:tgtEl>
                                        <p:attrNameLst>
                                          <p:attrName>style.visibility</p:attrName>
                                        </p:attrNameLst>
                                      </p:cBhvr>
                                      <p:to>
                                        <p:strVal val="visible"/>
                                      </p:to>
                                    </p:set>
                                    <p:animEffect transition="in" filter="wipe(right)">
                                      <p:cBhvr>
                                        <p:cTn id="14" dur="1000"/>
                                        <p:tgtEl>
                                          <p:spTgt spid="794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84" grpId="0" animBg="1"/>
    </p:bldLst>
  </p:timing>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8002" name="Group 2"/>
          <p:cNvGrpSpPr>
            <a:grpSpLocks/>
          </p:cNvGrpSpPr>
          <p:nvPr/>
        </p:nvGrpSpPr>
        <p:grpSpPr bwMode="auto">
          <a:xfrm>
            <a:off x="2509838" y="2349500"/>
            <a:ext cx="4248150" cy="4062413"/>
            <a:chOff x="1474" y="1888"/>
            <a:chExt cx="2676" cy="2432"/>
          </a:xfrm>
        </p:grpSpPr>
        <p:sp>
          <p:nvSpPr>
            <p:cNvPr id="128043" name="Line 3"/>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44" name="Line 4"/>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8003" name="AutoShape 5"/>
          <p:cNvSpPr>
            <a:spLocks noChangeArrowheads="1"/>
          </p:cNvSpPr>
          <p:nvPr/>
        </p:nvSpPr>
        <p:spPr bwMode="auto">
          <a:xfrm rot="-651552">
            <a:off x="3786188" y="3895725"/>
            <a:ext cx="676275" cy="236538"/>
          </a:xfrm>
          <a:prstGeom prst="leftArrow">
            <a:avLst>
              <a:gd name="adj1" fmla="val 53620"/>
              <a:gd name="adj2" fmla="val 119816"/>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04" name="AutoShape 6"/>
          <p:cNvSpPr>
            <a:spLocks noChangeArrowheads="1"/>
          </p:cNvSpPr>
          <p:nvPr/>
        </p:nvSpPr>
        <p:spPr bwMode="auto">
          <a:xfrm>
            <a:off x="3495675" y="1863725"/>
            <a:ext cx="2384425" cy="252413"/>
          </a:xfrm>
          <a:prstGeom prst="leftRightArrow">
            <a:avLst>
              <a:gd name="adj1" fmla="val 55880"/>
              <a:gd name="adj2" fmla="val 108285"/>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8005" name="Group 7"/>
          <p:cNvGrpSpPr>
            <a:grpSpLocks/>
          </p:cNvGrpSpPr>
          <p:nvPr/>
        </p:nvGrpSpPr>
        <p:grpSpPr bwMode="auto">
          <a:xfrm>
            <a:off x="2562225" y="2355850"/>
            <a:ext cx="4133850" cy="768350"/>
            <a:chOff x="1614" y="1484"/>
            <a:chExt cx="2604" cy="484"/>
          </a:xfrm>
        </p:grpSpPr>
        <p:sp>
          <p:nvSpPr>
            <p:cNvPr id="128041" name="Rectangle 8"/>
            <p:cNvSpPr>
              <a:spLocks noChangeArrowheads="1"/>
            </p:cNvSpPr>
            <p:nvPr/>
          </p:nvSpPr>
          <p:spPr bwMode="auto">
            <a:xfrm rot="597975">
              <a:off x="2497" y="1518"/>
              <a:ext cx="1165"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FIN = 1, seq = u</a:t>
              </a:r>
            </a:p>
          </p:txBody>
        </p:sp>
        <p:sp>
          <p:nvSpPr>
            <p:cNvPr id="128042" name="Line 9"/>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8006" name="Group 10"/>
          <p:cNvGrpSpPr>
            <a:grpSpLocks/>
          </p:cNvGrpSpPr>
          <p:nvPr/>
        </p:nvGrpSpPr>
        <p:grpSpPr bwMode="auto">
          <a:xfrm>
            <a:off x="2576513" y="3167063"/>
            <a:ext cx="4133850" cy="769937"/>
            <a:chOff x="1623" y="1995"/>
            <a:chExt cx="2604" cy="485"/>
          </a:xfrm>
        </p:grpSpPr>
        <p:sp>
          <p:nvSpPr>
            <p:cNvPr id="128039" name="Rectangle 11"/>
            <p:cNvSpPr>
              <a:spLocks noChangeArrowheads="1"/>
            </p:cNvSpPr>
            <p:nvPr/>
          </p:nvSpPr>
          <p:spPr bwMode="auto">
            <a:xfrm rot="20990024" flipH="1">
              <a:off x="1936" y="2021"/>
              <a:ext cx="181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v,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sp>
          <p:nvSpPr>
            <p:cNvPr id="128040" name="Line 12"/>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8007" name="Group 13"/>
          <p:cNvGrpSpPr>
            <a:grpSpLocks/>
          </p:cNvGrpSpPr>
          <p:nvPr/>
        </p:nvGrpSpPr>
        <p:grpSpPr bwMode="auto">
          <a:xfrm>
            <a:off x="2541588" y="4089400"/>
            <a:ext cx="4133850" cy="784225"/>
            <a:chOff x="1601" y="2576"/>
            <a:chExt cx="2604" cy="494"/>
          </a:xfrm>
        </p:grpSpPr>
        <p:sp>
          <p:nvSpPr>
            <p:cNvPr id="128037" name="Line 14"/>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8" name="Rectangle 15"/>
            <p:cNvSpPr>
              <a:spLocks noChangeArrowheads="1"/>
            </p:cNvSpPr>
            <p:nvPr/>
          </p:nvSpPr>
          <p:spPr bwMode="auto">
            <a:xfrm rot="20943314" flipH="1">
              <a:off x="1808" y="2576"/>
              <a:ext cx="2377"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FIN = 1, ACK = 1, seq = w,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grpSp>
      <p:sp>
        <p:nvSpPr>
          <p:cNvPr id="128008" name="Rectangle 16"/>
          <p:cNvSpPr>
            <a:spLocks noChangeArrowheads="1"/>
          </p:cNvSpPr>
          <p:nvPr/>
        </p:nvSpPr>
        <p:spPr bwMode="auto">
          <a:xfrm>
            <a:off x="1606550" y="1611313"/>
            <a:ext cx="954088" cy="67310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28009" name="Rectangle 17"/>
          <p:cNvSpPr>
            <a:spLocks noChangeArrowheads="1"/>
          </p:cNvSpPr>
          <p:nvPr/>
        </p:nvSpPr>
        <p:spPr bwMode="auto">
          <a:xfrm>
            <a:off x="6692900" y="1611313"/>
            <a:ext cx="955675" cy="147955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grpSp>
        <p:nvGrpSpPr>
          <p:cNvPr id="128010" name="Group 18"/>
          <p:cNvGrpSpPr>
            <a:grpSpLocks/>
          </p:cNvGrpSpPr>
          <p:nvPr/>
        </p:nvGrpSpPr>
        <p:grpSpPr bwMode="auto">
          <a:xfrm>
            <a:off x="1508125" y="1528763"/>
            <a:ext cx="6278563" cy="82550"/>
            <a:chOff x="1020" y="481"/>
            <a:chExt cx="4037" cy="46"/>
          </a:xfrm>
        </p:grpSpPr>
        <p:sp>
          <p:nvSpPr>
            <p:cNvPr id="128035" name="Line 19"/>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36" name="Line 20"/>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8011" name="Group 21"/>
          <p:cNvGrpSpPr>
            <a:grpSpLocks/>
          </p:cNvGrpSpPr>
          <p:nvPr/>
        </p:nvGrpSpPr>
        <p:grpSpPr bwMode="auto">
          <a:xfrm>
            <a:off x="498475" y="1257300"/>
            <a:ext cx="1403350" cy="1082675"/>
            <a:chOff x="314" y="792"/>
            <a:chExt cx="884" cy="682"/>
          </a:xfrm>
        </p:grpSpPr>
        <p:sp>
          <p:nvSpPr>
            <p:cNvPr id="128033" name="Freeform 22"/>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34" name="Rectangle 23"/>
            <p:cNvSpPr>
              <a:spLocks noChangeArrowheads="1"/>
            </p:cNvSpPr>
            <p:nvPr/>
          </p:nvSpPr>
          <p:spPr bwMode="auto">
            <a:xfrm>
              <a:off x="314" y="1227"/>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主动关闭</a:t>
              </a:r>
            </a:p>
          </p:txBody>
        </p:sp>
      </p:grpSp>
      <p:grpSp>
        <p:nvGrpSpPr>
          <p:cNvPr id="128012" name="Group 24"/>
          <p:cNvGrpSpPr>
            <a:grpSpLocks/>
          </p:cNvGrpSpPr>
          <p:nvPr/>
        </p:nvGrpSpPr>
        <p:grpSpPr bwMode="auto">
          <a:xfrm>
            <a:off x="7412038" y="1190625"/>
            <a:ext cx="1408112" cy="2905125"/>
            <a:chOff x="4669" y="750"/>
            <a:chExt cx="887" cy="1830"/>
          </a:xfrm>
        </p:grpSpPr>
        <p:sp>
          <p:nvSpPr>
            <p:cNvPr id="128031" name="Freeform 25"/>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32" name="Rectangle 26"/>
            <p:cNvSpPr>
              <a:spLocks noChangeArrowheads="1"/>
            </p:cNvSpPr>
            <p:nvPr/>
          </p:nvSpPr>
          <p:spPr bwMode="auto">
            <a:xfrm>
              <a:off x="4855" y="2306"/>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被动关闭</a:t>
              </a:r>
            </a:p>
          </p:txBody>
        </p:sp>
      </p:grpSp>
      <p:sp>
        <p:nvSpPr>
          <p:cNvPr id="128013" name="Rectangle 27"/>
          <p:cNvSpPr>
            <a:spLocks noChangeArrowheads="1"/>
          </p:cNvSpPr>
          <p:nvPr/>
        </p:nvSpPr>
        <p:spPr bwMode="auto">
          <a:xfrm>
            <a:off x="4130675" y="1778000"/>
            <a:ext cx="1133475" cy="401638"/>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grpSp>
        <p:nvGrpSpPr>
          <p:cNvPr id="128014" name="Group 28"/>
          <p:cNvGrpSpPr>
            <a:grpSpLocks/>
          </p:cNvGrpSpPr>
          <p:nvPr/>
        </p:nvGrpSpPr>
        <p:grpSpPr bwMode="auto">
          <a:xfrm>
            <a:off x="7453313" y="1376363"/>
            <a:ext cx="1196975" cy="1789112"/>
            <a:chOff x="4695" y="867"/>
            <a:chExt cx="754" cy="1127"/>
          </a:xfrm>
        </p:grpSpPr>
        <p:sp>
          <p:nvSpPr>
            <p:cNvPr id="128029" name="Freeform 29"/>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030" name="Rectangle 30"/>
            <p:cNvSpPr>
              <a:spLocks noChangeArrowheads="1"/>
            </p:cNvSpPr>
            <p:nvPr/>
          </p:nvSpPr>
          <p:spPr bwMode="auto">
            <a:xfrm>
              <a:off x="5047" y="1120"/>
              <a:ext cx="402"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通知</a:t>
              </a:r>
            </a:p>
            <a:p>
              <a:pPr defTabSz="762000" eaLnBrk="0" hangingPunct="0"/>
              <a:r>
                <a:rPr kumimoji="1" lang="zh-CN" altLang="en-US" sz="1800">
                  <a:solidFill>
                    <a:schemeClr val="folHlink"/>
                  </a:solidFill>
                  <a:latin typeface="Times New Roman" pitchFamily="18" charset="0"/>
                  <a:ea typeface="黑体" pitchFamily="49" charset="-122"/>
                </a:rPr>
                <a:t>应用</a:t>
              </a:r>
            </a:p>
            <a:p>
              <a:pPr defTabSz="762000" eaLnBrk="0" hangingPunct="0"/>
              <a:r>
                <a:rPr kumimoji="1" lang="zh-CN" altLang="en-US" sz="1800">
                  <a:solidFill>
                    <a:schemeClr val="folHlink"/>
                  </a:solidFill>
                  <a:latin typeface="Times New Roman" pitchFamily="18" charset="0"/>
                  <a:ea typeface="黑体" pitchFamily="49" charset="-122"/>
                </a:rPr>
                <a:t>进程</a:t>
              </a:r>
            </a:p>
          </p:txBody>
        </p:sp>
      </p:grpSp>
      <p:sp>
        <p:nvSpPr>
          <p:cNvPr id="128015" name="Rectangle 31"/>
          <p:cNvSpPr>
            <a:spLocks noChangeArrowheads="1"/>
          </p:cNvSpPr>
          <p:nvPr/>
        </p:nvSpPr>
        <p:spPr bwMode="auto">
          <a:xfrm>
            <a:off x="1587500" y="1622425"/>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sp>
        <p:nvSpPr>
          <p:cNvPr id="128016" name="Rectangle 32"/>
          <p:cNvSpPr>
            <a:spLocks noChangeArrowheads="1"/>
          </p:cNvSpPr>
          <p:nvPr/>
        </p:nvSpPr>
        <p:spPr bwMode="auto">
          <a:xfrm>
            <a:off x="6673850" y="2058988"/>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pic>
        <p:nvPicPr>
          <p:cNvPr id="128017"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197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8018"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832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8019" name="Rectangle 35"/>
          <p:cNvSpPr>
            <a:spLocks noChangeArrowheads="1"/>
          </p:cNvSpPr>
          <p:nvPr/>
        </p:nvSpPr>
        <p:spPr bwMode="auto">
          <a:xfrm>
            <a:off x="2222500" y="938213"/>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8020" name="Rectangle 36"/>
          <p:cNvSpPr>
            <a:spLocks noChangeArrowheads="1"/>
          </p:cNvSpPr>
          <p:nvPr/>
        </p:nvSpPr>
        <p:spPr bwMode="auto">
          <a:xfrm>
            <a:off x="6723063" y="938213"/>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8021" name="Rectangle 37"/>
          <p:cNvSpPr>
            <a:spLocks noChangeArrowheads="1"/>
          </p:cNvSpPr>
          <p:nvPr/>
        </p:nvSpPr>
        <p:spPr bwMode="auto">
          <a:xfrm>
            <a:off x="1766888" y="6477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8022" name="Rectangle 38"/>
          <p:cNvSpPr>
            <a:spLocks noChangeArrowheads="1"/>
          </p:cNvSpPr>
          <p:nvPr/>
        </p:nvSpPr>
        <p:spPr bwMode="auto">
          <a:xfrm>
            <a:off x="6734175" y="647700"/>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28023" name="Rectangle 39"/>
          <p:cNvSpPr>
            <a:spLocks noChangeArrowheads="1"/>
          </p:cNvSpPr>
          <p:nvPr/>
        </p:nvSpPr>
        <p:spPr bwMode="auto">
          <a:xfrm rot="-628888">
            <a:off x="4340225" y="3627438"/>
            <a:ext cx="1133475" cy="401637"/>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sp>
        <p:nvSpPr>
          <p:cNvPr id="128024" name="Text Box 40"/>
          <p:cNvSpPr txBox="1">
            <a:spLocks noChangeArrowheads="1"/>
          </p:cNvSpPr>
          <p:nvPr/>
        </p:nvSpPr>
        <p:spPr bwMode="auto">
          <a:xfrm>
            <a:off x="2700338" y="115888"/>
            <a:ext cx="39576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5.9.2   TCP</a:t>
            </a:r>
            <a:r>
              <a:rPr lang="en-US" altLang="zh-CN" b="1">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的连接释放 </a:t>
            </a:r>
          </a:p>
        </p:txBody>
      </p:sp>
      <p:sp>
        <p:nvSpPr>
          <p:cNvPr id="128025" name="Text Box 42"/>
          <p:cNvSpPr txBox="1">
            <a:spLocks noChangeArrowheads="1"/>
          </p:cNvSpPr>
          <p:nvPr/>
        </p:nvSpPr>
        <p:spPr bwMode="auto">
          <a:xfrm>
            <a:off x="684213" y="6021388"/>
            <a:ext cx="7348537" cy="528637"/>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buFontTx/>
              <a:buChar char="•"/>
            </a:pPr>
            <a:r>
              <a:rPr lang="en-US" altLang="zh-CN">
                <a:solidFill>
                  <a:schemeClr val="folHlink"/>
                </a:solidFill>
                <a:latin typeface="Arial" pitchFamily="34" charset="0"/>
                <a:ea typeface="黑体" pitchFamily="49" charset="-122"/>
              </a:rPr>
              <a:t>  A </a:t>
            </a:r>
            <a:r>
              <a:rPr lang="zh-CN" altLang="en-US">
                <a:solidFill>
                  <a:schemeClr val="folHlink"/>
                </a:solidFill>
                <a:latin typeface="Arial" pitchFamily="34" charset="0"/>
                <a:ea typeface="黑体" pitchFamily="49" charset="-122"/>
              </a:rPr>
              <a:t>收到连接释放报文段后，必须发出确认。 </a:t>
            </a:r>
          </a:p>
        </p:txBody>
      </p:sp>
      <p:grpSp>
        <p:nvGrpSpPr>
          <p:cNvPr id="798765" name="Group 45"/>
          <p:cNvGrpSpPr>
            <a:grpSpLocks/>
          </p:cNvGrpSpPr>
          <p:nvPr/>
        </p:nvGrpSpPr>
        <p:grpSpPr bwMode="auto">
          <a:xfrm>
            <a:off x="2562225" y="4891088"/>
            <a:ext cx="4133850" cy="769937"/>
            <a:chOff x="1614" y="3081"/>
            <a:chExt cx="2604" cy="485"/>
          </a:xfrm>
        </p:grpSpPr>
        <p:sp>
          <p:nvSpPr>
            <p:cNvPr id="128027" name="Rectangle 43"/>
            <p:cNvSpPr>
              <a:spLocks noChangeArrowheads="1"/>
            </p:cNvSpPr>
            <p:nvPr/>
          </p:nvSpPr>
          <p:spPr bwMode="auto">
            <a:xfrm rot="610931">
              <a:off x="2023" y="3122"/>
              <a:ext cx="2109"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u + 1, ack = w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p>
          </p:txBody>
        </p:sp>
        <p:sp>
          <p:nvSpPr>
            <p:cNvPr id="128028" name="Line 44"/>
            <p:cNvSpPr>
              <a:spLocks noChangeShapeType="1"/>
            </p:cNvSpPr>
            <p:nvPr/>
          </p:nvSpPr>
          <p:spPr bwMode="auto">
            <a:xfrm>
              <a:off x="1614" y="3081"/>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798765"/>
                                        </p:tgtEl>
                                        <p:attrNameLst>
                                          <p:attrName>style.visibility</p:attrName>
                                        </p:attrNameLst>
                                      </p:cBhvr>
                                      <p:to>
                                        <p:strVal val="visible"/>
                                      </p:to>
                                    </p:set>
                                    <p:animEffect transition="in" filter="wipe(left)">
                                      <p:cBhvr>
                                        <p:cTn id="7" dur="500"/>
                                        <p:tgtEl>
                                          <p:spTgt spid="798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29026" name="Group 2"/>
          <p:cNvGrpSpPr>
            <a:grpSpLocks/>
          </p:cNvGrpSpPr>
          <p:nvPr/>
        </p:nvGrpSpPr>
        <p:grpSpPr bwMode="auto">
          <a:xfrm>
            <a:off x="2509838" y="2349500"/>
            <a:ext cx="4248150" cy="4062413"/>
            <a:chOff x="1474" y="1888"/>
            <a:chExt cx="2676" cy="2432"/>
          </a:xfrm>
        </p:grpSpPr>
        <p:sp>
          <p:nvSpPr>
            <p:cNvPr id="129066" name="Line 3"/>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67" name="Line 4"/>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9027" name="AutoShape 5"/>
          <p:cNvSpPr>
            <a:spLocks noChangeArrowheads="1"/>
          </p:cNvSpPr>
          <p:nvPr/>
        </p:nvSpPr>
        <p:spPr bwMode="auto">
          <a:xfrm rot="-651552">
            <a:off x="3786188" y="3895725"/>
            <a:ext cx="676275" cy="236538"/>
          </a:xfrm>
          <a:prstGeom prst="leftArrow">
            <a:avLst>
              <a:gd name="adj1" fmla="val 53620"/>
              <a:gd name="adj2" fmla="val 119816"/>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28" name="AutoShape 6"/>
          <p:cNvSpPr>
            <a:spLocks noChangeArrowheads="1"/>
          </p:cNvSpPr>
          <p:nvPr/>
        </p:nvSpPr>
        <p:spPr bwMode="auto">
          <a:xfrm>
            <a:off x="3495675" y="1863725"/>
            <a:ext cx="2384425" cy="252413"/>
          </a:xfrm>
          <a:prstGeom prst="leftRightArrow">
            <a:avLst>
              <a:gd name="adj1" fmla="val 55880"/>
              <a:gd name="adj2" fmla="val 108285"/>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9029" name="Group 7"/>
          <p:cNvGrpSpPr>
            <a:grpSpLocks/>
          </p:cNvGrpSpPr>
          <p:nvPr/>
        </p:nvGrpSpPr>
        <p:grpSpPr bwMode="auto">
          <a:xfrm>
            <a:off x="2562225" y="2355850"/>
            <a:ext cx="4133850" cy="768350"/>
            <a:chOff x="1614" y="1484"/>
            <a:chExt cx="2604" cy="484"/>
          </a:xfrm>
        </p:grpSpPr>
        <p:sp>
          <p:nvSpPr>
            <p:cNvPr id="129064" name="Rectangle 8"/>
            <p:cNvSpPr>
              <a:spLocks noChangeArrowheads="1"/>
            </p:cNvSpPr>
            <p:nvPr/>
          </p:nvSpPr>
          <p:spPr bwMode="auto">
            <a:xfrm rot="597975">
              <a:off x="2497" y="1518"/>
              <a:ext cx="1165"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FIN = 1, seq = u</a:t>
              </a:r>
            </a:p>
          </p:txBody>
        </p:sp>
        <p:sp>
          <p:nvSpPr>
            <p:cNvPr id="129065" name="Line 9"/>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9030" name="Group 10"/>
          <p:cNvGrpSpPr>
            <a:grpSpLocks/>
          </p:cNvGrpSpPr>
          <p:nvPr/>
        </p:nvGrpSpPr>
        <p:grpSpPr bwMode="auto">
          <a:xfrm>
            <a:off x="2576513" y="3167063"/>
            <a:ext cx="4133850" cy="769937"/>
            <a:chOff x="1623" y="1995"/>
            <a:chExt cx="2604" cy="485"/>
          </a:xfrm>
        </p:grpSpPr>
        <p:sp>
          <p:nvSpPr>
            <p:cNvPr id="129062" name="Rectangle 11"/>
            <p:cNvSpPr>
              <a:spLocks noChangeArrowheads="1"/>
            </p:cNvSpPr>
            <p:nvPr/>
          </p:nvSpPr>
          <p:spPr bwMode="auto">
            <a:xfrm rot="20990024" flipH="1">
              <a:off x="1936" y="2021"/>
              <a:ext cx="181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v,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sp>
          <p:nvSpPr>
            <p:cNvPr id="129063" name="Line 12"/>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9031" name="Group 13"/>
          <p:cNvGrpSpPr>
            <a:grpSpLocks/>
          </p:cNvGrpSpPr>
          <p:nvPr/>
        </p:nvGrpSpPr>
        <p:grpSpPr bwMode="auto">
          <a:xfrm>
            <a:off x="2541588" y="4089400"/>
            <a:ext cx="4133850" cy="784225"/>
            <a:chOff x="1601" y="2576"/>
            <a:chExt cx="2604" cy="494"/>
          </a:xfrm>
        </p:grpSpPr>
        <p:sp>
          <p:nvSpPr>
            <p:cNvPr id="129060" name="Line 14"/>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61" name="Rectangle 15"/>
            <p:cNvSpPr>
              <a:spLocks noChangeArrowheads="1"/>
            </p:cNvSpPr>
            <p:nvPr/>
          </p:nvSpPr>
          <p:spPr bwMode="auto">
            <a:xfrm rot="20943314" flipH="1">
              <a:off x="1808" y="2576"/>
              <a:ext cx="2377"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FIN = 1, ACK = 1, seq = w,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grpSp>
      <p:sp>
        <p:nvSpPr>
          <p:cNvPr id="129032" name="Rectangle 16"/>
          <p:cNvSpPr>
            <a:spLocks noChangeArrowheads="1"/>
          </p:cNvSpPr>
          <p:nvPr/>
        </p:nvSpPr>
        <p:spPr bwMode="auto">
          <a:xfrm>
            <a:off x="1606550" y="1611313"/>
            <a:ext cx="954088" cy="67310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29033" name="Rectangle 17"/>
          <p:cNvSpPr>
            <a:spLocks noChangeArrowheads="1"/>
          </p:cNvSpPr>
          <p:nvPr/>
        </p:nvSpPr>
        <p:spPr bwMode="auto">
          <a:xfrm>
            <a:off x="6692900" y="1611313"/>
            <a:ext cx="955675" cy="147955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grpSp>
        <p:nvGrpSpPr>
          <p:cNvPr id="129034" name="Group 18"/>
          <p:cNvGrpSpPr>
            <a:grpSpLocks/>
          </p:cNvGrpSpPr>
          <p:nvPr/>
        </p:nvGrpSpPr>
        <p:grpSpPr bwMode="auto">
          <a:xfrm>
            <a:off x="1508125" y="1528763"/>
            <a:ext cx="6278563" cy="82550"/>
            <a:chOff x="1020" y="481"/>
            <a:chExt cx="4037" cy="46"/>
          </a:xfrm>
        </p:grpSpPr>
        <p:sp>
          <p:nvSpPr>
            <p:cNvPr id="129058" name="Line 19"/>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59" name="Line 20"/>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35" name="Group 21"/>
          <p:cNvGrpSpPr>
            <a:grpSpLocks/>
          </p:cNvGrpSpPr>
          <p:nvPr/>
        </p:nvGrpSpPr>
        <p:grpSpPr bwMode="auto">
          <a:xfrm>
            <a:off x="498475" y="1257300"/>
            <a:ext cx="1403350" cy="1082675"/>
            <a:chOff x="314" y="792"/>
            <a:chExt cx="884" cy="682"/>
          </a:xfrm>
        </p:grpSpPr>
        <p:sp>
          <p:nvSpPr>
            <p:cNvPr id="129056" name="Freeform 22"/>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57" name="Rectangle 23"/>
            <p:cNvSpPr>
              <a:spLocks noChangeArrowheads="1"/>
            </p:cNvSpPr>
            <p:nvPr/>
          </p:nvSpPr>
          <p:spPr bwMode="auto">
            <a:xfrm>
              <a:off x="314" y="1227"/>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主动关闭</a:t>
              </a:r>
            </a:p>
          </p:txBody>
        </p:sp>
      </p:grpSp>
      <p:grpSp>
        <p:nvGrpSpPr>
          <p:cNvPr id="129036" name="Group 24"/>
          <p:cNvGrpSpPr>
            <a:grpSpLocks/>
          </p:cNvGrpSpPr>
          <p:nvPr/>
        </p:nvGrpSpPr>
        <p:grpSpPr bwMode="auto">
          <a:xfrm>
            <a:off x="7412038" y="1190625"/>
            <a:ext cx="1408112" cy="2905125"/>
            <a:chOff x="4669" y="750"/>
            <a:chExt cx="887" cy="1830"/>
          </a:xfrm>
        </p:grpSpPr>
        <p:sp>
          <p:nvSpPr>
            <p:cNvPr id="129054" name="Freeform 25"/>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55" name="Rectangle 26"/>
            <p:cNvSpPr>
              <a:spLocks noChangeArrowheads="1"/>
            </p:cNvSpPr>
            <p:nvPr/>
          </p:nvSpPr>
          <p:spPr bwMode="auto">
            <a:xfrm>
              <a:off x="4855" y="2306"/>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被动关闭</a:t>
              </a:r>
            </a:p>
          </p:txBody>
        </p:sp>
      </p:grpSp>
      <p:sp>
        <p:nvSpPr>
          <p:cNvPr id="129037" name="Rectangle 27"/>
          <p:cNvSpPr>
            <a:spLocks noChangeArrowheads="1"/>
          </p:cNvSpPr>
          <p:nvPr/>
        </p:nvSpPr>
        <p:spPr bwMode="auto">
          <a:xfrm>
            <a:off x="4130675" y="1778000"/>
            <a:ext cx="1133475" cy="401638"/>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grpSp>
        <p:nvGrpSpPr>
          <p:cNvPr id="129038" name="Group 28"/>
          <p:cNvGrpSpPr>
            <a:grpSpLocks/>
          </p:cNvGrpSpPr>
          <p:nvPr/>
        </p:nvGrpSpPr>
        <p:grpSpPr bwMode="auto">
          <a:xfrm>
            <a:off x="7453313" y="1376363"/>
            <a:ext cx="1196975" cy="1789112"/>
            <a:chOff x="4695" y="867"/>
            <a:chExt cx="754" cy="1127"/>
          </a:xfrm>
        </p:grpSpPr>
        <p:sp>
          <p:nvSpPr>
            <p:cNvPr id="129052" name="Freeform 29"/>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53" name="Rectangle 30"/>
            <p:cNvSpPr>
              <a:spLocks noChangeArrowheads="1"/>
            </p:cNvSpPr>
            <p:nvPr/>
          </p:nvSpPr>
          <p:spPr bwMode="auto">
            <a:xfrm>
              <a:off x="5047" y="1120"/>
              <a:ext cx="402"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通知</a:t>
              </a:r>
            </a:p>
            <a:p>
              <a:pPr defTabSz="762000" eaLnBrk="0" hangingPunct="0"/>
              <a:r>
                <a:rPr kumimoji="1" lang="zh-CN" altLang="en-US" sz="1800">
                  <a:solidFill>
                    <a:schemeClr val="folHlink"/>
                  </a:solidFill>
                  <a:latin typeface="Times New Roman" pitchFamily="18" charset="0"/>
                  <a:ea typeface="黑体" pitchFamily="49" charset="-122"/>
                </a:rPr>
                <a:t>应用</a:t>
              </a:r>
            </a:p>
            <a:p>
              <a:pPr defTabSz="762000" eaLnBrk="0" hangingPunct="0"/>
              <a:r>
                <a:rPr kumimoji="1" lang="zh-CN" altLang="en-US" sz="1800">
                  <a:solidFill>
                    <a:schemeClr val="folHlink"/>
                  </a:solidFill>
                  <a:latin typeface="Times New Roman" pitchFamily="18" charset="0"/>
                  <a:ea typeface="黑体" pitchFamily="49" charset="-122"/>
                </a:rPr>
                <a:t>进程</a:t>
              </a:r>
            </a:p>
          </p:txBody>
        </p:sp>
      </p:grpSp>
      <p:sp>
        <p:nvSpPr>
          <p:cNvPr id="129039" name="Rectangle 31"/>
          <p:cNvSpPr>
            <a:spLocks noChangeArrowheads="1"/>
          </p:cNvSpPr>
          <p:nvPr/>
        </p:nvSpPr>
        <p:spPr bwMode="auto">
          <a:xfrm>
            <a:off x="1587500" y="1622425"/>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sp>
        <p:nvSpPr>
          <p:cNvPr id="129040" name="Rectangle 32"/>
          <p:cNvSpPr>
            <a:spLocks noChangeArrowheads="1"/>
          </p:cNvSpPr>
          <p:nvPr/>
        </p:nvSpPr>
        <p:spPr bwMode="auto">
          <a:xfrm>
            <a:off x="6673850" y="2058988"/>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pic>
        <p:nvPicPr>
          <p:cNvPr id="129041"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197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042"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832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9043" name="Rectangle 35"/>
          <p:cNvSpPr>
            <a:spLocks noChangeArrowheads="1"/>
          </p:cNvSpPr>
          <p:nvPr/>
        </p:nvSpPr>
        <p:spPr bwMode="auto">
          <a:xfrm>
            <a:off x="2222500" y="938213"/>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29044" name="Rectangle 36"/>
          <p:cNvSpPr>
            <a:spLocks noChangeArrowheads="1"/>
          </p:cNvSpPr>
          <p:nvPr/>
        </p:nvSpPr>
        <p:spPr bwMode="auto">
          <a:xfrm>
            <a:off x="6723063" y="938213"/>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29045" name="Rectangle 37"/>
          <p:cNvSpPr>
            <a:spLocks noChangeArrowheads="1"/>
          </p:cNvSpPr>
          <p:nvPr/>
        </p:nvSpPr>
        <p:spPr bwMode="auto">
          <a:xfrm>
            <a:off x="1766888" y="6477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29046" name="Rectangle 38"/>
          <p:cNvSpPr>
            <a:spLocks noChangeArrowheads="1"/>
          </p:cNvSpPr>
          <p:nvPr/>
        </p:nvSpPr>
        <p:spPr bwMode="auto">
          <a:xfrm>
            <a:off x="6734175" y="647700"/>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29047" name="Rectangle 39"/>
          <p:cNvSpPr>
            <a:spLocks noChangeArrowheads="1"/>
          </p:cNvSpPr>
          <p:nvPr/>
        </p:nvSpPr>
        <p:spPr bwMode="auto">
          <a:xfrm rot="-628888">
            <a:off x="4340225" y="3627438"/>
            <a:ext cx="1133475" cy="401637"/>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sp>
        <p:nvSpPr>
          <p:cNvPr id="129048" name="Text Box 40"/>
          <p:cNvSpPr txBox="1">
            <a:spLocks noChangeArrowheads="1"/>
          </p:cNvSpPr>
          <p:nvPr/>
        </p:nvSpPr>
        <p:spPr bwMode="auto">
          <a:xfrm>
            <a:off x="2700338" y="115888"/>
            <a:ext cx="39576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5.9.2   TCP</a:t>
            </a:r>
            <a:r>
              <a:rPr lang="en-US" altLang="zh-CN" b="1">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的连接释放 </a:t>
            </a:r>
          </a:p>
        </p:txBody>
      </p:sp>
      <p:sp>
        <p:nvSpPr>
          <p:cNvPr id="129049" name="Text Box 41"/>
          <p:cNvSpPr txBox="1">
            <a:spLocks noChangeArrowheads="1"/>
          </p:cNvSpPr>
          <p:nvPr/>
        </p:nvSpPr>
        <p:spPr bwMode="auto">
          <a:xfrm>
            <a:off x="747713" y="5786438"/>
            <a:ext cx="8105775" cy="9556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buFontTx/>
              <a:buChar char="•"/>
            </a:pPr>
            <a:r>
              <a:rPr lang="en-US" altLang="zh-CN">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在确认报文段中 </a:t>
            </a:r>
            <a:r>
              <a:rPr lang="en-US" altLang="zh-CN">
                <a:solidFill>
                  <a:schemeClr val="folHlink"/>
                </a:solidFill>
                <a:latin typeface="Arial" pitchFamily="34" charset="0"/>
                <a:ea typeface="黑体" pitchFamily="49" charset="-122"/>
              </a:rPr>
              <a:t>ACK = 1</a:t>
            </a:r>
            <a:r>
              <a:rPr lang="zh-CN" altLang="en-US">
                <a:solidFill>
                  <a:schemeClr val="folHlink"/>
                </a:solidFill>
                <a:latin typeface="Arial" pitchFamily="34" charset="0"/>
                <a:ea typeface="黑体" pitchFamily="49" charset="-122"/>
              </a:rPr>
              <a:t>，确认号 </a:t>
            </a:r>
            <a:r>
              <a:rPr lang="en-US" altLang="zh-CN">
                <a:solidFill>
                  <a:schemeClr val="folHlink"/>
                </a:solidFill>
                <a:latin typeface="Arial" pitchFamily="34" charset="0"/>
                <a:ea typeface="黑体" pitchFamily="49" charset="-122"/>
              </a:rPr>
              <a:t>ack </a:t>
            </a:r>
            <a:r>
              <a:rPr lang="en-US" altLang="zh-CN">
                <a:solidFill>
                  <a:schemeClr val="folHlink"/>
                </a:solidFill>
                <a:latin typeface="Arial" pitchFamily="34" charset="0"/>
                <a:ea typeface="黑体" pitchFamily="49" charset="-122"/>
                <a:sym typeface="Symbol" pitchFamily="18" charset="2"/>
              </a:rPr>
              <a:t></a:t>
            </a:r>
            <a:r>
              <a:rPr lang="en-US" altLang="zh-CN">
                <a:solidFill>
                  <a:schemeClr val="folHlink"/>
                </a:solidFill>
                <a:latin typeface="Arial" pitchFamily="34" charset="0"/>
                <a:ea typeface="黑体" pitchFamily="49" charset="-122"/>
              </a:rPr>
              <a:t> w </a:t>
            </a:r>
            <a:r>
              <a:rPr lang="en-US" altLang="zh-CN">
                <a:solidFill>
                  <a:schemeClr val="folHlink"/>
                </a:solidFill>
                <a:latin typeface="Arial" pitchFamily="34" charset="0"/>
                <a:ea typeface="黑体" pitchFamily="49" charset="-122"/>
                <a:sym typeface="Symbol" pitchFamily="18" charset="2"/>
              </a:rPr>
              <a:t></a:t>
            </a:r>
            <a:r>
              <a:rPr lang="en-US" altLang="zh-CN">
                <a:solidFill>
                  <a:schemeClr val="folHlink"/>
                </a:solidFill>
                <a:latin typeface="Arial" pitchFamily="34" charset="0"/>
                <a:ea typeface="黑体" pitchFamily="49" charset="-122"/>
              </a:rPr>
              <a:t> 1</a:t>
            </a:r>
            <a:r>
              <a:rPr lang="zh-CN" altLang="en-US">
                <a:solidFill>
                  <a:schemeClr val="folHlink"/>
                </a:solidFill>
                <a:latin typeface="Arial" pitchFamily="34" charset="0"/>
                <a:ea typeface="黑体" pitchFamily="49" charset="-122"/>
              </a:rPr>
              <a:t>，</a:t>
            </a:r>
          </a:p>
          <a:p>
            <a:pPr eaLnBrk="1" hangingPunct="1"/>
            <a:r>
              <a:rPr lang="zh-CN" altLang="en-US">
                <a:solidFill>
                  <a:schemeClr val="folHlink"/>
                </a:solidFill>
                <a:latin typeface="Arial" pitchFamily="34" charset="0"/>
                <a:ea typeface="黑体" pitchFamily="49" charset="-122"/>
              </a:rPr>
              <a:t>   自己的序号 </a:t>
            </a:r>
            <a:r>
              <a:rPr lang="en-US" altLang="zh-CN">
                <a:solidFill>
                  <a:schemeClr val="folHlink"/>
                </a:solidFill>
                <a:latin typeface="Arial" pitchFamily="34" charset="0"/>
                <a:ea typeface="黑体" pitchFamily="49" charset="-122"/>
              </a:rPr>
              <a:t>seq = u + 1</a:t>
            </a:r>
            <a:r>
              <a:rPr lang="zh-CN" altLang="en-US">
                <a:solidFill>
                  <a:schemeClr val="folHlink"/>
                </a:solidFill>
                <a:latin typeface="Arial" pitchFamily="34" charset="0"/>
                <a:ea typeface="黑体" pitchFamily="49" charset="-122"/>
              </a:rPr>
              <a:t>。 </a:t>
            </a:r>
          </a:p>
        </p:txBody>
      </p:sp>
      <p:sp>
        <p:nvSpPr>
          <p:cNvPr id="129050" name="Rectangle 42"/>
          <p:cNvSpPr>
            <a:spLocks noChangeArrowheads="1"/>
          </p:cNvSpPr>
          <p:nvPr/>
        </p:nvSpPr>
        <p:spPr bwMode="auto">
          <a:xfrm rot="610931">
            <a:off x="3211513" y="4956175"/>
            <a:ext cx="334803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u + 1, ack = w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p>
        </p:txBody>
      </p:sp>
      <p:sp>
        <p:nvSpPr>
          <p:cNvPr id="129051" name="Line 43"/>
          <p:cNvSpPr>
            <a:spLocks noChangeShapeType="1"/>
          </p:cNvSpPr>
          <p:nvPr/>
        </p:nvSpPr>
        <p:spPr bwMode="auto">
          <a:xfrm>
            <a:off x="2562225" y="4891088"/>
            <a:ext cx="4133850" cy="769937"/>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95707" name="Group 59"/>
          <p:cNvGrpSpPr>
            <a:grpSpLocks/>
          </p:cNvGrpSpPr>
          <p:nvPr/>
        </p:nvGrpSpPr>
        <p:grpSpPr bwMode="auto">
          <a:xfrm>
            <a:off x="1547813" y="6213475"/>
            <a:ext cx="1012825" cy="528638"/>
            <a:chOff x="975" y="3914"/>
            <a:chExt cx="638" cy="333"/>
          </a:xfrm>
        </p:grpSpPr>
        <p:sp>
          <p:nvSpPr>
            <p:cNvPr id="130105" name="Rectangle 33"/>
            <p:cNvSpPr>
              <a:spLocks noChangeArrowheads="1"/>
            </p:cNvSpPr>
            <p:nvPr/>
          </p:nvSpPr>
          <p:spPr bwMode="auto">
            <a:xfrm>
              <a:off x="1012" y="3914"/>
              <a:ext cx="601" cy="333"/>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30106" name="Text Box 34"/>
            <p:cNvSpPr txBox="1">
              <a:spLocks noChangeArrowheads="1"/>
            </p:cNvSpPr>
            <p:nvPr/>
          </p:nvSpPr>
          <p:spPr bwMode="auto">
            <a:xfrm>
              <a:off x="975" y="3967"/>
              <a:ext cx="612" cy="212"/>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grpSp>
      <p:sp>
        <p:nvSpPr>
          <p:cNvPr id="130051" name="AutoShape 5"/>
          <p:cNvSpPr>
            <a:spLocks noChangeArrowheads="1"/>
          </p:cNvSpPr>
          <p:nvPr/>
        </p:nvSpPr>
        <p:spPr bwMode="auto">
          <a:xfrm rot="-651552">
            <a:off x="3786188" y="3895725"/>
            <a:ext cx="676275" cy="236538"/>
          </a:xfrm>
          <a:prstGeom prst="leftArrow">
            <a:avLst>
              <a:gd name="adj1" fmla="val 53620"/>
              <a:gd name="adj2" fmla="val 119816"/>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2" name="AutoShape 6"/>
          <p:cNvSpPr>
            <a:spLocks noChangeArrowheads="1"/>
          </p:cNvSpPr>
          <p:nvPr/>
        </p:nvSpPr>
        <p:spPr bwMode="auto">
          <a:xfrm>
            <a:off x="3495675" y="1863725"/>
            <a:ext cx="2384425" cy="252413"/>
          </a:xfrm>
          <a:prstGeom prst="leftRightArrow">
            <a:avLst>
              <a:gd name="adj1" fmla="val 55880"/>
              <a:gd name="adj2" fmla="val 108285"/>
            </a:avLst>
          </a:prstGeom>
          <a:solidFill>
            <a:schemeClr val="hlink"/>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3" name="Rectangle 7"/>
          <p:cNvSpPr>
            <a:spLocks noChangeArrowheads="1"/>
          </p:cNvSpPr>
          <p:nvPr/>
        </p:nvSpPr>
        <p:spPr bwMode="auto">
          <a:xfrm rot="610931">
            <a:off x="3211513" y="4956175"/>
            <a:ext cx="334803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u + 1, ack = w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p>
        </p:txBody>
      </p:sp>
      <p:grpSp>
        <p:nvGrpSpPr>
          <p:cNvPr id="130054" name="Group 8"/>
          <p:cNvGrpSpPr>
            <a:grpSpLocks/>
          </p:cNvGrpSpPr>
          <p:nvPr/>
        </p:nvGrpSpPr>
        <p:grpSpPr bwMode="auto">
          <a:xfrm>
            <a:off x="2562225" y="2355850"/>
            <a:ext cx="4133850" cy="768350"/>
            <a:chOff x="1614" y="1484"/>
            <a:chExt cx="2604" cy="484"/>
          </a:xfrm>
        </p:grpSpPr>
        <p:sp>
          <p:nvSpPr>
            <p:cNvPr id="130103" name="Rectangle 9"/>
            <p:cNvSpPr>
              <a:spLocks noChangeArrowheads="1"/>
            </p:cNvSpPr>
            <p:nvPr/>
          </p:nvSpPr>
          <p:spPr bwMode="auto">
            <a:xfrm rot="597975">
              <a:off x="2497" y="1518"/>
              <a:ext cx="1165"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a:solidFill>
                    <a:schemeClr val="folHlink"/>
                  </a:solidFill>
                  <a:latin typeface="Times New Roman" pitchFamily="18" charset="0"/>
                  <a:ea typeface="黑体" pitchFamily="49" charset="-122"/>
                </a:rPr>
                <a:t>FIN = 1, seq = u</a:t>
              </a:r>
            </a:p>
          </p:txBody>
        </p:sp>
        <p:sp>
          <p:nvSpPr>
            <p:cNvPr id="130104" name="Line 10"/>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0055" name="Group 11"/>
          <p:cNvGrpSpPr>
            <a:grpSpLocks/>
          </p:cNvGrpSpPr>
          <p:nvPr/>
        </p:nvGrpSpPr>
        <p:grpSpPr bwMode="auto">
          <a:xfrm>
            <a:off x="2576513" y="3167063"/>
            <a:ext cx="4133850" cy="769937"/>
            <a:chOff x="1623" y="1995"/>
            <a:chExt cx="2604" cy="485"/>
          </a:xfrm>
        </p:grpSpPr>
        <p:sp>
          <p:nvSpPr>
            <p:cNvPr id="130101" name="Rectangle 12"/>
            <p:cNvSpPr>
              <a:spLocks noChangeArrowheads="1"/>
            </p:cNvSpPr>
            <p:nvPr/>
          </p:nvSpPr>
          <p:spPr bwMode="auto">
            <a:xfrm rot="20990024" flipH="1">
              <a:off x="1936" y="2021"/>
              <a:ext cx="181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ACK = 1, seq = v,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sp>
          <p:nvSpPr>
            <p:cNvPr id="130102" name="Line 13"/>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0056" name="Line 14"/>
          <p:cNvSpPr>
            <a:spLocks noChangeShapeType="1"/>
          </p:cNvSpPr>
          <p:nvPr/>
        </p:nvSpPr>
        <p:spPr bwMode="auto">
          <a:xfrm>
            <a:off x="2562225" y="4891088"/>
            <a:ext cx="4133850" cy="769937"/>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7" name="Line 15"/>
          <p:cNvSpPr>
            <a:spLocks noChangeShapeType="1"/>
          </p:cNvSpPr>
          <p:nvPr/>
        </p:nvSpPr>
        <p:spPr bwMode="auto">
          <a:xfrm flipH="1">
            <a:off x="2541588" y="4103688"/>
            <a:ext cx="4133850" cy="769937"/>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8" name="Rectangle 16"/>
          <p:cNvSpPr>
            <a:spLocks noChangeArrowheads="1"/>
          </p:cNvSpPr>
          <p:nvPr/>
        </p:nvSpPr>
        <p:spPr bwMode="auto">
          <a:xfrm rot="20943314" flipH="1">
            <a:off x="2870200" y="4089400"/>
            <a:ext cx="3773488"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FIN = 1, ACK = 1, seq = w, ack= u </a:t>
            </a:r>
            <a:r>
              <a:rPr kumimoji="1" lang="en-US" altLang="zh-CN" sz="1800" b="1">
                <a:solidFill>
                  <a:schemeClr val="folHlink"/>
                </a:solidFill>
                <a:latin typeface="Times New Roman" pitchFamily="18" charset="0"/>
                <a:ea typeface="黑体" pitchFamily="49" charset="-122"/>
                <a:sym typeface="Symbol" pitchFamily="18" charset="2"/>
              </a:rPr>
              <a:t></a:t>
            </a:r>
            <a:r>
              <a:rPr kumimoji="1" lang="en-US" altLang="zh-CN" sz="1800">
                <a:solidFill>
                  <a:schemeClr val="folHlink"/>
                </a:solidFill>
                <a:latin typeface="Times New Roman" pitchFamily="18" charset="0"/>
                <a:ea typeface="黑体" pitchFamily="49" charset="-122"/>
                <a:sym typeface="Symbol" pitchFamily="18" charset="2"/>
              </a:rPr>
              <a:t> 1</a:t>
            </a:r>
            <a:endParaRPr kumimoji="1" lang="en-US" altLang="zh-CN" sz="1800">
              <a:solidFill>
                <a:schemeClr val="folHlink"/>
              </a:solidFill>
              <a:latin typeface="Times New Roman" pitchFamily="18" charset="0"/>
              <a:ea typeface="黑体" pitchFamily="49" charset="-122"/>
            </a:endParaRPr>
          </a:p>
        </p:txBody>
      </p:sp>
      <p:sp>
        <p:nvSpPr>
          <p:cNvPr id="130059" name="Rectangle 18"/>
          <p:cNvSpPr>
            <a:spLocks noChangeArrowheads="1"/>
          </p:cNvSpPr>
          <p:nvPr/>
        </p:nvSpPr>
        <p:spPr bwMode="auto">
          <a:xfrm>
            <a:off x="1606550" y="1611313"/>
            <a:ext cx="954088" cy="67310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sp>
        <p:nvSpPr>
          <p:cNvPr id="130060" name="Rectangle 19"/>
          <p:cNvSpPr>
            <a:spLocks noChangeArrowheads="1"/>
          </p:cNvSpPr>
          <p:nvPr/>
        </p:nvSpPr>
        <p:spPr bwMode="auto">
          <a:xfrm>
            <a:off x="1606550" y="2368550"/>
            <a:ext cx="954088" cy="1554163"/>
          </a:xfrm>
          <a:prstGeom prst="rect">
            <a:avLst/>
          </a:prstGeom>
          <a:solidFill>
            <a:srgbClr val="FFCCFF"/>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30061" name="Rectangle 20"/>
          <p:cNvSpPr>
            <a:spLocks noChangeArrowheads="1"/>
          </p:cNvSpPr>
          <p:nvPr/>
        </p:nvSpPr>
        <p:spPr bwMode="auto">
          <a:xfrm>
            <a:off x="6692900" y="1611313"/>
            <a:ext cx="955675" cy="1479550"/>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grpSp>
        <p:nvGrpSpPr>
          <p:cNvPr id="130062" name="Group 21"/>
          <p:cNvGrpSpPr>
            <a:grpSpLocks/>
          </p:cNvGrpSpPr>
          <p:nvPr/>
        </p:nvGrpSpPr>
        <p:grpSpPr bwMode="auto">
          <a:xfrm>
            <a:off x="1508125" y="1528763"/>
            <a:ext cx="6278563" cy="82550"/>
            <a:chOff x="1020" y="481"/>
            <a:chExt cx="4037" cy="46"/>
          </a:xfrm>
        </p:grpSpPr>
        <p:sp>
          <p:nvSpPr>
            <p:cNvPr id="130099" name="Line 22"/>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100" name="Line 23"/>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0063" name="Rectangle 24"/>
          <p:cNvSpPr>
            <a:spLocks noChangeArrowheads="1"/>
          </p:cNvSpPr>
          <p:nvPr/>
        </p:nvSpPr>
        <p:spPr bwMode="auto">
          <a:xfrm>
            <a:off x="1598613" y="2703513"/>
            <a:ext cx="9683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FIN-</a:t>
            </a:r>
          </a:p>
          <a:p>
            <a:pPr algn="ctr" defTabSz="762000" eaLnBrk="0" hangingPunct="0"/>
            <a:r>
              <a:rPr kumimoji="1" lang="en-US" altLang="zh-CN" sz="1800">
                <a:solidFill>
                  <a:schemeClr val="folHlink"/>
                </a:solidFill>
                <a:latin typeface="Times New Roman" pitchFamily="18" charset="0"/>
                <a:ea typeface="黑体" pitchFamily="49" charset="-122"/>
              </a:rPr>
              <a:t>WAIT-1</a:t>
            </a:r>
          </a:p>
        </p:txBody>
      </p:sp>
      <p:sp>
        <p:nvSpPr>
          <p:cNvPr id="130064" name="Rectangle 25"/>
          <p:cNvSpPr>
            <a:spLocks noChangeArrowheads="1"/>
          </p:cNvSpPr>
          <p:nvPr/>
        </p:nvSpPr>
        <p:spPr bwMode="auto">
          <a:xfrm>
            <a:off x="6692900" y="3178175"/>
            <a:ext cx="955675" cy="877888"/>
          </a:xfrm>
          <a:prstGeom prst="rect">
            <a:avLst/>
          </a:prstGeom>
          <a:solidFill>
            <a:srgbClr val="FF66FF"/>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30065" name="Rectangle 26"/>
          <p:cNvSpPr>
            <a:spLocks noChangeArrowheads="1"/>
          </p:cNvSpPr>
          <p:nvPr/>
        </p:nvSpPr>
        <p:spPr bwMode="auto">
          <a:xfrm>
            <a:off x="6659563" y="3290888"/>
            <a:ext cx="9810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CLOSE-</a:t>
            </a:r>
          </a:p>
          <a:p>
            <a:pPr algn="ctr" defTabSz="762000" eaLnBrk="0" hangingPunct="0"/>
            <a:r>
              <a:rPr kumimoji="1" lang="en-US" altLang="zh-CN" sz="1800">
                <a:solidFill>
                  <a:schemeClr val="folHlink"/>
                </a:solidFill>
                <a:latin typeface="Times New Roman" pitchFamily="18" charset="0"/>
                <a:ea typeface="黑体" pitchFamily="49" charset="-122"/>
              </a:rPr>
              <a:t>WAIT</a:t>
            </a:r>
          </a:p>
        </p:txBody>
      </p:sp>
      <p:sp>
        <p:nvSpPr>
          <p:cNvPr id="130066" name="Rectangle 27"/>
          <p:cNvSpPr>
            <a:spLocks noChangeArrowheads="1"/>
          </p:cNvSpPr>
          <p:nvPr/>
        </p:nvSpPr>
        <p:spPr bwMode="auto">
          <a:xfrm>
            <a:off x="1606550" y="3995738"/>
            <a:ext cx="954088" cy="871537"/>
          </a:xfrm>
          <a:prstGeom prst="rect">
            <a:avLst/>
          </a:prstGeom>
          <a:solidFill>
            <a:srgbClr val="CCCC00"/>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30067" name="Rectangle 28"/>
          <p:cNvSpPr>
            <a:spLocks noChangeArrowheads="1"/>
          </p:cNvSpPr>
          <p:nvPr/>
        </p:nvSpPr>
        <p:spPr bwMode="auto">
          <a:xfrm>
            <a:off x="1598613" y="4049713"/>
            <a:ext cx="9683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FIN-</a:t>
            </a:r>
          </a:p>
          <a:p>
            <a:pPr algn="ctr" defTabSz="762000" eaLnBrk="0" hangingPunct="0"/>
            <a:r>
              <a:rPr kumimoji="1" lang="en-US" altLang="zh-CN" sz="1800">
                <a:solidFill>
                  <a:schemeClr val="folHlink"/>
                </a:solidFill>
                <a:latin typeface="Times New Roman" pitchFamily="18" charset="0"/>
                <a:ea typeface="黑体" pitchFamily="49" charset="-122"/>
              </a:rPr>
              <a:t>WAIT-2</a:t>
            </a:r>
          </a:p>
        </p:txBody>
      </p:sp>
      <p:sp>
        <p:nvSpPr>
          <p:cNvPr id="130068" name="Rectangle 29"/>
          <p:cNvSpPr>
            <a:spLocks noChangeArrowheads="1"/>
          </p:cNvSpPr>
          <p:nvPr/>
        </p:nvSpPr>
        <p:spPr bwMode="auto">
          <a:xfrm>
            <a:off x="6692900" y="4135438"/>
            <a:ext cx="955675" cy="1482725"/>
          </a:xfrm>
          <a:prstGeom prst="rect">
            <a:avLst/>
          </a:prstGeom>
          <a:solidFill>
            <a:srgbClr val="00FFFF"/>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30069" name="Rectangle 30"/>
          <p:cNvSpPr>
            <a:spLocks noChangeArrowheads="1"/>
          </p:cNvSpPr>
          <p:nvPr/>
        </p:nvSpPr>
        <p:spPr bwMode="auto">
          <a:xfrm>
            <a:off x="6734175" y="4556125"/>
            <a:ext cx="8286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LAST-</a:t>
            </a:r>
          </a:p>
          <a:p>
            <a:pPr algn="ctr" defTabSz="762000" eaLnBrk="0" hangingPunct="0"/>
            <a:r>
              <a:rPr kumimoji="1" lang="en-US" altLang="zh-CN" sz="1800">
                <a:solidFill>
                  <a:schemeClr val="folHlink"/>
                </a:solidFill>
                <a:latin typeface="Times New Roman" pitchFamily="18" charset="0"/>
                <a:ea typeface="黑体" pitchFamily="49" charset="-122"/>
              </a:rPr>
              <a:t>ACK</a:t>
            </a:r>
          </a:p>
        </p:txBody>
      </p:sp>
      <p:grpSp>
        <p:nvGrpSpPr>
          <p:cNvPr id="795706" name="Group 58"/>
          <p:cNvGrpSpPr>
            <a:grpSpLocks/>
          </p:cNvGrpSpPr>
          <p:nvPr/>
        </p:nvGrpSpPr>
        <p:grpSpPr bwMode="auto">
          <a:xfrm>
            <a:off x="395288" y="4891088"/>
            <a:ext cx="2165350" cy="1268412"/>
            <a:chOff x="249" y="3081"/>
            <a:chExt cx="1364" cy="799"/>
          </a:xfrm>
        </p:grpSpPr>
        <p:sp>
          <p:nvSpPr>
            <p:cNvPr id="130094" name="Rectangle 17"/>
            <p:cNvSpPr>
              <a:spLocks noChangeArrowheads="1"/>
            </p:cNvSpPr>
            <p:nvPr/>
          </p:nvSpPr>
          <p:spPr bwMode="auto">
            <a:xfrm>
              <a:off x="249" y="3081"/>
              <a:ext cx="806"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等待 </a:t>
              </a:r>
              <a:r>
                <a:rPr kumimoji="1" lang="en-US" altLang="zh-CN" sz="1800">
                  <a:solidFill>
                    <a:schemeClr val="folHlink"/>
                  </a:solidFill>
                  <a:latin typeface="Times New Roman" pitchFamily="18" charset="0"/>
                  <a:ea typeface="黑体" pitchFamily="49" charset="-122"/>
                </a:rPr>
                <a:t>2MSL</a:t>
              </a:r>
            </a:p>
          </p:txBody>
        </p:sp>
        <p:sp>
          <p:nvSpPr>
            <p:cNvPr id="130095" name="Rectangle 31"/>
            <p:cNvSpPr>
              <a:spLocks noChangeArrowheads="1"/>
            </p:cNvSpPr>
            <p:nvPr/>
          </p:nvSpPr>
          <p:spPr bwMode="auto">
            <a:xfrm>
              <a:off x="1012" y="3097"/>
              <a:ext cx="601" cy="779"/>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endParaRPr lang="zh-CN" altLang="en-US"/>
            </a:p>
          </p:txBody>
        </p:sp>
        <p:sp>
          <p:nvSpPr>
            <p:cNvPr id="130096" name="Rectangle 32"/>
            <p:cNvSpPr>
              <a:spLocks noChangeArrowheads="1"/>
            </p:cNvSpPr>
            <p:nvPr/>
          </p:nvSpPr>
          <p:spPr bwMode="auto">
            <a:xfrm>
              <a:off x="1055" y="3292"/>
              <a:ext cx="514" cy="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800">
                  <a:solidFill>
                    <a:schemeClr val="folHlink"/>
                  </a:solidFill>
                  <a:latin typeface="Times New Roman" pitchFamily="18" charset="0"/>
                  <a:ea typeface="黑体" pitchFamily="49" charset="-122"/>
                </a:rPr>
                <a:t>TIME-</a:t>
              </a:r>
            </a:p>
            <a:p>
              <a:pPr algn="ctr" defTabSz="762000" eaLnBrk="0" hangingPunct="0"/>
              <a:r>
                <a:rPr kumimoji="1" lang="en-US" altLang="zh-CN" sz="1800">
                  <a:solidFill>
                    <a:schemeClr val="folHlink"/>
                  </a:solidFill>
                  <a:latin typeface="Times New Roman" pitchFamily="18" charset="0"/>
                  <a:ea typeface="黑体" pitchFamily="49" charset="-122"/>
                </a:rPr>
                <a:t>WAIT</a:t>
              </a:r>
            </a:p>
          </p:txBody>
        </p:sp>
        <p:sp>
          <p:nvSpPr>
            <p:cNvPr id="130097" name="Freeform 35"/>
            <p:cNvSpPr>
              <a:spLocks/>
            </p:cNvSpPr>
            <p:nvPr/>
          </p:nvSpPr>
          <p:spPr bwMode="auto">
            <a:xfrm>
              <a:off x="255" y="3081"/>
              <a:ext cx="74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98" name="Text Box 36"/>
            <p:cNvSpPr txBox="1">
              <a:spLocks noChangeArrowheads="1"/>
            </p:cNvSpPr>
            <p:nvPr/>
          </p:nvSpPr>
          <p:spPr bwMode="auto">
            <a:xfrm>
              <a:off x="476" y="3208"/>
              <a:ext cx="373"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sz="3600">
                  <a:solidFill>
                    <a:schemeClr val="folHlink"/>
                  </a:solidFill>
                  <a:latin typeface="Times New Roman" pitchFamily="18" charset="0"/>
                  <a:ea typeface="黑体" pitchFamily="49" charset="-122"/>
                  <a:sym typeface="Wingdings" pitchFamily="2" charset="2"/>
                </a:rPr>
                <a:t></a:t>
              </a:r>
            </a:p>
          </p:txBody>
        </p:sp>
      </p:grpSp>
      <p:sp>
        <p:nvSpPr>
          <p:cNvPr id="130071" name="Rectangle 37"/>
          <p:cNvSpPr>
            <a:spLocks noChangeArrowheads="1"/>
          </p:cNvSpPr>
          <p:nvPr/>
        </p:nvSpPr>
        <p:spPr bwMode="auto">
          <a:xfrm>
            <a:off x="6692900" y="5708650"/>
            <a:ext cx="955675" cy="528638"/>
          </a:xfrm>
          <a:prstGeom prst="rect">
            <a:avLst/>
          </a:prstGeom>
          <a:solidFill>
            <a:srgbClr val="663300"/>
          </a:solidFill>
          <a:ln>
            <a:noFill/>
          </a:ln>
          <a:effectLst>
            <a:outerShdw dist="35921" dir="2700000" algn="ctr" rotWithShape="0">
              <a:schemeClr val="bg2"/>
            </a:outerShdw>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endParaRPr lang="zh-CN" altLang="en-US"/>
          </a:p>
        </p:txBody>
      </p:sp>
      <p:grpSp>
        <p:nvGrpSpPr>
          <p:cNvPr id="130072" name="Group 38"/>
          <p:cNvGrpSpPr>
            <a:grpSpLocks/>
          </p:cNvGrpSpPr>
          <p:nvPr/>
        </p:nvGrpSpPr>
        <p:grpSpPr bwMode="auto">
          <a:xfrm>
            <a:off x="498475" y="1257300"/>
            <a:ext cx="1403350" cy="1082675"/>
            <a:chOff x="314" y="792"/>
            <a:chExt cx="884" cy="682"/>
          </a:xfrm>
        </p:grpSpPr>
        <p:sp>
          <p:nvSpPr>
            <p:cNvPr id="130092" name="Freeform 39"/>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93" name="Rectangle 40"/>
            <p:cNvSpPr>
              <a:spLocks noChangeArrowheads="1"/>
            </p:cNvSpPr>
            <p:nvPr/>
          </p:nvSpPr>
          <p:spPr bwMode="auto">
            <a:xfrm>
              <a:off x="314" y="1227"/>
              <a:ext cx="69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主动关闭</a:t>
              </a:r>
            </a:p>
          </p:txBody>
        </p:sp>
      </p:grpSp>
      <p:sp>
        <p:nvSpPr>
          <p:cNvPr id="130073" name="Freeform 41"/>
          <p:cNvSpPr>
            <a:spLocks/>
          </p:cNvSpPr>
          <p:nvPr/>
        </p:nvSpPr>
        <p:spPr bwMode="auto">
          <a:xfrm>
            <a:off x="7412038" y="1190625"/>
            <a:ext cx="1408112" cy="2905125"/>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74" name="Rectangle 42"/>
          <p:cNvSpPr>
            <a:spLocks noChangeArrowheads="1"/>
          </p:cNvSpPr>
          <p:nvPr/>
        </p:nvSpPr>
        <p:spPr bwMode="auto">
          <a:xfrm>
            <a:off x="7707313" y="3660775"/>
            <a:ext cx="10953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被动关闭</a:t>
            </a:r>
          </a:p>
        </p:txBody>
      </p:sp>
      <p:sp>
        <p:nvSpPr>
          <p:cNvPr id="130075" name="Rectangle 43"/>
          <p:cNvSpPr>
            <a:spLocks noChangeArrowheads="1"/>
          </p:cNvSpPr>
          <p:nvPr/>
        </p:nvSpPr>
        <p:spPr bwMode="auto">
          <a:xfrm>
            <a:off x="4130675" y="1778000"/>
            <a:ext cx="1133475" cy="401638"/>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grpSp>
        <p:nvGrpSpPr>
          <p:cNvPr id="130076" name="Group 44"/>
          <p:cNvGrpSpPr>
            <a:grpSpLocks/>
          </p:cNvGrpSpPr>
          <p:nvPr/>
        </p:nvGrpSpPr>
        <p:grpSpPr bwMode="auto">
          <a:xfrm>
            <a:off x="7453313" y="1376363"/>
            <a:ext cx="1196975" cy="1789112"/>
            <a:chOff x="4695" y="867"/>
            <a:chExt cx="754" cy="1127"/>
          </a:xfrm>
        </p:grpSpPr>
        <p:sp>
          <p:nvSpPr>
            <p:cNvPr id="130090" name="Freeform 45"/>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91" name="Rectangle 46"/>
            <p:cNvSpPr>
              <a:spLocks noChangeArrowheads="1"/>
            </p:cNvSpPr>
            <p:nvPr/>
          </p:nvSpPr>
          <p:spPr bwMode="auto">
            <a:xfrm>
              <a:off x="5047" y="1120"/>
              <a:ext cx="402"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通知</a:t>
              </a:r>
            </a:p>
            <a:p>
              <a:pPr defTabSz="762000" eaLnBrk="0" hangingPunct="0"/>
              <a:r>
                <a:rPr kumimoji="1" lang="zh-CN" altLang="en-US" sz="1800">
                  <a:solidFill>
                    <a:schemeClr val="folHlink"/>
                  </a:solidFill>
                  <a:latin typeface="Times New Roman" pitchFamily="18" charset="0"/>
                  <a:ea typeface="黑体" pitchFamily="49" charset="-122"/>
                </a:rPr>
                <a:t>应用</a:t>
              </a:r>
            </a:p>
            <a:p>
              <a:pPr defTabSz="762000" eaLnBrk="0" hangingPunct="0"/>
              <a:r>
                <a:rPr kumimoji="1" lang="zh-CN" altLang="en-US" sz="1800">
                  <a:solidFill>
                    <a:schemeClr val="folHlink"/>
                  </a:solidFill>
                  <a:latin typeface="Times New Roman" pitchFamily="18" charset="0"/>
                  <a:ea typeface="黑体" pitchFamily="49" charset="-122"/>
                </a:rPr>
                <a:t>进程</a:t>
              </a:r>
            </a:p>
          </p:txBody>
        </p:sp>
      </p:grpSp>
      <p:sp>
        <p:nvSpPr>
          <p:cNvPr id="130077" name="Rectangle 47"/>
          <p:cNvSpPr>
            <a:spLocks noChangeArrowheads="1"/>
          </p:cNvSpPr>
          <p:nvPr/>
        </p:nvSpPr>
        <p:spPr bwMode="auto">
          <a:xfrm>
            <a:off x="1587500" y="1622425"/>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sp>
        <p:nvSpPr>
          <p:cNvPr id="130078" name="Rectangle 48"/>
          <p:cNvSpPr>
            <a:spLocks noChangeArrowheads="1"/>
          </p:cNvSpPr>
          <p:nvPr/>
        </p:nvSpPr>
        <p:spPr bwMode="auto">
          <a:xfrm>
            <a:off x="6673850" y="2058988"/>
            <a:ext cx="9937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ESTAB-</a:t>
            </a:r>
          </a:p>
          <a:p>
            <a:pPr defTabSz="762000" eaLnBrk="0" hangingPunct="0"/>
            <a:r>
              <a:rPr kumimoji="1" lang="en-US" altLang="zh-CN" sz="1800">
                <a:solidFill>
                  <a:schemeClr val="folHlink"/>
                </a:solidFill>
                <a:latin typeface="Times New Roman" pitchFamily="18" charset="0"/>
                <a:ea typeface="黑体" pitchFamily="49" charset="-122"/>
              </a:rPr>
              <a:t>LISHED</a:t>
            </a:r>
          </a:p>
        </p:txBody>
      </p:sp>
      <p:pic>
        <p:nvPicPr>
          <p:cNvPr id="130079" name="Picture 4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197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0080" name="Picture 5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8325" y="969963"/>
            <a:ext cx="50482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0081" name="Rectangle 51"/>
          <p:cNvSpPr>
            <a:spLocks noChangeArrowheads="1"/>
          </p:cNvSpPr>
          <p:nvPr/>
        </p:nvSpPr>
        <p:spPr bwMode="auto">
          <a:xfrm>
            <a:off x="2222500" y="938213"/>
            <a:ext cx="346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A</a:t>
            </a:r>
          </a:p>
        </p:txBody>
      </p:sp>
      <p:sp>
        <p:nvSpPr>
          <p:cNvPr id="130082" name="Rectangle 52"/>
          <p:cNvSpPr>
            <a:spLocks noChangeArrowheads="1"/>
          </p:cNvSpPr>
          <p:nvPr/>
        </p:nvSpPr>
        <p:spPr bwMode="auto">
          <a:xfrm>
            <a:off x="6723063" y="938213"/>
            <a:ext cx="3333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800">
                <a:solidFill>
                  <a:schemeClr val="folHlink"/>
                </a:solidFill>
                <a:latin typeface="Times New Roman" pitchFamily="18" charset="0"/>
                <a:ea typeface="黑体" pitchFamily="49" charset="-122"/>
              </a:rPr>
              <a:t>B</a:t>
            </a:r>
          </a:p>
        </p:txBody>
      </p:sp>
      <p:sp>
        <p:nvSpPr>
          <p:cNvPr id="130083" name="Rectangle 53"/>
          <p:cNvSpPr>
            <a:spLocks noChangeArrowheads="1"/>
          </p:cNvSpPr>
          <p:nvPr/>
        </p:nvSpPr>
        <p:spPr bwMode="auto">
          <a:xfrm>
            <a:off x="1766888" y="647700"/>
            <a:ext cx="6381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客户</a:t>
            </a:r>
          </a:p>
        </p:txBody>
      </p:sp>
      <p:sp>
        <p:nvSpPr>
          <p:cNvPr id="130084" name="Rectangle 54"/>
          <p:cNvSpPr>
            <a:spLocks noChangeArrowheads="1"/>
          </p:cNvSpPr>
          <p:nvPr/>
        </p:nvSpPr>
        <p:spPr bwMode="auto">
          <a:xfrm>
            <a:off x="6734175" y="647700"/>
            <a:ext cx="8667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服务器</a:t>
            </a:r>
          </a:p>
        </p:txBody>
      </p:sp>
      <p:sp>
        <p:nvSpPr>
          <p:cNvPr id="130085" name="Rectangle 55"/>
          <p:cNvSpPr>
            <a:spLocks noChangeArrowheads="1"/>
          </p:cNvSpPr>
          <p:nvPr/>
        </p:nvSpPr>
        <p:spPr bwMode="auto">
          <a:xfrm rot="-628888">
            <a:off x="4340225" y="3627438"/>
            <a:ext cx="1133475" cy="401637"/>
          </a:xfrm>
          <a:prstGeom prst="rect">
            <a:avLst/>
          </a:prstGeom>
          <a:solidFill>
            <a:srgbClr val="CCECFF"/>
          </a:solidFill>
          <a:ln w="38100" cmpd="dbl"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800">
                <a:solidFill>
                  <a:schemeClr val="folHlink"/>
                </a:solidFill>
                <a:latin typeface="Times New Roman" pitchFamily="18" charset="0"/>
                <a:ea typeface="黑体" pitchFamily="49" charset="-122"/>
              </a:rPr>
              <a:t>数据传送</a:t>
            </a:r>
          </a:p>
        </p:txBody>
      </p:sp>
      <p:sp>
        <p:nvSpPr>
          <p:cNvPr id="130086" name="Text Box 56"/>
          <p:cNvSpPr txBox="1">
            <a:spLocks noChangeArrowheads="1"/>
          </p:cNvSpPr>
          <p:nvPr/>
        </p:nvSpPr>
        <p:spPr bwMode="auto">
          <a:xfrm>
            <a:off x="6645275" y="5803900"/>
            <a:ext cx="971550" cy="336550"/>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r>
              <a:rPr kumimoji="1" lang="en-US" altLang="zh-CN" sz="1800">
                <a:solidFill>
                  <a:srgbClr val="FFFF99"/>
                </a:solidFill>
                <a:latin typeface="Times New Roman" pitchFamily="18" charset="0"/>
                <a:ea typeface="黑体" pitchFamily="49" charset="-122"/>
              </a:rPr>
              <a:t>CLOSED</a:t>
            </a:r>
          </a:p>
        </p:txBody>
      </p:sp>
      <p:sp>
        <p:nvSpPr>
          <p:cNvPr id="130087" name="Text Box 57"/>
          <p:cNvSpPr txBox="1">
            <a:spLocks noChangeArrowheads="1"/>
          </p:cNvSpPr>
          <p:nvPr/>
        </p:nvSpPr>
        <p:spPr bwMode="auto">
          <a:xfrm>
            <a:off x="2700338" y="115888"/>
            <a:ext cx="39576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5.9.2   TCP</a:t>
            </a:r>
            <a:r>
              <a:rPr lang="en-US" altLang="zh-CN" b="1">
                <a:solidFill>
                  <a:schemeClr val="folHlink"/>
                </a:solidFill>
                <a:latin typeface="Arial" pitchFamily="34" charset="0"/>
                <a:ea typeface="黑体" pitchFamily="49" charset="-122"/>
              </a:rPr>
              <a:t> </a:t>
            </a:r>
            <a:r>
              <a:rPr lang="zh-CN" altLang="en-US">
                <a:solidFill>
                  <a:schemeClr val="folHlink"/>
                </a:solidFill>
                <a:latin typeface="Arial" pitchFamily="34" charset="0"/>
                <a:ea typeface="黑体" pitchFamily="49" charset="-122"/>
              </a:rPr>
              <a:t>的连接释放 </a:t>
            </a:r>
          </a:p>
        </p:txBody>
      </p:sp>
      <p:sp>
        <p:nvSpPr>
          <p:cNvPr id="130088" name="Text Box 60"/>
          <p:cNvSpPr txBox="1">
            <a:spLocks noChangeArrowheads="1"/>
          </p:cNvSpPr>
          <p:nvPr/>
        </p:nvSpPr>
        <p:spPr bwMode="auto">
          <a:xfrm>
            <a:off x="684213" y="92075"/>
            <a:ext cx="7918450" cy="528638"/>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lvl1pPr eaLnBrk="0" hangingPunct="0">
              <a:defRPr sz="2800">
                <a:solidFill>
                  <a:schemeClr val="tx1"/>
                </a:solidFill>
                <a:latin typeface="Tahoma" pitchFamily="34" charset="0"/>
                <a:ea typeface="宋体" pitchFamily="2" charset="-122"/>
              </a:defRPr>
            </a:lvl1pPr>
            <a:lvl2pPr marL="742950" indent="-285750" eaLnBrk="0" hangingPunct="0">
              <a:defRPr sz="2800">
                <a:solidFill>
                  <a:schemeClr val="tx1"/>
                </a:solidFill>
                <a:latin typeface="Tahoma" pitchFamily="34" charset="0"/>
                <a:ea typeface="宋体" pitchFamily="2" charset="-122"/>
              </a:defRPr>
            </a:lvl2pPr>
            <a:lvl3pPr marL="1143000" indent="-228600" eaLnBrk="0" hangingPunct="0">
              <a:defRPr sz="2800">
                <a:solidFill>
                  <a:schemeClr val="tx1"/>
                </a:solidFill>
                <a:latin typeface="Tahoma" pitchFamily="34" charset="0"/>
                <a:ea typeface="宋体" pitchFamily="2" charset="-122"/>
              </a:defRPr>
            </a:lvl3pPr>
            <a:lvl4pPr marL="1600200" indent="-228600" eaLnBrk="0" hangingPunct="0">
              <a:defRPr sz="2800">
                <a:solidFill>
                  <a:schemeClr val="tx1"/>
                </a:solidFill>
                <a:latin typeface="Tahoma" pitchFamily="34" charset="0"/>
                <a:ea typeface="宋体" pitchFamily="2" charset="-122"/>
              </a:defRPr>
            </a:lvl4pPr>
            <a:lvl5pPr marL="2057400" indent="-228600" eaLnBrk="0" hangingPunct="0">
              <a:defRPr sz="28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Tahoma" pitchFamily="34" charset="0"/>
                <a:ea typeface="宋体" pitchFamily="2" charset="-122"/>
              </a:defRPr>
            </a:lvl9pPr>
          </a:lstStyle>
          <a:p>
            <a:pPr eaLnBrk="1" hangingPunct="1"/>
            <a:r>
              <a:rPr lang="en-US" altLang="zh-CN">
                <a:solidFill>
                  <a:schemeClr val="folHlink"/>
                </a:solidFill>
                <a:latin typeface="Arial" pitchFamily="34" charset="0"/>
                <a:ea typeface="黑体" pitchFamily="49" charset="-122"/>
              </a:rPr>
              <a:t>TCP </a:t>
            </a:r>
            <a:r>
              <a:rPr lang="zh-CN" altLang="en-US">
                <a:solidFill>
                  <a:schemeClr val="folHlink"/>
                </a:solidFill>
                <a:latin typeface="Arial" pitchFamily="34" charset="0"/>
                <a:ea typeface="黑体" pitchFamily="49" charset="-122"/>
              </a:rPr>
              <a:t>连接必须经过时间 </a:t>
            </a:r>
            <a:r>
              <a:rPr lang="en-US" altLang="zh-CN">
                <a:solidFill>
                  <a:schemeClr val="folHlink"/>
                </a:solidFill>
                <a:latin typeface="Arial" pitchFamily="34" charset="0"/>
                <a:ea typeface="黑体" pitchFamily="49" charset="-122"/>
              </a:rPr>
              <a:t>2MSL </a:t>
            </a:r>
            <a:r>
              <a:rPr lang="zh-CN" altLang="en-US">
                <a:solidFill>
                  <a:schemeClr val="folHlink"/>
                </a:solidFill>
                <a:latin typeface="Arial" pitchFamily="34" charset="0"/>
                <a:ea typeface="黑体" pitchFamily="49" charset="-122"/>
              </a:rPr>
              <a:t>后才真正释放掉。 </a:t>
            </a:r>
          </a:p>
        </p:txBody>
      </p:sp>
      <p:sp>
        <p:nvSpPr>
          <p:cNvPr id="130089" name="矩形 1"/>
          <p:cNvSpPr>
            <a:spLocks noChangeArrowheads="1"/>
          </p:cNvSpPr>
          <p:nvPr/>
        </p:nvSpPr>
        <p:spPr bwMode="auto">
          <a:xfrm>
            <a:off x="3000375" y="6219825"/>
            <a:ext cx="59293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t>MSL</a:t>
            </a:r>
            <a:r>
              <a:rPr lang="zh-CN" altLang="en-US" sz="1800"/>
              <a:t>为“报文最大生存时间”，他是任何报文在网络上存在的最长时间，超过这个时间报文将被丢弃。</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795706"/>
                                        </p:tgtEl>
                                        <p:attrNameLst>
                                          <p:attrName>style.visibility</p:attrName>
                                        </p:attrNameLst>
                                      </p:cBhvr>
                                      <p:to>
                                        <p:strVal val="visible"/>
                                      </p:to>
                                    </p:set>
                                    <p:animEffect transition="in" filter="wipe(up)">
                                      <p:cBhvr>
                                        <p:cTn id="7" dur="1000"/>
                                        <p:tgtEl>
                                          <p:spTgt spid="795706"/>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795707"/>
                                        </p:tgtEl>
                                        <p:attrNameLst>
                                          <p:attrName>style.visibility</p:attrName>
                                        </p:attrNameLst>
                                      </p:cBhvr>
                                      <p:to>
                                        <p:strVal val="visible"/>
                                      </p:to>
                                    </p:set>
                                    <p:animEffect transition="in" filter="wipe(up)">
                                      <p:cBhvr>
                                        <p:cTn id="11" dur="500"/>
                                        <p:tgtEl>
                                          <p:spTgt spid="795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11868</TotalTime>
  <Words>10169</Words>
  <Application>Microsoft Office PowerPoint</Application>
  <PresentationFormat>全屏显示(4:3)</PresentationFormat>
  <Paragraphs>2256</Paragraphs>
  <Slides>125</Slides>
  <Notes>100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125</vt:i4>
      </vt:variant>
    </vt:vector>
  </HeadingPairs>
  <TitlesOfParts>
    <vt:vector size="136" baseType="lpstr">
      <vt:lpstr>Arial Unicode MS</vt:lpstr>
      <vt:lpstr>黑体</vt:lpstr>
      <vt:lpstr>宋体</vt:lpstr>
      <vt:lpstr>Arial</vt:lpstr>
      <vt:lpstr>Symbol</vt:lpstr>
      <vt:lpstr>Tahoma</vt:lpstr>
      <vt:lpstr>Times New Roman</vt:lpstr>
      <vt:lpstr>Wingdings</vt:lpstr>
      <vt:lpstr>Blends</vt:lpstr>
      <vt:lpstr>VISIO</vt:lpstr>
      <vt:lpstr>公式</vt:lpstr>
      <vt:lpstr>计算机网络</vt:lpstr>
      <vt:lpstr>第 5 章  运输层</vt:lpstr>
      <vt:lpstr>第 5 章  运输层（续）</vt:lpstr>
      <vt:lpstr>第 5 章  运输层（续）</vt:lpstr>
      <vt:lpstr>第 5 章  运输层（续）</vt:lpstr>
      <vt:lpstr>5.1 运输层协议概述 5.1.1  进程之间的通信</vt:lpstr>
      <vt:lpstr>运输层为相互通信的应用进程提供了逻辑通信 </vt:lpstr>
      <vt:lpstr>应用进程之间的通信</vt:lpstr>
      <vt:lpstr>运输层协议和网络层协议的主要区别 </vt:lpstr>
      <vt:lpstr>运输层的主要功能 </vt:lpstr>
      <vt:lpstr>两种不同的运输协议</vt:lpstr>
      <vt:lpstr>5.1.2 运输层的两个主要协议 </vt:lpstr>
      <vt:lpstr>TCP 与 UDP </vt:lpstr>
      <vt:lpstr>TCP/IP 体系中的运输层协议 </vt:lpstr>
      <vt:lpstr>TCP 与 UDP </vt:lpstr>
      <vt:lpstr>还要强调两点 </vt:lpstr>
      <vt:lpstr>5.1.3  运输层的端口 </vt:lpstr>
      <vt:lpstr>端口号(protocol port number) 简称为端口(port)</vt:lpstr>
      <vt:lpstr>软件端口与硬件端口</vt:lpstr>
      <vt:lpstr>TCP 的端口 </vt:lpstr>
      <vt:lpstr>三类端口 </vt:lpstr>
      <vt:lpstr>5.2  用户数据报协议 UDP  5.2.1  UDP 概述 </vt:lpstr>
      <vt:lpstr>UDP 的主要特点 </vt:lpstr>
      <vt:lpstr>面向报文的 UDP</vt:lpstr>
      <vt:lpstr>UDP 是面向报文的 </vt:lpstr>
      <vt:lpstr>5.2.2  UDP 的首部格式 </vt:lpstr>
      <vt:lpstr>UDP 基于端口的分用 </vt:lpstr>
      <vt:lpstr>PowerPoint 演示文稿</vt:lpstr>
      <vt:lpstr>PowerPoint 演示文稿</vt:lpstr>
      <vt:lpstr>计算 UDP 检验和的例子 </vt:lpstr>
      <vt:lpstr>思考</vt:lpstr>
      <vt:lpstr>5.3   传输控制协议 TCP 概述  5.3.1  TCP 最主要的特点 </vt:lpstr>
      <vt:lpstr>TCP 面向字节流的概念 </vt:lpstr>
      <vt:lpstr>应当注意</vt:lpstr>
      <vt:lpstr>5.3.2  TCP 的连接 </vt:lpstr>
      <vt:lpstr>套接字 (socket)</vt:lpstr>
      <vt:lpstr>同一个名词 socket 有多种不同的意思 </vt:lpstr>
      <vt:lpstr>5.4  可靠传输的工作原理 5.4.1  停止等待协议 </vt:lpstr>
      <vt:lpstr>请注意</vt:lpstr>
      <vt:lpstr>确认丢失和确认迟到 </vt:lpstr>
      <vt:lpstr>可靠通信的实现</vt:lpstr>
      <vt:lpstr>信道利用率 </vt:lpstr>
      <vt:lpstr>信道的利用率 U </vt:lpstr>
      <vt:lpstr>流水线传输 </vt:lpstr>
      <vt:lpstr>5.4.2  连续 ARQ 协议 </vt:lpstr>
      <vt:lpstr>累积确认 </vt:lpstr>
      <vt:lpstr>Go-back-N（回退 N） </vt:lpstr>
      <vt:lpstr>TCP 可靠通信的具体实现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窗口字段 —— 占 2 字节，用来让对方设置发送窗口的依据，单位为字节。</vt:lpstr>
      <vt:lpstr>PowerPoint 演示文稿</vt:lpstr>
      <vt:lpstr>PowerPoint 演示文稿</vt:lpstr>
      <vt:lpstr>PowerPoint 演示文稿</vt:lpstr>
      <vt:lpstr>其他选项196</vt:lpstr>
      <vt:lpstr>PowerPoint 演示文稿</vt:lpstr>
      <vt:lpstr>5.6  TCP 可靠传输的实现 5.6.1 以字节为单位的滑动窗口</vt:lpstr>
      <vt:lpstr>PowerPoint 演示文稿</vt:lpstr>
      <vt:lpstr>PowerPoint 演示文稿</vt:lpstr>
      <vt:lpstr>PowerPoint 演示文稿</vt:lpstr>
      <vt:lpstr>发送缓存 p199</vt:lpstr>
      <vt:lpstr>接收缓存</vt:lpstr>
      <vt:lpstr>PowerPoint 演示文稿</vt:lpstr>
      <vt:lpstr>发送缓存与接收缓存的作用</vt:lpstr>
      <vt:lpstr>需要强调三点</vt:lpstr>
      <vt:lpstr>5.6.2  超时重传时间的选择</vt:lpstr>
      <vt:lpstr>往返时延的方差很大</vt:lpstr>
      <vt:lpstr>加权平均往返时间</vt:lpstr>
      <vt:lpstr>超时重传时间 RTO (RetransmissionTime-Out) </vt:lpstr>
      <vt:lpstr>往返时间的测量相当复杂 </vt:lpstr>
      <vt:lpstr>Karn 算法 </vt:lpstr>
      <vt:lpstr>修正的 Karn 算法 202</vt:lpstr>
      <vt:lpstr>5.6.3  选择确认 SACK (Selective ACK) </vt:lpstr>
      <vt:lpstr>接收到的字节流序号不连续 </vt:lpstr>
      <vt:lpstr>5.7  TCP 的流量控制 5.7.1  利用滑动窗口实现流量控制</vt:lpstr>
      <vt:lpstr>流量控制举例</vt:lpstr>
      <vt:lpstr>持续计时器 (persistence timer)。</vt:lpstr>
      <vt:lpstr>5.8   TCP的拥塞控制 5.8.1  拥塞控制的一般原理 </vt:lpstr>
      <vt:lpstr>拥塞控制与流量控制的关系 </vt:lpstr>
      <vt:lpstr>拥塞控制所起的作用207 </vt:lpstr>
      <vt:lpstr>死锁</vt:lpstr>
      <vt:lpstr>PowerPoint 演示文稿</vt:lpstr>
      <vt:lpstr>开环控制和闭环控制 </vt:lpstr>
      <vt:lpstr>5.8.2  几种拥塞控制方法 1.  慢开始和拥塞避免</vt:lpstr>
      <vt:lpstr>慢开始算法的原理 </vt:lpstr>
      <vt:lpstr>PowerPoint 演示文稿</vt:lpstr>
      <vt:lpstr>传输轮次 (transmission round)</vt:lpstr>
      <vt:lpstr>设置慢开始门限状态变量ssthresh</vt:lpstr>
      <vt:lpstr>当网络出现拥塞时</vt:lpstr>
      <vt:lpstr>慢开始和拥塞避免算法的实现举例 </vt:lpstr>
      <vt:lpstr>慢开始和拥塞避免算法的实现举例 </vt:lpstr>
      <vt:lpstr>慢开始和拥塞避免算法的实现举例 </vt:lpstr>
      <vt:lpstr>乘法减小 (multiplicative decrease) </vt:lpstr>
      <vt:lpstr>加法增大 (additive increase) </vt:lpstr>
      <vt:lpstr>2.  快重传和快恢复</vt:lpstr>
      <vt:lpstr>快重传举例</vt:lpstr>
      <vt:lpstr>快恢复算法 </vt:lpstr>
      <vt:lpstr>从连续收到三个重复的确认 转入拥塞避免 </vt:lpstr>
      <vt:lpstr>发送窗口的上限值</vt:lpstr>
      <vt:lpstr>5.8.3  随机早期检测 RED (Random Early Detection) </vt:lpstr>
      <vt:lpstr>RED 将路由器的到达队列 划分成为三个区域 </vt:lpstr>
      <vt:lpstr>丢弃概率 p 与 THmin 和 Thmax 的关系 </vt:lpstr>
      <vt:lpstr>5-9    TCP 的运输连接管理 1.  运输连接的三个阶段 </vt:lpstr>
      <vt:lpstr>客户服务器方式 </vt:lpstr>
      <vt:lpstr> 用三次握手建立 TCP 连接 </vt:lpstr>
      <vt:lpstr> 用三次握手建立 TCP 连接 </vt:lpstr>
      <vt:lpstr>PowerPoint 演示文稿</vt:lpstr>
      <vt:lpstr>PowerPoint 演示文稿</vt:lpstr>
      <vt:lpstr> 用三次握手建立 TCP 连接的各状态 </vt:lpstr>
      <vt:lpstr>PowerPoint 演示文稿</vt:lpstr>
      <vt:lpstr>PowerPoint 演示文稿</vt:lpstr>
      <vt:lpstr>PowerPoint 演示文稿</vt:lpstr>
      <vt:lpstr>PowerPoint 演示文稿</vt:lpstr>
      <vt:lpstr>PowerPoint 演示文稿</vt:lpstr>
      <vt:lpstr>PowerPoint 演示文稿</vt:lpstr>
    </vt:vector>
  </TitlesOfParts>
  <Company>NICE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Administrator</cp:lastModifiedBy>
  <cp:revision>709</cp:revision>
  <dcterms:created xsi:type="dcterms:W3CDTF">2004-03-02T12:35:10Z</dcterms:created>
  <dcterms:modified xsi:type="dcterms:W3CDTF">2023-11-21T11:03:22Z</dcterms:modified>
</cp:coreProperties>
</file>