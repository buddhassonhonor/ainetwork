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2"/>
  </p:notesMasterIdLst>
  <p:sldIdLst>
    <p:sldId id="267" r:id="rId2"/>
    <p:sldId id="257" r:id="rId3"/>
    <p:sldId id="258" r:id="rId4"/>
    <p:sldId id="259" r:id="rId5"/>
    <p:sldId id="261" r:id="rId6"/>
    <p:sldId id="283" r:id="rId7"/>
    <p:sldId id="329" r:id="rId8"/>
    <p:sldId id="330" r:id="rId9"/>
    <p:sldId id="262" r:id="rId10"/>
    <p:sldId id="263" r:id="rId11"/>
    <p:sldId id="264" r:id="rId12"/>
    <p:sldId id="276" r:id="rId13"/>
    <p:sldId id="277" r:id="rId14"/>
    <p:sldId id="275" r:id="rId15"/>
    <p:sldId id="268" r:id="rId16"/>
    <p:sldId id="284" r:id="rId17"/>
    <p:sldId id="280" r:id="rId18"/>
    <p:sldId id="269" r:id="rId19"/>
    <p:sldId id="285" r:id="rId20"/>
    <p:sldId id="271" r:id="rId21"/>
    <p:sldId id="286" r:id="rId22"/>
    <p:sldId id="333" r:id="rId23"/>
    <p:sldId id="334" r:id="rId24"/>
    <p:sldId id="335" r:id="rId25"/>
    <p:sldId id="336" r:id="rId26"/>
    <p:sldId id="337" r:id="rId27"/>
    <p:sldId id="338" r:id="rId28"/>
    <p:sldId id="339" r:id="rId29"/>
    <p:sldId id="309" r:id="rId30"/>
    <p:sldId id="310" r:id="rId31"/>
    <p:sldId id="302" r:id="rId32"/>
    <p:sldId id="311" r:id="rId33"/>
    <p:sldId id="314" r:id="rId34"/>
    <p:sldId id="313" r:id="rId35"/>
    <p:sldId id="315" r:id="rId36"/>
    <p:sldId id="316" r:id="rId37"/>
    <p:sldId id="340" r:id="rId38"/>
    <p:sldId id="365" r:id="rId39"/>
    <p:sldId id="363" r:id="rId40"/>
    <p:sldId id="318" r:id="rId41"/>
    <p:sldId id="364" r:id="rId42"/>
    <p:sldId id="317" r:id="rId43"/>
    <p:sldId id="319" r:id="rId44"/>
    <p:sldId id="320" r:id="rId45"/>
    <p:sldId id="362" r:id="rId46"/>
    <p:sldId id="341" r:id="rId47"/>
    <p:sldId id="344" r:id="rId48"/>
    <p:sldId id="357" r:id="rId49"/>
    <p:sldId id="358" r:id="rId50"/>
    <p:sldId id="360" r:id="rId51"/>
    <p:sldId id="345" r:id="rId52"/>
    <p:sldId id="359" r:id="rId53"/>
    <p:sldId id="348" r:id="rId54"/>
    <p:sldId id="361" r:id="rId55"/>
    <p:sldId id="349" r:id="rId56"/>
    <p:sldId id="350" r:id="rId57"/>
    <p:sldId id="351" r:id="rId58"/>
    <p:sldId id="353" r:id="rId59"/>
    <p:sldId id="356" r:id="rId60"/>
    <p:sldId id="366" r:id="rId61"/>
  </p:sldIdLst>
  <p:sldSz cx="9144000" cy="6858000" type="screen4x3"/>
  <p:notesSz cx="6858000" cy="9144000"/>
  <p:defaultTextStyle>
    <a:defPPr>
      <a:defRPr lang="zh-CN"/>
    </a:defPPr>
    <a:lvl1pPr algn="ctr" rtl="0" fontAlgn="base">
      <a:spcBef>
        <a:spcPct val="0"/>
      </a:spcBef>
      <a:spcAft>
        <a:spcPct val="0"/>
      </a:spcAft>
      <a:defRPr sz="2400" kern="1200">
        <a:solidFill>
          <a:schemeClr val="tx1"/>
        </a:solidFill>
        <a:latin typeface="Tahoma" pitchFamily="34" charset="0"/>
        <a:ea typeface="宋体" pitchFamily="2" charset="-122"/>
        <a:cs typeface="+mn-cs"/>
      </a:defRPr>
    </a:lvl1pPr>
    <a:lvl2pPr marL="457200" algn="ctr" rtl="0" fontAlgn="base">
      <a:spcBef>
        <a:spcPct val="0"/>
      </a:spcBef>
      <a:spcAft>
        <a:spcPct val="0"/>
      </a:spcAft>
      <a:defRPr sz="2400" kern="1200">
        <a:solidFill>
          <a:schemeClr val="tx1"/>
        </a:solidFill>
        <a:latin typeface="Tahoma" pitchFamily="34" charset="0"/>
        <a:ea typeface="宋体" pitchFamily="2" charset="-122"/>
        <a:cs typeface="+mn-cs"/>
      </a:defRPr>
    </a:lvl2pPr>
    <a:lvl3pPr marL="914400" algn="ctr" rtl="0" fontAlgn="base">
      <a:spcBef>
        <a:spcPct val="0"/>
      </a:spcBef>
      <a:spcAft>
        <a:spcPct val="0"/>
      </a:spcAft>
      <a:defRPr sz="2400" kern="1200">
        <a:solidFill>
          <a:schemeClr val="tx1"/>
        </a:solidFill>
        <a:latin typeface="Tahoma" pitchFamily="34" charset="0"/>
        <a:ea typeface="宋体" pitchFamily="2" charset="-122"/>
        <a:cs typeface="+mn-cs"/>
      </a:defRPr>
    </a:lvl3pPr>
    <a:lvl4pPr marL="1371600" algn="ctr" rtl="0" fontAlgn="base">
      <a:spcBef>
        <a:spcPct val="0"/>
      </a:spcBef>
      <a:spcAft>
        <a:spcPct val="0"/>
      </a:spcAft>
      <a:defRPr sz="2400" kern="1200">
        <a:solidFill>
          <a:schemeClr val="tx1"/>
        </a:solidFill>
        <a:latin typeface="Tahoma" pitchFamily="34" charset="0"/>
        <a:ea typeface="宋体" pitchFamily="2" charset="-122"/>
        <a:cs typeface="+mn-cs"/>
      </a:defRPr>
    </a:lvl4pPr>
    <a:lvl5pPr marL="1828800" algn="ctr" rtl="0" fontAlgn="base">
      <a:spcBef>
        <a:spcPct val="0"/>
      </a:spcBef>
      <a:spcAft>
        <a:spcPct val="0"/>
      </a:spcAft>
      <a:defRPr sz="2400" kern="1200">
        <a:solidFill>
          <a:schemeClr val="tx1"/>
        </a:solidFill>
        <a:latin typeface="Tahoma" pitchFamily="34" charset="0"/>
        <a:ea typeface="宋体" pitchFamily="2" charset="-122"/>
        <a:cs typeface="+mn-cs"/>
      </a:defRPr>
    </a:lvl5pPr>
    <a:lvl6pPr marL="2286000" algn="l" defTabSz="914400" rtl="0" eaLnBrk="1" latinLnBrk="0" hangingPunct="1">
      <a:defRPr sz="2400" kern="1200">
        <a:solidFill>
          <a:schemeClr val="tx1"/>
        </a:solidFill>
        <a:latin typeface="Tahoma" pitchFamily="34" charset="0"/>
        <a:ea typeface="宋体" pitchFamily="2" charset="-122"/>
        <a:cs typeface="+mn-cs"/>
      </a:defRPr>
    </a:lvl6pPr>
    <a:lvl7pPr marL="2743200" algn="l" defTabSz="914400" rtl="0" eaLnBrk="1" latinLnBrk="0" hangingPunct="1">
      <a:defRPr sz="2400" kern="1200">
        <a:solidFill>
          <a:schemeClr val="tx1"/>
        </a:solidFill>
        <a:latin typeface="Tahoma" pitchFamily="34" charset="0"/>
        <a:ea typeface="宋体" pitchFamily="2" charset="-122"/>
        <a:cs typeface="+mn-cs"/>
      </a:defRPr>
    </a:lvl7pPr>
    <a:lvl8pPr marL="3200400" algn="l" defTabSz="914400" rtl="0" eaLnBrk="1" latinLnBrk="0" hangingPunct="1">
      <a:defRPr sz="2400" kern="1200">
        <a:solidFill>
          <a:schemeClr val="tx1"/>
        </a:solidFill>
        <a:latin typeface="Tahoma" pitchFamily="34" charset="0"/>
        <a:ea typeface="宋体" pitchFamily="2" charset="-122"/>
        <a:cs typeface="+mn-cs"/>
      </a:defRPr>
    </a:lvl8pPr>
    <a:lvl9pPr marL="3657600" algn="l" defTabSz="914400" rtl="0" eaLnBrk="1" latinLnBrk="0" hangingPunct="1">
      <a:defRPr sz="2400"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CCECFF"/>
    <a:srgbClr val="66FF99"/>
    <a:srgbClr val="66FF66"/>
    <a:srgbClr val="FFFF66"/>
    <a:srgbClr val="333399"/>
    <a:srgbClr val="CC9900"/>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06" autoAdjust="0"/>
    <p:restoredTop sz="94588" autoAdjust="0"/>
  </p:normalViewPr>
  <p:slideViewPr>
    <p:cSldViewPr>
      <p:cViewPr varScale="1">
        <p:scale>
          <a:sx n="91" d="100"/>
          <a:sy n="91" d="100"/>
        </p:scale>
        <p:origin x="1572"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862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715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Arial" charset="0"/>
              </a:defRPr>
            </a:lvl1pPr>
          </a:lstStyle>
          <a:p>
            <a:pPr>
              <a:defRPr/>
            </a:pPr>
            <a:endParaRPr lang="en-US" altLang="zh-CN"/>
          </a:p>
        </p:txBody>
      </p:sp>
      <p:sp>
        <p:nvSpPr>
          <p:cNvPr id="17715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645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715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7715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Arial" charset="0"/>
              </a:defRPr>
            </a:lvl1pPr>
          </a:lstStyle>
          <a:p>
            <a:pPr>
              <a:defRPr/>
            </a:pPr>
            <a:endParaRPr lang="en-US" altLang="zh-CN"/>
          </a:p>
        </p:txBody>
      </p:sp>
      <p:sp>
        <p:nvSpPr>
          <p:cNvPr id="17715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37386AEE-B106-4FDA-B016-9B3DFFE2EC2C}" type="slidenum">
              <a:rPr lang="en-US" altLang="zh-CN"/>
              <a:pPr>
                <a:defRPr/>
              </a:pPr>
              <a:t>‹#›</a:t>
            </a:fld>
            <a:endParaRPr lang="en-US" altLang="zh-CN"/>
          </a:p>
        </p:txBody>
      </p:sp>
    </p:spTree>
    <p:extLst>
      <p:ext uri="{BB962C8B-B14F-4D97-AF65-F5344CB8AC3E}">
        <p14:creationId xmlns:p14="http://schemas.microsoft.com/office/powerpoint/2010/main" val="8136208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AFE5F96C-2408-494B-8DB0-1CC362296BC0}" type="slidenum">
              <a:rPr lang="en-US" altLang="zh-CN" sz="1200" smtClean="0">
                <a:latin typeface="Arial" pitchFamily="34" charset="0"/>
              </a:rPr>
              <a:pPr eaLnBrk="1" hangingPunct="1"/>
              <a:t>1</a:t>
            </a:fld>
            <a:endParaRPr lang="en-US" altLang="zh-CN" sz="1200" smtClean="0">
              <a:latin typeface="Arial" pitchFamily="34"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21641D90-4DFC-4664-A4DB-309F1195E64A}" type="slidenum">
              <a:rPr lang="en-US" altLang="zh-CN" sz="1200" smtClean="0">
                <a:latin typeface="Arial" pitchFamily="34" charset="0"/>
              </a:rPr>
              <a:pPr eaLnBrk="1" hangingPunct="1"/>
              <a:t>2</a:t>
            </a:fld>
            <a:endParaRPr lang="en-US" altLang="zh-CN" sz="1200" smtClean="0">
              <a:latin typeface="Arial" pitchFamily="3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FC0DE288-C42E-4154-A608-150737283156}" type="slidenum">
              <a:rPr lang="en-US" altLang="zh-CN" sz="1200" smtClean="0">
                <a:latin typeface="Arial" pitchFamily="34" charset="0"/>
              </a:rPr>
              <a:pPr eaLnBrk="1" hangingPunct="1"/>
              <a:t>3</a:t>
            </a:fld>
            <a:endParaRPr lang="en-US" altLang="zh-CN" sz="1200" smtClean="0">
              <a:latin typeface="Arial" pitchFamily="34"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978E16E2-AA49-42C9-8312-908ADD8C2805}" type="slidenum">
              <a:rPr lang="en-US" altLang="zh-CN" sz="1200" smtClean="0">
                <a:latin typeface="Arial" pitchFamily="34" charset="0"/>
              </a:rPr>
              <a:pPr eaLnBrk="1" hangingPunct="1"/>
              <a:t>4</a:t>
            </a:fld>
            <a:endParaRPr lang="en-US" altLang="zh-CN" sz="1200" smtClean="0">
              <a:latin typeface="Arial"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64DA3508-22ED-4DB1-8EBA-A26139768498}" type="slidenum">
              <a:rPr lang="en-US" altLang="zh-CN" sz="1200" smtClean="0">
                <a:latin typeface="Arial" pitchFamily="34" charset="0"/>
              </a:rPr>
              <a:pPr eaLnBrk="1" hangingPunct="1"/>
              <a:t>5</a:t>
            </a:fld>
            <a:endParaRPr lang="en-US" altLang="zh-CN" sz="1200" smtClean="0">
              <a:latin typeface="Arial" pitchFamily="34"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6684BC34-87CC-403E-8ECF-48349CA3AF79}" type="slidenum">
              <a:rPr lang="en-US" altLang="zh-CN" sz="1200" smtClean="0">
                <a:latin typeface="Arial" pitchFamily="34" charset="0"/>
              </a:rPr>
              <a:pPr eaLnBrk="1" hangingPunct="1"/>
              <a:t>6</a:t>
            </a:fld>
            <a:endParaRPr lang="en-US" altLang="zh-CN" sz="1200" smtClean="0">
              <a:latin typeface="Arial" pitchFamily="34"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13F72CB5-104F-484B-842F-9055D49E5CDF}" type="slidenum">
              <a:rPr lang="en-US" altLang="zh-CN" sz="1200" smtClean="0">
                <a:latin typeface="Arial" pitchFamily="34" charset="0"/>
              </a:rPr>
              <a:pPr eaLnBrk="1" hangingPunct="1"/>
              <a:t>7</a:t>
            </a:fld>
            <a:endParaRPr lang="en-US" altLang="zh-CN" sz="1200" smtClean="0">
              <a:latin typeface="Arial" pitchFamily="34"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679DA8C4-16E6-4450-B985-4CAFB0AAFF0A}" type="slidenum">
              <a:rPr lang="en-US" altLang="zh-CN" sz="1200" smtClean="0">
                <a:latin typeface="Arial" pitchFamily="34" charset="0"/>
              </a:rPr>
              <a:pPr eaLnBrk="1" hangingPunct="1"/>
              <a:t>8</a:t>
            </a:fld>
            <a:endParaRPr lang="en-US" altLang="zh-CN" sz="1200" smtClean="0">
              <a:latin typeface="Arial"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E51C3E8A-7098-4578-92E7-FA93B79191EF}" type="slidenum">
              <a:rPr lang="en-US" altLang="zh-CN" sz="1200" smtClean="0">
                <a:latin typeface="Arial" pitchFamily="34" charset="0"/>
              </a:rPr>
              <a:pPr eaLnBrk="1" hangingPunct="1"/>
              <a:t>9</a:t>
            </a:fld>
            <a:endParaRPr lang="en-US" altLang="zh-CN" sz="1200" smtClean="0">
              <a:latin typeface="Arial" pitchFamily="34"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6B9B5CD3-2AE4-42A6-A908-857FA6951B27}" type="slidenum">
              <a:rPr lang="en-US" altLang="zh-CN" sz="1200" smtClean="0">
                <a:latin typeface="Arial" pitchFamily="34" charset="0"/>
              </a:rPr>
              <a:pPr eaLnBrk="1" hangingPunct="1"/>
              <a:t>10</a:t>
            </a:fld>
            <a:endParaRPr lang="en-US" altLang="zh-CN" sz="1200" smtClean="0">
              <a:latin typeface="Arial"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818CD23B-3BA7-4481-BC91-45F4FFAC96F3}" type="slidenum">
              <a:rPr lang="en-US" altLang="zh-CN" sz="1200" smtClean="0">
                <a:latin typeface="Arial" pitchFamily="34" charset="0"/>
              </a:rPr>
              <a:pPr eaLnBrk="1" hangingPunct="1"/>
              <a:t>11</a:t>
            </a:fld>
            <a:endParaRPr lang="en-US" altLang="zh-CN" sz="1200" smtClean="0">
              <a:latin typeface="Arial" pitchFamily="34"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D42A9B9E-599C-4EF3-B2B0-E250046BF363}" type="slidenum">
              <a:rPr lang="en-US" altLang="zh-CN" sz="1200" smtClean="0">
                <a:latin typeface="Arial" pitchFamily="34" charset="0"/>
              </a:rPr>
              <a:pPr eaLnBrk="1" hangingPunct="1"/>
              <a:t>12</a:t>
            </a:fld>
            <a:endParaRPr lang="en-US" altLang="zh-CN" sz="1200" smtClean="0">
              <a:latin typeface="Arial" pitchFamily="34"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8B2F56B2-59D3-4640-B22D-FA6F3E60FE35}" type="slidenum">
              <a:rPr lang="en-US" altLang="zh-CN" sz="1200" smtClean="0">
                <a:latin typeface="Arial" pitchFamily="34" charset="0"/>
              </a:rPr>
              <a:pPr eaLnBrk="1" hangingPunct="1"/>
              <a:t>13</a:t>
            </a:fld>
            <a:endParaRPr lang="en-US" altLang="zh-CN" sz="1200" smtClean="0">
              <a:latin typeface="Arial" pitchFamily="34"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143C9BF9-BC7C-4F49-91CB-A183F223BC81}" type="slidenum">
              <a:rPr lang="en-US" altLang="zh-CN" sz="1200" smtClean="0">
                <a:latin typeface="Arial" pitchFamily="34" charset="0"/>
              </a:rPr>
              <a:pPr eaLnBrk="1" hangingPunct="1"/>
              <a:t>14</a:t>
            </a:fld>
            <a:endParaRPr lang="en-US" altLang="zh-CN" sz="1200" smtClean="0">
              <a:latin typeface="Arial" pitchFamily="34"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B4D1D0C8-6333-47EE-9F3E-3536A88BFAA8}" type="slidenum">
              <a:rPr lang="en-US" altLang="zh-CN" sz="1200" smtClean="0">
                <a:latin typeface="Arial" pitchFamily="34" charset="0"/>
              </a:rPr>
              <a:pPr eaLnBrk="1" hangingPunct="1"/>
              <a:t>15</a:t>
            </a:fld>
            <a:endParaRPr lang="en-US" altLang="zh-CN" sz="1200" smtClean="0">
              <a:latin typeface="Arial" pitchFamily="34"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1ADE9137-D390-4454-AA3E-A81439612ACE}" type="slidenum">
              <a:rPr lang="en-US" altLang="zh-CN" sz="1200" smtClean="0">
                <a:latin typeface="Arial" pitchFamily="34" charset="0"/>
              </a:rPr>
              <a:pPr eaLnBrk="1" hangingPunct="1"/>
              <a:t>16</a:t>
            </a:fld>
            <a:endParaRPr lang="en-US" altLang="zh-CN" sz="1200" smtClean="0">
              <a:latin typeface="Arial" pitchFamily="34"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EDD8E5C7-2E5C-4249-8F52-0B7DFE53323A}" type="slidenum">
              <a:rPr lang="en-US" altLang="zh-CN" sz="1200" smtClean="0">
                <a:latin typeface="Arial" pitchFamily="34" charset="0"/>
              </a:rPr>
              <a:pPr eaLnBrk="1" hangingPunct="1"/>
              <a:t>17</a:t>
            </a:fld>
            <a:endParaRPr lang="en-US" altLang="zh-CN" sz="1200" smtClean="0">
              <a:latin typeface="Arial" pitchFamily="34"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58891FAF-44A5-4A07-8773-1EC8CE23DDF9}" type="slidenum">
              <a:rPr lang="en-US" altLang="zh-CN" sz="1200" smtClean="0">
                <a:latin typeface="Arial" pitchFamily="34" charset="0"/>
              </a:rPr>
              <a:pPr eaLnBrk="1" hangingPunct="1"/>
              <a:t>18</a:t>
            </a:fld>
            <a:endParaRPr lang="en-US" altLang="zh-CN" sz="1200" smtClean="0">
              <a:latin typeface="Arial" pitchFamily="34"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2205BD4D-934E-4566-B612-27A52907A296}" type="slidenum">
              <a:rPr lang="en-US" altLang="zh-CN" sz="1200" smtClean="0">
                <a:latin typeface="Arial" pitchFamily="34" charset="0"/>
              </a:rPr>
              <a:pPr eaLnBrk="1" hangingPunct="1"/>
              <a:t>19</a:t>
            </a:fld>
            <a:endParaRPr lang="en-US" altLang="zh-CN" sz="1200" smtClean="0">
              <a:latin typeface="Arial" pitchFamily="34"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E1DFF5F6-28D7-4315-83CB-DC64897ECD6C}" type="slidenum">
              <a:rPr lang="en-US" altLang="zh-CN" sz="1200" smtClean="0">
                <a:latin typeface="Arial" pitchFamily="34" charset="0"/>
              </a:rPr>
              <a:pPr eaLnBrk="1" hangingPunct="1"/>
              <a:t>20</a:t>
            </a:fld>
            <a:endParaRPr lang="en-US" altLang="zh-CN" sz="1200" smtClean="0">
              <a:latin typeface="Arial" pitchFamily="34"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13515A6C-12AA-4F5C-B747-C5F6A82B6347}" type="slidenum">
              <a:rPr lang="en-US" altLang="zh-CN" sz="1200" smtClean="0">
                <a:latin typeface="Arial" pitchFamily="34" charset="0"/>
              </a:rPr>
              <a:pPr eaLnBrk="1" hangingPunct="1"/>
              <a:t>21</a:t>
            </a:fld>
            <a:endParaRPr lang="en-US" altLang="zh-CN" sz="1200" smtClean="0">
              <a:latin typeface="Arial" pitchFamily="34"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595D427D-CEE1-40FA-BD5D-77DA831EFC6C}" type="slidenum">
              <a:rPr lang="en-US" altLang="zh-CN" sz="1200" smtClean="0">
                <a:latin typeface="Arial" pitchFamily="34" charset="0"/>
              </a:rPr>
              <a:pPr eaLnBrk="1" hangingPunct="1"/>
              <a:t>22</a:t>
            </a:fld>
            <a:endParaRPr lang="en-US" altLang="zh-CN" sz="1200" smtClean="0">
              <a:latin typeface="Arial" pitchFamily="34"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031838CE-70E8-4FC0-A52F-6C0B883A8847}" type="slidenum">
              <a:rPr lang="en-US" altLang="zh-CN" sz="1200" smtClean="0">
                <a:latin typeface="Arial" pitchFamily="34" charset="0"/>
              </a:rPr>
              <a:pPr eaLnBrk="1" hangingPunct="1"/>
              <a:t>23</a:t>
            </a:fld>
            <a:endParaRPr lang="en-US" altLang="zh-CN" sz="1200" smtClean="0">
              <a:latin typeface="Arial" pitchFamily="34"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AAD098D0-C380-4743-B188-19B9CB030568}" type="slidenum">
              <a:rPr lang="en-US" altLang="zh-CN" sz="1200" smtClean="0">
                <a:latin typeface="Arial" pitchFamily="34" charset="0"/>
              </a:rPr>
              <a:pPr eaLnBrk="1" hangingPunct="1"/>
              <a:t>24</a:t>
            </a:fld>
            <a:endParaRPr lang="en-US" altLang="zh-CN" sz="1200" smtClean="0">
              <a:latin typeface="Arial" pitchFamily="34"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970926BD-357F-4057-BB05-1ED149BB80C9}" type="slidenum">
              <a:rPr lang="en-US" altLang="zh-CN" sz="1200" smtClean="0">
                <a:latin typeface="Arial" pitchFamily="34" charset="0"/>
              </a:rPr>
              <a:pPr eaLnBrk="1" hangingPunct="1"/>
              <a:t>25</a:t>
            </a:fld>
            <a:endParaRPr lang="en-US" altLang="zh-CN" sz="1200" smtClean="0">
              <a:latin typeface="Arial" pitchFamily="34"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96DECDAB-2671-480E-8436-C39C85C94E9C}" type="slidenum">
              <a:rPr lang="en-US" altLang="zh-CN" sz="1200" smtClean="0">
                <a:latin typeface="Arial" pitchFamily="34" charset="0"/>
              </a:rPr>
              <a:pPr eaLnBrk="1" hangingPunct="1"/>
              <a:t>26</a:t>
            </a:fld>
            <a:endParaRPr lang="en-US" altLang="zh-CN" sz="1200" smtClean="0">
              <a:latin typeface="Arial" pitchFamily="34"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B3F198E8-3F3B-4260-B662-5EA4A99FEE6B}" type="slidenum">
              <a:rPr lang="en-US" altLang="zh-CN" sz="1200" smtClean="0">
                <a:latin typeface="Arial" pitchFamily="34" charset="0"/>
              </a:rPr>
              <a:pPr eaLnBrk="1" hangingPunct="1"/>
              <a:t>27</a:t>
            </a:fld>
            <a:endParaRPr lang="en-US" altLang="zh-CN" sz="1200" smtClean="0">
              <a:latin typeface="Arial" pitchFamily="34"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E78EEA3D-C476-481F-B482-6D9354552D81}" type="slidenum">
              <a:rPr lang="en-US" altLang="zh-CN" sz="1200" smtClean="0">
                <a:latin typeface="Arial" pitchFamily="34" charset="0"/>
              </a:rPr>
              <a:pPr eaLnBrk="1" hangingPunct="1"/>
              <a:t>28</a:t>
            </a:fld>
            <a:endParaRPr lang="en-US" altLang="zh-CN" sz="1200" smtClean="0">
              <a:latin typeface="Arial" pitchFamily="34"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31FC66E9-C8D1-44FB-90E0-16397439603E}" type="slidenum">
              <a:rPr lang="en-US" altLang="zh-CN" sz="1200" smtClean="0">
                <a:latin typeface="Arial" pitchFamily="34" charset="0"/>
              </a:rPr>
              <a:pPr eaLnBrk="1" hangingPunct="1"/>
              <a:t>29</a:t>
            </a:fld>
            <a:endParaRPr lang="en-US" altLang="zh-CN" sz="1200" smtClean="0">
              <a:latin typeface="Arial" pitchFamily="34"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F8C448D5-67CB-41B8-9877-E13B06460E75}" type="slidenum">
              <a:rPr lang="en-US" altLang="zh-CN" sz="1200" smtClean="0">
                <a:latin typeface="Arial" pitchFamily="34" charset="0"/>
              </a:rPr>
              <a:pPr eaLnBrk="1" hangingPunct="1"/>
              <a:t>30</a:t>
            </a:fld>
            <a:endParaRPr lang="en-US" altLang="zh-CN" sz="1200" smtClean="0">
              <a:latin typeface="Arial" pitchFamily="34"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08346FDB-6D0A-4DD8-B86F-593A6537E25F}" type="slidenum">
              <a:rPr lang="en-US" altLang="zh-CN" sz="1200" smtClean="0">
                <a:latin typeface="Arial" pitchFamily="34" charset="0"/>
              </a:rPr>
              <a:pPr eaLnBrk="1" hangingPunct="1"/>
              <a:t>31</a:t>
            </a:fld>
            <a:endParaRPr lang="en-US" altLang="zh-CN" sz="1200" smtClean="0">
              <a:latin typeface="Arial" pitchFamily="34"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5E9EBC0C-4A3F-431D-B400-864290954FC6}" type="slidenum">
              <a:rPr lang="en-US" altLang="zh-CN" sz="1200" smtClean="0">
                <a:latin typeface="Arial" pitchFamily="34" charset="0"/>
              </a:rPr>
              <a:pPr eaLnBrk="1" hangingPunct="1"/>
              <a:t>32</a:t>
            </a:fld>
            <a:endParaRPr lang="en-US" altLang="zh-CN" sz="1200" smtClean="0">
              <a:latin typeface="Arial" pitchFamily="34"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9373B146-C5D3-4806-AB03-C304DEB8FAE3}" type="slidenum">
              <a:rPr lang="en-US" altLang="zh-CN" sz="1200" smtClean="0">
                <a:latin typeface="Arial" pitchFamily="34" charset="0"/>
              </a:rPr>
              <a:pPr eaLnBrk="1" hangingPunct="1"/>
              <a:t>33</a:t>
            </a:fld>
            <a:endParaRPr lang="en-US" altLang="zh-CN" sz="1200" smtClean="0">
              <a:latin typeface="Arial" pitchFamily="34"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0AD675B1-865E-4B12-BB26-485405C7412B}" type="slidenum">
              <a:rPr lang="en-US" altLang="zh-CN" sz="1200" smtClean="0">
                <a:latin typeface="Arial" pitchFamily="34" charset="0"/>
              </a:rPr>
              <a:pPr eaLnBrk="1" hangingPunct="1"/>
              <a:t>34</a:t>
            </a:fld>
            <a:endParaRPr lang="en-US" altLang="zh-CN" sz="1200" smtClean="0">
              <a:latin typeface="Arial" pitchFamily="34"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EAB3B85C-4DAE-4440-8BE9-81137FC11B3A}" type="slidenum">
              <a:rPr lang="en-US" altLang="zh-CN" sz="1200" smtClean="0">
                <a:latin typeface="Arial" pitchFamily="34" charset="0"/>
              </a:rPr>
              <a:pPr eaLnBrk="1" hangingPunct="1"/>
              <a:t>35</a:t>
            </a:fld>
            <a:endParaRPr lang="en-US" altLang="zh-CN" sz="1200" smtClean="0">
              <a:latin typeface="Arial" pitchFamily="34"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25DAAF98-E7B7-4CF8-B06C-2E62D19DB1E3}" type="slidenum">
              <a:rPr lang="en-US" altLang="zh-CN" sz="1200" smtClean="0">
                <a:latin typeface="Arial" pitchFamily="34" charset="0"/>
              </a:rPr>
              <a:pPr eaLnBrk="1" hangingPunct="1"/>
              <a:t>36</a:t>
            </a:fld>
            <a:endParaRPr lang="en-US" altLang="zh-CN" sz="1200" smtClean="0">
              <a:latin typeface="Arial" pitchFamily="3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E387B507-E2C7-4271-AF35-A0F3A3F1CDAB}" type="slidenum">
              <a:rPr lang="en-US" altLang="zh-CN" sz="1200" smtClean="0">
                <a:latin typeface="Arial" pitchFamily="34" charset="0"/>
              </a:rPr>
              <a:pPr eaLnBrk="1" hangingPunct="1"/>
              <a:t>37</a:t>
            </a:fld>
            <a:endParaRPr lang="en-US" altLang="zh-CN" sz="1200" smtClean="0">
              <a:latin typeface="Arial" pitchFamily="34"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CF2FEC97-6F3B-4439-B72B-250082EE01CA}" type="slidenum">
              <a:rPr lang="en-US" altLang="zh-CN" sz="1200" smtClean="0">
                <a:latin typeface="Arial" pitchFamily="34" charset="0"/>
              </a:rPr>
              <a:pPr eaLnBrk="1" hangingPunct="1"/>
              <a:t>38</a:t>
            </a:fld>
            <a:endParaRPr lang="en-US" altLang="zh-CN" sz="1200" smtClean="0">
              <a:latin typeface="Arial" pitchFamily="34"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562E9D66-A30E-4543-921B-4AAD81DB0059}" type="slidenum">
              <a:rPr lang="en-US" altLang="zh-CN" sz="1200" smtClean="0">
                <a:latin typeface="Arial" pitchFamily="34" charset="0"/>
              </a:rPr>
              <a:pPr eaLnBrk="1" hangingPunct="1"/>
              <a:t>40</a:t>
            </a:fld>
            <a:endParaRPr lang="en-US" altLang="zh-CN" sz="1200" smtClean="0">
              <a:latin typeface="Arial" pitchFamily="34"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FF4B0D5A-6C11-4934-BDD2-78FAE3EBAE96}" type="slidenum">
              <a:rPr lang="en-US" altLang="zh-CN" sz="1200" smtClean="0">
                <a:latin typeface="Arial" pitchFamily="34" charset="0"/>
              </a:rPr>
              <a:pPr eaLnBrk="1" hangingPunct="1"/>
              <a:t>42</a:t>
            </a:fld>
            <a:endParaRPr lang="en-US" altLang="zh-CN" sz="1200" smtClean="0">
              <a:latin typeface="Arial" pitchFamily="34"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83DBCBF7-75A2-4A18-9A33-16315F6FADC1}" type="slidenum">
              <a:rPr lang="en-US" altLang="zh-CN" sz="1200" smtClean="0">
                <a:latin typeface="Arial" pitchFamily="34" charset="0"/>
              </a:rPr>
              <a:pPr eaLnBrk="1" hangingPunct="1"/>
              <a:t>43</a:t>
            </a:fld>
            <a:endParaRPr lang="en-US" altLang="zh-CN" sz="1200" smtClean="0">
              <a:latin typeface="Arial" pitchFamily="34"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D7AE98C6-BBB2-4BB6-9D1C-9F83F2A0C54E}" type="slidenum">
              <a:rPr lang="en-US" altLang="zh-CN" sz="1200" smtClean="0">
                <a:latin typeface="Arial" pitchFamily="34" charset="0"/>
              </a:rPr>
              <a:pPr eaLnBrk="1" hangingPunct="1"/>
              <a:t>44</a:t>
            </a:fld>
            <a:endParaRPr lang="en-US" altLang="zh-CN" sz="1200" smtClean="0">
              <a:latin typeface="Arial" pitchFamily="34"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544AF7CE-CD93-4F28-BE59-88BD1E46EC34}" type="slidenum">
              <a:rPr lang="en-US" altLang="zh-CN" sz="1200" smtClean="0">
                <a:latin typeface="Arial" pitchFamily="34" charset="0"/>
              </a:rPr>
              <a:pPr eaLnBrk="1" hangingPunct="1"/>
              <a:t>46</a:t>
            </a:fld>
            <a:endParaRPr lang="en-US" altLang="zh-CN" sz="1200" smtClean="0">
              <a:latin typeface="Arial" pitchFamily="34"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E9BE123D-B781-4996-93E8-2F3E74A102C9}" type="slidenum">
              <a:rPr lang="en-US" altLang="zh-CN" sz="1200" smtClean="0">
                <a:latin typeface="Arial" pitchFamily="34" charset="0"/>
              </a:rPr>
              <a:pPr eaLnBrk="1" hangingPunct="1"/>
              <a:t>47</a:t>
            </a:fld>
            <a:endParaRPr lang="en-US" altLang="zh-CN" sz="1200" smtClean="0">
              <a:latin typeface="Arial" pitchFamily="34"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112B0C91-0030-45BC-92FE-051BE231C3D0}" type="slidenum">
              <a:rPr lang="en-US" altLang="zh-CN" sz="1200" smtClean="0">
                <a:latin typeface="Arial" pitchFamily="34" charset="0"/>
              </a:rPr>
              <a:pPr eaLnBrk="1" hangingPunct="1"/>
              <a:t>48</a:t>
            </a:fld>
            <a:endParaRPr lang="en-US" altLang="zh-CN" sz="1200" smtClean="0">
              <a:latin typeface="Arial" pitchFamily="34"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0BF714EF-78A7-4224-8CB3-0603F8D0B001}" type="slidenum">
              <a:rPr lang="en-US" altLang="zh-CN" sz="1200" smtClean="0">
                <a:latin typeface="Arial" pitchFamily="34" charset="0"/>
              </a:rPr>
              <a:pPr eaLnBrk="1" hangingPunct="1"/>
              <a:t>49</a:t>
            </a:fld>
            <a:endParaRPr lang="en-US" altLang="zh-CN" sz="1200" smtClean="0">
              <a:latin typeface="Arial" pitchFamily="34"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CD02EB81-D167-4F28-9069-7CF44AD16F34}" type="slidenum">
              <a:rPr lang="en-US" altLang="zh-CN" sz="1200" smtClean="0">
                <a:latin typeface="Arial" pitchFamily="34" charset="0"/>
              </a:rPr>
              <a:pPr eaLnBrk="1" hangingPunct="1"/>
              <a:t>50</a:t>
            </a:fld>
            <a:endParaRPr lang="en-US" altLang="zh-CN" sz="1200" smtClean="0">
              <a:latin typeface="Arial" pitchFamily="34"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F2E8A148-F68C-474C-9BBD-B015BDE1EC16}" type="slidenum">
              <a:rPr lang="en-US" altLang="zh-CN" sz="1200" smtClean="0">
                <a:latin typeface="Arial" pitchFamily="34" charset="0"/>
              </a:rPr>
              <a:pPr eaLnBrk="1" hangingPunct="1"/>
              <a:t>51</a:t>
            </a:fld>
            <a:endParaRPr lang="en-US" altLang="zh-CN" sz="1200" smtClean="0">
              <a:latin typeface="Arial" pitchFamily="34"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E52D0085-9B2E-424B-9813-5F24CA1A4B68}" type="slidenum">
              <a:rPr lang="en-US" altLang="zh-CN" sz="1200" smtClean="0">
                <a:latin typeface="Arial" pitchFamily="34" charset="0"/>
              </a:rPr>
              <a:pPr eaLnBrk="1" hangingPunct="1"/>
              <a:t>52</a:t>
            </a:fld>
            <a:endParaRPr lang="en-US" altLang="zh-CN" sz="1200" smtClean="0">
              <a:latin typeface="Arial" pitchFamily="34"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8720A82D-3B2C-4670-A36A-D38716082460}" type="slidenum">
              <a:rPr lang="en-US" altLang="zh-CN" sz="1200" smtClean="0">
                <a:latin typeface="Arial" pitchFamily="34" charset="0"/>
              </a:rPr>
              <a:pPr eaLnBrk="1" hangingPunct="1"/>
              <a:t>53</a:t>
            </a:fld>
            <a:endParaRPr lang="en-US" altLang="zh-CN" sz="1200" smtClean="0">
              <a:latin typeface="Arial"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A7E6ADE1-0A8B-4C53-9DB5-13E2833737CD}" type="slidenum">
              <a:rPr lang="en-US" altLang="zh-CN" sz="1200" smtClean="0">
                <a:latin typeface="Arial" pitchFamily="34" charset="0"/>
              </a:rPr>
              <a:pPr eaLnBrk="1" hangingPunct="1"/>
              <a:t>54</a:t>
            </a:fld>
            <a:endParaRPr lang="en-US" altLang="zh-CN" sz="1200" smtClean="0">
              <a:latin typeface="Arial" pitchFamily="34" charset="0"/>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EDFFEA90-9F3A-4C77-9C63-79CA2FB21BF7}" type="slidenum">
              <a:rPr lang="en-US" altLang="zh-CN" sz="1200" smtClean="0">
                <a:latin typeface="Arial" pitchFamily="34" charset="0"/>
              </a:rPr>
              <a:pPr eaLnBrk="1" hangingPunct="1"/>
              <a:t>55</a:t>
            </a:fld>
            <a:endParaRPr lang="en-US" altLang="zh-CN" sz="1200" smtClean="0">
              <a:latin typeface="Arial" pitchFamily="34"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1A066D66-98E4-409D-89F5-275FEC2C94F4}" type="slidenum">
              <a:rPr lang="en-US" altLang="zh-CN" sz="1200" smtClean="0">
                <a:latin typeface="Arial" pitchFamily="34" charset="0"/>
              </a:rPr>
              <a:pPr eaLnBrk="1" hangingPunct="1"/>
              <a:t>56</a:t>
            </a:fld>
            <a:endParaRPr lang="en-US" altLang="zh-CN" sz="1200" smtClean="0">
              <a:latin typeface="Arial" pitchFamily="34"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60D00218-AD6B-44B9-B4B8-21C67872956D}" type="slidenum">
              <a:rPr lang="en-US" altLang="zh-CN" sz="1200" smtClean="0">
                <a:latin typeface="Arial" pitchFamily="34" charset="0"/>
              </a:rPr>
              <a:pPr eaLnBrk="1" hangingPunct="1"/>
              <a:t>57</a:t>
            </a:fld>
            <a:endParaRPr lang="en-US" altLang="zh-CN" sz="1200" smtClean="0">
              <a:latin typeface="Arial" pitchFamily="34"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4092A90E-8898-41F4-9A5B-F4AA969BB5AE}" type="slidenum">
              <a:rPr lang="en-US" altLang="zh-CN" sz="1200" smtClean="0">
                <a:latin typeface="Arial" pitchFamily="34" charset="0"/>
              </a:rPr>
              <a:pPr eaLnBrk="1" hangingPunct="1"/>
              <a:t>58</a:t>
            </a:fld>
            <a:endParaRPr lang="en-US" altLang="zh-CN" sz="1200" smtClean="0">
              <a:latin typeface="Arial" pitchFamily="34" charset="0"/>
            </a:endParaRPr>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43C15AC0-E0E9-42E5-A598-94261FC6B8A0}" type="slidenum">
              <a:rPr lang="en-US" altLang="zh-CN" sz="1200" smtClean="0">
                <a:latin typeface="Arial" pitchFamily="34" charset="0"/>
              </a:rPr>
              <a:pPr eaLnBrk="1" hangingPunct="1"/>
              <a:t>59</a:t>
            </a:fld>
            <a:endParaRPr lang="en-US" altLang="zh-CN" sz="1200" smtClean="0">
              <a:latin typeface="Arial" pitchFamily="34" charset="0"/>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612"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smtClean="0"/>
              <a:t>单击此处编辑母版标题样式</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bwMode="auto">
          <a:xfrm>
            <a:off x="5853113"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solidFill>
                  <a:schemeClr val="bg2"/>
                </a:solidFill>
              </a:defRPr>
            </a:lvl1pPr>
          </a:lstStyle>
          <a:p>
            <a:pPr>
              <a:defRPr/>
            </a:pPr>
            <a:r>
              <a:rPr lang="zh-CN" altLang="en-US"/>
              <a:t>课件制作人：谢希仁</a:t>
            </a:r>
          </a:p>
        </p:txBody>
      </p:sp>
      <p:sp>
        <p:nvSpPr>
          <p:cNvPr id="16" name="Rectangle 16"/>
          <p:cNvSpPr>
            <a:spLocks noGrp="1" noChangeArrowheads="1"/>
          </p:cNvSpPr>
          <p:nvPr>
            <p:ph type="sldNum" sz="quarter" idx="12"/>
          </p:nvPr>
        </p:nvSpPr>
        <p:spPr bwMode="auto">
          <a:xfrm>
            <a:off x="68580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solidFill>
                  <a:schemeClr val="bg2"/>
                </a:solidFill>
              </a:defRPr>
            </a:lvl1pPr>
          </a:lstStyle>
          <a:p>
            <a:pPr>
              <a:defRPr/>
            </a:pPr>
            <a:fld id="{7697850D-59E0-450A-8516-5C1913197EEA}" type="slidenum">
              <a:rPr lang="en-US" altLang="zh-CN"/>
              <a:pPr>
                <a:defRPr/>
              </a:pPr>
              <a:t>‹#›</a:t>
            </a:fld>
            <a:endParaRPr lang="en-US" altLang="zh-CN"/>
          </a:p>
        </p:txBody>
      </p:sp>
    </p:spTree>
    <p:extLst>
      <p:ext uri="{BB962C8B-B14F-4D97-AF65-F5344CB8AC3E}">
        <p14:creationId xmlns:p14="http://schemas.microsoft.com/office/powerpoint/2010/main" val="3434452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572215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888625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042988" y="17732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005388" y="17732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79533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77150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88444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877813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096180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741262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424623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69125" y="214313"/>
            <a:ext cx="1974850" cy="56737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042988" y="214313"/>
            <a:ext cx="5773737" cy="56737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8912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zh-CN" altLang="zh-CN"/>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zh-CN" altLang="zh-CN"/>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zh-CN" altLang="zh-CN"/>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zh-CN" altLang="zh-CN"/>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zh-CN" altLang="zh-CN"/>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zh-CN" altLang="zh-CN"/>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zh-CN" altLang="zh-CN"/>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34" name="Rectangle 10"/>
          <p:cNvSpPr>
            <a:spLocks noGrp="1" noChangeArrowheads="1"/>
          </p:cNvSpPr>
          <p:nvPr>
            <p:ph type="body" idx="1"/>
          </p:nvPr>
        </p:nvSpPr>
        <p:spPr bwMode="auto">
          <a:xfrm>
            <a:off x="1042988" y="17732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4587"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400"/>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charset="0"/>
          <a:ea typeface="黑体" pitchFamily="2" charset="-122"/>
        </a:defRPr>
      </a:lvl2pPr>
      <a:lvl3pPr algn="l" rtl="0" eaLnBrk="0" fontAlgn="base" hangingPunct="0">
        <a:spcBef>
          <a:spcPct val="0"/>
        </a:spcBef>
        <a:spcAft>
          <a:spcPct val="0"/>
        </a:spcAft>
        <a:defRPr sz="4400">
          <a:solidFill>
            <a:srgbClr val="333399"/>
          </a:solidFill>
          <a:latin typeface="Arial" charset="0"/>
          <a:ea typeface="黑体" pitchFamily="2" charset="-122"/>
        </a:defRPr>
      </a:lvl3pPr>
      <a:lvl4pPr algn="l" rtl="0" eaLnBrk="0" fontAlgn="base" hangingPunct="0">
        <a:spcBef>
          <a:spcPct val="0"/>
        </a:spcBef>
        <a:spcAft>
          <a:spcPct val="0"/>
        </a:spcAft>
        <a:defRPr sz="4400">
          <a:solidFill>
            <a:srgbClr val="333399"/>
          </a:solidFill>
          <a:latin typeface="Arial" charset="0"/>
          <a:ea typeface="黑体" pitchFamily="2" charset="-122"/>
        </a:defRPr>
      </a:lvl4pPr>
      <a:lvl5pPr algn="l" rtl="0" eaLnBrk="0" fontAlgn="base" hangingPunct="0">
        <a:spcBef>
          <a:spcPct val="0"/>
        </a:spcBef>
        <a:spcAft>
          <a:spcPct val="0"/>
        </a:spcAft>
        <a:defRPr sz="4400">
          <a:solidFill>
            <a:srgbClr val="333399"/>
          </a:solidFill>
          <a:latin typeface="Arial" charset="0"/>
          <a:ea typeface="黑体" pitchFamily="2" charset="-122"/>
        </a:defRPr>
      </a:lvl5pPr>
      <a:lvl6pPr marL="457200" algn="l" rtl="0" fontAlgn="base">
        <a:spcBef>
          <a:spcPct val="0"/>
        </a:spcBef>
        <a:spcAft>
          <a:spcPct val="0"/>
        </a:spcAft>
        <a:defRPr sz="4400">
          <a:solidFill>
            <a:srgbClr val="333399"/>
          </a:solidFill>
          <a:latin typeface="Arial" charset="0"/>
          <a:ea typeface="黑体" pitchFamily="2" charset="-122"/>
        </a:defRPr>
      </a:lvl6pPr>
      <a:lvl7pPr marL="914400" algn="l" rtl="0" fontAlgn="base">
        <a:spcBef>
          <a:spcPct val="0"/>
        </a:spcBef>
        <a:spcAft>
          <a:spcPct val="0"/>
        </a:spcAft>
        <a:defRPr sz="4400">
          <a:solidFill>
            <a:srgbClr val="333399"/>
          </a:solidFill>
          <a:latin typeface="Arial" charset="0"/>
          <a:ea typeface="黑体" pitchFamily="2" charset="-122"/>
        </a:defRPr>
      </a:lvl7pPr>
      <a:lvl8pPr marL="1371600" algn="l" rtl="0" fontAlgn="base">
        <a:spcBef>
          <a:spcPct val="0"/>
        </a:spcBef>
        <a:spcAft>
          <a:spcPct val="0"/>
        </a:spcAft>
        <a:defRPr sz="4400">
          <a:solidFill>
            <a:srgbClr val="333399"/>
          </a:solidFill>
          <a:latin typeface="Arial" charset="0"/>
          <a:ea typeface="黑体" pitchFamily="2" charset="-122"/>
        </a:defRPr>
      </a:lvl8pPr>
      <a:lvl9pPr marL="1828800" algn="l" rtl="0" fontAlgn="base">
        <a:spcBef>
          <a:spcPct val="0"/>
        </a:spcBef>
        <a:spcAft>
          <a:spcPct val="0"/>
        </a:spcAft>
        <a:defRPr sz="4400">
          <a:solidFill>
            <a:srgbClr val="333399"/>
          </a:solidFill>
          <a:latin typeface="Arial" charset="0"/>
          <a:ea typeface="黑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333399"/>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Tahoma" pitchFamily="34" charset="0"/>
          <a:ea typeface="宋体" pitchFamily="2" charset="-122"/>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Tahoma" pitchFamily="34" charset="0"/>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baike.baidu.com/view/631277.ht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wmf"/><Relationship Id="rId4" Type="http://schemas.openxmlformats.org/officeDocument/2006/relationships/oleObject" Target="../embeddings/oleObject3.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0.w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1.wmf"/><Relationship Id="rId7" Type="http://schemas.openxmlformats.org/officeDocument/2006/relationships/image" Target="../media/image15.wmf"/><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ctrTitle"/>
          </p:nvPr>
        </p:nvSpPr>
        <p:spPr>
          <a:xfrm>
            <a:off x="990600" y="1676400"/>
            <a:ext cx="7253288" cy="1462088"/>
          </a:xfrm>
        </p:spPr>
        <p:txBody>
          <a:bodyPr/>
          <a:lstStyle/>
          <a:p>
            <a:pPr algn="ctr" eaLnBrk="1" hangingPunct="1"/>
            <a:r>
              <a:rPr lang="zh-CN" altLang="en-US" smtClean="0"/>
              <a:t>计算机网络</a:t>
            </a:r>
            <a:endParaRPr lang="zh-CN" altLang="en-US" dirty="0" smtClean="0"/>
          </a:p>
        </p:txBody>
      </p:sp>
      <p:sp>
        <p:nvSpPr>
          <p:cNvPr id="3075" name="Rectangle 8"/>
          <p:cNvSpPr>
            <a:spLocks noGrp="1" noChangeArrowheads="1"/>
          </p:cNvSpPr>
          <p:nvPr>
            <p:ph type="subTitle" idx="1"/>
          </p:nvPr>
        </p:nvSpPr>
        <p:spPr/>
        <p:txBody>
          <a:bodyPr/>
          <a:lstStyle/>
          <a:p>
            <a:pPr eaLnBrk="1" hangingPunct="1"/>
            <a:r>
              <a:rPr lang="zh-CN" altLang="en-US" smtClean="0"/>
              <a:t>第 </a:t>
            </a:r>
            <a:r>
              <a:rPr lang="en-US" altLang="zh-CN" smtClean="0"/>
              <a:t>2 </a:t>
            </a:r>
            <a:r>
              <a:rPr lang="zh-CN" altLang="en-US" smtClean="0"/>
              <a:t>章  物理层</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100138" y="931863"/>
            <a:ext cx="6856412" cy="768350"/>
          </a:xfrm>
        </p:spPr>
        <p:txBody>
          <a:bodyPr/>
          <a:lstStyle/>
          <a:p>
            <a:pPr algn="ctr" eaLnBrk="1" hangingPunct="1"/>
            <a:r>
              <a:rPr lang="en-US" altLang="zh-CN" smtClean="0">
                <a:ea typeface="Arial Unicode MS" pitchFamily="34" charset="-122"/>
                <a:cs typeface="Arial Unicode MS" pitchFamily="34" charset="-122"/>
              </a:rPr>
              <a:t>2.1  </a:t>
            </a:r>
            <a:r>
              <a:rPr lang="zh-CN" altLang="en-US" smtClean="0"/>
              <a:t>物理层的基本概念</a:t>
            </a:r>
          </a:p>
        </p:txBody>
      </p:sp>
      <p:sp>
        <p:nvSpPr>
          <p:cNvPr id="4099" name="Rectangle 3"/>
          <p:cNvSpPr>
            <a:spLocks noGrp="1" noChangeArrowheads="1"/>
          </p:cNvSpPr>
          <p:nvPr>
            <p:ph type="body" idx="1"/>
          </p:nvPr>
        </p:nvSpPr>
        <p:spPr>
          <a:xfrm>
            <a:off x="971550" y="1844675"/>
            <a:ext cx="7772400" cy="4840288"/>
          </a:xfrm>
        </p:spPr>
        <p:txBody>
          <a:bodyPr/>
          <a:lstStyle/>
          <a:p>
            <a:pPr eaLnBrk="1" hangingPunct="1">
              <a:buFont typeface="Wingdings" pitchFamily="2" charset="2"/>
              <a:buNone/>
            </a:pPr>
            <a:r>
              <a:rPr lang="en-US" altLang="zh-CN" sz="2800" smtClean="0"/>
              <a:t>   </a:t>
            </a:r>
            <a:r>
              <a:rPr lang="zh-CN" altLang="en-US" sz="2800" smtClean="0"/>
              <a:t>物理层的主要任务描述为确定与传输媒体的接口的一些特性，即： </a:t>
            </a:r>
          </a:p>
          <a:p>
            <a:pPr eaLnBrk="1" hangingPunct="1"/>
            <a:r>
              <a:rPr lang="zh-CN" altLang="en-US" sz="2800" smtClean="0">
                <a:solidFill>
                  <a:schemeClr val="hlink"/>
                </a:solidFill>
              </a:rPr>
              <a:t>机械特性</a:t>
            </a:r>
            <a:r>
              <a:rPr lang="zh-CN" altLang="en-US" sz="2800" smtClean="0"/>
              <a:t>    指明接口所用接线器的形状和尺寸、引线数目和排列、固定和锁定装置等等。</a:t>
            </a:r>
          </a:p>
          <a:p>
            <a:pPr eaLnBrk="1" hangingPunct="1"/>
            <a:r>
              <a:rPr lang="zh-CN" altLang="en-US" sz="2800" smtClean="0">
                <a:solidFill>
                  <a:schemeClr val="hlink"/>
                </a:solidFill>
              </a:rPr>
              <a:t>电气特性</a:t>
            </a:r>
            <a:r>
              <a:rPr lang="zh-CN" altLang="en-US" sz="2800" smtClean="0"/>
              <a:t>    指明在接口电缆的各条线上出现的电压的范围。</a:t>
            </a:r>
          </a:p>
          <a:p>
            <a:pPr eaLnBrk="1" hangingPunct="1"/>
            <a:r>
              <a:rPr lang="zh-CN" altLang="en-US" sz="2800" smtClean="0">
                <a:solidFill>
                  <a:schemeClr val="hlink"/>
                </a:solidFill>
              </a:rPr>
              <a:t>功能特性</a:t>
            </a:r>
            <a:r>
              <a:rPr lang="zh-CN" altLang="en-US" sz="2800" smtClean="0"/>
              <a:t>    指明某条线上出现的某一电平的电压表示何种意义。</a:t>
            </a:r>
          </a:p>
          <a:p>
            <a:pPr eaLnBrk="1" hangingPunct="1"/>
            <a:r>
              <a:rPr lang="zh-CN" altLang="en-US" sz="2800" smtClean="0">
                <a:solidFill>
                  <a:schemeClr val="hlink"/>
                </a:solidFill>
              </a:rPr>
              <a:t>过程特性</a:t>
            </a:r>
            <a:r>
              <a:rPr lang="zh-CN" altLang="en-US" sz="2800" smtClean="0"/>
              <a:t>    指明对于不同功能的各种可能事件的出现顺序。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lgn="ctr" eaLnBrk="1" hangingPunct="1"/>
            <a:r>
              <a:rPr lang="en-US" altLang="zh-CN" smtClean="0"/>
              <a:t>2.2  </a:t>
            </a:r>
            <a:r>
              <a:rPr lang="zh-CN" altLang="en-US" smtClean="0"/>
              <a:t>数据通信的基础知识</a:t>
            </a:r>
            <a:br>
              <a:rPr lang="zh-CN" altLang="en-US" smtClean="0"/>
            </a:br>
            <a:r>
              <a:rPr lang="en-US" altLang="zh-CN" sz="4000" smtClean="0"/>
              <a:t>2.2.1 </a:t>
            </a:r>
            <a:r>
              <a:rPr lang="zh-CN" altLang="en-US" sz="4000" smtClean="0"/>
              <a:t>数据通信系统的模型</a:t>
            </a:r>
            <a:r>
              <a:rPr lang="zh-CN" altLang="en-US" smtClean="0"/>
              <a:t> </a:t>
            </a:r>
          </a:p>
        </p:txBody>
      </p:sp>
      <p:grpSp>
        <p:nvGrpSpPr>
          <p:cNvPr id="27755" name="Group 107"/>
          <p:cNvGrpSpPr>
            <a:grpSpLocks/>
          </p:cNvGrpSpPr>
          <p:nvPr/>
        </p:nvGrpSpPr>
        <p:grpSpPr bwMode="auto">
          <a:xfrm>
            <a:off x="3910013" y="4652963"/>
            <a:ext cx="1025525" cy="727075"/>
            <a:chOff x="2463" y="2931"/>
            <a:chExt cx="646" cy="458"/>
          </a:xfrm>
        </p:grpSpPr>
        <p:sp>
          <p:nvSpPr>
            <p:cNvPr id="5217" name="AutoShape 13"/>
            <p:cNvSpPr>
              <a:spLocks noChangeArrowheads="1"/>
            </p:cNvSpPr>
            <p:nvPr/>
          </p:nvSpPr>
          <p:spPr bwMode="auto">
            <a:xfrm>
              <a:off x="2463" y="2931"/>
              <a:ext cx="646" cy="458"/>
            </a:xfrm>
            <a:prstGeom prst="cube">
              <a:avLst>
                <a:gd name="adj" fmla="val 13069"/>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18" name="Rectangle 16"/>
            <p:cNvSpPr>
              <a:spLocks noChangeArrowheads="1"/>
            </p:cNvSpPr>
            <p:nvPr/>
          </p:nvSpPr>
          <p:spPr bwMode="auto">
            <a:xfrm>
              <a:off x="2546" y="2985"/>
              <a:ext cx="508" cy="40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传输</a:t>
              </a:r>
            </a:p>
            <a:p>
              <a:pPr algn="l" defTabSz="762000" eaLnBrk="0" hangingPunct="0"/>
              <a:r>
                <a:rPr kumimoji="1" lang="zh-CN" altLang="en-US" sz="1800">
                  <a:solidFill>
                    <a:srgbClr val="333399"/>
                  </a:solidFill>
                  <a:latin typeface="Times New Roman" pitchFamily="18" charset="0"/>
                  <a:ea typeface="黑体" pitchFamily="49" charset="-122"/>
                </a:rPr>
                <a:t>系统</a:t>
              </a:r>
            </a:p>
          </p:txBody>
        </p:sp>
      </p:grpSp>
      <p:grpSp>
        <p:nvGrpSpPr>
          <p:cNvPr id="27750" name="Group 102"/>
          <p:cNvGrpSpPr>
            <a:grpSpLocks/>
          </p:cNvGrpSpPr>
          <p:nvPr/>
        </p:nvGrpSpPr>
        <p:grpSpPr bwMode="auto">
          <a:xfrm>
            <a:off x="109538" y="5016500"/>
            <a:ext cx="566737" cy="1233488"/>
            <a:chOff x="69" y="3160"/>
            <a:chExt cx="357" cy="777"/>
          </a:xfrm>
        </p:grpSpPr>
        <p:sp>
          <p:nvSpPr>
            <p:cNvPr id="5215" name="Rectangle 5"/>
            <p:cNvSpPr>
              <a:spLocks noChangeArrowheads="1"/>
            </p:cNvSpPr>
            <p:nvPr/>
          </p:nvSpPr>
          <p:spPr bwMode="auto">
            <a:xfrm>
              <a:off x="69" y="3189"/>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输入信息</a:t>
              </a:r>
            </a:p>
          </p:txBody>
        </p:sp>
        <p:sp>
          <p:nvSpPr>
            <p:cNvPr id="5216" name="Line 17"/>
            <p:cNvSpPr>
              <a:spLocks noChangeShapeType="1"/>
            </p:cNvSpPr>
            <p:nvPr/>
          </p:nvSpPr>
          <p:spPr bwMode="auto">
            <a:xfrm>
              <a:off x="94" y="3160"/>
              <a:ext cx="313"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2" name="Group 104"/>
          <p:cNvGrpSpPr>
            <a:grpSpLocks/>
          </p:cNvGrpSpPr>
          <p:nvPr/>
        </p:nvGrpSpPr>
        <p:grpSpPr bwMode="auto">
          <a:xfrm>
            <a:off x="1444625" y="5016500"/>
            <a:ext cx="627063" cy="1189038"/>
            <a:chOff x="910" y="3160"/>
            <a:chExt cx="395" cy="749"/>
          </a:xfrm>
        </p:grpSpPr>
        <p:sp>
          <p:nvSpPr>
            <p:cNvPr id="5213" name="Rectangle 7"/>
            <p:cNvSpPr>
              <a:spLocks noChangeArrowheads="1"/>
            </p:cNvSpPr>
            <p:nvPr/>
          </p:nvSpPr>
          <p:spPr bwMode="auto">
            <a:xfrm>
              <a:off x="948" y="3161"/>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输入数据</a:t>
              </a:r>
            </a:p>
          </p:txBody>
        </p:sp>
        <p:sp>
          <p:nvSpPr>
            <p:cNvPr id="5214" name="Line 18"/>
            <p:cNvSpPr>
              <a:spLocks noChangeShapeType="1"/>
            </p:cNvSpPr>
            <p:nvPr/>
          </p:nvSpPr>
          <p:spPr bwMode="auto">
            <a:xfrm>
              <a:off x="910" y="3160"/>
              <a:ext cx="346"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4" name="Group 106"/>
          <p:cNvGrpSpPr>
            <a:grpSpLocks/>
          </p:cNvGrpSpPr>
          <p:nvPr/>
        </p:nvGrpSpPr>
        <p:grpSpPr bwMode="auto">
          <a:xfrm>
            <a:off x="2824163" y="5010150"/>
            <a:ext cx="1177925" cy="712788"/>
            <a:chOff x="1779" y="3156"/>
            <a:chExt cx="742" cy="449"/>
          </a:xfrm>
        </p:grpSpPr>
        <p:sp>
          <p:nvSpPr>
            <p:cNvPr id="5211" name="Rectangle 9"/>
            <p:cNvSpPr>
              <a:spLocks noChangeArrowheads="1"/>
            </p:cNvSpPr>
            <p:nvPr/>
          </p:nvSpPr>
          <p:spPr bwMode="auto">
            <a:xfrm>
              <a:off x="1791" y="3203"/>
              <a:ext cx="730"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800">
                  <a:solidFill>
                    <a:srgbClr val="333399"/>
                  </a:solidFill>
                  <a:latin typeface="Times New Roman" pitchFamily="18" charset="0"/>
                  <a:ea typeface="黑体" pitchFamily="49" charset="-122"/>
                </a:rPr>
                <a:t>发送</a:t>
              </a:r>
            </a:p>
            <a:p>
              <a:pPr defTabSz="762000" eaLnBrk="0" hangingPunct="0"/>
              <a:r>
                <a:rPr kumimoji="1" lang="zh-CN" altLang="en-US" sz="1800">
                  <a:solidFill>
                    <a:srgbClr val="333399"/>
                  </a:solidFill>
                  <a:latin typeface="Times New Roman" pitchFamily="18" charset="0"/>
                  <a:ea typeface="黑体" pitchFamily="49" charset="-122"/>
                </a:rPr>
                <a:t>的信号</a:t>
              </a:r>
            </a:p>
          </p:txBody>
        </p:sp>
        <p:sp>
          <p:nvSpPr>
            <p:cNvPr id="5212" name="Line 19"/>
            <p:cNvSpPr>
              <a:spLocks noChangeShapeType="1"/>
            </p:cNvSpPr>
            <p:nvPr/>
          </p:nvSpPr>
          <p:spPr bwMode="auto">
            <a:xfrm>
              <a:off x="1779" y="3156"/>
              <a:ext cx="684" cy="4"/>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6" name="Group 108"/>
          <p:cNvGrpSpPr>
            <a:grpSpLocks/>
          </p:cNvGrpSpPr>
          <p:nvPr/>
        </p:nvGrpSpPr>
        <p:grpSpPr bwMode="auto">
          <a:xfrm>
            <a:off x="4906963" y="5016500"/>
            <a:ext cx="1157287" cy="673100"/>
            <a:chOff x="3091" y="3160"/>
            <a:chExt cx="729" cy="424"/>
          </a:xfrm>
        </p:grpSpPr>
        <p:sp>
          <p:nvSpPr>
            <p:cNvPr id="5209" name="Rectangle 10"/>
            <p:cNvSpPr>
              <a:spLocks noChangeArrowheads="1"/>
            </p:cNvSpPr>
            <p:nvPr/>
          </p:nvSpPr>
          <p:spPr bwMode="auto">
            <a:xfrm>
              <a:off x="3111" y="3182"/>
              <a:ext cx="709"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800">
                  <a:solidFill>
                    <a:srgbClr val="333399"/>
                  </a:solidFill>
                  <a:latin typeface="Times New Roman" pitchFamily="18" charset="0"/>
                  <a:ea typeface="黑体" pitchFamily="49" charset="-122"/>
                </a:rPr>
                <a:t>接收</a:t>
              </a:r>
            </a:p>
            <a:p>
              <a:pPr defTabSz="762000" eaLnBrk="0" hangingPunct="0"/>
              <a:r>
                <a:rPr kumimoji="1" lang="zh-CN" altLang="en-US" sz="1800">
                  <a:solidFill>
                    <a:srgbClr val="333399"/>
                  </a:solidFill>
                  <a:latin typeface="Times New Roman" pitchFamily="18" charset="0"/>
                  <a:ea typeface="黑体" pitchFamily="49" charset="-122"/>
                </a:rPr>
                <a:t>的信号</a:t>
              </a:r>
            </a:p>
          </p:txBody>
        </p:sp>
        <p:sp>
          <p:nvSpPr>
            <p:cNvPr id="5210" name="Line 20"/>
            <p:cNvSpPr>
              <a:spLocks noChangeShapeType="1"/>
            </p:cNvSpPr>
            <p:nvPr/>
          </p:nvSpPr>
          <p:spPr bwMode="auto">
            <a:xfrm>
              <a:off x="3091" y="3160"/>
              <a:ext cx="714"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8" name="Group 110"/>
          <p:cNvGrpSpPr>
            <a:grpSpLocks/>
          </p:cNvGrpSpPr>
          <p:nvPr/>
        </p:nvGrpSpPr>
        <p:grpSpPr bwMode="auto">
          <a:xfrm>
            <a:off x="6854825" y="5016500"/>
            <a:ext cx="592138" cy="1262063"/>
            <a:chOff x="4318" y="3160"/>
            <a:chExt cx="373" cy="795"/>
          </a:xfrm>
        </p:grpSpPr>
        <p:sp>
          <p:nvSpPr>
            <p:cNvPr id="5207" name="Rectangle 8"/>
            <p:cNvSpPr>
              <a:spLocks noChangeArrowheads="1"/>
            </p:cNvSpPr>
            <p:nvPr/>
          </p:nvSpPr>
          <p:spPr bwMode="auto">
            <a:xfrm>
              <a:off x="4334"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输出数据</a:t>
              </a:r>
            </a:p>
          </p:txBody>
        </p:sp>
        <p:sp>
          <p:nvSpPr>
            <p:cNvPr id="5208" name="Line 21"/>
            <p:cNvSpPr>
              <a:spLocks noChangeShapeType="1"/>
            </p:cNvSpPr>
            <p:nvPr/>
          </p:nvSpPr>
          <p:spPr bwMode="auto">
            <a:xfrm>
              <a:off x="4318" y="3160"/>
              <a:ext cx="336"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1" name="Group 103"/>
          <p:cNvGrpSpPr>
            <a:grpSpLocks/>
          </p:cNvGrpSpPr>
          <p:nvPr/>
        </p:nvGrpSpPr>
        <p:grpSpPr bwMode="auto">
          <a:xfrm>
            <a:off x="646113" y="4652963"/>
            <a:ext cx="850900" cy="727075"/>
            <a:chOff x="407" y="2931"/>
            <a:chExt cx="536" cy="458"/>
          </a:xfrm>
        </p:grpSpPr>
        <p:sp>
          <p:nvSpPr>
            <p:cNvPr id="5205" name="AutoShape 11"/>
            <p:cNvSpPr>
              <a:spLocks noChangeArrowheads="1"/>
            </p:cNvSpPr>
            <p:nvPr/>
          </p:nvSpPr>
          <p:spPr bwMode="auto">
            <a:xfrm>
              <a:off x="407" y="2931"/>
              <a:ext cx="536" cy="458"/>
            </a:xfrm>
            <a:prstGeom prst="cube">
              <a:avLst>
                <a:gd name="adj" fmla="val 13069"/>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06" name="Rectangle 22"/>
            <p:cNvSpPr>
              <a:spLocks noChangeArrowheads="1"/>
            </p:cNvSpPr>
            <p:nvPr/>
          </p:nvSpPr>
          <p:spPr bwMode="auto">
            <a:xfrm>
              <a:off x="449" y="3059"/>
              <a:ext cx="447"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源点</a:t>
              </a:r>
            </a:p>
          </p:txBody>
        </p:sp>
      </p:grpSp>
      <p:grpSp>
        <p:nvGrpSpPr>
          <p:cNvPr id="27759" name="Group 111"/>
          <p:cNvGrpSpPr>
            <a:grpSpLocks/>
          </p:cNvGrpSpPr>
          <p:nvPr/>
        </p:nvGrpSpPr>
        <p:grpSpPr bwMode="auto">
          <a:xfrm>
            <a:off x="7388225" y="4652963"/>
            <a:ext cx="850900" cy="727075"/>
            <a:chOff x="4654" y="2931"/>
            <a:chExt cx="536" cy="458"/>
          </a:xfrm>
        </p:grpSpPr>
        <p:sp>
          <p:nvSpPr>
            <p:cNvPr id="5203" name="AutoShape 15"/>
            <p:cNvSpPr>
              <a:spLocks noChangeArrowheads="1"/>
            </p:cNvSpPr>
            <p:nvPr/>
          </p:nvSpPr>
          <p:spPr bwMode="auto">
            <a:xfrm>
              <a:off x="4654" y="2931"/>
              <a:ext cx="536" cy="458"/>
            </a:xfrm>
            <a:prstGeom prst="cube">
              <a:avLst>
                <a:gd name="adj" fmla="val 13069"/>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04" name="Rectangle 23"/>
            <p:cNvSpPr>
              <a:spLocks noChangeArrowheads="1"/>
            </p:cNvSpPr>
            <p:nvPr/>
          </p:nvSpPr>
          <p:spPr bwMode="auto">
            <a:xfrm>
              <a:off x="4699" y="3068"/>
              <a:ext cx="446"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终点</a:t>
              </a:r>
            </a:p>
          </p:txBody>
        </p:sp>
      </p:grpSp>
      <p:grpSp>
        <p:nvGrpSpPr>
          <p:cNvPr id="27753" name="Group 105"/>
          <p:cNvGrpSpPr>
            <a:grpSpLocks/>
          </p:cNvGrpSpPr>
          <p:nvPr/>
        </p:nvGrpSpPr>
        <p:grpSpPr bwMode="auto">
          <a:xfrm>
            <a:off x="1949450" y="4652963"/>
            <a:ext cx="922338" cy="727075"/>
            <a:chOff x="1228" y="2931"/>
            <a:chExt cx="581" cy="458"/>
          </a:xfrm>
        </p:grpSpPr>
        <p:sp>
          <p:nvSpPr>
            <p:cNvPr id="5201" name="AutoShape 12"/>
            <p:cNvSpPr>
              <a:spLocks noChangeArrowheads="1"/>
            </p:cNvSpPr>
            <p:nvPr/>
          </p:nvSpPr>
          <p:spPr bwMode="auto">
            <a:xfrm>
              <a:off x="1256" y="2931"/>
              <a:ext cx="537" cy="458"/>
            </a:xfrm>
            <a:prstGeom prst="cube">
              <a:avLst>
                <a:gd name="adj" fmla="val 13069"/>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02" name="Rectangle 24"/>
            <p:cNvSpPr>
              <a:spLocks noChangeArrowheads="1"/>
            </p:cNvSpPr>
            <p:nvPr/>
          </p:nvSpPr>
          <p:spPr bwMode="auto">
            <a:xfrm>
              <a:off x="1228" y="3068"/>
              <a:ext cx="581"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发送器</a:t>
              </a:r>
            </a:p>
          </p:txBody>
        </p:sp>
      </p:grpSp>
      <p:grpSp>
        <p:nvGrpSpPr>
          <p:cNvPr id="27757" name="Group 109"/>
          <p:cNvGrpSpPr>
            <a:grpSpLocks/>
          </p:cNvGrpSpPr>
          <p:nvPr/>
        </p:nvGrpSpPr>
        <p:grpSpPr bwMode="auto">
          <a:xfrm>
            <a:off x="5997575" y="4652963"/>
            <a:ext cx="922338" cy="727075"/>
            <a:chOff x="3778" y="2931"/>
            <a:chExt cx="581" cy="458"/>
          </a:xfrm>
        </p:grpSpPr>
        <p:sp>
          <p:nvSpPr>
            <p:cNvPr id="5199" name="AutoShape 14"/>
            <p:cNvSpPr>
              <a:spLocks noChangeArrowheads="1"/>
            </p:cNvSpPr>
            <p:nvPr/>
          </p:nvSpPr>
          <p:spPr bwMode="auto">
            <a:xfrm>
              <a:off x="3805" y="2931"/>
              <a:ext cx="535" cy="458"/>
            </a:xfrm>
            <a:prstGeom prst="cube">
              <a:avLst>
                <a:gd name="adj" fmla="val 13069"/>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00" name="Rectangle 25"/>
            <p:cNvSpPr>
              <a:spLocks noChangeArrowheads="1"/>
            </p:cNvSpPr>
            <p:nvPr/>
          </p:nvSpPr>
          <p:spPr bwMode="auto">
            <a:xfrm>
              <a:off x="3778" y="3059"/>
              <a:ext cx="581"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接收器</a:t>
              </a:r>
            </a:p>
          </p:txBody>
        </p:sp>
      </p:grpSp>
      <p:sp>
        <p:nvSpPr>
          <p:cNvPr id="5133" name="Line 26"/>
          <p:cNvSpPr>
            <a:spLocks noChangeShapeType="1"/>
          </p:cNvSpPr>
          <p:nvPr/>
        </p:nvSpPr>
        <p:spPr bwMode="auto">
          <a:xfrm>
            <a:off x="2560638" y="3240088"/>
            <a:ext cx="34798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4" name="Line 27"/>
          <p:cNvSpPr>
            <a:spLocks noChangeShapeType="1"/>
          </p:cNvSpPr>
          <p:nvPr/>
        </p:nvSpPr>
        <p:spPr bwMode="auto">
          <a:xfrm>
            <a:off x="1355725" y="3240088"/>
            <a:ext cx="847725" cy="3175"/>
          </a:xfrm>
          <a:prstGeom prst="line">
            <a:avLst/>
          </a:prstGeom>
          <a:noFill/>
          <a:ln w="76200" cmpd="tri">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5" name="Rectangle 28"/>
          <p:cNvSpPr>
            <a:spLocks noChangeArrowheads="1"/>
          </p:cNvSpPr>
          <p:nvPr/>
        </p:nvSpPr>
        <p:spPr bwMode="auto">
          <a:xfrm>
            <a:off x="1692275" y="3457575"/>
            <a:ext cx="1354138"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调制解调器</a:t>
            </a:r>
          </a:p>
        </p:txBody>
      </p:sp>
      <p:sp>
        <p:nvSpPr>
          <p:cNvPr id="5136" name="Line 29"/>
          <p:cNvSpPr>
            <a:spLocks noChangeShapeType="1"/>
          </p:cNvSpPr>
          <p:nvPr/>
        </p:nvSpPr>
        <p:spPr bwMode="auto">
          <a:xfrm>
            <a:off x="6607175" y="3240088"/>
            <a:ext cx="922338" cy="0"/>
          </a:xfrm>
          <a:prstGeom prst="line">
            <a:avLst/>
          </a:prstGeom>
          <a:noFill/>
          <a:ln w="76200" cmpd="tri">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137" name="Group 80"/>
          <p:cNvGrpSpPr>
            <a:grpSpLocks/>
          </p:cNvGrpSpPr>
          <p:nvPr/>
        </p:nvGrpSpPr>
        <p:grpSpPr bwMode="auto">
          <a:xfrm>
            <a:off x="3635375" y="2708275"/>
            <a:ext cx="1582738" cy="1009650"/>
            <a:chOff x="385" y="2795"/>
            <a:chExt cx="1769" cy="816"/>
          </a:xfrm>
        </p:grpSpPr>
        <p:sp>
          <p:nvSpPr>
            <p:cNvPr id="5182" name="Oval 8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83" name="Oval 8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84" name="Oval 8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85" name="Oval 8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86" name="Oval 8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87" name="Oval 8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88" name="Oval 8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89" name="Oval 8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90" name="Oval 8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91" name="Oval 9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92" name="Oval 9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93" name="Oval 9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94" name="Oval 9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95" name="Oval 9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96" name="Oval 9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97" name="Oval 9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5198" name="Freeform 97"/>
            <p:cNvSpPr>
              <a:spLocks/>
            </p:cNvSpPr>
            <p:nvPr/>
          </p:nvSpPr>
          <p:spPr bwMode="auto">
            <a:xfrm>
              <a:off x="567" y="2924"/>
              <a:ext cx="1451" cy="597"/>
            </a:xfrm>
            <a:custGeom>
              <a:avLst/>
              <a:gdLst>
                <a:gd name="T0" fmla="*/ 0 w 1447"/>
                <a:gd name="T1" fmla="*/ 21 h 1128"/>
                <a:gd name="T2" fmla="*/ 80 w 1447"/>
                <a:gd name="T3" fmla="*/ 16 h 1128"/>
                <a:gd name="T4" fmla="*/ 56 w 1447"/>
                <a:gd name="T5" fmla="*/ 16 h 1128"/>
                <a:gd name="T6" fmla="*/ 24 w 1447"/>
                <a:gd name="T7" fmla="*/ 16 h 1128"/>
                <a:gd name="T8" fmla="*/ 40 w 1447"/>
                <a:gd name="T9" fmla="*/ 16 h 1128"/>
                <a:gd name="T10" fmla="*/ 64 w 1447"/>
                <a:gd name="T11" fmla="*/ 15 h 1128"/>
                <a:gd name="T12" fmla="*/ 96 w 1447"/>
                <a:gd name="T13" fmla="*/ 13 h 1128"/>
                <a:gd name="T14" fmla="*/ 104 w 1447"/>
                <a:gd name="T15" fmla="*/ 12 h 1128"/>
                <a:gd name="T16" fmla="*/ 152 w 1447"/>
                <a:gd name="T17" fmla="*/ 8 h 1128"/>
                <a:gd name="T18" fmla="*/ 168 w 1447"/>
                <a:gd name="T19" fmla="*/ 7 h 1128"/>
                <a:gd name="T20" fmla="*/ 205 w 1447"/>
                <a:gd name="T21" fmla="*/ 7 h 1128"/>
                <a:gd name="T22" fmla="*/ 293 w 1447"/>
                <a:gd name="T23" fmla="*/ 4 h 1128"/>
                <a:gd name="T24" fmla="*/ 333 w 1447"/>
                <a:gd name="T25" fmla="*/ 3 h 1128"/>
                <a:gd name="T26" fmla="*/ 357 w 1447"/>
                <a:gd name="T27" fmla="*/ 2 h 1128"/>
                <a:gd name="T28" fmla="*/ 429 w 1447"/>
                <a:gd name="T29" fmla="*/ 2 h 1128"/>
                <a:gd name="T30" fmla="*/ 509 w 1447"/>
                <a:gd name="T31" fmla="*/ 0 h 1128"/>
                <a:gd name="T32" fmla="*/ 818 w 1447"/>
                <a:gd name="T33" fmla="*/ 2 h 1128"/>
                <a:gd name="T34" fmla="*/ 1071 w 1447"/>
                <a:gd name="T35" fmla="*/ 7 h 1128"/>
                <a:gd name="T36" fmla="*/ 1095 w 1447"/>
                <a:gd name="T37" fmla="*/ 8 h 1128"/>
                <a:gd name="T38" fmla="*/ 1119 w 1447"/>
                <a:gd name="T39" fmla="*/ 9 h 1128"/>
                <a:gd name="T40" fmla="*/ 1239 w 1447"/>
                <a:gd name="T41" fmla="*/ 13 h 1128"/>
                <a:gd name="T42" fmla="*/ 1316 w 1447"/>
                <a:gd name="T43" fmla="*/ 15 h 1128"/>
                <a:gd name="T44" fmla="*/ 1364 w 1447"/>
                <a:gd name="T45" fmla="*/ 18 h 1128"/>
                <a:gd name="T46" fmla="*/ 1380 w 1447"/>
                <a:gd name="T47" fmla="*/ 21 h 1128"/>
                <a:gd name="T48" fmla="*/ 1412 w 1447"/>
                <a:gd name="T49" fmla="*/ 22 h 1128"/>
                <a:gd name="T50" fmla="*/ 1436 w 1447"/>
                <a:gd name="T51" fmla="*/ 25 h 1128"/>
                <a:gd name="T52" fmla="*/ 1452 w 1447"/>
                <a:gd name="T53" fmla="*/ 27 h 1128"/>
                <a:gd name="T54" fmla="*/ 1452 w 1447"/>
                <a:gd name="T55" fmla="*/ 35 h 1128"/>
                <a:gd name="T56" fmla="*/ 1436 w 1447"/>
                <a:gd name="T57" fmla="*/ 38 h 1128"/>
                <a:gd name="T58" fmla="*/ 1388 w 1447"/>
                <a:gd name="T59" fmla="*/ 39 h 1128"/>
                <a:gd name="T60" fmla="*/ 1372 w 1447"/>
                <a:gd name="T61" fmla="*/ 39 h 1128"/>
                <a:gd name="T62" fmla="*/ 1324 w 1447"/>
                <a:gd name="T63" fmla="*/ 41 h 1128"/>
                <a:gd name="T64" fmla="*/ 1231 w 1447"/>
                <a:gd name="T65" fmla="*/ 43 h 1128"/>
                <a:gd name="T66" fmla="*/ 1183 w 1447"/>
                <a:gd name="T67" fmla="*/ 44 h 1128"/>
                <a:gd name="T68" fmla="*/ 1127 w 1447"/>
                <a:gd name="T69" fmla="*/ 47 h 1128"/>
                <a:gd name="T70" fmla="*/ 445 w 1447"/>
                <a:gd name="T71" fmla="*/ 46 h 1128"/>
                <a:gd name="T72" fmla="*/ 365 w 1447"/>
                <a:gd name="T73" fmla="*/ 44 h 1128"/>
                <a:gd name="T74" fmla="*/ 309 w 1447"/>
                <a:gd name="T75" fmla="*/ 41 h 1128"/>
                <a:gd name="T76" fmla="*/ 245 w 1447"/>
                <a:gd name="T77" fmla="*/ 37 h 1128"/>
                <a:gd name="T78" fmla="*/ 205 w 1447"/>
                <a:gd name="T79" fmla="*/ 33 h 1128"/>
                <a:gd name="T80" fmla="*/ 120 w 1447"/>
                <a:gd name="T81" fmla="*/ 29 h 1128"/>
                <a:gd name="T82" fmla="*/ 56 w 1447"/>
                <a:gd name="T83" fmla="*/ 26 h 1128"/>
                <a:gd name="T84" fmla="*/ 16 w 1447"/>
                <a:gd name="T85" fmla="*/ 22 h 1128"/>
                <a:gd name="T86" fmla="*/ 8 w 1447"/>
                <a:gd name="T87" fmla="*/ 21 h 1128"/>
                <a:gd name="T88" fmla="*/ 0 w 1447"/>
                <a:gd name="T89" fmla="*/ 2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a:p>
          </p:txBody>
        </p:sp>
      </p:grpSp>
      <p:sp>
        <p:nvSpPr>
          <p:cNvPr id="5138" name="Rectangle 42"/>
          <p:cNvSpPr>
            <a:spLocks noChangeArrowheads="1"/>
          </p:cNvSpPr>
          <p:nvPr/>
        </p:nvSpPr>
        <p:spPr bwMode="auto">
          <a:xfrm>
            <a:off x="684213" y="3530600"/>
            <a:ext cx="86995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en-US" altLang="zh-CN" sz="1800">
                <a:solidFill>
                  <a:srgbClr val="333399"/>
                </a:solidFill>
                <a:latin typeface="Arial" pitchFamily="34" charset="0"/>
                <a:ea typeface="黑体" pitchFamily="49" charset="-122"/>
              </a:rPr>
              <a:t>PC </a:t>
            </a:r>
            <a:r>
              <a:rPr kumimoji="1" lang="zh-CN" altLang="en-US" sz="1800">
                <a:solidFill>
                  <a:srgbClr val="333399"/>
                </a:solidFill>
                <a:latin typeface="Arial" pitchFamily="34" charset="0"/>
                <a:ea typeface="黑体" pitchFamily="49" charset="-122"/>
              </a:rPr>
              <a:t>机</a:t>
            </a:r>
          </a:p>
        </p:txBody>
      </p:sp>
      <p:sp>
        <p:nvSpPr>
          <p:cNvPr id="5139" name="Rectangle 43"/>
          <p:cNvSpPr>
            <a:spLocks noChangeArrowheads="1"/>
          </p:cNvSpPr>
          <p:nvPr/>
        </p:nvSpPr>
        <p:spPr bwMode="auto">
          <a:xfrm>
            <a:off x="3811588" y="3065463"/>
            <a:ext cx="1323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公用电话网</a:t>
            </a:r>
          </a:p>
        </p:txBody>
      </p:sp>
      <p:pic>
        <p:nvPicPr>
          <p:cNvPr id="5140" name="Picture 4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3900" y="3001963"/>
            <a:ext cx="8524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41" name="Picture 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8988" y="2855913"/>
            <a:ext cx="70802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142" name="Rectangle 46"/>
          <p:cNvSpPr>
            <a:spLocks noChangeArrowheads="1"/>
          </p:cNvSpPr>
          <p:nvPr/>
        </p:nvSpPr>
        <p:spPr bwMode="auto">
          <a:xfrm>
            <a:off x="5684838" y="3486150"/>
            <a:ext cx="1347787"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调制解调器</a:t>
            </a:r>
          </a:p>
        </p:txBody>
      </p:sp>
      <p:grpSp>
        <p:nvGrpSpPr>
          <p:cNvPr id="5143" name="Group 47"/>
          <p:cNvGrpSpPr>
            <a:grpSpLocks/>
          </p:cNvGrpSpPr>
          <p:nvPr/>
        </p:nvGrpSpPr>
        <p:grpSpPr bwMode="auto">
          <a:xfrm>
            <a:off x="2774950" y="2806700"/>
            <a:ext cx="652463" cy="339725"/>
            <a:chOff x="2315" y="3965"/>
            <a:chExt cx="496" cy="254"/>
          </a:xfrm>
        </p:grpSpPr>
        <p:sp>
          <p:nvSpPr>
            <p:cNvPr id="5178" name="Freeform 48"/>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79" name="Freeform 49"/>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80" name="Freeform 50"/>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81" name="Freeform 51"/>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144" name="Freeform 52"/>
          <p:cNvSpPr>
            <a:spLocks/>
          </p:cNvSpPr>
          <p:nvPr/>
        </p:nvSpPr>
        <p:spPr bwMode="auto">
          <a:xfrm>
            <a:off x="1465263" y="2908300"/>
            <a:ext cx="741362" cy="165100"/>
          </a:xfrm>
          <a:custGeom>
            <a:avLst/>
            <a:gdLst>
              <a:gd name="T0" fmla="*/ 0 w 672"/>
              <a:gd name="T1" fmla="*/ 2147483647 h 288"/>
              <a:gd name="T2" fmla="*/ 2147483647 w 672"/>
              <a:gd name="T3" fmla="*/ 2147483647 h 288"/>
              <a:gd name="T4" fmla="*/ 2147483647 w 672"/>
              <a:gd name="T5" fmla="*/ 0 h 288"/>
              <a:gd name="T6" fmla="*/ 2147483647 w 672"/>
              <a:gd name="T7" fmla="*/ 0 h 288"/>
              <a:gd name="T8" fmla="*/ 2147483647 w 672"/>
              <a:gd name="T9" fmla="*/ 2147483647 h 288"/>
              <a:gd name="T10" fmla="*/ 2147483647 w 672"/>
              <a:gd name="T11" fmla="*/ 2147483647 h 288"/>
              <a:gd name="T12" fmla="*/ 2147483647 w 672"/>
              <a:gd name="T13" fmla="*/ 0 h 288"/>
              <a:gd name="T14" fmla="*/ 2147483647 w 672"/>
              <a:gd name="T15" fmla="*/ 0 h 288"/>
              <a:gd name="T16" fmla="*/ 2147483647 w 672"/>
              <a:gd name="T17" fmla="*/ 2147483647 h 288"/>
              <a:gd name="T18" fmla="*/ 2147483647 w 672"/>
              <a:gd name="T19" fmla="*/ 2147483647 h 288"/>
              <a:gd name="T20" fmla="*/ 2147483647 w 672"/>
              <a:gd name="T21" fmla="*/ 0 h 288"/>
              <a:gd name="T22" fmla="*/ 2147483647 w 672"/>
              <a:gd name="T23" fmla="*/ 0 h 288"/>
              <a:gd name="T24" fmla="*/ 2147483647 w 672"/>
              <a:gd name="T25" fmla="*/ 2147483647 h 288"/>
              <a:gd name="T26" fmla="*/ 2147483647 w 672"/>
              <a:gd name="T27" fmla="*/ 2147483647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5" name="Rectangle 53"/>
          <p:cNvSpPr>
            <a:spLocks noChangeArrowheads="1"/>
          </p:cNvSpPr>
          <p:nvPr/>
        </p:nvSpPr>
        <p:spPr bwMode="auto">
          <a:xfrm>
            <a:off x="1187450" y="2420938"/>
            <a:ext cx="1450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数字比特流</a:t>
            </a:r>
          </a:p>
        </p:txBody>
      </p:sp>
      <p:sp>
        <p:nvSpPr>
          <p:cNvPr id="5146" name="Rectangle 54"/>
          <p:cNvSpPr>
            <a:spLocks noChangeArrowheads="1"/>
          </p:cNvSpPr>
          <p:nvPr/>
        </p:nvSpPr>
        <p:spPr bwMode="auto">
          <a:xfrm>
            <a:off x="6464300" y="2420938"/>
            <a:ext cx="1420813"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数字比特流</a:t>
            </a:r>
          </a:p>
        </p:txBody>
      </p:sp>
      <p:sp>
        <p:nvSpPr>
          <p:cNvPr id="5147" name="Rectangle 55"/>
          <p:cNvSpPr>
            <a:spLocks noChangeArrowheads="1"/>
          </p:cNvSpPr>
          <p:nvPr/>
        </p:nvSpPr>
        <p:spPr bwMode="auto">
          <a:xfrm>
            <a:off x="2627313" y="2420938"/>
            <a:ext cx="1204912"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模拟信号</a:t>
            </a:r>
          </a:p>
        </p:txBody>
      </p:sp>
      <p:sp>
        <p:nvSpPr>
          <p:cNvPr id="5148" name="Rectangle 56"/>
          <p:cNvSpPr>
            <a:spLocks noChangeArrowheads="1"/>
          </p:cNvSpPr>
          <p:nvPr/>
        </p:nvSpPr>
        <p:spPr bwMode="auto">
          <a:xfrm>
            <a:off x="5224463" y="2420938"/>
            <a:ext cx="12192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模拟信号 </a:t>
            </a:r>
          </a:p>
        </p:txBody>
      </p:sp>
      <p:sp>
        <p:nvSpPr>
          <p:cNvPr id="5149" name="Rectangle 57"/>
          <p:cNvSpPr>
            <a:spLocks noChangeArrowheads="1"/>
          </p:cNvSpPr>
          <p:nvPr/>
        </p:nvSpPr>
        <p:spPr bwMode="auto">
          <a:xfrm>
            <a:off x="292100" y="2420938"/>
            <a:ext cx="709613"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输入</a:t>
            </a:r>
          </a:p>
          <a:p>
            <a:pPr algn="l" defTabSz="762000" eaLnBrk="0" hangingPunct="0"/>
            <a:r>
              <a:rPr kumimoji="1" lang="zh-CN" altLang="en-US" sz="1800">
                <a:solidFill>
                  <a:srgbClr val="333399"/>
                </a:solidFill>
                <a:latin typeface="Arial" pitchFamily="34" charset="0"/>
                <a:ea typeface="黑体" pitchFamily="49" charset="-122"/>
              </a:rPr>
              <a:t>汉字</a:t>
            </a:r>
          </a:p>
        </p:txBody>
      </p:sp>
      <p:sp>
        <p:nvSpPr>
          <p:cNvPr id="5150" name="Rectangle 58"/>
          <p:cNvSpPr>
            <a:spLocks noChangeArrowheads="1"/>
          </p:cNvSpPr>
          <p:nvPr/>
        </p:nvSpPr>
        <p:spPr bwMode="auto">
          <a:xfrm>
            <a:off x="8026400" y="2420938"/>
            <a:ext cx="709613"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显示</a:t>
            </a:r>
          </a:p>
          <a:p>
            <a:pPr algn="l" defTabSz="762000" eaLnBrk="0" hangingPunct="0"/>
            <a:r>
              <a:rPr kumimoji="1" lang="zh-CN" altLang="en-US" sz="1800">
                <a:solidFill>
                  <a:srgbClr val="333399"/>
                </a:solidFill>
                <a:latin typeface="Arial" pitchFamily="34" charset="0"/>
                <a:ea typeface="黑体" pitchFamily="49" charset="-122"/>
              </a:rPr>
              <a:t>汉字</a:t>
            </a:r>
          </a:p>
        </p:txBody>
      </p:sp>
      <p:sp>
        <p:nvSpPr>
          <p:cNvPr id="5151" name="Freeform 59"/>
          <p:cNvSpPr>
            <a:spLocks/>
          </p:cNvSpPr>
          <p:nvPr/>
        </p:nvSpPr>
        <p:spPr bwMode="auto">
          <a:xfrm>
            <a:off x="6645275" y="2928938"/>
            <a:ext cx="742950" cy="165100"/>
          </a:xfrm>
          <a:custGeom>
            <a:avLst/>
            <a:gdLst>
              <a:gd name="T0" fmla="*/ 0 w 672"/>
              <a:gd name="T1" fmla="*/ 2147483647 h 288"/>
              <a:gd name="T2" fmla="*/ 2147483647 w 672"/>
              <a:gd name="T3" fmla="*/ 2147483647 h 288"/>
              <a:gd name="T4" fmla="*/ 2147483647 w 672"/>
              <a:gd name="T5" fmla="*/ 0 h 288"/>
              <a:gd name="T6" fmla="*/ 2147483647 w 672"/>
              <a:gd name="T7" fmla="*/ 0 h 288"/>
              <a:gd name="T8" fmla="*/ 2147483647 w 672"/>
              <a:gd name="T9" fmla="*/ 2147483647 h 288"/>
              <a:gd name="T10" fmla="*/ 2147483647 w 672"/>
              <a:gd name="T11" fmla="*/ 2147483647 h 288"/>
              <a:gd name="T12" fmla="*/ 2147483647 w 672"/>
              <a:gd name="T13" fmla="*/ 0 h 288"/>
              <a:gd name="T14" fmla="*/ 2147483647 w 672"/>
              <a:gd name="T15" fmla="*/ 0 h 288"/>
              <a:gd name="T16" fmla="*/ 2147483647 w 672"/>
              <a:gd name="T17" fmla="*/ 2147483647 h 288"/>
              <a:gd name="T18" fmla="*/ 2147483647 w 672"/>
              <a:gd name="T19" fmla="*/ 2147483647 h 288"/>
              <a:gd name="T20" fmla="*/ 2147483647 w 672"/>
              <a:gd name="T21" fmla="*/ 0 h 288"/>
              <a:gd name="T22" fmla="*/ 2147483647 w 672"/>
              <a:gd name="T23" fmla="*/ 0 h 288"/>
              <a:gd name="T24" fmla="*/ 2147483647 w 672"/>
              <a:gd name="T25" fmla="*/ 2147483647 h 288"/>
              <a:gd name="T26" fmla="*/ 2147483647 w 672"/>
              <a:gd name="T27" fmla="*/ 2147483647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52" name="Group 60"/>
          <p:cNvGrpSpPr>
            <a:grpSpLocks/>
          </p:cNvGrpSpPr>
          <p:nvPr/>
        </p:nvGrpSpPr>
        <p:grpSpPr bwMode="auto">
          <a:xfrm>
            <a:off x="5386388" y="2806700"/>
            <a:ext cx="654050" cy="339725"/>
            <a:chOff x="2315" y="3965"/>
            <a:chExt cx="496" cy="254"/>
          </a:xfrm>
        </p:grpSpPr>
        <p:sp>
          <p:nvSpPr>
            <p:cNvPr id="5174" name="Freeform 61"/>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75" name="Freeform 62"/>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76" name="Freeform 63"/>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77" name="Freeform 64"/>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61" name="Group 113"/>
          <p:cNvGrpSpPr>
            <a:grpSpLocks/>
          </p:cNvGrpSpPr>
          <p:nvPr/>
        </p:nvGrpSpPr>
        <p:grpSpPr bwMode="auto">
          <a:xfrm>
            <a:off x="503238" y="2000250"/>
            <a:ext cx="7735887" cy="363538"/>
            <a:chOff x="317" y="1260"/>
            <a:chExt cx="4873" cy="229"/>
          </a:xfrm>
        </p:grpSpPr>
        <p:sp>
          <p:nvSpPr>
            <p:cNvPr id="5172" name="Line 65"/>
            <p:cNvSpPr>
              <a:spLocks noChangeShapeType="1"/>
            </p:cNvSpPr>
            <p:nvPr/>
          </p:nvSpPr>
          <p:spPr bwMode="auto">
            <a:xfrm>
              <a:off x="317" y="1373"/>
              <a:ext cx="4873" cy="0"/>
            </a:xfrm>
            <a:prstGeom prst="line">
              <a:avLst/>
            </a:prstGeom>
            <a:noFill/>
            <a:ln w="28575">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73" name="Rectangle 66"/>
            <p:cNvSpPr>
              <a:spLocks noChangeArrowheads="1"/>
            </p:cNvSpPr>
            <p:nvPr/>
          </p:nvSpPr>
          <p:spPr bwMode="auto">
            <a:xfrm>
              <a:off x="2294" y="1260"/>
              <a:ext cx="994" cy="22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chemeClr val="hlink"/>
                  </a:solidFill>
                  <a:latin typeface="Arial" pitchFamily="34" charset="0"/>
                  <a:ea typeface="黑体" pitchFamily="49" charset="-122"/>
                </a:rPr>
                <a:t>数据通信系统</a:t>
              </a:r>
            </a:p>
          </p:txBody>
        </p:sp>
      </p:grpSp>
      <p:grpSp>
        <p:nvGrpSpPr>
          <p:cNvPr id="27747" name="Group 99"/>
          <p:cNvGrpSpPr>
            <a:grpSpLocks/>
          </p:cNvGrpSpPr>
          <p:nvPr/>
        </p:nvGrpSpPr>
        <p:grpSpPr bwMode="auto">
          <a:xfrm>
            <a:off x="433388" y="3319463"/>
            <a:ext cx="2838450" cy="1660525"/>
            <a:chOff x="273" y="2091"/>
            <a:chExt cx="1788" cy="1046"/>
          </a:xfrm>
        </p:grpSpPr>
        <p:sp>
          <p:nvSpPr>
            <p:cNvPr id="5168" name="Line 68"/>
            <p:cNvSpPr>
              <a:spLocks noChangeShapeType="1"/>
            </p:cNvSpPr>
            <p:nvPr/>
          </p:nvSpPr>
          <p:spPr bwMode="auto">
            <a:xfrm>
              <a:off x="2061" y="2091"/>
              <a:ext cx="0" cy="1046"/>
            </a:xfrm>
            <a:prstGeom prst="line">
              <a:avLst/>
            </a:prstGeom>
            <a:noFill/>
            <a:ln w="19050">
              <a:solidFill>
                <a:srgbClr val="333399"/>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69" name="Group 98"/>
            <p:cNvGrpSpPr>
              <a:grpSpLocks/>
            </p:cNvGrpSpPr>
            <p:nvPr/>
          </p:nvGrpSpPr>
          <p:grpSpPr bwMode="auto">
            <a:xfrm>
              <a:off x="273" y="2523"/>
              <a:ext cx="1788" cy="237"/>
              <a:chOff x="273" y="2523"/>
              <a:chExt cx="1788" cy="237"/>
            </a:xfrm>
          </p:grpSpPr>
          <p:sp>
            <p:nvSpPr>
              <p:cNvPr id="5170" name="Line 67"/>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71" name="Rectangle 71"/>
              <p:cNvSpPr>
                <a:spLocks noChangeArrowheads="1"/>
              </p:cNvSpPr>
              <p:nvPr/>
            </p:nvSpPr>
            <p:spPr bwMode="auto">
              <a:xfrm>
                <a:off x="854" y="2523"/>
                <a:ext cx="620" cy="237"/>
              </a:xfrm>
              <a:prstGeom prst="rect">
                <a:avLst/>
              </a:prstGeom>
              <a:solidFill>
                <a:srgbClr val="FFFF66"/>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源系统</a:t>
                </a:r>
              </a:p>
            </p:txBody>
          </p:sp>
        </p:grpSp>
      </p:grpSp>
      <p:grpSp>
        <p:nvGrpSpPr>
          <p:cNvPr id="27749" name="Group 101"/>
          <p:cNvGrpSpPr>
            <a:grpSpLocks/>
          </p:cNvGrpSpPr>
          <p:nvPr/>
        </p:nvGrpSpPr>
        <p:grpSpPr bwMode="auto">
          <a:xfrm>
            <a:off x="5541963" y="4021138"/>
            <a:ext cx="2840037" cy="376237"/>
            <a:chOff x="3491" y="2533"/>
            <a:chExt cx="1789" cy="237"/>
          </a:xfrm>
        </p:grpSpPr>
        <p:sp>
          <p:nvSpPr>
            <p:cNvPr id="5166" name="Line 70"/>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7" name="Rectangle 73"/>
            <p:cNvSpPr>
              <a:spLocks noChangeArrowheads="1"/>
            </p:cNvSpPr>
            <p:nvPr/>
          </p:nvSpPr>
          <p:spPr bwMode="auto">
            <a:xfrm>
              <a:off x="4028" y="2533"/>
              <a:ext cx="712" cy="237"/>
            </a:xfrm>
            <a:prstGeom prst="rect">
              <a:avLst/>
            </a:prstGeom>
            <a:solidFill>
              <a:srgbClr val="FFCCFF"/>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目的系统</a:t>
              </a:r>
            </a:p>
          </p:txBody>
        </p:sp>
      </p:grpSp>
      <p:grpSp>
        <p:nvGrpSpPr>
          <p:cNvPr id="27748" name="Group 100"/>
          <p:cNvGrpSpPr>
            <a:grpSpLocks/>
          </p:cNvGrpSpPr>
          <p:nvPr/>
        </p:nvGrpSpPr>
        <p:grpSpPr bwMode="auto">
          <a:xfrm>
            <a:off x="3271838" y="3290888"/>
            <a:ext cx="2270125" cy="1725612"/>
            <a:chOff x="2061" y="2073"/>
            <a:chExt cx="1430" cy="1087"/>
          </a:xfrm>
        </p:grpSpPr>
        <p:sp>
          <p:nvSpPr>
            <p:cNvPr id="5163" name="Line 69"/>
            <p:cNvSpPr>
              <a:spLocks noChangeShapeType="1"/>
            </p:cNvSpPr>
            <p:nvPr/>
          </p:nvSpPr>
          <p:spPr bwMode="auto">
            <a:xfrm>
              <a:off x="2061" y="2660"/>
              <a:ext cx="1430"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4" name="Rectangle 72"/>
            <p:cNvSpPr>
              <a:spLocks noChangeArrowheads="1"/>
            </p:cNvSpPr>
            <p:nvPr/>
          </p:nvSpPr>
          <p:spPr bwMode="auto">
            <a:xfrm>
              <a:off x="2418" y="2533"/>
              <a:ext cx="734" cy="237"/>
            </a:xfrm>
            <a:prstGeom prst="rect">
              <a:avLst/>
            </a:prstGeom>
            <a:solidFill>
              <a:srgbClr val="CCFFFF"/>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传输系统</a:t>
              </a:r>
            </a:p>
          </p:txBody>
        </p:sp>
        <p:sp>
          <p:nvSpPr>
            <p:cNvPr id="5165" name="Line 74"/>
            <p:cNvSpPr>
              <a:spLocks noChangeShapeType="1"/>
            </p:cNvSpPr>
            <p:nvPr/>
          </p:nvSpPr>
          <p:spPr bwMode="auto">
            <a:xfrm flipH="1">
              <a:off x="3486" y="2073"/>
              <a:ext cx="5" cy="1087"/>
            </a:xfrm>
            <a:prstGeom prst="line">
              <a:avLst/>
            </a:prstGeom>
            <a:noFill/>
            <a:ln w="19050">
              <a:solidFill>
                <a:srgbClr val="333399"/>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5157" name="Picture 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7563" y="3052763"/>
            <a:ext cx="852487"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8" name="Picture 7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88225" y="2855913"/>
            <a:ext cx="709613"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27760" name="Group 112"/>
          <p:cNvGrpSpPr>
            <a:grpSpLocks/>
          </p:cNvGrpSpPr>
          <p:nvPr/>
        </p:nvGrpSpPr>
        <p:grpSpPr bwMode="auto">
          <a:xfrm>
            <a:off x="8204200" y="5016500"/>
            <a:ext cx="615950" cy="1262063"/>
            <a:chOff x="5168" y="3160"/>
            <a:chExt cx="388" cy="795"/>
          </a:xfrm>
        </p:grpSpPr>
        <p:sp>
          <p:nvSpPr>
            <p:cNvPr id="5161" name="Rectangle 6"/>
            <p:cNvSpPr>
              <a:spLocks noChangeArrowheads="1"/>
            </p:cNvSpPr>
            <p:nvPr/>
          </p:nvSpPr>
          <p:spPr bwMode="auto">
            <a:xfrm>
              <a:off x="5199"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输出信息</a:t>
              </a:r>
            </a:p>
          </p:txBody>
        </p:sp>
        <p:sp>
          <p:nvSpPr>
            <p:cNvPr id="5162" name="Line 77"/>
            <p:cNvSpPr>
              <a:spLocks noChangeShapeType="1"/>
            </p:cNvSpPr>
            <p:nvPr/>
          </p:nvSpPr>
          <p:spPr bwMode="auto">
            <a:xfrm>
              <a:off x="5168" y="3160"/>
              <a:ext cx="335"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60" name="Rectangle 79"/>
          <p:cNvSpPr>
            <a:spLocks noChangeArrowheads="1"/>
          </p:cNvSpPr>
          <p:nvPr/>
        </p:nvSpPr>
        <p:spPr bwMode="auto">
          <a:xfrm>
            <a:off x="7356475" y="3527425"/>
            <a:ext cx="8159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en-US" altLang="zh-CN" sz="1800">
                <a:solidFill>
                  <a:srgbClr val="333399"/>
                </a:solidFill>
                <a:latin typeface="Arial" pitchFamily="34" charset="0"/>
                <a:ea typeface="黑体" pitchFamily="49" charset="-122"/>
              </a:rPr>
              <a:t>PC </a:t>
            </a:r>
            <a:r>
              <a:rPr kumimoji="1" lang="zh-CN" altLang="en-US" sz="1800">
                <a:solidFill>
                  <a:srgbClr val="333399"/>
                </a:solidFill>
                <a:latin typeface="Arial" pitchFamily="34" charset="0"/>
                <a:ea typeface="黑体" pitchFamily="49" charset="-122"/>
              </a:rPr>
              <a:t>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2776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27761"/>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27747"/>
                                        </p:tgtEl>
                                        <p:attrNameLst>
                                          <p:attrName>style.visibility</p:attrName>
                                        </p:attrNameLst>
                                      </p:cBhvr>
                                      <p:to>
                                        <p:strVal val="visible"/>
                                      </p:to>
                                    </p:set>
                                  </p:childTnLst>
                                </p:cTn>
                              </p:par>
                            </p:childTnLst>
                          </p:cTn>
                        </p:par>
                        <p:par>
                          <p:cTn id="14" fill="hold" nodeType="afterGroup">
                            <p:stCondLst>
                              <p:cond delay="0"/>
                            </p:stCondLst>
                            <p:childTnLst>
                              <p:par>
                                <p:cTn id="15" presetID="35" presetClass="emph" presetSubtype="0" repeatCount="3000" fill="hold" nodeType="afterEffect">
                                  <p:stCondLst>
                                    <p:cond delay="0"/>
                                  </p:stCondLst>
                                  <p:childTnLst>
                                    <p:anim calcmode="discrete" valueType="str">
                                      <p:cBhvr>
                                        <p:cTn id="16" dur="1000" fill="hold"/>
                                        <p:tgtEl>
                                          <p:spTgt spid="2774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7748"/>
                                        </p:tgtEl>
                                        <p:attrNameLst>
                                          <p:attrName>style.visibility</p:attrName>
                                        </p:attrNameLst>
                                      </p:cBhvr>
                                      <p:to>
                                        <p:strVal val="visible"/>
                                      </p:to>
                                    </p:set>
                                  </p:childTnLst>
                                </p:cTn>
                              </p:par>
                            </p:childTnLst>
                          </p:cTn>
                        </p:par>
                        <p:par>
                          <p:cTn id="21" fill="hold" nodeType="afterGroup">
                            <p:stCondLst>
                              <p:cond delay="0"/>
                            </p:stCondLst>
                            <p:childTnLst>
                              <p:par>
                                <p:cTn id="22" presetID="35" presetClass="emph" presetSubtype="0" repeatCount="3000" fill="hold" nodeType="afterEffect">
                                  <p:stCondLst>
                                    <p:cond delay="0"/>
                                  </p:stCondLst>
                                  <p:childTnLst>
                                    <p:anim calcmode="discrete" valueType="str">
                                      <p:cBhvr>
                                        <p:cTn id="23" dur="1000" fill="hold"/>
                                        <p:tgtEl>
                                          <p:spTgt spid="27748"/>
                                        </p:tgtEl>
                                        <p:attrNameLst>
                                          <p:attrName>style.visibility</p:attrName>
                                        </p:attrNameLst>
                                      </p:cBhvr>
                                      <p:tavLst>
                                        <p:tav tm="0">
                                          <p:val>
                                            <p:strVal val="hidden"/>
                                          </p:val>
                                        </p:tav>
                                        <p:tav tm="50000">
                                          <p:val>
                                            <p:strVal val="visible"/>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7749"/>
                                        </p:tgtEl>
                                        <p:attrNameLst>
                                          <p:attrName>style.visibility</p:attrName>
                                        </p:attrNameLst>
                                      </p:cBhvr>
                                      <p:to>
                                        <p:strVal val="visible"/>
                                      </p:to>
                                    </p:set>
                                  </p:childTnLst>
                                </p:cTn>
                              </p:par>
                            </p:childTnLst>
                          </p:cTn>
                        </p:par>
                        <p:par>
                          <p:cTn id="28" fill="hold" nodeType="afterGroup">
                            <p:stCondLst>
                              <p:cond delay="0"/>
                            </p:stCondLst>
                            <p:childTnLst>
                              <p:par>
                                <p:cTn id="29" presetID="35" presetClass="emph" presetSubtype="0" repeatCount="3000" fill="hold" nodeType="afterEffect">
                                  <p:stCondLst>
                                    <p:cond delay="0"/>
                                  </p:stCondLst>
                                  <p:childTnLst>
                                    <p:anim calcmode="discrete" valueType="str">
                                      <p:cBhvr>
                                        <p:cTn id="30" dur="1000" fill="hold"/>
                                        <p:tgtEl>
                                          <p:spTgt spid="27749"/>
                                        </p:tgtEl>
                                        <p:attrNameLst>
                                          <p:attrName>style.visibility</p:attrName>
                                        </p:attrNameLst>
                                      </p:cBhvr>
                                      <p:tavLst>
                                        <p:tav tm="0">
                                          <p:val>
                                            <p:strVal val="hidden"/>
                                          </p:val>
                                        </p:tav>
                                        <p:tav tm="50000">
                                          <p:val>
                                            <p:strVal val="visible"/>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7750"/>
                                        </p:tgtEl>
                                        <p:attrNameLst>
                                          <p:attrName>style.visibility</p:attrName>
                                        </p:attrNameLst>
                                      </p:cBhvr>
                                      <p:to>
                                        <p:strVal val="visible"/>
                                      </p:to>
                                    </p:set>
                                  </p:childTnLst>
                                </p:cTn>
                              </p:par>
                            </p:childTnLst>
                          </p:cTn>
                        </p:par>
                        <p:par>
                          <p:cTn id="35" fill="hold" nodeType="afterGroup">
                            <p:stCondLst>
                              <p:cond delay="0"/>
                            </p:stCondLst>
                            <p:childTnLst>
                              <p:par>
                                <p:cTn id="36" presetID="1" presetClass="entr" presetSubtype="0" fill="hold" nodeType="afterEffect">
                                  <p:stCondLst>
                                    <p:cond delay="500"/>
                                  </p:stCondLst>
                                  <p:childTnLst>
                                    <p:set>
                                      <p:cBhvr>
                                        <p:cTn id="37" dur="1" fill="hold">
                                          <p:stCondLst>
                                            <p:cond delay="0"/>
                                          </p:stCondLst>
                                        </p:cTn>
                                        <p:tgtEl>
                                          <p:spTgt spid="27751"/>
                                        </p:tgtEl>
                                        <p:attrNameLst>
                                          <p:attrName>style.visibility</p:attrName>
                                        </p:attrNameLst>
                                      </p:cBhvr>
                                      <p:to>
                                        <p:strVal val="visible"/>
                                      </p:to>
                                    </p:set>
                                  </p:childTnLst>
                                </p:cTn>
                              </p:par>
                            </p:childTnLst>
                          </p:cTn>
                        </p:par>
                        <p:par>
                          <p:cTn id="38" fill="hold" nodeType="afterGroup">
                            <p:stCondLst>
                              <p:cond delay="500"/>
                            </p:stCondLst>
                            <p:childTnLst>
                              <p:par>
                                <p:cTn id="39" presetID="1" presetClass="entr" presetSubtype="0" fill="hold" nodeType="afterEffect">
                                  <p:stCondLst>
                                    <p:cond delay="1000"/>
                                  </p:stCondLst>
                                  <p:childTnLst>
                                    <p:set>
                                      <p:cBhvr>
                                        <p:cTn id="40" dur="1" fill="hold">
                                          <p:stCondLst>
                                            <p:cond delay="0"/>
                                          </p:stCondLst>
                                        </p:cTn>
                                        <p:tgtEl>
                                          <p:spTgt spid="27752"/>
                                        </p:tgtEl>
                                        <p:attrNameLst>
                                          <p:attrName>style.visibility</p:attrName>
                                        </p:attrNameLst>
                                      </p:cBhvr>
                                      <p:to>
                                        <p:strVal val="visible"/>
                                      </p:to>
                                    </p:set>
                                  </p:childTnLst>
                                </p:cTn>
                              </p:par>
                            </p:childTnLst>
                          </p:cTn>
                        </p:par>
                        <p:par>
                          <p:cTn id="41" fill="hold" nodeType="afterGroup">
                            <p:stCondLst>
                              <p:cond delay="1500"/>
                            </p:stCondLst>
                            <p:childTnLst>
                              <p:par>
                                <p:cTn id="42" presetID="1" presetClass="entr" presetSubtype="0" fill="hold" nodeType="afterEffect">
                                  <p:stCondLst>
                                    <p:cond delay="1000"/>
                                  </p:stCondLst>
                                  <p:childTnLst>
                                    <p:set>
                                      <p:cBhvr>
                                        <p:cTn id="43" dur="1" fill="hold">
                                          <p:stCondLst>
                                            <p:cond delay="0"/>
                                          </p:stCondLst>
                                        </p:cTn>
                                        <p:tgtEl>
                                          <p:spTgt spid="27753"/>
                                        </p:tgtEl>
                                        <p:attrNameLst>
                                          <p:attrName>style.visibility</p:attrName>
                                        </p:attrNameLst>
                                      </p:cBhvr>
                                      <p:to>
                                        <p:strVal val="visible"/>
                                      </p:to>
                                    </p:set>
                                  </p:childTnLst>
                                </p:cTn>
                              </p:par>
                            </p:childTnLst>
                          </p:cTn>
                        </p:par>
                        <p:par>
                          <p:cTn id="44" fill="hold" nodeType="afterGroup">
                            <p:stCondLst>
                              <p:cond delay="2500"/>
                            </p:stCondLst>
                            <p:childTnLst>
                              <p:par>
                                <p:cTn id="45" presetID="1" presetClass="entr" presetSubtype="0" fill="hold" nodeType="afterEffect">
                                  <p:stCondLst>
                                    <p:cond delay="1000"/>
                                  </p:stCondLst>
                                  <p:childTnLst>
                                    <p:set>
                                      <p:cBhvr>
                                        <p:cTn id="46" dur="1" fill="hold">
                                          <p:stCondLst>
                                            <p:cond delay="0"/>
                                          </p:stCondLst>
                                        </p:cTn>
                                        <p:tgtEl>
                                          <p:spTgt spid="27754"/>
                                        </p:tgtEl>
                                        <p:attrNameLst>
                                          <p:attrName>style.visibility</p:attrName>
                                        </p:attrNameLst>
                                      </p:cBhvr>
                                      <p:to>
                                        <p:strVal val="visible"/>
                                      </p:to>
                                    </p:set>
                                  </p:childTnLst>
                                </p:cTn>
                              </p:par>
                            </p:childTnLst>
                          </p:cTn>
                        </p:par>
                        <p:par>
                          <p:cTn id="47" fill="hold" nodeType="afterGroup">
                            <p:stCondLst>
                              <p:cond delay="3500"/>
                            </p:stCondLst>
                            <p:childTnLst>
                              <p:par>
                                <p:cTn id="48" presetID="1" presetClass="entr" presetSubtype="0" fill="hold" nodeType="afterEffect">
                                  <p:stCondLst>
                                    <p:cond delay="1000"/>
                                  </p:stCondLst>
                                  <p:childTnLst>
                                    <p:set>
                                      <p:cBhvr>
                                        <p:cTn id="49" dur="1" fill="hold">
                                          <p:stCondLst>
                                            <p:cond delay="0"/>
                                          </p:stCondLst>
                                        </p:cTn>
                                        <p:tgtEl>
                                          <p:spTgt spid="27755"/>
                                        </p:tgtEl>
                                        <p:attrNameLst>
                                          <p:attrName>style.visibility</p:attrName>
                                        </p:attrNameLst>
                                      </p:cBhvr>
                                      <p:to>
                                        <p:strVal val="visible"/>
                                      </p:to>
                                    </p:set>
                                  </p:childTnLst>
                                </p:cTn>
                              </p:par>
                            </p:childTnLst>
                          </p:cTn>
                        </p:par>
                        <p:par>
                          <p:cTn id="50" fill="hold" nodeType="afterGroup">
                            <p:stCondLst>
                              <p:cond delay="4500"/>
                            </p:stCondLst>
                            <p:childTnLst>
                              <p:par>
                                <p:cTn id="51" presetID="1" presetClass="entr" presetSubtype="0" fill="hold" nodeType="afterEffect">
                                  <p:stCondLst>
                                    <p:cond delay="1000"/>
                                  </p:stCondLst>
                                  <p:childTnLst>
                                    <p:set>
                                      <p:cBhvr>
                                        <p:cTn id="52" dur="1" fill="hold">
                                          <p:stCondLst>
                                            <p:cond delay="0"/>
                                          </p:stCondLst>
                                        </p:cTn>
                                        <p:tgtEl>
                                          <p:spTgt spid="27756"/>
                                        </p:tgtEl>
                                        <p:attrNameLst>
                                          <p:attrName>style.visibility</p:attrName>
                                        </p:attrNameLst>
                                      </p:cBhvr>
                                      <p:to>
                                        <p:strVal val="visible"/>
                                      </p:to>
                                    </p:set>
                                  </p:childTnLst>
                                </p:cTn>
                              </p:par>
                            </p:childTnLst>
                          </p:cTn>
                        </p:par>
                        <p:par>
                          <p:cTn id="53" fill="hold" nodeType="afterGroup">
                            <p:stCondLst>
                              <p:cond delay="5500"/>
                            </p:stCondLst>
                            <p:childTnLst>
                              <p:par>
                                <p:cTn id="54" presetID="1" presetClass="entr" presetSubtype="0" fill="hold" nodeType="afterEffect">
                                  <p:stCondLst>
                                    <p:cond delay="1000"/>
                                  </p:stCondLst>
                                  <p:childTnLst>
                                    <p:set>
                                      <p:cBhvr>
                                        <p:cTn id="55" dur="1" fill="hold">
                                          <p:stCondLst>
                                            <p:cond delay="0"/>
                                          </p:stCondLst>
                                        </p:cTn>
                                        <p:tgtEl>
                                          <p:spTgt spid="27757"/>
                                        </p:tgtEl>
                                        <p:attrNameLst>
                                          <p:attrName>style.visibility</p:attrName>
                                        </p:attrNameLst>
                                      </p:cBhvr>
                                      <p:to>
                                        <p:strVal val="visible"/>
                                      </p:to>
                                    </p:set>
                                  </p:childTnLst>
                                </p:cTn>
                              </p:par>
                            </p:childTnLst>
                          </p:cTn>
                        </p:par>
                        <p:par>
                          <p:cTn id="56" fill="hold" nodeType="afterGroup">
                            <p:stCondLst>
                              <p:cond delay="6500"/>
                            </p:stCondLst>
                            <p:childTnLst>
                              <p:par>
                                <p:cTn id="57" presetID="1" presetClass="entr" presetSubtype="0" fill="hold" nodeType="afterEffect">
                                  <p:stCondLst>
                                    <p:cond delay="1000"/>
                                  </p:stCondLst>
                                  <p:childTnLst>
                                    <p:set>
                                      <p:cBhvr>
                                        <p:cTn id="58" dur="1" fill="hold">
                                          <p:stCondLst>
                                            <p:cond delay="0"/>
                                          </p:stCondLst>
                                        </p:cTn>
                                        <p:tgtEl>
                                          <p:spTgt spid="27758"/>
                                        </p:tgtEl>
                                        <p:attrNameLst>
                                          <p:attrName>style.visibility</p:attrName>
                                        </p:attrNameLst>
                                      </p:cBhvr>
                                      <p:to>
                                        <p:strVal val="visible"/>
                                      </p:to>
                                    </p:set>
                                  </p:childTnLst>
                                </p:cTn>
                              </p:par>
                            </p:childTnLst>
                          </p:cTn>
                        </p:par>
                        <p:par>
                          <p:cTn id="59" fill="hold" nodeType="afterGroup">
                            <p:stCondLst>
                              <p:cond delay="7500"/>
                            </p:stCondLst>
                            <p:childTnLst>
                              <p:par>
                                <p:cTn id="60" presetID="1" presetClass="entr" presetSubtype="0" fill="hold" nodeType="afterEffect">
                                  <p:stCondLst>
                                    <p:cond delay="1000"/>
                                  </p:stCondLst>
                                  <p:childTnLst>
                                    <p:set>
                                      <p:cBhvr>
                                        <p:cTn id="61" dur="1" fill="hold">
                                          <p:stCondLst>
                                            <p:cond delay="0"/>
                                          </p:stCondLst>
                                        </p:cTn>
                                        <p:tgtEl>
                                          <p:spTgt spid="27759"/>
                                        </p:tgtEl>
                                        <p:attrNameLst>
                                          <p:attrName>style.visibility</p:attrName>
                                        </p:attrNameLst>
                                      </p:cBhvr>
                                      <p:to>
                                        <p:strVal val="visible"/>
                                      </p:to>
                                    </p:set>
                                  </p:childTnLst>
                                </p:cTn>
                              </p:par>
                            </p:childTnLst>
                          </p:cTn>
                        </p:par>
                        <p:par>
                          <p:cTn id="62" fill="hold" nodeType="afterGroup">
                            <p:stCondLst>
                              <p:cond delay="8500"/>
                            </p:stCondLst>
                            <p:childTnLst>
                              <p:par>
                                <p:cTn id="63" presetID="1" presetClass="entr" presetSubtype="0" fill="hold" nodeType="afterEffect">
                                  <p:stCondLst>
                                    <p:cond delay="1000"/>
                                  </p:stCondLst>
                                  <p:childTnLst>
                                    <p:set>
                                      <p:cBhvr>
                                        <p:cTn id="64" dur="1" fill="hold">
                                          <p:stCondLst>
                                            <p:cond delay="0"/>
                                          </p:stCondLst>
                                        </p:cTn>
                                        <p:tgtEl>
                                          <p:spTgt spid="277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150938" y="214313"/>
            <a:ext cx="6950075" cy="1462087"/>
          </a:xfrm>
        </p:spPr>
        <p:txBody>
          <a:bodyPr/>
          <a:lstStyle/>
          <a:p>
            <a:pPr algn="ctr" eaLnBrk="1" hangingPunct="1"/>
            <a:r>
              <a:rPr lang="zh-CN" altLang="en-US" smtClean="0"/>
              <a:t>几个术语</a:t>
            </a:r>
          </a:p>
        </p:txBody>
      </p:sp>
      <p:sp>
        <p:nvSpPr>
          <p:cNvPr id="28675" name="Rectangle 3"/>
          <p:cNvSpPr>
            <a:spLocks noGrp="1" noChangeArrowheads="1"/>
          </p:cNvSpPr>
          <p:nvPr>
            <p:ph type="body" idx="1"/>
          </p:nvPr>
        </p:nvSpPr>
        <p:spPr>
          <a:xfrm>
            <a:off x="395288" y="1978025"/>
            <a:ext cx="8748712" cy="4114800"/>
          </a:xfrm>
        </p:spPr>
        <p:txBody>
          <a:bodyPr/>
          <a:lstStyle/>
          <a:p>
            <a:pPr eaLnBrk="1" hangingPunct="1">
              <a:lnSpc>
                <a:spcPct val="120000"/>
              </a:lnSpc>
            </a:pPr>
            <a:r>
              <a:rPr lang="zh-CN" altLang="en-US" sz="2600" smtClean="0"/>
              <a:t>数据</a:t>
            </a:r>
            <a:r>
              <a:rPr lang="en-US" altLang="zh-CN" sz="2600" smtClean="0"/>
              <a:t>(data)——</a:t>
            </a:r>
            <a:r>
              <a:rPr lang="zh-CN" altLang="en-US" sz="2600" smtClean="0"/>
              <a:t>运送消息的实体。</a:t>
            </a:r>
          </a:p>
          <a:p>
            <a:pPr eaLnBrk="1" hangingPunct="1">
              <a:lnSpc>
                <a:spcPct val="120000"/>
              </a:lnSpc>
            </a:pPr>
            <a:r>
              <a:rPr lang="zh-CN" altLang="en-US" sz="2600" smtClean="0"/>
              <a:t>信号</a:t>
            </a:r>
            <a:r>
              <a:rPr lang="en-US" altLang="zh-CN" sz="2600" smtClean="0"/>
              <a:t>(signal)——</a:t>
            </a:r>
            <a:r>
              <a:rPr lang="zh-CN" altLang="en-US" sz="2600" smtClean="0"/>
              <a:t>数据的电气的或电磁的表现。 </a:t>
            </a:r>
          </a:p>
          <a:p>
            <a:pPr eaLnBrk="1" hangingPunct="1">
              <a:lnSpc>
                <a:spcPct val="120000"/>
              </a:lnSpc>
            </a:pPr>
            <a:r>
              <a:rPr lang="zh-CN" altLang="en-US" sz="2600" smtClean="0"/>
              <a:t>“模拟的”</a:t>
            </a:r>
            <a:r>
              <a:rPr lang="en-US" altLang="zh-CN" sz="2600" smtClean="0"/>
              <a:t>(analogous)——</a:t>
            </a:r>
            <a:r>
              <a:rPr lang="zh-CN" altLang="en-US" sz="2600" smtClean="0"/>
              <a:t>代表消息的参数的取值是连续的。 </a:t>
            </a:r>
          </a:p>
          <a:p>
            <a:pPr eaLnBrk="1" hangingPunct="1">
              <a:lnSpc>
                <a:spcPct val="120000"/>
              </a:lnSpc>
            </a:pPr>
            <a:r>
              <a:rPr lang="zh-CN" altLang="en-US" sz="2600" smtClean="0"/>
              <a:t>“数字的”</a:t>
            </a:r>
            <a:r>
              <a:rPr lang="en-US" altLang="zh-CN" sz="2600" smtClean="0"/>
              <a:t>(digital)——</a:t>
            </a:r>
            <a:r>
              <a:rPr lang="zh-CN" altLang="en-US" sz="2600" smtClean="0"/>
              <a:t>代表消息的参数的取值是离散的。 </a:t>
            </a:r>
          </a:p>
          <a:p>
            <a:pPr eaLnBrk="1" hangingPunct="1">
              <a:lnSpc>
                <a:spcPct val="120000"/>
              </a:lnSpc>
            </a:pPr>
            <a:r>
              <a:rPr lang="zh-CN" altLang="en-US" sz="2600" smtClean="0"/>
              <a:t>码元</a:t>
            </a:r>
            <a:r>
              <a:rPr lang="en-US" altLang="zh-CN" sz="2600" smtClean="0"/>
              <a:t>(code)——</a:t>
            </a:r>
            <a:r>
              <a:rPr lang="zh-CN" altLang="en-US" sz="2600" smtClean="0"/>
              <a:t>在使用时间域（或简称为时域）的波形表示数字信号时，代表不同离散数值的基本波形。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00113" y="214313"/>
            <a:ext cx="8043862" cy="1462087"/>
          </a:xfrm>
        </p:spPr>
        <p:txBody>
          <a:bodyPr/>
          <a:lstStyle/>
          <a:p>
            <a:pPr algn="ctr" eaLnBrk="1" hangingPunct="1"/>
            <a:r>
              <a:rPr lang="en-US" altLang="zh-CN" smtClean="0"/>
              <a:t> 2.2.2  </a:t>
            </a:r>
            <a:r>
              <a:rPr lang="zh-CN" altLang="en-US" smtClean="0"/>
              <a:t>有关信号的几个基本概念</a:t>
            </a:r>
          </a:p>
        </p:txBody>
      </p:sp>
      <p:sp>
        <p:nvSpPr>
          <p:cNvPr id="30723" name="Rectangle 3"/>
          <p:cNvSpPr>
            <a:spLocks noGrp="1" noChangeArrowheads="1"/>
          </p:cNvSpPr>
          <p:nvPr>
            <p:ph type="body" idx="1"/>
          </p:nvPr>
        </p:nvSpPr>
        <p:spPr>
          <a:xfrm>
            <a:off x="684213" y="2122488"/>
            <a:ext cx="8131175" cy="4330700"/>
          </a:xfrm>
        </p:spPr>
        <p:txBody>
          <a:bodyPr/>
          <a:lstStyle/>
          <a:p>
            <a:pPr eaLnBrk="1" hangingPunct="1">
              <a:lnSpc>
                <a:spcPct val="90000"/>
              </a:lnSpc>
              <a:spcBef>
                <a:spcPct val="35000"/>
              </a:spcBef>
              <a:spcAft>
                <a:spcPct val="15000"/>
              </a:spcAft>
            </a:pPr>
            <a:r>
              <a:rPr lang="zh-CN" altLang="en-US" smtClean="0">
                <a:solidFill>
                  <a:schemeClr val="hlink"/>
                </a:solidFill>
              </a:rPr>
              <a:t>单向通信</a:t>
            </a:r>
            <a:r>
              <a:rPr lang="zh-CN" altLang="en-US" smtClean="0"/>
              <a:t>（单工通信）</a:t>
            </a:r>
            <a:r>
              <a:rPr lang="en-US" altLang="zh-CN" smtClean="0"/>
              <a:t>——</a:t>
            </a:r>
            <a:r>
              <a:rPr lang="zh-CN" altLang="en-US" smtClean="0"/>
              <a:t>只能有一个方向的通信而没有反方向的交互。</a:t>
            </a:r>
          </a:p>
          <a:p>
            <a:pPr eaLnBrk="1" hangingPunct="1">
              <a:lnSpc>
                <a:spcPct val="90000"/>
              </a:lnSpc>
              <a:spcBef>
                <a:spcPct val="35000"/>
              </a:spcBef>
              <a:spcAft>
                <a:spcPct val="15000"/>
              </a:spcAft>
            </a:pPr>
            <a:r>
              <a:rPr lang="zh-CN" altLang="en-US" smtClean="0">
                <a:solidFill>
                  <a:schemeClr val="hlink"/>
                </a:solidFill>
              </a:rPr>
              <a:t>双向交替通信</a:t>
            </a:r>
            <a:r>
              <a:rPr lang="zh-CN" altLang="en-US" smtClean="0"/>
              <a:t>（半双工通信）</a:t>
            </a:r>
            <a:r>
              <a:rPr lang="en-US" altLang="zh-CN" smtClean="0"/>
              <a:t>——</a:t>
            </a:r>
            <a:r>
              <a:rPr lang="zh-CN" altLang="en-US" smtClean="0"/>
              <a:t>通信的双方都可以发送信息，但不能双方同时发送</a:t>
            </a:r>
            <a:r>
              <a:rPr lang="en-US" altLang="zh-CN" smtClean="0"/>
              <a:t>(</a:t>
            </a:r>
            <a:r>
              <a:rPr lang="zh-CN" altLang="en-US" smtClean="0"/>
              <a:t>当然也就不能同时接收</a:t>
            </a:r>
            <a:r>
              <a:rPr lang="en-US" altLang="zh-CN" smtClean="0"/>
              <a:t>)</a:t>
            </a:r>
            <a:r>
              <a:rPr lang="zh-CN" altLang="en-US" smtClean="0"/>
              <a:t>。</a:t>
            </a:r>
          </a:p>
          <a:p>
            <a:pPr eaLnBrk="1" hangingPunct="1">
              <a:lnSpc>
                <a:spcPct val="90000"/>
              </a:lnSpc>
              <a:spcBef>
                <a:spcPct val="35000"/>
              </a:spcBef>
              <a:spcAft>
                <a:spcPct val="15000"/>
              </a:spcAft>
            </a:pPr>
            <a:r>
              <a:rPr lang="zh-CN" altLang="en-US" smtClean="0">
                <a:solidFill>
                  <a:schemeClr val="hlink"/>
                </a:solidFill>
              </a:rPr>
              <a:t>双向同时通信</a:t>
            </a:r>
            <a:r>
              <a:rPr lang="zh-CN" altLang="en-US" smtClean="0"/>
              <a:t>（全双工通信）</a:t>
            </a:r>
            <a:r>
              <a:rPr lang="en-US" altLang="zh-CN" smtClean="0"/>
              <a:t>——</a:t>
            </a:r>
            <a:r>
              <a:rPr lang="zh-CN" altLang="en-US" smtClean="0"/>
              <a:t>通信的双方可以同时发送和接收信息。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00113" y="188913"/>
            <a:ext cx="8043862" cy="1462087"/>
          </a:xfrm>
        </p:spPr>
        <p:txBody>
          <a:bodyPr/>
          <a:lstStyle/>
          <a:p>
            <a:pPr algn="ctr" eaLnBrk="1" hangingPunct="1"/>
            <a:r>
              <a:rPr lang="zh-CN" altLang="en-US" smtClean="0"/>
              <a:t>基带</a:t>
            </a:r>
            <a:r>
              <a:rPr lang="en-US" altLang="zh-CN" smtClean="0"/>
              <a:t>(baseband)</a:t>
            </a:r>
            <a:r>
              <a:rPr lang="zh-CN" altLang="en-US" smtClean="0"/>
              <a:t>信号和</a:t>
            </a:r>
            <a:br>
              <a:rPr lang="zh-CN" altLang="en-US" smtClean="0"/>
            </a:br>
            <a:r>
              <a:rPr lang="zh-CN" altLang="en-US" smtClean="0"/>
              <a:t>带通</a:t>
            </a:r>
            <a:r>
              <a:rPr lang="en-US" altLang="zh-CN" smtClean="0"/>
              <a:t>(band pass)</a:t>
            </a:r>
            <a:r>
              <a:rPr lang="zh-CN" altLang="en-US" smtClean="0"/>
              <a:t>信号 </a:t>
            </a:r>
          </a:p>
        </p:txBody>
      </p:sp>
      <p:sp>
        <p:nvSpPr>
          <p:cNvPr id="120835" name="Rectangle 3"/>
          <p:cNvSpPr>
            <a:spLocks noGrp="1" noChangeArrowheads="1"/>
          </p:cNvSpPr>
          <p:nvPr>
            <p:ph type="body" idx="1"/>
          </p:nvPr>
        </p:nvSpPr>
        <p:spPr>
          <a:xfrm>
            <a:off x="684213" y="2122488"/>
            <a:ext cx="8131175" cy="4330700"/>
          </a:xfrm>
        </p:spPr>
        <p:txBody>
          <a:bodyPr/>
          <a:lstStyle/>
          <a:p>
            <a:pPr eaLnBrk="1" hangingPunct="1">
              <a:lnSpc>
                <a:spcPct val="80000"/>
              </a:lnSpc>
              <a:spcBef>
                <a:spcPct val="35000"/>
              </a:spcBef>
              <a:spcAft>
                <a:spcPct val="15000"/>
              </a:spcAft>
            </a:pPr>
            <a:r>
              <a:rPr lang="zh-CN" altLang="en-US" sz="2800" smtClean="0">
                <a:solidFill>
                  <a:schemeClr val="hlink"/>
                </a:solidFill>
              </a:rPr>
              <a:t>基带信号</a:t>
            </a:r>
            <a:r>
              <a:rPr lang="zh-CN" altLang="en-US" sz="2800" smtClean="0"/>
              <a:t>（即基本频带信号）</a:t>
            </a:r>
            <a:r>
              <a:rPr lang="en-US" altLang="zh-CN" sz="2800" smtClean="0"/>
              <a:t>——</a:t>
            </a:r>
            <a:r>
              <a:rPr lang="zh-CN" altLang="en-US" sz="2800" smtClean="0"/>
              <a:t>信源（</a:t>
            </a:r>
            <a:r>
              <a:rPr lang="zh-CN" altLang="en-US" sz="2800" smtClean="0">
                <a:hlinkClick r:id="rId3"/>
              </a:rPr>
              <a:t>信息源</a:t>
            </a:r>
            <a:r>
              <a:rPr lang="zh-CN" altLang="en-US" sz="2800" smtClean="0"/>
              <a:t>，也称发送端）发出的没有经过调制（进行频谱搬移和变换）的原始电信号。</a:t>
            </a:r>
          </a:p>
          <a:p>
            <a:pPr eaLnBrk="1" hangingPunct="1">
              <a:lnSpc>
                <a:spcPct val="80000"/>
              </a:lnSpc>
              <a:spcBef>
                <a:spcPct val="35000"/>
              </a:spcBef>
              <a:spcAft>
                <a:spcPct val="15000"/>
              </a:spcAft>
            </a:pPr>
            <a:r>
              <a:rPr lang="zh-CN" altLang="en-US" sz="2800" smtClean="0"/>
              <a:t>基带信号特点是包含有较多的低频成分，甚至有直流成分，而许多信道并不能远距离传输这种低频分量或直流分量（衰减大）。因此必须对基带信号进行</a:t>
            </a:r>
            <a:r>
              <a:rPr lang="zh-CN" altLang="en-US" sz="2800" smtClean="0">
                <a:solidFill>
                  <a:schemeClr val="hlink"/>
                </a:solidFill>
              </a:rPr>
              <a:t>调制</a:t>
            </a:r>
            <a:r>
              <a:rPr lang="en-US" altLang="zh-CN" sz="2800" smtClean="0"/>
              <a:t>(modulation)</a:t>
            </a:r>
            <a:r>
              <a:rPr lang="zh-CN" altLang="en-US" sz="2800" smtClean="0"/>
              <a:t>。   </a:t>
            </a:r>
          </a:p>
          <a:p>
            <a:pPr eaLnBrk="1" hangingPunct="1">
              <a:lnSpc>
                <a:spcPct val="80000"/>
              </a:lnSpc>
              <a:spcBef>
                <a:spcPct val="35000"/>
              </a:spcBef>
              <a:spcAft>
                <a:spcPct val="15000"/>
              </a:spcAft>
            </a:pPr>
            <a:r>
              <a:rPr lang="zh-CN" altLang="en-US" sz="2800" smtClean="0">
                <a:solidFill>
                  <a:schemeClr val="hlink"/>
                </a:solidFill>
              </a:rPr>
              <a:t>带通信号</a:t>
            </a:r>
            <a:r>
              <a:rPr lang="en-US" altLang="zh-CN" sz="2800" smtClean="0">
                <a:solidFill>
                  <a:schemeClr val="tx2"/>
                </a:solidFill>
              </a:rPr>
              <a:t>——</a:t>
            </a:r>
            <a:r>
              <a:rPr lang="zh-CN" altLang="en-US" sz="2800" smtClean="0"/>
              <a:t>把基带信号经过载波调制后，把信号的频率范围搬移到较高的频段以便在信道中传输（即仅在一段频率范围内能够通过信道）。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8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lgn="ctr" eaLnBrk="1" hangingPunct="1"/>
            <a:r>
              <a:rPr lang="zh-CN" altLang="en-US" smtClean="0"/>
              <a:t>几种最基本的调制方法 </a:t>
            </a:r>
          </a:p>
        </p:txBody>
      </p:sp>
      <p:sp>
        <p:nvSpPr>
          <p:cNvPr id="246787" name="Rectangle 3"/>
          <p:cNvSpPr>
            <a:spLocks noGrp="1" noChangeArrowheads="1"/>
          </p:cNvSpPr>
          <p:nvPr>
            <p:ph type="body" idx="1"/>
          </p:nvPr>
        </p:nvSpPr>
        <p:spPr>
          <a:xfrm>
            <a:off x="611188" y="1833563"/>
            <a:ext cx="8532812" cy="4691062"/>
          </a:xfrm>
        </p:spPr>
        <p:txBody>
          <a:bodyPr/>
          <a:lstStyle/>
          <a:p>
            <a:pPr eaLnBrk="1" hangingPunct="1"/>
            <a:r>
              <a:rPr lang="zh-CN" altLang="en-US" smtClean="0"/>
              <a:t>基带信号往往包含有较多的低频成分，甚至有直流成分，而许多信道并不能传输这种低频分量或直流分量。为了解决这一问题，就必须对基带信号进行</a:t>
            </a:r>
            <a:r>
              <a:rPr lang="zh-CN" altLang="en-US" smtClean="0">
                <a:solidFill>
                  <a:schemeClr val="hlink"/>
                </a:solidFill>
              </a:rPr>
              <a:t>调制</a:t>
            </a:r>
            <a:r>
              <a:rPr lang="en-US" altLang="zh-CN" smtClean="0"/>
              <a:t>(modulation)</a:t>
            </a:r>
            <a:r>
              <a:rPr lang="zh-CN" altLang="en-US" smtClean="0"/>
              <a:t>。 </a:t>
            </a:r>
          </a:p>
          <a:p>
            <a:pPr eaLnBrk="1" hangingPunct="1"/>
            <a:r>
              <a:rPr lang="zh-CN" altLang="en-US" smtClean="0"/>
              <a:t>最基本的二元制调制方法有以下几种：</a:t>
            </a:r>
          </a:p>
          <a:p>
            <a:pPr lvl="1" eaLnBrk="1" hangingPunct="1"/>
            <a:r>
              <a:rPr lang="zh-CN" altLang="en-US" smtClean="0">
                <a:solidFill>
                  <a:schemeClr val="hlink"/>
                </a:solidFill>
                <a:latin typeface="Arial" pitchFamily="34" charset="0"/>
                <a:ea typeface="黑体" pitchFamily="49" charset="-122"/>
              </a:rPr>
              <a:t>调幅</a:t>
            </a:r>
            <a:r>
              <a:rPr lang="en-US" altLang="zh-CN" smtClean="0">
                <a:solidFill>
                  <a:srgbClr val="333399"/>
                </a:solidFill>
                <a:latin typeface="Arial" pitchFamily="34" charset="0"/>
                <a:ea typeface="黑体" pitchFamily="49" charset="-122"/>
              </a:rPr>
              <a:t>(AM)</a:t>
            </a:r>
            <a:r>
              <a:rPr lang="zh-CN" altLang="en-US" smtClean="0">
                <a:solidFill>
                  <a:srgbClr val="333399"/>
                </a:solidFill>
                <a:latin typeface="Arial" pitchFamily="34" charset="0"/>
                <a:ea typeface="黑体" pitchFamily="49" charset="-122"/>
              </a:rPr>
              <a:t>：载波的振幅随基带数字信号而变化。 </a:t>
            </a:r>
          </a:p>
          <a:p>
            <a:pPr lvl="1" eaLnBrk="1" hangingPunct="1"/>
            <a:r>
              <a:rPr lang="zh-CN" altLang="en-US" smtClean="0">
                <a:solidFill>
                  <a:schemeClr val="hlink"/>
                </a:solidFill>
                <a:latin typeface="Arial" pitchFamily="34" charset="0"/>
                <a:ea typeface="黑体" pitchFamily="49" charset="-122"/>
              </a:rPr>
              <a:t>调频</a:t>
            </a:r>
            <a:r>
              <a:rPr lang="en-US" altLang="zh-CN" smtClean="0">
                <a:solidFill>
                  <a:srgbClr val="333399"/>
                </a:solidFill>
                <a:latin typeface="Arial" pitchFamily="34" charset="0"/>
                <a:ea typeface="黑体" pitchFamily="49" charset="-122"/>
              </a:rPr>
              <a:t>(FM)</a:t>
            </a:r>
            <a:r>
              <a:rPr lang="zh-CN" altLang="en-US" smtClean="0">
                <a:solidFill>
                  <a:srgbClr val="333399"/>
                </a:solidFill>
                <a:latin typeface="Arial" pitchFamily="34" charset="0"/>
                <a:ea typeface="黑体" pitchFamily="49" charset="-122"/>
              </a:rPr>
              <a:t>：载波的频率随基带数字信号而变化。</a:t>
            </a:r>
          </a:p>
          <a:p>
            <a:pPr lvl="1" eaLnBrk="1" hangingPunct="1"/>
            <a:r>
              <a:rPr lang="zh-CN" altLang="en-US" smtClean="0">
                <a:solidFill>
                  <a:schemeClr val="hlink"/>
                </a:solidFill>
                <a:latin typeface="Arial" pitchFamily="34" charset="0"/>
                <a:ea typeface="黑体" pitchFamily="49" charset="-122"/>
              </a:rPr>
              <a:t>调相</a:t>
            </a:r>
            <a:r>
              <a:rPr lang="en-US" altLang="zh-CN" smtClean="0">
                <a:solidFill>
                  <a:srgbClr val="333399"/>
                </a:solidFill>
                <a:latin typeface="Arial" pitchFamily="34" charset="0"/>
                <a:ea typeface="黑体" pitchFamily="49" charset="-122"/>
              </a:rPr>
              <a:t>(PM) </a:t>
            </a:r>
            <a:r>
              <a:rPr lang="zh-CN" altLang="en-US" smtClean="0">
                <a:solidFill>
                  <a:srgbClr val="333399"/>
                </a:solidFill>
                <a:latin typeface="Arial" pitchFamily="34" charset="0"/>
                <a:ea typeface="黑体" pitchFamily="49" charset="-122"/>
              </a:rPr>
              <a:t>：载波的初始相位随基带数字信号而变化。</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78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678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678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67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19163" y="214313"/>
            <a:ext cx="8116887" cy="1462087"/>
          </a:xfrm>
        </p:spPr>
        <p:txBody>
          <a:bodyPr/>
          <a:lstStyle/>
          <a:p>
            <a:pPr algn="ctr" eaLnBrk="1" hangingPunct="1"/>
            <a:r>
              <a:rPr lang="zh-CN" altLang="en-US" smtClean="0"/>
              <a:t>对基带数字信号的几种调制方法 </a:t>
            </a:r>
          </a:p>
        </p:txBody>
      </p:sp>
      <p:sp>
        <p:nvSpPr>
          <p:cNvPr id="10243" name="Rectangle 3"/>
          <p:cNvSpPr>
            <a:spLocks noChangeArrowheads="1"/>
          </p:cNvSpPr>
          <p:nvPr/>
        </p:nvSpPr>
        <p:spPr bwMode="auto">
          <a:xfrm>
            <a:off x="1724025" y="2297113"/>
            <a:ext cx="3508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0</a:t>
            </a:r>
          </a:p>
        </p:txBody>
      </p:sp>
      <p:sp>
        <p:nvSpPr>
          <p:cNvPr id="10244" name="Rectangle 4"/>
          <p:cNvSpPr>
            <a:spLocks noChangeArrowheads="1"/>
          </p:cNvSpPr>
          <p:nvPr/>
        </p:nvSpPr>
        <p:spPr bwMode="auto">
          <a:xfrm>
            <a:off x="2471738" y="2297113"/>
            <a:ext cx="3508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1</a:t>
            </a:r>
          </a:p>
        </p:txBody>
      </p:sp>
      <p:sp>
        <p:nvSpPr>
          <p:cNvPr id="10245" name="Rectangle 5"/>
          <p:cNvSpPr>
            <a:spLocks noChangeArrowheads="1"/>
          </p:cNvSpPr>
          <p:nvPr/>
        </p:nvSpPr>
        <p:spPr bwMode="auto">
          <a:xfrm>
            <a:off x="3219450" y="2297113"/>
            <a:ext cx="3508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0</a:t>
            </a:r>
          </a:p>
        </p:txBody>
      </p:sp>
      <p:sp>
        <p:nvSpPr>
          <p:cNvPr id="10246" name="Rectangle 6"/>
          <p:cNvSpPr>
            <a:spLocks noChangeArrowheads="1"/>
          </p:cNvSpPr>
          <p:nvPr/>
        </p:nvSpPr>
        <p:spPr bwMode="auto">
          <a:xfrm>
            <a:off x="4014788" y="2297113"/>
            <a:ext cx="3508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0</a:t>
            </a:r>
          </a:p>
        </p:txBody>
      </p:sp>
      <p:sp>
        <p:nvSpPr>
          <p:cNvPr id="10247" name="Rectangle 7"/>
          <p:cNvSpPr>
            <a:spLocks noChangeArrowheads="1"/>
          </p:cNvSpPr>
          <p:nvPr/>
        </p:nvSpPr>
        <p:spPr bwMode="auto">
          <a:xfrm>
            <a:off x="4762500" y="2297113"/>
            <a:ext cx="3508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1</a:t>
            </a:r>
          </a:p>
        </p:txBody>
      </p:sp>
      <p:sp>
        <p:nvSpPr>
          <p:cNvPr id="10248" name="Rectangle 8"/>
          <p:cNvSpPr>
            <a:spLocks noChangeArrowheads="1"/>
          </p:cNvSpPr>
          <p:nvPr/>
        </p:nvSpPr>
        <p:spPr bwMode="auto">
          <a:xfrm>
            <a:off x="5510213" y="2297113"/>
            <a:ext cx="3508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1</a:t>
            </a:r>
          </a:p>
        </p:txBody>
      </p:sp>
      <p:sp>
        <p:nvSpPr>
          <p:cNvPr id="10249" name="Rectangle 9"/>
          <p:cNvSpPr>
            <a:spLocks noChangeArrowheads="1"/>
          </p:cNvSpPr>
          <p:nvPr/>
        </p:nvSpPr>
        <p:spPr bwMode="auto">
          <a:xfrm>
            <a:off x="6257925" y="2297113"/>
            <a:ext cx="3508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1</a:t>
            </a:r>
          </a:p>
        </p:txBody>
      </p:sp>
      <p:sp>
        <p:nvSpPr>
          <p:cNvPr id="10250" name="Rectangle 10"/>
          <p:cNvSpPr>
            <a:spLocks noChangeArrowheads="1"/>
          </p:cNvSpPr>
          <p:nvPr/>
        </p:nvSpPr>
        <p:spPr bwMode="auto">
          <a:xfrm>
            <a:off x="7053263" y="2297113"/>
            <a:ext cx="3508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0</a:t>
            </a:r>
          </a:p>
        </p:txBody>
      </p:sp>
      <p:sp>
        <p:nvSpPr>
          <p:cNvPr id="10251" name="Rectangle 11"/>
          <p:cNvSpPr>
            <a:spLocks noChangeArrowheads="1"/>
          </p:cNvSpPr>
          <p:nvPr/>
        </p:nvSpPr>
        <p:spPr bwMode="auto">
          <a:xfrm>
            <a:off x="7824788" y="2297113"/>
            <a:ext cx="3508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a:solidFill>
                  <a:srgbClr val="333399"/>
                </a:solidFill>
                <a:latin typeface="Arial" pitchFamily="34" charset="0"/>
              </a:rPr>
              <a:t>0</a:t>
            </a:r>
          </a:p>
        </p:txBody>
      </p:sp>
      <p:sp>
        <p:nvSpPr>
          <p:cNvPr id="10252" name="Freeform 12"/>
          <p:cNvSpPr>
            <a:spLocks/>
          </p:cNvSpPr>
          <p:nvPr/>
        </p:nvSpPr>
        <p:spPr bwMode="auto">
          <a:xfrm>
            <a:off x="1528763" y="2189163"/>
            <a:ext cx="6859587" cy="577850"/>
          </a:xfrm>
          <a:custGeom>
            <a:avLst/>
            <a:gdLst>
              <a:gd name="T0" fmla="*/ 0 w 4321"/>
              <a:gd name="T1" fmla="*/ 2147483647 h 487"/>
              <a:gd name="T2" fmla="*/ 2147483647 w 4321"/>
              <a:gd name="T3" fmla="*/ 2147483647 h 487"/>
              <a:gd name="T4" fmla="*/ 2147483647 w 4321"/>
              <a:gd name="T5" fmla="*/ 0 h 487"/>
              <a:gd name="T6" fmla="*/ 2147483647 w 4321"/>
              <a:gd name="T7" fmla="*/ 0 h 487"/>
              <a:gd name="T8" fmla="*/ 2147483647 w 4321"/>
              <a:gd name="T9" fmla="*/ 2147483647 h 487"/>
              <a:gd name="T10" fmla="*/ 2147483647 w 4321"/>
              <a:gd name="T11" fmla="*/ 2147483647 h 487"/>
              <a:gd name="T12" fmla="*/ 2147483647 w 4321"/>
              <a:gd name="T13" fmla="*/ 0 h 487"/>
              <a:gd name="T14" fmla="*/ 2147483647 w 4321"/>
              <a:gd name="T15" fmla="*/ 0 h 487"/>
              <a:gd name="T16" fmla="*/ 2147483647 w 4321"/>
              <a:gd name="T17" fmla="*/ 2147483647 h 487"/>
              <a:gd name="T18" fmla="*/ 2147483647 w 4321"/>
              <a:gd name="T19" fmla="*/ 2147483647 h 4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21" h="487">
                <a:moveTo>
                  <a:pt x="0" y="486"/>
                </a:moveTo>
                <a:lnTo>
                  <a:pt x="477" y="486"/>
                </a:lnTo>
                <a:lnTo>
                  <a:pt x="477" y="0"/>
                </a:lnTo>
                <a:lnTo>
                  <a:pt x="963" y="0"/>
                </a:lnTo>
                <a:lnTo>
                  <a:pt x="963" y="486"/>
                </a:lnTo>
                <a:lnTo>
                  <a:pt x="1926" y="486"/>
                </a:lnTo>
                <a:lnTo>
                  <a:pt x="1926" y="0"/>
                </a:lnTo>
                <a:lnTo>
                  <a:pt x="3357" y="0"/>
                </a:lnTo>
                <a:lnTo>
                  <a:pt x="3357" y="486"/>
                </a:lnTo>
                <a:lnTo>
                  <a:pt x="4320" y="486"/>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3" name="Freeform 13"/>
          <p:cNvSpPr>
            <a:spLocks/>
          </p:cNvSpPr>
          <p:nvPr/>
        </p:nvSpPr>
        <p:spPr bwMode="auto">
          <a:xfrm>
            <a:off x="8386763" y="2765425"/>
            <a:ext cx="1587" cy="1588"/>
          </a:xfrm>
          <a:custGeom>
            <a:avLst/>
            <a:gdLst>
              <a:gd name="T0" fmla="*/ 0 w 1"/>
              <a:gd name="T1" fmla="*/ 0 h 1"/>
              <a:gd name="T2" fmla="*/ 0 w 1"/>
              <a:gd name="T3" fmla="*/ 0 h 1"/>
              <a:gd name="T4" fmla="*/ 0 60000 65536"/>
              <a:gd name="T5" fmla="*/ 0 60000 65536"/>
            </a:gdLst>
            <a:ahLst/>
            <a:cxnLst>
              <a:cxn ang="T4">
                <a:pos x="T0" y="T1"/>
              </a:cxn>
              <a:cxn ang="T5">
                <a:pos x="T2" y="T3"/>
              </a:cxn>
            </a:cxnLst>
            <a:rect l="0" t="0" r="r" b="b"/>
            <a:pathLst>
              <a:path w="1" h="1">
                <a:moveTo>
                  <a:pt x="0" y="0"/>
                </a:moveTo>
                <a:lnTo>
                  <a:pt x="0"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4" name="Freeform 14"/>
          <p:cNvSpPr>
            <a:spLocks/>
          </p:cNvSpPr>
          <p:nvPr/>
        </p:nvSpPr>
        <p:spPr bwMode="auto">
          <a:xfrm>
            <a:off x="1541463" y="3511550"/>
            <a:ext cx="754062" cy="1588"/>
          </a:xfrm>
          <a:custGeom>
            <a:avLst/>
            <a:gdLst>
              <a:gd name="T0" fmla="*/ 0 w 475"/>
              <a:gd name="T1" fmla="*/ 0 h 1"/>
              <a:gd name="T2" fmla="*/ 2147483647 w 475"/>
              <a:gd name="T3" fmla="*/ 2147483647 h 1"/>
              <a:gd name="T4" fmla="*/ 0 60000 65536"/>
              <a:gd name="T5" fmla="*/ 0 60000 65536"/>
            </a:gdLst>
            <a:ahLst/>
            <a:cxnLst>
              <a:cxn ang="T4">
                <a:pos x="T0" y="T1"/>
              </a:cxn>
              <a:cxn ang="T5">
                <a:pos x="T2" y="T3"/>
              </a:cxn>
            </a:cxnLst>
            <a:rect l="0" t="0" r="r" b="b"/>
            <a:pathLst>
              <a:path w="475" h="1">
                <a:moveTo>
                  <a:pt x="0" y="0"/>
                </a:moveTo>
                <a:lnTo>
                  <a:pt x="475" y="1"/>
                </a:lnTo>
              </a:path>
            </a:pathLst>
          </a:custGeom>
          <a:noFill/>
          <a:ln w="38100" cmpd="sng">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5" name="Freeform 15"/>
          <p:cNvSpPr>
            <a:spLocks/>
          </p:cNvSpPr>
          <p:nvPr/>
        </p:nvSpPr>
        <p:spPr bwMode="auto">
          <a:xfrm>
            <a:off x="3052763" y="3508375"/>
            <a:ext cx="1538287" cy="4763"/>
          </a:xfrm>
          <a:custGeom>
            <a:avLst/>
            <a:gdLst>
              <a:gd name="T0" fmla="*/ 0 w 969"/>
              <a:gd name="T1" fmla="*/ 2147483647 h 3"/>
              <a:gd name="T2" fmla="*/ 2147483647 w 969"/>
              <a:gd name="T3" fmla="*/ 0 h 3"/>
              <a:gd name="T4" fmla="*/ 0 60000 65536"/>
              <a:gd name="T5" fmla="*/ 0 60000 65536"/>
            </a:gdLst>
            <a:ahLst/>
            <a:cxnLst>
              <a:cxn ang="T4">
                <a:pos x="T0" y="T1"/>
              </a:cxn>
              <a:cxn ang="T5">
                <a:pos x="T2" y="T3"/>
              </a:cxn>
            </a:cxnLst>
            <a:rect l="0" t="0" r="r" b="b"/>
            <a:pathLst>
              <a:path w="969" h="3">
                <a:moveTo>
                  <a:pt x="0" y="3"/>
                </a:moveTo>
                <a:lnTo>
                  <a:pt x="969" y="0"/>
                </a:lnTo>
              </a:path>
            </a:pathLst>
          </a:custGeom>
          <a:noFill/>
          <a:ln w="38100" cmpd="sng">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6" name="Line 16"/>
          <p:cNvSpPr>
            <a:spLocks noChangeShapeType="1"/>
          </p:cNvSpPr>
          <p:nvPr/>
        </p:nvSpPr>
        <p:spPr bwMode="auto">
          <a:xfrm>
            <a:off x="6870700" y="3511550"/>
            <a:ext cx="1503363"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7" name="Freeform 17"/>
          <p:cNvSpPr>
            <a:spLocks/>
          </p:cNvSpPr>
          <p:nvPr/>
        </p:nvSpPr>
        <p:spPr bwMode="auto">
          <a:xfrm>
            <a:off x="6108700" y="3073400"/>
            <a:ext cx="52388"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8" name="Freeform 18"/>
          <p:cNvSpPr>
            <a:spLocks/>
          </p:cNvSpPr>
          <p:nvPr/>
        </p:nvSpPr>
        <p:spPr bwMode="auto">
          <a:xfrm>
            <a:off x="6161088" y="3078163"/>
            <a:ext cx="139700" cy="841375"/>
          </a:xfrm>
          <a:custGeom>
            <a:avLst/>
            <a:gdLst>
              <a:gd name="T0" fmla="*/ 0 w 88"/>
              <a:gd name="T1" fmla="*/ 0 h 530"/>
              <a:gd name="T2" fmla="*/ 2147483647 w 88"/>
              <a:gd name="T3" fmla="*/ 2147483647 h 530"/>
              <a:gd name="T4" fmla="*/ 2147483647 w 88"/>
              <a:gd name="T5" fmla="*/ 2147483647 h 530"/>
              <a:gd name="T6" fmla="*/ 2147483647 w 88"/>
              <a:gd name="T7" fmla="*/ 2147483647 h 530"/>
              <a:gd name="T8" fmla="*/ 2147483647 w 88"/>
              <a:gd name="T9" fmla="*/ 2147483647 h 530"/>
              <a:gd name="T10" fmla="*/ 2147483647 w 88"/>
              <a:gd name="T11" fmla="*/ 2147483647 h 530"/>
              <a:gd name="T12" fmla="*/ 2147483647 w 88"/>
              <a:gd name="T13" fmla="*/ 2147483647 h 530"/>
              <a:gd name="T14" fmla="*/ 2147483647 w 88"/>
              <a:gd name="T15" fmla="*/ 2147483647 h 530"/>
              <a:gd name="T16" fmla="*/ 2147483647 w 88"/>
              <a:gd name="T17" fmla="*/ 2147483647 h 530"/>
              <a:gd name="T18" fmla="*/ 2147483647 w 88"/>
              <a:gd name="T19" fmla="*/ 2147483647 h 530"/>
              <a:gd name="T20" fmla="*/ 2147483647 w 88"/>
              <a:gd name="T21" fmla="*/ 2147483647 h 530"/>
              <a:gd name="T22" fmla="*/ 2147483647 w 88"/>
              <a:gd name="T23" fmla="*/ 2147483647 h 530"/>
              <a:gd name="T24" fmla="*/ 2147483647 w 88"/>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8"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8" y="271"/>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9" name="Freeform 19"/>
          <p:cNvSpPr>
            <a:spLocks/>
          </p:cNvSpPr>
          <p:nvPr/>
        </p:nvSpPr>
        <p:spPr bwMode="auto">
          <a:xfrm>
            <a:off x="6297613" y="3073400"/>
            <a:ext cx="50800" cy="431800"/>
          </a:xfrm>
          <a:custGeom>
            <a:avLst/>
            <a:gdLst>
              <a:gd name="T0" fmla="*/ 0 w 32"/>
              <a:gd name="T1" fmla="*/ 2147483647 h 363"/>
              <a:gd name="T2" fmla="*/ 2147483647 w 32"/>
              <a:gd name="T3" fmla="*/ 2147483647 h 363"/>
              <a:gd name="T4" fmla="*/ 2147483647 w 32"/>
              <a:gd name="T5" fmla="*/ 2147483647 h 363"/>
              <a:gd name="T6" fmla="*/ 2147483647 w 32"/>
              <a:gd name="T7" fmla="*/ 2147483647 h 363"/>
              <a:gd name="T8" fmla="*/ 2147483647 w 32"/>
              <a:gd name="T9" fmla="*/ 2147483647 h 363"/>
              <a:gd name="T10" fmla="*/ 2147483647 w 32"/>
              <a:gd name="T11" fmla="*/ 2147483647 h 363"/>
              <a:gd name="T12" fmla="*/ 2147483647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0" name="Freeform 20"/>
          <p:cNvSpPr>
            <a:spLocks/>
          </p:cNvSpPr>
          <p:nvPr/>
        </p:nvSpPr>
        <p:spPr bwMode="auto">
          <a:xfrm>
            <a:off x="6348413" y="3078163"/>
            <a:ext cx="133350" cy="841375"/>
          </a:xfrm>
          <a:custGeom>
            <a:avLst/>
            <a:gdLst>
              <a:gd name="T0" fmla="*/ 0 w 84"/>
              <a:gd name="T1" fmla="*/ 0 h 530"/>
              <a:gd name="T2" fmla="*/ 2147483647 w 84"/>
              <a:gd name="T3" fmla="*/ 2147483647 h 530"/>
              <a:gd name="T4" fmla="*/ 2147483647 w 84"/>
              <a:gd name="T5" fmla="*/ 2147483647 h 530"/>
              <a:gd name="T6" fmla="*/ 2147483647 w 84"/>
              <a:gd name="T7" fmla="*/ 2147483647 h 530"/>
              <a:gd name="T8" fmla="*/ 2147483647 w 84"/>
              <a:gd name="T9" fmla="*/ 2147483647 h 530"/>
              <a:gd name="T10" fmla="*/ 2147483647 w 84"/>
              <a:gd name="T11" fmla="*/ 2147483647 h 530"/>
              <a:gd name="T12" fmla="*/ 2147483647 w 84"/>
              <a:gd name="T13" fmla="*/ 2147483647 h 530"/>
              <a:gd name="T14" fmla="*/ 2147483647 w 84"/>
              <a:gd name="T15" fmla="*/ 2147483647 h 530"/>
              <a:gd name="T16" fmla="*/ 2147483647 w 84"/>
              <a:gd name="T17" fmla="*/ 2147483647 h 530"/>
              <a:gd name="T18" fmla="*/ 2147483647 w 84"/>
              <a:gd name="T19" fmla="*/ 2147483647 h 530"/>
              <a:gd name="T20" fmla="*/ 2147483647 w 84"/>
              <a:gd name="T21" fmla="*/ 2147483647 h 530"/>
              <a:gd name="T22" fmla="*/ 2147483647 w 84"/>
              <a:gd name="T23" fmla="*/ 2147483647 h 530"/>
              <a:gd name="T24" fmla="*/ 2147483647 w 84"/>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4" y="271"/>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261" name="Group 21"/>
          <p:cNvGrpSpPr>
            <a:grpSpLocks/>
          </p:cNvGrpSpPr>
          <p:nvPr/>
        </p:nvGrpSpPr>
        <p:grpSpPr bwMode="auto">
          <a:xfrm>
            <a:off x="6483350" y="3067050"/>
            <a:ext cx="187325" cy="847725"/>
            <a:chOff x="4075" y="1309"/>
            <a:chExt cx="118" cy="713"/>
          </a:xfrm>
        </p:grpSpPr>
        <p:sp>
          <p:nvSpPr>
            <p:cNvPr id="10407" name="Freeform 22"/>
            <p:cNvSpPr>
              <a:spLocks/>
            </p:cNvSpPr>
            <p:nvPr/>
          </p:nvSpPr>
          <p:spPr bwMode="auto">
            <a:xfrm>
              <a:off x="4075"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08" name="Freeform 23"/>
            <p:cNvSpPr>
              <a:spLocks/>
            </p:cNvSpPr>
            <p:nvPr/>
          </p:nvSpPr>
          <p:spPr bwMode="auto">
            <a:xfrm>
              <a:off x="4109"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262" name="Freeform 24"/>
          <p:cNvSpPr>
            <a:spLocks/>
          </p:cNvSpPr>
          <p:nvPr/>
        </p:nvSpPr>
        <p:spPr bwMode="auto">
          <a:xfrm>
            <a:off x="6670675" y="3067050"/>
            <a:ext cx="55563" cy="431800"/>
          </a:xfrm>
          <a:custGeom>
            <a:avLst/>
            <a:gdLst>
              <a:gd name="T0" fmla="*/ 0 w 35"/>
              <a:gd name="T1" fmla="*/ 2147483647 h 363"/>
              <a:gd name="T2" fmla="*/ 2147483647 w 35"/>
              <a:gd name="T3" fmla="*/ 2147483647 h 363"/>
              <a:gd name="T4" fmla="*/ 2147483647 w 35"/>
              <a:gd name="T5" fmla="*/ 2147483647 h 363"/>
              <a:gd name="T6" fmla="*/ 2147483647 w 35"/>
              <a:gd name="T7" fmla="*/ 2147483647 h 363"/>
              <a:gd name="T8" fmla="*/ 2147483647 w 35"/>
              <a:gd name="T9" fmla="*/ 2147483647 h 363"/>
              <a:gd name="T10" fmla="*/ 2147483647 w 35"/>
              <a:gd name="T11" fmla="*/ 2147483647 h 363"/>
              <a:gd name="T12" fmla="*/ 2147483647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3" name="Freeform 25"/>
          <p:cNvSpPr>
            <a:spLocks/>
          </p:cNvSpPr>
          <p:nvPr/>
        </p:nvSpPr>
        <p:spPr bwMode="auto">
          <a:xfrm>
            <a:off x="6726238" y="3071813"/>
            <a:ext cx="131762" cy="841375"/>
          </a:xfrm>
          <a:custGeom>
            <a:avLst/>
            <a:gdLst>
              <a:gd name="T0" fmla="*/ 0 w 83"/>
              <a:gd name="T1" fmla="*/ 0 h 530"/>
              <a:gd name="T2" fmla="*/ 2147483647 w 83"/>
              <a:gd name="T3" fmla="*/ 2147483647 h 530"/>
              <a:gd name="T4" fmla="*/ 2147483647 w 83"/>
              <a:gd name="T5" fmla="*/ 2147483647 h 530"/>
              <a:gd name="T6" fmla="*/ 2147483647 w 83"/>
              <a:gd name="T7" fmla="*/ 2147483647 h 530"/>
              <a:gd name="T8" fmla="*/ 2147483647 w 83"/>
              <a:gd name="T9" fmla="*/ 2147483647 h 530"/>
              <a:gd name="T10" fmla="*/ 2147483647 w 83"/>
              <a:gd name="T11" fmla="*/ 2147483647 h 530"/>
              <a:gd name="T12" fmla="*/ 2147483647 w 83"/>
              <a:gd name="T13" fmla="*/ 2147483647 h 530"/>
              <a:gd name="T14" fmla="*/ 2147483647 w 83"/>
              <a:gd name="T15" fmla="*/ 2147483647 h 530"/>
              <a:gd name="T16" fmla="*/ 2147483647 w 83"/>
              <a:gd name="T17" fmla="*/ 2147483647 h 530"/>
              <a:gd name="T18" fmla="*/ 2147483647 w 83"/>
              <a:gd name="T19" fmla="*/ 2147483647 h 530"/>
              <a:gd name="T20" fmla="*/ 2147483647 w 83"/>
              <a:gd name="T21" fmla="*/ 2147483647 h 530"/>
              <a:gd name="T22" fmla="*/ 2147483647 w 83"/>
              <a:gd name="T23" fmla="*/ 2147483647 h 530"/>
              <a:gd name="T24" fmla="*/ 2147483647 w 83"/>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3"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3" y="278"/>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4" name="Freeform 26"/>
          <p:cNvSpPr>
            <a:spLocks/>
          </p:cNvSpPr>
          <p:nvPr/>
        </p:nvSpPr>
        <p:spPr bwMode="auto">
          <a:xfrm>
            <a:off x="5354638" y="3073400"/>
            <a:ext cx="52387"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5" name="Freeform 27"/>
          <p:cNvSpPr>
            <a:spLocks/>
          </p:cNvSpPr>
          <p:nvPr/>
        </p:nvSpPr>
        <p:spPr bwMode="auto">
          <a:xfrm>
            <a:off x="5407025" y="3078163"/>
            <a:ext cx="136525" cy="841375"/>
          </a:xfrm>
          <a:custGeom>
            <a:avLst/>
            <a:gdLst>
              <a:gd name="T0" fmla="*/ 0 w 86"/>
              <a:gd name="T1" fmla="*/ 0 h 530"/>
              <a:gd name="T2" fmla="*/ 2147483647 w 86"/>
              <a:gd name="T3" fmla="*/ 2147483647 h 530"/>
              <a:gd name="T4" fmla="*/ 2147483647 w 86"/>
              <a:gd name="T5" fmla="*/ 2147483647 h 530"/>
              <a:gd name="T6" fmla="*/ 2147483647 w 86"/>
              <a:gd name="T7" fmla="*/ 2147483647 h 530"/>
              <a:gd name="T8" fmla="*/ 2147483647 w 86"/>
              <a:gd name="T9" fmla="*/ 2147483647 h 530"/>
              <a:gd name="T10" fmla="*/ 2147483647 w 86"/>
              <a:gd name="T11" fmla="*/ 2147483647 h 530"/>
              <a:gd name="T12" fmla="*/ 2147483647 w 86"/>
              <a:gd name="T13" fmla="*/ 2147483647 h 530"/>
              <a:gd name="T14" fmla="*/ 2147483647 w 86"/>
              <a:gd name="T15" fmla="*/ 2147483647 h 530"/>
              <a:gd name="T16" fmla="*/ 2147483647 w 86"/>
              <a:gd name="T17" fmla="*/ 2147483647 h 530"/>
              <a:gd name="T18" fmla="*/ 2147483647 w 86"/>
              <a:gd name="T19" fmla="*/ 2147483647 h 530"/>
              <a:gd name="T20" fmla="*/ 2147483647 w 86"/>
              <a:gd name="T21" fmla="*/ 2147483647 h 530"/>
              <a:gd name="T22" fmla="*/ 2147483647 w 86"/>
              <a:gd name="T23" fmla="*/ 2147483647 h 530"/>
              <a:gd name="T24" fmla="*/ 2147483647 w 86"/>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68"/>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6" name="Freeform 28"/>
          <p:cNvSpPr>
            <a:spLocks/>
          </p:cNvSpPr>
          <p:nvPr/>
        </p:nvSpPr>
        <p:spPr bwMode="auto">
          <a:xfrm>
            <a:off x="5543550" y="3073400"/>
            <a:ext cx="50800" cy="431800"/>
          </a:xfrm>
          <a:custGeom>
            <a:avLst/>
            <a:gdLst>
              <a:gd name="T0" fmla="*/ 0 w 32"/>
              <a:gd name="T1" fmla="*/ 2147483647 h 363"/>
              <a:gd name="T2" fmla="*/ 2147483647 w 32"/>
              <a:gd name="T3" fmla="*/ 2147483647 h 363"/>
              <a:gd name="T4" fmla="*/ 2147483647 w 32"/>
              <a:gd name="T5" fmla="*/ 2147483647 h 363"/>
              <a:gd name="T6" fmla="*/ 2147483647 w 32"/>
              <a:gd name="T7" fmla="*/ 2147483647 h 363"/>
              <a:gd name="T8" fmla="*/ 2147483647 w 32"/>
              <a:gd name="T9" fmla="*/ 2147483647 h 363"/>
              <a:gd name="T10" fmla="*/ 2147483647 w 32"/>
              <a:gd name="T11" fmla="*/ 2147483647 h 363"/>
              <a:gd name="T12" fmla="*/ 2147483647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7" name="Freeform 29"/>
          <p:cNvSpPr>
            <a:spLocks/>
          </p:cNvSpPr>
          <p:nvPr/>
        </p:nvSpPr>
        <p:spPr bwMode="auto">
          <a:xfrm>
            <a:off x="5594350" y="3078163"/>
            <a:ext cx="134938" cy="841375"/>
          </a:xfrm>
          <a:custGeom>
            <a:avLst/>
            <a:gdLst>
              <a:gd name="T0" fmla="*/ 0 w 85"/>
              <a:gd name="T1" fmla="*/ 0 h 530"/>
              <a:gd name="T2" fmla="*/ 2147483647 w 85"/>
              <a:gd name="T3" fmla="*/ 2147483647 h 530"/>
              <a:gd name="T4" fmla="*/ 2147483647 w 85"/>
              <a:gd name="T5" fmla="*/ 2147483647 h 530"/>
              <a:gd name="T6" fmla="*/ 2147483647 w 85"/>
              <a:gd name="T7" fmla="*/ 2147483647 h 530"/>
              <a:gd name="T8" fmla="*/ 2147483647 w 85"/>
              <a:gd name="T9" fmla="*/ 2147483647 h 530"/>
              <a:gd name="T10" fmla="*/ 2147483647 w 85"/>
              <a:gd name="T11" fmla="*/ 2147483647 h 530"/>
              <a:gd name="T12" fmla="*/ 2147483647 w 85"/>
              <a:gd name="T13" fmla="*/ 2147483647 h 530"/>
              <a:gd name="T14" fmla="*/ 2147483647 w 85"/>
              <a:gd name="T15" fmla="*/ 2147483647 h 530"/>
              <a:gd name="T16" fmla="*/ 2147483647 w 85"/>
              <a:gd name="T17" fmla="*/ 2147483647 h 530"/>
              <a:gd name="T18" fmla="*/ 2147483647 w 85"/>
              <a:gd name="T19" fmla="*/ 2147483647 h 530"/>
              <a:gd name="T20" fmla="*/ 2147483647 w 85"/>
              <a:gd name="T21" fmla="*/ 2147483647 h 530"/>
              <a:gd name="T22" fmla="*/ 2147483647 w 85"/>
              <a:gd name="T23" fmla="*/ 2147483647 h 530"/>
              <a:gd name="T24" fmla="*/ 2147483647 w 85"/>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71"/>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268" name="Group 30"/>
          <p:cNvGrpSpPr>
            <a:grpSpLocks/>
          </p:cNvGrpSpPr>
          <p:nvPr/>
        </p:nvGrpSpPr>
        <p:grpSpPr bwMode="auto">
          <a:xfrm>
            <a:off x="5729288" y="3067050"/>
            <a:ext cx="376237" cy="847725"/>
            <a:chOff x="3600" y="1309"/>
            <a:chExt cx="237" cy="713"/>
          </a:xfrm>
        </p:grpSpPr>
        <p:grpSp>
          <p:nvGrpSpPr>
            <p:cNvPr id="10401" name="Group 31"/>
            <p:cNvGrpSpPr>
              <a:grpSpLocks/>
            </p:cNvGrpSpPr>
            <p:nvPr/>
          </p:nvGrpSpPr>
          <p:grpSpPr bwMode="auto">
            <a:xfrm>
              <a:off x="3600" y="1309"/>
              <a:ext cx="118" cy="713"/>
              <a:chOff x="3600" y="1309"/>
              <a:chExt cx="118" cy="713"/>
            </a:xfrm>
          </p:grpSpPr>
          <p:sp>
            <p:nvSpPr>
              <p:cNvPr id="10405" name="Freeform 32"/>
              <p:cNvSpPr>
                <a:spLocks/>
              </p:cNvSpPr>
              <p:nvPr/>
            </p:nvSpPr>
            <p:spPr bwMode="auto">
              <a:xfrm>
                <a:off x="3600"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06" name="Freeform 33"/>
              <p:cNvSpPr>
                <a:spLocks/>
              </p:cNvSpPr>
              <p:nvPr/>
            </p:nvSpPr>
            <p:spPr bwMode="auto">
              <a:xfrm>
                <a:off x="3634"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402" name="Group 34"/>
            <p:cNvGrpSpPr>
              <a:grpSpLocks/>
            </p:cNvGrpSpPr>
            <p:nvPr/>
          </p:nvGrpSpPr>
          <p:grpSpPr bwMode="auto">
            <a:xfrm>
              <a:off x="3718" y="1309"/>
              <a:ext cx="119" cy="713"/>
              <a:chOff x="3718" y="1309"/>
              <a:chExt cx="119" cy="713"/>
            </a:xfrm>
          </p:grpSpPr>
          <p:sp>
            <p:nvSpPr>
              <p:cNvPr id="10403" name="Freeform 35"/>
              <p:cNvSpPr>
                <a:spLocks/>
              </p:cNvSpPr>
              <p:nvPr/>
            </p:nvSpPr>
            <p:spPr bwMode="auto">
              <a:xfrm>
                <a:off x="3718" y="130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04" name="Freeform 36"/>
              <p:cNvSpPr>
                <a:spLocks/>
              </p:cNvSpPr>
              <p:nvPr/>
            </p:nvSpPr>
            <p:spPr bwMode="auto">
              <a:xfrm>
                <a:off x="3753"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0269" name="Freeform 37"/>
          <p:cNvSpPr>
            <a:spLocks/>
          </p:cNvSpPr>
          <p:nvPr/>
        </p:nvSpPr>
        <p:spPr bwMode="auto">
          <a:xfrm>
            <a:off x="4586288" y="3073400"/>
            <a:ext cx="52387"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0" name="Freeform 38"/>
          <p:cNvSpPr>
            <a:spLocks/>
          </p:cNvSpPr>
          <p:nvPr/>
        </p:nvSpPr>
        <p:spPr bwMode="auto">
          <a:xfrm>
            <a:off x="4638675" y="3078163"/>
            <a:ext cx="138113" cy="841375"/>
          </a:xfrm>
          <a:custGeom>
            <a:avLst/>
            <a:gdLst>
              <a:gd name="T0" fmla="*/ 0 w 87"/>
              <a:gd name="T1" fmla="*/ 0 h 530"/>
              <a:gd name="T2" fmla="*/ 2147483647 w 87"/>
              <a:gd name="T3" fmla="*/ 2147483647 h 530"/>
              <a:gd name="T4" fmla="*/ 2147483647 w 87"/>
              <a:gd name="T5" fmla="*/ 2147483647 h 530"/>
              <a:gd name="T6" fmla="*/ 2147483647 w 87"/>
              <a:gd name="T7" fmla="*/ 2147483647 h 530"/>
              <a:gd name="T8" fmla="*/ 2147483647 w 87"/>
              <a:gd name="T9" fmla="*/ 2147483647 h 530"/>
              <a:gd name="T10" fmla="*/ 2147483647 w 87"/>
              <a:gd name="T11" fmla="*/ 2147483647 h 530"/>
              <a:gd name="T12" fmla="*/ 2147483647 w 87"/>
              <a:gd name="T13" fmla="*/ 2147483647 h 530"/>
              <a:gd name="T14" fmla="*/ 2147483647 w 87"/>
              <a:gd name="T15" fmla="*/ 2147483647 h 530"/>
              <a:gd name="T16" fmla="*/ 2147483647 w 87"/>
              <a:gd name="T17" fmla="*/ 2147483647 h 530"/>
              <a:gd name="T18" fmla="*/ 2147483647 w 87"/>
              <a:gd name="T19" fmla="*/ 2147483647 h 530"/>
              <a:gd name="T20" fmla="*/ 2147483647 w 87"/>
              <a:gd name="T21" fmla="*/ 2147483647 h 530"/>
              <a:gd name="T22" fmla="*/ 2147483647 w 87"/>
              <a:gd name="T23" fmla="*/ 2147483647 h 530"/>
              <a:gd name="T24" fmla="*/ 2147483647 w 87"/>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65"/>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1" name="Freeform 39"/>
          <p:cNvSpPr>
            <a:spLocks/>
          </p:cNvSpPr>
          <p:nvPr/>
        </p:nvSpPr>
        <p:spPr bwMode="auto">
          <a:xfrm>
            <a:off x="4775200" y="3073400"/>
            <a:ext cx="50800" cy="431800"/>
          </a:xfrm>
          <a:custGeom>
            <a:avLst/>
            <a:gdLst>
              <a:gd name="T0" fmla="*/ 0 w 32"/>
              <a:gd name="T1" fmla="*/ 2147483647 h 363"/>
              <a:gd name="T2" fmla="*/ 2147483647 w 32"/>
              <a:gd name="T3" fmla="*/ 2147483647 h 363"/>
              <a:gd name="T4" fmla="*/ 2147483647 w 32"/>
              <a:gd name="T5" fmla="*/ 2147483647 h 363"/>
              <a:gd name="T6" fmla="*/ 2147483647 w 32"/>
              <a:gd name="T7" fmla="*/ 2147483647 h 363"/>
              <a:gd name="T8" fmla="*/ 2147483647 w 32"/>
              <a:gd name="T9" fmla="*/ 2147483647 h 363"/>
              <a:gd name="T10" fmla="*/ 2147483647 w 32"/>
              <a:gd name="T11" fmla="*/ 2147483647 h 363"/>
              <a:gd name="T12" fmla="*/ 2147483647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2" name="Freeform 40"/>
          <p:cNvSpPr>
            <a:spLocks/>
          </p:cNvSpPr>
          <p:nvPr/>
        </p:nvSpPr>
        <p:spPr bwMode="auto">
          <a:xfrm>
            <a:off x="4826000" y="3078163"/>
            <a:ext cx="136525" cy="841375"/>
          </a:xfrm>
          <a:custGeom>
            <a:avLst/>
            <a:gdLst>
              <a:gd name="T0" fmla="*/ 0 w 86"/>
              <a:gd name="T1" fmla="*/ 0 h 530"/>
              <a:gd name="T2" fmla="*/ 2147483647 w 86"/>
              <a:gd name="T3" fmla="*/ 2147483647 h 530"/>
              <a:gd name="T4" fmla="*/ 2147483647 w 86"/>
              <a:gd name="T5" fmla="*/ 2147483647 h 530"/>
              <a:gd name="T6" fmla="*/ 2147483647 w 86"/>
              <a:gd name="T7" fmla="*/ 2147483647 h 530"/>
              <a:gd name="T8" fmla="*/ 2147483647 w 86"/>
              <a:gd name="T9" fmla="*/ 2147483647 h 530"/>
              <a:gd name="T10" fmla="*/ 2147483647 w 86"/>
              <a:gd name="T11" fmla="*/ 2147483647 h 530"/>
              <a:gd name="T12" fmla="*/ 2147483647 w 86"/>
              <a:gd name="T13" fmla="*/ 2147483647 h 530"/>
              <a:gd name="T14" fmla="*/ 2147483647 w 86"/>
              <a:gd name="T15" fmla="*/ 2147483647 h 530"/>
              <a:gd name="T16" fmla="*/ 2147483647 w 86"/>
              <a:gd name="T17" fmla="*/ 2147483647 h 530"/>
              <a:gd name="T18" fmla="*/ 2147483647 w 86"/>
              <a:gd name="T19" fmla="*/ 2147483647 h 530"/>
              <a:gd name="T20" fmla="*/ 2147483647 w 86"/>
              <a:gd name="T21" fmla="*/ 2147483647 h 530"/>
              <a:gd name="T22" fmla="*/ 2147483647 w 86"/>
              <a:gd name="T23" fmla="*/ 2147483647 h 530"/>
              <a:gd name="T24" fmla="*/ 2147483647 w 86"/>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74"/>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273" name="Group 41"/>
          <p:cNvGrpSpPr>
            <a:grpSpLocks/>
          </p:cNvGrpSpPr>
          <p:nvPr/>
        </p:nvGrpSpPr>
        <p:grpSpPr bwMode="auto">
          <a:xfrm>
            <a:off x="4962525" y="3067050"/>
            <a:ext cx="185738" cy="847725"/>
            <a:chOff x="3117" y="1309"/>
            <a:chExt cx="117" cy="713"/>
          </a:xfrm>
        </p:grpSpPr>
        <p:sp>
          <p:nvSpPr>
            <p:cNvPr id="10399" name="Freeform 42"/>
            <p:cNvSpPr>
              <a:spLocks/>
            </p:cNvSpPr>
            <p:nvPr/>
          </p:nvSpPr>
          <p:spPr bwMode="auto">
            <a:xfrm>
              <a:off x="3117" y="1309"/>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00" name="Freeform 43"/>
            <p:cNvSpPr>
              <a:spLocks/>
            </p:cNvSpPr>
            <p:nvPr/>
          </p:nvSpPr>
          <p:spPr bwMode="auto">
            <a:xfrm>
              <a:off x="3150"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274" name="Freeform 44"/>
          <p:cNvSpPr>
            <a:spLocks/>
          </p:cNvSpPr>
          <p:nvPr/>
        </p:nvSpPr>
        <p:spPr bwMode="auto">
          <a:xfrm>
            <a:off x="5148263" y="3067050"/>
            <a:ext cx="55562" cy="431800"/>
          </a:xfrm>
          <a:custGeom>
            <a:avLst/>
            <a:gdLst>
              <a:gd name="T0" fmla="*/ 0 w 35"/>
              <a:gd name="T1" fmla="*/ 2147483647 h 363"/>
              <a:gd name="T2" fmla="*/ 2147483647 w 35"/>
              <a:gd name="T3" fmla="*/ 2147483647 h 363"/>
              <a:gd name="T4" fmla="*/ 2147483647 w 35"/>
              <a:gd name="T5" fmla="*/ 2147483647 h 363"/>
              <a:gd name="T6" fmla="*/ 2147483647 w 35"/>
              <a:gd name="T7" fmla="*/ 2147483647 h 363"/>
              <a:gd name="T8" fmla="*/ 2147483647 w 35"/>
              <a:gd name="T9" fmla="*/ 2147483647 h 363"/>
              <a:gd name="T10" fmla="*/ 2147483647 w 35"/>
              <a:gd name="T11" fmla="*/ 2147483647 h 363"/>
              <a:gd name="T12" fmla="*/ 2147483647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5" name="Freeform 45"/>
          <p:cNvSpPr>
            <a:spLocks/>
          </p:cNvSpPr>
          <p:nvPr/>
        </p:nvSpPr>
        <p:spPr bwMode="auto">
          <a:xfrm>
            <a:off x="5203825" y="3071813"/>
            <a:ext cx="144463" cy="841375"/>
          </a:xfrm>
          <a:custGeom>
            <a:avLst/>
            <a:gdLst>
              <a:gd name="T0" fmla="*/ 0 w 91"/>
              <a:gd name="T1" fmla="*/ 0 h 530"/>
              <a:gd name="T2" fmla="*/ 2147483647 w 91"/>
              <a:gd name="T3" fmla="*/ 2147483647 h 530"/>
              <a:gd name="T4" fmla="*/ 2147483647 w 91"/>
              <a:gd name="T5" fmla="*/ 2147483647 h 530"/>
              <a:gd name="T6" fmla="*/ 2147483647 w 91"/>
              <a:gd name="T7" fmla="*/ 2147483647 h 530"/>
              <a:gd name="T8" fmla="*/ 2147483647 w 91"/>
              <a:gd name="T9" fmla="*/ 2147483647 h 530"/>
              <a:gd name="T10" fmla="*/ 2147483647 w 91"/>
              <a:gd name="T11" fmla="*/ 2147483647 h 530"/>
              <a:gd name="T12" fmla="*/ 2147483647 w 91"/>
              <a:gd name="T13" fmla="*/ 2147483647 h 530"/>
              <a:gd name="T14" fmla="*/ 2147483647 w 91"/>
              <a:gd name="T15" fmla="*/ 2147483647 h 530"/>
              <a:gd name="T16" fmla="*/ 2147483647 w 91"/>
              <a:gd name="T17" fmla="*/ 2147483647 h 530"/>
              <a:gd name="T18" fmla="*/ 2147483647 w 91"/>
              <a:gd name="T19" fmla="*/ 2147483647 h 530"/>
              <a:gd name="T20" fmla="*/ 2147483647 w 91"/>
              <a:gd name="T21" fmla="*/ 2147483647 h 530"/>
              <a:gd name="T22" fmla="*/ 2147483647 w 91"/>
              <a:gd name="T23" fmla="*/ 2147483647 h 530"/>
              <a:gd name="T24" fmla="*/ 2147483647 w 91"/>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1"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1" y="281"/>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6" name="Freeform 46"/>
          <p:cNvSpPr>
            <a:spLocks/>
          </p:cNvSpPr>
          <p:nvPr/>
        </p:nvSpPr>
        <p:spPr bwMode="auto">
          <a:xfrm>
            <a:off x="2286000" y="4210050"/>
            <a:ext cx="60325" cy="460375"/>
          </a:xfrm>
          <a:custGeom>
            <a:avLst/>
            <a:gdLst>
              <a:gd name="T0" fmla="*/ 0 w 38"/>
              <a:gd name="T1" fmla="*/ 2147483647 h 290"/>
              <a:gd name="T2" fmla="*/ 2147483647 w 38"/>
              <a:gd name="T3" fmla="*/ 2147483647 h 290"/>
              <a:gd name="T4" fmla="*/ 2147483647 w 38"/>
              <a:gd name="T5" fmla="*/ 2147483647 h 290"/>
              <a:gd name="T6" fmla="*/ 2147483647 w 38"/>
              <a:gd name="T7" fmla="*/ 2147483647 h 290"/>
              <a:gd name="T8" fmla="*/ 2147483647 w 38"/>
              <a:gd name="T9" fmla="*/ 2147483647 h 290"/>
              <a:gd name="T10" fmla="*/ 2147483647 w 38"/>
              <a:gd name="T11" fmla="*/ 2147483647 h 290"/>
              <a:gd name="T12" fmla="*/ 2147483647 w 38"/>
              <a:gd name="T13" fmla="*/ 0 h 2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 h="290">
                <a:moveTo>
                  <a:pt x="0" y="290"/>
                </a:moveTo>
                <a:lnTo>
                  <a:pt x="26" y="40"/>
                </a:lnTo>
                <a:lnTo>
                  <a:pt x="27" y="28"/>
                </a:lnTo>
                <a:lnTo>
                  <a:pt x="28" y="19"/>
                </a:lnTo>
                <a:lnTo>
                  <a:pt x="30" y="11"/>
                </a:lnTo>
                <a:lnTo>
                  <a:pt x="33" y="4"/>
                </a:lnTo>
                <a:lnTo>
                  <a:pt x="38"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7" name="Freeform 47"/>
          <p:cNvSpPr>
            <a:spLocks/>
          </p:cNvSpPr>
          <p:nvPr/>
        </p:nvSpPr>
        <p:spPr bwMode="auto">
          <a:xfrm>
            <a:off x="2347913" y="4214813"/>
            <a:ext cx="138112" cy="842962"/>
          </a:xfrm>
          <a:custGeom>
            <a:avLst/>
            <a:gdLst>
              <a:gd name="T0" fmla="*/ 0 w 87"/>
              <a:gd name="T1" fmla="*/ 0 h 709"/>
              <a:gd name="T2" fmla="*/ 2147483647 w 87"/>
              <a:gd name="T3" fmla="*/ 2147483647 h 709"/>
              <a:gd name="T4" fmla="*/ 2147483647 w 87"/>
              <a:gd name="T5" fmla="*/ 2147483647 h 709"/>
              <a:gd name="T6" fmla="*/ 2147483647 w 87"/>
              <a:gd name="T7" fmla="*/ 2147483647 h 709"/>
              <a:gd name="T8" fmla="*/ 2147483647 w 87"/>
              <a:gd name="T9" fmla="*/ 2147483647 h 709"/>
              <a:gd name="T10" fmla="*/ 2147483647 w 87"/>
              <a:gd name="T11" fmla="*/ 2147483647 h 709"/>
              <a:gd name="T12" fmla="*/ 2147483647 w 87"/>
              <a:gd name="T13" fmla="*/ 2147483647 h 709"/>
              <a:gd name="T14" fmla="*/ 2147483647 w 87"/>
              <a:gd name="T15" fmla="*/ 2147483647 h 709"/>
              <a:gd name="T16" fmla="*/ 2147483647 w 87"/>
              <a:gd name="T17" fmla="*/ 2147483647 h 709"/>
              <a:gd name="T18" fmla="*/ 2147483647 w 87"/>
              <a:gd name="T19" fmla="*/ 2147483647 h 709"/>
              <a:gd name="T20" fmla="*/ 2147483647 w 87"/>
              <a:gd name="T21" fmla="*/ 2147483647 h 709"/>
              <a:gd name="T22" fmla="*/ 2147483647 w 87"/>
              <a:gd name="T23" fmla="*/ 2147483647 h 709"/>
              <a:gd name="T24" fmla="*/ 2147483647 w 87"/>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709">
                <a:moveTo>
                  <a:pt x="0" y="0"/>
                </a:moveTo>
                <a:lnTo>
                  <a:pt x="7" y="4"/>
                </a:lnTo>
                <a:lnTo>
                  <a:pt x="12" y="16"/>
                </a:lnTo>
                <a:lnTo>
                  <a:pt x="14" y="33"/>
                </a:lnTo>
                <a:lnTo>
                  <a:pt x="16" y="59"/>
                </a:lnTo>
                <a:lnTo>
                  <a:pt x="43" y="651"/>
                </a:lnTo>
                <a:lnTo>
                  <a:pt x="46" y="684"/>
                </a:lnTo>
                <a:lnTo>
                  <a:pt x="48" y="694"/>
                </a:lnTo>
                <a:lnTo>
                  <a:pt x="53" y="704"/>
                </a:lnTo>
                <a:lnTo>
                  <a:pt x="58" y="708"/>
                </a:lnTo>
                <a:lnTo>
                  <a:pt x="64" y="700"/>
                </a:lnTo>
                <a:lnTo>
                  <a:pt x="68" y="684"/>
                </a:lnTo>
                <a:lnTo>
                  <a:pt x="86"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278" name="Group 48"/>
          <p:cNvGrpSpPr>
            <a:grpSpLocks/>
          </p:cNvGrpSpPr>
          <p:nvPr/>
        </p:nvGrpSpPr>
        <p:grpSpPr bwMode="auto">
          <a:xfrm>
            <a:off x="2486025" y="4210050"/>
            <a:ext cx="188913" cy="847725"/>
            <a:chOff x="1557" y="2272"/>
            <a:chExt cx="119" cy="713"/>
          </a:xfrm>
        </p:grpSpPr>
        <p:sp>
          <p:nvSpPr>
            <p:cNvPr id="10397" name="Freeform 49"/>
            <p:cNvSpPr>
              <a:spLocks/>
            </p:cNvSpPr>
            <p:nvPr/>
          </p:nvSpPr>
          <p:spPr bwMode="auto">
            <a:xfrm>
              <a:off x="1557" y="2272"/>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98" name="Freeform 50"/>
            <p:cNvSpPr>
              <a:spLocks/>
            </p:cNvSpPr>
            <p:nvPr/>
          </p:nvSpPr>
          <p:spPr bwMode="auto">
            <a:xfrm>
              <a:off x="1590" y="2276"/>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279" name="Freeform 51"/>
          <p:cNvSpPr>
            <a:spLocks/>
          </p:cNvSpPr>
          <p:nvPr/>
        </p:nvSpPr>
        <p:spPr bwMode="auto">
          <a:xfrm>
            <a:off x="2671763" y="4203700"/>
            <a:ext cx="55562" cy="466725"/>
          </a:xfrm>
          <a:custGeom>
            <a:avLst/>
            <a:gdLst>
              <a:gd name="T0" fmla="*/ 0 w 35"/>
              <a:gd name="T1" fmla="*/ 2147483647 h 294"/>
              <a:gd name="T2" fmla="*/ 2147483647 w 35"/>
              <a:gd name="T3" fmla="*/ 2147483647 h 294"/>
              <a:gd name="T4" fmla="*/ 2147483647 w 35"/>
              <a:gd name="T5" fmla="*/ 2147483647 h 294"/>
              <a:gd name="T6" fmla="*/ 2147483647 w 35"/>
              <a:gd name="T7" fmla="*/ 2147483647 h 294"/>
              <a:gd name="T8" fmla="*/ 2147483647 w 35"/>
              <a:gd name="T9" fmla="*/ 2147483647 h 294"/>
              <a:gd name="T10" fmla="*/ 2147483647 w 35"/>
              <a:gd name="T11" fmla="*/ 2147483647 h 294"/>
              <a:gd name="T12" fmla="*/ 2147483647 w 35"/>
              <a:gd name="T13" fmla="*/ 0 h 2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294">
                <a:moveTo>
                  <a:pt x="0" y="294"/>
                </a:moveTo>
                <a:lnTo>
                  <a:pt x="22" y="40"/>
                </a:lnTo>
                <a:lnTo>
                  <a:pt x="24" y="28"/>
                </a:lnTo>
                <a:lnTo>
                  <a:pt x="25" y="19"/>
                </a:lnTo>
                <a:lnTo>
                  <a:pt x="26" y="11"/>
                </a:lnTo>
                <a:lnTo>
                  <a:pt x="30" y="4"/>
                </a:lnTo>
                <a:lnTo>
                  <a:pt x="35"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0" name="Freeform 52"/>
          <p:cNvSpPr>
            <a:spLocks/>
          </p:cNvSpPr>
          <p:nvPr/>
        </p:nvSpPr>
        <p:spPr bwMode="auto">
          <a:xfrm>
            <a:off x="2728913" y="4208463"/>
            <a:ext cx="134937" cy="842962"/>
          </a:xfrm>
          <a:custGeom>
            <a:avLst/>
            <a:gdLst>
              <a:gd name="T0" fmla="*/ 0 w 85"/>
              <a:gd name="T1" fmla="*/ 0 h 709"/>
              <a:gd name="T2" fmla="*/ 2147483647 w 85"/>
              <a:gd name="T3" fmla="*/ 2147483647 h 709"/>
              <a:gd name="T4" fmla="*/ 2147483647 w 85"/>
              <a:gd name="T5" fmla="*/ 2147483647 h 709"/>
              <a:gd name="T6" fmla="*/ 2147483647 w 85"/>
              <a:gd name="T7" fmla="*/ 2147483647 h 709"/>
              <a:gd name="T8" fmla="*/ 2147483647 w 85"/>
              <a:gd name="T9" fmla="*/ 2147483647 h 709"/>
              <a:gd name="T10" fmla="*/ 2147483647 w 85"/>
              <a:gd name="T11" fmla="*/ 2147483647 h 709"/>
              <a:gd name="T12" fmla="*/ 2147483647 w 85"/>
              <a:gd name="T13" fmla="*/ 2147483647 h 709"/>
              <a:gd name="T14" fmla="*/ 2147483647 w 85"/>
              <a:gd name="T15" fmla="*/ 2147483647 h 709"/>
              <a:gd name="T16" fmla="*/ 2147483647 w 85"/>
              <a:gd name="T17" fmla="*/ 2147483647 h 709"/>
              <a:gd name="T18" fmla="*/ 2147483647 w 85"/>
              <a:gd name="T19" fmla="*/ 2147483647 h 709"/>
              <a:gd name="T20" fmla="*/ 2147483647 w 85"/>
              <a:gd name="T21" fmla="*/ 2147483647 h 709"/>
              <a:gd name="T22" fmla="*/ 2147483647 w 85"/>
              <a:gd name="T23" fmla="*/ 2147483647 h 709"/>
              <a:gd name="T24" fmla="*/ 2147483647 w 85"/>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709">
                <a:moveTo>
                  <a:pt x="0" y="0"/>
                </a:moveTo>
                <a:lnTo>
                  <a:pt x="7" y="4"/>
                </a:lnTo>
                <a:lnTo>
                  <a:pt x="12" y="16"/>
                </a:lnTo>
                <a:lnTo>
                  <a:pt x="14" y="33"/>
                </a:lnTo>
                <a:lnTo>
                  <a:pt x="15" y="59"/>
                </a:lnTo>
                <a:lnTo>
                  <a:pt x="42" y="651"/>
                </a:lnTo>
                <a:lnTo>
                  <a:pt x="45" y="684"/>
                </a:lnTo>
                <a:lnTo>
                  <a:pt x="47" y="694"/>
                </a:lnTo>
                <a:lnTo>
                  <a:pt x="52" y="704"/>
                </a:lnTo>
                <a:lnTo>
                  <a:pt x="57" y="708"/>
                </a:lnTo>
                <a:lnTo>
                  <a:pt x="62" y="700"/>
                </a:lnTo>
                <a:lnTo>
                  <a:pt x="66" y="684"/>
                </a:lnTo>
                <a:lnTo>
                  <a:pt x="84"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1" name="Freeform 53"/>
          <p:cNvSpPr>
            <a:spLocks/>
          </p:cNvSpPr>
          <p:nvPr/>
        </p:nvSpPr>
        <p:spPr bwMode="auto">
          <a:xfrm>
            <a:off x="2862263" y="4203700"/>
            <a:ext cx="55562" cy="442913"/>
          </a:xfrm>
          <a:custGeom>
            <a:avLst/>
            <a:gdLst>
              <a:gd name="T0" fmla="*/ 0 w 35"/>
              <a:gd name="T1" fmla="*/ 2147483647 h 279"/>
              <a:gd name="T2" fmla="*/ 2147483647 w 35"/>
              <a:gd name="T3" fmla="*/ 2147483647 h 279"/>
              <a:gd name="T4" fmla="*/ 2147483647 w 35"/>
              <a:gd name="T5" fmla="*/ 2147483647 h 279"/>
              <a:gd name="T6" fmla="*/ 2147483647 w 35"/>
              <a:gd name="T7" fmla="*/ 2147483647 h 279"/>
              <a:gd name="T8" fmla="*/ 2147483647 w 35"/>
              <a:gd name="T9" fmla="*/ 2147483647 h 279"/>
              <a:gd name="T10" fmla="*/ 2147483647 w 35"/>
              <a:gd name="T11" fmla="*/ 2147483647 h 279"/>
              <a:gd name="T12" fmla="*/ 2147483647 w 35"/>
              <a:gd name="T13" fmla="*/ 0 h 2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279">
                <a:moveTo>
                  <a:pt x="0" y="279"/>
                </a:moveTo>
                <a:lnTo>
                  <a:pt x="22" y="40"/>
                </a:lnTo>
                <a:lnTo>
                  <a:pt x="23" y="28"/>
                </a:lnTo>
                <a:lnTo>
                  <a:pt x="24" y="19"/>
                </a:lnTo>
                <a:lnTo>
                  <a:pt x="26" y="11"/>
                </a:lnTo>
                <a:lnTo>
                  <a:pt x="30" y="4"/>
                </a:lnTo>
                <a:lnTo>
                  <a:pt x="35"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2" name="Freeform 54"/>
          <p:cNvSpPr>
            <a:spLocks/>
          </p:cNvSpPr>
          <p:nvPr/>
        </p:nvSpPr>
        <p:spPr bwMode="auto">
          <a:xfrm>
            <a:off x="2919413" y="4208463"/>
            <a:ext cx="152400" cy="841375"/>
          </a:xfrm>
          <a:custGeom>
            <a:avLst/>
            <a:gdLst>
              <a:gd name="T0" fmla="*/ 0 w 96"/>
              <a:gd name="T1" fmla="*/ 0 h 530"/>
              <a:gd name="T2" fmla="*/ 2147483647 w 96"/>
              <a:gd name="T3" fmla="*/ 2147483647 h 530"/>
              <a:gd name="T4" fmla="*/ 2147483647 w 96"/>
              <a:gd name="T5" fmla="*/ 2147483647 h 530"/>
              <a:gd name="T6" fmla="*/ 2147483647 w 96"/>
              <a:gd name="T7" fmla="*/ 2147483647 h 530"/>
              <a:gd name="T8" fmla="*/ 2147483647 w 96"/>
              <a:gd name="T9" fmla="*/ 2147483647 h 530"/>
              <a:gd name="T10" fmla="*/ 2147483647 w 96"/>
              <a:gd name="T11" fmla="*/ 2147483647 h 530"/>
              <a:gd name="T12" fmla="*/ 2147483647 w 96"/>
              <a:gd name="T13" fmla="*/ 2147483647 h 530"/>
              <a:gd name="T14" fmla="*/ 2147483647 w 96"/>
              <a:gd name="T15" fmla="*/ 2147483647 h 530"/>
              <a:gd name="T16" fmla="*/ 2147483647 w 96"/>
              <a:gd name="T17" fmla="*/ 2147483647 h 530"/>
              <a:gd name="T18" fmla="*/ 2147483647 w 96"/>
              <a:gd name="T19" fmla="*/ 2147483647 h 530"/>
              <a:gd name="T20" fmla="*/ 2147483647 w 96"/>
              <a:gd name="T21" fmla="*/ 2147483647 h 530"/>
              <a:gd name="T22" fmla="*/ 2147483647 w 96"/>
              <a:gd name="T23" fmla="*/ 2147483647 h 530"/>
              <a:gd name="T24" fmla="*/ 2147483647 w 96"/>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6"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96" y="285"/>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3" name="Freeform 55"/>
          <p:cNvSpPr>
            <a:spLocks/>
          </p:cNvSpPr>
          <p:nvPr/>
        </p:nvSpPr>
        <p:spPr bwMode="auto">
          <a:xfrm>
            <a:off x="6103938" y="4213225"/>
            <a:ext cx="52387"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4" name="Freeform 56"/>
          <p:cNvSpPr>
            <a:spLocks/>
          </p:cNvSpPr>
          <p:nvPr/>
        </p:nvSpPr>
        <p:spPr bwMode="auto">
          <a:xfrm>
            <a:off x="6156325" y="4217988"/>
            <a:ext cx="134938" cy="841375"/>
          </a:xfrm>
          <a:custGeom>
            <a:avLst/>
            <a:gdLst>
              <a:gd name="T0" fmla="*/ 0 w 85"/>
              <a:gd name="T1" fmla="*/ 0 h 530"/>
              <a:gd name="T2" fmla="*/ 2147483647 w 85"/>
              <a:gd name="T3" fmla="*/ 2147483647 h 530"/>
              <a:gd name="T4" fmla="*/ 2147483647 w 85"/>
              <a:gd name="T5" fmla="*/ 2147483647 h 530"/>
              <a:gd name="T6" fmla="*/ 2147483647 w 85"/>
              <a:gd name="T7" fmla="*/ 2147483647 h 530"/>
              <a:gd name="T8" fmla="*/ 2147483647 w 85"/>
              <a:gd name="T9" fmla="*/ 2147483647 h 530"/>
              <a:gd name="T10" fmla="*/ 2147483647 w 85"/>
              <a:gd name="T11" fmla="*/ 2147483647 h 530"/>
              <a:gd name="T12" fmla="*/ 2147483647 w 85"/>
              <a:gd name="T13" fmla="*/ 2147483647 h 530"/>
              <a:gd name="T14" fmla="*/ 2147483647 w 85"/>
              <a:gd name="T15" fmla="*/ 2147483647 h 530"/>
              <a:gd name="T16" fmla="*/ 2147483647 w 85"/>
              <a:gd name="T17" fmla="*/ 2147483647 h 530"/>
              <a:gd name="T18" fmla="*/ 2147483647 w 85"/>
              <a:gd name="T19" fmla="*/ 2147483647 h 530"/>
              <a:gd name="T20" fmla="*/ 2147483647 w 85"/>
              <a:gd name="T21" fmla="*/ 2147483647 h 530"/>
              <a:gd name="T22" fmla="*/ 2147483647 w 85"/>
              <a:gd name="T23" fmla="*/ 2147483647 h 530"/>
              <a:gd name="T24" fmla="*/ 2147483647 w 85"/>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5" y="27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5" name="Freeform 57"/>
          <p:cNvSpPr>
            <a:spLocks/>
          </p:cNvSpPr>
          <p:nvPr/>
        </p:nvSpPr>
        <p:spPr bwMode="auto">
          <a:xfrm>
            <a:off x="6292850" y="4213225"/>
            <a:ext cx="50800" cy="431800"/>
          </a:xfrm>
          <a:custGeom>
            <a:avLst/>
            <a:gdLst>
              <a:gd name="T0" fmla="*/ 0 w 32"/>
              <a:gd name="T1" fmla="*/ 2147483647 h 363"/>
              <a:gd name="T2" fmla="*/ 2147483647 w 32"/>
              <a:gd name="T3" fmla="*/ 2147483647 h 363"/>
              <a:gd name="T4" fmla="*/ 2147483647 w 32"/>
              <a:gd name="T5" fmla="*/ 2147483647 h 363"/>
              <a:gd name="T6" fmla="*/ 2147483647 w 32"/>
              <a:gd name="T7" fmla="*/ 2147483647 h 363"/>
              <a:gd name="T8" fmla="*/ 2147483647 w 32"/>
              <a:gd name="T9" fmla="*/ 2147483647 h 363"/>
              <a:gd name="T10" fmla="*/ 2147483647 w 32"/>
              <a:gd name="T11" fmla="*/ 2147483647 h 363"/>
              <a:gd name="T12" fmla="*/ 2147483647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6" name="Freeform 58"/>
          <p:cNvSpPr>
            <a:spLocks/>
          </p:cNvSpPr>
          <p:nvPr/>
        </p:nvSpPr>
        <p:spPr bwMode="auto">
          <a:xfrm>
            <a:off x="6343650" y="4217988"/>
            <a:ext cx="138113" cy="841375"/>
          </a:xfrm>
          <a:custGeom>
            <a:avLst/>
            <a:gdLst>
              <a:gd name="T0" fmla="*/ 0 w 87"/>
              <a:gd name="T1" fmla="*/ 0 h 530"/>
              <a:gd name="T2" fmla="*/ 2147483647 w 87"/>
              <a:gd name="T3" fmla="*/ 2147483647 h 530"/>
              <a:gd name="T4" fmla="*/ 2147483647 w 87"/>
              <a:gd name="T5" fmla="*/ 2147483647 h 530"/>
              <a:gd name="T6" fmla="*/ 2147483647 w 87"/>
              <a:gd name="T7" fmla="*/ 2147483647 h 530"/>
              <a:gd name="T8" fmla="*/ 2147483647 w 87"/>
              <a:gd name="T9" fmla="*/ 2147483647 h 530"/>
              <a:gd name="T10" fmla="*/ 2147483647 w 87"/>
              <a:gd name="T11" fmla="*/ 2147483647 h 530"/>
              <a:gd name="T12" fmla="*/ 2147483647 w 87"/>
              <a:gd name="T13" fmla="*/ 2147483647 h 530"/>
              <a:gd name="T14" fmla="*/ 2147483647 w 87"/>
              <a:gd name="T15" fmla="*/ 2147483647 h 530"/>
              <a:gd name="T16" fmla="*/ 2147483647 w 87"/>
              <a:gd name="T17" fmla="*/ 2147483647 h 530"/>
              <a:gd name="T18" fmla="*/ 2147483647 w 87"/>
              <a:gd name="T19" fmla="*/ 2147483647 h 530"/>
              <a:gd name="T20" fmla="*/ 2147483647 w 87"/>
              <a:gd name="T21" fmla="*/ 2147483647 h 530"/>
              <a:gd name="T22" fmla="*/ 2147483647 w 87"/>
              <a:gd name="T23" fmla="*/ 2147483647 h 530"/>
              <a:gd name="T24" fmla="*/ 2147483647 w 87"/>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7" y="264"/>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7" name="Freeform 59"/>
          <p:cNvSpPr>
            <a:spLocks/>
          </p:cNvSpPr>
          <p:nvPr/>
        </p:nvSpPr>
        <p:spPr bwMode="auto">
          <a:xfrm>
            <a:off x="6478588" y="4206875"/>
            <a:ext cx="53975" cy="431800"/>
          </a:xfrm>
          <a:custGeom>
            <a:avLst/>
            <a:gdLst>
              <a:gd name="T0" fmla="*/ 0 w 34"/>
              <a:gd name="T1" fmla="*/ 2147483647 h 363"/>
              <a:gd name="T2" fmla="*/ 2147483647 w 34"/>
              <a:gd name="T3" fmla="*/ 2147483647 h 363"/>
              <a:gd name="T4" fmla="*/ 2147483647 w 34"/>
              <a:gd name="T5" fmla="*/ 2147483647 h 363"/>
              <a:gd name="T6" fmla="*/ 2147483647 w 34"/>
              <a:gd name="T7" fmla="*/ 2147483647 h 363"/>
              <a:gd name="T8" fmla="*/ 2147483647 w 34"/>
              <a:gd name="T9" fmla="*/ 2147483647 h 363"/>
              <a:gd name="T10" fmla="*/ 2147483647 w 34"/>
              <a:gd name="T11" fmla="*/ 2147483647 h 363"/>
              <a:gd name="T12" fmla="*/ 2147483647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8" name="Freeform 60"/>
          <p:cNvSpPr>
            <a:spLocks/>
          </p:cNvSpPr>
          <p:nvPr/>
        </p:nvSpPr>
        <p:spPr bwMode="auto">
          <a:xfrm>
            <a:off x="6532563" y="4211638"/>
            <a:ext cx="134937" cy="841375"/>
          </a:xfrm>
          <a:custGeom>
            <a:avLst/>
            <a:gdLst>
              <a:gd name="T0" fmla="*/ 0 w 85"/>
              <a:gd name="T1" fmla="*/ 0 h 530"/>
              <a:gd name="T2" fmla="*/ 2147483647 w 85"/>
              <a:gd name="T3" fmla="*/ 2147483647 h 530"/>
              <a:gd name="T4" fmla="*/ 2147483647 w 85"/>
              <a:gd name="T5" fmla="*/ 2147483647 h 530"/>
              <a:gd name="T6" fmla="*/ 2147483647 w 85"/>
              <a:gd name="T7" fmla="*/ 2147483647 h 530"/>
              <a:gd name="T8" fmla="*/ 2147483647 w 85"/>
              <a:gd name="T9" fmla="*/ 2147483647 h 530"/>
              <a:gd name="T10" fmla="*/ 2147483647 w 85"/>
              <a:gd name="T11" fmla="*/ 2147483647 h 530"/>
              <a:gd name="T12" fmla="*/ 2147483647 w 85"/>
              <a:gd name="T13" fmla="*/ 2147483647 h 530"/>
              <a:gd name="T14" fmla="*/ 2147483647 w 85"/>
              <a:gd name="T15" fmla="*/ 2147483647 h 530"/>
              <a:gd name="T16" fmla="*/ 2147483647 w 85"/>
              <a:gd name="T17" fmla="*/ 2147483647 h 530"/>
              <a:gd name="T18" fmla="*/ 2147483647 w 85"/>
              <a:gd name="T19" fmla="*/ 2147483647 h 530"/>
              <a:gd name="T20" fmla="*/ 2147483647 w 85"/>
              <a:gd name="T21" fmla="*/ 2147483647 h 530"/>
              <a:gd name="T22" fmla="*/ 2147483647 w 85"/>
              <a:gd name="T23" fmla="*/ 2147483647 h 530"/>
              <a:gd name="T24" fmla="*/ 2147483647 w 85"/>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5" y="274"/>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289" name="Group 61"/>
          <p:cNvGrpSpPr>
            <a:grpSpLocks/>
          </p:cNvGrpSpPr>
          <p:nvPr/>
        </p:nvGrpSpPr>
        <p:grpSpPr bwMode="auto">
          <a:xfrm>
            <a:off x="6665913" y="4206875"/>
            <a:ext cx="188912" cy="847725"/>
            <a:chOff x="4190" y="2269"/>
            <a:chExt cx="119" cy="713"/>
          </a:xfrm>
        </p:grpSpPr>
        <p:sp>
          <p:nvSpPr>
            <p:cNvPr id="10395" name="Freeform 62"/>
            <p:cNvSpPr>
              <a:spLocks/>
            </p:cNvSpPr>
            <p:nvPr/>
          </p:nvSpPr>
          <p:spPr bwMode="auto">
            <a:xfrm>
              <a:off x="4190"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96" name="Freeform 63"/>
            <p:cNvSpPr>
              <a:spLocks/>
            </p:cNvSpPr>
            <p:nvPr/>
          </p:nvSpPr>
          <p:spPr bwMode="auto">
            <a:xfrm>
              <a:off x="4225"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290" name="Freeform 64"/>
          <p:cNvSpPr>
            <a:spLocks/>
          </p:cNvSpPr>
          <p:nvPr/>
        </p:nvSpPr>
        <p:spPr bwMode="auto">
          <a:xfrm>
            <a:off x="5349875" y="4213225"/>
            <a:ext cx="52388"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1" name="Freeform 65"/>
          <p:cNvSpPr>
            <a:spLocks/>
          </p:cNvSpPr>
          <p:nvPr/>
        </p:nvSpPr>
        <p:spPr bwMode="auto">
          <a:xfrm>
            <a:off x="5402263" y="4217988"/>
            <a:ext cx="141287" cy="841375"/>
          </a:xfrm>
          <a:custGeom>
            <a:avLst/>
            <a:gdLst>
              <a:gd name="T0" fmla="*/ 0 w 89"/>
              <a:gd name="T1" fmla="*/ 0 h 530"/>
              <a:gd name="T2" fmla="*/ 2147483647 w 89"/>
              <a:gd name="T3" fmla="*/ 2147483647 h 530"/>
              <a:gd name="T4" fmla="*/ 2147483647 w 89"/>
              <a:gd name="T5" fmla="*/ 2147483647 h 530"/>
              <a:gd name="T6" fmla="*/ 2147483647 w 89"/>
              <a:gd name="T7" fmla="*/ 2147483647 h 530"/>
              <a:gd name="T8" fmla="*/ 2147483647 w 89"/>
              <a:gd name="T9" fmla="*/ 2147483647 h 530"/>
              <a:gd name="T10" fmla="*/ 2147483647 w 89"/>
              <a:gd name="T11" fmla="*/ 2147483647 h 530"/>
              <a:gd name="T12" fmla="*/ 2147483647 w 89"/>
              <a:gd name="T13" fmla="*/ 2147483647 h 530"/>
              <a:gd name="T14" fmla="*/ 2147483647 w 89"/>
              <a:gd name="T15" fmla="*/ 2147483647 h 530"/>
              <a:gd name="T16" fmla="*/ 2147483647 w 89"/>
              <a:gd name="T17" fmla="*/ 2147483647 h 530"/>
              <a:gd name="T18" fmla="*/ 2147483647 w 89"/>
              <a:gd name="T19" fmla="*/ 2147483647 h 530"/>
              <a:gd name="T20" fmla="*/ 2147483647 w 89"/>
              <a:gd name="T21" fmla="*/ 2147483647 h 530"/>
              <a:gd name="T22" fmla="*/ 2147483647 w 89"/>
              <a:gd name="T23" fmla="*/ 2147483647 h 530"/>
              <a:gd name="T24" fmla="*/ 2147483647 w 89"/>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9"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9" y="264"/>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2" name="Freeform 66"/>
          <p:cNvSpPr>
            <a:spLocks/>
          </p:cNvSpPr>
          <p:nvPr/>
        </p:nvSpPr>
        <p:spPr bwMode="auto">
          <a:xfrm>
            <a:off x="5538788" y="4213225"/>
            <a:ext cx="50800" cy="431800"/>
          </a:xfrm>
          <a:custGeom>
            <a:avLst/>
            <a:gdLst>
              <a:gd name="T0" fmla="*/ 0 w 32"/>
              <a:gd name="T1" fmla="*/ 2147483647 h 363"/>
              <a:gd name="T2" fmla="*/ 2147483647 w 32"/>
              <a:gd name="T3" fmla="*/ 2147483647 h 363"/>
              <a:gd name="T4" fmla="*/ 2147483647 w 32"/>
              <a:gd name="T5" fmla="*/ 2147483647 h 363"/>
              <a:gd name="T6" fmla="*/ 2147483647 w 32"/>
              <a:gd name="T7" fmla="*/ 2147483647 h 363"/>
              <a:gd name="T8" fmla="*/ 2147483647 w 32"/>
              <a:gd name="T9" fmla="*/ 2147483647 h 363"/>
              <a:gd name="T10" fmla="*/ 2147483647 w 32"/>
              <a:gd name="T11" fmla="*/ 2147483647 h 363"/>
              <a:gd name="T12" fmla="*/ 2147483647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3" name="Freeform 67"/>
          <p:cNvSpPr>
            <a:spLocks/>
          </p:cNvSpPr>
          <p:nvPr/>
        </p:nvSpPr>
        <p:spPr bwMode="auto">
          <a:xfrm>
            <a:off x="5589588" y="4217988"/>
            <a:ext cx="134937" cy="841375"/>
          </a:xfrm>
          <a:custGeom>
            <a:avLst/>
            <a:gdLst>
              <a:gd name="T0" fmla="*/ 0 w 85"/>
              <a:gd name="T1" fmla="*/ 0 h 530"/>
              <a:gd name="T2" fmla="*/ 2147483647 w 85"/>
              <a:gd name="T3" fmla="*/ 2147483647 h 530"/>
              <a:gd name="T4" fmla="*/ 2147483647 w 85"/>
              <a:gd name="T5" fmla="*/ 2147483647 h 530"/>
              <a:gd name="T6" fmla="*/ 2147483647 w 85"/>
              <a:gd name="T7" fmla="*/ 2147483647 h 530"/>
              <a:gd name="T8" fmla="*/ 2147483647 w 85"/>
              <a:gd name="T9" fmla="*/ 2147483647 h 530"/>
              <a:gd name="T10" fmla="*/ 2147483647 w 85"/>
              <a:gd name="T11" fmla="*/ 2147483647 h 530"/>
              <a:gd name="T12" fmla="*/ 2147483647 w 85"/>
              <a:gd name="T13" fmla="*/ 2147483647 h 530"/>
              <a:gd name="T14" fmla="*/ 2147483647 w 85"/>
              <a:gd name="T15" fmla="*/ 2147483647 h 530"/>
              <a:gd name="T16" fmla="*/ 2147483647 w 85"/>
              <a:gd name="T17" fmla="*/ 2147483647 h 530"/>
              <a:gd name="T18" fmla="*/ 2147483647 w 85"/>
              <a:gd name="T19" fmla="*/ 2147483647 h 530"/>
              <a:gd name="T20" fmla="*/ 2147483647 w 85"/>
              <a:gd name="T21" fmla="*/ 2147483647 h 530"/>
              <a:gd name="T22" fmla="*/ 2147483647 w 85"/>
              <a:gd name="T23" fmla="*/ 2147483647 h 530"/>
              <a:gd name="T24" fmla="*/ 2147483647 w 85"/>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64"/>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4" name="Freeform 68"/>
          <p:cNvSpPr>
            <a:spLocks/>
          </p:cNvSpPr>
          <p:nvPr/>
        </p:nvSpPr>
        <p:spPr bwMode="auto">
          <a:xfrm>
            <a:off x="5724525" y="4206875"/>
            <a:ext cx="53975" cy="431800"/>
          </a:xfrm>
          <a:custGeom>
            <a:avLst/>
            <a:gdLst>
              <a:gd name="T0" fmla="*/ 0 w 34"/>
              <a:gd name="T1" fmla="*/ 2147483647 h 363"/>
              <a:gd name="T2" fmla="*/ 2147483647 w 34"/>
              <a:gd name="T3" fmla="*/ 2147483647 h 363"/>
              <a:gd name="T4" fmla="*/ 2147483647 w 34"/>
              <a:gd name="T5" fmla="*/ 2147483647 h 363"/>
              <a:gd name="T6" fmla="*/ 2147483647 w 34"/>
              <a:gd name="T7" fmla="*/ 2147483647 h 363"/>
              <a:gd name="T8" fmla="*/ 2147483647 w 34"/>
              <a:gd name="T9" fmla="*/ 2147483647 h 363"/>
              <a:gd name="T10" fmla="*/ 2147483647 w 34"/>
              <a:gd name="T11" fmla="*/ 2147483647 h 363"/>
              <a:gd name="T12" fmla="*/ 2147483647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5" name="Freeform 69"/>
          <p:cNvSpPr>
            <a:spLocks/>
          </p:cNvSpPr>
          <p:nvPr/>
        </p:nvSpPr>
        <p:spPr bwMode="auto">
          <a:xfrm>
            <a:off x="5778500" y="4211638"/>
            <a:ext cx="136525" cy="841375"/>
          </a:xfrm>
          <a:custGeom>
            <a:avLst/>
            <a:gdLst>
              <a:gd name="T0" fmla="*/ 0 w 86"/>
              <a:gd name="T1" fmla="*/ 0 h 530"/>
              <a:gd name="T2" fmla="*/ 2147483647 w 86"/>
              <a:gd name="T3" fmla="*/ 2147483647 h 530"/>
              <a:gd name="T4" fmla="*/ 2147483647 w 86"/>
              <a:gd name="T5" fmla="*/ 2147483647 h 530"/>
              <a:gd name="T6" fmla="*/ 2147483647 w 86"/>
              <a:gd name="T7" fmla="*/ 2147483647 h 530"/>
              <a:gd name="T8" fmla="*/ 2147483647 w 86"/>
              <a:gd name="T9" fmla="*/ 2147483647 h 530"/>
              <a:gd name="T10" fmla="*/ 2147483647 w 86"/>
              <a:gd name="T11" fmla="*/ 2147483647 h 530"/>
              <a:gd name="T12" fmla="*/ 2147483647 w 86"/>
              <a:gd name="T13" fmla="*/ 2147483647 h 530"/>
              <a:gd name="T14" fmla="*/ 2147483647 w 86"/>
              <a:gd name="T15" fmla="*/ 2147483647 h 530"/>
              <a:gd name="T16" fmla="*/ 2147483647 w 86"/>
              <a:gd name="T17" fmla="*/ 2147483647 h 530"/>
              <a:gd name="T18" fmla="*/ 2147483647 w 86"/>
              <a:gd name="T19" fmla="*/ 2147483647 h 530"/>
              <a:gd name="T20" fmla="*/ 2147483647 w 86"/>
              <a:gd name="T21" fmla="*/ 2147483647 h 530"/>
              <a:gd name="T22" fmla="*/ 2147483647 w 86"/>
              <a:gd name="T23" fmla="*/ 2147483647 h 530"/>
              <a:gd name="T24" fmla="*/ 2147483647 w 86"/>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6" y="274"/>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296" name="Group 70"/>
          <p:cNvGrpSpPr>
            <a:grpSpLocks/>
          </p:cNvGrpSpPr>
          <p:nvPr/>
        </p:nvGrpSpPr>
        <p:grpSpPr bwMode="auto">
          <a:xfrm>
            <a:off x="5911850" y="4206875"/>
            <a:ext cx="188913" cy="847725"/>
            <a:chOff x="3715" y="2269"/>
            <a:chExt cx="119" cy="713"/>
          </a:xfrm>
        </p:grpSpPr>
        <p:sp>
          <p:nvSpPr>
            <p:cNvPr id="10393" name="Freeform 71"/>
            <p:cNvSpPr>
              <a:spLocks/>
            </p:cNvSpPr>
            <p:nvPr/>
          </p:nvSpPr>
          <p:spPr bwMode="auto">
            <a:xfrm>
              <a:off x="3715"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94" name="Freeform 72"/>
            <p:cNvSpPr>
              <a:spLocks/>
            </p:cNvSpPr>
            <p:nvPr/>
          </p:nvSpPr>
          <p:spPr bwMode="auto">
            <a:xfrm>
              <a:off x="3750"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297" name="Freeform 73"/>
          <p:cNvSpPr>
            <a:spLocks/>
          </p:cNvSpPr>
          <p:nvPr/>
        </p:nvSpPr>
        <p:spPr bwMode="auto">
          <a:xfrm>
            <a:off x="4581525" y="4213225"/>
            <a:ext cx="52388"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8" name="Freeform 74"/>
          <p:cNvSpPr>
            <a:spLocks/>
          </p:cNvSpPr>
          <p:nvPr/>
        </p:nvSpPr>
        <p:spPr bwMode="auto">
          <a:xfrm>
            <a:off x="4633913" y="4217988"/>
            <a:ext cx="138112" cy="841375"/>
          </a:xfrm>
          <a:custGeom>
            <a:avLst/>
            <a:gdLst>
              <a:gd name="T0" fmla="*/ 0 w 87"/>
              <a:gd name="T1" fmla="*/ 0 h 530"/>
              <a:gd name="T2" fmla="*/ 2147483647 w 87"/>
              <a:gd name="T3" fmla="*/ 2147483647 h 530"/>
              <a:gd name="T4" fmla="*/ 2147483647 w 87"/>
              <a:gd name="T5" fmla="*/ 2147483647 h 530"/>
              <a:gd name="T6" fmla="*/ 2147483647 w 87"/>
              <a:gd name="T7" fmla="*/ 2147483647 h 530"/>
              <a:gd name="T8" fmla="*/ 2147483647 w 87"/>
              <a:gd name="T9" fmla="*/ 2147483647 h 530"/>
              <a:gd name="T10" fmla="*/ 2147483647 w 87"/>
              <a:gd name="T11" fmla="*/ 2147483647 h 530"/>
              <a:gd name="T12" fmla="*/ 2147483647 w 87"/>
              <a:gd name="T13" fmla="*/ 2147483647 h 530"/>
              <a:gd name="T14" fmla="*/ 2147483647 w 87"/>
              <a:gd name="T15" fmla="*/ 2147483647 h 530"/>
              <a:gd name="T16" fmla="*/ 2147483647 w 87"/>
              <a:gd name="T17" fmla="*/ 2147483647 h 530"/>
              <a:gd name="T18" fmla="*/ 2147483647 w 87"/>
              <a:gd name="T19" fmla="*/ 2147483647 h 530"/>
              <a:gd name="T20" fmla="*/ 2147483647 w 87"/>
              <a:gd name="T21" fmla="*/ 2147483647 h 530"/>
              <a:gd name="T22" fmla="*/ 2147483647 w 87"/>
              <a:gd name="T23" fmla="*/ 2147483647 h 530"/>
              <a:gd name="T24" fmla="*/ 2147483647 w 87"/>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76"/>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9" name="Freeform 75"/>
          <p:cNvSpPr>
            <a:spLocks/>
          </p:cNvSpPr>
          <p:nvPr/>
        </p:nvSpPr>
        <p:spPr bwMode="auto">
          <a:xfrm>
            <a:off x="4770438" y="4213225"/>
            <a:ext cx="50800" cy="431800"/>
          </a:xfrm>
          <a:custGeom>
            <a:avLst/>
            <a:gdLst>
              <a:gd name="T0" fmla="*/ 0 w 32"/>
              <a:gd name="T1" fmla="*/ 2147483647 h 363"/>
              <a:gd name="T2" fmla="*/ 2147483647 w 32"/>
              <a:gd name="T3" fmla="*/ 2147483647 h 363"/>
              <a:gd name="T4" fmla="*/ 2147483647 w 32"/>
              <a:gd name="T5" fmla="*/ 2147483647 h 363"/>
              <a:gd name="T6" fmla="*/ 2147483647 w 32"/>
              <a:gd name="T7" fmla="*/ 2147483647 h 363"/>
              <a:gd name="T8" fmla="*/ 2147483647 w 32"/>
              <a:gd name="T9" fmla="*/ 2147483647 h 363"/>
              <a:gd name="T10" fmla="*/ 2147483647 w 32"/>
              <a:gd name="T11" fmla="*/ 2147483647 h 363"/>
              <a:gd name="T12" fmla="*/ 2147483647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00" name="Freeform 76"/>
          <p:cNvSpPr>
            <a:spLocks/>
          </p:cNvSpPr>
          <p:nvPr/>
        </p:nvSpPr>
        <p:spPr bwMode="auto">
          <a:xfrm>
            <a:off x="4821238" y="4217988"/>
            <a:ext cx="136525" cy="841375"/>
          </a:xfrm>
          <a:custGeom>
            <a:avLst/>
            <a:gdLst>
              <a:gd name="T0" fmla="*/ 0 w 86"/>
              <a:gd name="T1" fmla="*/ 0 h 530"/>
              <a:gd name="T2" fmla="*/ 2147483647 w 86"/>
              <a:gd name="T3" fmla="*/ 2147483647 h 530"/>
              <a:gd name="T4" fmla="*/ 2147483647 w 86"/>
              <a:gd name="T5" fmla="*/ 2147483647 h 530"/>
              <a:gd name="T6" fmla="*/ 2147483647 w 86"/>
              <a:gd name="T7" fmla="*/ 2147483647 h 530"/>
              <a:gd name="T8" fmla="*/ 2147483647 w 86"/>
              <a:gd name="T9" fmla="*/ 2147483647 h 530"/>
              <a:gd name="T10" fmla="*/ 2147483647 w 86"/>
              <a:gd name="T11" fmla="*/ 2147483647 h 530"/>
              <a:gd name="T12" fmla="*/ 2147483647 w 86"/>
              <a:gd name="T13" fmla="*/ 2147483647 h 530"/>
              <a:gd name="T14" fmla="*/ 2147483647 w 86"/>
              <a:gd name="T15" fmla="*/ 2147483647 h 530"/>
              <a:gd name="T16" fmla="*/ 2147483647 w 86"/>
              <a:gd name="T17" fmla="*/ 2147483647 h 530"/>
              <a:gd name="T18" fmla="*/ 2147483647 w 86"/>
              <a:gd name="T19" fmla="*/ 2147483647 h 530"/>
              <a:gd name="T20" fmla="*/ 2147483647 w 86"/>
              <a:gd name="T21" fmla="*/ 2147483647 h 530"/>
              <a:gd name="T22" fmla="*/ 2147483647 w 86"/>
              <a:gd name="T23" fmla="*/ 2147483647 h 530"/>
              <a:gd name="T24" fmla="*/ 2147483647 w 86"/>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58"/>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01" name="Freeform 77"/>
          <p:cNvSpPr>
            <a:spLocks/>
          </p:cNvSpPr>
          <p:nvPr/>
        </p:nvSpPr>
        <p:spPr bwMode="auto">
          <a:xfrm>
            <a:off x="4957763" y="4206875"/>
            <a:ext cx="52387" cy="431800"/>
          </a:xfrm>
          <a:custGeom>
            <a:avLst/>
            <a:gdLst>
              <a:gd name="T0" fmla="*/ 0 w 33"/>
              <a:gd name="T1" fmla="*/ 2147483647 h 363"/>
              <a:gd name="T2" fmla="*/ 2147483647 w 33"/>
              <a:gd name="T3" fmla="*/ 2147483647 h 363"/>
              <a:gd name="T4" fmla="*/ 2147483647 w 33"/>
              <a:gd name="T5" fmla="*/ 2147483647 h 363"/>
              <a:gd name="T6" fmla="*/ 2147483647 w 33"/>
              <a:gd name="T7" fmla="*/ 2147483647 h 363"/>
              <a:gd name="T8" fmla="*/ 2147483647 w 33"/>
              <a:gd name="T9" fmla="*/ 2147483647 h 363"/>
              <a:gd name="T10" fmla="*/ 2147483647 w 33"/>
              <a:gd name="T11" fmla="*/ 2147483647 h 363"/>
              <a:gd name="T12" fmla="*/ 2147483647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02" name="Freeform 78"/>
          <p:cNvSpPr>
            <a:spLocks/>
          </p:cNvSpPr>
          <p:nvPr/>
        </p:nvSpPr>
        <p:spPr bwMode="auto">
          <a:xfrm>
            <a:off x="5010150" y="4211638"/>
            <a:ext cx="138113" cy="841375"/>
          </a:xfrm>
          <a:custGeom>
            <a:avLst/>
            <a:gdLst>
              <a:gd name="T0" fmla="*/ 0 w 87"/>
              <a:gd name="T1" fmla="*/ 0 h 530"/>
              <a:gd name="T2" fmla="*/ 2147483647 w 87"/>
              <a:gd name="T3" fmla="*/ 2147483647 h 530"/>
              <a:gd name="T4" fmla="*/ 2147483647 w 87"/>
              <a:gd name="T5" fmla="*/ 2147483647 h 530"/>
              <a:gd name="T6" fmla="*/ 2147483647 w 87"/>
              <a:gd name="T7" fmla="*/ 2147483647 h 530"/>
              <a:gd name="T8" fmla="*/ 2147483647 w 87"/>
              <a:gd name="T9" fmla="*/ 2147483647 h 530"/>
              <a:gd name="T10" fmla="*/ 2147483647 w 87"/>
              <a:gd name="T11" fmla="*/ 2147483647 h 530"/>
              <a:gd name="T12" fmla="*/ 2147483647 w 87"/>
              <a:gd name="T13" fmla="*/ 2147483647 h 530"/>
              <a:gd name="T14" fmla="*/ 2147483647 w 87"/>
              <a:gd name="T15" fmla="*/ 2147483647 h 530"/>
              <a:gd name="T16" fmla="*/ 2147483647 w 87"/>
              <a:gd name="T17" fmla="*/ 2147483647 h 530"/>
              <a:gd name="T18" fmla="*/ 2147483647 w 87"/>
              <a:gd name="T19" fmla="*/ 2147483647 h 530"/>
              <a:gd name="T20" fmla="*/ 2147483647 w 87"/>
              <a:gd name="T21" fmla="*/ 2147483647 h 530"/>
              <a:gd name="T22" fmla="*/ 2147483647 w 87"/>
              <a:gd name="T23" fmla="*/ 2147483647 h 530"/>
              <a:gd name="T24" fmla="*/ 2147483647 w 87"/>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7" y="265"/>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03" name="Freeform 79"/>
          <p:cNvSpPr>
            <a:spLocks/>
          </p:cNvSpPr>
          <p:nvPr/>
        </p:nvSpPr>
        <p:spPr bwMode="auto">
          <a:xfrm>
            <a:off x="5143500" y="4206875"/>
            <a:ext cx="55563" cy="431800"/>
          </a:xfrm>
          <a:custGeom>
            <a:avLst/>
            <a:gdLst>
              <a:gd name="T0" fmla="*/ 0 w 35"/>
              <a:gd name="T1" fmla="*/ 2147483647 h 363"/>
              <a:gd name="T2" fmla="*/ 2147483647 w 35"/>
              <a:gd name="T3" fmla="*/ 2147483647 h 363"/>
              <a:gd name="T4" fmla="*/ 2147483647 w 35"/>
              <a:gd name="T5" fmla="*/ 2147483647 h 363"/>
              <a:gd name="T6" fmla="*/ 2147483647 w 35"/>
              <a:gd name="T7" fmla="*/ 2147483647 h 363"/>
              <a:gd name="T8" fmla="*/ 2147483647 w 35"/>
              <a:gd name="T9" fmla="*/ 2147483647 h 363"/>
              <a:gd name="T10" fmla="*/ 2147483647 w 35"/>
              <a:gd name="T11" fmla="*/ 2147483647 h 363"/>
              <a:gd name="T12" fmla="*/ 2147483647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04" name="Freeform 80"/>
          <p:cNvSpPr>
            <a:spLocks/>
          </p:cNvSpPr>
          <p:nvPr/>
        </p:nvSpPr>
        <p:spPr bwMode="auto">
          <a:xfrm>
            <a:off x="5199063" y="4211638"/>
            <a:ext cx="149225" cy="841375"/>
          </a:xfrm>
          <a:custGeom>
            <a:avLst/>
            <a:gdLst>
              <a:gd name="T0" fmla="*/ 0 w 94"/>
              <a:gd name="T1" fmla="*/ 0 h 530"/>
              <a:gd name="T2" fmla="*/ 2147483647 w 94"/>
              <a:gd name="T3" fmla="*/ 2147483647 h 530"/>
              <a:gd name="T4" fmla="*/ 2147483647 w 94"/>
              <a:gd name="T5" fmla="*/ 2147483647 h 530"/>
              <a:gd name="T6" fmla="*/ 2147483647 w 94"/>
              <a:gd name="T7" fmla="*/ 2147483647 h 530"/>
              <a:gd name="T8" fmla="*/ 2147483647 w 94"/>
              <a:gd name="T9" fmla="*/ 2147483647 h 530"/>
              <a:gd name="T10" fmla="*/ 2147483647 w 94"/>
              <a:gd name="T11" fmla="*/ 2147483647 h 530"/>
              <a:gd name="T12" fmla="*/ 2147483647 w 94"/>
              <a:gd name="T13" fmla="*/ 2147483647 h 530"/>
              <a:gd name="T14" fmla="*/ 2147483647 w 94"/>
              <a:gd name="T15" fmla="*/ 2147483647 h 530"/>
              <a:gd name="T16" fmla="*/ 2147483647 w 94"/>
              <a:gd name="T17" fmla="*/ 2147483647 h 530"/>
              <a:gd name="T18" fmla="*/ 2147483647 w 94"/>
              <a:gd name="T19" fmla="*/ 2147483647 h 530"/>
              <a:gd name="T20" fmla="*/ 2147483647 w 94"/>
              <a:gd name="T21" fmla="*/ 2147483647 h 530"/>
              <a:gd name="T22" fmla="*/ 2147483647 w 94"/>
              <a:gd name="T23" fmla="*/ 2147483647 h 530"/>
              <a:gd name="T24" fmla="*/ 2147483647 w 94"/>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4" y="274"/>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305" name="Group 81"/>
          <p:cNvGrpSpPr>
            <a:grpSpLocks/>
          </p:cNvGrpSpPr>
          <p:nvPr/>
        </p:nvGrpSpPr>
        <p:grpSpPr bwMode="auto">
          <a:xfrm>
            <a:off x="1531938" y="4224338"/>
            <a:ext cx="755650" cy="844550"/>
            <a:chOff x="956" y="2283"/>
            <a:chExt cx="476" cy="711"/>
          </a:xfrm>
        </p:grpSpPr>
        <p:sp>
          <p:nvSpPr>
            <p:cNvPr id="10389" name="Freeform 82"/>
            <p:cNvSpPr>
              <a:spLocks/>
            </p:cNvSpPr>
            <p:nvPr/>
          </p:nvSpPr>
          <p:spPr bwMode="auto">
            <a:xfrm>
              <a:off x="956" y="2284"/>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90" name="Freeform 83"/>
            <p:cNvSpPr>
              <a:spLocks/>
            </p:cNvSpPr>
            <p:nvPr/>
          </p:nvSpPr>
          <p:spPr bwMode="auto">
            <a:xfrm>
              <a:off x="1022" y="2283"/>
              <a:ext cx="171" cy="711"/>
            </a:xfrm>
            <a:custGeom>
              <a:avLst/>
              <a:gdLst>
                <a:gd name="T0" fmla="*/ 0 w 171"/>
                <a:gd name="T1" fmla="*/ 0 h 711"/>
                <a:gd name="T2" fmla="*/ 14 w 171"/>
                <a:gd name="T3" fmla="*/ 4 h 711"/>
                <a:gd name="T4" fmla="*/ 24 w 171"/>
                <a:gd name="T5" fmla="*/ 16 h 711"/>
                <a:gd name="T6" fmla="*/ 28 w 171"/>
                <a:gd name="T7" fmla="*/ 33 h 711"/>
                <a:gd name="T8" fmla="*/ 31 w 171"/>
                <a:gd name="T9" fmla="*/ 59 h 711"/>
                <a:gd name="T10" fmla="*/ 85 w 171"/>
                <a:gd name="T11" fmla="*/ 653 h 711"/>
                <a:gd name="T12" fmla="*/ 90 w 171"/>
                <a:gd name="T13" fmla="*/ 686 h 711"/>
                <a:gd name="T14" fmla="*/ 95 w 171"/>
                <a:gd name="T15" fmla="*/ 696 h 711"/>
                <a:gd name="T16" fmla="*/ 106 w 171"/>
                <a:gd name="T17" fmla="*/ 706 h 711"/>
                <a:gd name="T18" fmla="*/ 115 w 171"/>
                <a:gd name="T19" fmla="*/ 710 h 711"/>
                <a:gd name="T20" fmla="*/ 126 w 171"/>
                <a:gd name="T21" fmla="*/ 702 h 711"/>
                <a:gd name="T22" fmla="*/ 134 w 171"/>
                <a:gd name="T23" fmla="*/ 686 h 711"/>
                <a:gd name="T24" fmla="*/ 170 w 171"/>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11">
                  <a:moveTo>
                    <a:pt x="0" y="0"/>
                  </a:moveTo>
                  <a:lnTo>
                    <a:pt x="14" y="4"/>
                  </a:lnTo>
                  <a:lnTo>
                    <a:pt x="24" y="16"/>
                  </a:lnTo>
                  <a:lnTo>
                    <a:pt x="28" y="33"/>
                  </a:lnTo>
                  <a:lnTo>
                    <a:pt x="31" y="59"/>
                  </a:lnTo>
                  <a:lnTo>
                    <a:pt x="85" y="653"/>
                  </a:lnTo>
                  <a:lnTo>
                    <a:pt x="90" y="686"/>
                  </a:lnTo>
                  <a:lnTo>
                    <a:pt x="95" y="696"/>
                  </a:lnTo>
                  <a:lnTo>
                    <a:pt x="106" y="706"/>
                  </a:lnTo>
                  <a:lnTo>
                    <a:pt x="115" y="710"/>
                  </a:lnTo>
                  <a:lnTo>
                    <a:pt x="126" y="702"/>
                  </a:lnTo>
                  <a:lnTo>
                    <a:pt x="134" y="686"/>
                  </a:lnTo>
                  <a:lnTo>
                    <a:pt x="170" y="381"/>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91" name="Freeform 84"/>
            <p:cNvSpPr>
              <a:spLocks/>
            </p:cNvSpPr>
            <p:nvPr/>
          </p:nvSpPr>
          <p:spPr bwMode="auto">
            <a:xfrm>
              <a:off x="1194" y="2290"/>
              <a:ext cx="66" cy="363"/>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92" name="Freeform 85"/>
            <p:cNvSpPr>
              <a:spLocks/>
            </p:cNvSpPr>
            <p:nvPr/>
          </p:nvSpPr>
          <p:spPr bwMode="auto">
            <a:xfrm>
              <a:off x="1261" y="2285"/>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06" name="Group 86"/>
          <p:cNvGrpSpPr>
            <a:grpSpLocks/>
          </p:cNvGrpSpPr>
          <p:nvPr/>
        </p:nvGrpSpPr>
        <p:grpSpPr bwMode="auto">
          <a:xfrm>
            <a:off x="3076575" y="4210050"/>
            <a:ext cx="755650" cy="847725"/>
            <a:chOff x="1929" y="2272"/>
            <a:chExt cx="476" cy="713"/>
          </a:xfrm>
        </p:grpSpPr>
        <p:grpSp>
          <p:nvGrpSpPr>
            <p:cNvPr id="10383" name="Group 87"/>
            <p:cNvGrpSpPr>
              <a:grpSpLocks/>
            </p:cNvGrpSpPr>
            <p:nvPr/>
          </p:nvGrpSpPr>
          <p:grpSpPr bwMode="auto">
            <a:xfrm>
              <a:off x="1929" y="2272"/>
              <a:ext cx="238" cy="713"/>
              <a:chOff x="1929" y="2272"/>
              <a:chExt cx="238" cy="713"/>
            </a:xfrm>
          </p:grpSpPr>
          <p:sp>
            <p:nvSpPr>
              <p:cNvPr id="10387" name="Freeform 88"/>
              <p:cNvSpPr>
                <a:spLocks/>
              </p:cNvSpPr>
              <p:nvPr/>
            </p:nvSpPr>
            <p:spPr bwMode="auto">
              <a:xfrm>
                <a:off x="1929" y="2272"/>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88" name="Freeform 89"/>
              <p:cNvSpPr>
                <a:spLocks/>
              </p:cNvSpPr>
              <p:nvPr/>
            </p:nvSpPr>
            <p:spPr bwMode="auto">
              <a:xfrm>
                <a:off x="1995" y="2276"/>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84" name="Group 90"/>
            <p:cNvGrpSpPr>
              <a:grpSpLocks/>
            </p:cNvGrpSpPr>
            <p:nvPr/>
          </p:nvGrpSpPr>
          <p:grpSpPr bwMode="auto">
            <a:xfrm>
              <a:off x="2169" y="2272"/>
              <a:ext cx="236" cy="713"/>
              <a:chOff x="2169" y="2272"/>
              <a:chExt cx="236" cy="713"/>
            </a:xfrm>
          </p:grpSpPr>
          <p:sp>
            <p:nvSpPr>
              <p:cNvPr id="10385" name="Freeform 91"/>
              <p:cNvSpPr>
                <a:spLocks/>
              </p:cNvSpPr>
              <p:nvPr/>
            </p:nvSpPr>
            <p:spPr bwMode="auto">
              <a:xfrm>
                <a:off x="2169" y="2272"/>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86" name="Freeform 92"/>
              <p:cNvSpPr>
                <a:spLocks/>
              </p:cNvSpPr>
              <p:nvPr/>
            </p:nvSpPr>
            <p:spPr bwMode="auto">
              <a:xfrm>
                <a:off x="2234" y="2276"/>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0307" name="Freeform 93"/>
          <p:cNvSpPr>
            <a:spLocks/>
          </p:cNvSpPr>
          <p:nvPr/>
        </p:nvSpPr>
        <p:spPr bwMode="auto">
          <a:xfrm>
            <a:off x="3829050" y="4203700"/>
            <a:ext cx="107950" cy="466725"/>
          </a:xfrm>
          <a:custGeom>
            <a:avLst/>
            <a:gdLst>
              <a:gd name="T0" fmla="*/ 0 w 68"/>
              <a:gd name="T1" fmla="*/ 2147483647 h 294"/>
              <a:gd name="T2" fmla="*/ 2147483647 w 68"/>
              <a:gd name="T3" fmla="*/ 2147483647 h 294"/>
              <a:gd name="T4" fmla="*/ 2147483647 w 68"/>
              <a:gd name="T5" fmla="*/ 2147483647 h 294"/>
              <a:gd name="T6" fmla="*/ 2147483647 w 68"/>
              <a:gd name="T7" fmla="*/ 2147483647 h 294"/>
              <a:gd name="T8" fmla="*/ 2147483647 w 68"/>
              <a:gd name="T9" fmla="*/ 2147483647 h 294"/>
              <a:gd name="T10" fmla="*/ 2147483647 w 68"/>
              <a:gd name="T11" fmla="*/ 2147483647 h 294"/>
              <a:gd name="T12" fmla="*/ 2147483647 w 68"/>
              <a:gd name="T13" fmla="*/ 0 h 2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294">
                <a:moveTo>
                  <a:pt x="0" y="294"/>
                </a:moveTo>
                <a:lnTo>
                  <a:pt x="43" y="40"/>
                </a:lnTo>
                <a:lnTo>
                  <a:pt x="45" y="28"/>
                </a:lnTo>
                <a:lnTo>
                  <a:pt x="47" y="19"/>
                </a:lnTo>
                <a:lnTo>
                  <a:pt x="51" y="11"/>
                </a:lnTo>
                <a:lnTo>
                  <a:pt x="58" y="4"/>
                </a:lnTo>
                <a:lnTo>
                  <a:pt x="68"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08" name="Freeform 94"/>
          <p:cNvSpPr>
            <a:spLocks/>
          </p:cNvSpPr>
          <p:nvPr/>
        </p:nvSpPr>
        <p:spPr bwMode="auto">
          <a:xfrm>
            <a:off x="3940175" y="4208463"/>
            <a:ext cx="266700" cy="842962"/>
          </a:xfrm>
          <a:custGeom>
            <a:avLst/>
            <a:gdLst>
              <a:gd name="T0" fmla="*/ 0 w 168"/>
              <a:gd name="T1" fmla="*/ 0 h 709"/>
              <a:gd name="T2" fmla="*/ 2147483647 w 168"/>
              <a:gd name="T3" fmla="*/ 2147483647 h 709"/>
              <a:gd name="T4" fmla="*/ 2147483647 w 168"/>
              <a:gd name="T5" fmla="*/ 2147483647 h 709"/>
              <a:gd name="T6" fmla="*/ 2147483647 w 168"/>
              <a:gd name="T7" fmla="*/ 2147483647 h 709"/>
              <a:gd name="T8" fmla="*/ 2147483647 w 168"/>
              <a:gd name="T9" fmla="*/ 2147483647 h 709"/>
              <a:gd name="T10" fmla="*/ 2147483647 w 168"/>
              <a:gd name="T11" fmla="*/ 2147483647 h 709"/>
              <a:gd name="T12" fmla="*/ 2147483647 w 168"/>
              <a:gd name="T13" fmla="*/ 2147483647 h 709"/>
              <a:gd name="T14" fmla="*/ 2147483647 w 168"/>
              <a:gd name="T15" fmla="*/ 2147483647 h 709"/>
              <a:gd name="T16" fmla="*/ 2147483647 w 168"/>
              <a:gd name="T17" fmla="*/ 2147483647 h 709"/>
              <a:gd name="T18" fmla="*/ 2147483647 w 168"/>
              <a:gd name="T19" fmla="*/ 2147483647 h 709"/>
              <a:gd name="T20" fmla="*/ 2147483647 w 168"/>
              <a:gd name="T21" fmla="*/ 2147483647 h 709"/>
              <a:gd name="T22" fmla="*/ 2147483647 w 168"/>
              <a:gd name="T23" fmla="*/ 2147483647 h 709"/>
              <a:gd name="T24" fmla="*/ 2147483647 w 168"/>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09" name="Freeform 95"/>
          <p:cNvSpPr>
            <a:spLocks/>
          </p:cNvSpPr>
          <p:nvPr/>
        </p:nvSpPr>
        <p:spPr bwMode="auto">
          <a:xfrm>
            <a:off x="4205288" y="4203700"/>
            <a:ext cx="112712" cy="461963"/>
          </a:xfrm>
          <a:custGeom>
            <a:avLst/>
            <a:gdLst>
              <a:gd name="T0" fmla="*/ 0 w 71"/>
              <a:gd name="T1" fmla="*/ 2147483647 h 291"/>
              <a:gd name="T2" fmla="*/ 2147483647 w 71"/>
              <a:gd name="T3" fmla="*/ 2147483647 h 291"/>
              <a:gd name="T4" fmla="*/ 2147483647 w 71"/>
              <a:gd name="T5" fmla="*/ 2147483647 h 291"/>
              <a:gd name="T6" fmla="*/ 2147483647 w 71"/>
              <a:gd name="T7" fmla="*/ 2147483647 h 291"/>
              <a:gd name="T8" fmla="*/ 2147483647 w 71"/>
              <a:gd name="T9" fmla="*/ 2147483647 h 291"/>
              <a:gd name="T10" fmla="*/ 2147483647 w 71"/>
              <a:gd name="T11" fmla="*/ 2147483647 h 291"/>
              <a:gd name="T12" fmla="*/ 2147483647 w 71"/>
              <a:gd name="T13" fmla="*/ 0 h 29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291">
                <a:moveTo>
                  <a:pt x="0" y="291"/>
                </a:moveTo>
                <a:lnTo>
                  <a:pt x="45" y="40"/>
                </a:lnTo>
                <a:lnTo>
                  <a:pt x="48" y="28"/>
                </a:lnTo>
                <a:lnTo>
                  <a:pt x="50" y="19"/>
                </a:lnTo>
                <a:lnTo>
                  <a:pt x="53" y="11"/>
                </a:lnTo>
                <a:lnTo>
                  <a:pt x="61" y="4"/>
                </a:lnTo>
                <a:lnTo>
                  <a:pt x="71"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10" name="Freeform 96"/>
          <p:cNvSpPr>
            <a:spLocks/>
          </p:cNvSpPr>
          <p:nvPr/>
        </p:nvSpPr>
        <p:spPr bwMode="auto">
          <a:xfrm>
            <a:off x="4321175" y="4208463"/>
            <a:ext cx="260350" cy="841375"/>
          </a:xfrm>
          <a:custGeom>
            <a:avLst/>
            <a:gdLst>
              <a:gd name="T0" fmla="*/ 0 w 164"/>
              <a:gd name="T1" fmla="*/ 0 h 530"/>
              <a:gd name="T2" fmla="*/ 2147483647 w 164"/>
              <a:gd name="T3" fmla="*/ 2147483647 h 530"/>
              <a:gd name="T4" fmla="*/ 2147483647 w 164"/>
              <a:gd name="T5" fmla="*/ 2147483647 h 530"/>
              <a:gd name="T6" fmla="*/ 2147483647 w 164"/>
              <a:gd name="T7" fmla="*/ 2147483647 h 530"/>
              <a:gd name="T8" fmla="*/ 2147483647 w 164"/>
              <a:gd name="T9" fmla="*/ 2147483647 h 530"/>
              <a:gd name="T10" fmla="*/ 2147483647 w 164"/>
              <a:gd name="T11" fmla="*/ 2147483647 h 530"/>
              <a:gd name="T12" fmla="*/ 2147483647 w 164"/>
              <a:gd name="T13" fmla="*/ 2147483647 h 530"/>
              <a:gd name="T14" fmla="*/ 2147483647 w 164"/>
              <a:gd name="T15" fmla="*/ 2147483647 h 530"/>
              <a:gd name="T16" fmla="*/ 2147483647 w 164"/>
              <a:gd name="T17" fmla="*/ 2147483647 h 530"/>
              <a:gd name="T18" fmla="*/ 2147483647 w 164"/>
              <a:gd name="T19" fmla="*/ 2147483647 h 530"/>
              <a:gd name="T20" fmla="*/ 2147483647 w 164"/>
              <a:gd name="T21" fmla="*/ 2147483647 h 530"/>
              <a:gd name="T22" fmla="*/ 2147483647 w 164"/>
              <a:gd name="T23" fmla="*/ 2147483647 h 530"/>
              <a:gd name="T24" fmla="*/ 2147483647 w 164"/>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4"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64" y="282"/>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11" name="Freeform 97"/>
          <p:cNvSpPr>
            <a:spLocks/>
          </p:cNvSpPr>
          <p:nvPr/>
        </p:nvSpPr>
        <p:spPr bwMode="auto">
          <a:xfrm>
            <a:off x="6858000" y="4213225"/>
            <a:ext cx="103188" cy="431800"/>
          </a:xfrm>
          <a:custGeom>
            <a:avLst/>
            <a:gdLst>
              <a:gd name="T0" fmla="*/ 0 w 65"/>
              <a:gd name="T1" fmla="*/ 2147483647 h 363"/>
              <a:gd name="T2" fmla="*/ 2147483647 w 65"/>
              <a:gd name="T3" fmla="*/ 2147483647 h 363"/>
              <a:gd name="T4" fmla="*/ 2147483647 w 65"/>
              <a:gd name="T5" fmla="*/ 2147483647 h 363"/>
              <a:gd name="T6" fmla="*/ 2147483647 w 65"/>
              <a:gd name="T7" fmla="*/ 2147483647 h 363"/>
              <a:gd name="T8" fmla="*/ 2147483647 w 65"/>
              <a:gd name="T9" fmla="*/ 2147483647 h 363"/>
              <a:gd name="T10" fmla="*/ 2147483647 w 65"/>
              <a:gd name="T11" fmla="*/ 2147483647 h 363"/>
              <a:gd name="T12" fmla="*/ 2147483647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12" name="Freeform 98"/>
          <p:cNvSpPr>
            <a:spLocks/>
          </p:cNvSpPr>
          <p:nvPr/>
        </p:nvSpPr>
        <p:spPr bwMode="auto">
          <a:xfrm>
            <a:off x="6962775" y="4217988"/>
            <a:ext cx="276225" cy="841375"/>
          </a:xfrm>
          <a:custGeom>
            <a:avLst/>
            <a:gdLst>
              <a:gd name="T0" fmla="*/ 0 w 174"/>
              <a:gd name="T1" fmla="*/ 0 h 530"/>
              <a:gd name="T2" fmla="*/ 2147483647 w 174"/>
              <a:gd name="T3" fmla="*/ 2147483647 h 530"/>
              <a:gd name="T4" fmla="*/ 2147483647 w 174"/>
              <a:gd name="T5" fmla="*/ 2147483647 h 530"/>
              <a:gd name="T6" fmla="*/ 2147483647 w 174"/>
              <a:gd name="T7" fmla="*/ 2147483647 h 530"/>
              <a:gd name="T8" fmla="*/ 2147483647 w 174"/>
              <a:gd name="T9" fmla="*/ 2147483647 h 530"/>
              <a:gd name="T10" fmla="*/ 2147483647 w 174"/>
              <a:gd name="T11" fmla="*/ 2147483647 h 530"/>
              <a:gd name="T12" fmla="*/ 2147483647 w 174"/>
              <a:gd name="T13" fmla="*/ 2147483647 h 530"/>
              <a:gd name="T14" fmla="*/ 2147483647 w 174"/>
              <a:gd name="T15" fmla="*/ 2147483647 h 530"/>
              <a:gd name="T16" fmla="*/ 2147483647 w 174"/>
              <a:gd name="T17" fmla="*/ 2147483647 h 530"/>
              <a:gd name="T18" fmla="*/ 2147483647 w 174"/>
              <a:gd name="T19" fmla="*/ 2147483647 h 530"/>
              <a:gd name="T20" fmla="*/ 2147483647 w 174"/>
              <a:gd name="T21" fmla="*/ 2147483647 h 530"/>
              <a:gd name="T22" fmla="*/ 2147483647 w 174"/>
              <a:gd name="T23" fmla="*/ 2147483647 h 530"/>
              <a:gd name="T24" fmla="*/ 2147483647 w 174"/>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4" h="530">
                <a:moveTo>
                  <a:pt x="0" y="0"/>
                </a:moveTo>
                <a:lnTo>
                  <a:pt x="14" y="3"/>
                </a:lnTo>
                <a:lnTo>
                  <a:pt x="24" y="12"/>
                </a:lnTo>
                <a:lnTo>
                  <a:pt x="28" y="25"/>
                </a:lnTo>
                <a:lnTo>
                  <a:pt x="31" y="44"/>
                </a:lnTo>
                <a:lnTo>
                  <a:pt x="86" y="488"/>
                </a:lnTo>
                <a:lnTo>
                  <a:pt x="91" y="512"/>
                </a:lnTo>
                <a:lnTo>
                  <a:pt x="95" y="520"/>
                </a:lnTo>
                <a:lnTo>
                  <a:pt x="106" y="527"/>
                </a:lnTo>
                <a:lnTo>
                  <a:pt x="115" y="530"/>
                </a:lnTo>
                <a:lnTo>
                  <a:pt x="127" y="524"/>
                </a:lnTo>
                <a:lnTo>
                  <a:pt x="135" y="512"/>
                </a:lnTo>
                <a:lnTo>
                  <a:pt x="174" y="261"/>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13" name="Freeform 99"/>
          <p:cNvSpPr>
            <a:spLocks/>
          </p:cNvSpPr>
          <p:nvPr/>
        </p:nvSpPr>
        <p:spPr bwMode="auto">
          <a:xfrm>
            <a:off x="7239000" y="4213225"/>
            <a:ext cx="101600" cy="431800"/>
          </a:xfrm>
          <a:custGeom>
            <a:avLst/>
            <a:gdLst>
              <a:gd name="T0" fmla="*/ 0 w 64"/>
              <a:gd name="T1" fmla="*/ 2147483647 h 363"/>
              <a:gd name="T2" fmla="*/ 2147483647 w 64"/>
              <a:gd name="T3" fmla="*/ 2147483647 h 363"/>
              <a:gd name="T4" fmla="*/ 2147483647 w 64"/>
              <a:gd name="T5" fmla="*/ 2147483647 h 363"/>
              <a:gd name="T6" fmla="*/ 2147483647 w 64"/>
              <a:gd name="T7" fmla="*/ 2147483647 h 363"/>
              <a:gd name="T8" fmla="*/ 2147483647 w 64"/>
              <a:gd name="T9" fmla="*/ 2147483647 h 363"/>
              <a:gd name="T10" fmla="*/ 2147483647 w 64"/>
              <a:gd name="T11" fmla="*/ 2147483647 h 363"/>
              <a:gd name="T12" fmla="*/ 2147483647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14" name="Freeform 100"/>
          <p:cNvSpPr>
            <a:spLocks/>
          </p:cNvSpPr>
          <p:nvPr/>
        </p:nvSpPr>
        <p:spPr bwMode="auto">
          <a:xfrm>
            <a:off x="7342188" y="4217988"/>
            <a:ext cx="277812" cy="841375"/>
          </a:xfrm>
          <a:custGeom>
            <a:avLst/>
            <a:gdLst>
              <a:gd name="T0" fmla="*/ 0 w 175"/>
              <a:gd name="T1" fmla="*/ 0 h 530"/>
              <a:gd name="T2" fmla="*/ 2147483647 w 175"/>
              <a:gd name="T3" fmla="*/ 2147483647 h 530"/>
              <a:gd name="T4" fmla="*/ 2147483647 w 175"/>
              <a:gd name="T5" fmla="*/ 2147483647 h 530"/>
              <a:gd name="T6" fmla="*/ 2147483647 w 175"/>
              <a:gd name="T7" fmla="*/ 2147483647 h 530"/>
              <a:gd name="T8" fmla="*/ 2147483647 w 175"/>
              <a:gd name="T9" fmla="*/ 2147483647 h 530"/>
              <a:gd name="T10" fmla="*/ 2147483647 w 175"/>
              <a:gd name="T11" fmla="*/ 2147483647 h 530"/>
              <a:gd name="T12" fmla="*/ 2147483647 w 175"/>
              <a:gd name="T13" fmla="*/ 2147483647 h 530"/>
              <a:gd name="T14" fmla="*/ 2147483647 w 175"/>
              <a:gd name="T15" fmla="*/ 2147483647 h 530"/>
              <a:gd name="T16" fmla="*/ 2147483647 w 175"/>
              <a:gd name="T17" fmla="*/ 2147483647 h 530"/>
              <a:gd name="T18" fmla="*/ 2147483647 w 175"/>
              <a:gd name="T19" fmla="*/ 2147483647 h 530"/>
              <a:gd name="T20" fmla="*/ 2147483647 w 175"/>
              <a:gd name="T21" fmla="*/ 2147483647 h 530"/>
              <a:gd name="T22" fmla="*/ 2147483647 w 175"/>
              <a:gd name="T23" fmla="*/ 2147483647 h 530"/>
              <a:gd name="T24" fmla="*/ 2147483647 w 175"/>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5" h="530">
                <a:moveTo>
                  <a:pt x="0" y="0"/>
                </a:moveTo>
                <a:lnTo>
                  <a:pt x="14" y="3"/>
                </a:lnTo>
                <a:lnTo>
                  <a:pt x="24" y="12"/>
                </a:lnTo>
                <a:lnTo>
                  <a:pt x="28" y="25"/>
                </a:lnTo>
                <a:lnTo>
                  <a:pt x="31" y="44"/>
                </a:lnTo>
                <a:lnTo>
                  <a:pt x="85" y="488"/>
                </a:lnTo>
                <a:lnTo>
                  <a:pt x="90" y="512"/>
                </a:lnTo>
                <a:lnTo>
                  <a:pt x="95" y="520"/>
                </a:lnTo>
                <a:lnTo>
                  <a:pt x="106" y="527"/>
                </a:lnTo>
                <a:lnTo>
                  <a:pt x="115" y="530"/>
                </a:lnTo>
                <a:lnTo>
                  <a:pt x="126" y="524"/>
                </a:lnTo>
                <a:lnTo>
                  <a:pt x="134" y="512"/>
                </a:lnTo>
                <a:lnTo>
                  <a:pt x="175" y="258"/>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15" name="Freeform 101"/>
          <p:cNvSpPr>
            <a:spLocks/>
          </p:cNvSpPr>
          <p:nvPr/>
        </p:nvSpPr>
        <p:spPr bwMode="auto">
          <a:xfrm>
            <a:off x="7613650" y="4206875"/>
            <a:ext cx="106363" cy="431800"/>
          </a:xfrm>
          <a:custGeom>
            <a:avLst/>
            <a:gdLst>
              <a:gd name="T0" fmla="*/ 0 w 67"/>
              <a:gd name="T1" fmla="*/ 2147483647 h 363"/>
              <a:gd name="T2" fmla="*/ 2147483647 w 67"/>
              <a:gd name="T3" fmla="*/ 2147483647 h 363"/>
              <a:gd name="T4" fmla="*/ 2147483647 w 67"/>
              <a:gd name="T5" fmla="*/ 2147483647 h 363"/>
              <a:gd name="T6" fmla="*/ 2147483647 w 67"/>
              <a:gd name="T7" fmla="*/ 2147483647 h 363"/>
              <a:gd name="T8" fmla="*/ 2147483647 w 67"/>
              <a:gd name="T9" fmla="*/ 2147483647 h 363"/>
              <a:gd name="T10" fmla="*/ 2147483647 w 67"/>
              <a:gd name="T11" fmla="*/ 2147483647 h 363"/>
              <a:gd name="T12" fmla="*/ 2147483647 w 67"/>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16" name="Freeform 102"/>
          <p:cNvSpPr>
            <a:spLocks/>
          </p:cNvSpPr>
          <p:nvPr/>
        </p:nvSpPr>
        <p:spPr bwMode="auto">
          <a:xfrm>
            <a:off x="7721600" y="4211638"/>
            <a:ext cx="269875" cy="841375"/>
          </a:xfrm>
          <a:custGeom>
            <a:avLst/>
            <a:gdLst>
              <a:gd name="T0" fmla="*/ 0 w 170"/>
              <a:gd name="T1" fmla="*/ 0 h 530"/>
              <a:gd name="T2" fmla="*/ 2147483647 w 170"/>
              <a:gd name="T3" fmla="*/ 2147483647 h 530"/>
              <a:gd name="T4" fmla="*/ 2147483647 w 170"/>
              <a:gd name="T5" fmla="*/ 2147483647 h 530"/>
              <a:gd name="T6" fmla="*/ 2147483647 w 170"/>
              <a:gd name="T7" fmla="*/ 2147483647 h 530"/>
              <a:gd name="T8" fmla="*/ 2147483647 w 170"/>
              <a:gd name="T9" fmla="*/ 2147483647 h 530"/>
              <a:gd name="T10" fmla="*/ 2147483647 w 170"/>
              <a:gd name="T11" fmla="*/ 2147483647 h 530"/>
              <a:gd name="T12" fmla="*/ 2147483647 w 170"/>
              <a:gd name="T13" fmla="*/ 2147483647 h 530"/>
              <a:gd name="T14" fmla="*/ 2147483647 w 170"/>
              <a:gd name="T15" fmla="*/ 2147483647 h 530"/>
              <a:gd name="T16" fmla="*/ 2147483647 w 170"/>
              <a:gd name="T17" fmla="*/ 2147483647 h 530"/>
              <a:gd name="T18" fmla="*/ 2147483647 w 170"/>
              <a:gd name="T19" fmla="*/ 2147483647 h 530"/>
              <a:gd name="T20" fmla="*/ 2147483647 w 170"/>
              <a:gd name="T21" fmla="*/ 2147483647 h 530"/>
              <a:gd name="T22" fmla="*/ 2147483647 w 170"/>
              <a:gd name="T23" fmla="*/ 2147483647 h 530"/>
              <a:gd name="T24" fmla="*/ 2147483647 w 170"/>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5"/>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317" name="Group 103"/>
          <p:cNvGrpSpPr>
            <a:grpSpLocks/>
          </p:cNvGrpSpPr>
          <p:nvPr/>
        </p:nvGrpSpPr>
        <p:grpSpPr bwMode="auto">
          <a:xfrm>
            <a:off x="7991475" y="4206875"/>
            <a:ext cx="377825" cy="847725"/>
            <a:chOff x="5025" y="2269"/>
            <a:chExt cx="238" cy="713"/>
          </a:xfrm>
        </p:grpSpPr>
        <p:sp>
          <p:nvSpPr>
            <p:cNvPr id="10381" name="Freeform 104"/>
            <p:cNvSpPr>
              <a:spLocks/>
            </p:cNvSpPr>
            <p:nvPr/>
          </p:nvSpPr>
          <p:spPr bwMode="auto">
            <a:xfrm>
              <a:off x="5025" y="2269"/>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82" name="Freeform 105"/>
            <p:cNvSpPr>
              <a:spLocks/>
            </p:cNvSpPr>
            <p:nvPr/>
          </p:nvSpPr>
          <p:spPr bwMode="auto">
            <a:xfrm>
              <a:off x="5095" y="2273"/>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18" name="Group 106"/>
          <p:cNvGrpSpPr>
            <a:grpSpLocks/>
          </p:cNvGrpSpPr>
          <p:nvPr/>
        </p:nvGrpSpPr>
        <p:grpSpPr bwMode="auto">
          <a:xfrm>
            <a:off x="1512888" y="5372100"/>
            <a:ext cx="376237" cy="847725"/>
            <a:chOff x="944" y="3250"/>
            <a:chExt cx="237" cy="713"/>
          </a:xfrm>
        </p:grpSpPr>
        <p:sp>
          <p:nvSpPr>
            <p:cNvPr id="10379" name="Freeform 107"/>
            <p:cNvSpPr>
              <a:spLocks/>
            </p:cNvSpPr>
            <p:nvPr/>
          </p:nvSpPr>
          <p:spPr bwMode="auto">
            <a:xfrm>
              <a:off x="944"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80" name="Freeform 108"/>
            <p:cNvSpPr>
              <a:spLocks/>
            </p:cNvSpPr>
            <p:nvPr/>
          </p:nvSpPr>
          <p:spPr bwMode="auto">
            <a:xfrm>
              <a:off x="1010"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319" name="Freeform 109"/>
          <p:cNvSpPr>
            <a:spLocks/>
          </p:cNvSpPr>
          <p:nvPr/>
        </p:nvSpPr>
        <p:spPr bwMode="auto">
          <a:xfrm>
            <a:off x="1890713" y="5372100"/>
            <a:ext cx="104775" cy="431800"/>
          </a:xfrm>
          <a:custGeom>
            <a:avLst/>
            <a:gdLst>
              <a:gd name="T0" fmla="*/ 0 w 66"/>
              <a:gd name="T1" fmla="*/ 2147483647 h 363"/>
              <a:gd name="T2" fmla="*/ 2147483647 w 66"/>
              <a:gd name="T3" fmla="*/ 2147483647 h 363"/>
              <a:gd name="T4" fmla="*/ 2147483647 w 66"/>
              <a:gd name="T5" fmla="*/ 2147483647 h 363"/>
              <a:gd name="T6" fmla="*/ 2147483647 w 66"/>
              <a:gd name="T7" fmla="*/ 2147483647 h 363"/>
              <a:gd name="T8" fmla="*/ 2147483647 w 66"/>
              <a:gd name="T9" fmla="*/ 2147483647 h 363"/>
              <a:gd name="T10" fmla="*/ 2147483647 w 66"/>
              <a:gd name="T11" fmla="*/ 2147483647 h 363"/>
              <a:gd name="T12" fmla="*/ 2147483647 w 66"/>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0" name="Freeform 110"/>
          <p:cNvSpPr>
            <a:spLocks/>
          </p:cNvSpPr>
          <p:nvPr/>
        </p:nvSpPr>
        <p:spPr bwMode="auto">
          <a:xfrm>
            <a:off x="1997075" y="5375275"/>
            <a:ext cx="293688" cy="842963"/>
          </a:xfrm>
          <a:custGeom>
            <a:avLst/>
            <a:gdLst>
              <a:gd name="T0" fmla="*/ 0 w 185"/>
              <a:gd name="T1" fmla="*/ 2147483647 h 531"/>
              <a:gd name="T2" fmla="*/ 2147483647 w 185"/>
              <a:gd name="T3" fmla="*/ 0 h 531"/>
              <a:gd name="T4" fmla="*/ 2147483647 w 185"/>
              <a:gd name="T5" fmla="*/ 2147483647 h 531"/>
              <a:gd name="T6" fmla="*/ 2147483647 w 185"/>
              <a:gd name="T7" fmla="*/ 2147483647 h 531"/>
              <a:gd name="T8" fmla="*/ 2147483647 w 185"/>
              <a:gd name="T9" fmla="*/ 2147483647 h 531"/>
              <a:gd name="T10" fmla="*/ 2147483647 w 185"/>
              <a:gd name="T11" fmla="*/ 2147483647 h 531"/>
              <a:gd name="T12" fmla="*/ 2147483647 w 185"/>
              <a:gd name="T13" fmla="*/ 2147483647 h 531"/>
              <a:gd name="T14" fmla="*/ 2147483647 w 185"/>
              <a:gd name="T15" fmla="*/ 2147483647 h 531"/>
              <a:gd name="T16" fmla="*/ 2147483647 w 185"/>
              <a:gd name="T17" fmla="*/ 2147483647 h 531"/>
              <a:gd name="T18" fmla="*/ 2147483647 w 185"/>
              <a:gd name="T19" fmla="*/ 2147483647 h 531"/>
              <a:gd name="T20" fmla="*/ 2147483647 w 185"/>
              <a:gd name="T21" fmla="*/ 2147483647 h 531"/>
              <a:gd name="T22" fmla="*/ 2147483647 w 185"/>
              <a:gd name="T23" fmla="*/ 2147483647 h 531"/>
              <a:gd name="T24" fmla="*/ 2147483647 w 185"/>
              <a:gd name="T25" fmla="*/ 2147483647 h 5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5" h="531">
                <a:moveTo>
                  <a:pt x="0" y="1"/>
                </a:moveTo>
                <a:lnTo>
                  <a:pt x="8" y="0"/>
                </a:lnTo>
                <a:lnTo>
                  <a:pt x="24" y="13"/>
                </a:lnTo>
                <a:lnTo>
                  <a:pt x="28" y="26"/>
                </a:lnTo>
                <a:lnTo>
                  <a:pt x="31" y="45"/>
                </a:lnTo>
                <a:lnTo>
                  <a:pt x="85" y="489"/>
                </a:lnTo>
                <a:lnTo>
                  <a:pt x="90" y="513"/>
                </a:lnTo>
                <a:lnTo>
                  <a:pt x="95" y="521"/>
                </a:lnTo>
                <a:lnTo>
                  <a:pt x="106" y="528"/>
                </a:lnTo>
                <a:lnTo>
                  <a:pt x="115" y="531"/>
                </a:lnTo>
                <a:lnTo>
                  <a:pt x="126" y="525"/>
                </a:lnTo>
                <a:lnTo>
                  <a:pt x="134" y="513"/>
                </a:lnTo>
                <a:lnTo>
                  <a:pt x="185" y="258"/>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321" name="Group 111"/>
          <p:cNvGrpSpPr>
            <a:grpSpLocks/>
          </p:cNvGrpSpPr>
          <p:nvPr/>
        </p:nvGrpSpPr>
        <p:grpSpPr bwMode="auto">
          <a:xfrm>
            <a:off x="2293938" y="5372100"/>
            <a:ext cx="376237" cy="847725"/>
            <a:chOff x="1436" y="3250"/>
            <a:chExt cx="237" cy="713"/>
          </a:xfrm>
        </p:grpSpPr>
        <p:sp>
          <p:nvSpPr>
            <p:cNvPr id="10377" name="Freeform 112"/>
            <p:cNvSpPr>
              <a:spLocks/>
            </p:cNvSpPr>
            <p:nvPr/>
          </p:nvSpPr>
          <p:spPr bwMode="auto">
            <a:xfrm>
              <a:off x="1436" y="3600"/>
              <a:ext cx="65" cy="363"/>
            </a:xfrm>
            <a:custGeom>
              <a:avLst/>
              <a:gdLst>
                <a:gd name="T0" fmla="*/ 0 w 65"/>
                <a:gd name="T1" fmla="*/ 0 h 363"/>
                <a:gd name="T2" fmla="*/ 40 w 65"/>
                <a:gd name="T3" fmla="*/ 308 h 363"/>
                <a:gd name="T4" fmla="*/ 42 w 65"/>
                <a:gd name="T5" fmla="*/ 324 h 363"/>
                <a:gd name="T6" fmla="*/ 44 w 65"/>
                <a:gd name="T7" fmla="*/ 337 h 363"/>
                <a:gd name="T8" fmla="*/ 47 w 65"/>
                <a:gd name="T9" fmla="*/ 347 h 363"/>
                <a:gd name="T10" fmla="*/ 55 w 65"/>
                <a:gd name="T11" fmla="*/ 356 h 363"/>
                <a:gd name="T12" fmla="*/ 64 w 65"/>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0"/>
                  </a:moveTo>
                  <a:lnTo>
                    <a:pt x="40" y="308"/>
                  </a:lnTo>
                  <a:lnTo>
                    <a:pt x="42" y="324"/>
                  </a:lnTo>
                  <a:lnTo>
                    <a:pt x="44" y="337"/>
                  </a:lnTo>
                  <a:lnTo>
                    <a:pt x="47" y="347"/>
                  </a:lnTo>
                  <a:lnTo>
                    <a:pt x="55" y="356"/>
                  </a:lnTo>
                  <a:lnTo>
                    <a:pt x="64" y="362"/>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78" name="Freeform 113"/>
            <p:cNvSpPr>
              <a:spLocks/>
            </p:cNvSpPr>
            <p:nvPr/>
          </p:nvSpPr>
          <p:spPr bwMode="auto">
            <a:xfrm>
              <a:off x="1502" y="3250"/>
              <a:ext cx="171" cy="709"/>
            </a:xfrm>
            <a:custGeom>
              <a:avLst/>
              <a:gdLst>
                <a:gd name="T0" fmla="*/ 0 w 171"/>
                <a:gd name="T1" fmla="*/ 708 h 709"/>
                <a:gd name="T2" fmla="*/ 14 w 171"/>
                <a:gd name="T3" fmla="*/ 704 h 709"/>
                <a:gd name="T4" fmla="*/ 24 w 171"/>
                <a:gd name="T5" fmla="*/ 692 h 709"/>
                <a:gd name="T6" fmla="*/ 28 w 171"/>
                <a:gd name="T7" fmla="*/ 675 h 709"/>
                <a:gd name="T8" fmla="*/ 31 w 171"/>
                <a:gd name="T9" fmla="*/ 649 h 709"/>
                <a:gd name="T10" fmla="*/ 85 w 171"/>
                <a:gd name="T11" fmla="*/ 57 h 709"/>
                <a:gd name="T12" fmla="*/ 90 w 171"/>
                <a:gd name="T13" fmla="*/ 24 h 709"/>
                <a:gd name="T14" fmla="*/ 95 w 171"/>
                <a:gd name="T15" fmla="*/ 14 h 709"/>
                <a:gd name="T16" fmla="*/ 106 w 171"/>
                <a:gd name="T17" fmla="*/ 4 h 709"/>
                <a:gd name="T18" fmla="*/ 115 w 171"/>
                <a:gd name="T19" fmla="*/ 0 h 709"/>
                <a:gd name="T20" fmla="*/ 126 w 171"/>
                <a:gd name="T21" fmla="*/ 8 h 709"/>
                <a:gd name="T22" fmla="*/ 134 w 171"/>
                <a:gd name="T23" fmla="*/ 24 h 709"/>
                <a:gd name="T24" fmla="*/ 170 w 171"/>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708"/>
                  </a:moveTo>
                  <a:lnTo>
                    <a:pt x="14" y="704"/>
                  </a:lnTo>
                  <a:lnTo>
                    <a:pt x="24" y="692"/>
                  </a:lnTo>
                  <a:lnTo>
                    <a:pt x="28" y="675"/>
                  </a:lnTo>
                  <a:lnTo>
                    <a:pt x="31" y="649"/>
                  </a:lnTo>
                  <a:lnTo>
                    <a:pt x="85" y="57"/>
                  </a:lnTo>
                  <a:lnTo>
                    <a:pt x="90" y="24"/>
                  </a:lnTo>
                  <a:lnTo>
                    <a:pt x="95" y="14"/>
                  </a:lnTo>
                  <a:lnTo>
                    <a:pt x="106" y="4"/>
                  </a:lnTo>
                  <a:lnTo>
                    <a:pt x="115" y="0"/>
                  </a:lnTo>
                  <a:lnTo>
                    <a:pt x="126" y="8"/>
                  </a:lnTo>
                  <a:lnTo>
                    <a:pt x="134" y="24"/>
                  </a:lnTo>
                  <a:lnTo>
                    <a:pt x="170" y="328"/>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322" name="Freeform 114"/>
          <p:cNvSpPr>
            <a:spLocks/>
          </p:cNvSpPr>
          <p:nvPr/>
        </p:nvSpPr>
        <p:spPr bwMode="auto">
          <a:xfrm>
            <a:off x="2671763" y="5788025"/>
            <a:ext cx="104775" cy="431800"/>
          </a:xfrm>
          <a:custGeom>
            <a:avLst/>
            <a:gdLst>
              <a:gd name="T0" fmla="*/ 0 w 66"/>
              <a:gd name="T1" fmla="*/ 0 h 363"/>
              <a:gd name="T2" fmla="*/ 2147483647 w 66"/>
              <a:gd name="T3" fmla="*/ 2147483647 h 363"/>
              <a:gd name="T4" fmla="*/ 2147483647 w 66"/>
              <a:gd name="T5" fmla="*/ 2147483647 h 363"/>
              <a:gd name="T6" fmla="*/ 2147483647 w 66"/>
              <a:gd name="T7" fmla="*/ 2147483647 h 363"/>
              <a:gd name="T8" fmla="*/ 2147483647 w 66"/>
              <a:gd name="T9" fmla="*/ 2147483647 h 363"/>
              <a:gd name="T10" fmla="*/ 2147483647 w 66"/>
              <a:gd name="T11" fmla="*/ 2147483647 h 363"/>
              <a:gd name="T12" fmla="*/ 2147483647 w 66"/>
              <a:gd name="T13" fmla="*/ 2147483647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3" name="Freeform 115"/>
          <p:cNvSpPr>
            <a:spLocks/>
          </p:cNvSpPr>
          <p:nvPr/>
        </p:nvSpPr>
        <p:spPr bwMode="auto">
          <a:xfrm>
            <a:off x="2778125" y="5372100"/>
            <a:ext cx="288925" cy="841375"/>
          </a:xfrm>
          <a:custGeom>
            <a:avLst/>
            <a:gdLst>
              <a:gd name="T0" fmla="*/ 0 w 182"/>
              <a:gd name="T1" fmla="*/ 2147483647 h 530"/>
              <a:gd name="T2" fmla="*/ 2147483647 w 182"/>
              <a:gd name="T3" fmla="*/ 2147483647 h 530"/>
              <a:gd name="T4" fmla="*/ 2147483647 w 182"/>
              <a:gd name="T5" fmla="*/ 2147483647 h 530"/>
              <a:gd name="T6" fmla="*/ 2147483647 w 182"/>
              <a:gd name="T7" fmla="*/ 2147483647 h 530"/>
              <a:gd name="T8" fmla="*/ 2147483647 w 182"/>
              <a:gd name="T9" fmla="*/ 2147483647 h 530"/>
              <a:gd name="T10" fmla="*/ 2147483647 w 182"/>
              <a:gd name="T11" fmla="*/ 2147483647 h 530"/>
              <a:gd name="T12" fmla="*/ 2147483647 w 182"/>
              <a:gd name="T13" fmla="*/ 2147483647 h 530"/>
              <a:gd name="T14" fmla="*/ 2147483647 w 182"/>
              <a:gd name="T15" fmla="*/ 2147483647 h 530"/>
              <a:gd name="T16" fmla="*/ 2147483647 w 182"/>
              <a:gd name="T17" fmla="*/ 2147483647 h 530"/>
              <a:gd name="T18" fmla="*/ 2147483647 w 182"/>
              <a:gd name="T19" fmla="*/ 0 h 530"/>
              <a:gd name="T20" fmla="*/ 2147483647 w 182"/>
              <a:gd name="T21" fmla="*/ 2147483647 h 530"/>
              <a:gd name="T22" fmla="*/ 2147483647 w 182"/>
              <a:gd name="T23" fmla="*/ 2147483647 h 530"/>
              <a:gd name="T24" fmla="*/ 2147483647 w 182"/>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2" h="530">
                <a:moveTo>
                  <a:pt x="0" y="530"/>
                </a:moveTo>
                <a:lnTo>
                  <a:pt x="14" y="527"/>
                </a:lnTo>
                <a:lnTo>
                  <a:pt x="24" y="518"/>
                </a:lnTo>
                <a:lnTo>
                  <a:pt x="28" y="506"/>
                </a:lnTo>
                <a:lnTo>
                  <a:pt x="31" y="486"/>
                </a:lnTo>
                <a:lnTo>
                  <a:pt x="85" y="43"/>
                </a:lnTo>
                <a:lnTo>
                  <a:pt x="90" y="18"/>
                </a:lnTo>
                <a:lnTo>
                  <a:pt x="95" y="10"/>
                </a:lnTo>
                <a:lnTo>
                  <a:pt x="106" y="3"/>
                </a:lnTo>
                <a:lnTo>
                  <a:pt x="115" y="0"/>
                </a:lnTo>
                <a:lnTo>
                  <a:pt x="126" y="6"/>
                </a:lnTo>
                <a:lnTo>
                  <a:pt x="134" y="18"/>
                </a:lnTo>
                <a:lnTo>
                  <a:pt x="182" y="29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4" name="Freeform 116"/>
          <p:cNvSpPr>
            <a:spLocks/>
          </p:cNvSpPr>
          <p:nvPr/>
        </p:nvSpPr>
        <p:spPr bwMode="auto">
          <a:xfrm>
            <a:off x="3076575" y="5375275"/>
            <a:ext cx="111125" cy="457200"/>
          </a:xfrm>
          <a:custGeom>
            <a:avLst/>
            <a:gdLst>
              <a:gd name="T0" fmla="*/ 0 w 70"/>
              <a:gd name="T1" fmla="*/ 2147483647 h 288"/>
              <a:gd name="T2" fmla="*/ 2147483647 w 70"/>
              <a:gd name="T3" fmla="*/ 2147483647 h 288"/>
              <a:gd name="T4" fmla="*/ 2147483647 w 70"/>
              <a:gd name="T5" fmla="*/ 2147483647 h 288"/>
              <a:gd name="T6" fmla="*/ 2147483647 w 70"/>
              <a:gd name="T7" fmla="*/ 2147483647 h 288"/>
              <a:gd name="T8" fmla="*/ 2147483647 w 70"/>
              <a:gd name="T9" fmla="*/ 2147483647 h 288"/>
              <a:gd name="T10" fmla="*/ 2147483647 w 70"/>
              <a:gd name="T11" fmla="*/ 2147483647 h 288"/>
              <a:gd name="T12" fmla="*/ 2147483647 w 70"/>
              <a:gd name="T13" fmla="*/ 0 h 28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0" h="288">
                <a:moveTo>
                  <a:pt x="0" y="288"/>
                </a:moveTo>
                <a:lnTo>
                  <a:pt x="46" y="40"/>
                </a:lnTo>
                <a:lnTo>
                  <a:pt x="48" y="28"/>
                </a:lnTo>
                <a:lnTo>
                  <a:pt x="50" y="19"/>
                </a:lnTo>
                <a:lnTo>
                  <a:pt x="53" y="11"/>
                </a:lnTo>
                <a:lnTo>
                  <a:pt x="61" y="4"/>
                </a:lnTo>
                <a:lnTo>
                  <a:pt x="70"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5" name="Freeform 117"/>
          <p:cNvSpPr>
            <a:spLocks/>
          </p:cNvSpPr>
          <p:nvPr/>
        </p:nvSpPr>
        <p:spPr bwMode="auto">
          <a:xfrm>
            <a:off x="3190875" y="5376863"/>
            <a:ext cx="273050" cy="842962"/>
          </a:xfrm>
          <a:custGeom>
            <a:avLst/>
            <a:gdLst>
              <a:gd name="T0" fmla="*/ 0 w 172"/>
              <a:gd name="T1" fmla="*/ 0 h 709"/>
              <a:gd name="T2" fmla="*/ 2147483647 w 172"/>
              <a:gd name="T3" fmla="*/ 2147483647 h 709"/>
              <a:gd name="T4" fmla="*/ 2147483647 w 172"/>
              <a:gd name="T5" fmla="*/ 2147483647 h 709"/>
              <a:gd name="T6" fmla="*/ 2147483647 w 172"/>
              <a:gd name="T7" fmla="*/ 2147483647 h 709"/>
              <a:gd name="T8" fmla="*/ 2147483647 w 172"/>
              <a:gd name="T9" fmla="*/ 2147483647 h 709"/>
              <a:gd name="T10" fmla="*/ 2147483647 w 172"/>
              <a:gd name="T11" fmla="*/ 2147483647 h 709"/>
              <a:gd name="T12" fmla="*/ 2147483647 w 172"/>
              <a:gd name="T13" fmla="*/ 2147483647 h 709"/>
              <a:gd name="T14" fmla="*/ 2147483647 w 172"/>
              <a:gd name="T15" fmla="*/ 2147483647 h 709"/>
              <a:gd name="T16" fmla="*/ 2147483647 w 172"/>
              <a:gd name="T17" fmla="*/ 2147483647 h 709"/>
              <a:gd name="T18" fmla="*/ 2147483647 w 172"/>
              <a:gd name="T19" fmla="*/ 2147483647 h 709"/>
              <a:gd name="T20" fmla="*/ 2147483647 w 172"/>
              <a:gd name="T21" fmla="*/ 2147483647 h 709"/>
              <a:gd name="T22" fmla="*/ 2147483647 w 172"/>
              <a:gd name="T23" fmla="*/ 2147483647 h 709"/>
              <a:gd name="T24" fmla="*/ 2147483647 w 172"/>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6" name="Freeform 118"/>
          <p:cNvSpPr>
            <a:spLocks/>
          </p:cNvSpPr>
          <p:nvPr/>
        </p:nvSpPr>
        <p:spPr bwMode="auto">
          <a:xfrm>
            <a:off x="3467100" y="5386388"/>
            <a:ext cx="101600" cy="430212"/>
          </a:xfrm>
          <a:custGeom>
            <a:avLst/>
            <a:gdLst>
              <a:gd name="T0" fmla="*/ 0 w 64"/>
              <a:gd name="T1" fmla="*/ 2147483647 h 363"/>
              <a:gd name="T2" fmla="*/ 2147483647 w 64"/>
              <a:gd name="T3" fmla="*/ 2147483647 h 363"/>
              <a:gd name="T4" fmla="*/ 2147483647 w 64"/>
              <a:gd name="T5" fmla="*/ 2147483647 h 363"/>
              <a:gd name="T6" fmla="*/ 2147483647 w 64"/>
              <a:gd name="T7" fmla="*/ 2147483647 h 363"/>
              <a:gd name="T8" fmla="*/ 2147483647 w 64"/>
              <a:gd name="T9" fmla="*/ 2147483647 h 363"/>
              <a:gd name="T10" fmla="*/ 2147483647 w 64"/>
              <a:gd name="T11" fmla="*/ 2147483647 h 363"/>
              <a:gd name="T12" fmla="*/ 2147483647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7" name="Freeform 119"/>
          <p:cNvSpPr>
            <a:spLocks/>
          </p:cNvSpPr>
          <p:nvPr/>
        </p:nvSpPr>
        <p:spPr bwMode="auto">
          <a:xfrm>
            <a:off x="3573463" y="5383213"/>
            <a:ext cx="279400" cy="841375"/>
          </a:xfrm>
          <a:custGeom>
            <a:avLst/>
            <a:gdLst>
              <a:gd name="T0" fmla="*/ 0 w 176"/>
              <a:gd name="T1" fmla="*/ 0 h 708"/>
              <a:gd name="T2" fmla="*/ 2147483647 w 176"/>
              <a:gd name="T3" fmla="*/ 2147483647 h 708"/>
              <a:gd name="T4" fmla="*/ 2147483647 w 176"/>
              <a:gd name="T5" fmla="*/ 2147483647 h 708"/>
              <a:gd name="T6" fmla="*/ 2147483647 w 176"/>
              <a:gd name="T7" fmla="*/ 2147483647 h 708"/>
              <a:gd name="T8" fmla="*/ 2147483647 w 176"/>
              <a:gd name="T9" fmla="*/ 2147483647 h 708"/>
              <a:gd name="T10" fmla="*/ 2147483647 w 176"/>
              <a:gd name="T11" fmla="*/ 2147483647 h 708"/>
              <a:gd name="T12" fmla="*/ 2147483647 w 176"/>
              <a:gd name="T13" fmla="*/ 2147483647 h 708"/>
              <a:gd name="T14" fmla="*/ 2147483647 w 176"/>
              <a:gd name="T15" fmla="*/ 2147483647 h 708"/>
              <a:gd name="T16" fmla="*/ 2147483647 w 176"/>
              <a:gd name="T17" fmla="*/ 2147483647 h 708"/>
              <a:gd name="T18" fmla="*/ 2147483647 w 176"/>
              <a:gd name="T19" fmla="*/ 2147483647 h 708"/>
              <a:gd name="T20" fmla="*/ 2147483647 w 176"/>
              <a:gd name="T21" fmla="*/ 2147483647 h 708"/>
              <a:gd name="T22" fmla="*/ 2147483647 w 176"/>
              <a:gd name="T23" fmla="*/ 2147483647 h 708"/>
              <a:gd name="T24" fmla="*/ 2147483647 w 176"/>
              <a:gd name="T25" fmla="*/ 2147483647 h 7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708">
                <a:moveTo>
                  <a:pt x="0" y="0"/>
                </a:moveTo>
                <a:lnTo>
                  <a:pt x="15" y="4"/>
                </a:lnTo>
                <a:lnTo>
                  <a:pt x="25" y="16"/>
                </a:lnTo>
                <a:lnTo>
                  <a:pt x="28" y="33"/>
                </a:lnTo>
                <a:lnTo>
                  <a:pt x="32" y="59"/>
                </a:lnTo>
                <a:lnTo>
                  <a:pt x="88" y="650"/>
                </a:lnTo>
                <a:lnTo>
                  <a:pt x="93" y="683"/>
                </a:lnTo>
                <a:lnTo>
                  <a:pt x="97" y="693"/>
                </a:lnTo>
                <a:lnTo>
                  <a:pt x="109" y="703"/>
                </a:lnTo>
                <a:lnTo>
                  <a:pt x="118" y="707"/>
                </a:lnTo>
                <a:lnTo>
                  <a:pt x="130" y="699"/>
                </a:lnTo>
                <a:lnTo>
                  <a:pt x="138" y="683"/>
                </a:lnTo>
                <a:lnTo>
                  <a:pt x="175" y="379"/>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8" name="Freeform 120"/>
          <p:cNvSpPr>
            <a:spLocks/>
          </p:cNvSpPr>
          <p:nvPr/>
        </p:nvSpPr>
        <p:spPr bwMode="auto">
          <a:xfrm>
            <a:off x="3854450" y="5392738"/>
            <a:ext cx="106363" cy="431800"/>
          </a:xfrm>
          <a:custGeom>
            <a:avLst/>
            <a:gdLst>
              <a:gd name="T0" fmla="*/ 0 w 67"/>
              <a:gd name="T1" fmla="*/ 2147483647 h 363"/>
              <a:gd name="T2" fmla="*/ 2147483647 w 67"/>
              <a:gd name="T3" fmla="*/ 2147483647 h 363"/>
              <a:gd name="T4" fmla="*/ 2147483647 w 67"/>
              <a:gd name="T5" fmla="*/ 2147483647 h 363"/>
              <a:gd name="T6" fmla="*/ 2147483647 w 67"/>
              <a:gd name="T7" fmla="*/ 2147483647 h 363"/>
              <a:gd name="T8" fmla="*/ 2147483647 w 67"/>
              <a:gd name="T9" fmla="*/ 2147483647 h 363"/>
              <a:gd name="T10" fmla="*/ 2147483647 w 67"/>
              <a:gd name="T11" fmla="*/ 2147483647 h 363"/>
              <a:gd name="T12" fmla="*/ 2147483647 w 67"/>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9" name="Freeform 121"/>
          <p:cNvSpPr>
            <a:spLocks/>
          </p:cNvSpPr>
          <p:nvPr/>
        </p:nvSpPr>
        <p:spPr bwMode="auto">
          <a:xfrm>
            <a:off x="3967163" y="5391150"/>
            <a:ext cx="266700" cy="841375"/>
          </a:xfrm>
          <a:custGeom>
            <a:avLst/>
            <a:gdLst>
              <a:gd name="T0" fmla="*/ 0 w 168"/>
              <a:gd name="T1" fmla="*/ 0 h 709"/>
              <a:gd name="T2" fmla="*/ 2147483647 w 168"/>
              <a:gd name="T3" fmla="*/ 2147483647 h 709"/>
              <a:gd name="T4" fmla="*/ 2147483647 w 168"/>
              <a:gd name="T5" fmla="*/ 2147483647 h 709"/>
              <a:gd name="T6" fmla="*/ 2147483647 w 168"/>
              <a:gd name="T7" fmla="*/ 2147483647 h 709"/>
              <a:gd name="T8" fmla="*/ 2147483647 w 168"/>
              <a:gd name="T9" fmla="*/ 2147483647 h 709"/>
              <a:gd name="T10" fmla="*/ 2147483647 w 168"/>
              <a:gd name="T11" fmla="*/ 2147483647 h 709"/>
              <a:gd name="T12" fmla="*/ 2147483647 w 168"/>
              <a:gd name="T13" fmla="*/ 2147483647 h 709"/>
              <a:gd name="T14" fmla="*/ 2147483647 w 168"/>
              <a:gd name="T15" fmla="*/ 2147483647 h 709"/>
              <a:gd name="T16" fmla="*/ 2147483647 w 168"/>
              <a:gd name="T17" fmla="*/ 2147483647 h 709"/>
              <a:gd name="T18" fmla="*/ 2147483647 w 168"/>
              <a:gd name="T19" fmla="*/ 2147483647 h 709"/>
              <a:gd name="T20" fmla="*/ 2147483647 w 168"/>
              <a:gd name="T21" fmla="*/ 2147483647 h 709"/>
              <a:gd name="T22" fmla="*/ 2147483647 w 168"/>
              <a:gd name="T23" fmla="*/ 2147483647 h 709"/>
              <a:gd name="T24" fmla="*/ 2147483647 w 168"/>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0" name="Freeform 122"/>
          <p:cNvSpPr>
            <a:spLocks/>
          </p:cNvSpPr>
          <p:nvPr/>
        </p:nvSpPr>
        <p:spPr bwMode="auto">
          <a:xfrm>
            <a:off x="4235450" y="5392738"/>
            <a:ext cx="109538" cy="431800"/>
          </a:xfrm>
          <a:custGeom>
            <a:avLst/>
            <a:gdLst>
              <a:gd name="T0" fmla="*/ 0 w 69"/>
              <a:gd name="T1" fmla="*/ 2147483647 h 363"/>
              <a:gd name="T2" fmla="*/ 2147483647 w 69"/>
              <a:gd name="T3" fmla="*/ 2147483647 h 363"/>
              <a:gd name="T4" fmla="*/ 2147483647 w 69"/>
              <a:gd name="T5" fmla="*/ 2147483647 h 363"/>
              <a:gd name="T6" fmla="*/ 2147483647 w 69"/>
              <a:gd name="T7" fmla="*/ 2147483647 h 363"/>
              <a:gd name="T8" fmla="*/ 2147483647 w 69"/>
              <a:gd name="T9" fmla="*/ 2147483647 h 363"/>
              <a:gd name="T10" fmla="*/ 2147483647 w 69"/>
              <a:gd name="T11" fmla="*/ 2147483647 h 363"/>
              <a:gd name="T12" fmla="*/ 2147483647 w 69"/>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1" name="Freeform 123"/>
          <p:cNvSpPr>
            <a:spLocks/>
          </p:cNvSpPr>
          <p:nvPr/>
        </p:nvSpPr>
        <p:spPr bwMode="auto">
          <a:xfrm>
            <a:off x="4349750" y="5387975"/>
            <a:ext cx="266700" cy="842963"/>
          </a:xfrm>
          <a:custGeom>
            <a:avLst/>
            <a:gdLst>
              <a:gd name="T0" fmla="*/ 0 w 168"/>
              <a:gd name="T1" fmla="*/ 0 h 709"/>
              <a:gd name="T2" fmla="*/ 2147483647 w 168"/>
              <a:gd name="T3" fmla="*/ 2147483647 h 709"/>
              <a:gd name="T4" fmla="*/ 2147483647 w 168"/>
              <a:gd name="T5" fmla="*/ 2147483647 h 709"/>
              <a:gd name="T6" fmla="*/ 2147483647 w 168"/>
              <a:gd name="T7" fmla="*/ 2147483647 h 709"/>
              <a:gd name="T8" fmla="*/ 2147483647 w 168"/>
              <a:gd name="T9" fmla="*/ 2147483647 h 709"/>
              <a:gd name="T10" fmla="*/ 2147483647 w 168"/>
              <a:gd name="T11" fmla="*/ 2147483647 h 709"/>
              <a:gd name="T12" fmla="*/ 2147483647 w 168"/>
              <a:gd name="T13" fmla="*/ 2147483647 h 709"/>
              <a:gd name="T14" fmla="*/ 2147483647 w 168"/>
              <a:gd name="T15" fmla="*/ 2147483647 h 709"/>
              <a:gd name="T16" fmla="*/ 2147483647 w 168"/>
              <a:gd name="T17" fmla="*/ 2147483647 h 709"/>
              <a:gd name="T18" fmla="*/ 2147483647 w 168"/>
              <a:gd name="T19" fmla="*/ 2147483647 h 709"/>
              <a:gd name="T20" fmla="*/ 2147483647 w 168"/>
              <a:gd name="T21" fmla="*/ 2147483647 h 709"/>
              <a:gd name="T22" fmla="*/ 2147483647 w 168"/>
              <a:gd name="T23" fmla="*/ 2147483647 h 709"/>
              <a:gd name="T24" fmla="*/ 2147483647 w 168"/>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332" name="Group 124"/>
          <p:cNvGrpSpPr>
            <a:grpSpLocks/>
          </p:cNvGrpSpPr>
          <p:nvPr/>
        </p:nvGrpSpPr>
        <p:grpSpPr bwMode="auto">
          <a:xfrm>
            <a:off x="4614863" y="5391150"/>
            <a:ext cx="373062" cy="846138"/>
            <a:chOff x="2898" y="3265"/>
            <a:chExt cx="235" cy="713"/>
          </a:xfrm>
        </p:grpSpPr>
        <p:sp>
          <p:nvSpPr>
            <p:cNvPr id="10375" name="Freeform 125"/>
            <p:cNvSpPr>
              <a:spLocks/>
            </p:cNvSpPr>
            <p:nvPr/>
          </p:nvSpPr>
          <p:spPr bwMode="auto">
            <a:xfrm>
              <a:off x="2898" y="3615"/>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76" name="Freeform 126"/>
            <p:cNvSpPr>
              <a:spLocks/>
            </p:cNvSpPr>
            <p:nvPr/>
          </p:nvSpPr>
          <p:spPr bwMode="auto">
            <a:xfrm>
              <a:off x="2963" y="3265"/>
              <a:ext cx="170" cy="709"/>
            </a:xfrm>
            <a:custGeom>
              <a:avLst/>
              <a:gdLst>
                <a:gd name="T0" fmla="*/ 0 w 170"/>
                <a:gd name="T1" fmla="*/ 708 h 709"/>
                <a:gd name="T2" fmla="*/ 14 w 170"/>
                <a:gd name="T3" fmla="*/ 704 h 709"/>
                <a:gd name="T4" fmla="*/ 24 w 170"/>
                <a:gd name="T5" fmla="*/ 692 h 709"/>
                <a:gd name="T6" fmla="*/ 27 w 170"/>
                <a:gd name="T7" fmla="*/ 675 h 709"/>
                <a:gd name="T8" fmla="*/ 31 w 170"/>
                <a:gd name="T9" fmla="*/ 649 h 709"/>
                <a:gd name="T10" fmla="*/ 85 w 170"/>
                <a:gd name="T11" fmla="*/ 57 h 709"/>
                <a:gd name="T12" fmla="*/ 90 w 170"/>
                <a:gd name="T13" fmla="*/ 24 h 709"/>
                <a:gd name="T14" fmla="*/ 94 w 170"/>
                <a:gd name="T15" fmla="*/ 14 h 709"/>
                <a:gd name="T16" fmla="*/ 105 w 170"/>
                <a:gd name="T17" fmla="*/ 4 h 709"/>
                <a:gd name="T18" fmla="*/ 114 w 170"/>
                <a:gd name="T19" fmla="*/ 0 h 709"/>
                <a:gd name="T20" fmla="*/ 126 w 170"/>
                <a:gd name="T21" fmla="*/ 8 h 709"/>
                <a:gd name="T22" fmla="*/ 133 w 170"/>
                <a:gd name="T23" fmla="*/ 24 h 709"/>
                <a:gd name="T24" fmla="*/ 169 w 170"/>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709">
                  <a:moveTo>
                    <a:pt x="0" y="708"/>
                  </a:moveTo>
                  <a:lnTo>
                    <a:pt x="14" y="704"/>
                  </a:lnTo>
                  <a:lnTo>
                    <a:pt x="24" y="692"/>
                  </a:lnTo>
                  <a:lnTo>
                    <a:pt x="27" y="675"/>
                  </a:lnTo>
                  <a:lnTo>
                    <a:pt x="31" y="649"/>
                  </a:lnTo>
                  <a:lnTo>
                    <a:pt x="85" y="57"/>
                  </a:lnTo>
                  <a:lnTo>
                    <a:pt x="90" y="24"/>
                  </a:lnTo>
                  <a:lnTo>
                    <a:pt x="94" y="14"/>
                  </a:lnTo>
                  <a:lnTo>
                    <a:pt x="105" y="4"/>
                  </a:lnTo>
                  <a:lnTo>
                    <a:pt x="114" y="0"/>
                  </a:lnTo>
                  <a:lnTo>
                    <a:pt x="126" y="8"/>
                  </a:lnTo>
                  <a:lnTo>
                    <a:pt x="133" y="24"/>
                  </a:lnTo>
                  <a:lnTo>
                    <a:pt x="169" y="328"/>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333" name="Freeform 127"/>
          <p:cNvSpPr>
            <a:spLocks/>
          </p:cNvSpPr>
          <p:nvPr/>
        </p:nvSpPr>
        <p:spPr bwMode="auto">
          <a:xfrm>
            <a:off x="4986338" y="5791200"/>
            <a:ext cx="100012" cy="431800"/>
          </a:xfrm>
          <a:custGeom>
            <a:avLst/>
            <a:gdLst>
              <a:gd name="T0" fmla="*/ 0 w 63"/>
              <a:gd name="T1" fmla="*/ 0 h 363"/>
              <a:gd name="T2" fmla="*/ 2147483647 w 63"/>
              <a:gd name="T3" fmla="*/ 2147483647 h 363"/>
              <a:gd name="T4" fmla="*/ 2147483647 w 63"/>
              <a:gd name="T5" fmla="*/ 2147483647 h 363"/>
              <a:gd name="T6" fmla="*/ 2147483647 w 63"/>
              <a:gd name="T7" fmla="*/ 2147483647 h 363"/>
              <a:gd name="T8" fmla="*/ 2147483647 w 63"/>
              <a:gd name="T9" fmla="*/ 2147483647 h 363"/>
              <a:gd name="T10" fmla="*/ 2147483647 w 63"/>
              <a:gd name="T11" fmla="*/ 2147483647 h 363"/>
              <a:gd name="T12" fmla="*/ 2147483647 w 63"/>
              <a:gd name="T13" fmla="*/ 2147483647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 h="363">
                <a:moveTo>
                  <a:pt x="0" y="0"/>
                </a:moveTo>
                <a:lnTo>
                  <a:pt x="38" y="308"/>
                </a:lnTo>
                <a:lnTo>
                  <a:pt x="41" y="324"/>
                </a:lnTo>
                <a:lnTo>
                  <a:pt x="42" y="337"/>
                </a:lnTo>
                <a:lnTo>
                  <a:pt x="46" y="347"/>
                </a:lnTo>
                <a:lnTo>
                  <a:pt x="53" y="356"/>
                </a:lnTo>
                <a:lnTo>
                  <a:pt x="62" y="362"/>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4" name="Freeform 128"/>
          <p:cNvSpPr>
            <a:spLocks/>
          </p:cNvSpPr>
          <p:nvPr/>
        </p:nvSpPr>
        <p:spPr bwMode="auto">
          <a:xfrm>
            <a:off x="5087938" y="5391150"/>
            <a:ext cx="268287" cy="841375"/>
          </a:xfrm>
          <a:custGeom>
            <a:avLst/>
            <a:gdLst>
              <a:gd name="T0" fmla="*/ 0 w 169"/>
              <a:gd name="T1" fmla="*/ 2147483647 h 709"/>
              <a:gd name="T2" fmla="*/ 2147483647 w 169"/>
              <a:gd name="T3" fmla="*/ 2147483647 h 709"/>
              <a:gd name="T4" fmla="*/ 2147483647 w 169"/>
              <a:gd name="T5" fmla="*/ 2147483647 h 709"/>
              <a:gd name="T6" fmla="*/ 2147483647 w 169"/>
              <a:gd name="T7" fmla="*/ 2147483647 h 709"/>
              <a:gd name="T8" fmla="*/ 2147483647 w 169"/>
              <a:gd name="T9" fmla="*/ 2147483647 h 709"/>
              <a:gd name="T10" fmla="*/ 2147483647 w 169"/>
              <a:gd name="T11" fmla="*/ 2147483647 h 709"/>
              <a:gd name="T12" fmla="*/ 2147483647 w 169"/>
              <a:gd name="T13" fmla="*/ 2147483647 h 709"/>
              <a:gd name="T14" fmla="*/ 2147483647 w 169"/>
              <a:gd name="T15" fmla="*/ 2147483647 h 709"/>
              <a:gd name="T16" fmla="*/ 2147483647 w 169"/>
              <a:gd name="T17" fmla="*/ 2147483647 h 709"/>
              <a:gd name="T18" fmla="*/ 2147483647 w 169"/>
              <a:gd name="T19" fmla="*/ 0 h 709"/>
              <a:gd name="T20" fmla="*/ 2147483647 w 169"/>
              <a:gd name="T21" fmla="*/ 2147483647 h 709"/>
              <a:gd name="T22" fmla="*/ 2147483647 w 169"/>
              <a:gd name="T23" fmla="*/ 2147483647 h 709"/>
              <a:gd name="T24" fmla="*/ 2147483647 w 169"/>
              <a:gd name="T25" fmla="*/ 2147483647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335" name="Group 129"/>
          <p:cNvGrpSpPr>
            <a:grpSpLocks/>
          </p:cNvGrpSpPr>
          <p:nvPr/>
        </p:nvGrpSpPr>
        <p:grpSpPr bwMode="auto">
          <a:xfrm>
            <a:off x="5356225" y="5380038"/>
            <a:ext cx="746125" cy="846137"/>
            <a:chOff x="3365" y="3256"/>
            <a:chExt cx="470" cy="713"/>
          </a:xfrm>
        </p:grpSpPr>
        <p:grpSp>
          <p:nvGrpSpPr>
            <p:cNvPr id="10369" name="Group 130"/>
            <p:cNvGrpSpPr>
              <a:grpSpLocks/>
            </p:cNvGrpSpPr>
            <p:nvPr/>
          </p:nvGrpSpPr>
          <p:grpSpPr bwMode="auto">
            <a:xfrm>
              <a:off x="3365" y="3256"/>
              <a:ext cx="233" cy="713"/>
              <a:chOff x="3365" y="3256"/>
              <a:chExt cx="233" cy="713"/>
            </a:xfrm>
          </p:grpSpPr>
          <p:sp>
            <p:nvSpPr>
              <p:cNvPr id="10373" name="Freeform 131"/>
              <p:cNvSpPr>
                <a:spLocks/>
              </p:cNvSpPr>
              <p:nvPr/>
            </p:nvSpPr>
            <p:spPr bwMode="auto">
              <a:xfrm>
                <a:off x="3365" y="3606"/>
                <a:ext cx="66" cy="363"/>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74" name="Freeform 132"/>
              <p:cNvSpPr>
                <a:spLocks/>
              </p:cNvSpPr>
              <p:nvPr/>
            </p:nvSpPr>
            <p:spPr bwMode="auto">
              <a:xfrm>
                <a:off x="3432"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70" name="Group 133"/>
            <p:cNvGrpSpPr>
              <a:grpSpLocks/>
            </p:cNvGrpSpPr>
            <p:nvPr/>
          </p:nvGrpSpPr>
          <p:grpSpPr bwMode="auto">
            <a:xfrm>
              <a:off x="3600" y="3256"/>
              <a:ext cx="235" cy="713"/>
              <a:chOff x="3600" y="3256"/>
              <a:chExt cx="235" cy="713"/>
            </a:xfrm>
          </p:grpSpPr>
          <p:sp>
            <p:nvSpPr>
              <p:cNvPr id="10371" name="Freeform 134"/>
              <p:cNvSpPr>
                <a:spLocks/>
              </p:cNvSpPr>
              <p:nvPr/>
            </p:nvSpPr>
            <p:spPr bwMode="auto">
              <a:xfrm>
                <a:off x="3600" y="3606"/>
                <a:ext cx="68" cy="363"/>
              </a:xfrm>
              <a:custGeom>
                <a:avLst/>
                <a:gdLst>
                  <a:gd name="T0" fmla="*/ 0 w 68"/>
                  <a:gd name="T1" fmla="*/ 0 h 363"/>
                  <a:gd name="T2" fmla="*/ 41 w 68"/>
                  <a:gd name="T3" fmla="*/ 308 h 363"/>
                  <a:gd name="T4" fmla="*/ 44 w 68"/>
                  <a:gd name="T5" fmla="*/ 324 h 363"/>
                  <a:gd name="T6" fmla="*/ 46 w 68"/>
                  <a:gd name="T7" fmla="*/ 337 h 363"/>
                  <a:gd name="T8" fmla="*/ 49 w 68"/>
                  <a:gd name="T9" fmla="*/ 347 h 363"/>
                  <a:gd name="T10" fmla="*/ 57 w 68"/>
                  <a:gd name="T11" fmla="*/ 356 h 363"/>
                  <a:gd name="T12" fmla="*/ 67 w 68"/>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363">
                    <a:moveTo>
                      <a:pt x="0" y="0"/>
                    </a:moveTo>
                    <a:lnTo>
                      <a:pt x="41" y="308"/>
                    </a:lnTo>
                    <a:lnTo>
                      <a:pt x="44" y="324"/>
                    </a:lnTo>
                    <a:lnTo>
                      <a:pt x="46" y="337"/>
                    </a:lnTo>
                    <a:lnTo>
                      <a:pt x="49" y="347"/>
                    </a:lnTo>
                    <a:lnTo>
                      <a:pt x="57" y="356"/>
                    </a:lnTo>
                    <a:lnTo>
                      <a:pt x="67" y="362"/>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72" name="Freeform 135"/>
              <p:cNvSpPr>
                <a:spLocks/>
              </p:cNvSpPr>
              <p:nvPr/>
            </p:nvSpPr>
            <p:spPr bwMode="auto">
              <a:xfrm>
                <a:off x="3669"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0336" name="Group 136"/>
          <p:cNvGrpSpPr>
            <a:grpSpLocks/>
          </p:cNvGrpSpPr>
          <p:nvPr/>
        </p:nvGrpSpPr>
        <p:grpSpPr bwMode="auto">
          <a:xfrm>
            <a:off x="6099175" y="5368925"/>
            <a:ext cx="371475" cy="847725"/>
            <a:chOff x="3833" y="3247"/>
            <a:chExt cx="234" cy="713"/>
          </a:xfrm>
        </p:grpSpPr>
        <p:sp>
          <p:nvSpPr>
            <p:cNvPr id="10367" name="Freeform 137"/>
            <p:cNvSpPr>
              <a:spLocks/>
            </p:cNvSpPr>
            <p:nvPr/>
          </p:nvSpPr>
          <p:spPr bwMode="auto">
            <a:xfrm>
              <a:off x="3833" y="3597"/>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68" name="Freeform 138"/>
            <p:cNvSpPr>
              <a:spLocks/>
            </p:cNvSpPr>
            <p:nvPr/>
          </p:nvSpPr>
          <p:spPr bwMode="auto">
            <a:xfrm>
              <a:off x="3898" y="3247"/>
              <a:ext cx="169" cy="709"/>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337" name="Freeform 139"/>
          <p:cNvSpPr>
            <a:spLocks/>
          </p:cNvSpPr>
          <p:nvPr/>
        </p:nvSpPr>
        <p:spPr bwMode="auto">
          <a:xfrm>
            <a:off x="6472238" y="5784850"/>
            <a:ext cx="101600" cy="430213"/>
          </a:xfrm>
          <a:custGeom>
            <a:avLst/>
            <a:gdLst>
              <a:gd name="T0" fmla="*/ 0 w 64"/>
              <a:gd name="T1" fmla="*/ 0 h 271"/>
              <a:gd name="T2" fmla="*/ 2147483647 w 64"/>
              <a:gd name="T3" fmla="*/ 2147483647 h 271"/>
              <a:gd name="T4" fmla="*/ 2147483647 w 64"/>
              <a:gd name="T5" fmla="*/ 2147483647 h 271"/>
              <a:gd name="T6" fmla="*/ 2147483647 w 64"/>
              <a:gd name="T7" fmla="*/ 2147483647 h 271"/>
              <a:gd name="T8" fmla="*/ 2147483647 w 64"/>
              <a:gd name="T9" fmla="*/ 2147483647 h 271"/>
              <a:gd name="T10" fmla="*/ 2147483647 w 64"/>
              <a:gd name="T11" fmla="*/ 2147483647 h 27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 h="271">
                <a:moveTo>
                  <a:pt x="0" y="0"/>
                </a:moveTo>
                <a:lnTo>
                  <a:pt x="40" y="231"/>
                </a:lnTo>
                <a:lnTo>
                  <a:pt x="42" y="243"/>
                </a:lnTo>
                <a:lnTo>
                  <a:pt x="44" y="253"/>
                </a:lnTo>
                <a:lnTo>
                  <a:pt x="55" y="267"/>
                </a:lnTo>
                <a:lnTo>
                  <a:pt x="64" y="271"/>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8" name="Freeform 140"/>
          <p:cNvSpPr>
            <a:spLocks/>
          </p:cNvSpPr>
          <p:nvPr/>
        </p:nvSpPr>
        <p:spPr bwMode="auto">
          <a:xfrm>
            <a:off x="6577013" y="5368925"/>
            <a:ext cx="280987" cy="841375"/>
          </a:xfrm>
          <a:custGeom>
            <a:avLst/>
            <a:gdLst>
              <a:gd name="T0" fmla="*/ 0 w 177"/>
              <a:gd name="T1" fmla="*/ 2147483647 h 530"/>
              <a:gd name="T2" fmla="*/ 2147483647 w 177"/>
              <a:gd name="T3" fmla="*/ 2147483647 h 530"/>
              <a:gd name="T4" fmla="*/ 2147483647 w 177"/>
              <a:gd name="T5" fmla="*/ 2147483647 h 530"/>
              <a:gd name="T6" fmla="*/ 2147483647 w 177"/>
              <a:gd name="T7" fmla="*/ 2147483647 h 530"/>
              <a:gd name="T8" fmla="*/ 2147483647 w 177"/>
              <a:gd name="T9" fmla="*/ 2147483647 h 530"/>
              <a:gd name="T10" fmla="*/ 2147483647 w 177"/>
              <a:gd name="T11" fmla="*/ 2147483647 h 530"/>
              <a:gd name="T12" fmla="*/ 2147483647 w 177"/>
              <a:gd name="T13" fmla="*/ 2147483647 h 530"/>
              <a:gd name="T14" fmla="*/ 2147483647 w 177"/>
              <a:gd name="T15" fmla="*/ 2147483647 h 530"/>
              <a:gd name="T16" fmla="*/ 2147483647 w 177"/>
              <a:gd name="T17" fmla="*/ 2147483647 h 530"/>
              <a:gd name="T18" fmla="*/ 2147483647 w 177"/>
              <a:gd name="T19" fmla="*/ 0 h 530"/>
              <a:gd name="T20" fmla="*/ 2147483647 w 177"/>
              <a:gd name="T21" fmla="*/ 2147483647 h 530"/>
              <a:gd name="T22" fmla="*/ 2147483647 w 177"/>
              <a:gd name="T23" fmla="*/ 2147483647 h 530"/>
              <a:gd name="T24" fmla="*/ 2147483647 w 177"/>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7" h="530">
                <a:moveTo>
                  <a:pt x="0" y="530"/>
                </a:moveTo>
                <a:lnTo>
                  <a:pt x="14" y="527"/>
                </a:lnTo>
                <a:lnTo>
                  <a:pt x="24" y="518"/>
                </a:lnTo>
                <a:lnTo>
                  <a:pt x="27" y="506"/>
                </a:lnTo>
                <a:lnTo>
                  <a:pt x="31" y="486"/>
                </a:lnTo>
                <a:lnTo>
                  <a:pt x="84" y="43"/>
                </a:lnTo>
                <a:lnTo>
                  <a:pt x="89" y="18"/>
                </a:lnTo>
                <a:lnTo>
                  <a:pt x="94" y="10"/>
                </a:lnTo>
                <a:lnTo>
                  <a:pt x="104" y="3"/>
                </a:lnTo>
                <a:lnTo>
                  <a:pt x="113" y="0"/>
                </a:lnTo>
                <a:lnTo>
                  <a:pt x="125" y="6"/>
                </a:lnTo>
                <a:lnTo>
                  <a:pt x="132" y="18"/>
                </a:lnTo>
                <a:lnTo>
                  <a:pt x="177" y="2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339" name="Group 141"/>
          <p:cNvGrpSpPr>
            <a:grpSpLocks/>
          </p:cNvGrpSpPr>
          <p:nvPr/>
        </p:nvGrpSpPr>
        <p:grpSpPr bwMode="auto">
          <a:xfrm>
            <a:off x="6867525" y="5372100"/>
            <a:ext cx="755650" cy="847725"/>
            <a:chOff x="4317" y="3250"/>
            <a:chExt cx="476" cy="713"/>
          </a:xfrm>
        </p:grpSpPr>
        <p:grpSp>
          <p:nvGrpSpPr>
            <p:cNvPr id="10361" name="Group 142"/>
            <p:cNvGrpSpPr>
              <a:grpSpLocks/>
            </p:cNvGrpSpPr>
            <p:nvPr/>
          </p:nvGrpSpPr>
          <p:grpSpPr bwMode="auto">
            <a:xfrm>
              <a:off x="4317" y="3250"/>
              <a:ext cx="238" cy="713"/>
              <a:chOff x="4317" y="3250"/>
              <a:chExt cx="238" cy="713"/>
            </a:xfrm>
          </p:grpSpPr>
          <p:sp>
            <p:nvSpPr>
              <p:cNvPr id="10365" name="Freeform 143"/>
              <p:cNvSpPr>
                <a:spLocks/>
              </p:cNvSpPr>
              <p:nvPr/>
            </p:nvSpPr>
            <p:spPr bwMode="auto">
              <a:xfrm>
                <a:off x="4317"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66" name="Freeform 144"/>
              <p:cNvSpPr>
                <a:spLocks/>
              </p:cNvSpPr>
              <p:nvPr/>
            </p:nvSpPr>
            <p:spPr bwMode="auto">
              <a:xfrm>
                <a:off x="4383" y="3254"/>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62" name="Group 145"/>
            <p:cNvGrpSpPr>
              <a:grpSpLocks/>
            </p:cNvGrpSpPr>
            <p:nvPr/>
          </p:nvGrpSpPr>
          <p:grpSpPr bwMode="auto">
            <a:xfrm>
              <a:off x="4557" y="3250"/>
              <a:ext cx="236" cy="713"/>
              <a:chOff x="4557" y="3250"/>
              <a:chExt cx="236" cy="713"/>
            </a:xfrm>
          </p:grpSpPr>
          <p:sp>
            <p:nvSpPr>
              <p:cNvPr id="10363" name="Freeform 146"/>
              <p:cNvSpPr>
                <a:spLocks/>
              </p:cNvSpPr>
              <p:nvPr/>
            </p:nvSpPr>
            <p:spPr bwMode="auto">
              <a:xfrm>
                <a:off x="4557" y="3250"/>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64" name="Freeform 147"/>
              <p:cNvSpPr>
                <a:spLocks/>
              </p:cNvSpPr>
              <p:nvPr/>
            </p:nvSpPr>
            <p:spPr bwMode="auto">
              <a:xfrm>
                <a:off x="4622"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0340" name="Freeform 148"/>
          <p:cNvSpPr>
            <a:spLocks/>
          </p:cNvSpPr>
          <p:nvPr/>
        </p:nvSpPr>
        <p:spPr bwMode="auto">
          <a:xfrm>
            <a:off x="7615238" y="5365750"/>
            <a:ext cx="112712" cy="490538"/>
          </a:xfrm>
          <a:custGeom>
            <a:avLst/>
            <a:gdLst>
              <a:gd name="T0" fmla="*/ 0 w 71"/>
              <a:gd name="T1" fmla="*/ 2147483647 h 309"/>
              <a:gd name="T2" fmla="*/ 2147483647 w 71"/>
              <a:gd name="T3" fmla="*/ 2147483647 h 309"/>
              <a:gd name="T4" fmla="*/ 2147483647 w 71"/>
              <a:gd name="T5" fmla="*/ 2147483647 h 309"/>
              <a:gd name="T6" fmla="*/ 2147483647 w 71"/>
              <a:gd name="T7" fmla="*/ 2147483647 h 309"/>
              <a:gd name="T8" fmla="*/ 2147483647 w 71"/>
              <a:gd name="T9" fmla="*/ 2147483647 h 309"/>
              <a:gd name="T10" fmla="*/ 2147483647 w 71"/>
              <a:gd name="T11" fmla="*/ 2147483647 h 309"/>
              <a:gd name="T12" fmla="*/ 2147483647 w 71"/>
              <a:gd name="T13" fmla="*/ 0 h 3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309">
                <a:moveTo>
                  <a:pt x="0" y="309"/>
                </a:moveTo>
                <a:lnTo>
                  <a:pt x="46" y="40"/>
                </a:lnTo>
                <a:lnTo>
                  <a:pt x="48" y="28"/>
                </a:lnTo>
                <a:lnTo>
                  <a:pt x="50" y="19"/>
                </a:lnTo>
                <a:lnTo>
                  <a:pt x="54" y="11"/>
                </a:lnTo>
                <a:lnTo>
                  <a:pt x="61" y="4"/>
                </a:lnTo>
                <a:lnTo>
                  <a:pt x="71"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41" name="Freeform 149"/>
          <p:cNvSpPr>
            <a:spLocks/>
          </p:cNvSpPr>
          <p:nvPr/>
        </p:nvSpPr>
        <p:spPr bwMode="auto">
          <a:xfrm>
            <a:off x="7731125" y="5370513"/>
            <a:ext cx="269875" cy="841375"/>
          </a:xfrm>
          <a:custGeom>
            <a:avLst/>
            <a:gdLst>
              <a:gd name="T0" fmla="*/ 0 w 170"/>
              <a:gd name="T1" fmla="*/ 0 h 530"/>
              <a:gd name="T2" fmla="*/ 2147483647 w 170"/>
              <a:gd name="T3" fmla="*/ 2147483647 h 530"/>
              <a:gd name="T4" fmla="*/ 2147483647 w 170"/>
              <a:gd name="T5" fmla="*/ 2147483647 h 530"/>
              <a:gd name="T6" fmla="*/ 2147483647 w 170"/>
              <a:gd name="T7" fmla="*/ 2147483647 h 530"/>
              <a:gd name="T8" fmla="*/ 2147483647 w 170"/>
              <a:gd name="T9" fmla="*/ 2147483647 h 530"/>
              <a:gd name="T10" fmla="*/ 2147483647 w 170"/>
              <a:gd name="T11" fmla="*/ 2147483647 h 530"/>
              <a:gd name="T12" fmla="*/ 2147483647 w 170"/>
              <a:gd name="T13" fmla="*/ 2147483647 h 530"/>
              <a:gd name="T14" fmla="*/ 2147483647 w 170"/>
              <a:gd name="T15" fmla="*/ 2147483647 h 530"/>
              <a:gd name="T16" fmla="*/ 2147483647 w 170"/>
              <a:gd name="T17" fmla="*/ 2147483647 h 530"/>
              <a:gd name="T18" fmla="*/ 2147483647 w 170"/>
              <a:gd name="T19" fmla="*/ 2147483647 h 530"/>
              <a:gd name="T20" fmla="*/ 2147483647 w 170"/>
              <a:gd name="T21" fmla="*/ 2147483647 h 530"/>
              <a:gd name="T22" fmla="*/ 2147483647 w 170"/>
              <a:gd name="T23" fmla="*/ 2147483647 h 530"/>
              <a:gd name="T24" fmla="*/ 2147483647 w 170"/>
              <a:gd name="T25" fmla="*/ 2147483647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7"/>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342" name="Group 150"/>
          <p:cNvGrpSpPr>
            <a:grpSpLocks/>
          </p:cNvGrpSpPr>
          <p:nvPr/>
        </p:nvGrpSpPr>
        <p:grpSpPr bwMode="auto">
          <a:xfrm>
            <a:off x="8001000" y="5365750"/>
            <a:ext cx="377825" cy="847725"/>
            <a:chOff x="5031" y="3244"/>
            <a:chExt cx="238" cy="713"/>
          </a:xfrm>
        </p:grpSpPr>
        <p:sp>
          <p:nvSpPr>
            <p:cNvPr id="10359" name="Freeform 151"/>
            <p:cNvSpPr>
              <a:spLocks/>
            </p:cNvSpPr>
            <p:nvPr/>
          </p:nvSpPr>
          <p:spPr bwMode="auto">
            <a:xfrm>
              <a:off x="5031" y="3244"/>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60" name="Freeform 152"/>
            <p:cNvSpPr>
              <a:spLocks/>
            </p:cNvSpPr>
            <p:nvPr/>
          </p:nvSpPr>
          <p:spPr bwMode="auto">
            <a:xfrm>
              <a:off x="5101" y="3248"/>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343" name="Rectangle 153"/>
          <p:cNvSpPr>
            <a:spLocks noChangeArrowheads="1"/>
          </p:cNvSpPr>
          <p:nvPr/>
        </p:nvSpPr>
        <p:spPr bwMode="auto">
          <a:xfrm>
            <a:off x="34925" y="2333625"/>
            <a:ext cx="14001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a:solidFill>
                  <a:srgbClr val="333399"/>
                </a:solidFill>
                <a:latin typeface="Times New Roman" pitchFamily="18" charset="0"/>
                <a:ea typeface="黑体" pitchFamily="49" charset="-122"/>
              </a:rPr>
              <a:t>基带信号</a:t>
            </a:r>
          </a:p>
        </p:txBody>
      </p:sp>
      <p:sp>
        <p:nvSpPr>
          <p:cNvPr id="10344" name="Rectangle 154"/>
          <p:cNvSpPr>
            <a:spLocks noChangeArrowheads="1"/>
          </p:cNvSpPr>
          <p:nvPr/>
        </p:nvSpPr>
        <p:spPr bwMode="auto">
          <a:xfrm>
            <a:off x="196850" y="3346450"/>
            <a:ext cx="7905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a:solidFill>
                  <a:srgbClr val="333399"/>
                </a:solidFill>
                <a:latin typeface="Times New Roman" pitchFamily="18" charset="0"/>
                <a:ea typeface="黑体" pitchFamily="49" charset="-122"/>
              </a:rPr>
              <a:t>调幅</a:t>
            </a:r>
          </a:p>
        </p:txBody>
      </p:sp>
      <p:sp>
        <p:nvSpPr>
          <p:cNvPr id="10345" name="Rectangle 155"/>
          <p:cNvSpPr>
            <a:spLocks noChangeArrowheads="1"/>
          </p:cNvSpPr>
          <p:nvPr/>
        </p:nvSpPr>
        <p:spPr bwMode="auto">
          <a:xfrm>
            <a:off x="196850" y="4457700"/>
            <a:ext cx="7905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a:solidFill>
                  <a:srgbClr val="333399"/>
                </a:solidFill>
                <a:latin typeface="Times New Roman" pitchFamily="18" charset="0"/>
                <a:ea typeface="黑体" pitchFamily="49" charset="-122"/>
              </a:rPr>
              <a:t>调频</a:t>
            </a:r>
          </a:p>
        </p:txBody>
      </p:sp>
      <p:sp>
        <p:nvSpPr>
          <p:cNvPr id="10346" name="Rectangle 156"/>
          <p:cNvSpPr>
            <a:spLocks noChangeArrowheads="1"/>
          </p:cNvSpPr>
          <p:nvPr/>
        </p:nvSpPr>
        <p:spPr bwMode="auto">
          <a:xfrm>
            <a:off x="196850" y="5640388"/>
            <a:ext cx="7905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a:solidFill>
                  <a:srgbClr val="333399"/>
                </a:solidFill>
                <a:latin typeface="Times New Roman" pitchFamily="18" charset="0"/>
                <a:ea typeface="黑体" pitchFamily="49" charset="-122"/>
              </a:rPr>
              <a:t>调相</a:t>
            </a:r>
          </a:p>
        </p:txBody>
      </p:sp>
      <p:grpSp>
        <p:nvGrpSpPr>
          <p:cNvPr id="10347" name="Group 157"/>
          <p:cNvGrpSpPr>
            <a:grpSpLocks/>
          </p:cNvGrpSpPr>
          <p:nvPr/>
        </p:nvGrpSpPr>
        <p:grpSpPr bwMode="auto">
          <a:xfrm>
            <a:off x="2298700" y="3074988"/>
            <a:ext cx="755650" cy="844550"/>
            <a:chOff x="1439" y="1316"/>
            <a:chExt cx="476" cy="711"/>
          </a:xfrm>
        </p:grpSpPr>
        <p:grpSp>
          <p:nvGrpSpPr>
            <p:cNvPr id="10348" name="Group 158"/>
            <p:cNvGrpSpPr>
              <a:grpSpLocks/>
            </p:cNvGrpSpPr>
            <p:nvPr/>
          </p:nvGrpSpPr>
          <p:grpSpPr bwMode="auto">
            <a:xfrm>
              <a:off x="1439" y="1316"/>
              <a:ext cx="239" cy="711"/>
              <a:chOff x="1439" y="1316"/>
              <a:chExt cx="239" cy="711"/>
            </a:xfrm>
          </p:grpSpPr>
          <p:sp>
            <p:nvSpPr>
              <p:cNvPr id="10355" name="Freeform 159"/>
              <p:cNvSpPr>
                <a:spLocks/>
              </p:cNvSpPr>
              <p:nvPr/>
            </p:nvSpPr>
            <p:spPr bwMode="auto">
              <a:xfrm>
                <a:off x="1439"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56" name="Freeform 160"/>
              <p:cNvSpPr>
                <a:spLocks/>
              </p:cNvSpPr>
              <p:nvPr/>
            </p:nvSpPr>
            <p:spPr bwMode="auto">
              <a:xfrm>
                <a:off x="1472"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57" name="Freeform 161"/>
              <p:cNvSpPr>
                <a:spLocks/>
              </p:cNvSpPr>
              <p:nvPr/>
            </p:nvSpPr>
            <p:spPr bwMode="auto">
              <a:xfrm>
                <a:off x="1558"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58" name="Freeform 162"/>
              <p:cNvSpPr>
                <a:spLocks/>
              </p:cNvSpPr>
              <p:nvPr/>
            </p:nvSpPr>
            <p:spPr bwMode="auto">
              <a:xfrm>
                <a:off x="1592"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349" name="Group 163"/>
            <p:cNvGrpSpPr>
              <a:grpSpLocks/>
            </p:cNvGrpSpPr>
            <p:nvPr/>
          </p:nvGrpSpPr>
          <p:grpSpPr bwMode="auto">
            <a:xfrm>
              <a:off x="1676" y="1316"/>
              <a:ext cx="239" cy="711"/>
              <a:chOff x="1676" y="1316"/>
              <a:chExt cx="239" cy="711"/>
            </a:xfrm>
          </p:grpSpPr>
          <p:sp>
            <p:nvSpPr>
              <p:cNvPr id="10351" name="Freeform 164"/>
              <p:cNvSpPr>
                <a:spLocks/>
              </p:cNvSpPr>
              <p:nvPr/>
            </p:nvSpPr>
            <p:spPr bwMode="auto">
              <a:xfrm>
                <a:off x="1676"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52" name="Freeform 165"/>
              <p:cNvSpPr>
                <a:spLocks/>
              </p:cNvSpPr>
              <p:nvPr/>
            </p:nvSpPr>
            <p:spPr bwMode="auto">
              <a:xfrm>
                <a:off x="1709"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53" name="Freeform 166"/>
              <p:cNvSpPr>
                <a:spLocks/>
              </p:cNvSpPr>
              <p:nvPr/>
            </p:nvSpPr>
            <p:spPr bwMode="auto">
              <a:xfrm>
                <a:off x="1795"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54" name="Freeform 167"/>
              <p:cNvSpPr>
                <a:spLocks/>
              </p:cNvSpPr>
              <p:nvPr/>
            </p:nvSpPr>
            <p:spPr bwMode="auto">
              <a:xfrm>
                <a:off x="1829"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350" name="Line 168"/>
            <p:cNvSpPr>
              <a:spLocks noChangeShapeType="1"/>
            </p:cNvSpPr>
            <p:nvPr/>
          </p:nvSpPr>
          <p:spPr bwMode="auto">
            <a:xfrm flipV="1">
              <a:off x="1674" y="1661"/>
              <a:ext cx="3" cy="5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lgn="ctr" eaLnBrk="1" hangingPunct="1"/>
            <a:r>
              <a:rPr lang="en-US" altLang="zh-CN" smtClean="0"/>
              <a:t>2.2.3  </a:t>
            </a:r>
            <a:r>
              <a:rPr lang="zh-CN" altLang="en-US" smtClean="0"/>
              <a:t>信道的极限容量 </a:t>
            </a:r>
          </a:p>
        </p:txBody>
      </p:sp>
      <p:sp>
        <p:nvSpPr>
          <p:cNvPr id="11267" name="Rectangle 3"/>
          <p:cNvSpPr>
            <a:spLocks noGrp="1" noChangeArrowheads="1"/>
          </p:cNvSpPr>
          <p:nvPr>
            <p:ph type="body" idx="1"/>
          </p:nvPr>
        </p:nvSpPr>
        <p:spPr>
          <a:xfrm>
            <a:off x="1042988" y="1978025"/>
            <a:ext cx="7772400" cy="4114800"/>
          </a:xfrm>
        </p:spPr>
        <p:txBody>
          <a:bodyPr/>
          <a:lstStyle/>
          <a:p>
            <a:pPr eaLnBrk="1" hangingPunct="1"/>
            <a:r>
              <a:rPr lang="zh-CN" altLang="en-US" smtClean="0"/>
              <a:t>任何实际的信道都不是理想的，在传输信号时会产生各种失真以及带来多种干扰。</a:t>
            </a:r>
            <a:r>
              <a:rPr lang="zh-CN" altLang="en-US" sz="3600" smtClean="0"/>
              <a:t> </a:t>
            </a:r>
            <a:r>
              <a:rPr lang="zh-CN" altLang="en-US" smtClean="0"/>
              <a:t>信号传输的距离越远，在信道的输出端的波形的失真就越严重。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lgn="ctr" eaLnBrk="1" hangingPunct="1"/>
            <a:r>
              <a:rPr lang="zh-CN" altLang="en-US" smtClean="0"/>
              <a:t>数字信号通过实际的信道 </a:t>
            </a:r>
          </a:p>
        </p:txBody>
      </p:sp>
      <p:sp>
        <p:nvSpPr>
          <p:cNvPr id="32771" name="Rectangle 3"/>
          <p:cNvSpPr>
            <a:spLocks noGrp="1" noChangeArrowheads="1"/>
          </p:cNvSpPr>
          <p:nvPr>
            <p:ph type="body" idx="1"/>
          </p:nvPr>
        </p:nvSpPr>
        <p:spPr>
          <a:xfrm>
            <a:off x="1042988" y="1844675"/>
            <a:ext cx="7772400" cy="4114800"/>
          </a:xfrm>
        </p:spPr>
        <p:txBody>
          <a:bodyPr/>
          <a:lstStyle/>
          <a:p>
            <a:pPr eaLnBrk="1" hangingPunct="1">
              <a:lnSpc>
                <a:spcPct val="110000"/>
              </a:lnSpc>
              <a:spcBef>
                <a:spcPct val="0"/>
              </a:spcBef>
            </a:pPr>
            <a:r>
              <a:rPr lang="zh-CN" altLang="en-US" smtClean="0"/>
              <a:t>有失真，但</a:t>
            </a:r>
            <a:r>
              <a:rPr lang="zh-CN" altLang="en-US" smtClean="0">
                <a:solidFill>
                  <a:schemeClr val="hlink"/>
                </a:solidFill>
              </a:rPr>
              <a:t>可识别</a:t>
            </a:r>
          </a:p>
          <a:p>
            <a:pPr eaLnBrk="1" hangingPunct="1">
              <a:lnSpc>
                <a:spcPct val="110000"/>
              </a:lnSpc>
              <a:spcBef>
                <a:spcPct val="0"/>
              </a:spcBef>
            </a:pPr>
            <a:endParaRPr lang="zh-CN" altLang="en-US" smtClean="0"/>
          </a:p>
          <a:p>
            <a:pPr eaLnBrk="1" hangingPunct="1">
              <a:lnSpc>
                <a:spcPct val="110000"/>
              </a:lnSpc>
              <a:spcBef>
                <a:spcPct val="0"/>
              </a:spcBef>
            </a:pPr>
            <a:endParaRPr lang="zh-CN" altLang="en-US" smtClean="0"/>
          </a:p>
          <a:p>
            <a:pPr eaLnBrk="1" hangingPunct="1">
              <a:lnSpc>
                <a:spcPct val="110000"/>
              </a:lnSpc>
              <a:spcBef>
                <a:spcPct val="0"/>
              </a:spcBef>
            </a:pPr>
            <a:endParaRPr lang="zh-CN" altLang="en-US" smtClean="0"/>
          </a:p>
          <a:p>
            <a:pPr eaLnBrk="1" hangingPunct="1">
              <a:lnSpc>
                <a:spcPct val="110000"/>
              </a:lnSpc>
              <a:spcBef>
                <a:spcPct val="0"/>
              </a:spcBef>
            </a:pPr>
            <a:r>
              <a:rPr lang="zh-CN" altLang="en-US" smtClean="0"/>
              <a:t>失真大，</a:t>
            </a:r>
            <a:r>
              <a:rPr lang="zh-CN" altLang="en-US" smtClean="0">
                <a:solidFill>
                  <a:schemeClr val="hlink"/>
                </a:solidFill>
              </a:rPr>
              <a:t>无法识别 </a:t>
            </a:r>
          </a:p>
        </p:txBody>
      </p:sp>
      <p:sp>
        <p:nvSpPr>
          <p:cNvPr id="12292" name="AutoShape 4"/>
          <p:cNvSpPr>
            <a:spLocks noChangeArrowheads="1"/>
          </p:cNvSpPr>
          <p:nvPr/>
        </p:nvSpPr>
        <p:spPr bwMode="auto">
          <a:xfrm rot="-5400000">
            <a:off x="4185444" y="1381919"/>
            <a:ext cx="395287" cy="4060825"/>
          </a:xfrm>
          <a:prstGeom prst="can">
            <a:avLst>
              <a:gd name="adj" fmla="val 66775"/>
            </a:avLst>
          </a:prstGeom>
          <a:gradFill rotWithShape="1">
            <a:gsLst>
              <a:gs pos="0">
                <a:srgbClr val="6C6C6C"/>
              </a:gs>
              <a:gs pos="50000">
                <a:srgbClr val="EAEAEA"/>
              </a:gs>
              <a:gs pos="100000">
                <a:srgbClr val="6C6C6C"/>
              </a:gs>
            </a:gsLst>
            <a:lin ang="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3" name="Freeform 5"/>
          <p:cNvSpPr>
            <a:spLocks/>
          </p:cNvSpPr>
          <p:nvPr/>
        </p:nvSpPr>
        <p:spPr bwMode="auto">
          <a:xfrm>
            <a:off x="601663" y="2620963"/>
            <a:ext cx="1539875" cy="658812"/>
          </a:xfrm>
          <a:custGeom>
            <a:avLst/>
            <a:gdLst>
              <a:gd name="T0" fmla="*/ 0 w 1056"/>
              <a:gd name="T1" fmla="*/ 2147483647 h 480"/>
              <a:gd name="T2" fmla="*/ 2147483647 w 1056"/>
              <a:gd name="T3" fmla="*/ 2147483647 h 480"/>
              <a:gd name="T4" fmla="*/ 2147483647 w 1056"/>
              <a:gd name="T5" fmla="*/ 0 h 480"/>
              <a:gd name="T6" fmla="*/ 2147483647 w 1056"/>
              <a:gd name="T7" fmla="*/ 0 h 480"/>
              <a:gd name="T8" fmla="*/ 2147483647 w 1056"/>
              <a:gd name="T9" fmla="*/ 2147483647 h 480"/>
              <a:gd name="T10" fmla="*/ 2147483647 w 1056"/>
              <a:gd name="T11" fmla="*/ 2147483647 h 480"/>
              <a:gd name="T12" fmla="*/ 2147483647 w 1056"/>
              <a:gd name="T13" fmla="*/ 0 h 480"/>
              <a:gd name="T14" fmla="*/ 2147483647 w 1056"/>
              <a:gd name="T15" fmla="*/ 0 h 480"/>
              <a:gd name="T16" fmla="*/ 2147483647 w 1056"/>
              <a:gd name="T17" fmla="*/ 2147483647 h 480"/>
              <a:gd name="T18" fmla="*/ 2147483647 w 1056"/>
              <a:gd name="T19" fmla="*/ 2147483647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294" name="Line 6"/>
          <p:cNvSpPr>
            <a:spLocks noChangeShapeType="1"/>
          </p:cNvSpPr>
          <p:nvPr/>
        </p:nvSpPr>
        <p:spPr bwMode="auto">
          <a:xfrm>
            <a:off x="601663" y="3411538"/>
            <a:ext cx="1960562"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295" name="Freeform 7"/>
          <p:cNvSpPr>
            <a:spLocks/>
          </p:cNvSpPr>
          <p:nvPr/>
        </p:nvSpPr>
        <p:spPr bwMode="auto">
          <a:xfrm>
            <a:off x="6692900" y="2620963"/>
            <a:ext cx="1541463" cy="658812"/>
          </a:xfrm>
          <a:custGeom>
            <a:avLst/>
            <a:gdLst>
              <a:gd name="T0" fmla="*/ 0 w 1056"/>
              <a:gd name="T1" fmla="*/ 2147483647 h 480"/>
              <a:gd name="T2" fmla="*/ 2147483647 w 1056"/>
              <a:gd name="T3" fmla="*/ 2147483647 h 480"/>
              <a:gd name="T4" fmla="*/ 2147483647 w 1056"/>
              <a:gd name="T5" fmla="*/ 0 h 480"/>
              <a:gd name="T6" fmla="*/ 2147483647 w 1056"/>
              <a:gd name="T7" fmla="*/ 0 h 480"/>
              <a:gd name="T8" fmla="*/ 2147483647 w 1056"/>
              <a:gd name="T9" fmla="*/ 2147483647 h 480"/>
              <a:gd name="T10" fmla="*/ 2147483647 w 1056"/>
              <a:gd name="T11" fmla="*/ 2147483647 h 480"/>
              <a:gd name="T12" fmla="*/ 2147483647 w 1056"/>
              <a:gd name="T13" fmla="*/ 0 h 480"/>
              <a:gd name="T14" fmla="*/ 2147483647 w 1056"/>
              <a:gd name="T15" fmla="*/ 0 h 480"/>
              <a:gd name="T16" fmla="*/ 2147483647 w 1056"/>
              <a:gd name="T17" fmla="*/ 2147483647 h 480"/>
              <a:gd name="T18" fmla="*/ 2147483647 w 1056"/>
              <a:gd name="T19" fmla="*/ 2147483647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296" name="Line 8"/>
          <p:cNvSpPr>
            <a:spLocks noChangeShapeType="1"/>
          </p:cNvSpPr>
          <p:nvPr/>
        </p:nvSpPr>
        <p:spPr bwMode="auto">
          <a:xfrm>
            <a:off x="6413500" y="3411538"/>
            <a:ext cx="1960563"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297" name="Freeform 9"/>
          <p:cNvSpPr>
            <a:spLocks/>
          </p:cNvSpPr>
          <p:nvPr/>
        </p:nvSpPr>
        <p:spPr bwMode="auto">
          <a:xfrm>
            <a:off x="6707188" y="2657475"/>
            <a:ext cx="1495425" cy="633413"/>
          </a:xfrm>
          <a:custGeom>
            <a:avLst/>
            <a:gdLst>
              <a:gd name="T0" fmla="*/ 0 w 1026"/>
              <a:gd name="T1" fmla="*/ 2147483647 h 461"/>
              <a:gd name="T2" fmla="*/ 2147483647 w 1026"/>
              <a:gd name="T3" fmla="*/ 2147483647 h 461"/>
              <a:gd name="T4" fmla="*/ 2147483647 w 1026"/>
              <a:gd name="T5" fmla="*/ 2147483647 h 461"/>
              <a:gd name="T6" fmla="*/ 2147483647 w 1026"/>
              <a:gd name="T7" fmla="*/ 2147483647 h 461"/>
              <a:gd name="T8" fmla="*/ 2147483647 w 1026"/>
              <a:gd name="T9" fmla="*/ 2147483647 h 461"/>
              <a:gd name="T10" fmla="*/ 2147483647 w 1026"/>
              <a:gd name="T11" fmla="*/ 2147483647 h 461"/>
              <a:gd name="T12" fmla="*/ 2147483647 w 1026"/>
              <a:gd name="T13" fmla="*/ 2147483647 h 461"/>
              <a:gd name="T14" fmla="*/ 2147483647 w 1026"/>
              <a:gd name="T15" fmla="*/ 2147483647 h 461"/>
              <a:gd name="T16" fmla="*/ 2147483647 w 1026"/>
              <a:gd name="T17" fmla="*/ 2147483647 h 461"/>
              <a:gd name="T18" fmla="*/ 2147483647 w 1026"/>
              <a:gd name="T19" fmla="*/ 2147483647 h 461"/>
              <a:gd name="T20" fmla="*/ 2147483647 w 1026"/>
              <a:gd name="T21" fmla="*/ 2147483647 h 461"/>
              <a:gd name="T22" fmla="*/ 2147483647 w 1026"/>
              <a:gd name="T23" fmla="*/ 2147483647 h 461"/>
              <a:gd name="T24" fmla="*/ 2147483647 w 1026"/>
              <a:gd name="T25" fmla="*/ 2147483647 h 461"/>
              <a:gd name="T26" fmla="*/ 2147483647 w 1026"/>
              <a:gd name="T27" fmla="*/ 0 h 461"/>
              <a:gd name="T28" fmla="*/ 2147483647 w 1026"/>
              <a:gd name="T29" fmla="*/ 2147483647 h 461"/>
              <a:gd name="T30" fmla="*/ 2147483647 w 1026"/>
              <a:gd name="T31" fmla="*/ 2147483647 h 461"/>
              <a:gd name="T32" fmla="*/ 2147483647 w 1026"/>
              <a:gd name="T33" fmla="*/ 2147483647 h 461"/>
              <a:gd name="T34" fmla="*/ 2147483647 w 1026"/>
              <a:gd name="T35" fmla="*/ 2147483647 h 461"/>
              <a:gd name="T36" fmla="*/ 2147483647 w 1026"/>
              <a:gd name="T37" fmla="*/ 2147483647 h 461"/>
              <a:gd name="T38" fmla="*/ 2147483647 w 1026"/>
              <a:gd name="T39" fmla="*/ 2147483647 h 461"/>
              <a:gd name="T40" fmla="*/ 2147483647 w 1026"/>
              <a:gd name="T41" fmla="*/ 2147483647 h 461"/>
              <a:gd name="T42" fmla="*/ 2147483647 w 1026"/>
              <a:gd name="T43" fmla="*/ 2147483647 h 461"/>
              <a:gd name="T44" fmla="*/ 2147483647 w 1026"/>
              <a:gd name="T45" fmla="*/ 2147483647 h 461"/>
              <a:gd name="T46" fmla="*/ 2147483647 w 1026"/>
              <a:gd name="T47" fmla="*/ 2147483647 h 461"/>
              <a:gd name="T48" fmla="*/ 2147483647 w 1026"/>
              <a:gd name="T49" fmla="*/ 2147483647 h 461"/>
              <a:gd name="T50" fmla="*/ 2147483647 w 1026"/>
              <a:gd name="T51" fmla="*/ 2147483647 h 461"/>
              <a:gd name="T52" fmla="*/ 2147483647 w 1026"/>
              <a:gd name="T53" fmla="*/ 2147483647 h 461"/>
              <a:gd name="T54" fmla="*/ 2147483647 w 1026"/>
              <a:gd name="T55" fmla="*/ 2147483647 h 461"/>
              <a:gd name="T56" fmla="*/ 2147483647 w 1026"/>
              <a:gd name="T57" fmla="*/ 2147483647 h 461"/>
              <a:gd name="T58" fmla="*/ 2147483647 w 1026"/>
              <a:gd name="T59" fmla="*/ 2147483647 h 461"/>
              <a:gd name="T60" fmla="*/ 2147483647 w 1026"/>
              <a:gd name="T61" fmla="*/ 2147483647 h 461"/>
              <a:gd name="T62" fmla="*/ 2147483647 w 1026"/>
              <a:gd name="T63" fmla="*/ 2147483647 h 461"/>
              <a:gd name="T64" fmla="*/ 2147483647 w 1026"/>
              <a:gd name="T65" fmla="*/ 2147483647 h 461"/>
              <a:gd name="T66" fmla="*/ 2147483647 w 1026"/>
              <a:gd name="T67" fmla="*/ 2147483647 h 461"/>
              <a:gd name="T68" fmla="*/ 2147483647 w 1026"/>
              <a:gd name="T69" fmla="*/ 2147483647 h 461"/>
              <a:gd name="T70" fmla="*/ 2147483647 w 1026"/>
              <a:gd name="T71" fmla="*/ 2147483647 h 461"/>
              <a:gd name="T72" fmla="*/ 2147483647 w 1026"/>
              <a:gd name="T73" fmla="*/ 2147483647 h 461"/>
              <a:gd name="T74" fmla="*/ 2147483647 w 1026"/>
              <a:gd name="T75" fmla="*/ 2147483647 h 461"/>
              <a:gd name="T76" fmla="*/ 2147483647 w 1026"/>
              <a:gd name="T77" fmla="*/ 2147483647 h 461"/>
              <a:gd name="T78" fmla="*/ 2147483647 w 1026"/>
              <a:gd name="T79" fmla="*/ 2147483647 h 4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298" name="Text Box 10"/>
          <p:cNvSpPr txBox="1">
            <a:spLocks noChangeArrowheads="1"/>
          </p:cNvSpPr>
          <p:nvPr/>
        </p:nvSpPr>
        <p:spPr bwMode="auto">
          <a:xfrm>
            <a:off x="2195513" y="2466975"/>
            <a:ext cx="424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实际的信道</a:t>
            </a:r>
          </a:p>
          <a:p>
            <a:pPr eaLnBrk="1" hangingPunct="1"/>
            <a:r>
              <a:rPr kumimoji="1" lang="zh-CN" altLang="en-US" sz="2000">
                <a:solidFill>
                  <a:srgbClr val="333399"/>
                </a:solidFill>
                <a:latin typeface="Times New Roman" pitchFamily="18" charset="0"/>
                <a:ea typeface="黑体" pitchFamily="49" charset="-122"/>
              </a:rPr>
              <a:t>（带宽受限、有噪声、干扰和失真）</a:t>
            </a:r>
          </a:p>
        </p:txBody>
      </p:sp>
      <p:sp>
        <p:nvSpPr>
          <p:cNvPr id="12299" name="Text Box 11"/>
          <p:cNvSpPr txBox="1">
            <a:spLocks noChangeArrowheads="1"/>
          </p:cNvSpPr>
          <p:nvPr/>
        </p:nvSpPr>
        <p:spPr bwMode="auto">
          <a:xfrm>
            <a:off x="539750" y="3433763"/>
            <a:ext cx="170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黑体" pitchFamily="49" charset="-122"/>
                <a:ea typeface="黑体" pitchFamily="49" charset="-122"/>
              </a:rPr>
              <a:t>发送信号波形</a:t>
            </a:r>
          </a:p>
        </p:txBody>
      </p:sp>
      <p:sp>
        <p:nvSpPr>
          <p:cNvPr id="12300" name="Text Box 12"/>
          <p:cNvSpPr txBox="1">
            <a:spLocks noChangeArrowheads="1"/>
          </p:cNvSpPr>
          <p:nvPr/>
        </p:nvSpPr>
        <p:spPr bwMode="auto">
          <a:xfrm>
            <a:off x="6464300" y="3448050"/>
            <a:ext cx="1924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接收信号波形</a:t>
            </a:r>
          </a:p>
        </p:txBody>
      </p:sp>
      <p:grpSp>
        <p:nvGrpSpPr>
          <p:cNvPr id="32792" name="Group 24"/>
          <p:cNvGrpSpPr>
            <a:grpSpLocks/>
          </p:cNvGrpSpPr>
          <p:nvPr/>
        </p:nvGrpSpPr>
        <p:grpSpPr bwMode="auto">
          <a:xfrm>
            <a:off x="482600" y="4581525"/>
            <a:ext cx="7834313" cy="1423988"/>
            <a:chOff x="304" y="2886"/>
            <a:chExt cx="4935" cy="897"/>
          </a:xfrm>
        </p:grpSpPr>
        <p:sp>
          <p:nvSpPr>
            <p:cNvPr id="12302" name="AutoShape 13"/>
            <p:cNvSpPr>
              <a:spLocks noChangeArrowheads="1"/>
            </p:cNvSpPr>
            <p:nvPr/>
          </p:nvSpPr>
          <p:spPr bwMode="auto">
            <a:xfrm rot="-5400000">
              <a:off x="2600" y="2210"/>
              <a:ext cx="250" cy="2558"/>
            </a:xfrm>
            <a:prstGeom prst="can">
              <a:avLst>
                <a:gd name="adj" fmla="val 66508"/>
              </a:avLst>
            </a:prstGeom>
            <a:gradFill rotWithShape="1">
              <a:gsLst>
                <a:gs pos="0">
                  <a:srgbClr val="6C6C6C"/>
                </a:gs>
                <a:gs pos="50000">
                  <a:srgbClr val="EAEAEA"/>
                </a:gs>
                <a:gs pos="100000">
                  <a:srgbClr val="6C6C6C"/>
                </a:gs>
              </a:gsLst>
              <a:lin ang="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3" name="Freeform 14"/>
            <p:cNvSpPr>
              <a:spLocks/>
            </p:cNvSpPr>
            <p:nvPr/>
          </p:nvSpPr>
          <p:spPr bwMode="auto">
            <a:xfrm>
              <a:off x="343" y="2991"/>
              <a:ext cx="970" cy="415"/>
            </a:xfrm>
            <a:custGeom>
              <a:avLst/>
              <a:gdLst>
                <a:gd name="T0" fmla="*/ 0 w 1056"/>
                <a:gd name="T1" fmla="*/ 232 h 480"/>
                <a:gd name="T2" fmla="*/ 94 w 1056"/>
                <a:gd name="T3" fmla="*/ 232 h 480"/>
                <a:gd name="T4" fmla="*/ 94 w 1056"/>
                <a:gd name="T5" fmla="*/ 0 h 480"/>
                <a:gd name="T6" fmla="*/ 252 w 1056"/>
                <a:gd name="T7" fmla="*/ 0 h 480"/>
                <a:gd name="T8" fmla="*/ 252 w 1056"/>
                <a:gd name="T9" fmla="*/ 232 h 480"/>
                <a:gd name="T10" fmla="*/ 408 w 1056"/>
                <a:gd name="T11" fmla="*/ 232 h 480"/>
                <a:gd name="T12" fmla="*/ 408 w 1056"/>
                <a:gd name="T13" fmla="*/ 0 h 480"/>
                <a:gd name="T14" fmla="*/ 565 w 1056"/>
                <a:gd name="T15" fmla="*/ 0 h 480"/>
                <a:gd name="T16" fmla="*/ 565 w 1056"/>
                <a:gd name="T17" fmla="*/ 232 h 480"/>
                <a:gd name="T18" fmla="*/ 690 w 1056"/>
                <a:gd name="T19" fmla="*/ 232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04" name="Line 15"/>
            <p:cNvSpPr>
              <a:spLocks noChangeShapeType="1"/>
            </p:cNvSpPr>
            <p:nvPr/>
          </p:nvSpPr>
          <p:spPr bwMode="auto">
            <a:xfrm>
              <a:off x="343" y="3489"/>
              <a:ext cx="1235"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05" name="Freeform 16"/>
            <p:cNvSpPr>
              <a:spLocks/>
            </p:cNvSpPr>
            <p:nvPr/>
          </p:nvSpPr>
          <p:spPr bwMode="auto">
            <a:xfrm>
              <a:off x="4180" y="2991"/>
              <a:ext cx="971" cy="415"/>
            </a:xfrm>
            <a:custGeom>
              <a:avLst/>
              <a:gdLst>
                <a:gd name="T0" fmla="*/ 0 w 1056"/>
                <a:gd name="T1" fmla="*/ 232 h 480"/>
                <a:gd name="T2" fmla="*/ 94 w 1056"/>
                <a:gd name="T3" fmla="*/ 232 h 480"/>
                <a:gd name="T4" fmla="*/ 94 w 1056"/>
                <a:gd name="T5" fmla="*/ 0 h 480"/>
                <a:gd name="T6" fmla="*/ 253 w 1056"/>
                <a:gd name="T7" fmla="*/ 0 h 480"/>
                <a:gd name="T8" fmla="*/ 253 w 1056"/>
                <a:gd name="T9" fmla="*/ 232 h 480"/>
                <a:gd name="T10" fmla="*/ 411 w 1056"/>
                <a:gd name="T11" fmla="*/ 232 h 480"/>
                <a:gd name="T12" fmla="*/ 411 w 1056"/>
                <a:gd name="T13" fmla="*/ 0 h 480"/>
                <a:gd name="T14" fmla="*/ 567 w 1056"/>
                <a:gd name="T15" fmla="*/ 0 h 480"/>
                <a:gd name="T16" fmla="*/ 567 w 1056"/>
                <a:gd name="T17" fmla="*/ 232 h 480"/>
                <a:gd name="T18" fmla="*/ 694 w 1056"/>
                <a:gd name="T19" fmla="*/ 232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06" name="Line 17"/>
            <p:cNvSpPr>
              <a:spLocks noChangeShapeType="1"/>
            </p:cNvSpPr>
            <p:nvPr/>
          </p:nvSpPr>
          <p:spPr bwMode="auto">
            <a:xfrm>
              <a:off x="4004" y="3489"/>
              <a:ext cx="1235"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07" name="Freeform 18"/>
            <p:cNvSpPr>
              <a:spLocks/>
            </p:cNvSpPr>
            <p:nvPr/>
          </p:nvSpPr>
          <p:spPr bwMode="auto">
            <a:xfrm>
              <a:off x="4186" y="3270"/>
              <a:ext cx="934" cy="124"/>
            </a:xfrm>
            <a:custGeom>
              <a:avLst/>
              <a:gdLst>
                <a:gd name="T0" fmla="*/ 0 w 1017"/>
                <a:gd name="T1" fmla="*/ 54 h 143"/>
                <a:gd name="T2" fmla="*/ 37 w 1017"/>
                <a:gd name="T3" fmla="*/ 64 h 143"/>
                <a:gd name="T4" fmla="*/ 55 w 1017"/>
                <a:gd name="T5" fmla="*/ 64 h 143"/>
                <a:gd name="T6" fmla="*/ 74 w 1017"/>
                <a:gd name="T7" fmla="*/ 45 h 143"/>
                <a:gd name="T8" fmla="*/ 107 w 1017"/>
                <a:gd name="T9" fmla="*/ 16 h 143"/>
                <a:gd name="T10" fmla="*/ 118 w 1017"/>
                <a:gd name="T11" fmla="*/ 28 h 143"/>
                <a:gd name="T12" fmla="*/ 124 w 1017"/>
                <a:gd name="T13" fmla="*/ 54 h 143"/>
                <a:gd name="T14" fmla="*/ 131 w 1017"/>
                <a:gd name="T15" fmla="*/ 36 h 143"/>
                <a:gd name="T16" fmla="*/ 143 w 1017"/>
                <a:gd name="T17" fmla="*/ 41 h 143"/>
                <a:gd name="T18" fmla="*/ 164 w 1017"/>
                <a:gd name="T19" fmla="*/ 39 h 143"/>
                <a:gd name="T20" fmla="*/ 213 w 1017"/>
                <a:gd name="T21" fmla="*/ 49 h 143"/>
                <a:gd name="T22" fmla="*/ 230 w 1017"/>
                <a:gd name="T23" fmla="*/ 60 h 143"/>
                <a:gd name="T24" fmla="*/ 266 w 1017"/>
                <a:gd name="T25" fmla="*/ 39 h 143"/>
                <a:gd name="T26" fmla="*/ 304 w 1017"/>
                <a:gd name="T27" fmla="*/ 50 h 143"/>
                <a:gd name="T28" fmla="*/ 332 w 1017"/>
                <a:gd name="T29" fmla="*/ 60 h 143"/>
                <a:gd name="T30" fmla="*/ 368 w 1017"/>
                <a:gd name="T31" fmla="*/ 60 h 143"/>
                <a:gd name="T32" fmla="*/ 402 w 1017"/>
                <a:gd name="T33" fmla="*/ 42 h 143"/>
                <a:gd name="T34" fmla="*/ 418 w 1017"/>
                <a:gd name="T35" fmla="*/ 35 h 143"/>
                <a:gd name="T36" fmla="*/ 429 w 1017"/>
                <a:gd name="T37" fmla="*/ 54 h 143"/>
                <a:gd name="T38" fmla="*/ 439 w 1017"/>
                <a:gd name="T39" fmla="*/ 23 h 143"/>
                <a:gd name="T40" fmla="*/ 457 w 1017"/>
                <a:gd name="T41" fmla="*/ 20 h 143"/>
                <a:gd name="T42" fmla="*/ 493 w 1017"/>
                <a:gd name="T43" fmla="*/ 31 h 143"/>
                <a:gd name="T44" fmla="*/ 523 w 1017"/>
                <a:gd name="T45" fmla="*/ 32 h 143"/>
                <a:gd name="T46" fmla="*/ 545 w 1017"/>
                <a:gd name="T47" fmla="*/ 48 h 143"/>
                <a:gd name="T48" fmla="*/ 571 w 1017"/>
                <a:gd name="T49" fmla="*/ 56 h 143"/>
                <a:gd name="T50" fmla="*/ 582 w 1017"/>
                <a:gd name="T51" fmla="*/ 42 h 143"/>
                <a:gd name="T52" fmla="*/ 596 w 1017"/>
                <a:gd name="T53" fmla="*/ 50 h 143"/>
                <a:gd name="T54" fmla="*/ 605 w 1017"/>
                <a:gd name="T55" fmla="*/ 32 h 143"/>
                <a:gd name="T56" fmla="*/ 636 w 1017"/>
                <a:gd name="T57" fmla="*/ 55 h 143"/>
                <a:gd name="T58" fmla="*/ 665 w 1017"/>
                <a:gd name="T59" fmla="*/ 60 h 14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08" name="Text Box 19"/>
            <p:cNvSpPr txBox="1">
              <a:spLocks noChangeArrowheads="1"/>
            </p:cNvSpPr>
            <p:nvPr/>
          </p:nvSpPr>
          <p:spPr bwMode="auto">
            <a:xfrm>
              <a:off x="304" y="3503"/>
              <a:ext cx="10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黑体" pitchFamily="49" charset="-122"/>
                  <a:ea typeface="黑体" pitchFamily="49" charset="-122"/>
                </a:rPr>
                <a:t>发送信号波形</a:t>
              </a:r>
            </a:p>
          </p:txBody>
        </p:sp>
        <p:sp>
          <p:nvSpPr>
            <p:cNvPr id="12309" name="Text Box 22"/>
            <p:cNvSpPr txBox="1">
              <a:spLocks noChangeArrowheads="1"/>
            </p:cNvSpPr>
            <p:nvPr/>
          </p:nvSpPr>
          <p:spPr bwMode="auto">
            <a:xfrm>
              <a:off x="1361" y="2886"/>
              <a:ext cx="267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实际的信道</a:t>
              </a:r>
            </a:p>
            <a:p>
              <a:pPr eaLnBrk="1" hangingPunct="1"/>
              <a:r>
                <a:rPr kumimoji="1" lang="zh-CN" altLang="en-US" sz="2000">
                  <a:solidFill>
                    <a:srgbClr val="333399"/>
                  </a:solidFill>
                  <a:latin typeface="Times New Roman" pitchFamily="18" charset="0"/>
                  <a:ea typeface="黑体" pitchFamily="49" charset="-122"/>
                </a:rPr>
                <a:t>（带宽受限、有噪声、干扰和失真）</a:t>
              </a:r>
            </a:p>
          </p:txBody>
        </p:sp>
        <p:sp>
          <p:nvSpPr>
            <p:cNvPr id="12310" name="Text Box 23"/>
            <p:cNvSpPr txBox="1">
              <a:spLocks noChangeArrowheads="1"/>
            </p:cNvSpPr>
            <p:nvPr/>
          </p:nvSpPr>
          <p:spPr bwMode="auto">
            <a:xfrm>
              <a:off x="3991" y="3533"/>
              <a:ext cx="116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接收信号波形</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4" end="4"/>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2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marL="838200" indent="-838200" algn="ctr" eaLnBrk="1" hangingPunct="1"/>
            <a:r>
              <a:rPr lang="zh-CN" altLang="en-US" smtClean="0"/>
              <a:t>信道能够通过的频率范围</a:t>
            </a:r>
          </a:p>
        </p:txBody>
      </p:sp>
      <p:sp>
        <p:nvSpPr>
          <p:cNvPr id="33795" name="Rectangle 3"/>
          <p:cNvSpPr>
            <a:spLocks noGrp="1" noChangeArrowheads="1"/>
          </p:cNvSpPr>
          <p:nvPr>
            <p:ph type="body" idx="1"/>
          </p:nvPr>
        </p:nvSpPr>
        <p:spPr>
          <a:xfrm>
            <a:off x="971550" y="1844675"/>
            <a:ext cx="7772400" cy="4724400"/>
          </a:xfrm>
        </p:spPr>
        <p:txBody>
          <a:bodyPr/>
          <a:lstStyle/>
          <a:p>
            <a:pPr eaLnBrk="1" hangingPunct="1">
              <a:buFont typeface="Wingdings" pitchFamily="2" charset="2"/>
              <a:buNone/>
            </a:pPr>
            <a:endParaRPr lang="en-US" altLang="zh-CN" smtClean="0"/>
          </a:p>
          <a:p>
            <a:pPr eaLnBrk="1" hangingPunct="1">
              <a:buFont typeface="Wingdings" pitchFamily="2" charset="2"/>
              <a:buNone/>
            </a:pPr>
            <a:r>
              <a:rPr lang="en-US" altLang="zh-CN" smtClean="0"/>
              <a:t>	</a:t>
            </a:r>
            <a:r>
              <a:rPr lang="zh-CN" altLang="en-US" smtClean="0"/>
              <a:t>在任何信道中，码元传输的速率是有上限的，超过上限就会出现</a:t>
            </a:r>
            <a:r>
              <a:rPr lang="zh-CN" altLang="en-US" smtClean="0">
                <a:solidFill>
                  <a:schemeClr val="hlink"/>
                </a:solidFill>
              </a:rPr>
              <a:t>码间串扰</a:t>
            </a:r>
            <a:r>
              <a:rPr lang="zh-CN" altLang="en-US" smtClean="0"/>
              <a:t>的问题，使接收端对码元的判决（即识别）成为不可能。</a:t>
            </a:r>
          </a:p>
          <a:p>
            <a:pPr eaLnBrk="1" hangingPunct="1"/>
            <a:r>
              <a:rPr lang="zh-CN" altLang="en-US" smtClean="0"/>
              <a:t>如果信道的频带越宽，也就是能够通过的信号高频分量越多，那么就可以用更高的速率传送码元而不出现码间串扰。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lgn="ctr" eaLnBrk="1" hangingPunct="1"/>
            <a:r>
              <a:rPr lang="zh-CN" altLang="en-US" smtClean="0"/>
              <a:t>香农公式</a:t>
            </a:r>
          </a:p>
        </p:txBody>
      </p:sp>
      <p:sp>
        <p:nvSpPr>
          <p:cNvPr id="113667" name="Rectangle 3"/>
          <p:cNvSpPr>
            <a:spLocks noGrp="1" noChangeArrowheads="1"/>
          </p:cNvSpPr>
          <p:nvPr>
            <p:ph type="body" idx="1"/>
          </p:nvPr>
        </p:nvSpPr>
        <p:spPr>
          <a:xfrm>
            <a:off x="900113" y="1916113"/>
            <a:ext cx="7772400" cy="4537075"/>
          </a:xfrm>
        </p:spPr>
        <p:txBody>
          <a:bodyPr/>
          <a:lstStyle/>
          <a:p>
            <a:pPr eaLnBrk="1" hangingPunct="1"/>
            <a:r>
              <a:rPr lang="zh-CN" altLang="en-US" smtClean="0"/>
              <a:t>香农</a:t>
            </a:r>
            <a:r>
              <a:rPr lang="en-US" altLang="zh-CN" smtClean="0"/>
              <a:t>(Shannon)</a:t>
            </a:r>
            <a:r>
              <a:rPr lang="zh-CN" altLang="en-US" smtClean="0"/>
              <a:t>用信息论的理论推导出了带宽受限且有高斯白噪声干扰的信道的</a:t>
            </a:r>
            <a:r>
              <a:rPr lang="zh-CN" altLang="en-US" smtClean="0">
                <a:solidFill>
                  <a:schemeClr val="hlink"/>
                </a:solidFill>
              </a:rPr>
              <a:t>极限</a:t>
            </a:r>
            <a:r>
              <a:rPr lang="zh-CN" altLang="en-US" smtClean="0"/>
              <a:t>、</a:t>
            </a:r>
            <a:r>
              <a:rPr lang="zh-CN" altLang="en-US" smtClean="0">
                <a:solidFill>
                  <a:schemeClr val="hlink"/>
                </a:solidFill>
              </a:rPr>
              <a:t>无差错的</a:t>
            </a:r>
            <a:r>
              <a:rPr lang="zh-CN" altLang="en-US" smtClean="0"/>
              <a:t>信息传输速率。</a:t>
            </a:r>
          </a:p>
          <a:p>
            <a:pPr eaLnBrk="1" hangingPunct="1"/>
            <a:r>
              <a:rPr lang="zh-CN" altLang="en-US" smtClean="0"/>
              <a:t>信道的极限信息传输速率 </a:t>
            </a:r>
            <a:r>
              <a:rPr lang="en-US" altLang="zh-CN" i="1" smtClean="0"/>
              <a:t>C </a:t>
            </a:r>
            <a:r>
              <a:rPr lang="zh-CN" altLang="en-US" smtClean="0"/>
              <a:t>可表达为</a:t>
            </a:r>
          </a:p>
          <a:p>
            <a:pPr eaLnBrk="1" hangingPunct="1">
              <a:spcBef>
                <a:spcPct val="25000"/>
              </a:spcBef>
              <a:spcAft>
                <a:spcPct val="25000"/>
              </a:spcAft>
            </a:pPr>
            <a:r>
              <a:rPr lang="zh-CN" altLang="en-US" i="1" smtClean="0"/>
              <a:t>        </a:t>
            </a:r>
            <a:r>
              <a:rPr lang="en-US" altLang="zh-CN" i="1" smtClean="0"/>
              <a:t>C</a:t>
            </a:r>
            <a:r>
              <a:rPr lang="en-US" altLang="zh-CN" smtClean="0"/>
              <a:t> = </a:t>
            </a:r>
            <a:r>
              <a:rPr lang="en-US" altLang="zh-CN" i="1" smtClean="0"/>
              <a:t>W</a:t>
            </a:r>
            <a:r>
              <a:rPr lang="en-US" altLang="zh-CN" smtClean="0"/>
              <a:t> log</a:t>
            </a:r>
            <a:r>
              <a:rPr lang="en-US" altLang="zh-CN" baseline="-25000" smtClean="0"/>
              <a:t>2</a:t>
            </a:r>
            <a:r>
              <a:rPr lang="en-US" altLang="zh-CN" smtClean="0"/>
              <a:t>(1+</a:t>
            </a:r>
            <a:r>
              <a:rPr lang="en-US" altLang="zh-CN" i="1" smtClean="0"/>
              <a:t>S</a:t>
            </a:r>
            <a:r>
              <a:rPr lang="en-US" altLang="zh-CN" smtClean="0"/>
              <a:t>/</a:t>
            </a:r>
            <a:r>
              <a:rPr lang="en-US" altLang="zh-CN" i="1" smtClean="0"/>
              <a:t>N</a:t>
            </a:r>
            <a:r>
              <a:rPr lang="en-US" altLang="zh-CN" smtClean="0"/>
              <a:t>)  b/s </a:t>
            </a:r>
          </a:p>
          <a:p>
            <a:pPr lvl="1" eaLnBrk="1" hangingPunct="1"/>
            <a:r>
              <a:rPr lang="en-US" altLang="zh-CN" i="1" smtClean="0">
                <a:solidFill>
                  <a:srgbClr val="333399"/>
                </a:solidFill>
                <a:latin typeface="Arial" pitchFamily="34" charset="0"/>
                <a:ea typeface="黑体" pitchFamily="49" charset="-122"/>
              </a:rPr>
              <a:t>W </a:t>
            </a:r>
            <a:r>
              <a:rPr lang="zh-CN" altLang="en-US" smtClean="0">
                <a:solidFill>
                  <a:srgbClr val="333399"/>
                </a:solidFill>
                <a:latin typeface="Arial" pitchFamily="34" charset="0"/>
                <a:ea typeface="黑体" pitchFamily="49" charset="-122"/>
              </a:rPr>
              <a:t>为信道的带宽（以 </a:t>
            </a:r>
            <a:r>
              <a:rPr lang="en-US" altLang="zh-CN" smtClean="0">
                <a:solidFill>
                  <a:srgbClr val="333399"/>
                </a:solidFill>
                <a:latin typeface="Arial" pitchFamily="34" charset="0"/>
                <a:ea typeface="黑体" pitchFamily="49" charset="-122"/>
              </a:rPr>
              <a:t>Hz </a:t>
            </a:r>
            <a:r>
              <a:rPr lang="zh-CN" altLang="en-US" smtClean="0">
                <a:solidFill>
                  <a:srgbClr val="333399"/>
                </a:solidFill>
                <a:latin typeface="Arial" pitchFamily="34" charset="0"/>
                <a:ea typeface="黑体" pitchFamily="49" charset="-122"/>
              </a:rPr>
              <a:t>为单位）；</a:t>
            </a:r>
          </a:p>
          <a:p>
            <a:pPr lvl="1" eaLnBrk="1" hangingPunct="1"/>
            <a:r>
              <a:rPr lang="en-US" altLang="zh-CN" i="1" smtClean="0">
                <a:solidFill>
                  <a:srgbClr val="333399"/>
                </a:solidFill>
                <a:latin typeface="Arial" pitchFamily="34" charset="0"/>
                <a:ea typeface="黑体" pitchFamily="49" charset="-122"/>
              </a:rPr>
              <a:t>S </a:t>
            </a:r>
            <a:r>
              <a:rPr lang="zh-CN" altLang="en-US" smtClean="0">
                <a:solidFill>
                  <a:srgbClr val="333399"/>
                </a:solidFill>
                <a:latin typeface="Arial" pitchFamily="34" charset="0"/>
                <a:ea typeface="黑体" pitchFamily="49" charset="-122"/>
              </a:rPr>
              <a:t>为信道内所传信号的平均功率；</a:t>
            </a:r>
          </a:p>
          <a:p>
            <a:pPr lvl="1" eaLnBrk="1" hangingPunct="1"/>
            <a:r>
              <a:rPr lang="en-US" altLang="zh-CN" i="1" smtClean="0">
                <a:solidFill>
                  <a:srgbClr val="333399"/>
                </a:solidFill>
                <a:latin typeface="Arial" pitchFamily="34" charset="0"/>
                <a:ea typeface="黑体" pitchFamily="49" charset="-122"/>
              </a:rPr>
              <a:t>N </a:t>
            </a:r>
            <a:r>
              <a:rPr lang="zh-CN" altLang="en-US" smtClean="0">
                <a:solidFill>
                  <a:srgbClr val="333399"/>
                </a:solidFill>
                <a:latin typeface="Arial" pitchFamily="34" charset="0"/>
                <a:ea typeface="黑体" pitchFamily="49" charset="-122"/>
              </a:rPr>
              <a:t>为信道内部的高斯噪声功率</a:t>
            </a:r>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36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366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algn="ctr" eaLnBrk="1" hangingPunct="1"/>
            <a:r>
              <a:rPr lang="zh-CN" altLang="en-US" smtClean="0"/>
              <a:t>香农公式表明 </a:t>
            </a:r>
          </a:p>
        </p:txBody>
      </p:sp>
      <p:sp>
        <p:nvSpPr>
          <p:cNvPr id="114691" name="Rectangle 3"/>
          <p:cNvSpPr>
            <a:spLocks noGrp="1" noChangeArrowheads="1"/>
          </p:cNvSpPr>
          <p:nvPr>
            <p:ph type="body" idx="1"/>
          </p:nvPr>
        </p:nvSpPr>
        <p:spPr>
          <a:xfrm>
            <a:off x="900113" y="1844675"/>
            <a:ext cx="7772400" cy="4681538"/>
          </a:xfrm>
        </p:spPr>
        <p:txBody>
          <a:bodyPr/>
          <a:lstStyle/>
          <a:p>
            <a:pPr eaLnBrk="1" hangingPunct="1"/>
            <a:r>
              <a:rPr lang="zh-CN" altLang="en-US" smtClean="0"/>
              <a:t>信道的带宽或信道中的信噪比越大，则信息的极限传输速率就越高。 </a:t>
            </a:r>
          </a:p>
          <a:p>
            <a:pPr eaLnBrk="1" hangingPunct="1"/>
            <a:r>
              <a:rPr lang="zh-CN" altLang="en-US" smtClean="0"/>
              <a:t>只要信息传输速率低于信道的极限信息传输速率，就一定可以找到某种办法来实现无差错的传输。 </a:t>
            </a:r>
          </a:p>
          <a:p>
            <a:pPr eaLnBrk="1" hangingPunct="1"/>
            <a:r>
              <a:rPr lang="zh-CN" altLang="en-US" smtClean="0"/>
              <a:t>若信道带宽</a:t>
            </a:r>
            <a:r>
              <a:rPr lang="zh-CN" altLang="en-US" sz="2000" smtClean="0"/>
              <a:t> </a:t>
            </a:r>
            <a:r>
              <a:rPr lang="en-US" altLang="zh-CN" i="1" smtClean="0"/>
              <a:t>W</a:t>
            </a:r>
            <a:r>
              <a:rPr lang="en-US" altLang="zh-CN" sz="2000" i="1" smtClean="0"/>
              <a:t> </a:t>
            </a:r>
            <a:r>
              <a:rPr lang="zh-CN" altLang="en-US" smtClean="0"/>
              <a:t>或信噪比</a:t>
            </a:r>
            <a:r>
              <a:rPr lang="zh-CN" altLang="en-US" sz="2000" smtClean="0"/>
              <a:t> </a:t>
            </a:r>
            <a:r>
              <a:rPr lang="en-US" altLang="zh-CN" i="1" smtClean="0"/>
              <a:t>S</a:t>
            </a:r>
            <a:r>
              <a:rPr lang="en-US" altLang="zh-CN" smtClean="0"/>
              <a:t>/</a:t>
            </a:r>
            <a:r>
              <a:rPr lang="en-US" altLang="zh-CN" i="1" smtClean="0"/>
              <a:t>N</a:t>
            </a:r>
            <a:r>
              <a:rPr lang="en-US" altLang="zh-CN" sz="2000" i="1" smtClean="0"/>
              <a:t> </a:t>
            </a:r>
            <a:r>
              <a:rPr lang="zh-CN" altLang="en-US" smtClean="0"/>
              <a:t>没有上限（当然实际信道不可能是这样的），则信道的极限信息传输速率</a:t>
            </a:r>
            <a:r>
              <a:rPr lang="zh-CN" altLang="en-US" sz="2000" smtClean="0"/>
              <a:t> </a:t>
            </a:r>
            <a:r>
              <a:rPr lang="en-US" altLang="zh-CN" i="1" smtClean="0"/>
              <a:t>C</a:t>
            </a:r>
            <a:r>
              <a:rPr lang="en-US" altLang="zh-CN" sz="2000" i="1" smtClean="0"/>
              <a:t> </a:t>
            </a:r>
            <a:r>
              <a:rPr lang="zh-CN" altLang="en-US" smtClean="0"/>
              <a:t>也就没有上限。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6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150938" y="214313"/>
            <a:ext cx="7237412" cy="1462087"/>
          </a:xfrm>
        </p:spPr>
        <p:txBody>
          <a:bodyPr/>
          <a:lstStyle/>
          <a:p>
            <a:pPr algn="ctr" eaLnBrk="1" hangingPunct="1"/>
            <a:r>
              <a:rPr lang="zh-CN" altLang="en-US" smtClean="0"/>
              <a:t>请注意 </a:t>
            </a:r>
          </a:p>
        </p:txBody>
      </p:sp>
      <p:sp>
        <p:nvSpPr>
          <p:cNvPr id="16387" name="Rectangle 3"/>
          <p:cNvSpPr>
            <a:spLocks noGrp="1" noChangeArrowheads="1"/>
          </p:cNvSpPr>
          <p:nvPr>
            <p:ph type="body" idx="1"/>
          </p:nvPr>
        </p:nvSpPr>
        <p:spPr>
          <a:xfrm>
            <a:off x="900113" y="1916113"/>
            <a:ext cx="7772400" cy="3744912"/>
          </a:xfrm>
        </p:spPr>
        <p:txBody>
          <a:bodyPr/>
          <a:lstStyle/>
          <a:p>
            <a:pPr eaLnBrk="1" hangingPunct="1"/>
            <a:r>
              <a:rPr lang="zh-CN" altLang="en-US" smtClean="0"/>
              <a:t>对于频带宽度已确定的信道，如果信噪比不能再提高了，并且码元传输速率也达到了上限值，那么还有办法提高信息的传输速率。这就是用编码的方法让每一个码元携带更多比特的信息量。 </a:t>
            </a:r>
          </a:p>
          <a:p>
            <a:pPr eaLnBrk="1" hangingPunct="1"/>
            <a:r>
              <a:rPr lang="en-US" altLang="zh-CN" smtClean="0"/>
              <a:t>P62 , 2-07</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lgn="ctr" eaLnBrk="1" hangingPunct="1"/>
            <a:r>
              <a:rPr lang="en-US" altLang="zh-CN" smtClean="0"/>
              <a:t>2.3 </a:t>
            </a:r>
            <a:r>
              <a:rPr lang="zh-CN" altLang="en-US" smtClean="0"/>
              <a:t>物理层下面的传输媒体</a:t>
            </a:r>
          </a:p>
        </p:txBody>
      </p:sp>
      <p:sp>
        <p:nvSpPr>
          <p:cNvPr id="17411" name="Line 6"/>
          <p:cNvSpPr>
            <a:spLocks noChangeShapeType="1"/>
          </p:cNvSpPr>
          <p:nvPr/>
        </p:nvSpPr>
        <p:spPr bwMode="auto">
          <a:xfrm>
            <a:off x="5854700" y="3452813"/>
            <a:ext cx="2349500" cy="83820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2" name="Rectangle 7"/>
          <p:cNvSpPr>
            <a:spLocks noChangeArrowheads="1"/>
          </p:cNvSpPr>
          <p:nvPr/>
        </p:nvSpPr>
        <p:spPr bwMode="auto">
          <a:xfrm>
            <a:off x="7543800" y="3978275"/>
            <a:ext cx="361950" cy="2381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3" name="Line 8"/>
          <p:cNvSpPr>
            <a:spLocks noChangeShapeType="1"/>
          </p:cNvSpPr>
          <p:nvPr/>
        </p:nvSpPr>
        <p:spPr bwMode="auto">
          <a:xfrm flipV="1">
            <a:off x="1166813" y="3452813"/>
            <a:ext cx="1171575" cy="83820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4" name="Rectangle 9"/>
          <p:cNvSpPr>
            <a:spLocks noChangeArrowheads="1"/>
          </p:cNvSpPr>
          <p:nvPr/>
        </p:nvSpPr>
        <p:spPr bwMode="auto">
          <a:xfrm>
            <a:off x="1066800" y="3978275"/>
            <a:ext cx="323850" cy="2190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5" name="Line 10"/>
          <p:cNvSpPr>
            <a:spLocks noChangeShapeType="1"/>
          </p:cNvSpPr>
          <p:nvPr/>
        </p:nvSpPr>
        <p:spPr bwMode="auto">
          <a:xfrm>
            <a:off x="2336800" y="4271963"/>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6" name="Rectangle 11"/>
          <p:cNvSpPr>
            <a:spLocks noChangeArrowheads="1"/>
          </p:cNvSpPr>
          <p:nvPr/>
        </p:nvSpPr>
        <p:spPr bwMode="auto">
          <a:xfrm>
            <a:off x="2217738" y="5026025"/>
            <a:ext cx="320675" cy="5603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7" name="Line 12"/>
          <p:cNvSpPr>
            <a:spLocks noChangeShapeType="1"/>
          </p:cNvSpPr>
          <p:nvPr/>
        </p:nvSpPr>
        <p:spPr bwMode="auto">
          <a:xfrm>
            <a:off x="1757363" y="4275138"/>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8" name="Rectangle 13"/>
          <p:cNvSpPr>
            <a:spLocks noChangeArrowheads="1"/>
          </p:cNvSpPr>
          <p:nvPr/>
        </p:nvSpPr>
        <p:spPr bwMode="auto">
          <a:xfrm>
            <a:off x="1671638" y="5045075"/>
            <a:ext cx="198437" cy="5683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9" name="Rectangle 14"/>
          <p:cNvSpPr>
            <a:spLocks noChangeArrowheads="1"/>
          </p:cNvSpPr>
          <p:nvPr/>
        </p:nvSpPr>
        <p:spPr bwMode="auto">
          <a:xfrm>
            <a:off x="1657350" y="4314825"/>
            <a:ext cx="223838" cy="311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0" name="Line 15"/>
          <p:cNvSpPr>
            <a:spLocks noChangeShapeType="1"/>
          </p:cNvSpPr>
          <p:nvPr/>
        </p:nvSpPr>
        <p:spPr bwMode="auto">
          <a:xfrm>
            <a:off x="2925763" y="4278313"/>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1" name="Rectangle 16"/>
          <p:cNvSpPr>
            <a:spLocks noChangeArrowheads="1"/>
          </p:cNvSpPr>
          <p:nvPr/>
        </p:nvSpPr>
        <p:spPr bwMode="auto">
          <a:xfrm>
            <a:off x="2514600" y="4667250"/>
            <a:ext cx="833438" cy="2825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2" name="Line 17"/>
          <p:cNvSpPr>
            <a:spLocks noChangeShapeType="1"/>
          </p:cNvSpPr>
          <p:nvPr/>
        </p:nvSpPr>
        <p:spPr bwMode="auto">
          <a:xfrm>
            <a:off x="3509963" y="4284663"/>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3" name="Rectangle 18"/>
          <p:cNvSpPr>
            <a:spLocks noChangeArrowheads="1"/>
          </p:cNvSpPr>
          <p:nvPr/>
        </p:nvSpPr>
        <p:spPr bwMode="auto">
          <a:xfrm>
            <a:off x="3373438" y="5053013"/>
            <a:ext cx="266700" cy="496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4" name="Line 19"/>
          <p:cNvSpPr>
            <a:spLocks noChangeShapeType="1"/>
          </p:cNvSpPr>
          <p:nvPr/>
        </p:nvSpPr>
        <p:spPr bwMode="auto">
          <a:xfrm>
            <a:off x="4683125" y="4278313"/>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5" name="Rectangle 20"/>
          <p:cNvSpPr>
            <a:spLocks noChangeArrowheads="1"/>
          </p:cNvSpPr>
          <p:nvPr/>
        </p:nvSpPr>
        <p:spPr bwMode="auto">
          <a:xfrm>
            <a:off x="4603750" y="4740275"/>
            <a:ext cx="230188" cy="2778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6" name="Line 21"/>
          <p:cNvSpPr>
            <a:spLocks noChangeShapeType="1"/>
          </p:cNvSpPr>
          <p:nvPr/>
        </p:nvSpPr>
        <p:spPr bwMode="auto">
          <a:xfrm>
            <a:off x="1158875" y="3071813"/>
            <a:ext cx="75438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7" name="Line 22"/>
          <p:cNvSpPr>
            <a:spLocks noChangeShapeType="1"/>
          </p:cNvSpPr>
          <p:nvPr/>
        </p:nvSpPr>
        <p:spPr bwMode="auto">
          <a:xfrm>
            <a:off x="1177925" y="3452813"/>
            <a:ext cx="75438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8" name="Line 23"/>
          <p:cNvSpPr>
            <a:spLocks noChangeShapeType="1"/>
          </p:cNvSpPr>
          <p:nvPr/>
        </p:nvSpPr>
        <p:spPr bwMode="auto">
          <a:xfrm>
            <a:off x="1155700" y="3071813"/>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9" name="Line 24"/>
          <p:cNvSpPr>
            <a:spLocks noChangeShapeType="1"/>
          </p:cNvSpPr>
          <p:nvPr/>
        </p:nvSpPr>
        <p:spPr bwMode="auto">
          <a:xfrm>
            <a:off x="3365500" y="3076575"/>
            <a:ext cx="0"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0" name="Line 25"/>
          <p:cNvSpPr>
            <a:spLocks noChangeShapeType="1"/>
          </p:cNvSpPr>
          <p:nvPr/>
        </p:nvSpPr>
        <p:spPr bwMode="auto">
          <a:xfrm>
            <a:off x="2346325" y="3087688"/>
            <a:ext cx="0" cy="384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1" name="Line 26"/>
          <p:cNvSpPr>
            <a:spLocks noChangeShapeType="1"/>
          </p:cNvSpPr>
          <p:nvPr/>
        </p:nvSpPr>
        <p:spPr bwMode="auto">
          <a:xfrm>
            <a:off x="5489575" y="3071813"/>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2" name="Line 27"/>
          <p:cNvSpPr>
            <a:spLocks noChangeShapeType="1"/>
          </p:cNvSpPr>
          <p:nvPr/>
        </p:nvSpPr>
        <p:spPr bwMode="auto">
          <a:xfrm>
            <a:off x="7699375" y="3081338"/>
            <a:ext cx="0" cy="366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3" name="Line 28"/>
          <p:cNvSpPr>
            <a:spLocks noChangeShapeType="1"/>
          </p:cNvSpPr>
          <p:nvPr/>
        </p:nvSpPr>
        <p:spPr bwMode="auto">
          <a:xfrm flipV="1">
            <a:off x="1162050" y="4278313"/>
            <a:ext cx="7050088" cy="47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4" name="Text Box 29"/>
          <p:cNvSpPr txBox="1">
            <a:spLocks noChangeArrowheads="1"/>
          </p:cNvSpPr>
          <p:nvPr/>
        </p:nvSpPr>
        <p:spPr bwMode="auto">
          <a:xfrm>
            <a:off x="2524125" y="3090863"/>
            <a:ext cx="793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无线电</a:t>
            </a:r>
          </a:p>
        </p:txBody>
      </p:sp>
      <p:sp>
        <p:nvSpPr>
          <p:cNvPr id="17435" name="Text Box 30"/>
          <p:cNvSpPr txBox="1">
            <a:spLocks noChangeArrowheads="1"/>
          </p:cNvSpPr>
          <p:nvPr/>
        </p:nvSpPr>
        <p:spPr bwMode="auto">
          <a:xfrm>
            <a:off x="3505200" y="3090863"/>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微波</a:t>
            </a:r>
          </a:p>
        </p:txBody>
      </p:sp>
      <p:sp>
        <p:nvSpPr>
          <p:cNvPr id="17436" name="Line 31"/>
          <p:cNvSpPr>
            <a:spLocks noChangeShapeType="1"/>
          </p:cNvSpPr>
          <p:nvPr/>
        </p:nvSpPr>
        <p:spPr bwMode="auto">
          <a:xfrm>
            <a:off x="4419600" y="3071813"/>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7" name="Line 32"/>
          <p:cNvSpPr>
            <a:spLocks noChangeShapeType="1"/>
          </p:cNvSpPr>
          <p:nvPr/>
        </p:nvSpPr>
        <p:spPr bwMode="auto">
          <a:xfrm>
            <a:off x="5391150" y="3071813"/>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8" name="Text Box 33"/>
          <p:cNvSpPr txBox="1">
            <a:spLocks noChangeArrowheads="1"/>
          </p:cNvSpPr>
          <p:nvPr/>
        </p:nvSpPr>
        <p:spPr bwMode="auto">
          <a:xfrm>
            <a:off x="4546600" y="3090863"/>
            <a:ext cx="793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红外线</a:t>
            </a:r>
          </a:p>
        </p:txBody>
      </p:sp>
      <p:sp>
        <p:nvSpPr>
          <p:cNvPr id="17439" name="Text Box 34"/>
          <p:cNvSpPr txBox="1">
            <a:spLocks noChangeArrowheads="1"/>
          </p:cNvSpPr>
          <p:nvPr/>
        </p:nvSpPr>
        <p:spPr bwMode="auto">
          <a:xfrm>
            <a:off x="4813300" y="3605213"/>
            <a:ext cx="793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可见光</a:t>
            </a:r>
          </a:p>
        </p:txBody>
      </p:sp>
      <p:sp>
        <p:nvSpPr>
          <p:cNvPr id="17440" name="Text Box 35"/>
          <p:cNvSpPr txBox="1">
            <a:spLocks noChangeArrowheads="1"/>
          </p:cNvSpPr>
          <p:nvPr/>
        </p:nvSpPr>
        <p:spPr bwMode="auto">
          <a:xfrm>
            <a:off x="5613400" y="3605213"/>
            <a:ext cx="793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紫外线</a:t>
            </a:r>
          </a:p>
        </p:txBody>
      </p:sp>
      <p:sp>
        <p:nvSpPr>
          <p:cNvPr id="17441" name="Line 36"/>
          <p:cNvSpPr>
            <a:spLocks noChangeShapeType="1"/>
          </p:cNvSpPr>
          <p:nvPr/>
        </p:nvSpPr>
        <p:spPr bwMode="auto">
          <a:xfrm>
            <a:off x="5867400" y="3071813"/>
            <a:ext cx="0" cy="3857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2" name="Text Box 37"/>
          <p:cNvSpPr txBox="1">
            <a:spLocks noChangeArrowheads="1"/>
          </p:cNvSpPr>
          <p:nvPr/>
        </p:nvSpPr>
        <p:spPr bwMode="auto">
          <a:xfrm>
            <a:off x="6324600" y="3090863"/>
            <a:ext cx="736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600">
                <a:solidFill>
                  <a:srgbClr val="333399"/>
                </a:solidFill>
                <a:latin typeface="Times New Roman" pitchFamily="18" charset="0"/>
                <a:ea typeface="黑体" pitchFamily="49" charset="-122"/>
              </a:rPr>
              <a:t>X</a:t>
            </a:r>
            <a:r>
              <a:rPr kumimoji="1" lang="zh-CN" altLang="en-US" sz="1600">
                <a:solidFill>
                  <a:srgbClr val="333399"/>
                </a:solidFill>
                <a:latin typeface="Times New Roman" pitchFamily="18" charset="0"/>
                <a:ea typeface="黑体" pitchFamily="49" charset="-122"/>
              </a:rPr>
              <a:t>射线</a:t>
            </a:r>
          </a:p>
        </p:txBody>
      </p:sp>
      <p:sp>
        <p:nvSpPr>
          <p:cNvPr id="17443" name="Text Box 38"/>
          <p:cNvSpPr txBox="1">
            <a:spLocks noChangeArrowheads="1"/>
          </p:cNvSpPr>
          <p:nvPr/>
        </p:nvSpPr>
        <p:spPr bwMode="auto">
          <a:xfrm>
            <a:off x="7848600" y="3059113"/>
            <a:ext cx="2682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600">
                <a:solidFill>
                  <a:srgbClr val="333399"/>
                </a:solidFill>
                <a:latin typeface="Times New Roman" pitchFamily="18" charset="0"/>
                <a:ea typeface="黑体" pitchFamily="49" charset="-122"/>
                <a:sym typeface="Symbol" pitchFamily="18" charset="2"/>
              </a:rPr>
              <a:t></a:t>
            </a:r>
          </a:p>
        </p:txBody>
      </p:sp>
      <p:sp>
        <p:nvSpPr>
          <p:cNvPr id="17444" name="Text Box 39"/>
          <p:cNvSpPr txBox="1">
            <a:spLocks noChangeArrowheads="1"/>
          </p:cNvSpPr>
          <p:nvPr/>
        </p:nvSpPr>
        <p:spPr bwMode="auto">
          <a:xfrm>
            <a:off x="7997825" y="3090863"/>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射线</a:t>
            </a:r>
          </a:p>
        </p:txBody>
      </p:sp>
      <p:sp>
        <p:nvSpPr>
          <p:cNvPr id="17445" name="Text Box 40"/>
          <p:cNvSpPr txBox="1">
            <a:spLocks noChangeArrowheads="1"/>
          </p:cNvSpPr>
          <p:nvPr/>
        </p:nvSpPr>
        <p:spPr bwMode="auto">
          <a:xfrm>
            <a:off x="1382713" y="4278313"/>
            <a:ext cx="793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双绞线</a:t>
            </a:r>
          </a:p>
        </p:txBody>
      </p:sp>
      <p:sp>
        <p:nvSpPr>
          <p:cNvPr id="17446" name="Line 41"/>
          <p:cNvSpPr>
            <a:spLocks noChangeShapeType="1"/>
          </p:cNvSpPr>
          <p:nvPr/>
        </p:nvSpPr>
        <p:spPr bwMode="auto">
          <a:xfrm>
            <a:off x="1162050" y="4595813"/>
            <a:ext cx="1352550" cy="0"/>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7" name="Text Box 42"/>
          <p:cNvSpPr txBox="1">
            <a:spLocks noChangeArrowheads="1"/>
          </p:cNvSpPr>
          <p:nvPr/>
        </p:nvSpPr>
        <p:spPr bwMode="auto">
          <a:xfrm>
            <a:off x="2422525" y="4619625"/>
            <a:ext cx="996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同轴电缆</a:t>
            </a:r>
          </a:p>
        </p:txBody>
      </p:sp>
      <p:sp>
        <p:nvSpPr>
          <p:cNvPr id="17448" name="Line 43"/>
          <p:cNvSpPr>
            <a:spLocks noChangeShapeType="1"/>
          </p:cNvSpPr>
          <p:nvPr/>
        </p:nvSpPr>
        <p:spPr bwMode="auto">
          <a:xfrm>
            <a:off x="1752600" y="4968875"/>
            <a:ext cx="22860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9" name="Text Box 44"/>
          <p:cNvSpPr txBox="1">
            <a:spLocks noChangeArrowheads="1"/>
          </p:cNvSpPr>
          <p:nvPr/>
        </p:nvSpPr>
        <p:spPr bwMode="auto">
          <a:xfrm>
            <a:off x="4114800" y="4283075"/>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卫星</a:t>
            </a:r>
          </a:p>
        </p:txBody>
      </p:sp>
      <p:sp>
        <p:nvSpPr>
          <p:cNvPr id="17450" name="Line 45"/>
          <p:cNvSpPr>
            <a:spLocks noChangeShapeType="1"/>
          </p:cNvSpPr>
          <p:nvPr/>
        </p:nvSpPr>
        <p:spPr bwMode="auto">
          <a:xfrm>
            <a:off x="3886200" y="4625975"/>
            <a:ext cx="11430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1" name="Text Box 46"/>
          <p:cNvSpPr txBox="1">
            <a:spLocks noChangeArrowheads="1"/>
          </p:cNvSpPr>
          <p:nvPr/>
        </p:nvSpPr>
        <p:spPr bwMode="auto">
          <a:xfrm>
            <a:off x="4264025" y="4702175"/>
            <a:ext cx="996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地面微波</a:t>
            </a:r>
          </a:p>
        </p:txBody>
      </p:sp>
      <p:sp>
        <p:nvSpPr>
          <p:cNvPr id="17452" name="Line 47"/>
          <p:cNvSpPr>
            <a:spLocks noChangeShapeType="1"/>
          </p:cNvSpPr>
          <p:nvPr/>
        </p:nvSpPr>
        <p:spPr bwMode="auto">
          <a:xfrm>
            <a:off x="4254500" y="5053013"/>
            <a:ext cx="9398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3" name="Text Box 48"/>
          <p:cNvSpPr txBox="1">
            <a:spLocks noChangeArrowheads="1"/>
          </p:cNvSpPr>
          <p:nvPr/>
        </p:nvSpPr>
        <p:spPr bwMode="auto">
          <a:xfrm>
            <a:off x="1981200" y="5084763"/>
            <a:ext cx="7937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1600">
                <a:solidFill>
                  <a:srgbClr val="333399"/>
                </a:solidFill>
                <a:latin typeface="Times New Roman" pitchFamily="18" charset="0"/>
                <a:ea typeface="黑体" pitchFamily="49" charset="-122"/>
              </a:rPr>
              <a:t>  </a:t>
            </a:r>
            <a:r>
              <a:rPr kumimoji="1" lang="zh-CN" altLang="en-US" sz="1600">
                <a:solidFill>
                  <a:srgbClr val="333399"/>
                </a:solidFill>
                <a:latin typeface="Times New Roman" pitchFamily="18" charset="0"/>
                <a:ea typeface="黑体" pitchFamily="49" charset="-122"/>
              </a:rPr>
              <a:t>调幅</a:t>
            </a:r>
          </a:p>
          <a:p>
            <a:pPr algn="l" eaLnBrk="1" hangingPunct="1">
              <a:lnSpc>
                <a:spcPct val="90000"/>
              </a:lnSpc>
            </a:pPr>
            <a:r>
              <a:rPr kumimoji="1" lang="zh-CN" altLang="en-US" sz="1600">
                <a:solidFill>
                  <a:srgbClr val="333399"/>
                </a:solidFill>
                <a:latin typeface="Times New Roman" pitchFamily="18" charset="0"/>
                <a:ea typeface="黑体" pitchFamily="49" charset="-122"/>
              </a:rPr>
              <a:t>无线电</a:t>
            </a:r>
          </a:p>
        </p:txBody>
      </p:sp>
      <p:sp>
        <p:nvSpPr>
          <p:cNvPr id="17454" name="Text Box 49"/>
          <p:cNvSpPr txBox="1">
            <a:spLocks noChangeArrowheads="1"/>
          </p:cNvSpPr>
          <p:nvPr/>
        </p:nvSpPr>
        <p:spPr bwMode="auto">
          <a:xfrm>
            <a:off x="3048000" y="5032375"/>
            <a:ext cx="7937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1600">
                <a:solidFill>
                  <a:srgbClr val="333399"/>
                </a:solidFill>
                <a:latin typeface="Times New Roman" pitchFamily="18" charset="0"/>
                <a:ea typeface="黑体" pitchFamily="49" charset="-122"/>
              </a:rPr>
              <a:t>  </a:t>
            </a:r>
            <a:r>
              <a:rPr kumimoji="1" lang="zh-CN" altLang="en-US" sz="1600">
                <a:solidFill>
                  <a:srgbClr val="333399"/>
                </a:solidFill>
                <a:latin typeface="Times New Roman" pitchFamily="18" charset="0"/>
                <a:ea typeface="黑体" pitchFamily="49" charset="-122"/>
              </a:rPr>
              <a:t>调频</a:t>
            </a:r>
          </a:p>
          <a:p>
            <a:pPr algn="l" eaLnBrk="1" hangingPunct="1">
              <a:lnSpc>
                <a:spcPct val="90000"/>
              </a:lnSpc>
            </a:pPr>
            <a:r>
              <a:rPr kumimoji="1" lang="zh-CN" altLang="en-US" sz="1600">
                <a:solidFill>
                  <a:srgbClr val="333399"/>
                </a:solidFill>
                <a:latin typeface="Times New Roman" pitchFamily="18" charset="0"/>
                <a:ea typeface="黑体" pitchFamily="49" charset="-122"/>
              </a:rPr>
              <a:t>无线电</a:t>
            </a:r>
          </a:p>
        </p:txBody>
      </p:sp>
      <p:sp>
        <p:nvSpPr>
          <p:cNvPr id="17455" name="Text Box 50"/>
          <p:cNvSpPr txBox="1">
            <a:spLocks noChangeArrowheads="1"/>
          </p:cNvSpPr>
          <p:nvPr/>
        </p:nvSpPr>
        <p:spPr bwMode="auto">
          <a:xfrm>
            <a:off x="1254125" y="5087938"/>
            <a:ext cx="7937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1600">
                <a:solidFill>
                  <a:srgbClr val="333399"/>
                </a:solidFill>
                <a:latin typeface="Times New Roman" pitchFamily="18" charset="0"/>
                <a:ea typeface="黑体" pitchFamily="49" charset="-122"/>
              </a:rPr>
              <a:t>  </a:t>
            </a:r>
            <a:r>
              <a:rPr kumimoji="1" lang="zh-CN" altLang="en-US" sz="1600">
                <a:solidFill>
                  <a:srgbClr val="333399"/>
                </a:solidFill>
                <a:latin typeface="Times New Roman" pitchFamily="18" charset="0"/>
                <a:ea typeface="黑体" pitchFamily="49" charset="-122"/>
              </a:rPr>
              <a:t>海事</a:t>
            </a:r>
          </a:p>
          <a:p>
            <a:pPr algn="l" eaLnBrk="1" hangingPunct="1">
              <a:lnSpc>
                <a:spcPct val="90000"/>
              </a:lnSpc>
            </a:pPr>
            <a:r>
              <a:rPr kumimoji="1" lang="zh-CN" altLang="en-US" sz="1600">
                <a:solidFill>
                  <a:srgbClr val="333399"/>
                </a:solidFill>
                <a:latin typeface="Times New Roman" pitchFamily="18" charset="0"/>
                <a:ea typeface="黑体" pitchFamily="49" charset="-122"/>
              </a:rPr>
              <a:t>无线电</a:t>
            </a:r>
          </a:p>
        </p:txBody>
      </p:sp>
      <p:sp>
        <p:nvSpPr>
          <p:cNvPr id="17456" name="Line 51"/>
          <p:cNvSpPr>
            <a:spLocks noChangeShapeType="1"/>
          </p:cNvSpPr>
          <p:nvPr/>
        </p:nvSpPr>
        <p:spPr bwMode="auto">
          <a:xfrm>
            <a:off x="3314700" y="5586413"/>
            <a:ext cx="4318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7" name="Text Box 52"/>
          <p:cNvSpPr txBox="1">
            <a:spLocks noChangeArrowheads="1"/>
          </p:cNvSpPr>
          <p:nvPr/>
        </p:nvSpPr>
        <p:spPr bwMode="auto">
          <a:xfrm>
            <a:off x="7035800" y="4306888"/>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光纤</a:t>
            </a:r>
          </a:p>
        </p:txBody>
      </p:sp>
      <p:sp>
        <p:nvSpPr>
          <p:cNvPr id="17458" name="Line 53"/>
          <p:cNvSpPr>
            <a:spLocks noChangeShapeType="1"/>
          </p:cNvSpPr>
          <p:nvPr/>
        </p:nvSpPr>
        <p:spPr bwMode="auto">
          <a:xfrm>
            <a:off x="7010400" y="4638675"/>
            <a:ext cx="5969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9" name="Text Box 54"/>
          <p:cNvSpPr txBox="1">
            <a:spLocks noChangeArrowheads="1"/>
          </p:cNvSpPr>
          <p:nvPr/>
        </p:nvSpPr>
        <p:spPr bwMode="auto">
          <a:xfrm>
            <a:off x="3505200" y="5630863"/>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电视</a:t>
            </a:r>
          </a:p>
        </p:txBody>
      </p:sp>
      <p:sp>
        <p:nvSpPr>
          <p:cNvPr id="17460" name="Line 55"/>
          <p:cNvSpPr>
            <a:spLocks noChangeShapeType="1"/>
          </p:cNvSpPr>
          <p:nvPr/>
        </p:nvSpPr>
        <p:spPr bwMode="auto">
          <a:xfrm flipV="1">
            <a:off x="5257800" y="3224213"/>
            <a:ext cx="190500" cy="457200"/>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1" name="Line 56"/>
          <p:cNvSpPr>
            <a:spLocks noChangeShapeType="1"/>
          </p:cNvSpPr>
          <p:nvPr/>
        </p:nvSpPr>
        <p:spPr bwMode="auto">
          <a:xfrm flipH="1" flipV="1">
            <a:off x="5689600" y="3224213"/>
            <a:ext cx="82550" cy="45402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2" name="Line 57"/>
          <p:cNvSpPr>
            <a:spLocks noChangeShapeType="1"/>
          </p:cNvSpPr>
          <p:nvPr/>
        </p:nvSpPr>
        <p:spPr bwMode="auto">
          <a:xfrm>
            <a:off x="1295400" y="5662613"/>
            <a:ext cx="6858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3" name="Line 58"/>
          <p:cNvSpPr>
            <a:spLocks noChangeShapeType="1"/>
          </p:cNvSpPr>
          <p:nvPr/>
        </p:nvSpPr>
        <p:spPr bwMode="auto">
          <a:xfrm>
            <a:off x="2133600" y="5662613"/>
            <a:ext cx="4572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4" name="Line 59"/>
          <p:cNvSpPr>
            <a:spLocks noChangeShapeType="1"/>
          </p:cNvSpPr>
          <p:nvPr/>
        </p:nvSpPr>
        <p:spPr bwMode="auto">
          <a:xfrm>
            <a:off x="3352800" y="5967413"/>
            <a:ext cx="7493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5" name="Line 60"/>
          <p:cNvSpPr>
            <a:spLocks noChangeShapeType="1"/>
          </p:cNvSpPr>
          <p:nvPr/>
        </p:nvSpPr>
        <p:spPr bwMode="auto">
          <a:xfrm>
            <a:off x="1157288" y="6035675"/>
            <a:ext cx="70596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6" name="Line 61"/>
          <p:cNvSpPr>
            <a:spLocks noChangeShapeType="1"/>
          </p:cNvSpPr>
          <p:nvPr/>
        </p:nvSpPr>
        <p:spPr bwMode="auto">
          <a:xfrm>
            <a:off x="1168400" y="4283075"/>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7" name="Line 62"/>
          <p:cNvSpPr>
            <a:spLocks noChangeShapeType="1"/>
          </p:cNvSpPr>
          <p:nvPr/>
        </p:nvSpPr>
        <p:spPr bwMode="auto">
          <a:xfrm>
            <a:off x="4098925" y="4276725"/>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8" name="Line 63"/>
          <p:cNvSpPr>
            <a:spLocks noChangeShapeType="1"/>
          </p:cNvSpPr>
          <p:nvPr/>
        </p:nvSpPr>
        <p:spPr bwMode="auto">
          <a:xfrm>
            <a:off x="5267325" y="4284663"/>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9" name="Line 64"/>
          <p:cNvSpPr>
            <a:spLocks noChangeShapeType="1"/>
          </p:cNvSpPr>
          <p:nvPr/>
        </p:nvSpPr>
        <p:spPr bwMode="auto">
          <a:xfrm>
            <a:off x="5851525" y="4281488"/>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0" name="Line 65"/>
          <p:cNvSpPr>
            <a:spLocks noChangeShapeType="1"/>
          </p:cNvSpPr>
          <p:nvPr/>
        </p:nvSpPr>
        <p:spPr bwMode="auto">
          <a:xfrm>
            <a:off x="6440488" y="4283075"/>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1" name="Line 66"/>
          <p:cNvSpPr>
            <a:spLocks noChangeShapeType="1"/>
          </p:cNvSpPr>
          <p:nvPr/>
        </p:nvSpPr>
        <p:spPr bwMode="auto">
          <a:xfrm>
            <a:off x="7029450" y="4294188"/>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2" name="Line 67"/>
          <p:cNvSpPr>
            <a:spLocks noChangeShapeType="1"/>
          </p:cNvSpPr>
          <p:nvPr/>
        </p:nvSpPr>
        <p:spPr bwMode="auto">
          <a:xfrm>
            <a:off x="7613650" y="4286250"/>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3" name="Line 68"/>
          <p:cNvSpPr>
            <a:spLocks noChangeShapeType="1"/>
          </p:cNvSpPr>
          <p:nvPr/>
        </p:nvSpPr>
        <p:spPr bwMode="auto">
          <a:xfrm>
            <a:off x="8202613" y="4283075"/>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74" name="Group 69"/>
          <p:cNvGrpSpPr>
            <a:grpSpLocks/>
          </p:cNvGrpSpPr>
          <p:nvPr/>
        </p:nvGrpSpPr>
        <p:grpSpPr bwMode="auto">
          <a:xfrm>
            <a:off x="304800" y="2767013"/>
            <a:ext cx="752475" cy="368300"/>
            <a:chOff x="6" y="352"/>
            <a:chExt cx="474" cy="232"/>
          </a:xfrm>
        </p:grpSpPr>
        <p:sp>
          <p:nvSpPr>
            <p:cNvPr id="17505" name="Text Box 70"/>
            <p:cNvSpPr txBox="1">
              <a:spLocks noChangeArrowheads="1"/>
            </p:cNvSpPr>
            <p:nvPr/>
          </p:nvSpPr>
          <p:spPr bwMode="auto">
            <a:xfrm>
              <a:off x="92" y="353"/>
              <a:ext cx="3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800" b="1">
                  <a:solidFill>
                    <a:srgbClr val="333399"/>
                  </a:solidFill>
                  <a:latin typeface="Times New Roman" pitchFamily="18" charset="0"/>
                  <a:ea typeface="黑体" pitchFamily="49" charset="-122"/>
                </a:rPr>
                <a:t>(Hz)</a:t>
              </a:r>
            </a:p>
          </p:txBody>
        </p:sp>
        <p:sp>
          <p:nvSpPr>
            <p:cNvPr id="17506" name="Text Box 71"/>
            <p:cNvSpPr txBox="1">
              <a:spLocks noChangeArrowheads="1"/>
            </p:cNvSpPr>
            <p:nvPr/>
          </p:nvSpPr>
          <p:spPr bwMode="auto">
            <a:xfrm>
              <a:off x="6" y="352"/>
              <a:ext cx="1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800" b="1">
                  <a:solidFill>
                    <a:srgbClr val="333399"/>
                  </a:solidFill>
                  <a:latin typeface="Times New Roman" pitchFamily="18" charset="0"/>
                  <a:ea typeface="黑体" pitchFamily="49" charset="-122"/>
                </a:rPr>
                <a:t>f</a:t>
              </a:r>
            </a:p>
          </p:txBody>
        </p:sp>
      </p:grpSp>
      <p:grpSp>
        <p:nvGrpSpPr>
          <p:cNvPr id="17475" name="Group 72"/>
          <p:cNvGrpSpPr>
            <a:grpSpLocks/>
          </p:cNvGrpSpPr>
          <p:nvPr/>
        </p:nvGrpSpPr>
        <p:grpSpPr bwMode="auto">
          <a:xfrm>
            <a:off x="311150" y="3986213"/>
            <a:ext cx="746125" cy="371475"/>
            <a:chOff x="78" y="1589"/>
            <a:chExt cx="470" cy="234"/>
          </a:xfrm>
        </p:grpSpPr>
        <p:sp>
          <p:nvSpPr>
            <p:cNvPr id="17503" name="Text Box 73"/>
            <p:cNvSpPr txBox="1">
              <a:spLocks noChangeArrowheads="1"/>
            </p:cNvSpPr>
            <p:nvPr/>
          </p:nvSpPr>
          <p:spPr bwMode="auto">
            <a:xfrm>
              <a:off x="124" y="1589"/>
              <a:ext cx="4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800" b="1">
                  <a:solidFill>
                    <a:srgbClr val="333399"/>
                  </a:solidFill>
                  <a:latin typeface="Times New Roman" pitchFamily="18" charset="0"/>
                  <a:ea typeface="黑体" pitchFamily="49" charset="-122"/>
                </a:rPr>
                <a:t> (Hz)</a:t>
              </a:r>
            </a:p>
          </p:txBody>
        </p:sp>
        <p:sp>
          <p:nvSpPr>
            <p:cNvPr id="17504" name="Text Box 74"/>
            <p:cNvSpPr txBox="1">
              <a:spLocks noChangeArrowheads="1"/>
            </p:cNvSpPr>
            <p:nvPr/>
          </p:nvSpPr>
          <p:spPr bwMode="auto">
            <a:xfrm>
              <a:off x="78" y="1592"/>
              <a:ext cx="1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800" b="1">
                  <a:solidFill>
                    <a:srgbClr val="333399"/>
                  </a:solidFill>
                  <a:latin typeface="Times New Roman" pitchFamily="18" charset="0"/>
                  <a:ea typeface="黑体" pitchFamily="49" charset="-122"/>
                </a:rPr>
                <a:t>f</a:t>
              </a:r>
            </a:p>
          </p:txBody>
        </p:sp>
      </p:grpSp>
      <p:sp>
        <p:nvSpPr>
          <p:cNvPr id="17476" name="Line 75"/>
          <p:cNvSpPr>
            <a:spLocks noChangeShapeType="1"/>
          </p:cNvSpPr>
          <p:nvPr/>
        </p:nvSpPr>
        <p:spPr bwMode="auto">
          <a:xfrm>
            <a:off x="1371600" y="6035675"/>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7" name="Line 76"/>
          <p:cNvSpPr>
            <a:spLocks noChangeShapeType="1"/>
          </p:cNvSpPr>
          <p:nvPr/>
        </p:nvSpPr>
        <p:spPr bwMode="auto">
          <a:xfrm>
            <a:off x="1943100" y="6045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8" name="Line 77"/>
          <p:cNvSpPr>
            <a:spLocks noChangeShapeType="1"/>
          </p:cNvSpPr>
          <p:nvPr/>
        </p:nvSpPr>
        <p:spPr bwMode="auto">
          <a:xfrm>
            <a:off x="2519363" y="6049963"/>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9" name="Line 78"/>
          <p:cNvSpPr>
            <a:spLocks noChangeShapeType="1"/>
          </p:cNvSpPr>
          <p:nvPr/>
        </p:nvSpPr>
        <p:spPr bwMode="auto">
          <a:xfrm>
            <a:off x="3114675" y="6045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0" name="Line 79"/>
          <p:cNvSpPr>
            <a:spLocks noChangeShapeType="1"/>
          </p:cNvSpPr>
          <p:nvPr/>
        </p:nvSpPr>
        <p:spPr bwMode="auto">
          <a:xfrm>
            <a:off x="3681413" y="6045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1" name="Line 80"/>
          <p:cNvSpPr>
            <a:spLocks noChangeShapeType="1"/>
          </p:cNvSpPr>
          <p:nvPr/>
        </p:nvSpPr>
        <p:spPr bwMode="auto">
          <a:xfrm>
            <a:off x="4276725" y="6045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2" name="Line 81"/>
          <p:cNvSpPr>
            <a:spLocks noChangeShapeType="1"/>
          </p:cNvSpPr>
          <p:nvPr/>
        </p:nvSpPr>
        <p:spPr bwMode="auto">
          <a:xfrm>
            <a:off x="4867275" y="6045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3" name="Line 82"/>
          <p:cNvSpPr>
            <a:spLocks noChangeShapeType="1"/>
          </p:cNvSpPr>
          <p:nvPr/>
        </p:nvSpPr>
        <p:spPr bwMode="auto">
          <a:xfrm>
            <a:off x="5443538" y="6045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4" name="Line 83"/>
          <p:cNvSpPr>
            <a:spLocks noChangeShapeType="1"/>
          </p:cNvSpPr>
          <p:nvPr/>
        </p:nvSpPr>
        <p:spPr bwMode="auto">
          <a:xfrm>
            <a:off x="6043613" y="6049963"/>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5" name="Line 84"/>
          <p:cNvSpPr>
            <a:spLocks noChangeShapeType="1"/>
          </p:cNvSpPr>
          <p:nvPr/>
        </p:nvSpPr>
        <p:spPr bwMode="auto">
          <a:xfrm>
            <a:off x="6629400" y="6040438"/>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6" name="Line 85"/>
          <p:cNvSpPr>
            <a:spLocks noChangeShapeType="1"/>
          </p:cNvSpPr>
          <p:nvPr/>
        </p:nvSpPr>
        <p:spPr bwMode="auto">
          <a:xfrm>
            <a:off x="7224713" y="6049963"/>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7" name="Line 86"/>
          <p:cNvSpPr>
            <a:spLocks noChangeShapeType="1"/>
          </p:cNvSpPr>
          <p:nvPr/>
        </p:nvSpPr>
        <p:spPr bwMode="auto">
          <a:xfrm>
            <a:off x="7815263" y="6040438"/>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8" name="Text Box 87"/>
          <p:cNvSpPr txBox="1">
            <a:spLocks noChangeArrowheads="1"/>
          </p:cNvSpPr>
          <p:nvPr/>
        </p:nvSpPr>
        <p:spPr bwMode="auto">
          <a:xfrm>
            <a:off x="1436688" y="6045200"/>
            <a:ext cx="4429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600" b="1">
                <a:solidFill>
                  <a:srgbClr val="333399"/>
                </a:solidFill>
                <a:latin typeface="Times New Roman" pitchFamily="18" charset="0"/>
                <a:ea typeface="黑体" pitchFamily="49" charset="-122"/>
              </a:rPr>
              <a:t>LF</a:t>
            </a:r>
          </a:p>
        </p:txBody>
      </p:sp>
      <p:sp>
        <p:nvSpPr>
          <p:cNvPr id="17489" name="Text Box 88"/>
          <p:cNvSpPr txBox="1">
            <a:spLocks noChangeArrowheads="1"/>
          </p:cNvSpPr>
          <p:nvPr/>
        </p:nvSpPr>
        <p:spPr bwMode="auto">
          <a:xfrm>
            <a:off x="2022475" y="6045200"/>
            <a:ext cx="500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600" b="1">
                <a:solidFill>
                  <a:srgbClr val="333399"/>
                </a:solidFill>
                <a:latin typeface="Times New Roman" pitchFamily="18" charset="0"/>
                <a:ea typeface="黑体" pitchFamily="49" charset="-122"/>
              </a:rPr>
              <a:t>MF</a:t>
            </a:r>
          </a:p>
        </p:txBody>
      </p:sp>
      <p:sp>
        <p:nvSpPr>
          <p:cNvPr id="17490" name="Text Box 89"/>
          <p:cNvSpPr txBox="1">
            <a:spLocks noChangeArrowheads="1"/>
          </p:cNvSpPr>
          <p:nvPr/>
        </p:nvSpPr>
        <p:spPr bwMode="auto">
          <a:xfrm>
            <a:off x="2608263" y="6045200"/>
            <a:ext cx="466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600" b="1">
                <a:solidFill>
                  <a:srgbClr val="333399"/>
                </a:solidFill>
                <a:latin typeface="Times New Roman" pitchFamily="18" charset="0"/>
                <a:ea typeface="黑体" pitchFamily="49" charset="-122"/>
              </a:rPr>
              <a:t>HF</a:t>
            </a:r>
          </a:p>
        </p:txBody>
      </p:sp>
      <p:sp>
        <p:nvSpPr>
          <p:cNvPr id="17491" name="Text Box 90"/>
          <p:cNvSpPr txBox="1">
            <a:spLocks noChangeArrowheads="1"/>
          </p:cNvSpPr>
          <p:nvPr/>
        </p:nvSpPr>
        <p:spPr bwMode="auto">
          <a:xfrm>
            <a:off x="3127375" y="6045200"/>
            <a:ext cx="6127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600" b="1">
                <a:solidFill>
                  <a:srgbClr val="333399"/>
                </a:solidFill>
                <a:latin typeface="Times New Roman" pitchFamily="18" charset="0"/>
                <a:ea typeface="黑体" pitchFamily="49" charset="-122"/>
              </a:rPr>
              <a:t>VHF</a:t>
            </a:r>
          </a:p>
        </p:txBody>
      </p:sp>
      <p:sp>
        <p:nvSpPr>
          <p:cNvPr id="17492" name="Text Box 91"/>
          <p:cNvSpPr txBox="1">
            <a:spLocks noChangeArrowheads="1"/>
          </p:cNvSpPr>
          <p:nvPr/>
        </p:nvSpPr>
        <p:spPr bwMode="auto">
          <a:xfrm>
            <a:off x="3698875" y="6045200"/>
            <a:ext cx="6127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600" b="1">
                <a:solidFill>
                  <a:srgbClr val="333399"/>
                </a:solidFill>
                <a:latin typeface="Times New Roman" pitchFamily="18" charset="0"/>
                <a:ea typeface="黑体" pitchFamily="49" charset="-122"/>
              </a:rPr>
              <a:t>UHF</a:t>
            </a:r>
          </a:p>
        </p:txBody>
      </p:sp>
      <p:sp>
        <p:nvSpPr>
          <p:cNvPr id="17493" name="Text Box 92"/>
          <p:cNvSpPr txBox="1">
            <a:spLocks noChangeArrowheads="1"/>
          </p:cNvSpPr>
          <p:nvPr/>
        </p:nvSpPr>
        <p:spPr bwMode="auto">
          <a:xfrm>
            <a:off x="4265613" y="6045200"/>
            <a:ext cx="5794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600" b="1">
                <a:solidFill>
                  <a:srgbClr val="333399"/>
                </a:solidFill>
                <a:latin typeface="Times New Roman" pitchFamily="18" charset="0"/>
                <a:ea typeface="黑体" pitchFamily="49" charset="-122"/>
              </a:rPr>
              <a:t>SHF</a:t>
            </a:r>
          </a:p>
        </p:txBody>
      </p:sp>
      <p:sp>
        <p:nvSpPr>
          <p:cNvPr id="17494" name="Text Box 93"/>
          <p:cNvSpPr txBox="1">
            <a:spLocks noChangeArrowheads="1"/>
          </p:cNvSpPr>
          <p:nvPr/>
        </p:nvSpPr>
        <p:spPr bwMode="auto">
          <a:xfrm>
            <a:off x="4865688" y="6045200"/>
            <a:ext cx="6016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600" b="1">
                <a:solidFill>
                  <a:srgbClr val="333399"/>
                </a:solidFill>
                <a:latin typeface="Times New Roman" pitchFamily="18" charset="0"/>
                <a:ea typeface="黑体" pitchFamily="49" charset="-122"/>
              </a:rPr>
              <a:t>EHF</a:t>
            </a:r>
          </a:p>
        </p:txBody>
      </p:sp>
      <p:sp>
        <p:nvSpPr>
          <p:cNvPr id="17495" name="Text Box 94"/>
          <p:cNvSpPr txBox="1">
            <a:spLocks noChangeArrowheads="1"/>
          </p:cNvSpPr>
          <p:nvPr/>
        </p:nvSpPr>
        <p:spPr bwMode="auto">
          <a:xfrm>
            <a:off x="5446713" y="6045200"/>
            <a:ext cx="6016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600" b="1">
                <a:solidFill>
                  <a:srgbClr val="333399"/>
                </a:solidFill>
                <a:latin typeface="Times New Roman" pitchFamily="18" charset="0"/>
                <a:ea typeface="黑体" pitchFamily="49" charset="-122"/>
              </a:rPr>
              <a:t>THF</a:t>
            </a:r>
          </a:p>
        </p:txBody>
      </p:sp>
      <p:sp>
        <p:nvSpPr>
          <p:cNvPr id="17496" name="Text Box 95"/>
          <p:cNvSpPr txBox="1">
            <a:spLocks noChangeArrowheads="1"/>
          </p:cNvSpPr>
          <p:nvPr/>
        </p:nvSpPr>
        <p:spPr bwMode="auto">
          <a:xfrm>
            <a:off x="457200" y="5967413"/>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1600">
                <a:solidFill>
                  <a:srgbClr val="333399"/>
                </a:solidFill>
                <a:latin typeface="Times New Roman" pitchFamily="18" charset="0"/>
                <a:ea typeface="黑体" pitchFamily="49" charset="-122"/>
              </a:rPr>
              <a:t>波段</a:t>
            </a:r>
          </a:p>
        </p:txBody>
      </p:sp>
      <p:sp>
        <p:nvSpPr>
          <p:cNvPr id="17497" name="Text Box 96"/>
          <p:cNvSpPr txBox="1">
            <a:spLocks noChangeArrowheads="1"/>
          </p:cNvSpPr>
          <p:nvPr/>
        </p:nvSpPr>
        <p:spPr bwMode="auto">
          <a:xfrm>
            <a:off x="958850" y="3957638"/>
            <a:ext cx="7575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4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5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6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7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8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9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10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11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12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13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14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15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16</a:t>
            </a:r>
            <a:endParaRPr kumimoji="1" lang="en-US" altLang="zh-CN" sz="1600" b="1">
              <a:solidFill>
                <a:srgbClr val="333399"/>
              </a:solidFill>
              <a:latin typeface="Times New Roman" pitchFamily="18" charset="0"/>
              <a:ea typeface="黑体" pitchFamily="49" charset="-122"/>
            </a:endParaRPr>
          </a:p>
        </p:txBody>
      </p:sp>
      <p:sp>
        <p:nvSpPr>
          <p:cNvPr id="17498" name="Text Box 97"/>
          <p:cNvSpPr txBox="1">
            <a:spLocks noChangeArrowheads="1"/>
          </p:cNvSpPr>
          <p:nvPr/>
        </p:nvSpPr>
        <p:spPr bwMode="auto">
          <a:xfrm>
            <a:off x="990600" y="2735263"/>
            <a:ext cx="764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0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2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4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6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8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10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12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14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16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18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20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22       </a:t>
            </a:r>
            <a:r>
              <a:rPr kumimoji="1" lang="en-US" altLang="zh-CN" sz="1600" b="1">
                <a:solidFill>
                  <a:srgbClr val="333399"/>
                </a:solidFill>
                <a:latin typeface="Times New Roman" pitchFamily="18" charset="0"/>
                <a:ea typeface="黑体" pitchFamily="49" charset="-122"/>
              </a:rPr>
              <a:t>10</a:t>
            </a:r>
            <a:r>
              <a:rPr kumimoji="1" lang="en-US" altLang="zh-CN" sz="1600" b="1" baseline="30000">
                <a:solidFill>
                  <a:srgbClr val="333399"/>
                </a:solidFill>
                <a:latin typeface="Times New Roman" pitchFamily="18" charset="0"/>
                <a:ea typeface="黑体" pitchFamily="49" charset="-122"/>
              </a:rPr>
              <a:t>24</a:t>
            </a:r>
            <a:endParaRPr kumimoji="1" lang="en-US" altLang="zh-CN" sz="1600" b="1">
              <a:solidFill>
                <a:srgbClr val="333399"/>
              </a:solidFill>
              <a:latin typeface="Times New Roman" pitchFamily="18" charset="0"/>
              <a:ea typeface="黑体" pitchFamily="49" charset="-122"/>
            </a:endParaRPr>
          </a:p>
        </p:txBody>
      </p:sp>
      <p:sp>
        <p:nvSpPr>
          <p:cNvPr id="17499" name="Line 98"/>
          <p:cNvSpPr>
            <a:spLocks noChangeShapeType="1"/>
          </p:cNvSpPr>
          <p:nvPr/>
        </p:nvSpPr>
        <p:spPr bwMode="auto">
          <a:xfrm flipV="1">
            <a:off x="3911600" y="5583238"/>
            <a:ext cx="357188" cy="3175"/>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0" name="Rectangle 99"/>
          <p:cNvSpPr>
            <a:spLocks noChangeArrowheads="1"/>
          </p:cNvSpPr>
          <p:nvPr/>
        </p:nvSpPr>
        <p:spPr bwMode="auto">
          <a:xfrm>
            <a:off x="4038600" y="5053013"/>
            <a:ext cx="84138" cy="4429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1" name="Text Box 100"/>
          <p:cNvSpPr txBox="1">
            <a:spLocks noChangeArrowheads="1"/>
          </p:cNvSpPr>
          <p:nvPr/>
        </p:nvSpPr>
        <p:spPr bwMode="auto">
          <a:xfrm>
            <a:off x="3729038" y="5048250"/>
            <a:ext cx="8445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1600">
                <a:solidFill>
                  <a:srgbClr val="333399"/>
                </a:solidFill>
                <a:latin typeface="Times New Roman" pitchFamily="18" charset="0"/>
                <a:ea typeface="黑体" pitchFamily="49" charset="-122"/>
              </a:rPr>
              <a:t>  </a:t>
            </a:r>
            <a:r>
              <a:rPr kumimoji="1" lang="zh-CN" altLang="en-US" sz="1600">
                <a:solidFill>
                  <a:srgbClr val="333399"/>
                </a:solidFill>
                <a:latin typeface="Times New Roman" pitchFamily="18" charset="0"/>
                <a:ea typeface="黑体" pitchFamily="49" charset="-122"/>
              </a:rPr>
              <a:t>移动</a:t>
            </a:r>
          </a:p>
          <a:p>
            <a:pPr algn="l" eaLnBrk="1" hangingPunct="1">
              <a:lnSpc>
                <a:spcPct val="90000"/>
              </a:lnSpc>
            </a:pPr>
            <a:r>
              <a:rPr kumimoji="1" lang="zh-CN" altLang="en-US" sz="1600">
                <a:solidFill>
                  <a:srgbClr val="333399"/>
                </a:solidFill>
                <a:latin typeface="Times New Roman" pitchFamily="18" charset="0"/>
                <a:ea typeface="黑体" pitchFamily="49" charset="-122"/>
              </a:rPr>
              <a:t>无线电 </a:t>
            </a:r>
          </a:p>
        </p:txBody>
      </p:sp>
      <p:sp>
        <p:nvSpPr>
          <p:cNvPr id="17502" name="Rectangle 101"/>
          <p:cNvSpPr>
            <a:spLocks noChangeArrowheads="1"/>
          </p:cNvSpPr>
          <p:nvPr/>
        </p:nvSpPr>
        <p:spPr bwMode="auto">
          <a:xfrm>
            <a:off x="755650" y="1700213"/>
            <a:ext cx="7793038"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zh-CN" altLang="en-US" sz="3200">
                <a:solidFill>
                  <a:srgbClr val="333399"/>
                </a:solidFill>
                <a:latin typeface="Arial" pitchFamily="34" charset="0"/>
                <a:ea typeface="黑体" pitchFamily="49" charset="-122"/>
              </a:rPr>
              <a:t>电信领域使用的电磁波的频谱</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ctr" eaLnBrk="1" hangingPunct="1"/>
            <a:r>
              <a:rPr lang="en-US" altLang="zh-CN" smtClean="0"/>
              <a:t>2.3.1 </a:t>
            </a:r>
            <a:r>
              <a:rPr lang="zh-CN" altLang="en-US" smtClean="0"/>
              <a:t>导向传输媒体</a:t>
            </a:r>
          </a:p>
        </p:txBody>
      </p:sp>
      <p:sp>
        <p:nvSpPr>
          <p:cNvPr id="121859" name="Rectangle 3"/>
          <p:cNvSpPr>
            <a:spLocks noGrp="1" noChangeArrowheads="1"/>
          </p:cNvSpPr>
          <p:nvPr>
            <p:ph type="body" idx="1"/>
          </p:nvPr>
        </p:nvSpPr>
        <p:spPr>
          <a:xfrm>
            <a:off x="1116013" y="2133600"/>
            <a:ext cx="7772400" cy="4114800"/>
          </a:xfrm>
        </p:spPr>
        <p:txBody>
          <a:bodyPr/>
          <a:lstStyle/>
          <a:p>
            <a:pPr eaLnBrk="1" hangingPunct="1">
              <a:lnSpc>
                <a:spcPct val="90000"/>
              </a:lnSpc>
            </a:pPr>
            <a:r>
              <a:rPr lang="zh-CN" altLang="en-US" smtClean="0"/>
              <a:t>双绞线</a:t>
            </a:r>
          </a:p>
          <a:p>
            <a:pPr lvl="1" eaLnBrk="1" hangingPunct="1">
              <a:lnSpc>
                <a:spcPct val="90000"/>
              </a:lnSpc>
            </a:pPr>
            <a:r>
              <a:rPr lang="zh-CN" altLang="en-US" smtClean="0">
                <a:solidFill>
                  <a:srgbClr val="333399"/>
                </a:solidFill>
                <a:latin typeface="Arial" pitchFamily="34" charset="0"/>
                <a:ea typeface="黑体" pitchFamily="49" charset="-122"/>
              </a:rPr>
              <a:t>屏蔽双绞线 </a:t>
            </a:r>
            <a:r>
              <a:rPr lang="en-US" altLang="zh-CN" smtClean="0">
                <a:solidFill>
                  <a:srgbClr val="333399"/>
                </a:solidFill>
                <a:latin typeface="Arial" pitchFamily="34" charset="0"/>
                <a:ea typeface="黑体" pitchFamily="49" charset="-122"/>
              </a:rPr>
              <a:t>STP (Shielded Twisted Pair)</a:t>
            </a:r>
          </a:p>
          <a:p>
            <a:pPr lvl="1" eaLnBrk="1" hangingPunct="1">
              <a:lnSpc>
                <a:spcPct val="90000"/>
              </a:lnSpc>
            </a:pPr>
            <a:r>
              <a:rPr lang="zh-CN" altLang="en-US" smtClean="0">
                <a:solidFill>
                  <a:srgbClr val="333399"/>
                </a:solidFill>
                <a:latin typeface="Arial" pitchFamily="34" charset="0"/>
                <a:ea typeface="黑体" pitchFamily="49" charset="-122"/>
              </a:rPr>
              <a:t>无屏蔽双绞线 </a:t>
            </a:r>
            <a:r>
              <a:rPr lang="en-US" altLang="zh-CN" smtClean="0">
                <a:solidFill>
                  <a:srgbClr val="333399"/>
                </a:solidFill>
                <a:latin typeface="Arial" pitchFamily="34" charset="0"/>
                <a:ea typeface="黑体" pitchFamily="49" charset="-122"/>
              </a:rPr>
              <a:t>UTP (Unshielded Twisted Pair)</a:t>
            </a:r>
            <a:r>
              <a:rPr lang="en-US" altLang="zh-CN" smtClean="0"/>
              <a:t> </a:t>
            </a:r>
            <a:endParaRPr lang="en-US" altLang="zh-CN" smtClean="0">
              <a:solidFill>
                <a:srgbClr val="333399"/>
              </a:solidFill>
              <a:ea typeface="黑体" pitchFamily="49" charset="-122"/>
            </a:endParaRPr>
          </a:p>
          <a:p>
            <a:pPr eaLnBrk="1" hangingPunct="1">
              <a:lnSpc>
                <a:spcPct val="90000"/>
              </a:lnSpc>
            </a:pPr>
            <a:r>
              <a:rPr lang="zh-CN" altLang="en-US" smtClean="0"/>
              <a:t>同轴电缆</a:t>
            </a:r>
          </a:p>
          <a:p>
            <a:pPr lvl="1" eaLnBrk="1" hangingPunct="1">
              <a:lnSpc>
                <a:spcPct val="90000"/>
              </a:lnSpc>
            </a:pPr>
            <a:r>
              <a:rPr lang="en-US" altLang="zh-CN" smtClean="0">
                <a:solidFill>
                  <a:srgbClr val="333399"/>
                </a:solidFill>
                <a:latin typeface="Arial" pitchFamily="34" charset="0"/>
                <a:ea typeface="黑体" pitchFamily="49" charset="-122"/>
              </a:rPr>
              <a:t>50</a:t>
            </a:r>
            <a:r>
              <a:rPr lang="en-US" altLang="zh-CN" sz="1600" smtClean="0">
                <a:solidFill>
                  <a:srgbClr val="333399"/>
                </a:solidFill>
                <a:latin typeface="Arial" pitchFamily="34" charset="0"/>
                <a:ea typeface="黑体" pitchFamily="49" charset="-122"/>
              </a:rPr>
              <a:t> </a:t>
            </a:r>
            <a:r>
              <a:rPr lang="en-US" altLang="zh-CN" smtClean="0">
                <a:solidFill>
                  <a:srgbClr val="333399"/>
                </a:solidFill>
                <a:latin typeface="Arial" pitchFamily="34" charset="0"/>
                <a:ea typeface="黑体" pitchFamily="49" charset="-122"/>
                <a:sym typeface="Symbol" pitchFamily="18" charset="2"/>
              </a:rPr>
              <a:t></a:t>
            </a:r>
            <a:r>
              <a:rPr lang="en-US" altLang="zh-CN" sz="1400" smtClean="0">
                <a:solidFill>
                  <a:srgbClr val="333399"/>
                </a:solidFill>
                <a:latin typeface="黑体" pitchFamily="49" charset="-122"/>
                <a:ea typeface="黑体" pitchFamily="49" charset="-122"/>
              </a:rPr>
              <a:t> </a:t>
            </a:r>
            <a:r>
              <a:rPr lang="zh-CN" altLang="en-US" smtClean="0">
                <a:solidFill>
                  <a:srgbClr val="333399"/>
                </a:solidFill>
                <a:latin typeface="黑体" pitchFamily="49" charset="-122"/>
                <a:ea typeface="黑体" pitchFamily="49" charset="-122"/>
              </a:rPr>
              <a:t>同轴电缆</a:t>
            </a:r>
          </a:p>
          <a:p>
            <a:pPr lvl="1" eaLnBrk="1" hangingPunct="1">
              <a:lnSpc>
                <a:spcPct val="90000"/>
              </a:lnSpc>
            </a:pPr>
            <a:r>
              <a:rPr lang="en-US" altLang="zh-CN" smtClean="0">
                <a:solidFill>
                  <a:srgbClr val="333399"/>
                </a:solidFill>
                <a:latin typeface="Arial" pitchFamily="34" charset="0"/>
                <a:ea typeface="黑体" pitchFamily="49" charset="-122"/>
              </a:rPr>
              <a:t>75</a:t>
            </a:r>
            <a:r>
              <a:rPr lang="en-US" altLang="zh-CN" sz="1600" smtClean="0">
                <a:solidFill>
                  <a:srgbClr val="333399"/>
                </a:solidFill>
                <a:latin typeface="Arial" pitchFamily="34" charset="0"/>
                <a:ea typeface="黑体" pitchFamily="49" charset="-122"/>
              </a:rPr>
              <a:t> </a:t>
            </a:r>
            <a:r>
              <a:rPr lang="en-US" altLang="zh-CN" smtClean="0">
                <a:solidFill>
                  <a:srgbClr val="333399"/>
                </a:solidFill>
                <a:latin typeface="Arial" pitchFamily="34" charset="0"/>
                <a:ea typeface="黑体" pitchFamily="49" charset="-122"/>
                <a:sym typeface="Symbol" pitchFamily="18" charset="2"/>
              </a:rPr>
              <a:t></a:t>
            </a:r>
            <a:r>
              <a:rPr lang="en-US" altLang="zh-CN" sz="1400" smtClean="0">
                <a:solidFill>
                  <a:srgbClr val="333399"/>
                </a:solidFill>
                <a:latin typeface="黑体" pitchFamily="49" charset="-122"/>
                <a:ea typeface="黑体" pitchFamily="49" charset="-122"/>
              </a:rPr>
              <a:t> </a:t>
            </a:r>
            <a:r>
              <a:rPr lang="zh-CN" altLang="en-US" smtClean="0">
                <a:solidFill>
                  <a:srgbClr val="333399"/>
                </a:solidFill>
                <a:latin typeface="黑体" pitchFamily="49" charset="-122"/>
                <a:ea typeface="黑体" pitchFamily="49" charset="-122"/>
              </a:rPr>
              <a:t>同轴电缆</a:t>
            </a:r>
          </a:p>
          <a:p>
            <a:pPr eaLnBrk="1" hangingPunct="1">
              <a:lnSpc>
                <a:spcPct val="90000"/>
              </a:lnSpc>
            </a:pPr>
            <a:r>
              <a:rPr lang="zh-CN" altLang="en-US" smtClean="0"/>
              <a:t>光缆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859">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1859">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859">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8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150938" y="214313"/>
            <a:ext cx="7092950" cy="1462087"/>
          </a:xfrm>
        </p:spPr>
        <p:txBody>
          <a:bodyPr/>
          <a:lstStyle/>
          <a:p>
            <a:pPr algn="ctr" eaLnBrk="1" hangingPunct="1"/>
            <a:r>
              <a:rPr lang="zh-CN" altLang="en-US" smtClean="0">
                <a:latin typeface="黑体" pitchFamily="49" charset="-122"/>
              </a:rPr>
              <a:t>各种电缆</a:t>
            </a:r>
          </a:p>
        </p:txBody>
      </p:sp>
      <p:pic>
        <p:nvPicPr>
          <p:cNvPr id="19459" name="Picture 20" descr="223b"/>
          <p:cNvPicPr>
            <a:picLocks noChangeAspect="1" noChangeArrowheads="1"/>
          </p:cNvPicPr>
          <p:nvPr/>
        </p:nvPicPr>
        <p:blipFill>
          <a:blip r:embed="rId3">
            <a:extLst>
              <a:ext uri="{28A0092B-C50C-407E-A947-70E740481C1C}">
                <a14:useLocalDpi xmlns:a14="http://schemas.microsoft.com/office/drawing/2010/main" val="0"/>
              </a:ext>
            </a:extLst>
          </a:blip>
          <a:srcRect t="24692" b="39763"/>
          <a:stretch>
            <a:fillRect/>
          </a:stretch>
        </p:blipFill>
        <p:spPr bwMode="auto">
          <a:xfrm>
            <a:off x="765175" y="2420938"/>
            <a:ext cx="37115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21" descr="223"/>
          <p:cNvPicPr>
            <a:picLocks noChangeAspect="1" noChangeArrowheads="1"/>
          </p:cNvPicPr>
          <p:nvPr/>
        </p:nvPicPr>
        <p:blipFill>
          <a:blip r:embed="rId4">
            <a:extLst>
              <a:ext uri="{28A0092B-C50C-407E-A947-70E740481C1C}">
                <a14:useLocalDpi xmlns:a14="http://schemas.microsoft.com/office/drawing/2010/main" val="0"/>
              </a:ext>
            </a:extLst>
          </a:blip>
          <a:srcRect t="17610" b="41142"/>
          <a:stretch>
            <a:fillRect/>
          </a:stretch>
        </p:blipFill>
        <p:spPr bwMode="auto">
          <a:xfrm>
            <a:off x="4843463" y="2444750"/>
            <a:ext cx="3465512"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Text Box 22"/>
          <p:cNvSpPr txBox="1">
            <a:spLocks noChangeArrowheads="1"/>
          </p:cNvSpPr>
          <p:nvPr/>
        </p:nvSpPr>
        <p:spPr bwMode="auto">
          <a:xfrm>
            <a:off x="3686175" y="3228975"/>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黑体" pitchFamily="49" charset="-122"/>
                <a:ea typeface="黑体" pitchFamily="49" charset="-122"/>
              </a:rPr>
              <a:t>铜线</a:t>
            </a:r>
          </a:p>
        </p:txBody>
      </p:sp>
      <p:sp>
        <p:nvSpPr>
          <p:cNvPr id="19462" name="Text Box 23"/>
          <p:cNvSpPr txBox="1">
            <a:spLocks noChangeArrowheads="1"/>
          </p:cNvSpPr>
          <p:nvPr/>
        </p:nvSpPr>
        <p:spPr bwMode="auto">
          <a:xfrm>
            <a:off x="7624763" y="3317875"/>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黑体" pitchFamily="49" charset="-122"/>
                <a:ea typeface="黑体" pitchFamily="49" charset="-122"/>
              </a:rPr>
              <a:t>铜线</a:t>
            </a:r>
          </a:p>
        </p:txBody>
      </p:sp>
      <p:sp>
        <p:nvSpPr>
          <p:cNvPr id="19463" name="Text Box 24"/>
          <p:cNvSpPr txBox="1">
            <a:spLocks noChangeArrowheads="1"/>
          </p:cNvSpPr>
          <p:nvPr/>
        </p:nvSpPr>
        <p:spPr bwMode="auto">
          <a:xfrm>
            <a:off x="917575" y="3289300"/>
            <a:ext cx="1306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lnSpc>
                <a:spcPct val="90000"/>
              </a:lnSpc>
            </a:pPr>
            <a:r>
              <a:rPr kumimoji="1" lang="zh-CN" altLang="en-US" sz="2000">
                <a:solidFill>
                  <a:srgbClr val="333399"/>
                </a:solidFill>
                <a:latin typeface="黑体" pitchFamily="49" charset="-122"/>
                <a:ea typeface="黑体" pitchFamily="49" charset="-122"/>
              </a:rPr>
              <a:t>聚氯乙烯 套层</a:t>
            </a:r>
          </a:p>
        </p:txBody>
      </p:sp>
      <p:sp>
        <p:nvSpPr>
          <p:cNvPr id="19464" name="Text Box 25"/>
          <p:cNvSpPr txBox="1">
            <a:spLocks noChangeArrowheads="1"/>
          </p:cNvSpPr>
          <p:nvPr/>
        </p:nvSpPr>
        <p:spPr bwMode="auto">
          <a:xfrm>
            <a:off x="4745038" y="3303588"/>
            <a:ext cx="14335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聚氯乙烯</a:t>
            </a:r>
          </a:p>
          <a:p>
            <a:pPr eaLnBrk="1" hangingPunct="1"/>
            <a:r>
              <a:rPr kumimoji="1" lang="zh-CN" altLang="en-US" sz="2000">
                <a:solidFill>
                  <a:srgbClr val="333399"/>
                </a:solidFill>
                <a:latin typeface="黑体" pitchFamily="49" charset="-122"/>
                <a:ea typeface="黑体" pitchFamily="49" charset="-122"/>
              </a:rPr>
              <a:t>套层</a:t>
            </a:r>
          </a:p>
        </p:txBody>
      </p:sp>
      <p:sp>
        <p:nvSpPr>
          <p:cNvPr id="19465" name="Text Box 26"/>
          <p:cNvSpPr txBox="1">
            <a:spLocks noChangeArrowheads="1"/>
          </p:cNvSpPr>
          <p:nvPr/>
        </p:nvSpPr>
        <p:spPr bwMode="auto">
          <a:xfrm>
            <a:off x="6075363" y="3248025"/>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黑体" pitchFamily="49" charset="-122"/>
                <a:ea typeface="黑体" pitchFamily="49" charset="-122"/>
              </a:rPr>
              <a:t>屏蔽层</a:t>
            </a:r>
          </a:p>
        </p:txBody>
      </p:sp>
      <p:sp>
        <p:nvSpPr>
          <p:cNvPr id="19466" name="Text Box 27"/>
          <p:cNvSpPr txBox="1">
            <a:spLocks noChangeArrowheads="1"/>
          </p:cNvSpPr>
          <p:nvPr/>
        </p:nvSpPr>
        <p:spPr bwMode="auto">
          <a:xfrm>
            <a:off x="2503488" y="32258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黑体" pitchFamily="49" charset="-122"/>
                <a:ea typeface="黑体" pitchFamily="49" charset="-122"/>
              </a:rPr>
              <a:t>绝缘层</a:t>
            </a:r>
          </a:p>
        </p:txBody>
      </p:sp>
      <p:sp>
        <p:nvSpPr>
          <p:cNvPr id="19467" name="Text Box 28"/>
          <p:cNvSpPr txBox="1">
            <a:spLocks noChangeArrowheads="1"/>
          </p:cNvSpPr>
          <p:nvPr/>
        </p:nvSpPr>
        <p:spPr bwMode="auto">
          <a:xfrm>
            <a:off x="6784975" y="3497263"/>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黑体" pitchFamily="49" charset="-122"/>
                <a:ea typeface="黑体" pitchFamily="49" charset="-122"/>
              </a:rPr>
              <a:t>绝缘层</a:t>
            </a:r>
          </a:p>
        </p:txBody>
      </p:sp>
      <p:pic>
        <p:nvPicPr>
          <p:cNvPr id="19468" name="Picture 31" descr="222"/>
          <p:cNvPicPr>
            <a:picLocks noChangeAspect="1" noChangeArrowheads="1"/>
          </p:cNvPicPr>
          <p:nvPr/>
        </p:nvPicPr>
        <p:blipFill>
          <a:blip r:embed="rId5">
            <a:extLst>
              <a:ext uri="{28A0092B-C50C-407E-A947-70E740481C1C}">
                <a14:useLocalDpi xmlns:a14="http://schemas.microsoft.com/office/drawing/2010/main" val="0"/>
              </a:ext>
            </a:extLst>
          </a:blip>
          <a:srcRect t="37741" r="21053" b="25261"/>
          <a:stretch>
            <a:fillRect/>
          </a:stretch>
        </p:blipFill>
        <p:spPr bwMode="auto">
          <a:xfrm>
            <a:off x="2052638" y="5006975"/>
            <a:ext cx="422592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9" name="Text Box 33"/>
          <p:cNvSpPr txBox="1">
            <a:spLocks noChangeArrowheads="1"/>
          </p:cNvSpPr>
          <p:nvPr/>
        </p:nvSpPr>
        <p:spPr bwMode="auto">
          <a:xfrm>
            <a:off x="4029075" y="4689475"/>
            <a:ext cx="1839913" cy="396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黑体" pitchFamily="49" charset="-122"/>
                <a:ea typeface="黑体" pitchFamily="49" charset="-122"/>
              </a:rPr>
              <a:t>外导体屏蔽层</a:t>
            </a:r>
          </a:p>
        </p:txBody>
      </p:sp>
      <p:sp>
        <p:nvSpPr>
          <p:cNvPr id="19470" name="Text Box 34"/>
          <p:cNvSpPr txBox="1">
            <a:spLocks noChangeArrowheads="1"/>
          </p:cNvSpPr>
          <p:nvPr/>
        </p:nvSpPr>
        <p:spPr bwMode="auto">
          <a:xfrm>
            <a:off x="5984875" y="4654550"/>
            <a:ext cx="963613" cy="3968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黑体" pitchFamily="49" charset="-122"/>
                <a:ea typeface="黑体" pitchFamily="49" charset="-122"/>
              </a:rPr>
              <a:t>绝缘层</a:t>
            </a:r>
          </a:p>
        </p:txBody>
      </p:sp>
      <p:sp>
        <p:nvSpPr>
          <p:cNvPr id="19471" name="Text Box 35"/>
          <p:cNvSpPr txBox="1">
            <a:spLocks noChangeArrowheads="1"/>
          </p:cNvSpPr>
          <p:nvPr/>
        </p:nvSpPr>
        <p:spPr bwMode="auto">
          <a:xfrm>
            <a:off x="2197100" y="4687888"/>
            <a:ext cx="1911350" cy="396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黑体" pitchFamily="49" charset="-122"/>
                <a:ea typeface="黑体" pitchFamily="49" charset="-122"/>
              </a:rPr>
              <a:t>绝缘保护套层</a:t>
            </a:r>
          </a:p>
        </p:txBody>
      </p:sp>
      <p:sp>
        <p:nvSpPr>
          <p:cNvPr id="19472" name="Rectangle 36"/>
          <p:cNvSpPr>
            <a:spLocks noChangeArrowheads="1"/>
          </p:cNvSpPr>
          <p:nvPr/>
        </p:nvSpPr>
        <p:spPr bwMode="auto">
          <a:xfrm>
            <a:off x="5908675" y="5627688"/>
            <a:ext cx="517525" cy="2762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3" name="Text Box 32"/>
          <p:cNvSpPr txBox="1">
            <a:spLocks noChangeArrowheads="1"/>
          </p:cNvSpPr>
          <p:nvPr/>
        </p:nvSpPr>
        <p:spPr bwMode="auto">
          <a:xfrm>
            <a:off x="6192838" y="5302250"/>
            <a:ext cx="111601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黑体" pitchFamily="49" charset="-122"/>
                <a:ea typeface="黑体" pitchFamily="49" charset="-122"/>
              </a:rPr>
              <a:t>内导体</a:t>
            </a:r>
          </a:p>
        </p:txBody>
      </p:sp>
      <p:sp>
        <p:nvSpPr>
          <p:cNvPr id="19474" name="Text Box 37"/>
          <p:cNvSpPr txBox="1">
            <a:spLocks noChangeArrowheads="1"/>
          </p:cNvSpPr>
          <p:nvPr/>
        </p:nvSpPr>
        <p:spPr bwMode="auto">
          <a:xfrm>
            <a:off x="1084263" y="1884363"/>
            <a:ext cx="3127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zh-CN" altLang="en-US" sz="2800">
                <a:solidFill>
                  <a:srgbClr val="333399"/>
                </a:solidFill>
                <a:latin typeface="Arial" pitchFamily="34" charset="0"/>
                <a:ea typeface="黑体" pitchFamily="49" charset="-122"/>
              </a:rPr>
              <a:t>无屏蔽双绞线 </a:t>
            </a:r>
            <a:r>
              <a:rPr lang="en-US" altLang="zh-CN" sz="2800">
                <a:solidFill>
                  <a:srgbClr val="333399"/>
                </a:solidFill>
                <a:latin typeface="Arial" pitchFamily="34" charset="0"/>
                <a:ea typeface="黑体" pitchFamily="49" charset="-122"/>
              </a:rPr>
              <a:t>UTP</a:t>
            </a:r>
          </a:p>
        </p:txBody>
      </p:sp>
      <p:sp>
        <p:nvSpPr>
          <p:cNvPr id="19475" name="Text Box 38"/>
          <p:cNvSpPr txBox="1">
            <a:spLocks noChangeArrowheads="1"/>
          </p:cNvSpPr>
          <p:nvPr/>
        </p:nvSpPr>
        <p:spPr bwMode="auto">
          <a:xfrm>
            <a:off x="5040313" y="1916113"/>
            <a:ext cx="27511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zh-CN" altLang="en-US" sz="2800">
                <a:solidFill>
                  <a:srgbClr val="333399"/>
                </a:solidFill>
                <a:latin typeface="Arial" pitchFamily="34" charset="0"/>
                <a:ea typeface="黑体" pitchFamily="49" charset="-122"/>
              </a:rPr>
              <a:t>屏蔽双绞线 </a:t>
            </a:r>
            <a:r>
              <a:rPr lang="en-US" altLang="zh-CN" sz="2800">
                <a:solidFill>
                  <a:srgbClr val="333399"/>
                </a:solidFill>
                <a:latin typeface="Arial" pitchFamily="34" charset="0"/>
                <a:ea typeface="黑体" pitchFamily="49" charset="-122"/>
              </a:rPr>
              <a:t>STP</a:t>
            </a:r>
          </a:p>
        </p:txBody>
      </p:sp>
      <p:sp>
        <p:nvSpPr>
          <p:cNvPr id="19476" name="Text Box 39"/>
          <p:cNvSpPr txBox="1">
            <a:spLocks noChangeArrowheads="1"/>
          </p:cNvSpPr>
          <p:nvPr/>
        </p:nvSpPr>
        <p:spPr bwMode="auto">
          <a:xfrm>
            <a:off x="3470275" y="4113213"/>
            <a:ext cx="1606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zh-CN" altLang="en-US" sz="2800">
                <a:solidFill>
                  <a:srgbClr val="333399"/>
                </a:solidFill>
                <a:latin typeface="Arial" pitchFamily="34" charset="0"/>
                <a:ea typeface="黑体" pitchFamily="49" charset="-122"/>
              </a:rPr>
              <a:t>同轴电缆</a:t>
            </a:r>
          </a:p>
        </p:txBody>
      </p:sp>
      <p:sp>
        <p:nvSpPr>
          <p:cNvPr id="19477" name="Line 40"/>
          <p:cNvSpPr>
            <a:spLocks noChangeShapeType="1"/>
          </p:cNvSpPr>
          <p:nvPr/>
        </p:nvSpPr>
        <p:spPr bwMode="auto">
          <a:xfrm>
            <a:off x="7092950" y="2997200"/>
            <a:ext cx="46038" cy="5651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8" name="Line 41"/>
          <p:cNvSpPr>
            <a:spLocks noChangeShapeType="1"/>
          </p:cNvSpPr>
          <p:nvPr/>
        </p:nvSpPr>
        <p:spPr bwMode="auto">
          <a:xfrm>
            <a:off x="7680325" y="3041650"/>
            <a:ext cx="107950" cy="3175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9" name="Line 42"/>
          <p:cNvSpPr>
            <a:spLocks noChangeShapeType="1"/>
          </p:cNvSpPr>
          <p:nvPr/>
        </p:nvSpPr>
        <p:spPr bwMode="auto">
          <a:xfrm flipH="1">
            <a:off x="6508750" y="3038475"/>
            <a:ext cx="15875" cy="2794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0" name="Line 43"/>
          <p:cNvSpPr>
            <a:spLocks noChangeShapeType="1"/>
          </p:cNvSpPr>
          <p:nvPr/>
        </p:nvSpPr>
        <p:spPr bwMode="auto">
          <a:xfrm flipH="1">
            <a:off x="5426075" y="3082925"/>
            <a:ext cx="123825" cy="3190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1" name="Line 44"/>
          <p:cNvSpPr>
            <a:spLocks noChangeShapeType="1"/>
          </p:cNvSpPr>
          <p:nvPr/>
        </p:nvSpPr>
        <p:spPr bwMode="auto">
          <a:xfrm>
            <a:off x="2852738" y="2995613"/>
            <a:ext cx="46037" cy="3190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2" name="Line 45"/>
          <p:cNvSpPr>
            <a:spLocks noChangeShapeType="1"/>
          </p:cNvSpPr>
          <p:nvPr/>
        </p:nvSpPr>
        <p:spPr bwMode="auto">
          <a:xfrm>
            <a:off x="3840163" y="3036888"/>
            <a:ext cx="88900" cy="2460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3" name="Line 46"/>
          <p:cNvSpPr>
            <a:spLocks noChangeShapeType="1"/>
          </p:cNvSpPr>
          <p:nvPr/>
        </p:nvSpPr>
        <p:spPr bwMode="auto">
          <a:xfrm flipH="1">
            <a:off x="4689475" y="5084763"/>
            <a:ext cx="26988" cy="26193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4" name="Line 47"/>
          <p:cNvSpPr>
            <a:spLocks noChangeShapeType="1"/>
          </p:cNvSpPr>
          <p:nvPr/>
        </p:nvSpPr>
        <p:spPr bwMode="auto">
          <a:xfrm flipH="1">
            <a:off x="5380038" y="5013325"/>
            <a:ext cx="709612" cy="3762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5" name="Line 48"/>
          <p:cNvSpPr>
            <a:spLocks noChangeShapeType="1"/>
          </p:cNvSpPr>
          <p:nvPr/>
        </p:nvSpPr>
        <p:spPr bwMode="auto">
          <a:xfrm>
            <a:off x="3087688" y="5043488"/>
            <a:ext cx="22225" cy="1285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6" name="Line 49"/>
          <p:cNvSpPr>
            <a:spLocks noChangeShapeType="1"/>
          </p:cNvSpPr>
          <p:nvPr/>
        </p:nvSpPr>
        <p:spPr bwMode="auto">
          <a:xfrm flipH="1">
            <a:off x="1530350" y="3111500"/>
            <a:ext cx="7938" cy="1873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lgn="ctr" eaLnBrk="1" hangingPunct="1"/>
            <a:r>
              <a:rPr lang="zh-CN" altLang="en-US" smtClean="0"/>
              <a:t>光线在光纤中的折射 </a:t>
            </a:r>
          </a:p>
        </p:txBody>
      </p:sp>
      <p:sp>
        <p:nvSpPr>
          <p:cNvPr id="20483" name="Arc 84"/>
          <p:cNvSpPr>
            <a:spLocks/>
          </p:cNvSpPr>
          <p:nvPr/>
        </p:nvSpPr>
        <p:spPr bwMode="auto">
          <a:xfrm rot="9720000">
            <a:off x="2987675" y="4030663"/>
            <a:ext cx="96838" cy="79375"/>
          </a:xfrm>
          <a:custGeom>
            <a:avLst/>
            <a:gdLst>
              <a:gd name="T0" fmla="*/ 0 w 21600"/>
              <a:gd name="T1" fmla="*/ 0 h 21600"/>
              <a:gd name="T2" fmla="*/ 39121364 w 21600"/>
              <a:gd name="T3" fmla="*/ 14474520 h 21600"/>
              <a:gd name="T4" fmla="*/ 0 w 21600"/>
              <a:gd name="T5" fmla="*/ 1447452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484" name="Group 85"/>
          <p:cNvGrpSpPr>
            <a:grpSpLocks/>
          </p:cNvGrpSpPr>
          <p:nvPr/>
        </p:nvGrpSpPr>
        <p:grpSpPr bwMode="auto">
          <a:xfrm>
            <a:off x="2511425" y="3211513"/>
            <a:ext cx="2944813" cy="488950"/>
            <a:chOff x="292" y="1032"/>
            <a:chExt cx="1732" cy="216"/>
          </a:xfrm>
        </p:grpSpPr>
        <p:grpSp>
          <p:nvGrpSpPr>
            <p:cNvPr id="20521" name="Group 86"/>
            <p:cNvGrpSpPr>
              <a:grpSpLocks/>
            </p:cNvGrpSpPr>
            <p:nvPr/>
          </p:nvGrpSpPr>
          <p:grpSpPr bwMode="auto">
            <a:xfrm>
              <a:off x="292" y="1032"/>
              <a:ext cx="1732" cy="216"/>
              <a:chOff x="292" y="1032"/>
              <a:chExt cx="1732" cy="216"/>
            </a:xfrm>
          </p:grpSpPr>
          <p:sp>
            <p:nvSpPr>
              <p:cNvPr id="20523" name="Line 87"/>
              <p:cNvSpPr>
                <a:spLocks noChangeShapeType="1"/>
              </p:cNvSpPr>
              <p:nvPr/>
            </p:nvSpPr>
            <p:spPr bwMode="auto">
              <a:xfrm>
                <a:off x="292" y="1032"/>
                <a:ext cx="17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4" name="Line 88"/>
              <p:cNvSpPr>
                <a:spLocks noChangeShapeType="1"/>
              </p:cNvSpPr>
              <p:nvPr/>
            </p:nvSpPr>
            <p:spPr bwMode="auto">
              <a:xfrm>
                <a:off x="292" y="1248"/>
                <a:ext cx="17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22" name="Rectangle 89"/>
            <p:cNvSpPr>
              <a:spLocks noChangeArrowheads="1"/>
            </p:cNvSpPr>
            <p:nvPr/>
          </p:nvSpPr>
          <p:spPr bwMode="auto">
            <a:xfrm>
              <a:off x="296" y="1041"/>
              <a:ext cx="1716" cy="198"/>
            </a:xfrm>
            <a:prstGeom prst="rect">
              <a:avLst/>
            </a:prstGeom>
            <a:solidFill>
              <a:srgbClr val="66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485" name="Group 90"/>
          <p:cNvGrpSpPr>
            <a:grpSpLocks/>
          </p:cNvGrpSpPr>
          <p:nvPr/>
        </p:nvGrpSpPr>
        <p:grpSpPr bwMode="auto">
          <a:xfrm>
            <a:off x="2498725" y="4633913"/>
            <a:ext cx="2924175" cy="436562"/>
            <a:chOff x="284" y="1656"/>
            <a:chExt cx="1720" cy="192"/>
          </a:xfrm>
        </p:grpSpPr>
        <p:grpSp>
          <p:nvGrpSpPr>
            <p:cNvPr id="20517" name="Group 91"/>
            <p:cNvGrpSpPr>
              <a:grpSpLocks/>
            </p:cNvGrpSpPr>
            <p:nvPr/>
          </p:nvGrpSpPr>
          <p:grpSpPr bwMode="auto">
            <a:xfrm>
              <a:off x="284" y="1656"/>
              <a:ext cx="1720" cy="192"/>
              <a:chOff x="284" y="1656"/>
              <a:chExt cx="1720" cy="192"/>
            </a:xfrm>
          </p:grpSpPr>
          <p:sp>
            <p:nvSpPr>
              <p:cNvPr id="20519" name="Line 92"/>
              <p:cNvSpPr>
                <a:spLocks noChangeShapeType="1"/>
              </p:cNvSpPr>
              <p:nvPr/>
            </p:nvSpPr>
            <p:spPr bwMode="auto">
              <a:xfrm>
                <a:off x="284" y="1656"/>
                <a:ext cx="1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0" name="Line 93"/>
              <p:cNvSpPr>
                <a:spLocks noChangeShapeType="1"/>
              </p:cNvSpPr>
              <p:nvPr/>
            </p:nvSpPr>
            <p:spPr bwMode="auto">
              <a:xfrm>
                <a:off x="284" y="1848"/>
                <a:ext cx="1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18" name="Rectangle 94"/>
            <p:cNvSpPr>
              <a:spLocks noChangeArrowheads="1"/>
            </p:cNvSpPr>
            <p:nvPr/>
          </p:nvSpPr>
          <p:spPr bwMode="auto">
            <a:xfrm>
              <a:off x="288" y="1664"/>
              <a:ext cx="1704" cy="176"/>
            </a:xfrm>
            <a:prstGeom prst="rect">
              <a:avLst/>
            </a:prstGeom>
            <a:solidFill>
              <a:srgbClr val="66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486" name="Line 95"/>
          <p:cNvSpPr>
            <a:spLocks noChangeShapeType="1"/>
          </p:cNvSpPr>
          <p:nvPr/>
        </p:nvSpPr>
        <p:spPr bwMode="auto">
          <a:xfrm>
            <a:off x="3103563" y="2682875"/>
            <a:ext cx="0" cy="1931988"/>
          </a:xfrm>
          <a:prstGeom prst="line">
            <a:avLst/>
          </a:prstGeom>
          <a:noFill/>
          <a:ln w="12700">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7" name="Line 96"/>
          <p:cNvSpPr>
            <a:spLocks noChangeShapeType="1"/>
          </p:cNvSpPr>
          <p:nvPr/>
        </p:nvSpPr>
        <p:spPr bwMode="auto">
          <a:xfrm flipV="1">
            <a:off x="3109913" y="3348038"/>
            <a:ext cx="395287" cy="365125"/>
          </a:xfrm>
          <a:prstGeom prst="line">
            <a:avLst/>
          </a:prstGeom>
          <a:noFill/>
          <a:ln w="57150">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8" name="Line 97"/>
          <p:cNvSpPr>
            <a:spLocks noChangeShapeType="1"/>
          </p:cNvSpPr>
          <p:nvPr/>
        </p:nvSpPr>
        <p:spPr bwMode="auto">
          <a:xfrm flipV="1">
            <a:off x="2811463" y="3703638"/>
            <a:ext cx="292100" cy="749300"/>
          </a:xfrm>
          <a:prstGeom prst="line">
            <a:avLst/>
          </a:prstGeom>
          <a:noFill/>
          <a:ln w="57150">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9" name="Arc 98"/>
          <p:cNvSpPr>
            <a:spLocks/>
          </p:cNvSpPr>
          <p:nvPr/>
        </p:nvSpPr>
        <p:spPr bwMode="auto">
          <a:xfrm>
            <a:off x="3106738" y="3452813"/>
            <a:ext cx="142875" cy="123825"/>
          </a:xfrm>
          <a:custGeom>
            <a:avLst/>
            <a:gdLst>
              <a:gd name="T0" fmla="*/ 0 w 21600"/>
              <a:gd name="T1" fmla="*/ 0 h 21600"/>
              <a:gd name="T2" fmla="*/ 273505732 w 21600"/>
              <a:gd name="T3" fmla="*/ 133729320 h 21600"/>
              <a:gd name="T4" fmla="*/ 0 w 21600"/>
              <a:gd name="T5" fmla="*/ 13372932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0" name="Line 99"/>
          <p:cNvSpPr>
            <a:spLocks noChangeShapeType="1"/>
          </p:cNvSpPr>
          <p:nvPr/>
        </p:nvSpPr>
        <p:spPr bwMode="auto">
          <a:xfrm>
            <a:off x="4422775" y="2701925"/>
            <a:ext cx="0" cy="1931988"/>
          </a:xfrm>
          <a:prstGeom prst="line">
            <a:avLst/>
          </a:prstGeom>
          <a:noFill/>
          <a:ln w="12700">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1" name="Line 100"/>
          <p:cNvSpPr>
            <a:spLocks noChangeShapeType="1"/>
          </p:cNvSpPr>
          <p:nvPr/>
        </p:nvSpPr>
        <p:spPr bwMode="auto">
          <a:xfrm flipV="1">
            <a:off x="3654425" y="3703638"/>
            <a:ext cx="779463" cy="346075"/>
          </a:xfrm>
          <a:prstGeom prst="line">
            <a:avLst/>
          </a:prstGeom>
          <a:noFill/>
          <a:ln w="57150">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2" name="Line 101"/>
          <p:cNvSpPr>
            <a:spLocks noChangeShapeType="1"/>
          </p:cNvSpPr>
          <p:nvPr/>
        </p:nvSpPr>
        <p:spPr bwMode="auto">
          <a:xfrm>
            <a:off x="4429125" y="3703638"/>
            <a:ext cx="892175" cy="355600"/>
          </a:xfrm>
          <a:prstGeom prst="line">
            <a:avLst/>
          </a:prstGeom>
          <a:noFill/>
          <a:ln w="57150">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3" name="Arc 102"/>
          <p:cNvSpPr>
            <a:spLocks/>
          </p:cNvSpPr>
          <p:nvPr/>
        </p:nvSpPr>
        <p:spPr bwMode="auto">
          <a:xfrm rot="9840000">
            <a:off x="4144963" y="3806825"/>
            <a:ext cx="236537" cy="328613"/>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ap="rnd">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4" name="Freeform 103"/>
          <p:cNvSpPr>
            <a:spLocks/>
          </p:cNvSpPr>
          <p:nvPr/>
        </p:nvSpPr>
        <p:spPr bwMode="auto">
          <a:xfrm>
            <a:off x="2382838" y="3252788"/>
            <a:ext cx="153987" cy="1820862"/>
          </a:xfrm>
          <a:custGeom>
            <a:avLst/>
            <a:gdLst>
              <a:gd name="T0" fmla="*/ 2147483647 w 91"/>
              <a:gd name="T1" fmla="*/ 0 h 799"/>
              <a:gd name="T2" fmla="*/ 2147483647 w 91"/>
              <a:gd name="T3" fmla="*/ 2147483647 h 799"/>
              <a:gd name="T4" fmla="*/ 2147483647 w 91"/>
              <a:gd name="T5" fmla="*/ 2147483647 h 799"/>
              <a:gd name="T6" fmla="*/ 2147483647 w 91"/>
              <a:gd name="T7" fmla="*/ 2147483647 h 799"/>
              <a:gd name="T8" fmla="*/ 2147483647 w 91"/>
              <a:gd name="T9" fmla="*/ 2147483647 h 799"/>
              <a:gd name="T10" fmla="*/ 2147483647 w 91"/>
              <a:gd name="T11" fmla="*/ 2147483647 h 799"/>
              <a:gd name="T12" fmla="*/ 2147483647 w 91"/>
              <a:gd name="T13" fmla="*/ 2147483647 h 799"/>
              <a:gd name="T14" fmla="*/ 2147483647 w 91"/>
              <a:gd name="T15" fmla="*/ 2147483647 h 799"/>
              <a:gd name="T16" fmla="*/ 2147483647 w 91"/>
              <a:gd name="T17" fmla="*/ 2147483647 h 799"/>
              <a:gd name="T18" fmla="*/ 2147483647 w 91"/>
              <a:gd name="T19" fmla="*/ 2147483647 h 799"/>
              <a:gd name="T20" fmla="*/ 2147483647 w 91"/>
              <a:gd name="T21" fmla="*/ 2147483647 h 799"/>
              <a:gd name="T22" fmla="*/ 2147483647 w 91"/>
              <a:gd name="T23" fmla="*/ 2147483647 h 799"/>
              <a:gd name="T24" fmla="*/ 2147483647 w 91"/>
              <a:gd name="T25" fmla="*/ 2147483647 h 799"/>
              <a:gd name="T26" fmla="*/ 2147483647 w 91"/>
              <a:gd name="T27" fmla="*/ 2147483647 h 799"/>
              <a:gd name="T28" fmla="*/ 2147483647 w 91"/>
              <a:gd name="T29" fmla="*/ 2147483647 h 799"/>
              <a:gd name="T30" fmla="*/ 2147483647 w 91"/>
              <a:gd name="T31" fmla="*/ 2147483647 h 799"/>
              <a:gd name="T32" fmla="*/ 2147483647 w 91"/>
              <a:gd name="T33" fmla="*/ 2147483647 h 799"/>
              <a:gd name="T34" fmla="*/ 2147483647 w 91"/>
              <a:gd name="T35" fmla="*/ 2147483647 h 799"/>
              <a:gd name="T36" fmla="*/ 2147483647 w 91"/>
              <a:gd name="T37" fmla="*/ 2147483647 h 799"/>
              <a:gd name="T38" fmla="*/ 2147483647 w 91"/>
              <a:gd name="T39" fmla="*/ 2147483647 h 799"/>
              <a:gd name="T40" fmla="*/ 2147483647 w 91"/>
              <a:gd name="T41" fmla="*/ 2147483647 h 799"/>
              <a:gd name="T42" fmla="*/ 0 w 91"/>
              <a:gd name="T43" fmla="*/ 2147483647 h 799"/>
              <a:gd name="T44" fmla="*/ 0 w 91"/>
              <a:gd name="T45" fmla="*/ 2147483647 h 799"/>
              <a:gd name="T46" fmla="*/ 0 w 91"/>
              <a:gd name="T47" fmla="*/ 2147483647 h 799"/>
              <a:gd name="T48" fmla="*/ 0 w 91"/>
              <a:gd name="T49" fmla="*/ 2147483647 h 799"/>
              <a:gd name="T50" fmla="*/ 0 w 91"/>
              <a:gd name="T51" fmla="*/ 2147483647 h 799"/>
              <a:gd name="T52" fmla="*/ 0 w 91"/>
              <a:gd name="T53" fmla="*/ 2147483647 h 799"/>
              <a:gd name="T54" fmla="*/ 2147483647 w 91"/>
              <a:gd name="T55" fmla="*/ 2147483647 h 799"/>
              <a:gd name="T56" fmla="*/ 2147483647 w 91"/>
              <a:gd name="T57" fmla="*/ 2147483647 h 799"/>
              <a:gd name="T58" fmla="*/ 2147483647 w 91"/>
              <a:gd name="T59" fmla="*/ 2147483647 h 799"/>
              <a:gd name="T60" fmla="*/ 2147483647 w 91"/>
              <a:gd name="T61" fmla="*/ 2147483647 h 799"/>
              <a:gd name="T62" fmla="*/ 2147483647 w 91"/>
              <a:gd name="T63" fmla="*/ 2147483647 h 799"/>
              <a:gd name="T64" fmla="*/ 2147483647 w 91"/>
              <a:gd name="T65" fmla="*/ 2147483647 h 799"/>
              <a:gd name="T66" fmla="*/ 2147483647 w 91"/>
              <a:gd name="T67" fmla="*/ 2147483647 h 799"/>
              <a:gd name="T68" fmla="*/ 2147483647 w 91"/>
              <a:gd name="T69" fmla="*/ 2147483647 h 799"/>
              <a:gd name="T70" fmla="*/ 2147483647 w 91"/>
              <a:gd name="T71" fmla="*/ 2147483647 h 799"/>
              <a:gd name="T72" fmla="*/ 2147483647 w 91"/>
              <a:gd name="T73" fmla="*/ 2147483647 h 799"/>
              <a:gd name="T74" fmla="*/ 2147483647 w 91"/>
              <a:gd name="T75" fmla="*/ 2147483647 h 799"/>
              <a:gd name="T76" fmla="*/ 2147483647 w 91"/>
              <a:gd name="T77" fmla="*/ 2147483647 h 799"/>
              <a:gd name="T78" fmla="*/ 2147483647 w 91"/>
              <a:gd name="T79" fmla="*/ 2147483647 h 799"/>
              <a:gd name="T80" fmla="*/ 2147483647 w 91"/>
              <a:gd name="T81" fmla="*/ 2147483647 h 799"/>
              <a:gd name="T82" fmla="*/ 2147483647 w 91"/>
              <a:gd name="T83" fmla="*/ 2147483647 h 799"/>
              <a:gd name="T84" fmla="*/ 2147483647 w 91"/>
              <a:gd name="T85" fmla="*/ 2147483647 h 799"/>
              <a:gd name="T86" fmla="*/ 2147483647 w 91"/>
              <a:gd name="T87" fmla="*/ 2147483647 h 799"/>
              <a:gd name="T88" fmla="*/ 2147483647 w 91"/>
              <a:gd name="T89" fmla="*/ 2147483647 h 799"/>
              <a:gd name="T90" fmla="*/ 2147483647 w 91"/>
              <a:gd name="T91" fmla="*/ 2147483647 h 799"/>
              <a:gd name="T92" fmla="*/ 2147483647 w 91"/>
              <a:gd name="T93" fmla="*/ 2147483647 h 799"/>
              <a:gd name="T94" fmla="*/ 2147483647 w 91"/>
              <a:gd name="T95" fmla="*/ 2147483647 h 799"/>
              <a:gd name="T96" fmla="*/ 2147483647 w 91"/>
              <a:gd name="T97" fmla="*/ 2147483647 h 799"/>
              <a:gd name="T98" fmla="*/ 2147483647 w 91"/>
              <a:gd name="T99" fmla="*/ 2147483647 h 799"/>
              <a:gd name="T100" fmla="*/ 2147483647 w 91"/>
              <a:gd name="T101" fmla="*/ 2147483647 h 79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91" h="799">
                <a:moveTo>
                  <a:pt x="78" y="0"/>
                </a:moveTo>
                <a:lnTo>
                  <a:pt x="78" y="18"/>
                </a:lnTo>
                <a:lnTo>
                  <a:pt x="78" y="36"/>
                </a:lnTo>
                <a:lnTo>
                  <a:pt x="60" y="54"/>
                </a:lnTo>
                <a:lnTo>
                  <a:pt x="60" y="72"/>
                </a:lnTo>
                <a:lnTo>
                  <a:pt x="54" y="90"/>
                </a:lnTo>
                <a:lnTo>
                  <a:pt x="54" y="108"/>
                </a:lnTo>
                <a:lnTo>
                  <a:pt x="72" y="126"/>
                </a:lnTo>
                <a:lnTo>
                  <a:pt x="90" y="144"/>
                </a:lnTo>
                <a:lnTo>
                  <a:pt x="90" y="162"/>
                </a:lnTo>
                <a:lnTo>
                  <a:pt x="90" y="180"/>
                </a:lnTo>
                <a:lnTo>
                  <a:pt x="90" y="198"/>
                </a:lnTo>
                <a:lnTo>
                  <a:pt x="84" y="198"/>
                </a:lnTo>
                <a:lnTo>
                  <a:pt x="66" y="210"/>
                </a:lnTo>
                <a:lnTo>
                  <a:pt x="48" y="228"/>
                </a:lnTo>
                <a:lnTo>
                  <a:pt x="36" y="246"/>
                </a:lnTo>
                <a:lnTo>
                  <a:pt x="18" y="258"/>
                </a:lnTo>
                <a:lnTo>
                  <a:pt x="12" y="276"/>
                </a:lnTo>
                <a:lnTo>
                  <a:pt x="12" y="294"/>
                </a:lnTo>
                <a:lnTo>
                  <a:pt x="12" y="312"/>
                </a:lnTo>
                <a:lnTo>
                  <a:pt x="12" y="330"/>
                </a:lnTo>
                <a:lnTo>
                  <a:pt x="0" y="348"/>
                </a:lnTo>
                <a:lnTo>
                  <a:pt x="0" y="366"/>
                </a:lnTo>
                <a:lnTo>
                  <a:pt x="0" y="384"/>
                </a:lnTo>
                <a:lnTo>
                  <a:pt x="0" y="402"/>
                </a:lnTo>
                <a:lnTo>
                  <a:pt x="0" y="420"/>
                </a:lnTo>
                <a:lnTo>
                  <a:pt x="0" y="438"/>
                </a:lnTo>
                <a:lnTo>
                  <a:pt x="18" y="450"/>
                </a:lnTo>
                <a:lnTo>
                  <a:pt x="36" y="462"/>
                </a:lnTo>
                <a:lnTo>
                  <a:pt x="54" y="474"/>
                </a:lnTo>
                <a:lnTo>
                  <a:pt x="60" y="492"/>
                </a:lnTo>
                <a:lnTo>
                  <a:pt x="78" y="510"/>
                </a:lnTo>
                <a:lnTo>
                  <a:pt x="84" y="528"/>
                </a:lnTo>
                <a:lnTo>
                  <a:pt x="90" y="546"/>
                </a:lnTo>
                <a:lnTo>
                  <a:pt x="90" y="564"/>
                </a:lnTo>
                <a:lnTo>
                  <a:pt x="90" y="582"/>
                </a:lnTo>
                <a:lnTo>
                  <a:pt x="90" y="600"/>
                </a:lnTo>
                <a:lnTo>
                  <a:pt x="72" y="600"/>
                </a:lnTo>
                <a:lnTo>
                  <a:pt x="66" y="618"/>
                </a:lnTo>
                <a:lnTo>
                  <a:pt x="60" y="636"/>
                </a:lnTo>
                <a:lnTo>
                  <a:pt x="54" y="654"/>
                </a:lnTo>
                <a:lnTo>
                  <a:pt x="48" y="672"/>
                </a:lnTo>
                <a:lnTo>
                  <a:pt x="48" y="690"/>
                </a:lnTo>
                <a:lnTo>
                  <a:pt x="48" y="708"/>
                </a:lnTo>
                <a:lnTo>
                  <a:pt x="48" y="726"/>
                </a:lnTo>
                <a:lnTo>
                  <a:pt x="48" y="744"/>
                </a:lnTo>
                <a:lnTo>
                  <a:pt x="54" y="762"/>
                </a:lnTo>
                <a:lnTo>
                  <a:pt x="60" y="780"/>
                </a:lnTo>
                <a:lnTo>
                  <a:pt x="72" y="798"/>
                </a:lnTo>
                <a:lnTo>
                  <a:pt x="72" y="792"/>
                </a:lnTo>
                <a:lnTo>
                  <a:pt x="72" y="78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5" name="Rectangle 104"/>
          <p:cNvSpPr>
            <a:spLocks noChangeArrowheads="1"/>
          </p:cNvSpPr>
          <p:nvPr/>
        </p:nvSpPr>
        <p:spPr bwMode="auto">
          <a:xfrm>
            <a:off x="4051300" y="2236788"/>
            <a:ext cx="10953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a:solidFill>
                  <a:srgbClr val="333399"/>
                </a:solidFill>
                <a:latin typeface="Arial" pitchFamily="34" charset="0"/>
                <a:ea typeface="黑体" pitchFamily="49" charset="-122"/>
              </a:rPr>
              <a:t>折射角</a:t>
            </a:r>
          </a:p>
        </p:txBody>
      </p:sp>
      <p:sp>
        <p:nvSpPr>
          <p:cNvPr id="20496" name="Rectangle 105"/>
          <p:cNvSpPr>
            <a:spLocks noChangeArrowheads="1"/>
          </p:cNvSpPr>
          <p:nvPr/>
        </p:nvSpPr>
        <p:spPr bwMode="auto">
          <a:xfrm>
            <a:off x="3184525" y="4116388"/>
            <a:ext cx="109696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a:solidFill>
                  <a:srgbClr val="333399"/>
                </a:solidFill>
                <a:latin typeface="Arial" pitchFamily="34" charset="0"/>
                <a:ea typeface="黑体" pitchFamily="49" charset="-122"/>
              </a:rPr>
              <a:t>入射角</a:t>
            </a:r>
          </a:p>
        </p:txBody>
      </p:sp>
      <p:sp>
        <p:nvSpPr>
          <p:cNvPr id="20497" name="Line 106"/>
          <p:cNvSpPr>
            <a:spLocks noChangeShapeType="1"/>
          </p:cNvSpPr>
          <p:nvPr/>
        </p:nvSpPr>
        <p:spPr bwMode="auto">
          <a:xfrm>
            <a:off x="4511675" y="2755900"/>
            <a:ext cx="119063" cy="720725"/>
          </a:xfrm>
          <a:prstGeom prst="line">
            <a:avLst/>
          </a:prstGeom>
          <a:noFill/>
          <a:ln w="127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8" name="Line 107"/>
          <p:cNvSpPr>
            <a:spLocks noChangeShapeType="1"/>
          </p:cNvSpPr>
          <p:nvPr/>
        </p:nvSpPr>
        <p:spPr bwMode="auto">
          <a:xfrm flipV="1">
            <a:off x="3184525" y="2711450"/>
            <a:ext cx="1047750" cy="768350"/>
          </a:xfrm>
          <a:prstGeom prst="line">
            <a:avLst/>
          </a:prstGeom>
          <a:noFill/>
          <a:ln w="127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9" name="Line 108"/>
          <p:cNvSpPr>
            <a:spLocks noChangeShapeType="1"/>
          </p:cNvSpPr>
          <p:nvPr/>
        </p:nvSpPr>
        <p:spPr bwMode="auto">
          <a:xfrm>
            <a:off x="3022600" y="4105275"/>
            <a:ext cx="298450" cy="255588"/>
          </a:xfrm>
          <a:prstGeom prst="line">
            <a:avLst/>
          </a:prstGeom>
          <a:noFill/>
          <a:ln w="127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0" name="Line 109"/>
          <p:cNvSpPr>
            <a:spLocks noChangeShapeType="1"/>
          </p:cNvSpPr>
          <p:nvPr/>
        </p:nvSpPr>
        <p:spPr bwMode="auto">
          <a:xfrm flipV="1">
            <a:off x="3994150" y="4049713"/>
            <a:ext cx="249238" cy="319087"/>
          </a:xfrm>
          <a:prstGeom prst="line">
            <a:avLst/>
          </a:prstGeom>
          <a:noFill/>
          <a:ln w="127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1" name="Line 110"/>
          <p:cNvSpPr>
            <a:spLocks noChangeShapeType="1"/>
          </p:cNvSpPr>
          <p:nvPr/>
        </p:nvSpPr>
        <p:spPr bwMode="auto">
          <a:xfrm flipV="1">
            <a:off x="5365750" y="3813175"/>
            <a:ext cx="608013" cy="328613"/>
          </a:xfrm>
          <a:prstGeom prst="line">
            <a:avLst/>
          </a:prstGeom>
          <a:noFill/>
          <a:ln w="127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2" name="Line 111"/>
          <p:cNvSpPr>
            <a:spLocks noChangeShapeType="1"/>
          </p:cNvSpPr>
          <p:nvPr/>
        </p:nvSpPr>
        <p:spPr bwMode="auto">
          <a:xfrm flipH="1">
            <a:off x="5222875" y="2781300"/>
            <a:ext cx="501650" cy="708025"/>
          </a:xfrm>
          <a:prstGeom prst="line">
            <a:avLst/>
          </a:prstGeom>
          <a:noFill/>
          <a:ln w="127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3" name="Freeform 112"/>
          <p:cNvSpPr>
            <a:spLocks/>
          </p:cNvSpPr>
          <p:nvPr/>
        </p:nvSpPr>
        <p:spPr bwMode="auto">
          <a:xfrm>
            <a:off x="5443538" y="3225800"/>
            <a:ext cx="22225" cy="493713"/>
          </a:xfrm>
          <a:custGeom>
            <a:avLst/>
            <a:gdLst>
              <a:gd name="T0" fmla="*/ 0 w 13"/>
              <a:gd name="T1" fmla="*/ 0 h 217"/>
              <a:gd name="T2" fmla="*/ 2147483647 w 13"/>
              <a:gd name="T3" fmla="*/ 2147483647 h 217"/>
              <a:gd name="T4" fmla="*/ 2147483647 w 13"/>
              <a:gd name="T5" fmla="*/ 2147483647 h 217"/>
              <a:gd name="T6" fmla="*/ 2147483647 w 13"/>
              <a:gd name="T7" fmla="*/ 2147483647 h 217"/>
              <a:gd name="T8" fmla="*/ 2147483647 w 13"/>
              <a:gd name="T9" fmla="*/ 2147483647 h 217"/>
              <a:gd name="T10" fmla="*/ 2147483647 w 13"/>
              <a:gd name="T11" fmla="*/ 2147483647 h 217"/>
              <a:gd name="T12" fmla="*/ 0 w 13"/>
              <a:gd name="T13" fmla="*/ 2147483647 h 217"/>
              <a:gd name="T14" fmla="*/ 0 w 13"/>
              <a:gd name="T15" fmla="*/ 2147483647 h 217"/>
              <a:gd name="T16" fmla="*/ 0 w 13"/>
              <a:gd name="T17" fmla="*/ 2147483647 h 217"/>
              <a:gd name="T18" fmla="*/ 0 w 13"/>
              <a:gd name="T19" fmla="*/ 2147483647 h 217"/>
              <a:gd name="T20" fmla="*/ 0 w 13"/>
              <a:gd name="T21" fmla="*/ 2147483647 h 217"/>
              <a:gd name="T22" fmla="*/ 2147483647 w 13"/>
              <a:gd name="T23" fmla="*/ 2147483647 h 217"/>
              <a:gd name="T24" fmla="*/ 2147483647 w 13"/>
              <a:gd name="T25" fmla="*/ 2147483647 h 2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 h="217">
                <a:moveTo>
                  <a:pt x="0" y="0"/>
                </a:moveTo>
                <a:lnTo>
                  <a:pt x="6" y="18"/>
                </a:lnTo>
                <a:lnTo>
                  <a:pt x="6" y="36"/>
                </a:lnTo>
                <a:lnTo>
                  <a:pt x="6" y="54"/>
                </a:lnTo>
                <a:lnTo>
                  <a:pt x="6" y="72"/>
                </a:lnTo>
                <a:lnTo>
                  <a:pt x="6" y="90"/>
                </a:lnTo>
                <a:lnTo>
                  <a:pt x="0" y="108"/>
                </a:lnTo>
                <a:lnTo>
                  <a:pt x="0" y="126"/>
                </a:lnTo>
                <a:lnTo>
                  <a:pt x="0" y="144"/>
                </a:lnTo>
                <a:lnTo>
                  <a:pt x="0" y="162"/>
                </a:lnTo>
                <a:lnTo>
                  <a:pt x="0" y="180"/>
                </a:lnTo>
                <a:lnTo>
                  <a:pt x="6" y="198"/>
                </a:lnTo>
                <a:lnTo>
                  <a:pt x="12" y="21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4" name="Freeform 113"/>
          <p:cNvSpPr>
            <a:spLocks/>
          </p:cNvSpPr>
          <p:nvPr/>
        </p:nvSpPr>
        <p:spPr bwMode="auto">
          <a:xfrm>
            <a:off x="5413375" y="3703638"/>
            <a:ext cx="82550" cy="919162"/>
          </a:xfrm>
          <a:custGeom>
            <a:avLst/>
            <a:gdLst>
              <a:gd name="T0" fmla="*/ 2147483647 w 49"/>
              <a:gd name="T1" fmla="*/ 0 h 403"/>
              <a:gd name="T2" fmla="*/ 2147483647 w 49"/>
              <a:gd name="T3" fmla="*/ 2147483647 h 403"/>
              <a:gd name="T4" fmla="*/ 2147483647 w 49"/>
              <a:gd name="T5" fmla="*/ 2147483647 h 403"/>
              <a:gd name="T6" fmla="*/ 2147483647 w 49"/>
              <a:gd name="T7" fmla="*/ 2147483647 h 403"/>
              <a:gd name="T8" fmla="*/ 2147483647 w 49"/>
              <a:gd name="T9" fmla="*/ 2147483647 h 403"/>
              <a:gd name="T10" fmla="*/ 2147483647 w 49"/>
              <a:gd name="T11" fmla="*/ 2147483647 h 403"/>
              <a:gd name="T12" fmla="*/ 2147483647 w 49"/>
              <a:gd name="T13" fmla="*/ 2147483647 h 403"/>
              <a:gd name="T14" fmla="*/ 2147483647 w 49"/>
              <a:gd name="T15" fmla="*/ 2147483647 h 403"/>
              <a:gd name="T16" fmla="*/ 2147483647 w 49"/>
              <a:gd name="T17" fmla="*/ 2147483647 h 403"/>
              <a:gd name="T18" fmla="*/ 2147483647 w 49"/>
              <a:gd name="T19" fmla="*/ 2147483647 h 403"/>
              <a:gd name="T20" fmla="*/ 2147483647 w 49"/>
              <a:gd name="T21" fmla="*/ 2147483647 h 403"/>
              <a:gd name="T22" fmla="*/ 2147483647 w 49"/>
              <a:gd name="T23" fmla="*/ 2147483647 h 403"/>
              <a:gd name="T24" fmla="*/ 2147483647 w 49"/>
              <a:gd name="T25" fmla="*/ 2147483647 h 403"/>
              <a:gd name="T26" fmla="*/ 2147483647 w 49"/>
              <a:gd name="T27" fmla="*/ 2147483647 h 403"/>
              <a:gd name="T28" fmla="*/ 2147483647 w 49"/>
              <a:gd name="T29" fmla="*/ 2147483647 h 403"/>
              <a:gd name="T30" fmla="*/ 2147483647 w 49"/>
              <a:gd name="T31" fmla="*/ 2147483647 h 403"/>
              <a:gd name="T32" fmla="*/ 2147483647 w 49"/>
              <a:gd name="T33" fmla="*/ 2147483647 h 403"/>
              <a:gd name="T34" fmla="*/ 2147483647 w 49"/>
              <a:gd name="T35" fmla="*/ 2147483647 h 403"/>
              <a:gd name="T36" fmla="*/ 2147483647 w 49"/>
              <a:gd name="T37" fmla="*/ 2147483647 h 403"/>
              <a:gd name="T38" fmla="*/ 2147483647 w 49"/>
              <a:gd name="T39" fmla="*/ 2147483647 h 403"/>
              <a:gd name="T40" fmla="*/ 2147483647 w 49"/>
              <a:gd name="T41" fmla="*/ 2147483647 h 403"/>
              <a:gd name="T42" fmla="*/ 2147483647 w 49"/>
              <a:gd name="T43" fmla="*/ 2147483647 h 403"/>
              <a:gd name="T44" fmla="*/ 0 w 49"/>
              <a:gd name="T45" fmla="*/ 2147483647 h 403"/>
              <a:gd name="T46" fmla="*/ 0 w 49"/>
              <a:gd name="T47" fmla="*/ 2147483647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9" h="403">
                <a:moveTo>
                  <a:pt x="18" y="0"/>
                </a:moveTo>
                <a:lnTo>
                  <a:pt x="12" y="18"/>
                </a:lnTo>
                <a:lnTo>
                  <a:pt x="12" y="36"/>
                </a:lnTo>
                <a:lnTo>
                  <a:pt x="12" y="54"/>
                </a:lnTo>
                <a:lnTo>
                  <a:pt x="12" y="72"/>
                </a:lnTo>
                <a:lnTo>
                  <a:pt x="24" y="90"/>
                </a:lnTo>
                <a:lnTo>
                  <a:pt x="24" y="108"/>
                </a:lnTo>
                <a:lnTo>
                  <a:pt x="30" y="126"/>
                </a:lnTo>
                <a:lnTo>
                  <a:pt x="36" y="144"/>
                </a:lnTo>
                <a:lnTo>
                  <a:pt x="36" y="162"/>
                </a:lnTo>
                <a:lnTo>
                  <a:pt x="48" y="180"/>
                </a:lnTo>
                <a:lnTo>
                  <a:pt x="48" y="198"/>
                </a:lnTo>
                <a:lnTo>
                  <a:pt x="48" y="216"/>
                </a:lnTo>
                <a:lnTo>
                  <a:pt x="48" y="234"/>
                </a:lnTo>
                <a:lnTo>
                  <a:pt x="48" y="252"/>
                </a:lnTo>
                <a:lnTo>
                  <a:pt x="48" y="270"/>
                </a:lnTo>
                <a:lnTo>
                  <a:pt x="42" y="288"/>
                </a:lnTo>
                <a:lnTo>
                  <a:pt x="36" y="306"/>
                </a:lnTo>
                <a:lnTo>
                  <a:pt x="30" y="324"/>
                </a:lnTo>
                <a:lnTo>
                  <a:pt x="18" y="342"/>
                </a:lnTo>
                <a:lnTo>
                  <a:pt x="12" y="366"/>
                </a:lnTo>
                <a:lnTo>
                  <a:pt x="12" y="384"/>
                </a:lnTo>
                <a:lnTo>
                  <a:pt x="0" y="402"/>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5" name="Freeform 114"/>
          <p:cNvSpPr>
            <a:spLocks/>
          </p:cNvSpPr>
          <p:nvPr/>
        </p:nvSpPr>
        <p:spPr bwMode="auto">
          <a:xfrm>
            <a:off x="5392738" y="4619625"/>
            <a:ext cx="22225" cy="454025"/>
          </a:xfrm>
          <a:custGeom>
            <a:avLst/>
            <a:gdLst>
              <a:gd name="T0" fmla="*/ 2147483647 w 13"/>
              <a:gd name="T1" fmla="*/ 0 h 199"/>
              <a:gd name="T2" fmla="*/ 2147483647 w 13"/>
              <a:gd name="T3" fmla="*/ 2147483647 h 199"/>
              <a:gd name="T4" fmla="*/ 2147483647 w 13"/>
              <a:gd name="T5" fmla="*/ 2147483647 h 199"/>
              <a:gd name="T6" fmla="*/ 2147483647 w 13"/>
              <a:gd name="T7" fmla="*/ 2147483647 h 199"/>
              <a:gd name="T8" fmla="*/ 2147483647 w 13"/>
              <a:gd name="T9" fmla="*/ 2147483647 h 199"/>
              <a:gd name="T10" fmla="*/ 2147483647 w 13"/>
              <a:gd name="T11" fmla="*/ 2147483647 h 199"/>
              <a:gd name="T12" fmla="*/ 2147483647 w 13"/>
              <a:gd name="T13" fmla="*/ 2147483647 h 199"/>
              <a:gd name="T14" fmla="*/ 2147483647 w 13"/>
              <a:gd name="T15" fmla="*/ 2147483647 h 199"/>
              <a:gd name="T16" fmla="*/ 2147483647 w 13"/>
              <a:gd name="T17" fmla="*/ 2147483647 h 199"/>
              <a:gd name="T18" fmla="*/ 2147483647 w 13"/>
              <a:gd name="T19" fmla="*/ 2147483647 h 199"/>
              <a:gd name="T20" fmla="*/ 2147483647 w 13"/>
              <a:gd name="T21" fmla="*/ 2147483647 h 199"/>
              <a:gd name="T22" fmla="*/ 0 w 13"/>
              <a:gd name="T23" fmla="*/ 2147483647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 h="199">
                <a:moveTo>
                  <a:pt x="12" y="0"/>
                </a:moveTo>
                <a:lnTo>
                  <a:pt x="12" y="18"/>
                </a:lnTo>
                <a:lnTo>
                  <a:pt x="12" y="36"/>
                </a:lnTo>
                <a:lnTo>
                  <a:pt x="12" y="54"/>
                </a:lnTo>
                <a:lnTo>
                  <a:pt x="12" y="72"/>
                </a:lnTo>
                <a:lnTo>
                  <a:pt x="12" y="90"/>
                </a:lnTo>
                <a:lnTo>
                  <a:pt x="12" y="108"/>
                </a:lnTo>
                <a:lnTo>
                  <a:pt x="12" y="126"/>
                </a:lnTo>
                <a:lnTo>
                  <a:pt x="12" y="144"/>
                </a:lnTo>
                <a:lnTo>
                  <a:pt x="12" y="162"/>
                </a:lnTo>
                <a:lnTo>
                  <a:pt x="6" y="180"/>
                </a:lnTo>
                <a:lnTo>
                  <a:pt x="0" y="19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6" name="Arc 115"/>
          <p:cNvSpPr>
            <a:spLocks/>
          </p:cNvSpPr>
          <p:nvPr/>
        </p:nvSpPr>
        <p:spPr bwMode="auto">
          <a:xfrm rot="540000">
            <a:off x="4416425" y="3441700"/>
            <a:ext cx="354013" cy="34607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ap="rnd">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7" name="Text Box 116"/>
          <p:cNvSpPr txBox="1">
            <a:spLocks noChangeArrowheads="1"/>
          </p:cNvSpPr>
          <p:nvPr/>
        </p:nvSpPr>
        <p:spPr bwMode="auto">
          <a:xfrm>
            <a:off x="5435600" y="2344738"/>
            <a:ext cx="29273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a:solidFill>
                  <a:srgbClr val="333399"/>
                </a:solidFill>
                <a:latin typeface="Arial" pitchFamily="34" charset="0"/>
                <a:ea typeface="黑体" pitchFamily="49" charset="-122"/>
              </a:rPr>
              <a:t>  </a:t>
            </a:r>
            <a:r>
              <a:rPr kumimoji="1" lang="zh-CN" altLang="en-US">
                <a:solidFill>
                  <a:srgbClr val="333399"/>
                </a:solidFill>
                <a:latin typeface="Arial" pitchFamily="34" charset="0"/>
                <a:ea typeface="黑体" pitchFamily="49" charset="-122"/>
              </a:rPr>
              <a:t>包层</a:t>
            </a:r>
          </a:p>
          <a:p>
            <a:pPr algn="l" eaLnBrk="1" hangingPunct="1"/>
            <a:r>
              <a:rPr kumimoji="1" lang="zh-CN" altLang="en-US">
                <a:solidFill>
                  <a:srgbClr val="333399"/>
                </a:solidFill>
                <a:latin typeface="Arial" pitchFamily="34" charset="0"/>
                <a:ea typeface="黑体" pitchFamily="49" charset="-122"/>
              </a:rPr>
              <a:t>（低折射率的媒体）</a:t>
            </a:r>
          </a:p>
        </p:txBody>
      </p:sp>
      <p:sp>
        <p:nvSpPr>
          <p:cNvPr id="20508" name="Line 117"/>
          <p:cNvSpPr>
            <a:spLocks noChangeShapeType="1"/>
          </p:cNvSpPr>
          <p:nvPr/>
        </p:nvSpPr>
        <p:spPr bwMode="auto">
          <a:xfrm flipH="1">
            <a:off x="5202238" y="4797425"/>
            <a:ext cx="652462" cy="109538"/>
          </a:xfrm>
          <a:prstGeom prst="line">
            <a:avLst/>
          </a:prstGeom>
          <a:noFill/>
          <a:ln w="127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9" name="Text Box 118"/>
          <p:cNvSpPr txBox="1">
            <a:spLocks noChangeArrowheads="1"/>
          </p:cNvSpPr>
          <p:nvPr/>
        </p:nvSpPr>
        <p:spPr bwMode="auto">
          <a:xfrm>
            <a:off x="5724525" y="4503738"/>
            <a:ext cx="29273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a:solidFill>
                  <a:srgbClr val="333399"/>
                </a:solidFill>
                <a:latin typeface="Arial" pitchFamily="34" charset="0"/>
                <a:ea typeface="黑体" pitchFamily="49" charset="-122"/>
              </a:rPr>
              <a:t>  </a:t>
            </a:r>
            <a:r>
              <a:rPr kumimoji="1" lang="zh-CN" altLang="en-US">
                <a:solidFill>
                  <a:srgbClr val="333399"/>
                </a:solidFill>
                <a:latin typeface="Arial" pitchFamily="34" charset="0"/>
                <a:ea typeface="黑体" pitchFamily="49" charset="-122"/>
              </a:rPr>
              <a:t>包层</a:t>
            </a:r>
          </a:p>
          <a:p>
            <a:pPr algn="l" eaLnBrk="1" hangingPunct="1"/>
            <a:r>
              <a:rPr kumimoji="1" lang="zh-CN" altLang="en-US">
                <a:solidFill>
                  <a:srgbClr val="333399"/>
                </a:solidFill>
                <a:latin typeface="Arial" pitchFamily="34" charset="0"/>
                <a:ea typeface="黑体" pitchFamily="49" charset="-122"/>
              </a:rPr>
              <a:t>（低折射率的媒体）</a:t>
            </a:r>
          </a:p>
        </p:txBody>
      </p:sp>
      <p:sp>
        <p:nvSpPr>
          <p:cNvPr id="20510" name="Text Box 119"/>
          <p:cNvSpPr txBox="1">
            <a:spLocks noChangeArrowheads="1"/>
          </p:cNvSpPr>
          <p:nvPr/>
        </p:nvSpPr>
        <p:spPr bwMode="auto">
          <a:xfrm>
            <a:off x="5795963" y="3429000"/>
            <a:ext cx="31797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a:solidFill>
                  <a:srgbClr val="333399"/>
                </a:solidFill>
                <a:latin typeface="Arial" pitchFamily="34" charset="0"/>
                <a:ea typeface="黑体" pitchFamily="49" charset="-122"/>
              </a:rPr>
              <a:t>   </a:t>
            </a:r>
            <a:r>
              <a:rPr kumimoji="1" lang="zh-CN" altLang="en-US">
                <a:solidFill>
                  <a:srgbClr val="333399"/>
                </a:solidFill>
                <a:latin typeface="Arial" pitchFamily="34" charset="0"/>
                <a:ea typeface="黑体" pitchFamily="49" charset="-122"/>
              </a:rPr>
              <a:t>纤芯</a:t>
            </a:r>
          </a:p>
          <a:p>
            <a:pPr algn="l" eaLnBrk="1" hangingPunct="1"/>
            <a:r>
              <a:rPr kumimoji="1" lang="zh-CN" altLang="en-US">
                <a:solidFill>
                  <a:srgbClr val="333399"/>
                </a:solidFill>
                <a:latin typeface="Arial" pitchFamily="34" charset="0"/>
                <a:ea typeface="黑体" pitchFamily="49" charset="-122"/>
              </a:rPr>
              <a:t>（高折射率的媒体）            </a:t>
            </a:r>
          </a:p>
        </p:txBody>
      </p:sp>
      <p:sp>
        <p:nvSpPr>
          <p:cNvPr id="20511" name="AutoShape 120"/>
          <p:cNvSpPr>
            <a:spLocks noChangeArrowheads="1"/>
          </p:cNvSpPr>
          <p:nvPr/>
        </p:nvSpPr>
        <p:spPr bwMode="auto">
          <a:xfrm rot="5400000">
            <a:off x="15082" y="3488531"/>
            <a:ext cx="1885950" cy="1306513"/>
          </a:xfrm>
          <a:prstGeom prst="can">
            <a:avLst>
              <a:gd name="adj" fmla="val 29815"/>
            </a:avLst>
          </a:prstGeom>
          <a:gradFill rotWithShape="1">
            <a:gsLst>
              <a:gs pos="0">
                <a:srgbClr val="2F7676"/>
              </a:gs>
              <a:gs pos="50000">
                <a:srgbClr val="66FFFF"/>
              </a:gs>
              <a:gs pos="100000">
                <a:srgbClr val="2F7676"/>
              </a:gs>
            </a:gsLst>
            <a:lin ang="0" scaled="1"/>
          </a:gradFill>
          <a:ln w="952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2" name="AutoShape 121"/>
          <p:cNvSpPr>
            <a:spLocks noChangeArrowheads="1"/>
          </p:cNvSpPr>
          <p:nvPr/>
        </p:nvSpPr>
        <p:spPr bwMode="auto">
          <a:xfrm rot="5400000">
            <a:off x="1241425" y="3841750"/>
            <a:ext cx="901700" cy="654050"/>
          </a:xfrm>
          <a:prstGeom prst="can">
            <a:avLst>
              <a:gd name="adj" fmla="val 27343"/>
            </a:avLst>
          </a:prstGeom>
          <a:solidFill>
            <a:srgbClr val="FFFFFF"/>
          </a:solidFill>
          <a:ln w="952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3" name="Text Box 122"/>
          <p:cNvSpPr txBox="1">
            <a:spLocks noChangeArrowheads="1"/>
          </p:cNvSpPr>
          <p:nvPr/>
        </p:nvSpPr>
        <p:spPr bwMode="auto">
          <a:xfrm>
            <a:off x="712788" y="224155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a:solidFill>
                  <a:srgbClr val="333399"/>
                </a:solidFill>
                <a:latin typeface="Arial" pitchFamily="34" charset="0"/>
                <a:ea typeface="黑体" pitchFamily="49" charset="-122"/>
              </a:rPr>
              <a:t>包层</a:t>
            </a:r>
          </a:p>
        </p:txBody>
      </p:sp>
      <p:sp>
        <p:nvSpPr>
          <p:cNvPr id="20514" name="Line 123"/>
          <p:cNvSpPr>
            <a:spLocks noChangeShapeType="1"/>
          </p:cNvSpPr>
          <p:nvPr/>
        </p:nvSpPr>
        <p:spPr bwMode="auto">
          <a:xfrm flipH="1">
            <a:off x="1039813" y="2828925"/>
            <a:ext cx="3175" cy="655638"/>
          </a:xfrm>
          <a:prstGeom prst="line">
            <a:avLst/>
          </a:prstGeom>
          <a:noFill/>
          <a:ln w="127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5" name="Text Box 124"/>
          <p:cNvSpPr txBox="1">
            <a:spLocks noChangeArrowheads="1"/>
          </p:cNvSpPr>
          <p:nvPr/>
        </p:nvSpPr>
        <p:spPr bwMode="auto">
          <a:xfrm>
            <a:off x="1611313" y="2609850"/>
            <a:ext cx="69691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a:solidFill>
                  <a:srgbClr val="333399"/>
                </a:solidFill>
                <a:latin typeface="Arial" pitchFamily="34" charset="0"/>
                <a:ea typeface="黑体" pitchFamily="49" charset="-122"/>
              </a:rPr>
              <a:t>纤芯</a:t>
            </a:r>
          </a:p>
        </p:txBody>
      </p:sp>
      <p:sp>
        <p:nvSpPr>
          <p:cNvPr id="20516" name="Line 125"/>
          <p:cNvSpPr>
            <a:spLocks noChangeShapeType="1"/>
          </p:cNvSpPr>
          <p:nvPr/>
        </p:nvSpPr>
        <p:spPr bwMode="auto">
          <a:xfrm flipH="1">
            <a:off x="1606550" y="3048000"/>
            <a:ext cx="249238" cy="874713"/>
          </a:xfrm>
          <a:prstGeom prst="line">
            <a:avLst/>
          </a:prstGeom>
          <a:noFill/>
          <a:ln w="127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ctr" eaLnBrk="1" hangingPunct="1"/>
            <a:r>
              <a:rPr lang="zh-CN" altLang="en-US" smtClean="0"/>
              <a:t>光纤的工作原理</a:t>
            </a:r>
          </a:p>
        </p:txBody>
      </p:sp>
      <p:sp>
        <p:nvSpPr>
          <p:cNvPr id="21507" name="Rectangle 3"/>
          <p:cNvSpPr>
            <a:spLocks noChangeArrowheads="1"/>
          </p:cNvSpPr>
          <p:nvPr/>
        </p:nvSpPr>
        <p:spPr bwMode="auto">
          <a:xfrm>
            <a:off x="2662238" y="3170238"/>
            <a:ext cx="4891087" cy="2444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8" name="Rectangle 4"/>
          <p:cNvSpPr>
            <a:spLocks noChangeArrowheads="1"/>
          </p:cNvSpPr>
          <p:nvPr/>
        </p:nvSpPr>
        <p:spPr bwMode="auto">
          <a:xfrm>
            <a:off x="2662238" y="3414713"/>
            <a:ext cx="4891087" cy="344487"/>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9" name="Rectangle 5"/>
          <p:cNvSpPr>
            <a:spLocks noChangeArrowheads="1"/>
          </p:cNvSpPr>
          <p:nvPr/>
        </p:nvSpPr>
        <p:spPr bwMode="auto">
          <a:xfrm>
            <a:off x="2662238" y="3759200"/>
            <a:ext cx="4891087" cy="246063"/>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0" name="AutoShape 6"/>
          <p:cNvSpPr>
            <a:spLocks noChangeArrowheads="1"/>
          </p:cNvSpPr>
          <p:nvPr/>
        </p:nvSpPr>
        <p:spPr bwMode="auto">
          <a:xfrm rot="5400000">
            <a:off x="1374775" y="3152776"/>
            <a:ext cx="835025" cy="869950"/>
          </a:xfrm>
          <a:prstGeom prst="can">
            <a:avLst>
              <a:gd name="adj" fmla="val 26046"/>
            </a:avLst>
          </a:prstGeom>
          <a:gradFill rotWithShape="1">
            <a:gsLst>
              <a:gs pos="0">
                <a:srgbClr val="666666"/>
              </a:gs>
              <a:gs pos="50000">
                <a:srgbClr val="DDDDDD"/>
              </a:gs>
              <a:gs pos="100000">
                <a:srgbClr val="66666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1" name="AutoShape 7"/>
          <p:cNvSpPr>
            <a:spLocks noChangeArrowheads="1"/>
          </p:cNvSpPr>
          <p:nvPr/>
        </p:nvSpPr>
        <p:spPr bwMode="auto">
          <a:xfrm rot="5400000">
            <a:off x="2108994" y="3369469"/>
            <a:ext cx="344487" cy="434975"/>
          </a:xfrm>
          <a:prstGeom prst="can">
            <a:avLst>
              <a:gd name="adj" fmla="val 20711"/>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12" name="Group 8"/>
          <p:cNvGrpSpPr>
            <a:grpSpLocks/>
          </p:cNvGrpSpPr>
          <p:nvPr/>
        </p:nvGrpSpPr>
        <p:grpSpPr bwMode="auto">
          <a:xfrm>
            <a:off x="2662238" y="3170238"/>
            <a:ext cx="4891087" cy="835025"/>
            <a:chOff x="912" y="912"/>
            <a:chExt cx="4608" cy="816"/>
          </a:xfrm>
        </p:grpSpPr>
        <p:sp>
          <p:nvSpPr>
            <p:cNvPr id="21520" name="Line 9"/>
            <p:cNvSpPr>
              <a:spLocks noChangeShapeType="1"/>
            </p:cNvSpPr>
            <p:nvPr/>
          </p:nvSpPr>
          <p:spPr bwMode="auto">
            <a:xfrm>
              <a:off x="912" y="91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21" name="Line 10"/>
            <p:cNvSpPr>
              <a:spLocks noChangeShapeType="1"/>
            </p:cNvSpPr>
            <p:nvPr/>
          </p:nvSpPr>
          <p:spPr bwMode="auto">
            <a:xfrm>
              <a:off x="912" y="115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22" name="Line 11"/>
            <p:cNvSpPr>
              <a:spLocks noChangeShapeType="1"/>
            </p:cNvSpPr>
            <p:nvPr/>
          </p:nvSpPr>
          <p:spPr bwMode="auto">
            <a:xfrm>
              <a:off x="912" y="148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23" name="Line 12"/>
            <p:cNvSpPr>
              <a:spLocks noChangeShapeType="1"/>
            </p:cNvSpPr>
            <p:nvPr/>
          </p:nvSpPr>
          <p:spPr bwMode="auto">
            <a:xfrm>
              <a:off x="912" y="172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1513" name="Line 13"/>
          <p:cNvSpPr>
            <a:spLocks noChangeShapeType="1"/>
          </p:cNvSpPr>
          <p:nvPr/>
        </p:nvSpPr>
        <p:spPr bwMode="auto">
          <a:xfrm>
            <a:off x="2563813" y="3584575"/>
            <a:ext cx="5176837" cy="3175"/>
          </a:xfrm>
          <a:prstGeom prst="line">
            <a:avLst/>
          </a:prstGeom>
          <a:noFill/>
          <a:ln w="19050">
            <a:solidFill>
              <a:srgbClr val="333399"/>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14" name="Text Box 14"/>
          <p:cNvSpPr txBox="1">
            <a:spLocks noChangeArrowheads="1"/>
          </p:cNvSpPr>
          <p:nvPr/>
        </p:nvSpPr>
        <p:spPr bwMode="auto">
          <a:xfrm>
            <a:off x="1979613" y="1989138"/>
            <a:ext cx="120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高折射率</a:t>
            </a:r>
          </a:p>
          <a:p>
            <a:pPr eaLnBrk="1" hangingPunct="1"/>
            <a:r>
              <a:rPr kumimoji="1" lang="en-US" altLang="zh-CN" sz="2000">
                <a:solidFill>
                  <a:srgbClr val="333399"/>
                </a:solidFill>
                <a:latin typeface="黑体" pitchFamily="49" charset="-122"/>
                <a:ea typeface="黑体" pitchFamily="49" charset="-122"/>
              </a:rPr>
              <a:t>(</a:t>
            </a:r>
            <a:r>
              <a:rPr kumimoji="1" lang="zh-CN" altLang="en-US" sz="2000">
                <a:solidFill>
                  <a:srgbClr val="333399"/>
                </a:solidFill>
                <a:latin typeface="黑体" pitchFamily="49" charset="-122"/>
                <a:ea typeface="黑体" pitchFamily="49" charset="-122"/>
              </a:rPr>
              <a:t>纤芯</a:t>
            </a:r>
            <a:r>
              <a:rPr kumimoji="1" lang="en-US" altLang="zh-CN" sz="2000">
                <a:solidFill>
                  <a:srgbClr val="333399"/>
                </a:solidFill>
                <a:latin typeface="黑体" pitchFamily="49" charset="-122"/>
                <a:ea typeface="黑体" pitchFamily="49" charset="-122"/>
              </a:rPr>
              <a:t>)</a:t>
            </a:r>
          </a:p>
        </p:txBody>
      </p:sp>
      <p:sp>
        <p:nvSpPr>
          <p:cNvPr id="21515" name="Text Box 15"/>
          <p:cNvSpPr txBox="1">
            <a:spLocks noChangeArrowheads="1"/>
          </p:cNvSpPr>
          <p:nvPr/>
        </p:nvSpPr>
        <p:spPr bwMode="auto">
          <a:xfrm>
            <a:off x="684213" y="1989138"/>
            <a:ext cx="120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低折射率</a:t>
            </a:r>
          </a:p>
          <a:p>
            <a:pPr eaLnBrk="1" hangingPunct="1"/>
            <a:r>
              <a:rPr kumimoji="1" lang="en-US" altLang="zh-CN" sz="2000">
                <a:solidFill>
                  <a:srgbClr val="333399"/>
                </a:solidFill>
                <a:latin typeface="黑体" pitchFamily="49" charset="-122"/>
                <a:ea typeface="黑体" pitchFamily="49" charset="-122"/>
              </a:rPr>
              <a:t>(</a:t>
            </a:r>
            <a:r>
              <a:rPr kumimoji="1" lang="zh-CN" altLang="en-US" sz="2000">
                <a:solidFill>
                  <a:srgbClr val="333399"/>
                </a:solidFill>
                <a:latin typeface="黑体" pitchFamily="49" charset="-122"/>
                <a:ea typeface="黑体" pitchFamily="49" charset="-122"/>
              </a:rPr>
              <a:t>包层</a:t>
            </a:r>
            <a:r>
              <a:rPr kumimoji="1" lang="en-US" altLang="zh-CN" sz="2000">
                <a:solidFill>
                  <a:srgbClr val="333399"/>
                </a:solidFill>
                <a:latin typeface="黑体" pitchFamily="49" charset="-122"/>
                <a:ea typeface="黑体" pitchFamily="49" charset="-122"/>
              </a:rPr>
              <a:t>)</a:t>
            </a:r>
          </a:p>
        </p:txBody>
      </p:sp>
      <p:sp>
        <p:nvSpPr>
          <p:cNvPr id="21516" name="Line 16"/>
          <p:cNvSpPr>
            <a:spLocks noChangeShapeType="1"/>
          </p:cNvSpPr>
          <p:nvPr/>
        </p:nvSpPr>
        <p:spPr bwMode="auto">
          <a:xfrm flipH="1">
            <a:off x="2335213" y="2708275"/>
            <a:ext cx="220662" cy="70643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17" name="Line 17"/>
          <p:cNvSpPr>
            <a:spLocks noChangeShapeType="1"/>
          </p:cNvSpPr>
          <p:nvPr/>
        </p:nvSpPr>
        <p:spPr bwMode="auto">
          <a:xfrm>
            <a:off x="1403350" y="2636838"/>
            <a:ext cx="388938" cy="533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18" name="Text Box 18"/>
          <p:cNvSpPr txBox="1">
            <a:spLocks noChangeArrowheads="1"/>
          </p:cNvSpPr>
          <p:nvPr/>
        </p:nvSpPr>
        <p:spPr bwMode="auto">
          <a:xfrm>
            <a:off x="2771775" y="2733675"/>
            <a:ext cx="475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黑体" pitchFamily="49" charset="-122"/>
                <a:ea typeface="黑体" pitchFamily="49" charset="-122"/>
              </a:rPr>
              <a:t>光线在纤芯中传输的方式是不断地全反射</a:t>
            </a:r>
          </a:p>
        </p:txBody>
      </p:sp>
      <p:sp>
        <p:nvSpPr>
          <p:cNvPr id="122899" name="Freeform 19"/>
          <p:cNvSpPr>
            <a:spLocks/>
          </p:cNvSpPr>
          <p:nvPr/>
        </p:nvSpPr>
        <p:spPr bwMode="auto">
          <a:xfrm>
            <a:off x="2689225" y="3414713"/>
            <a:ext cx="4870450" cy="344487"/>
          </a:xfrm>
          <a:custGeom>
            <a:avLst/>
            <a:gdLst>
              <a:gd name="T0" fmla="*/ 0 w 4302"/>
              <a:gd name="T1" fmla="*/ 2147483647 h 336"/>
              <a:gd name="T2" fmla="*/ 2147483647 w 4302"/>
              <a:gd name="T3" fmla="*/ 0 h 336"/>
              <a:gd name="T4" fmla="*/ 2147483647 w 4302"/>
              <a:gd name="T5" fmla="*/ 2147483647 h 336"/>
              <a:gd name="T6" fmla="*/ 2147483647 w 4302"/>
              <a:gd name="T7" fmla="*/ 0 h 336"/>
              <a:gd name="T8" fmla="*/ 2147483647 w 4302"/>
              <a:gd name="T9" fmla="*/ 2147483647 h 336"/>
              <a:gd name="T10" fmla="*/ 2147483647 w 4302"/>
              <a:gd name="T11" fmla="*/ 2147483647 h 3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02" h="336">
                <a:moveTo>
                  <a:pt x="0" y="108"/>
                </a:moveTo>
                <a:lnTo>
                  <a:pt x="384" y="0"/>
                </a:lnTo>
                <a:lnTo>
                  <a:pt x="1560" y="336"/>
                </a:lnTo>
                <a:lnTo>
                  <a:pt x="2742" y="0"/>
                </a:lnTo>
                <a:lnTo>
                  <a:pt x="3918" y="330"/>
                </a:lnTo>
                <a:lnTo>
                  <a:pt x="4302" y="204"/>
                </a:lnTo>
              </a:path>
            </a:pathLst>
          </a:custGeom>
          <a:noFill/>
          <a:ln w="57150" cmpd="sng">
            <a:solidFill>
              <a:schemeClr val="hlink"/>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899"/>
                                        </p:tgtEl>
                                        <p:attrNameLst>
                                          <p:attrName>style.visibility</p:attrName>
                                        </p:attrNameLst>
                                      </p:cBhvr>
                                      <p:to>
                                        <p:strVal val="visible"/>
                                      </p:to>
                                    </p:set>
                                    <p:animEffect transition="in" filter="wipe(left)">
                                      <p:cBhvr>
                                        <p:cTn id="7" dur="2000"/>
                                        <p:tgtEl>
                                          <p:spTgt spid="122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lgn="ctr" eaLnBrk="1" hangingPunct="1"/>
            <a:r>
              <a:rPr lang="en-US" altLang="zh-CN" smtClean="0"/>
              <a:t>2.3.2 </a:t>
            </a:r>
            <a:r>
              <a:rPr lang="zh-CN" altLang="en-US" smtClean="0"/>
              <a:t>非导向传输媒体 </a:t>
            </a:r>
          </a:p>
        </p:txBody>
      </p:sp>
      <p:sp>
        <p:nvSpPr>
          <p:cNvPr id="22531" name="Rectangle 3"/>
          <p:cNvSpPr>
            <a:spLocks noGrp="1" noChangeArrowheads="1"/>
          </p:cNvSpPr>
          <p:nvPr>
            <p:ph type="body" idx="1"/>
          </p:nvPr>
        </p:nvSpPr>
        <p:spPr/>
        <p:txBody>
          <a:bodyPr/>
          <a:lstStyle/>
          <a:p>
            <a:pPr eaLnBrk="1" hangingPunct="1"/>
            <a:r>
              <a:rPr lang="zh-CN" altLang="en-US" smtClean="0"/>
              <a:t>无线传输媒体通过自由空间，不需要架设或铺埋电缆或光纤。 它的应用有几种不同的传输方式，主要有无线电传输、微波传输、地球卫星通信、激光传输和红外线传输等几种。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Line 20"/>
          <p:cNvSpPr>
            <a:spLocks noChangeShapeType="1"/>
          </p:cNvSpPr>
          <p:nvPr/>
        </p:nvSpPr>
        <p:spPr bwMode="auto">
          <a:xfrm>
            <a:off x="5214938" y="4038600"/>
            <a:ext cx="3263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55" name="Text Box 31"/>
          <p:cNvSpPr txBox="1">
            <a:spLocks noChangeArrowheads="1"/>
          </p:cNvSpPr>
          <p:nvPr/>
        </p:nvSpPr>
        <p:spPr bwMode="auto">
          <a:xfrm>
            <a:off x="6159500" y="3578225"/>
            <a:ext cx="130175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zh-CN" altLang="en-US" sz="2200">
                <a:solidFill>
                  <a:schemeClr val="folHlink"/>
                </a:solidFill>
                <a:latin typeface="Arial" pitchFamily="34" charset="0"/>
                <a:ea typeface="黑体" pitchFamily="49" charset="-122"/>
              </a:rPr>
              <a:t>共享信道</a:t>
            </a:r>
          </a:p>
        </p:txBody>
      </p:sp>
      <p:sp>
        <p:nvSpPr>
          <p:cNvPr id="23556" name="Rectangle 2"/>
          <p:cNvSpPr>
            <a:spLocks noGrp="1" noChangeArrowheads="1"/>
          </p:cNvSpPr>
          <p:nvPr>
            <p:ph type="title"/>
          </p:nvPr>
        </p:nvSpPr>
        <p:spPr>
          <a:xfrm>
            <a:off x="847725" y="214313"/>
            <a:ext cx="8404225" cy="1462087"/>
          </a:xfrm>
        </p:spPr>
        <p:txBody>
          <a:bodyPr/>
          <a:lstStyle/>
          <a:p>
            <a:pPr algn="ctr" eaLnBrk="1" hangingPunct="1"/>
            <a:r>
              <a:rPr lang="en-US" altLang="zh-CN" sz="4000" smtClean="0"/>
              <a:t>2.4  </a:t>
            </a:r>
            <a:r>
              <a:rPr lang="zh-CN" altLang="en-US" sz="4000" smtClean="0"/>
              <a:t>信道复用技术</a:t>
            </a:r>
            <a:br>
              <a:rPr lang="zh-CN" altLang="en-US" sz="4000" smtClean="0"/>
            </a:br>
            <a:r>
              <a:rPr lang="en-US" altLang="zh-CN" sz="3200" smtClean="0"/>
              <a:t>2.4.1  </a:t>
            </a:r>
            <a:r>
              <a:rPr lang="zh-CN" altLang="en-US" sz="3200" smtClean="0"/>
              <a:t>频分复用、时分复用和统计时分复用</a:t>
            </a:r>
            <a:r>
              <a:rPr lang="zh-CN" altLang="en-US" sz="4000" smtClean="0"/>
              <a:t> </a:t>
            </a:r>
          </a:p>
        </p:txBody>
      </p:sp>
      <p:sp>
        <p:nvSpPr>
          <p:cNvPr id="23557" name="Rectangle 3"/>
          <p:cNvSpPr>
            <a:spLocks noGrp="1" noChangeArrowheads="1"/>
          </p:cNvSpPr>
          <p:nvPr>
            <p:ph type="body" idx="1"/>
          </p:nvPr>
        </p:nvSpPr>
        <p:spPr>
          <a:xfrm>
            <a:off x="827088" y="1773238"/>
            <a:ext cx="7988300" cy="4114800"/>
          </a:xfrm>
        </p:spPr>
        <p:txBody>
          <a:bodyPr/>
          <a:lstStyle/>
          <a:p>
            <a:pPr eaLnBrk="1" hangingPunct="1"/>
            <a:r>
              <a:rPr lang="zh-CN" altLang="en-US" smtClean="0">
                <a:solidFill>
                  <a:schemeClr val="hlink"/>
                </a:solidFill>
              </a:rPr>
              <a:t>复用</a:t>
            </a:r>
            <a:r>
              <a:rPr lang="en-US" altLang="zh-CN" smtClean="0"/>
              <a:t>(multiplexing)</a:t>
            </a:r>
            <a:r>
              <a:rPr lang="zh-CN" altLang="en-US" smtClean="0"/>
              <a:t>是通信技术中的基本概念。 </a:t>
            </a:r>
          </a:p>
        </p:txBody>
      </p:sp>
      <p:grpSp>
        <p:nvGrpSpPr>
          <p:cNvPr id="23558" name="Group 9"/>
          <p:cNvGrpSpPr>
            <a:grpSpLocks/>
          </p:cNvGrpSpPr>
          <p:nvPr/>
        </p:nvGrpSpPr>
        <p:grpSpPr bwMode="auto">
          <a:xfrm>
            <a:off x="590550" y="3438525"/>
            <a:ext cx="3408363" cy="1200150"/>
            <a:chOff x="657" y="1230"/>
            <a:chExt cx="1180" cy="590"/>
          </a:xfrm>
        </p:grpSpPr>
        <p:sp>
          <p:nvSpPr>
            <p:cNvPr id="23583" name="Line 10"/>
            <p:cNvSpPr>
              <a:spLocks noChangeShapeType="1"/>
            </p:cNvSpPr>
            <p:nvPr/>
          </p:nvSpPr>
          <p:spPr bwMode="auto">
            <a:xfrm>
              <a:off x="657" y="1230"/>
              <a:ext cx="11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4" name="Line 11"/>
            <p:cNvSpPr>
              <a:spLocks noChangeShapeType="1"/>
            </p:cNvSpPr>
            <p:nvPr/>
          </p:nvSpPr>
          <p:spPr bwMode="auto">
            <a:xfrm>
              <a:off x="657" y="1525"/>
              <a:ext cx="11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5" name="Line 12"/>
            <p:cNvSpPr>
              <a:spLocks noChangeShapeType="1"/>
            </p:cNvSpPr>
            <p:nvPr/>
          </p:nvSpPr>
          <p:spPr bwMode="auto">
            <a:xfrm>
              <a:off x="657" y="1820"/>
              <a:ext cx="11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3559" name="Text Box 13"/>
          <p:cNvSpPr txBox="1">
            <a:spLocks noChangeArrowheads="1"/>
          </p:cNvSpPr>
          <p:nvPr/>
        </p:nvSpPr>
        <p:spPr bwMode="auto">
          <a:xfrm>
            <a:off x="1844675" y="3001963"/>
            <a:ext cx="74295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zh-CN" altLang="en-US" sz="2200">
                <a:solidFill>
                  <a:schemeClr val="folHlink"/>
                </a:solidFill>
                <a:latin typeface="黑体" pitchFamily="49" charset="-122"/>
                <a:ea typeface="黑体" pitchFamily="49" charset="-122"/>
              </a:rPr>
              <a:t>信道</a:t>
            </a:r>
          </a:p>
        </p:txBody>
      </p:sp>
      <p:sp>
        <p:nvSpPr>
          <p:cNvPr id="23560" name="Oval 14"/>
          <p:cNvSpPr>
            <a:spLocks noChangeArrowheads="1"/>
          </p:cNvSpPr>
          <p:nvPr/>
        </p:nvSpPr>
        <p:spPr bwMode="auto">
          <a:xfrm>
            <a:off x="142875" y="3208338"/>
            <a:ext cx="447675"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2200">
                <a:solidFill>
                  <a:schemeClr val="folHlink"/>
                </a:solidFill>
                <a:latin typeface="Arial" pitchFamily="34" charset="0"/>
                <a:ea typeface="黑体" pitchFamily="49" charset="-122"/>
              </a:rPr>
              <a:t>A</a:t>
            </a:r>
            <a:r>
              <a:rPr lang="en-US" altLang="zh-CN" sz="2200" baseline="-25000">
                <a:solidFill>
                  <a:schemeClr val="folHlink"/>
                </a:solidFill>
                <a:latin typeface="Arial" pitchFamily="34" charset="0"/>
                <a:ea typeface="黑体" pitchFamily="49" charset="-122"/>
              </a:rPr>
              <a:t>1</a:t>
            </a:r>
          </a:p>
        </p:txBody>
      </p:sp>
      <p:sp>
        <p:nvSpPr>
          <p:cNvPr id="23561" name="Oval 15"/>
          <p:cNvSpPr>
            <a:spLocks noChangeArrowheads="1"/>
          </p:cNvSpPr>
          <p:nvPr/>
        </p:nvSpPr>
        <p:spPr bwMode="auto">
          <a:xfrm>
            <a:off x="3910013" y="3208338"/>
            <a:ext cx="446087"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2200">
                <a:solidFill>
                  <a:schemeClr val="folHlink"/>
                </a:solidFill>
                <a:latin typeface="Arial" pitchFamily="34" charset="0"/>
                <a:ea typeface="黑体" pitchFamily="49" charset="-122"/>
              </a:rPr>
              <a:t>A</a:t>
            </a:r>
            <a:r>
              <a:rPr lang="en-US" altLang="zh-CN" sz="2200" baseline="-25000">
                <a:solidFill>
                  <a:schemeClr val="folHlink"/>
                </a:solidFill>
                <a:latin typeface="Arial" pitchFamily="34" charset="0"/>
                <a:ea typeface="黑体" pitchFamily="49" charset="-122"/>
              </a:rPr>
              <a:t>2</a:t>
            </a:r>
          </a:p>
        </p:txBody>
      </p:sp>
      <p:sp>
        <p:nvSpPr>
          <p:cNvPr id="23562" name="Oval 16"/>
          <p:cNvSpPr>
            <a:spLocks noChangeArrowheads="1"/>
          </p:cNvSpPr>
          <p:nvPr/>
        </p:nvSpPr>
        <p:spPr bwMode="auto">
          <a:xfrm>
            <a:off x="142875" y="3808413"/>
            <a:ext cx="447675"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2200">
                <a:solidFill>
                  <a:schemeClr val="folHlink"/>
                </a:solidFill>
                <a:latin typeface="Arial" pitchFamily="34" charset="0"/>
                <a:ea typeface="黑体" pitchFamily="49" charset="-122"/>
              </a:rPr>
              <a:t>B</a:t>
            </a:r>
            <a:r>
              <a:rPr lang="en-US" altLang="zh-CN" sz="2200" baseline="-25000">
                <a:solidFill>
                  <a:schemeClr val="folHlink"/>
                </a:solidFill>
                <a:latin typeface="Arial" pitchFamily="34" charset="0"/>
                <a:ea typeface="黑体" pitchFamily="49" charset="-122"/>
              </a:rPr>
              <a:t>1</a:t>
            </a:r>
          </a:p>
        </p:txBody>
      </p:sp>
      <p:sp>
        <p:nvSpPr>
          <p:cNvPr id="23563" name="Oval 17"/>
          <p:cNvSpPr>
            <a:spLocks noChangeArrowheads="1"/>
          </p:cNvSpPr>
          <p:nvPr/>
        </p:nvSpPr>
        <p:spPr bwMode="auto">
          <a:xfrm>
            <a:off x="3910013" y="3808413"/>
            <a:ext cx="446087"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2200">
                <a:solidFill>
                  <a:schemeClr val="folHlink"/>
                </a:solidFill>
                <a:latin typeface="Arial" pitchFamily="34" charset="0"/>
                <a:ea typeface="黑体" pitchFamily="49" charset="-122"/>
              </a:rPr>
              <a:t>B</a:t>
            </a:r>
            <a:r>
              <a:rPr lang="en-US" altLang="zh-CN" sz="2200" baseline="-25000">
                <a:solidFill>
                  <a:schemeClr val="folHlink"/>
                </a:solidFill>
                <a:latin typeface="Arial" pitchFamily="34" charset="0"/>
                <a:ea typeface="黑体" pitchFamily="49" charset="-122"/>
              </a:rPr>
              <a:t>2</a:t>
            </a:r>
          </a:p>
        </p:txBody>
      </p:sp>
      <p:sp>
        <p:nvSpPr>
          <p:cNvPr id="23564" name="Oval 18"/>
          <p:cNvSpPr>
            <a:spLocks noChangeArrowheads="1"/>
          </p:cNvSpPr>
          <p:nvPr/>
        </p:nvSpPr>
        <p:spPr bwMode="auto">
          <a:xfrm>
            <a:off x="142875" y="4408488"/>
            <a:ext cx="447675"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2200">
                <a:solidFill>
                  <a:schemeClr val="folHlink"/>
                </a:solidFill>
                <a:latin typeface="Arial" pitchFamily="34" charset="0"/>
                <a:ea typeface="黑体" pitchFamily="49" charset="-122"/>
              </a:rPr>
              <a:t>C</a:t>
            </a:r>
            <a:r>
              <a:rPr lang="en-US" altLang="zh-CN" sz="2200" baseline="-25000">
                <a:solidFill>
                  <a:schemeClr val="folHlink"/>
                </a:solidFill>
                <a:latin typeface="Arial" pitchFamily="34" charset="0"/>
                <a:ea typeface="黑体" pitchFamily="49" charset="-122"/>
              </a:rPr>
              <a:t>1</a:t>
            </a:r>
          </a:p>
        </p:txBody>
      </p:sp>
      <p:sp>
        <p:nvSpPr>
          <p:cNvPr id="23565" name="Oval 19"/>
          <p:cNvSpPr>
            <a:spLocks noChangeArrowheads="1"/>
          </p:cNvSpPr>
          <p:nvPr/>
        </p:nvSpPr>
        <p:spPr bwMode="auto">
          <a:xfrm>
            <a:off x="3910013" y="4408488"/>
            <a:ext cx="446087"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2200">
                <a:solidFill>
                  <a:schemeClr val="folHlink"/>
                </a:solidFill>
                <a:latin typeface="Arial" pitchFamily="34" charset="0"/>
                <a:ea typeface="黑体" pitchFamily="49" charset="-122"/>
              </a:rPr>
              <a:t>C</a:t>
            </a:r>
            <a:r>
              <a:rPr lang="en-US" altLang="zh-CN" sz="2200" baseline="-25000">
                <a:solidFill>
                  <a:schemeClr val="folHlink"/>
                </a:solidFill>
                <a:latin typeface="Arial" pitchFamily="34" charset="0"/>
                <a:ea typeface="黑体" pitchFamily="49" charset="-122"/>
              </a:rPr>
              <a:t>2</a:t>
            </a:r>
          </a:p>
        </p:txBody>
      </p:sp>
      <p:sp>
        <p:nvSpPr>
          <p:cNvPr id="23566" name="Text Box 29"/>
          <p:cNvSpPr txBox="1">
            <a:spLocks noChangeArrowheads="1"/>
          </p:cNvSpPr>
          <p:nvPr/>
        </p:nvSpPr>
        <p:spPr bwMode="auto">
          <a:xfrm>
            <a:off x="1844675" y="3644900"/>
            <a:ext cx="74295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zh-CN" altLang="en-US" sz="2200">
                <a:solidFill>
                  <a:schemeClr val="folHlink"/>
                </a:solidFill>
                <a:latin typeface="黑体" pitchFamily="49" charset="-122"/>
                <a:ea typeface="黑体" pitchFamily="49" charset="-122"/>
              </a:rPr>
              <a:t>信道</a:t>
            </a:r>
          </a:p>
        </p:txBody>
      </p:sp>
      <p:sp>
        <p:nvSpPr>
          <p:cNvPr id="23567" name="Text Box 30"/>
          <p:cNvSpPr txBox="1">
            <a:spLocks noChangeArrowheads="1"/>
          </p:cNvSpPr>
          <p:nvPr/>
        </p:nvSpPr>
        <p:spPr bwMode="auto">
          <a:xfrm>
            <a:off x="1844675" y="4260850"/>
            <a:ext cx="74295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zh-CN" altLang="en-US" sz="2200">
                <a:solidFill>
                  <a:schemeClr val="folHlink"/>
                </a:solidFill>
                <a:latin typeface="黑体" pitchFamily="49" charset="-122"/>
                <a:ea typeface="黑体" pitchFamily="49" charset="-122"/>
              </a:rPr>
              <a:t>信道</a:t>
            </a:r>
          </a:p>
        </p:txBody>
      </p:sp>
      <p:sp>
        <p:nvSpPr>
          <p:cNvPr id="23568" name="Line 4"/>
          <p:cNvSpPr>
            <a:spLocks noChangeShapeType="1"/>
          </p:cNvSpPr>
          <p:nvPr/>
        </p:nvSpPr>
        <p:spPr bwMode="auto">
          <a:xfrm>
            <a:off x="5988050" y="4038600"/>
            <a:ext cx="154305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9" name="Line 5"/>
          <p:cNvSpPr>
            <a:spLocks noChangeShapeType="1"/>
          </p:cNvSpPr>
          <p:nvPr/>
        </p:nvSpPr>
        <p:spPr bwMode="auto">
          <a:xfrm>
            <a:off x="8047038" y="4130675"/>
            <a:ext cx="515937" cy="461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0" name="Line 6"/>
          <p:cNvSpPr>
            <a:spLocks noChangeShapeType="1"/>
          </p:cNvSpPr>
          <p:nvPr/>
        </p:nvSpPr>
        <p:spPr bwMode="auto">
          <a:xfrm flipH="1">
            <a:off x="8047038" y="3484563"/>
            <a:ext cx="515937" cy="368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1" name="Line 7"/>
          <p:cNvSpPr>
            <a:spLocks noChangeShapeType="1"/>
          </p:cNvSpPr>
          <p:nvPr/>
        </p:nvSpPr>
        <p:spPr bwMode="auto">
          <a:xfrm flipV="1">
            <a:off x="5127625" y="4130675"/>
            <a:ext cx="430213" cy="461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2" name="Line 8"/>
          <p:cNvSpPr>
            <a:spLocks noChangeShapeType="1"/>
          </p:cNvSpPr>
          <p:nvPr/>
        </p:nvSpPr>
        <p:spPr bwMode="auto">
          <a:xfrm>
            <a:off x="5127625" y="3484563"/>
            <a:ext cx="430213" cy="368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3" name="Oval 21"/>
          <p:cNvSpPr>
            <a:spLocks noChangeArrowheads="1"/>
          </p:cNvSpPr>
          <p:nvPr/>
        </p:nvSpPr>
        <p:spPr bwMode="auto">
          <a:xfrm>
            <a:off x="4787900" y="3208338"/>
            <a:ext cx="427038"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2200">
                <a:solidFill>
                  <a:schemeClr val="folHlink"/>
                </a:solidFill>
                <a:latin typeface="Arial" pitchFamily="34" charset="0"/>
                <a:ea typeface="黑体" pitchFamily="49" charset="-122"/>
              </a:rPr>
              <a:t>A</a:t>
            </a:r>
            <a:r>
              <a:rPr lang="en-US" altLang="zh-CN" sz="2200" baseline="-25000">
                <a:solidFill>
                  <a:schemeClr val="folHlink"/>
                </a:solidFill>
                <a:latin typeface="Arial" pitchFamily="34" charset="0"/>
                <a:ea typeface="黑体" pitchFamily="49" charset="-122"/>
              </a:rPr>
              <a:t>1</a:t>
            </a:r>
          </a:p>
        </p:txBody>
      </p:sp>
      <p:sp>
        <p:nvSpPr>
          <p:cNvPr id="23574" name="Oval 22"/>
          <p:cNvSpPr>
            <a:spLocks noChangeArrowheads="1"/>
          </p:cNvSpPr>
          <p:nvPr/>
        </p:nvSpPr>
        <p:spPr bwMode="auto">
          <a:xfrm>
            <a:off x="8391525" y="3208338"/>
            <a:ext cx="428625"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2200">
                <a:solidFill>
                  <a:schemeClr val="folHlink"/>
                </a:solidFill>
                <a:latin typeface="Arial" pitchFamily="34" charset="0"/>
                <a:ea typeface="黑体" pitchFamily="49" charset="-122"/>
              </a:rPr>
              <a:t>A</a:t>
            </a:r>
            <a:r>
              <a:rPr lang="en-US" altLang="zh-CN" sz="2200" baseline="-25000">
                <a:solidFill>
                  <a:schemeClr val="folHlink"/>
                </a:solidFill>
                <a:latin typeface="Arial" pitchFamily="34" charset="0"/>
                <a:ea typeface="黑体" pitchFamily="49" charset="-122"/>
              </a:rPr>
              <a:t>2</a:t>
            </a:r>
          </a:p>
        </p:txBody>
      </p:sp>
      <p:sp>
        <p:nvSpPr>
          <p:cNvPr id="23575" name="Oval 23"/>
          <p:cNvSpPr>
            <a:spLocks noChangeArrowheads="1"/>
          </p:cNvSpPr>
          <p:nvPr/>
        </p:nvSpPr>
        <p:spPr bwMode="auto">
          <a:xfrm>
            <a:off x="4787900" y="3794125"/>
            <a:ext cx="427038"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2200">
                <a:solidFill>
                  <a:schemeClr val="folHlink"/>
                </a:solidFill>
                <a:latin typeface="Arial" pitchFamily="34" charset="0"/>
                <a:ea typeface="黑体" pitchFamily="49" charset="-122"/>
              </a:rPr>
              <a:t>B</a:t>
            </a:r>
            <a:r>
              <a:rPr lang="en-US" altLang="zh-CN" sz="2200" baseline="-25000">
                <a:solidFill>
                  <a:schemeClr val="folHlink"/>
                </a:solidFill>
                <a:latin typeface="Arial" pitchFamily="34" charset="0"/>
                <a:ea typeface="黑体" pitchFamily="49" charset="-122"/>
              </a:rPr>
              <a:t>1</a:t>
            </a:r>
          </a:p>
        </p:txBody>
      </p:sp>
      <p:sp>
        <p:nvSpPr>
          <p:cNvPr id="23576" name="Oval 24"/>
          <p:cNvSpPr>
            <a:spLocks noChangeArrowheads="1"/>
          </p:cNvSpPr>
          <p:nvPr/>
        </p:nvSpPr>
        <p:spPr bwMode="auto">
          <a:xfrm>
            <a:off x="8391525" y="3794125"/>
            <a:ext cx="428625"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2200">
                <a:solidFill>
                  <a:schemeClr val="folHlink"/>
                </a:solidFill>
                <a:latin typeface="Arial" pitchFamily="34" charset="0"/>
                <a:ea typeface="黑体" pitchFamily="49" charset="-122"/>
              </a:rPr>
              <a:t>B</a:t>
            </a:r>
            <a:r>
              <a:rPr lang="en-US" altLang="zh-CN" sz="2200" baseline="-25000">
                <a:solidFill>
                  <a:schemeClr val="folHlink"/>
                </a:solidFill>
                <a:latin typeface="Arial" pitchFamily="34" charset="0"/>
                <a:ea typeface="黑体" pitchFamily="49" charset="-122"/>
              </a:rPr>
              <a:t>2</a:t>
            </a:r>
          </a:p>
        </p:txBody>
      </p:sp>
      <p:sp>
        <p:nvSpPr>
          <p:cNvPr id="23577" name="Oval 25"/>
          <p:cNvSpPr>
            <a:spLocks noChangeArrowheads="1"/>
          </p:cNvSpPr>
          <p:nvPr/>
        </p:nvSpPr>
        <p:spPr bwMode="auto">
          <a:xfrm>
            <a:off x="4787900" y="4408488"/>
            <a:ext cx="427038"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2200">
                <a:solidFill>
                  <a:schemeClr val="folHlink"/>
                </a:solidFill>
                <a:latin typeface="Arial" pitchFamily="34" charset="0"/>
                <a:ea typeface="黑体" pitchFamily="49" charset="-122"/>
              </a:rPr>
              <a:t>C</a:t>
            </a:r>
            <a:r>
              <a:rPr lang="en-US" altLang="zh-CN" sz="2200" baseline="-25000">
                <a:solidFill>
                  <a:schemeClr val="folHlink"/>
                </a:solidFill>
                <a:latin typeface="Arial" pitchFamily="34" charset="0"/>
                <a:ea typeface="黑体" pitchFamily="49" charset="-122"/>
              </a:rPr>
              <a:t>1</a:t>
            </a:r>
          </a:p>
        </p:txBody>
      </p:sp>
      <p:sp>
        <p:nvSpPr>
          <p:cNvPr id="23578" name="Oval 26"/>
          <p:cNvSpPr>
            <a:spLocks noChangeArrowheads="1"/>
          </p:cNvSpPr>
          <p:nvPr/>
        </p:nvSpPr>
        <p:spPr bwMode="auto">
          <a:xfrm>
            <a:off x="8391525" y="4408488"/>
            <a:ext cx="428625" cy="46037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2200">
                <a:solidFill>
                  <a:schemeClr val="folHlink"/>
                </a:solidFill>
                <a:latin typeface="Arial" pitchFamily="34" charset="0"/>
                <a:ea typeface="黑体" pitchFamily="49" charset="-122"/>
              </a:rPr>
              <a:t>C</a:t>
            </a:r>
            <a:r>
              <a:rPr lang="en-US" altLang="zh-CN" sz="2200" baseline="-25000">
                <a:solidFill>
                  <a:schemeClr val="folHlink"/>
                </a:solidFill>
                <a:latin typeface="Arial" pitchFamily="34" charset="0"/>
                <a:ea typeface="黑体" pitchFamily="49" charset="-122"/>
              </a:rPr>
              <a:t>2</a:t>
            </a:r>
          </a:p>
        </p:txBody>
      </p:sp>
      <p:sp>
        <p:nvSpPr>
          <p:cNvPr id="23579" name="Rectangle 27"/>
          <p:cNvSpPr>
            <a:spLocks noChangeArrowheads="1"/>
          </p:cNvSpPr>
          <p:nvPr/>
        </p:nvSpPr>
        <p:spPr bwMode="auto">
          <a:xfrm>
            <a:off x="5473700" y="3792538"/>
            <a:ext cx="601663" cy="4619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r>
              <a:rPr lang="zh-CN" altLang="en-US" sz="2200">
                <a:solidFill>
                  <a:schemeClr val="folHlink"/>
                </a:solidFill>
                <a:latin typeface="Arial" pitchFamily="34" charset="0"/>
                <a:ea typeface="黑体" pitchFamily="49" charset="-122"/>
              </a:rPr>
              <a:t>复用</a:t>
            </a:r>
          </a:p>
        </p:txBody>
      </p:sp>
      <p:sp>
        <p:nvSpPr>
          <p:cNvPr id="23580" name="Rectangle 28"/>
          <p:cNvSpPr>
            <a:spLocks noChangeArrowheads="1"/>
          </p:cNvSpPr>
          <p:nvPr/>
        </p:nvSpPr>
        <p:spPr bwMode="auto">
          <a:xfrm>
            <a:off x="7531100" y="3792538"/>
            <a:ext cx="601663" cy="4619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r>
              <a:rPr lang="zh-CN" altLang="en-US" sz="2200">
                <a:solidFill>
                  <a:schemeClr val="folHlink"/>
                </a:solidFill>
                <a:latin typeface="Arial" pitchFamily="34" charset="0"/>
                <a:ea typeface="黑体" pitchFamily="49" charset="-122"/>
              </a:rPr>
              <a:t>分用</a:t>
            </a:r>
          </a:p>
        </p:txBody>
      </p:sp>
      <p:sp>
        <p:nvSpPr>
          <p:cNvPr id="23581" name="Text Box 32"/>
          <p:cNvSpPr txBox="1">
            <a:spLocks noChangeArrowheads="1"/>
          </p:cNvSpPr>
          <p:nvPr/>
        </p:nvSpPr>
        <p:spPr bwMode="auto">
          <a:xfrm>
            <a:off x="684213" y="5214938"/>
            <a:ext cx="292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en-US" altLang="zh-CN">
                <a:solidFill>
                  <a:schemeClr val="folHlink"/>
                </a:solidFill>
                <a:latin typeface="黑体" pitchFamily="49" charset="-122"/>
                <a:ea typeface="黑体" pitchFamily="49" charset="-122"/>
              </a:rPr>
              <a:t>(a) </a:t>
            </a:r>
            <a:r>
              <a:rPr lang="zh-CN" altLang="en-US">
                <a:solidFill>
                  <a:schemeClr val="folHlink"/>
                </a:solidFill>
                <a:latin typeface="黑体" pitchFamily="49" charset="-122"/>
                <a:ea typeface="黑体" pitchFamily="49" charset="-122"/>
              </a:rPr>
              <a:t>不使用复用技术</a:t>
            </a:r>
          </a:p>
        </p:txBody>
      </p:sp>
      <p:sp>
        <p:nvSpPr>
          <p:cNvPr id="23582" name="Text Box 33"/>
          <p:cNvSpPr txBox="1">
            <a:spLocks noChangeArrowheads="1"/>
          </p:cNvSpPr>
          <p:nvPr/>
        </p:nvSpPr>
        <p:spPr bwMode="auto">
          <a:xfrm>
            <a:off x="5580063" y="5221288"/>
            <a:ext cx="2470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en-US" altLang="zh-CN">
                <a:solidFill>
                  <a:schemeClr val="folHlink"/>
                </a:solidFill>
                <a:latin typeface="Arial" pitchFamily="34" charset="0"/>
                <a:ea typeface="黑体" pitchFamily="49" charset="-122"/>
              </a:rPr>
              <a:t>(b) </a:t>
            </a:r>
            <a:r>
              <a:rPr lang="zh-CN" altLang="en-US">
                <a:solidFill>
                  <a:schemeClr val="folHlink"/>
                </a:solidFill>
                <a:latin typeface="Arial" pitchFamily="34" charset="0"/>
                <a:ea typeface="黑体" pitchFamily="49" charset="-122"/>
              </a:rPr>
              <a:t>使用复用技术</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algn="ctr" eaLnBrk="1" hangingPunct="1"/>
            <a:r>
              <a:rPr lang="zh-CN" altLang="en-US" sz="4000" smtClean="0"/>
              <a:t>频分复用 </a:t>
            </a:r>
            <a:r>
              <a:rPr lang="en-US" altLang="zh-CN" sz="4000" smtClean="0"/>
              <a:t>FDM</a:t>
            </a:r>
            <a:br>
              <a:rPr lang="en-US" altLang="zh-CN" sz="4000" smtClean="0"/>
            </a:br>
            <a:r>
              <a:rPr lang="en-US" altLang="zh-CN" sz="4000" smtClean="0"/>
              <a:t>(Frequency Division Multiplexing) </a:t>
            </a:r>
          </a:p>
        </p:txBody>
      </p:sp>
      <p:sp>
        <p:nvSpPr>
          <p:cNvPr id="24579" name="Rectangle 3"/>
          <p:cNvSpPr>
            <a:spLocks noGrp="1" noChangeArrowheads="1"/>
          </p:cNvSpPr>
          <p:nvPr>
            <p:ph type="body" idx="1"/>
          </p:nvPr>
        </p:nvSpPr>
        <p:spPr>
          <a:xfrm>
            <a:off x="900113" y="1773238"/>
            <a:ext cx="7915275" cy="1800225"/>
          </a:xfrm>
        </p:spPr>
        <p:txBody>
          <a:bodyPr/>
          <a:lstStyle/>
          <a:p>
            <a:pPr eaLnBrk="1" hangingPunct="1"/>
            <a:r>
              <a:rPr lang="zh-CN" altLang="en-US" sz="2200" smtClean="0"/>
              <a:t>用户在分配到一定的频带后，在通信过程中自始至终都占用这个频带。</a:t>
            </a:r>
          </a:p>
          <a:p>
            <a:pPr eaLnBrk="1" hangingPunct="1"/>
            <a:r>
              <a:rPr lang="zh-CN" altLang="en-US" sz="2200" smtClean="0">
                <a:solidFill>
                  <a:schemeClr val="hlink"/>
                </a:solidFill>
              </a:rPr>
              <a:t>频分复用</a:t>
            </a:r>
            <a:r>
              <a:rPr lang="zh-CN" altLang="en-US" sz="2200" smtClean="0"/>
              <a:t>的所有用户在同样的时间占用不同的带宽资源（请注意，这里的“带宽”是频率带宽而不是数据的发送速率）。 </a:t>
            </a:r>
          </a:p>
        </p:txBody>
      </p:sp>
      <p:grpSp>
        <p:nvGrpSpPr>
          <p:cNvPr id="24580" name="Group 42"/>
          <p:cNvGrpSpPr>
            <a:grpSpLocks/>
          </p:cNvGrpSpPr>
          <p:nvPr/>
        </p:nvGrpSpPr>
        <p:grpSpPr bwMode="auto">
          <a:xfrm>
            <a:off x="1392238" y="3357563"/>
            <a:ext cx="7500937" cy="2990850"/>
            <a:chOff x="494" y="2310"/>
            <a:chExt cx="4725" cy="2100"/>
          </a:xfrm>
        </p:grpSpPr>
        <p:sp>
          <p:nvSpPr>
            <p:cNvPr id="24581" name="Line 28"/>
            <p:cNvSpPr>
              <a:spLocks noChangeShapeType="1"/>
            </p:cNvSpPr>
            <p:nvPr/>
          </p:nvSpPr>
          <p:spPr bwMode="auto">
            <a:xfrm flipV="1">
              <a:off x="930" y="4284"/>
              <a:ext cx="3853" cy="7"/>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2" name="Text Box 29"/>
            <p:cNvSpPr txBox="1">
              <a:spLocks noChangeArrowheads="1"/>
            </p:cNvSpPr>
            <p:nvPr/>
          </p:nvSpPr>
          <p:spPr bwMode="auto">
            <a:xfrm>
              <a:off x="494" y="2310"/>
              <a:ext cx="43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Times New Roman" pitchFamily="18" charset="0"/>
                  <a:ea typeface="黑体" pitchFamily="49" charset="-122"/>
                </a:rPr>
                <a:t>频率</a:t>
              </a:r>
            </a:p>
          </p:txBody>
        </p:sp>
        <p:sp>
          <p:nvSpPr>
            <p:cNvPr id="24583" name="Text Box 30"/>
            <p:cNvSpPr txBox="1">
              <a:spLocks noChangeArrowheads="1"/>
            </p:cNvSpPr>
            <p:nvPr/>
          </p:nvSpPr>
          <p:spPr bwMode="auto">
            <a:xfrm>
              <a:off x="4783" y="4152"/>
              <a:ext cx="436"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Times New Roman" pitchFamily="18" charset="0"/>
                  <a:ea typeface="黑体" pitchFamily="49" charset="-122"/>
                </a:rPr>
                <a:t>时间</a:t>
              </a:r>
            </a:p>
          </p:txBody>
        </p:sp>
        <p:sp>
          <p:nvSpPr>
            <p:cNvPr id="24584" name="Rectangle 31"/>
            <p:cNvSpPr>
              <a:spLocks noChangeArrowheads="1"/>
            </p:cNvSpPr>
            <p:nvPr/>
          </p:nvSpPr>
          <p:spPr bwMode="auto">
            <a:xfrm>
              <a:off x="930" y="2567"/>
              <a:ext cx="3492" cy="27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5" name="Rectangle 32"/>
            <p:cNvSpPr>
              <a:spLocks noChangeArrowheads="1"/>
            </p:cNvSpPr>
            <p:nvPr/>
          </p:nvSpPr>
          <p:spPr bwMode="auto">
            <a:xfrm>
              <a:off x="930" y="2839"/>
              <a:ext cx="3492" cy="27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6" name="Rectangle 33"/>
            <p:cNvSpPr>
              <a:spLocks noChangeArrowheads="1"/>
            </p:cNvSpPr>
            <p:nvPr/>
          </p:nvSpPr>
          <p:spPr bwMode="auto">
            <a:xfrm>
              <a:off x="930" y="3111"/>
              <a:ext cx="3492" cy="27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7" name="Rectangle 34"/>
            <p:cNvSpPr>
              <a:spLocks noChangeArrowheads="1"/>
            </p:cNvSpPr>
            <p:nvPr/>
          </p:nvSpPr>
          <p:spPr bwMode="auto">
            <a:xfrm>
              <a:off x="930" y="3383"/>
              <a:ext cx="3492" cy="27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8" name="Rectangle 35"/>
            <p:cNvSpPr>
              <a:spLocks noChangeArrowheads="1"/>
            </p:cNvSpPr>
            <p:nvPr/>
          </p:nvSpPr>
          <p:spPr bwMode="auto">
            <a:xfrm>
              <a:off x="930" y="3655"/>
              <a:ext cx="3492" cy="27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9" name="Text Box 36"/>
            <p:cNvSpPr txBox="1">
              <a:spLocks noChangeArrowheads="1"/>
            </p:cNvSpPr>
            <p:nvPr/>
          </p:nvSpPr>
          <p:spPr bwMode="auto">
            <a:xfrm>
              <a:off x="2426" y="3696"/>
              <a:ext cx="569"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Arial" pitchFamily="34" charset="0"/>
                  <a:ea typeface="黑体" pitchFamily="49" charset="-122"/>
                </a:rPr>
                <a:t>频率 </a:t>
              </a:r>
              <a:r>
                <a:rPr kumimoji="1" lang="en-US" altLang="zh-CN" sz="2000">
                  <a:solidFill>
                    <a:srgbClr val="333399"/>
                  </a:solidFill>
                  <a:latin typeface="Arial" pitchFamily="34" charset="0"/>
                  <a:ea typeface="黑体" pitchFamily="49" charset="-122"/>
                </a:rPr>
                <a:t>1</a:t>
              </a:r>
            </a:p>
          </p:txBody>
        </p:sp>
        <p:sp>
          <p:nvSpPr>
            <p:cNvPr id="24590" name="Text Box 37"/>
            <p:cNvSpPr txBox="1">
              <a:spLocks noChangeArrowheads="1"/>
            </p:cNvSpPr>
            <p:nvPr/>
          </p:nvSpPr>
          <p:spPr bwMode="auto">
            <a:xfrm>
              <a:off x="2426" y="3422"/>
              <a:ext cx="569"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Arial" pitchFamily="34" charset="0"/>
                  <a:ea typeface="黑体" pitchFamily="49" charset="-122"/>
                </a:rPr>
                <a:t>频率 </a:t>
              </a:r>
              <a:r>
                <a:rPr kumimoji="1" lang="en-US" altLang="zh-CN" sz="2000">
                  <a:solidFill>
                    <a:srgbClr val="333399"/>
                  </a:solidFill>
                  <a:latin typeface="Arial" pitchFamily="34" charset="0"/>
                  <a:ea typeface="黑体" pitchFamily="49" charset="-122"/>
                </a:rPr>
                <a:t>2</a:t>
              </a:r>
            </a:p>
          </p:txBody>
        </p:sp>
        <p:sp>
          <p:nvSpPr>
            <p:cNvPr id="24591" name="Text Box 38"/>
            <p:cNvSpPr txBox="1">
              <a:spLocks noChangeArrowheads="1"/>
            </p:cNvSpPr>
            <p:nvPr/>
          </p:nvSpPr>
          <p:spPr bwMode="auto">
            <a:xfrm>
              <a:off x="2426" y="3147"/>
              <a:ext cx="569"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Arial" pitchFamily="34" charset="0"/>
                  <a:ea typeface="黑体" pitchFamily="49" charset="-122"/>
                </a:rPr>
                <a:t>频率 </a:t>
              </a:r>
              <a:r>
                <a:rPr kumimoji="1" lang="en-US" altLang="zh-CN" sz="2000">
                  <a:solidFill>
                    <a:srgbClr val="333399"/>
                  </a:solidFill>
                  <a:latin typeface="Arial" pitchFamily="34" charset="0"/>
                  <a:ea typeface="黑体" pitchFamily="49" charset="-122"/>
                </a:rPr>
                <a:t>3</a:t>
              </a:r>
            </a:p>
          </p:txBody>
        </p:sp>
        <p:sp>
          <p:nvSpPr>
            <p:cNvPr id="24592" name="Text Box 39"/>
            <p:cNvSpPr txBox="1">
              <a:spLocks noChangeArrowheads="1"/>
            </p:cNvSpPr>
            <p:nvPr/>
          </p:nvSpPr>
          <p:spPr bwMode="auto">
            <a:xfrm>
              <a:off x="2426" y="2872"/>
              <a:ext cx="569"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Arial" pitchFamily="34" charset="0"/>
                  <a:ea typeface="黑体" pitchFamily="49" charset="-122"/>
                </a:rPr>
                <a:t>频率 </a:t>
              </a:r>
              <a:r>
                <a:rPr kumimoji="1" lang="en-US" altLang="zh-CN" sz="2000">
                  <a:solidFill>
                    <a:srgbClr val="333399"/>
                  </a:solidFill>
                  <a:latin typeface="Arial" pitchFamily="34" charset="0"/>
                  <a:ea typeface="黑体" pitchFamily="49" charset="-122"/>
                </a:rPr>
                <a:t>4</a:t>
              </a:r>
            </a:p>
          </p:txBody>
        </p:sp>
        <p:sp>
          <p:nvSpPr>
            <p:cNvPr id="24593" name="Text Box 40"/>
            <p:cNvSpPr txBox="1">
              <a:spLocks noChangeArrowheads="1"/>
            </p:cNvSpPr>
            <p:nvPr/>
          </p:nvSpPr>
          <p:spPr bwMode="auto">
            <a:xfrm>
              <a:off x="2426" y="2598"/>
              <a:ext cx="569"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Arial" pitchFamily="34" charset="0"/>
                  <a:ea typeface="黑体" pitchFamily="49" charset="-122"/>
                </a:rPr>
                <a:t>频率 </a:t>
              </a:r>
              <a:r>
                <a:rPr kumimoji="1" lang="en-US" altLang="zh-CN" sz="2000">
                  <a:solidFill>
                    <a:srgbClr val="333399"/>
                  </a:solidFill>
                  <a:latin typeface="Arial" pitchFamily="34" charset="0"/>
                  <a:ea typeface="黑体" pitchFamily="49" charset="-122"/>
                </a:rPr>
                <a:t>5</a:t>
              </a:r>
            </a:p>
          </p:txBody>
        </p:sp>
        <p:sp>
          <p:nvSpPr>
            <p:cNvPr id="24594" name="Line 41"/>
            <p:cNvSpPr>
              <a:spLocks noChangeShapeType="1"/>
            </p:cNvSpPr>
            <p:nvPr/>
          </p:nvSpPr>
          <p:spPr bwMode="auto">
            <a:xfrm rot="-5400000">
              <a:off x="-5" y="3353"/>
              <a:ext cx="187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50938" y="214313"/>
            <a:ext cx="7597775" cy="1462087"/>
          </a:xfrm>
        </p:spPr>
        <p:txBody>
          <a:bodyPr/>
          <a:lstStyle/>
          <a:p>
            <a:pPr algn="ctr" eaLnBrk="1" hangingPunct="1"/>
            <a:r>
              <a:rPr lang="zh-CN" altLang="en-US" smtClean="0"/>
              <a:t>时分复用</a:t>
            </a:r>
            <a:r>
              <a:rPr lang="en-US" altLang="zh-CN" smtClean="0"/>
              <a:t>TDM</a:t>
            </a:r>
            <a:br>
              <a:rPr lang="en-US" altLang="zh-CN" smtClean="0"/>
            </a:br>
            <a:r>
              <a:rPr lang="en-US" altLang="zh-CN" smtClean="0"/>
              <a:t>(Time Division Multiplexing) </a:t>
            </a:r>
          </a:p>
        </p:txBody>
      </p:sp>
      <p:sp>
        <p:nvSpPr>
          <p:cNvPr id="25603" name="Rectangle 3"/>
          <p:cNvSpPr>
            <a:spLocks noGrp="1" noChangeArrowheads="1"/>
          </p:cNvSpPr>
          <p:nvPr>
            <p:ph type="body" idx="1"/>
          </p:nvPr>
        </p:nvSpPr>
        <p:spPr>
          <a:xfrm>
            <a:off x="1042988" y="1917700"/>
            <a:ext cx="7772400" cy="4248150"/>
          </a:xfrm>
        </p:spPr>
        <p:txBody>
          <a:bodyPr/>
          <a:lstStyle/>
          <a:p>
            <a:pPr eaLnBrk="1" hangingPunct="1"/>
            <a:r>
              <a:rPr lang="zh-CN" altLang="en-US" sz="2600" smtClean="0">
                <a:solidFill>
                  <a:schemeClr val="hlink"/>
                </a:solidFill>
              </a:rPr>
              <a:t>时分复用</a:t>
            </a:r>
            <a:r>
              <a:rPr lang="zh-CN" altLang="en-US" sz="2600" smtClean="0"/>
              <a:t>则是将时间划分为一段段等长的</a:t>
            </a:r>
            <a:r>
              <a:rPr lang="zh-CN" altLang="en-US" sz="2600" smtClean="0">
                <a:solidFill>
                  <a:schemeClr val="hlink"/>
                </a:solidFill>
              </a:rPr>
              <a:t>时分复用帧</a:t>
            </a:r>
            <a:r>
              <a:rPr lang="zh-CN" altLang="en-US" sz="2600" smtClean="0"/>
              <a:t>（</a:t>
            </a:r>
            <a:r>
              <a:rPr lang="en-US" altLang="zh-CN" sz="2600" smtClean="0"/>
              <a:t>TDM </a:t>
            </a:r>
            <a:r>
              <a:rPr lang="zh-CN" altLang="en-US" sz="2600" smtClean="0"/>
              <a:t>帧）。每一个时分复用的用户在每一个 </a:t>
            </a:r>
            <a:r>
              <a:rPr lang="en-US" altLang="zh-CN" sz="2600" smtClean="0"/>
              <a:t>TDM </a:t>
            </a:r>
            <a:r>
              <a:rPr lang="zh-CN" altLang="en-US" sz="2600" smtClean="0"/>
              <a:t>帧中占用固定序号的时隙。</a:t>
            </a:r>
          </a:p>
          <a:p>
            <a:pPr eaLnBrk="1" hangingPunct="1"/>
            <a:r>
              <a:rPr lang="zh-CN" altLang="en-US" sz="2600" smtClean="0"/>
              <a:t>每一个用户所占用的时隙是</a:t>
            </a:r>
            <a:r>
              <a:rPr lang="zh-CN" altLang="en-US" sz="2600" smtClean="0">
                <a:solidFill>
                  <a:schemeClr val="hlink"/>
                </a:solidFill>
              </a:rPr>
              <a:t>周期性地出现</a:t>
            </a:r>
            <a:r>
              <a:rPr lang="zh-CN" altLang="en-US" sz="2600" smtClean="0"/>
              <a:t>（其周期就是 </a:t>
            </a:r>
            <a:r>
              <a:rPr lang="en-US" altLang="zh-CN" sz="2600" smtClean="0"/>
              <a:t>TDM  </a:t>
            </a:r>
            <a:r>
              <a:rPr lang="zh-CN" altLang="en-US" sz="2600" smtClean="0"/>
              <a:t>帧的长度）。</a:t>
            </a:r>
          </a:p>
          <a:p>
            <a:pPr eaLnBrk="1" hangingPunct="1"/>
            <a:r>
              <a:rPr lang="en-US" altLang="zh-CN" sz="2600" smtClean="0"/>
              <a:t>TDM </a:t>
            </a:r>
            <a:r>
              <a:rPr lang="zh-CN" altLang="en-US" sz="2600" smtClean="0"/>
              <a:t>信号也称为</a:t>
            </a:r>
            <a:r>
              <a:rPr lang="zh-CN" altLang="en-US" sz="2600" smtClean="0">
                <a:solidFill>
                  <a:schemeClr val="hlink"/>
                </a:solidFill>
              </a:rPr>
              <a:t>等时</a:t>
            </a:r>
            <a:r>
              <a:rPr lang="en-US" altLang="zh-CN" sz="2600" smtClean="0"/>
              <a:t>(isochronous)</a:t>
            </a:r>
            <a:r>
              <a:rPr lang="zh-CN" altLang="en-US" sz="2600" smtClean="0"/>
              <a:t>信号。</a:t>
            </a:r>
          </a:p>
          <a:p>
            <a:pPr eaLnBrk="1" hangingPunct="1"/>
            <a:r>
              <a:rPr lang="zh-CN" altLang="en-US" sz="2600" smtClean="0"/>
              <a:t>时分复用的所有用户是在不同的时间占用</a:t>
            </a:r>
            <a:r>
              <a:rPr lang="zh-CN" altLang="en-US" sz="2600" smtClean="0">
                <a:solidFill>
                  <a:schemeClr val="hlink"/>
                </a:solidFill>
              </a:rPr>
              <a:t>同样的</a:t>
            </a:r>
            <a:r>
              <a:rPr lang="zh-CN" altLang="en-US" sz="2600" smtClean="0"/>
              <a:t>频带宽度。</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lgn="ctr" eaLnBrk="1" hangingPunct="1"/>
            <a:r>
              <a:rPr lang="zh-CN" altLang="en-US" smtClean="0"/>
              <a:t>时分复用 </a:t>
            </a:r>
          </a:p>
        </p:txBody>
      </p:sp>
      <p:sp>
        <p:nvSpPr>
          <p:cNvPr id="26627" name="Line 3"/>
          <p:cNvSpPr>
            <a:spLocks noChangeShapeType="1"/>
          </p:cNvSpPr>
          <p:nvPr/>
        </p:nvSpPr>
        <p:spPr bwMode="auto">
          <a:xfrm flipV="1">
            <a:off x="1476375" y="5146675"/>
            <a:ext cx="6116638" cy="1111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28" name="Text Box 4"/>
          <p:cNvSpPr txBox="1">
            <a:spLocks noChangeArrowheads="1"/>
          </p:cNvSpPr>
          <p:nvPr/>
        </p:nvSpPr>
        <p:spPr bwMode="auto">
          <a:xfrm>
            <a:off x="784225" y="2012950"/>
            <a:ext cx="692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Times New Roman" pitchFamily="18" charset="0"/>
                <a:ea typeface="黑体" pitchFamily="49" charset="-122"/>
              </a:rPr>
              <a:t>频率</a:t>
            </a:r>
          </a:p>
        </p:txBody>
      </p:sp>
      <p:sp>
        <p:nvSpPr>
          <p:cNvPr id="26629" name="Text Box 5"/>
          <p:cNvSpPr txBox="1">
            <a:spLocks noChangeArrowheads="1"/>
          </p:cNvSpPr>
          <p:nvPr/>
        </p:nvSpPr>
        <p:spPr bwMode="auto">
          <a:xfrm>
            <a:off x="7593013" y="4937125"/>
            <a:ext cx="692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Times New Roman" pitchFamily="18" charset="0"/>
                <a:ea typeface="黑体" pitchFamily="49" charset="-122"/>
              </a:rPr>
              <a:t>时间</a:t>
            </a:r>
          </a:p>
        </p:txBody>
      </p:sp>
      <p:sp>
        <p:nvSpPr>
          <p:cNvPr id="26630" name="Rectangle 6"/>
          <p:cNvSpPr>
            <a:spLocks noChangeArrowheads="1"/>
          </p:cNvSpPr>
          <p:nvPr/>
        </p:nvSpPr>
        <p:spPr bwMode="auto">
          <a:xfrm>
            <a:off x="1763713" y="2636838"/>
            <a:ext cx="287337" cy="18716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6631" name="Rectangle 7"/>
          <p:cNvSpPr>
            <a:spLocks noChangeArrowheads="1"/>
          </p:cNvSpPr>
          <p:nvPr/>
        </p:nvSpPr>
        <p:spPr bwMode="auto">
          <a:xfrm>
            <a:off x="2052638" y="2636838"/>
            <a:ext cx="287337"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6632" name="Rectangle 8"/>
          <p:cNvSpPr>
            <a:spLocks noChangeArrowheads="1"/>
          </p:cNvSpPr>
          <p:nvPr/>
        </p:nvSpPr>
        <p:spPr bwMode="auto">
          <a:xfrm>
            <a:off x="2339975" y="2636838"/>
            <a:ext cx="287338" cy="18716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6633" name="Rectangle 9"/>
          <p:cNvSpPr>
            <a:spLocks noChangeArrowheads="1"/>
          </p:cNvSpPr>
          <p:nvPr/>
        </p:nvSpPr>
        <p:spPr bwMode="auto">
          <a:xfrm>
            <a:off x="2916238" y="2636838"/>
            <a:ext cx="287337" cy="18716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6634" name="Rectangle 10"/>
          <p:cNvSpPr>
            <a:spLocks noChangeArrowheads="1"/>
          </p:cNvSpPr>
          <p:nvPr/>
        </p:nvSpPr>
        <p:spPr bwMode="auto">
          <a:xfrm>
            <a:off x="3205163" y="2636838"/>
            <a:ext cx="287337"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6635" name="Rectangle 11"/>
          <p:cNvSpPr>
            <a:spLocks noChangeArrowheads="1"/>
          </p:cNvSpPr>
          <p:nvPr/>
        </p:nvSpPr>
        <p:spPr bwMode="auto">
          <a:xfrm>
            <a:off x="3492500" y="2636838"/>
            <a:ext cx="287338" cy="18716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6636" name="Rectangle 12"/>
          <p:cNvSpPr>
            <a:spLocks noChangeArrowheads="1"/>
          </p:cNvSpPr>
          <p:nvPr/>
        </p:nvSpPr>
        <p:spPr bwMode="auto">
          <a:xfrm>
            <a:off x="4068763" y="2636838"/>
            <a:ext cx="287337" cy="18716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6637" name="Rectangle 13"/>
          <p:cNvSpPr>
            <a:spLocks noChangeArrowheads="1"/>
          </p:cNvSpPr>
          <p:nvPr/>
        </p:nvSpPr>
        <p:spPr bwMode="auto">
          <a:xfrm>
            <a:off x="4357688" y="2636838"/>
            <a:ext cx="287337"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6638" name="Rectangle 14"/>
          <p:cNvSpPr>
            <a:spLocks noChangeArrowheads="1"/>
          </p:cNvSpPr>
          <p:nvPr/>
        </p:nvSpPr>
        <p:spPr bwMode="auto">
          <a:xfrm>
            <a:off x="4645025" y="2636838"/>
            <a:ext cx="287338" cy="18716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6639" name="Rectangle 15"/>
          <p:cNvSpPr>
            <a:spLocks noChangeArrowheads="1"/>
          </p:cNvSpPr>
          <p:nvPr/>
        </p:nvSpPr>
        <p:spPr bwMode="auto">
          <a:xfrm>
            <a:off x="5221288" y="2636838"/>
            <a:ext cx="287337" cy="18716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6640" name="Rectangle 16"/>
          <p:cNvSpPr>
            <a:spLocks noChangeArrowheads="1"/>
          </p:cNvSpPr>
          <p:nvPr/>
        </p:nvSpPr>
        <p:spPr bwMode="auto">
          <a:xfrm>
            <a:off x="5510213" y="2636838"/>
            <a:ext cx="287337"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6641" name="Rectangle 17"/>
          <p:cNvSpPr>
            <a:spLocks noChangeArrowheads="1"/>
          </p:cNvSpPr>
          <p:nvPr/>
        </p:nvSpPr>
        <p:spPr bwMode="auto">
          <a:xfrm>
            <a:off x="5797550" y="2636838"/>
            <a:ext cx="287338" cy="18716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grpSp>
        <p:nvGrpSpPr>
          <p:cNvPr id="258066" name="Group 18"/>
          <p:cNvGrpSpPr>
            <a:grpSpLocks/>
          </p:cNvGrpSpPr>
          <p:nvPr/>
        </p:nvGrpSpPr>
        <p:grpSpPr bwMode="auto">
          <a:xfrm>
            <a:off x="1476375" y="2636838"/>
            <a:ext cx="3744913" cy="1871662"/>
            <a:chOff x="930" y="1661"/>
            <a:chExt cx="2359" cy="1179"/>
          </a:xfrm>
        </p:grpSpPr>
        <p:sp>
          <p:nvSpPr>
            <p:cNvPr id="26672" name="Rectangle 19"/>
            <p:cNvSpPr>
              <a:spLocks noChangeArrowheads="1"/>
            </p:cNvSpPr>
            <p:nvPr/>
          </p:nvSpPr>
          <p:spPr bwMode="auto">
            <a:xfrm>
              <a:off x="930" y="1661"/>
              <a:ext cx="181" cy="1179"/>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6673" name="Rectangle 20"/>
            <p:cNvSpPr>
              <a:spLocks noChangeArrowheads="1"/>
            </p:cNvSpPr>
            <p:nvPr/>
          </p:nvSpPr>
          <p:spPr bwMode="auto">
            <a:xfrm>
              <a:off x="1656" y="1661"/>
              <a:ext cx="181" cy="1179"/>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6674" name="Rectangle 21"/>
            <p:cNvSpPr>
              <a:spLocks noChangeArrowheads="1"/>
            </p:cNvSpPr>
            <p:nvPr/>
          </p:nvSpPr>
          <p:spPr bwMode="auto">
            <a:xfrm>
              <a:off x="2382" y="1661"/>
              <a:ext cx="181" cy="1179"/>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6675" name="Rectangle 22"/>
            <p:cNvSpPr>
              <a:spLocks noChangeArrowheads="1"/>
            </p:cNvSpPr>
            <p:nvPr/>
          </p:nvSpPr>
          <p:spPr bwMode="auto">
            <a:xfrm>
              <a:off x="3108" y="1661"/>
              <a:ext cx="181" cy="1179"/>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grpSp>
      <p:sp>
        <p:nvSpPr>
          <p:cNvPr id="26643" name="Text Box 24"/>
          <p:cNvSpPr txBox="1">
            <a:spLocks noChangeArrowheads="1"/>
          </p:cNvSpPr>
          <p:nvPr/>
        </p:nvSpPr>
        <p:spPr bwMode="auto">
          <a:xfrm>
            <a:off x="5292725" y="2133600"/>
            <a:ext cx="29130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lnSpc>
                <a:spcPct val="90000"/>
              </a:lnSpc>
            </a:pPr>
            <a:r>
              <a:rPr kumimoji="1" lang="en-US" altLang="zh-CN" sz="2000">
                <a:solidFill>
                  <a:srgbClr val="333399"/>
                </a:solidFill>
                <a:latin typeface="Arial" pitchFamily="34" charset="0"/>
                <a:ea typeface="黑体" pitchFamily="49" charset="-122"/>
              </a:rPr>
              <a:t>A </a:t>
            </a:r>
            <a:r>
              <a:rPr kumimoji="1" lang="zh-CN" altLang="en-US" sz="2000">
                <a:solidFill>
                  <a:srgbClr val="333399"/>
                </a:solidFill>
                <a:latin typeface="Arial" pitchFamily="34" charset="0"/>
                <a:ea typeface="黑体" pitchFamily="49" charset="-122"/>
              </a:rPr>
              <a:t>在</a:t>
            </a:r>
            <a:r>
              <a:rPr kumimoji="1" lang="zh-CN" altLang="en-US" sz="1400">
                <a:solidFill>
                  <a:srgbClr val="333399"/>
                </a:solidFill>
                <a:latin typeface="Arial" pitchFamily="34" charset="0"/>
                <a:ea typeface="黑体" pitchFamily="49" charset="-122"/>
              </a:rPr>
              <a:t> </a:t>
            </a:r>
            <a:r>
              <a:rPr kumimoji="1" lang="en-US" altLang="zh-CN" sz="2000">
                <a:solidFill>
                  <a:srgbClr val="333399"/>
                </a:solidFill>
                <a:latin typeface="Arial" pitchFamily="34" charset="0"/>
                <a:ea typeface="黑体" pitchFamily="49" charset="-122"/>
              </a:rPr>
              <a:t>TDM</a:t>
            </a:r>
            <a:r>
              <a:rPr kumimoji="1" lang="en-US" altLang="zh-CN" sz="14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帧中</a:t>
            </a:r>
          </a:p>
          <a:p>
            <a:pPr eaLnBrk="1" hangingPunct="1">
              <a:lnSpc>
                <a:spcPct val="90000"/>
              </a:lnSpc>
            </a:pPr>
            <a:r>
              <a:rPr kumimoji="1" lang="zh-CN" altLang="en-US" sz="2000">
                <a:solidFill>
                  <a:srgbClr val="333399"/>
                </a:solidFill>
                <a:latin typeface="Arial" pitchFamily="34" charset="0"/>
                <a:ea typeface="黑体" pitchFamily="49" charset="-122"/>
              </a:rPr>
              <a:t>的位置不变</a:t>
            </a:r>
          </a:p>
        </p:txBody>
      </p:sp>
      <p:sp>
        <p:nvSpPr>
          <p:cNvPr id="26644" name="Line 25"/>
          <p:cNvSpPr>
            <a:spLocks noChangeShapeType="1"/>
          </p:cNvSpPr>
          <p:nvPr/>
        </p:nvSpPr>
        <p:spPr bwMode="auto">
          <a:xfrm>
            <a:off x="1619250" y="2276475"/>
            <a:ext cx="409892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5" name="Line 26"/>
          <p:cNvSpPr>
            <a:spLocks noChangeShapeType="1"/>
          </p:cNvSpPr>
          <p:nvPr/>
        </p:nvSpPr>
        <p:spPr bwMode="auto">
          <a:xfrm>
            <a:off x="1619250"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6" name="Line 27"/>
          <p:cNvSpPr>
            <a:spLocks noChangeShapeType="1"/>
          </p:cNvSpPr>
          <p:nvPr/>
        </p:nvSpPr>
        <p:spPr bwMode="auto">
          <a:xfrm>
            <a:off x="2765425"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7" name="Line 28"/>
          <p:cNvSpPr>
            <a:spLocks noChangeShapeType="1"/>
          </p:cNvSpPr>
          <p:nvPr/>
        </p:nvSpPr>
        <p:spPr bwMode="auto">
          <a:xfrm>
            <a:off x="3913188"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8" name="Line 29"/>
          <p:cNvSpPr>
            <a:spLocks noChangeShapeType="1"/>
          </p:cNvSpPr>
          <p:nvPr/>
        </p:nvSpPr>
        <p:spPr bwMode="auto">
          <a:xfrm>
            <a:off x="5059363"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58078" name="Group 30"/>
          <p:cNvGrpSpPr>
            <a:grpSpLocks/>
          </p:cNvGrpSpPr>
          <p:nvPr/>
        </p:nvGrpSpPr>
        <p:grpSpPr bwMode="auto">
          <a:xfrm>
            <a:off x="1476375" y="4581525"/>
            <a:ext cx="1150938" cy="509588"/>
            <a:chOff x="930" y="2886"/>
            <a:chExt cx="725" cy="321"/>
          </a:xfrm>
        </p:grpSpPr>
        <p:sp>
          <p:nvSpPr>
            <p:cNvPr id="26670" name="Text Box 31"/>
            <p:cNvSpPr txBox="1">
              <a:spLocks noChangeArrowheads="1"/>
            </p:cNvSpPr>
            <p:nvPr/>
          </p:nvSpPr>
          <p:spPr bwMode="auto">
            <a:xfrm>
              <a:off x="975"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6671" name="AutoShape 32"/>
            <p:cNvSpPr>
              <a:spLocks/>
            </p:cNvSpPr>
            <p:nvPr/>
          </p:nvSpPr>
          <p:spPr bwMode="auto">
            <a:xfrm rot="16200000" flipV="1">
              <a:off x="1248"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8081" name="Group 33"/>
          <p:cNvGrpSpPr>
            <a:grpSpLocks/>
          </p:cNvGrpSpPr>
          <p:nvPr/>
        </p:nvGrpSpPr>
        <p:grpSpPr bwMode="auto">
          <a:xfrm>
            <a:off x="2627313" y="4581525"/>
            <a:ext cx="1150937" cy="509588"/>
            <a:chOff x="1655" y="2886"/>
            <a:chExt cx="725" cy="321"/>
          </a:xfrm>
        </p:grpSpPr>
        <p:sp>
          <p:nvSpPr>
            <p:cNvPr id="26668" name="Text Box 34"/>
            <p:cNvSpPr txBox="1">
              <a:spLocks noChangeArrowheads="1"/>
            </p:cNvSpPr>
            <p:nvPr/>
          </p:nvSpPr>
          <p:spPr bwMode="auto">
            <a:xfrm>
              <a:off x="1700"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6669" name="AutoShape 35"/>
            <p:cNvSpPr>
              <a:spLocks/>
            </p:cNvSpPr>
            <p:nvPr/>
          </p:nvSpPr>
          <p:spPr bwMode="auto">
            <a:xfrm rot="16200000" flipV="1">
              <a:off x="1973"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8084" name="Group 36"/>
          <p:cNvGrpSpPr>
            <a:grpSpLocks/>
          </p:cNvGrpSpPr>
          <p:nvPr/>
        </p:nvGrpSpPr>
        <p:grpSpPr bwMode="auto">
          <a:xfrm>
            <a:off x="3778250" y="4581525"/>
            <a:ext cx="1150938" cy="509588"/>
            <a:chOff x="2380" y="2886"/>
            <a:chExt cx="725" cy="321"/>
          </a:xfrm>
        </p:grpSpPr>
        <p:sp>
          <p:nvSpPr>
            <p:cNvPr id="26666" name="Text Box 37"/>
            <p:cNvSpPr txBox="1">
              <a:spLocks noChangeArrowheads="1"/>
            </p:cNvSpPr>
            <p:nvPr/>
          </p:nvSpPr>
          <p:spPr bwMode="auto">
            <a:xfrm>
              <a:off x="2426"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6667" name="AutoShape 38"/>
            <p:cNvSpPr>
              <a:spLocks/>
            </p:cNvSpPr>
            <p:nvPr/>
          </p:nvSpPr>
          <p:spPr bwMode="auto">
            <a:xfrm rot="16200000" flipV="1">
              <a:off x="2698"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8087" name="Group 39"/>
          <p:cNvGrpSpPr>
            <a:grpSpLocks/>
          </p:cNvGrpSpPr>
          <p:nvPr/>
        </p:nvGrpSpPr>
        <p:grpSpPr bwMode="auto">
          <a:xfrm>
            <a:off x="4929188" y="4581525"/>
            <a:ext cx="1150937" cy="509588"/>
            <a:chOff x="3105" y="2886"/>
            <a:chExt cx="725" cy="321"/>
          </a:xfrm>
        </p:grpSpPr>
        <p:sp>
          <p:nvSpPr>
            <p:cNvPr id="26664" name="Text Box 40"/>
            <p:cNvSpPr txBox="1">
              <a:spLocks noChangeArrowheads="1"/>
            </p:cNvSpPr>
            <p:nvPr/>
          </p:nvSpPr>
          <p:spPr bwMode="auto">
            <a:xfrm>
              <a:off x="3152"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6665" name="AutoShape 41"/>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6653" name="Rectangle 42"/>
          <p:cNvSpPr>
            <a:spLocks noChangeArrowheads="1"/>
          </p:cNvSpPr>
          <p:nvPr/>
        </p:nvSpPr>
        <p:spPr bwMode="auto">
          <a:xfrm>
            <a:off x="6442075" y="3322638"/>
            <a:ext cx="434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000" b="1">
                <a:solidFill>
                  <a:srgbClr val="333399"/>
                </a:solidFill>
                <a:latin typeface="Times New Roman" pitchFamily="18" charset="0"/>
              </a:rPr>
              <a:t>…</a:t>
            </a:r>
          </a:p>
        </p:txBody>
      </p:sp>
      <p:sp>
        <p:nvSpPr>
          <p:cNvPr id="26654" name="Line 43"/>
          <p:cNvSpPr>
            <a:spLocks noChangeShapeType="1"/>
          </p:cNvSpPr>
          <p:nvPr/>
        </p:nvSpPr>
        <p:spPr bwMode="auto">
          <a:xfrm rot="-5400000">
            <a:off x="-7938" y="3668713"/>
            <a:ext cx="2968625"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58092" name="Group 44"/>
          <p:cNvGrpSpPr>
            <a:grpSpLocks/>
          </p:cNvGrpSpPr>
          <p:nvPr/>
        </p:nvGrpSpPr>
        <p:grpSpPr bwMode="auto">
          <a:xfrm>
            <a:off x="6084888" y="4581525"/>
            <a:ext cx="1150937" cy="509588"/>
            <a:chOff x="3105" y="2886"/>
            <a:chExt cx="725" cy="321"/>
          </a:xfrm>
        </p:grpSpPr>
        <p:sp>
          <p:nvSpPr>
            <p:cNvPr id="26662" name="Text Box 45"/>
            <p:cNvSpPr txBox="1">
              <a:spLocks noChangeArrowheads="1"/>
            </p:cNvSpPr>
            <p:nvPr/>
          </p:nvSpPr>
          <p:spPr bwMode="auto">
            <a:xfrm>
              <a:off x="3152"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6663" name="AutoShape 46"/>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56" name="Group 52"/>
          <p:cNvGrpSpPr>
            <a:grpSpLocks/>
          </p:cNvGrpSpPr>
          <p:nvPr/>
        </p:nvGrpSpPr>
        <p:grpSpPr bwMode="auto">
          <a:xfrm>
            <a:off x="2627313" y="2492375"/>
            <a:ext cx="4610100" cy="2376488"/>
            <a:chOff x="1655" y="1570"/>
            <a:chExt cx="2904" cy="1497"/>
          </a:xfrm>
        </p:grpSpPr>
        <p:sp>
          <p:nvSpPr>
            <p:cNvPr id="26657" name="Line 47"/>
            <p:cNvSpPr>
              <a:spLocks noChangeShapeType="1"/>
            </p:cNvSpPr>
            <p:nvPr/>
          </p:nvSpPr>
          <p:spPr bwMode="auto">
            <a:xfrm>
              <a:off x="1655"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58" name="Line 48"/>
            <p:cNvSpPr>
              <a:spLocks noChangeShapeType="1"/>
            </p:cNvSpPr>
            <p:nvPr/>
          </p:nvSpPr>
          <p:spPr bwMode="auto">
            <a:xfrm>
              <a:off x="2381"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59" name="Line 49"/>
            <p:cNvSpPr>
              <a:spLocks noChangeShapeType="1"/>
            </p:cNvSpPr>
            <p:nvPr/>
          </p:nvSpPr>
          <p:spPr bwMode="auto">
            <a:xfrm>
              <a:off x="3107"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60" name="Line 50"/>
            <p:cNvSpPr>
              <a:spLocks noChangeShapeType="1"/>
            </p:cNvSpPr>
            <p:nvPr/>
          </p:nvSpPr>
          <p:spPr bwMode="auto">
            <a:xfrm>
              <a:off x="3833"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61" name="Line 51"/>
            <p:cNvSpPr>
              <a:spLocks noChangeShapeType="1"/>
            </p:cNvSpPr>
            <p:nvPr/>
          </p:nvSpPr>
          <p:spPr bwMode="auto">
            <a:xfrm>
              <a:off x="4559"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807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500"/>
                                  </p:stCondLst>
                                  <p:childTnLst>
                                    <p:set>
                                      <p:cBhvr>
                                        <p:cTn id="9" dur="1" fill="hold">
                                          <p:stCondLst>
                                            <p:cond delay="0"/>
                                          </p:stCondLst>
                                        </p:cTn>
                                        <p:tgtEl>
                                          <p:spTgt spid="258081"/>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nodeType="afterEffect">
                                  <p:stCondLst>
                                    <p:cond delay="500"/>
                                  </p:stCondLst>
                                  <p:childTnLst>
                                    <p:set>
                                      <p:cBhvr>
                                        <p:cTn id="12" dur="1" fill="hold">
                                          <p:stCondLst>
                                            <p:cond delay="0"/>
                                          </p:stCondLst>
                                        </p:cTn>
                                        <p:tgtEl>
                                          <p:spTgt spid="258084"/>
                                        </p:tgtEl>
                                        <p:attrNameLst>
                                          <p:attrName>style.visibility</p:attrName>
                                        </p:attrNameLst>
                                      </p:cBhvr>
                                      <p:to>
                                        <p:strVal val="visible"/>
                                      </p:to>
                                    </p:set>
                                  </p:childTnLst>
                                </p:cTn>
                              </p:par>
                            </p:childTnLst>
                          </p:cTn>
                        </p:par>
                        <p:par>
                          <p:cTn id="13" fill="hold" nodeType="afterGroup">
                            <p:stCondLst>
                              <p:cond delay="1000"/>
                            </p:stCondLst>
                            <p:childTnLst>
                              <p:par>
                                <p:cTn id="14" presetID="1" presetClass="entr" presetSubtype="0" fill="hold" nodeType="afterEffect">
                                  <p:stCondLst>
                                    <p:cond delay="500"/>
                                  </p:stCondLst>
                                  <p:childTnLst>
                                    <p:set>
                                      <p:cBhvr>
                                        <p:cTn id="15" dur="1" fill="hold">
                                          <p:stCondLst>
                                            <p:cond delay="0"/>
                                          </p:stCondLst>
                                        </p:cTn>
                                        <p:tgtEl>
                                          <p:spTgt spid="258087"/>
                                        </p:tgtEl>
                                        <p:attrNameLst>
                                          <p:attrName>style.visibility</p:attrName>
                                        </p:attrNameLst>
                                      </p:cBhvr>
                                      <p:to>
                                        <p:strVal val="visible"/>
                                      </p:to>
                                    </p:set>
                                  </p:childTnLst>
                                </p:cTn>
                              </p:par>
                            </p:childTnLst>
                          </p:cTn>
                        </p:par>
                        <p:par>
                          <p:cTn id="16" fill="hold" nodeType="afterGroup">
                            <p:stCondLst>
                              <p:cond delay="1500"/>
                            </p:stCondLst>
                            <p:childTnLst>
                              <p:par>
                                <p:cTn id="17" presetID="1" presetClass="entr" presetSubtype="0" fill="hold" nodeType="afterEffect">
                                  <p:stCondLst>
                                    <p:cond delay="500"/>
                                  </p:stCondLst>
                                  <p:childTnLst>
                                    <p:set>
                                      <p:cBhvr>
                                        <p:cTn id="18" dur="1" fill="hold">
                                          <p:stCondLst>
                                            <p:cond delay="0"/>
                                          </p:stCondLst>
                                        </p:cTn>
                                        <p:tgtEl>
                                          <p:spTgt spid="258092"/>
                                        </p:tgtEl>
                                        <p:attrNameLst>
                                          <p:attrName>style.visibility</p:attrName>
                                        </p:attrNameLst>
                                      </p:cBhvr>
                                      <p:to>
                                        <p:strVal val="visible"/>
                                      </p:to>
                                    </p:set>
                                  </p:childTnLst>
                                </p:cTn>
                              </p:par>
                            </p:childTnLst>
                          </p:cTn>
                        </p:par>
                        <p:par>
                          <p:cTn id="19" fill="hold" nodeType="afterGroup">
                            <p:stCondLst>
                              <p:cond delay="2000"/>
                            </p:stCondLst>
                            <p:childTnLst>
                              <p:par>
                                <p:cTn id="20" presetID="35" presetClass="emph" presetSubtype="0" repeatCount="4000" fill="hold" nodeType="afterEffect">
                                  <p:stCondLst>
                                    <p:cond delay="0"/>
                                  </p:stCondLst>
                                  <p:childTnLst>
                                    <p:anim calcmode="discrete" valueType="str">
                                      <p:cBhvr>
                                        <p:cTn id="21" dur="500" fill="hold"/>
                                        <p:tgtEl>
                                          <p:spTgt spid="258066"/>
                                        </p:tgtEl>
                                        <p:attrNameLst>
                                          <p:attrName>style.visibility</p:attrName>
                                        </p:attrNameLst>
                                      </p:cBhvr>
                                      <p:tavLst>
                                        <p:tav tm="0">
                                          <p:val>
                                            <p:strVal val="hidden"/>
                                          </p:val>
                                        </p:tav>
                                        <p:tav tm="50000">
                                          <p:val>
                                            <p:strVal val="visible"/>
                                          </p:val>
                                        </p:tav>
                                      </p:tavLst>
                                    </p:anim>
                                  </p:childTnLst>
                                </p:cTn>
                              </p:par>
                            </p:childTnLst>
                          </p:cTn>
                        </p:par>
                        <p:par>
                          <p:cTn id="22" fill="hold" nodeType="afterGroup">
                            <p:stCondLst>
                              <p:cond delay="4000"/>
                            </p:stCondLst>
                            <p:childTnLst>
                              <p:par>
                                <p:cTn id="23" presetID="1" presetClass="entr" presetSubtype="0" fill="hold" nodeType="afterEffect">
                                  <p:stCondLst>
                                    <p:cond delay="500"/>
                                  </p:stCondLst>
                                  <p:childTnLst>
                                    <p:set>
                                      <p:cBhvr>
                                        <p:cTn id="24" dur="1" fill="hold">
                                          <p:stCondLst>
                                            <p:cond delay="0"/>
                                          </p:stCondLst>
                                        </p:cTn>
                                        <p:tgtEl>
                                          <p:spTgt spid="258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eaLnBrk="1" hangingPunct="1"/>
            <a:r>
              <a:rPr lang="zh-CN" altLang="en-US" smtClean="0"/>
              <a:t>时分复用 </a:t>
            </a:r>
          </a:p>
        </p:txBody>
      </p:sp>
      <p:sp>
        <p:nvSpPr>
          <p:cNvPr id="27651" name="Line 3"/>
          <p:cNvSpPr>
            <a:spLocks noChangeShapeType="1"/>
          </p:cNvSpPr>
          <p:nvPr/>
        </p:nvSpPr>
        <p:spPr bwMode="auto">
          <a:xfrm flipV="1">
            <a:off x="1476375" y="5146675"/>
            <a:ext cx="6116638" cy="1111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2" name="Text Box 4"/>
          <p:cNvSpPr txBox="1">
            <a:spLocks noChangeArrowheads="1"/>
          </p:cNvSpPr>
          <p:nvPr/>
        </p:nvSpPr>
        <p:spPr bwMode="auto">
          <a:xfrm>
            <a:off x="784225" y="2012950"/>
            <a:ext cx="692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Times New Roman" pitchFamily="18" charset="0"/>
                <a:ea typeface="黑体" pitchFamily="49" charset="-122"/>
              </a:rPr>
              <a:t>频率</a:t>
            </a:r>
          </a:p>
        </p:txBody>
      </p:sp>
      <p:sp>
        <p:nvSpPr>
          <p:cNvPr id="27653" name="Text Box 5"/>
          <p:cNvSpPr txBox="1">
            <a:spLocks noChangeArrowheads="1"/>
          </p:cNvSpPr>
          <p:nvPr/>
        </p:nvSpPr>
        <p:spPr bwMode="auto">
          <a:xfrm>
            <a:off x="7593013" y="4937125"/>
            <a:ext cx="692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Times New Roman" pitchFamily="18" charset="0"/>
                <a:ea typeface="黑体" pitchFamily="49" charset="-122"/>
              </a:rPr>
              <a:t>时间</a:t>
            </a:r>
          </a:p>
        </p:txBody>
      </p:sp>
      <p:sp>
        <p:nvSpPr>
          <p:cNvPr id="27654" name="Rectangle 6"/>
          <p:cNvSpPr>
            <a:spLocks noChangeArrowheads="1"/>
          </p:cNvSpPr>
          <p:nvPr/>
        </p:nvSpPr>
        <p:spPr bwMode="auto">
          <a:xfrm>
            <a:off x="2052638" y="2636838"/>
            <a:ext cx="287337"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7655" name="Rectangle 7"/>
          <p:cNvSpPr>
            <a:spLocks noChangeArrowheads="1"/>
          </p:cNvSpPr>
          <p:nvPr/>
        </p:nvSpPr>
        <p:spPr bwMode="auto">
          <a:xfrm>
            <a:off x="2339975" y="2636838"/>
            <a:ext cx="287338" cy="18716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7656" name="Rectangle 8"/>
          <p:cNvSpPr>
            <a:spLocks noChangeArrowheads="1"/>
          </p:cNvSpPr>
          <p:nvPr/>
        </p:nvSpPr>
        <p:spPr bwMode="auto">
          <a:xfrm>
            <a:off x="3205163" y="2636838"/>
            <a:ext cx="287337"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7657" name="Rectangle 9"/>
          <p:cNvSpPr>
            <a:spLocks noChangeArrowheads="1"/>
          </p:cNvSpPr>
          <p:nvPr/>
        </p:nvSpPr>
        <p:spPr bwMode="auto">
          <a:xfrm>
            <a:off x="3492500" y="2636838"/>
            <a:ext cx="287338" cy="18716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7658" name="Rectangle 10"/>
          <p:cNvSpPr>
            <a:spLocks noChangeArrowheads="1"/>
          </p:cNvSpPr>
          <p:nvPr/>
        </p:nvSpPr>
        <p:spPr bwMode="auto">
          <a:xfrm>
            <a:off x="4357688" y="2636838"/>
            <a:ext cx="287337"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7659" name="Rectangle 11"/>
          <p:cNvSpPr>
            <a:spLocks noChangeArrowheads="1"/>
          </p:cNvSpPr>
          <p:nvPr/>
        </p:nvSpPr>
        <p:spPr bwMode="auto">
          <a:xfrm>
            <a:off x="4645025" y="2636838"/>
            <a:ext cx="287338" cy="18716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7660" name="Rectangle 12"/>
          <p:cNvSpPr>
            <a:spLocks noChangeArrowheads="1"/>
          </p:cNvSpPr>
          <p:nvPr/>
        </p:nvSpPr>
        <p:spPr bwMode="auto">
          <a:xfrm>
            <a:off x="1476375" y="2636838"/>
            <a:ext cx="287338" cy="18716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7661" name="Rectangle 13"/>
          <p:cNvSpPr>
            <a:spLocks noChangeArrowheads="1"/>
          </p:cNvSpPr>
          <p:nvPr/>
        </p:nvSpPr>
        <p:spPr bwMode="auto">
          <a:xfrm>
            <a:off x="2628900" y="2636838"/>
            <a:ext cx="287338" cy="18716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7662" name="Rectangle 14"/>
          <p:cNvSpPr>
            <a:spLocks noChangeArrowheads="1"/>
          </p:cNvSpPr>
          <p:nvPr/>
        </p:nvSpPr>
        <p:spPr bwMode="auto">
          <a:xfrm>
            <a:off x="3781425" y="2636838"/>
            <a:ext cx="287338" cy="18716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7663" name="Rectangle 15"/>
          <p:cNvSpPr>
            <a:spLocks noChangeArrowheads="1"/>
          </p:cNvSpPr>
          <p:nvPr/>
        </p:nvSpPr>
        <p:spPr bwMode="auto">
          <a:xfrm>
            <a:off x="4933950" y="2636838"/>
            <a:ext cx="287338" cy="18716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grpSp>
        <p:nvGrpSpPr>
          <p:cNvPr id="260112" name="Group 16"/>
          <p:cNvGrpSpPr>
            <a:grpSpLocks/>
          </p:cNvGrpSpPr>
          <p:nvPr/>
        </p:nvGrpSpPr>
        <p:grpSpPr bwMode="auto">
          <a:xfrm>
            <a:off x="1763713" y="2636838"/>
            <a:ext cx="3744912" cy="1871662"/>
            <a:chOff x="1111" y="1661"/>
            <a:chExt cx="2359" cy="1179"/>
          </a:xfrm>
        </p:grpSpPr>
        <p:sp>
          <p:nvSpPr>
            <p:cNvPr id="27696" name="Rectangle 17"/>
            <p:cNvSpPr>
              <a:spLocks noChangeArrowheads="1"/>
            </p:cNvSpPr>
            <p:nvPr/>
          </p:nvSpPr>
          <p:spPr bwMode="auto">
            <a:xfrm>
              <a:off x="1111" y="1661"/>
              <a:ext cx="181" cy="1179"/>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7697" name="Rectangle 18"/>
            <p:cNvSpPr>
              <a:spLocks noChangeArrowheads="1"/>
            </p:cNvSpPr>
            <p:nvPr/>
          </p:nvSpPr>
          <p:spPr bwMode="auto">
            <a:xfrm>
              <a:off x="1837" y="1661"/>
              <a:ext cx="181" cy="1179"/>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7698" name="Rectangle 19"/>
            <p:cNvSpPr>
              <a:spLocks noChangeArrowheads="1"/>
            </p:cNvSpPr>
            <p:nvPr/>
          </p:nvSpPr>
          <p:spPr bwMode="auto">
            <a:xfrm>
              <a:off x="2563" y="1661"/>
              <a:ext cx="181" cy="1179"/>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7699" name="Rectangle 20"/>
            <p:cNvSpPr>
              <a:spLocks noChangeArrowheads="1"/>
            </p:cNvSpPr>
            <p:nvPr/>
          </p:nvSpPr>
          <p:spPr bwMode="auto">
            <a:xfrm>
              <a:off x="3289" y="1661"/>
              <a:ext cx="181" cy="1179"/>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grpSp>
      <p:sp>
        <p:nvSpPr>
          <p:cNvPr id="27665" name="Rectangle 21"/>
          <p:cNvSpPr>
            <a:spLocks noChangeArrowheads="1"/>
          </p:cNvSpPr>
          <p:nvPr/>
        </p:nvSpPr>
        <p:spPr bwMode="auto">
          <a:xfrm>
            <a:off x="5510213" y="2636838"/>
            <a:ext cx="287337"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7666" name="Rectangle 22"/>
          <p:cNvSpPr>
            <a:spLocks noChangeArrowheads="1"/>
          </p:cNvSpPr>
          <p:nvPr/>
        </p:nvSpPr>
        <p:spPr bwMode="auto">
          <a:xfrm>
            <a:off x="5797550" y="2636838"/>
            <a:ext cx="287338" cy="18716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7667" name="Text Box 24"/>
          <p:cNvSpPr txBox="1">
            <a:spLocks noChangeArrowheads="1"/>
          </p:cNvSpPr>
          <p:nvPr/>
        </p:nvSpPr>
        <p:spPr bwMode="auto">
          <a:xfrm>
            <a:off x="6030913" y="2133600"/>
            <a:ext cx="1835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lnSpc>
                <a:spcPct val="90000"/>
              </a:lnSpc>
            </a:pPr>
            <a:r>
              <a:rPr kumimoji="1" lang="en-US" altLang="zh-CN" sz="2000">
                <a:solidFill>
                  <a:srgbClr val="333399"/>
                </a:solidFill>
                <a:latin typeface="Arial" pitchFamily="34" charset="0"/>
                <a:ea typeface="黑体" pitchFamily="49" charset="-122"/>
              </a:rPr>
              <a:t>B </a:t>
            </a:r>
            <a:r>
              <a:rPr kumimoji="1" lang="zh-CN" altLang="en-US" sz="2000">
                <a:solidFill>
                  <a:srgbClr val="333399"/>
                </a:solidFill>
                <a:latin typeface="Arial" pitchFamily="34" charset="0"/>
                <a:ea typeface="黑体" pitchFamily="49" charset="-122"/>
              </a:rPr>
              <a:t>在</a:t>
            </a:r>
            <a:r>
              <a:rPr kumimoji="1" lang="zh-CN" altLang="en-US" sz="1400">
                <a:solidFill>
                  <a:srgbClr val="333399"/>
                </a:solidFill>
                <a:latin typeface="Arial" pitchFamily="34" charset="0"/>
                <a:ea typeface="黑体" pitchFamily="49" charset="-122"/>
              </a:rPr>
              <a:t> </a:t>
            </a:r>
            <a:r>
              <a:rPr kumimoji="1" lang="en-US" altLang="zh-CN" sz="2000">
                <a:solidFill>
                  <a:srgbClr val="333399"/>
                </a:solidFill>
                <a:latin typeface="Arial" pitchFamily="34" charset="0"/>
                <a:ea typeface="黑体" pitchFamily="49" charset="-122"/>
              </a:rPr>
              <a:t>TDM</a:t>
            </a:r>
            <a:r>
              <a:rPr kumimoji="1" lang="en-US" altLang="zh-CN" sz="14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帧中</a:t>
            </a:r>
          </a:p>
          <a:p>
            <a:pPr eaLnBrk="1" hangingPunct="1">
              <a:lnSpc>
                <a:spcPct val="90000"/>
              </a:lnSpc>
            </a:pPr>
            <a:r>
              <a:rPr kumimoji="1" lang="zh-CN" altLang="en-US" sz="2000">
                <a:solidFill>
                  <a:srgbClr val="333399"/>
                </a:solidFill>
                <a:latin typeface="Arial" pitchFamily="34" charset="0"/>
                <a:ea typeface="黑体" pitchFamily="49" charset="-122"/>
              </a:rPr>
              <a:t>的位置不变</a:t>
            </a:r>
          </a:p>
        </p:txBody>
      </p:sp>
      <p:sp>
        <p:nvSpPr>
          <p:cNvPr id="27668" name="Line 25"/>
          <p:cNvSpPr>
            <a:spLocks noChangeShapeType="1"/>
          </p:cNvSpPr>
          <p:nvPr/>
        </p:nvSpPr>
        <p:spPr bwMode="auto">
          <a:xfrm>
            <a:off x="1901825" y="2276475"/>
            <a:ext cx="412115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69" name="Line 26"/>
          <p:cNvSpPr>
            <a:spLocks noChangeShapeType="1"/>
          </p:cNvSpPr>
          <p:nvPr/>
        </p:nvSpPr>
        <p:spPr bwMode="auto">
          <a:xfrm>
            <a:off x="1901825"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70" name="Line 27"/>
          <p:cNvSpPr>
            <a:spLocks noChangeShapeType="1"/>
          </p:cNvSpPr>
          <p:nvPr/>
        </p:nvSpPr>
        <p:spPr bwMode="auto">
          <a:xfrm>
            <a:off x="3054350"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71" name="Line 28"/>
          <p:cNvSpPr>
            <a:spLocks noChangeShapeType="1"/>
          </p:cNvSpPr>
          <p:nvPr/>
        </p:nvSpPr>
        <p:spPr bwMode="auto">
          <a:xfrm>
            <a:off x="4206875"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72" name="Line 29"/>
          <p:cNvSpPr>
            <a:spLocks noChangeShapeType="1"/>
          </p:cNvSpPr>
          <p:nvPr/>
        </p:nvSpPr>
        <p:spPr bwMode="auto">
          <a:xfrm>
            <a:off x="5360988"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673" name="Group 30"/>
          <p:cNvGrpSpPr>
            <a:grpSpLocks/>
          </p:cNvGrpSpPr>
          <p:nvPr/>
        </p:nvGrpSpPr>
        <p:grpSpPr bwMode="auto">
          <a:xfrm>
            <a:off x="1476375" y="4581525"/>
            <a:ext cx="1150938" cy="509588"/>
            <a:chOff x="930" y="2886"/>
            <a:chExt cx="725" cy="321"/>
          </a:xfrm>
        </p:grpSpPr>
        <p:sp>
          <p:nvSpPr>
            <p:cNvPr id="27694" name="Text Box 31"/>
            <p:cNvSpPr txBox="1">
              <a:spLocks noChangeArrowheads="1"/>
            </p:cNvSpPr>
            <p:nvPr/>
          </p:nvSpPr>
          <p:spPr bwMode="auto">
            <a:xfrm>
              <a:off x="975"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7695" name="AutoShape 32"/>
            <p:cNvSpPr>
              <a:spLocks/>
            </p:cNvSpPr>
            <p:nvPr/>
          </p:nvSpPr>
          <p:spPr bwMode="auto">
            <a:xfrm rot="16200000" flipV="1">
              <a:off x="1248"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674" name="Group 33"/>
          <p:cNvGrpSpPr>
            <a:grpSpLocks/>
          </p:cNvGrpSpPr>
          <p:nvPr/>
        </p:nvGrpSpPr>
        <p:grpSpPr bwMode="auto">
          <a:xfrm>
            <a:off x="2627313" y="4581525"/>
            <a:ext cx="1150937" cy="509588"/>
            <a:chOff x="1655" y="2886"/>
            <a:chExt cx="725" cy="321"/>
          </a:xfrm>
        </p:grpSpPr>
        <p:sp>
          <p:nvSpPr>
            <p:cNvPr id="27692" name="Text Box 34"/>
            <p:cNvSpPr txBox="1">
              <a:spLocks noChangeArrowheads="1"/>
            </p:cNvSpPr>
            <p:nvPr/>
          </p:nvSpPr>
          <p:spPr bwMode="auto">
            <a:xfrm>
              <a:off x="1700"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7693" name="AutoShape 35"/>
            <p:cNvSpPr>
              <a:spLocks/>
            </p:cNvSpPr>
            <p:nvPr/>
          </p:nvSpPr>
          <p:spPr bwMode="auto">
            <a:xfrm rot="16200000" flipV="1">
              <a:off x="1973"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675" name="Group 36"/>
          <p:cNvGrpSpPr>
            <a:grpSpLocks/>
          </p:cNvGrpSpPr>
          <p:nvPr/>
        </p:nvGrpSpPr>
        <p:grpSpPr bwMode="auto">
          <a:xfrm>
            <a:off x="3778250" y="4581525"/>
            <a:ext cx="1150938" cy="509588"/>
            <a:chOff x="2380" y="2886"/>
            <a:chExt cx="725" cy="321"/>
          </a:xfrm>
        </p:grpSpPr>
        <p:sp>
          <p:nvSpPr>
            <p:cNvPr id="27690" name="Text Box 37"/>
            <p:cNvSpPr txBox="1">
              <a:spLocks noChangeArrowheads="1"/>
            </p:cNvSpPr>
            <p:nvPr/>
          </p:nvSpPr>
          <p:spPr bwMode="auto">
            <a:xfrm>
              <a:off x="2426"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7691" name="AutoShape 38"/>
            <p:cNvSpPr>
              <a:spLocks/>
            </p:cNvSpPr>
            <p:nvPr/>
          </p:nvSpPr>
          <p:spPr bwMode="auto">
            <a:xfrm rot="16200000" flipV="1">
              <a:off x="2698"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676" name="Group 39"/>
          <p:cNvGrpSpPr>
            <a:grpSpLocks/>
          </p:cNvGrpSpPr>
          <p:nvPr/>
        </p:nvGrpSpPr>
        <p:grpSpPr bwMode="auto">
          <a:xfrm>
            <a:off x="4929188" y="4581525"/>
            <a:ext cx="1150937" cy="509588"/>
            <a:chOff x="3105" y="2886"/>
            <a:chExt cx="725" cy="321"/>
          </a:xfrm>
        </p:grpSpPr>
        <p:sp>
          <p:nvSpPr>
            <p:cNvPr id="27688" name="Text Box 40"/>
            <p:cNvSpPr txBox="1">
              <a:spLocks noChangeArrowheads="1"/>
            </p:cNvSpPr>
            <p:nvPr/>
          </p:nvSpPr>
          <p:spPr bwMode="auto">
            <a:xfrm>
              <a:off x="3152"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7689" name="AutoShape 41"/>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7677" name="Rectangle 42"/>
          <p:cNvSpPr>
            <a:spLocks noChangeArrowheads="1"/>
          </p:cNvSpPr>
          <p:nvPr/>
        </p:nvSpPr>
        <p:spPr bwMode="auto">
          <a:xfrm>
            <a:off x="6513513" y="3322638"/>
            <a:ext cx="434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000" b="1">
                <a:solidFill>
                  <a:srgbClr val="333399"/>
                </a:solidFill>
                <a:latin typeface="Times New Roman" pitchFamily="18" charset="0"/>
              </a:rPr>
              <a:t>…</a:t>
            </a:r>
          </a:p>
        </p:txBody>
      </p:sp>
      <p:sp>
        <p:nvSpPr>
          <p:cNvPr id="27678" name="Line 43"/>
          <p:cNvSpPr>
            <a:spLocks noChangeShapeType="1"/>
          </p:cNvSpPr>
          <p:nvPr/>
        </p:nvSpPr>
        <p:spPr bwMode="auto">
          <a:xfrm rot="-5400000">
            <a:off x="-7938" y="3668713"/>
            <a:ext cx="2968625"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7679" name="Group 44"/>
          <p:cNvGrpSpPr>
            <a:grpSpLocks/>
          </p:cNvGrpSpPr>
          <p:nvPr/>
        </p:nvGrpSpPr>
        <p:grpSpPr bwMode="auto">
          <a:xfrm>
            <a:off x="6084888" y="4581525"/>
            <a:ext cx="1150937" cy="509588"/>
            <a:chOff x="3105" y="2886"/>
            <a:chExt cx="725" cy="321"/>
          </a:xfrm>
        </p:grpSpPr>
        <p:sp>
          <p:nvSpPr>
            <p:cNvPr id="27686" name="Text Box 45"/>
            <p:cNvSpPr txBox="1">
              <a:spLocks noChangeArrowheads="1"/>
            </p:cNvSpPr>
            <p:nvPr/>
          </p:nvSpPr>
          <p:spPr bwMode="auto">
            <a:xfrm>
              <a:off x="3152"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7687" name="AutoShape 46"/>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680" name="Group 47"/>
          <p:cNvGrpSpPr>
            <a:grpSpLocks/>
          </p:cNvGrpSpPr>
          <p:nvPr/>
        </p:nvGrpSpPr>
        <p:grpSpPr bwMode="auto">
          <a:xfrm>
            <a:off x="2627313" y="2492375"/>
            <a:ext cx="4610100" cy="2376488"/>
            <a:chOff x="1655" y="1570"/>
            <a:chExt cx="2904" cy="1497"/>
          </a:xfrm>
        </p:grpSpPr>
        <p:sp>
          <p:nvSpPr>
            <p:cNvPr id="27681" name="Line 48"/>
            <p:cNvSpPr>
              <a:spLocks noChangeShapeType="1"/>
            </p:cNvSpPr>
            <p:nvPr/>
          </p:nvSpPr>
          <p:spPr bwMode="auto">
            <a:xfrm>
              <a:off x="1655"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82" name="Line 49"/>
            <p:cNvSpPr>
              <a:spLocks noChangeShapeType="1"/>
            </p:cNvSpPr>
            <p:nvPr/>
          </p:nvSpPr>
          <p:spPr bwMode="auto">
            <a:xfrm>
              <a:off x="2381"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83" name="Line 50"/>
            <p:cNvSpPr>
              <a:spLocks noChangeShapeType="1"/>
            </p:cNvSpPr>
            <p:nvPr/>
          </p:nvSpPr>
          <p:spPr bwMode="auto">
            <a:xfrm>
              <a:off x="3107"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84" name="Line 51"/>
            <p:cNvSpPr>
              <a:spLocks noChangeShapeType="1"/>
            </p:cNvSpPr>
            <p:nvPr/>
          </p:nvSpPr>
          <p:spPr bwMode="auto">
            <a:xfrm>
              <a:off x="3833"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85" name="Line 52"/>
            <p:cNvSpPr>
              <a:spLocks noChangeShapeType="1"/>
            </p:cNvSpPr>
            <p:nvPr/>
          </p:nvSpPr>
          <p:spPr bwMode="auto">
            <a:xfrm>
              <a:off x="4559"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4000" fill="hold" nodeType="afterEffect">
                                  <p:stCondLst>
                                    <p:cond delay="0"/>
                                  </p:stCondLst>
                                  <p:childTnLst>
                                    <p:anim calcmode="discrete" valueType="str">
                                      <p:cBhvr>
                                        <p:cTn id="6" dur="500" fill="hold"/>
                                        <p:tgtEl>
                                          <p:spTgt spid="2601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eaLnBrk="1" hangingPunct="1"/>
            <a:r>
              <a:rPr lang="zh-CN" altLang="en-US" smtClean="0"/>
              <a:t>时分复用 </a:t>
            </a:r>
          </a:p>
        </p:txBody>
      </p:sp>
      <p:sp>
        <p:nvSpPr>
          <p:cNvPr id="28675" name="Line 3"/>
          <p:cNvSpPr>
            <a:spLocks noChangeShapeType="1"/>
          </p:cNvSpPr>
          <p:nvPr/>
        </p:nvSpPr>
        <p:spPr bwMode="auto">
          <a:xfrm flipV="1">
            <a:off x="1476375" y="5146675"/>
            <a:ext cx="6116638" cy="1111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76" name="Text Box 4"/>
          <p:cNvSpPr txBox="1">
            <a:spLocks noChangeArrowheads="1"/>
          </p:cNvSpPr>
          <p:nvPr/>
        </p:nvSpPr>
        <p:spPr bwMode="auto">
          <a:xfrm>
            <a:off x="784225" y="2012950"/>
            <a:ext cx="692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Times New Roman" pitchFamily="18" charset="0"/>
                <a:ea typeface="黑体" pitchFamily="49" charset="-122"/>
              </a:rPr>
              <a:t>频率</a:t>
            </a:r>
          </a:p>
        </p:txBody>
      </p:sp>
      <p:sp>
        <p:nvSpPr>
          <p:cNvPr id="28677" name="Text Box 5"/>
          <p:cNvSpPr txBox="1">
            <a:spLocks noChangeArrowheads="1"/>
          </p:cNvSpPr>
          <p:nvPr/>
        </p:nvSpPr>
        <p:spPr bwMode="auto">
          <a:xfrm>
            <a:off x="7593013" y="4937125"/>
            <a:ext cx="692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Times New Roman" pitchFamily="18" charset="0"/>
                <a:ea typeface="黑体" pitchFamily="49" charset="-122"/>
              </a:rPr>
              <a:t>时间</a:t>
            </a:r>
          </a:p>
        </p:txBody>
      </p:sp>
      <p:sp>
        <p:nvSpPr>
          <p:cNvPr id="28678" name="Rectangle 6"/>
          <p:cNvSpPr>
            <a:spLocks noChangeArrowheads="1"/>
          </p:cNvSpPr>
          <p:nvPr/>
        </p:nvSpPr>
        <p:spPr bwMode="auto">
          <a:xfrm>
            <a:off x="1763713" y="2636838"/>
            <a:ext cx="287337" cy="18716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8679" name="Rectangle 7"/>
          <p:cNvSpPr>
            <a:spLocks noChangeArrowheads="1"/>
          </p:cNvSpPr>
          <p:nvPr/>
        </p:nvSpPr>
        <p:spPr bwMode="auto">
          <a:xfrm>
            <a:off x="2339975" y="2636838"/>
            <a:ext cx="287338" cy="18716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8680" name="Rectangle 8"/>
          <p:cNvSpPr>
            <a:spLocks noChangeArrowheads="1"/>
          </p:cNvSpPr>
          <p:nvPr/>
        </p:nvSpPr>
        <p:spPr bwMode="auto">
          <a:xfrm>
            <a:off x="2916238" y="2636838"/>
            <a:ext cx="287337" cy="18716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8681" name="Rectangle 9"/>
          <p:cNvSpPr>
            <a:spLocks noChangeArrowheads="1"/>
          </p:cNvSpPr>
          <p:nvPr/>
        </p:nvSpPr>
        <p:spPr bwMode="auto">
          <a:xfrm>
            <a:off x="3492500" y="2636838"/>
            <a:ext cx="287338" cy="18716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8682" name="Rectangle 10"/>
          <p:cNvSpPr>
            <a:spLocks noChangeArrowheads="1"/>
          </p:cNvSpPr>
          <p:nvPr/>
        </p:nvSpPr>
        <p:spPr bwMode="auto">
          <a:xfrm>
            <a:off x="4068763" y="2636838"/>
            <a:ext cx="287337" cy="18716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8683" name="Rectangle 11"/>
          <p:cNvSpPr>
            <a:spLocks noChangeArrowheads="1"/>
          </p:cNvSpPr>
          <p:nvPr/>
        </p:nvSpPr>
        <p:spPr bwMode="auto">
          <a:xfrm>
            <a:off x="4645025" y="2636838"/>
            <a:ext cx="287338" cy="18716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8684" name="Rectangle 12"/>
          <p:cNvSpPr>
            <a:spLocks noChangeArrowheads="1"/>
          </p:cNvSpPr>
          <p:nvPr/>
        </p:nvSpPr>
        <p:spPr bwMode="auto">
          <a:xfrm>
            <a:off x="1476375" y="2636838"/>
            <a:ext cx="287338" cy="18716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8685" name="Rectangle 13"/>
          <p:cNvSpPr>
            <a:spLocks noChangeArrowheads="1"/>
          </p:cNvSpPr>
          <p:nvPr/>
        </p:nvSpPr>
        <p:spPr bwMode="auto">
          <a:xfrm>
            <a:off x="2628900" y="2636838"/>
            <a:ext cx="287338" cy="18716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8686" name="Rectangle 14"/>
          <p:cNvSpPr>
            <a:spLocks noChangeArrowheads="1"/>
          </p:cNvSpPr>
          <p:nvPr/>
        </p:nvSpPr>
        <p:spPr bwMode="auto">
          <a:xfrm>
            <a:off x="3781425" y="2636838"/>
            <a:ext cx="287338" cy="18716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8687" name="Rectangle 15"/>
          <p:cNvSpPr>
            <a:spLocks noChangeArrowheads="1"/>
          </p:cNvSpPr>
          <p:nvPr/>
        </p:nvSpPr>
        <p:spPr bwMode="auto">
          <a:xfrm>
            <a:off x="4933950" y="2636838"/>
            <a:ext cx="287338" cy="18716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8688" name="Rectangle 16"/>
          <p:cNvSpPr>
            <a:spLocks noChangeArrowheads="1"/>
          </p:cNvSpPr>
          <p:nvPr/>
        </p:nvSpPr>
        <p:spPr bwMode="auto">
          <a:xfrm>
            <a:off x="5221288" y="2636838"/>
            <a:ext cx="287337" cy="18716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grpSp>
        <p:nvGrpSpPr>
          <p:cNvPr id="262161" name="Group 17"/>
          <p:cNvGrpSpPr>
            <a:grpSpLocks/>
          </p:cNvGrpSpPr>
          <p:nvPr/>
        </p:nvGrpSpPr>
        <p:grpSpPr bwMode="auto">
          <a:xfrm>
            <a:off x="2052638" y="2636838"/>
            <a:ext cx="3744912" cy="1871662"/>
            <a:chOff x="1293" y="1661"/>
            <a:chExt cx="2359" cy="1179"/>
          </a:xfrm>
        </p:grpSpPr>
        <p:sp>
          <p:nvSpPr>
            <p:cNvPr id="28720" name="Rectangle 18"/>
            <p:cNvSpPr>
              <a:spLocks noChangeArrowheads="1"/>
            </p:cNvSpPr>
            <p:nvPr/>
          </p:nvSpPr>
          <p:spPr bwMode="auto">
            <a:xfrm>
              <a:off x="1293" y="1661"/>
              <a:ext cx="181" cy="1179"/>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8721" name="Rectangle 19"/>
            <p:cNvSpPr>
              <a:spLocks noChangeArrowheads="1"/>
            </p:cNvSpPr>
            <p:nvPr/>
          </p:nvSpPr>
          <p:spPr bwMode="auto">
            <a:xfrm>
              <a:off x="2019" y="1661"/>
              <a:ext cx="181" cy="1179"/>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8722" name="Rectangle 20"/>
            <p:cNvSpPr>
              <a:spLocks noChangeArrowheads="1"/>
            </p:cNvSpPr>
            <p:nvPr/>
          </p:nvSpPr>
          <p:spPr bwMode="auto">
            <a:xfrm>
              <a:off x="2745" y="1661"/>
              <a:ext cx="181" cy="1179"/>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8723" name="Rectangle 21"/>
            <p:cNvSpPr>
              <a:spLocks noChangeArrowheads="1"/>
            </p:cNvSpPr>
            <p:nvPr/>
          </p:nvSpPr>
          <p:spPr bwMode="auto">
            <a:xfrm>
              <a:off x="3471" y="1661"/>
              <a:ext cx="181" cy="1179"/>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grpSp>
      <p:sp>
        <p:nvSpPr>
          <p:cNvPr id="28690" name="Rectangle 22"/>
          <p:cNvSpPr>
            <a:spLocks noChangeArrowheads="1"/>
          </p:cNvSpPr>
          <p:nvPr/>
        </p:nvSpPr>
        <p:spPr bwMode="auto">
          <a:xfrm>
            <a:off x="5797550" y="2636838"/>
            <a:ext cx="287338" cy="18716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8691" name="Text Box 24"/>
          <p:cNvSpPr txBox="1">
            <a:spLocks noChangeArrowheads="1"/>
          </p:cNvSpPr>
          <p:nvPr/>
        </p:nvSpPr>
        <p:spPr bwMode="auto">
          <a:xfrm>
            <a:off x="6286500" y="2133600"/>
            <a:ext cx="18494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lnSpc>
                <a:spcPct val="90000"/>
              </a:lnSpc>
            </a:pPr>
            <a:r>
              <a:rPr kumimoji="1" lang="en-US" altLang="zh-CN" sz="2000">
                <a:solidFill>
                  <a:srgbClr val="333399"/>
                </a:solidFill>
                <a:latin typeface="Arial" pitchFamily="34" charset="0"/>
                <a:ea typeface="黑体" pitchFamily="49" charset="-122"/>
              </a:rPr>
              <a:t>C </a:t>
            </a:r>
            <a:r>
              <a:rPr kumimoji="1" lang="zh-CN" altLang="en-US" sz="2000">
                <a:solidFill>
                  <a:srgbClr val="333399"/>
                </a:solidFill>
                <a:latin typeface="Arial" pitchFamily="34" charset="0"/>
                <a:ea typeface="黑体" pitchFamily="49" charset="-122"/>
              </a:rPr>
              <a:t>在</a:t>
            </a:r>
            <a:r>
              <a:rPr kumimoji="1" lang="zh-CN" altLang="en-US" sz="1400">
                <a:solidFill>
                  <a:srgbClr val="333399"/>
                </a:solidFill>
                <a:latin typeface="Arial" pitchFamily="34" charset="0"/>
                <a:ea typeface="黑体" pitchFamily="49" charset="-122"/>
              </a:rPr>
              <a:t> </a:t>
            </a:r>
            <a:r>
              <a:rPr kumimoji="1" lang="en-US" altLang="zh-CN" sz="2000">
                <a:solidFill>
                  <a:srgbClr val="333399"/>
                </a:solidFill>
                <a:latin typeface="Arial" pitchFamily="34" charset="0"/>
                <a:ea typeface="黑体" pitchFamily="49" charset="-122"/>
              </a:rPr>
              <a:t>TDM</a:t>
            </a:r>
            <a:r>
              <a:rPr kumimoji="1" lang="en-US" altLang="zh-CN" sz="14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帧中</a:t>
            </a:r>
          </a:p>
          <a:p>
            <a:pPr eaLnBrk="1" hangingPunct="1">
              <a:lnSpc>
                <a:spcPct val="90000"/>
              </a:lnSpc>
            </a:pPr>
            <a:r>
              <a:rPr kumimoji="1" lang="zh-CN" altLang="en-US" sz="2000">
                <a:solidFill>
                  <a:srgbClr val="333399"/>
                </a:solidFill>
                <a:latin typeface="Arial" pitchFamily="34" charset="0"/>
                <a:ea typeface="黑体" pitchFamily="49" charset="-122"/>
              </a:rPr>
              <a:t>的位置不变</a:t>
            </a:r>
          </a:p>
        </p:txBody>
      </p:sp>
      <p:sp>
        <p:nvSpPr>
          <p:cNvPr id="28692" name="Line 25"/>
          <p:cNvSpPr>
            <a:spLocks noChangeShapeType="1"/>
          </p:cNvSpPr>
          <p:nvPr/>
        </p:nvSpPr>
        <p:spPr bwMode="auto">
          <a:xfrm>
            <a:off x="2181225" y="2276475"/>
            <a:ext cx="410527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3" name="Line 26"/>
          <p:cNvSpPr>
            <a:spLocks noChangeShapeType="1"/>
          </p:cNvSpPr>
          <p:nvPr/>
        </p:nvSpPr>
        <p:spPr bwMode="auto">
          <a:xfrm>
            <a:off x="2181225"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4" name="Line 27"/>
          <p:cNvSpPr>
            <a:spLocks noChangeShapeType="1"/>
          </p:cNvSpPr>
          <p:nvPr/>
        </p:nvSpPr>
        <p:spPr bwMode="auto">
          <a:xfrm>
            <a:off x="3328988"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5" name="Line 28"/>
          <p:cNvSpPr>
            <a:spLocks noChangeShapeType="1"/>
          </p:cNvSpPr>
          <p:nvPr/>
        </p:nvSpPr>
        <p:spPr bwMode="auto">
          <a:xfrm>
            <a:off x="4478338"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6" name="Line 29"/>
          <p:cNvSpPr>
            <a:spLocks noChangeShapeType="1"/>
          </p:cNvSpPr>
          <p:nvPr/>
        </p:nvSpPr>
        <p:spPr bwMode="auto">
          <a:xfrm>
            <a:off x="5627688"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8697" name="Group 30"/>
          <p:cNvGrpSpPr>
            <a:grpSpLocks/>
          </p:cNvGrpSpPr>
          <p:nvPr/>
        </p:nvGrpSpPr>
        <p:grpSpPr bwMode="auto">
          <a:xfrm>
            <a:off x="1476375" y="4581525"/>
            <a:ext cx="1150938" cy="509588"/>
            <a:chOff x="930" y="2886"/>
            <a:chExt cx="725" cy="321"/>
          </a:xfrm>
        </p:grpSpPr>
        <p:sp>
          <p:nvSpPr>
            <p:cNvPr id="28718" name="Text Box 31"/>
            <p:cNvSpPr txBox="1">
              <a:spLocks noChangeArrowheads="1"/>
            </p:cNvSpPr>
            <p:nvPr/>
          </p:nvSpPr>
          <p:spPr bwMode="auto">
            <a:xfrm>
              <a:off x="975"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8719" name="AutoShape 32"/>
            <p:cNvSpPr>
              <a:spLocks/>
            </p:cNvSpPr>
            <p:nvPr/>
          </p:nvSpPr>
          <p:spPr bwMode="auto">
            <a:xfrm rot="16200000" flipV="1">
              <a:off x="1248"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8698" name="Group 33"/>
          <p:cNvGrpSpPr>
            <a:grpSpLocks/>
          </p:cNvGrpSpPr>
          <p:nvPr/>
        </p:nvGrpSpPr>
        <p:grpSpPr bwMode="auto">
          <a:xfrm>
            <a:off x="2627313" y="4581525"/>
            <a:ext cx="1150937" cy="509588"/>
            <a:chOff x="1655" y="2886"/>
            <a:chExt cx="725" cy="321"/>
          </a:xfrm>
        </p:grpSpPr>
        <p:sp>
          <p:nvSpPr>
            <p:cNvPr id="28716" name="Text Box 34"/>
            <p:cNvSpPr txBox="1">
              <a:spLocks noChangeArrowheads="1"/>
            </p:cNvSpPr>
            <p:nvPr/>
          </p:nvSpPr>
          <p:spPr bwMode="auto">
            <a:xfrm>
              <a:off x="1700"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8717" name="AutoShape 35"/>
            <p:cNvSpPr>
              <a:spLocks/>
            </p:cNvSpPr>
            <p:nvPr/>
          </p:nvSpPr>
          <p:spPr bwMode="auto">
            <a:xfrm rot="16200000" flipV="1">
              <a:off x="1973"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8699" name="Group 36"/>
          <p:cNvGrpSpPr>
            <a:grpSpLocks/>
          </p:cNvGrpSpPr>
          <p:nvPr/>
        </p:nvGrpSpPr>
        <p:grpSpPr bwMode="auto">
          <a:xfrm>
            <a:off x="3778250" y="4581525"/>
            <a:ext cx="1150938" cy="509588"/>
            <a:chOff x="2380" y="2886"/>
            <a:chExt cx="725" cy="321"/>
          </a:xfrm>
        </p:grpSpPr>
        <p:sp>
          <p:nvSpPr>
            <p:cNvPr id="28714" name="Text Box 37"/>
            <p:cNvSpPr txBox="1">
              <a:spLocks noChangeArrowheads="1"/>
            </p:cNvSpPr>
            <p:nvPr/>
          </p:nvSpPr>
          <p:spPr bwMode="auto">
            <a:xfrm>
              <a:off x="2426"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8715" name="AutoShape 38"/>
            <p:cNvSpPr>
              <a:spLocks/>
            </p:cNvSpPr>
            <p:nvPr/>
          </p:nvSpPr>
          <p:spPr bwMode="auto">
            <a:xfrm rot="16200000" flipV="1">
              <a:off x="2698"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8700" name="Group 39"/>
          <p:cNvGrpSpPr>
            <a:grpSpLocks/>
          </p:cNvGrpSpPr>
          <p:nvPr/>
        </p:nvGrpSpPr>
        <p:grpSpPr bwMode="auto">
          <a:xfrm>
            <a:off x="4929188" y="4581525"/>
            <a:ext cx="1150937" cy="509588"/>
            <a:chOff x="3105" y="2886"/>
            <a:chExt cx="725" cy="321"/>
          </a:xfrm>
        </p:grpSpPr>
        <p:sp>
          <p:nvSpPr>
            <p:cNvPr id="28712" name="Text Box 40"/>
            <p:cNvSpPr txBox="1">
              <a:spLocks noChangeArrowheads="1"/>
            </p:cNvSpPr>
            <p:nvPr/>
          </p:nvSpPr>
          <p:spPr bwMode="auto">
            <a:xfrm>
              <a:off x="3152"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8713" name="AutoShape 41"/>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8701" name="Rectangle 42"/>
          <p:cNvSpPr>
            <a:spLocks noChangeArrowheads="1"/>
          </p:cNvSpPr>
          <p:nvPr/>
        </p:nvSpPr>
        <p:spPr bwMode="auto">
          <a:xfrm>
            <a:off x="6443663" y="3322638"/>
            <a:ext cx="434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000" b="1">
                <a:solidFill>
                  <a:srgbClr val="333399"/>
                </a:solidFill>
                <a:latin typeface="Times New Roman" pitchFamily="18" charset="0"/>
              </a:rPr>
              <a:t>…</a:t>
            </a:r>
          </a:p>
        </p:txBody>
      </p:sp>
      <p:sp>
        <p:nvSpPr>
          <p:cNvPr id="28702" name="Line 43"/>
          <p:cNvSpPr>
            <a:spLocks noChangeShapeType="1"/>
          </p:cNvSpPr>
          <p:nvPr/>
        </p:nvSpPr>
        <p:spPr bwMode="auto">
          <a:xfrm rot="-5400000">
            <a:off x="-7938" y="3668713"/>
            <a:ext cx="2968625"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8703" name="Group 44"/>
          <p:cNvGrpSpPr>
            <a:grpSpLocks/>
          </p:cNvGrpSpPr>
          <p:nvPr/>
        </p:nvGrpSpPr>
        <p:grpSpPr bwMode="auto">
          <a:xfrm>
            <a:off x="6084888" y="4581525"/>
            <a:ext cx="1150937" cy="509588"/>
            <a:chOff x="3105" y="2886"/>
            <a:chExt cx="725" cy="321"/>
          </a:xfrm>
        </p:grpSpPr>
        <p:sp>
          <p:nvSpPr>
            <p:cNvPr id="28710" name="Text Box 45"/>
            <p:cNvSpPr txBox="1">
              <a:spLocks noChangeArrowheads="1"/>
            </p:cNvSpPr>
            <p:nvPr/>
          </p:nvSpPr>
          <p:spPr bwMode="auto">
            <a:xfrm>
              <a:off x="3152"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8711" name="AutoShape 46"/>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8704" name="Group 47"/>
          <p:cNvGrpSpPr>
            <a:grpSpLocks/>
          </p:cNvGrpSpPr>
          <p:nvPr/>
        </p:nvGrpSpPr>
        <p:grpSpPr bwMode="auto">
          <a:xfrm>
            <a:off x="2627313" y="2492375"/>
            <a:ext cx="4610100" cy="2376488"/>
            <a:chOff x="1655" y="1570"/>
            <a:chExt cx="2904" cy="1497"/>
          </a:xfrm>
        </p:grpSpPr>
        <p:sp>
          <p:nvSpPr>
            <p:cNvPr id="28705" name="Line 48"/>
            <p:cNvSpPr>
              <a:spLocks noChangeShapeType="1"/>
            </p:cNvSpPr>
            <p:nvPr/>
          </p:nvSpPr>
          <p:spPr bwMode="auto">
            <a:xfrm>
              <a:off x="1655"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6" name="Line 49"/>
            <p:cNvSpPr>
              <a:spLocks noChangeShapeType="1"/>
            </p:cNvSpPr>
            <p:nvPr/>
          </p:nvSpPr>
          <p:spPr bwMode="auto">
            <a:xfrm>
              <a:off x="2381"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7" name="Line 50"/>
            <p:cNvSpPr>
              <a:spLocks noChangeShapeType="1"/>
            </p:cNvSpPr>
            <p:nvPr/>
          </p:nvSpPr>
          <p:spPr bwMode="auto">
            <a:xfrm>
              <a:off x="3107"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8" name="Line 51"/>
            <p:cNvSpPr>
              <a:spLocks noChangeShapeType="1"/>
            </p:cNvSpPr>
            <p:nvPr/>
          </p:nvSpPr>
          <p:spPr bwMode="auto">
            <a:xfrm>
              <a:off x="3833"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9" name="Line 52"/>
            <p:cNvSpPr>
              <a:spLocks noChangeShapeType="1"/>
            </p:cNvSpPr>
            <p:nvPr/>
          </p:nvSpPr>
          <p:spPr bwMode="auto">
            <a:xfrm>
              <a:off x="4559"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4000" fill="hold" nodeType="afterEffect">
                                  <p:stCondLst>
                                    <p:cond delay="0"/>
                                  </p:stCondLst>
                                  <p:childTnLst>
                                    <p:anim calcmode="discrete" valueType="str">
                                      <p:cBhvr>
                                        <p:cTn id="6" dur="500" fill="hold"/>
                                        <p:tgtEl>
                                          <p:spTgt spid="2621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algn="ctr" eaLnBrk="1" hangingPunct="1"/>
            <a:r>
              <a:rPr lang="zh-CN" altLang="en-US" smtClean="0"/>
              <a:t>时分复用 </a:t>
            </a:r>
          </a:p>
        </p:txBody>
      </p:sp>
      <p:sp>
        <p:nvSpPr>
          <p:cNvPr id="29699" name="Line 3"/>
          <p:cNvSpPr>
            <a:spLocks noChangeShapeType="1"/>
          </p:cNvSpPr>
          <p:nvPr/>
        </p:nvSpPr>
        <p:spPr bwMode="auto">
          <a:xfrm flipV="1">
            <a:off x="1476375" y="5146675"/>
            <a:ext cx="6116638" cy="1111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00" name="Text Box 4"/>
          <p:cNvSpPr txBox="1">
            <a:spLocks noChangeArrowheads="1"/>
          </p:cNvSpPr>
          <p:nvPr/>
        </p:nvSpPr>
        <p:spPr bwMode="auto">
          <a:xfrm>
            <a:off x="784225" y="2012950"/>
            <a:ext cx="692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Times New Roman" pitchFamily="18" charset="0"/>
                <a:ea typeface="黑体" pitchFamily="49" charset="-122"/>
              </a:rPr>
              <a:t>频率</a:t>
            </a:r>
          </a:p>
        </p:txBody>
      </p:sp>
      <p:sp>
        <p:nvSpPr>
          <p:cNvPr id="29701" name="Text Box 5"/>
          <p:cNvSpPr txBox="1">
            <a:spLocks noChangeArrowheads="1"/>
          </p:cNvSpPr>
          <p:nvPr/>
        </p:nvSpPr>
        <p:spPr bwMode="auto">
          <a:xfrm>
            <a:off x="7593013" y="4937125"/>
            <a:ext cx="692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zh-CN" altLang="en-US" sz="2000">
                <a:solidFill>
                  <a:srgbClr val="333399"/>
                </a:solidFill>
                <a:latin typeface="Times New Roman" pitchFamily="18" charset="0"/>
                <a:ea typeface="黑体" pitchFamily="49" charset="-122"/>
              </a:rPr>
              <a:t>时间</a:t>
            </a:r>
          </a:p>
        </p:txBody>
      </p:sp>
      <p:sp>
        <p:nvSpPr>
          <p:cNvPr id="29702" name="Rectangle 6"/>
          <p:cNvSpPr>
            <a:spLocks noChangeArrowheads="1"/>
          </p:cNvSpPr>
          <p:nvPr/>
        </p:nvSpPr>
        <p:spPr bwMode="auto">
          <a:xfrm>
            <a:off x="1763713" y="2636838"/>
            <a:ext cx="287337" cy="18716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9703" name="Rectangle 7"/>
          <p:cNvSpPr>
            <a:spLocks noChangeArrowheads="1"/>
          </p:cNvSpPr>
          <p:nvPr/>
        </p:nvSpPr>
        <p:spPr bwMode="auto">
          <a:xfrm>
            <a:off x="2052638" y="2636838"/>
            <a:ext cx="287337"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9704" name="Rectangle 8"/>
          <p:cNvSpPr>
            <a:spLocks noChangeArrowheads="1"/>
          </p:cNvSpPr>
          <p:nvPr/>
        </p:nvSpPr>
        <p:spPr bwMode="auto">
          <a:xfrm>
            <a:off x="2916238" y="2636838"/>
            <a:ext cx="287337" cy="18716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9705" name="Rectangle 9"/>
          <p:cNvSpPr>
            <a:spLocks noChangeArrowheads="1"/>
          </p:cNvSpPr>
          <p:nvPr/>
        </p:nvSpPr>
        <p:spPr bwMode="auto">
          <a:xfrm>
            <a:off x="3205163" y="2636838"/>
            <a:ext cx="287337"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9706" name="Rectangle 10"/>
          <p:cNvSpPr>
            <a:spLocks noChangeArrowheads="1"/>
          </p:cNvSpPr>
          <p:nvPr/>
        </p:nvSpPr>
        <p:spPr bwMode="auto">
          <a:xfrm>
            <a:off x="4068763" y="2636838"/>
            <a:ext cx="287337" cy="18716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9707" name="Rectangle 11"/>
          <p:cNvSpPr>
            <a:spLocks noChangeArrowheads="1"/>
          </p:cNvSpPr>
          <p:nvPr/>
        </p:nvSpPr>
        <p:spPr bwMode="auto">
          <a:xfrm>
            <a:off x="4357688" y="2636838"/>
            <a:ext cx="287337"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sp>
        <p:nvSpPr>
          <p:cNvPr id="29708" name="Rectangle 12"/>
          <p:cNvSpPr>
            <a:spLocks noChangeArrowheads="1"/>
          </p:cNvSpPr>
          <p:nvPr/>
        </p:nvSpPr>
        <p:spPr bwMode="auto">
          <a:xfrm>
            <a:off x="1476375" y="2636838"/>
            <a:ext cx="287338" cy="18716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9709" name="Rectangle 13"/>
          <p:cNvSpPr>
            <a:spLocks noChangeArrowheads="1"/>
          </p:cNvSpPr>
          <p:nvPr/>
        </p:nvSpPr>
        <p:spPr bwMode="auto">
          <a:xfrm>
            <a:off x="2628900" y="2636838"/>
            <a:ext cx="287338" cy="18716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9710" name="Rectangle 14"/>
          <p:cNvSpPr>
            <a:spLocks noChangeArrowheads="1"/>
          </p:cNvSpPr>
          <p:nvPr/>
        </p:nvSpPr>
        <p:spPr bwMode="auto">
          <a:xfrm>
            <a:off x="3781425" y="2636838"/>
            <a:ext cx="287338" cy="18716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9711" name="Rectangle 15"/>
          <p:cNvSpPr>
            <a:spLocks noChangeArrowheads="1"/>
          </p:cNvSpPr>
          <p:nvPr/>
        </p:nvSpPr>
        <p:spPr bwMode="auto">
          <a:xfrm>
            <a:off x="4933950" y="2636838"/>
            <a:ext cx="287338" cy="187166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A</a:t>
            </a:r>
          </a:p>
        </p:txBody>
      </p:sp>
      <p:sp>
        <p:nvSpPr>
          <p:cNvPr id="29712" name="Rectangle 16"/>
          <p:cNvSpPr>
            <a:spLocks noChangeArrowheads="1"/>
          </p:cNvSpPr>
          <p:nvPr/>
        </p:nvSpPr>
        <p:spPr bwMode="auto">
          <a:xfrm>
            <a:off x="5221288" y="2636838"/>
            <a:ext cx="287337" cy="18716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B</a:t>
            </a:r>
          </a:p>
        </p:txBody>
      </p:sp>
      <p:sp>
        <p:nvSpPr>
          <p:cNvPr id="29713" name="Rectangle 17"/>
          <p:cNvSpPr>
            <a:spLocks noChangeArrowheads="1"/>
          </p:cNvSpPr>
          <p:nvPr/>
        </p:nvSpPr>
        <p:spPr bwMode="auto">
          <a:xfrm>
            <a:off x="5510213" y="2636838"/>
            <a:ext cx="287337"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C</a:t>
            </a:r>
          </a:p>
        </p:txBody>
      </p:sp>
      <p:grpSp>
        <p:nvGrpSpPr>
          <p:cNvPr id="264210" name="Group 18"/>
          <p:cNvGrpSpPr>
            <a:grpSpLocks/>
          </p:cNvGrpSpPr>
          <p:nvPr/>
        </p:nvGrpSpPr>
        <p:grpSpPr bwMode="auto">
          <a:xfrm>
            <a:off x="2339975" y="2636838"/>
            <a:ext cx="3744913" cy="1871662"/>
            <a:chOff x="1474" y="1661"/>
            <a:chExt cx="2359" cy="1179"/>
          </a:xfrm>
        </p:grpSpPr>
        <p:sp>
          <p:nvSpPr>
            <p:cNvPr id="29744" name="Rectangle 19"/>
            <p:cNvSpPr>
              <a:spLocks noChangeArrowheads="1"/>
            </p:cNvSpPr>
            <p:nvPr/>
          </p:nvSpPr>
          <p:spPr bwMode="auto">
            <a:xfrm>
              <a:off x="1474" y="1661"/>
              <a:ext cx="181" cy="1179"/>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9745" name="Rectangle 20"/>
            <p:cNvSpPr>
              <a:spLocks noChangeArrowheads="1"/>
            </p:cNvSpPr>
            <p:nvPr/>
          </p:nvSpPr>
          <p:spPr bwMode="auto">
            <a:xfrm>
              <a:off x="2200" y="1661"/>
              <a:ext cx="181" cy="1179"/>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9746" name="Rectangle 21"/>
            <p:cNvSpPr>
              <a:spLocks noChangeArrowheads="1"/>
            </p:cNvSpPr>
            <p:nvPr/>
          </p:nvSpPr>
          <p:spPr bwMode="auto">
            <a:xfrm>
              <a:off x="2926" y="1661"/>
              <a:ext cx="181" cy="1179"/>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sp>
          <p:nvSpPr>
            <p:cNvPr id="29747" name="Rectangle 22"/>
            <p:cNvSpPr>
              <a:spLocks noChangeArrowheads="1"/>
            </p:cNvSpPr>
            <p:nvPr/>
          </p:nvSpPr>
          <p:spPr bwMode="auto">
            <a:xfrm>
              <a:off x="3652" y="1661"/>
              <a:ext cx="181" cy="1179"/>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333399"/>
                  </a:solidFill>
                  <a:latin typeface="Arial" pitchFamily="34" charset="0"/>
                </a:rPr>
                <a:t>D</a:t>
              </a:r>
            </a:p>
          </p:txBody>
        </p:sp>
      </p:grpSp>
      <p:sp>
        <p:nvSpPr>
          <p:cNvPr id="29715" name="Text Box 24"/>
          <p:cNvSpPr txBox="1">
            <a:spLocks noChangeArrowheads="1"/>
          </p:cNvSpPr>
          <p:nvPr/>
        </p:nvSpPr>
        <p:spPr bwMode="auto">
          <a:xfrm>
            <a:off x="6624638" y="2133600"/>
            <a:ext cx="18907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lnSpc>
                <a:spcPct val="90000"/>
              </a:lnSpc>
            </a:pPr>
            <a:r>
              <a:rPr kumimoji="1" lang="en-US" altLang="zh-CN" sz="2000">
                <a:solidFill>
                  <a:srgbClr val="333399"/>
                </a:solidFill>
                <a:latin typeface="Arial" pitchFamily="34" charset="0"/>
                <a:ea typeface="黑体" pitchFamily="49" charset="-122"/>
              </a:rPr>
              <a:t>D </a:t>
            </a:r>
            <a:r>
              <a:rPr kumimoji="1" lang="zh-CN" altLang="en-US" sz="2000">
                <a:solidFill>
                  <a:srgbClr val="333399"/>
                </a:solidFill>
                <a:latin typeface="Arial" pitchFamily="34" charset="0"/>
                <a:ea typeface="黑体" pitchFamily="49" charset="-122"/>
              </a:rPr>
              <a:t>在 </a:t>
            </a: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帧中</a:t>
            </a:r>
          </a:p>
          <a:p>
            <a:pPr eaLnBrk="1" hangingPunct="1">
              <a:lnSpc>
                <a:spcPct val="90000"/>
              </a:lnSpc>
            </a:pPr>
            <a:r>
              <a:rPr kumimoji="1" lang="zh-CN" altLang="en-US" sz="2000">
                <a:solidFill>
                  <a:srgbClr val="333399"/>
                </a:solidFill>
                <a:latin typeface="Arial" pitchFamily="34" charset="0"/>
                <a:ea typeface="黑体" pitchFamily="49" charset="-122"/>
              </a:rPr>
              <a:t>的位置不变</a:t>
            </a:r>
          </a:p>
        </p:txBody>
      </p:sp>
      <p:sp>
        <p:nvSpPr>
          <p:cNvPr id="29716" name="Line 25"/>
          <p:cNvSpPr>
            <a:spLocks noChangeShapeType="1"/>
          </p:cNvSpPr>
          <p:nvPr/>
        </p:nvSpPr>
        <p:spPr bwMode="auto">
          <a:xfrm>
            <a:off x="2484438" y="2276475"/>
            <a:ext cx="41386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7" name="Line 26"/>
          <p:cNvSpPr>
            <a:spLocks noChangeShapeType="1"/>
          </p:cNvSpPr>
          <p:nvPr/>
        </p:nvSpPr>
        <p:spPr bwMode="auto">
          <a:xfrm>
            <a:off x="2484438"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8" name="Line 27"/>
          <p:cNvSpPr>
            <a:spLocks noChangeShapeType="1"/>
          </p:cNvSpPr>
          <p:nvPr/>
        </p:nvSpPr>
        <p:spPr bwMode="auto">
          <a:xfrm>
            <a:off x="3641725"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9" name="Line 28"/>
          <p:cNvSpPr>
            <a:spLocks noChangeShapeType="1"/>
          </p:cNvSpPr>
          <p:nvPr/>
        </p:nvSpPr>
        <p:spPr bwMode="auto">
          <a:xfrm>
            <a:off x="4800600"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20" name="Line 29"/>
          <p:cNvSpPr>
            <a:spLocks noChangeShapeType="1"/>
          </p:cNvSpPr>
          <p:nvPr/>
        </p:nvSpPr>
        <p:spPr bwMode="auto">
          <a:xfrm>
            <a:off x="5957888" y="2276475"/>
            <a:ext cx="0" cy="288925"/>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9721" name="Group 30"/>
          <p:cNvGrpSpPr>
            <a:grpSpLocks/>
          </p:cNvGrpSpPr>
          <p:nvPr/>
        </p:nvGrpSpPr>
        <p:grpSpPr bwMode="auto">
          <a:xfrm>
            <a:off x="1476375" y="4581525"/>
            <a:ext cx="1150938" cy="509588"/>
            <a:chOff x="930" y="2886"/>
            <a:chExt cx="725" cy="321"/>
          </a:xfrm>
        </p:grpSpPr>
        <p:sp>
          <p:nvSpPr>
            <p:cNvPr id="29742" name="Text Box 31"/>
            <p:cNvSpPr txBox="1">
              <a:spLocks noChangeArrowheads="1"/>
            </p:cNvSpPr>
            <p:nvPr/>
          </p:nvSpPr>
          <p:spPr bwMode="auto">
            <a:xfrm>
              <a:off x="975"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9743" name="AutoShape 32"/>
            <p:cNvSpPr>
              <a:spLocks/>
            </p:cNvSpPr>
            <p:nvPr/>
          </p:nvSpPr>
          <p:spPr bwMode="auto">
            <a:xfrm rot="16200000" flipV="1">
              <a:off x="1248"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9722" name="Group 33"/>
          <p:cNvGrpSpPr>
            <a:grpSpLocks/>
          </p:cNvGrpSpPr>
          <p:nvPr/>
        </p:nvGrpSpPr>
        <p:grpSpPr bwMode="auto">
          <a:xfrm>
            <a:off x="2627313" y="4581525"/>
            <a:ext cx="1150937" cy="509588"/>
            <a:chOff x="1655" y="2886"/>
            <a:chExt cx="725" cy="321"/>
          </a:xfrm>
        </p:grpSpPr>
        <p:sp>
          <p:nvSpPr>
            <p:cNvPr id="29740" name="Text Box 34"/>
            <p:cNvSpPr txBox="1">
              <a:spLocks noChangeArrowheads="1"/>
            </p:cNvSpPr>
            <p:nvPr/>
          </p:nvSpPr>
          <p:spPr bwMode="auto">
            <a:xfrm>
              <a:off x="1700"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9741" name="AutoShape 35"/>
            <p:cNvSpPr>
              <a:spLocks/>
            </p:cNvSpPr>
            <p:nvPr/>
          </p:nvSpPr>
          <p:spPr bwMode="auto">
            <a:xfrm rot="16200000" flipV="1">
              <a:off x="1973"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9723" name="Group 36"/>
          <p:cNvGrpSpPr>
            <a:grpSpLocks/>
          </p:cNvGrpSpPr>
          <p:nvPr/>
        </p:nvGrpSpPr>
        <p:grpSpPr bwMode="auto">
          <a:xfrm>
            <a:off x="3778250" y="4581525"/>
            <a:ext cx="1150938" cy="509588"/>
            <a:chOff x="2380" y="2886"/>
            <a:chExt cx="725" cy="321"/>
          </a:xfrm>
        </p:grpSpPr>
        <p:sp>
          <p:nvSpPr>
            <p:cNvPr id="29738" name="Text Box 37"/>
            <p:cNvSpPr txBox="1">
              <a:spLocks noChangeArrowheads="1"/>
            </p:cNvSpPr>
            <p:nvPr/>
          </p:nvSpPr>
          <p:spPr bwMode="auto">
            <a:xfrm>
              <a:off x="2426"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9739" name="AutoShape 38"/>
            <p:cNvSpPr>
              <a:spLocks/>
            </p:cNvSpPr>
            <p:nvPr/>
          </p:nvSpPr>
          <p:spPr bwMode="auto">
            <a:xfrm rot="16200000" flipV="1">
              <a:off x="2698"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9724" name="Group 39"/>
          <p:cNvGrpSpPr>
            <a:grpSpLocks/>
          </p:cNvGrpSpPr>
          <p:nvPr/>
        </p:nvGrpSpPr>
        <p:grpSpPr bwMode="auto">
          <a:xfrm>
            <a:off x="4929188" y="4581525"/>
            <a:ext cx="1150937" cy="509588"/>
            <a:chOff x="3105" y="2886"/>
            <a:chExt cx="725" cy="321"/>
          </a:xfrm>
        </p:grpSpPr>
        <p:sp>
          <p:nvSpPr>
            <p:cNvPr id="29736" name="Text Box 40"/>
            <p:cNvSpPr txBox="1">
              <a:spLocks noChangeArrowheads="1"/>
            </p:cNvSpPr>
            <p:nvPr/>
          </p:nvSpPr>
          <p:spPr bwMode="auto">
            <a:xfrm>
              <a:off x="3152"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9737" name="AutoShape 41"/>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725" name="Rectangle 42"/>
          <p:cNvSpPr>
            <a:spLocks noChangeArrowheads="1"/>
          </p:cNvSpPr>
          <p:nvPr/>
        </p:nvSpPr>
        <p:spPr bwMode="auto">
          <a:xfrm>
            <a:off x="6442075" y="3322638"/>
            <a:ext cx="434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000" b="1">
                <a:solidFill>
                  <a:srgbClr val="333399"/>
                </a:solidFill>
                <a:latin typeface="Times New Roman" pitchFamily="18" charset="0"/>
              </a:rPr>
              <a:t>…</a:t>
            </a:r>
          </a:p>
        </p:txBody>
      </p:sp>
      <p:sp>
        <p:nvSpPr>
          <p:cNvPr id="29726" name="Line 43"/>
          <p:cNvSpPr>
            <a:spLocks noChangeShapeType="1"/>
          </p:cNvSpPr>
          <p:nvPr/>
        </p:nvSpPr>
        <p:spPr bwMode="auto">
          <a:xfrm rot="-5400000">
            <a:off x="-7938" y="3668713"/>
            <a:ext cx="2968625"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9727" name="Group 44"/>
          <p:cNvGrpSpPr>
            <a:grpSpLocks/>
          </p:cNvGrpSpPr>
          <p:nvPr/>
        </p:nvGrpSpPr>
        <p:grpSpPr bwMode="auto">
          <a:xfrm>
            <a:off x="6084888" y="4581525"/>
            <a:ext cx="1150937" cy="509588"/>
            <a:chOff x="3105" y="2886"/>
            <a:chExt cx="725" cy="321"/>
          </a:xfrm>
        </p:grpSpPr>
        <p:sp>
          <p:nvSpPr>
            <p:cNvPr id="29734" name="Text Box 45"/>
            <p:cNvSpPr txBox="1">
              <a:spLocks noChangeArrowheads="1"/>
            </p:cNvSpPr>
            <p:nvPr/>
          </p:nvSpPr>
          <p:spPr bwMode="auto">
            <a:xfrm>
              <a:off x="3152" y="2976"/>
              <a:ext cx="6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90000"/>
                </a:lnSpc>
              </a:pPr>
              <a:r>
                <a:rPr kumimoji="1" lang="en-US" altLang="zh-CN" sz="2000">
                  <a:solidFill>
                    <a:srgbClr val="333399"/>
                  </a:solidFill>
                  <a:latin typeface="Arial" pitchFamily="34" charset="0"/>
                  <a:ea typeface="黑体" pitchFamily="49" charset="-122"/>
                </a:rPr>
                <a:t>TDM </a:t>
              </a:r>
              <a:r>
                <a:rPr kumimoji="1" lang="zh-CN" altLang="en-US" sz="2000">
                  <a:solidFill>
                    <a:srgbClr val="333399"/>
                  </a:solidFill>
                  <a:latin typeface="Arial" pitchFamily="34" charset="0"/>
                  <a:ea typeface="黑体" pitchFamily="49" charset="-122"/>
                </a:rPr>
                <a:t>帧</a:t>
              </a:r>
            </a:p>
          </p:txBody>
        </p:sp>
        <p:sp>
          <p:nvSpPr>
            <p:cNvPr id="29735" name="AutoShape 46"/>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9728" name="Group 47"/>
          <p:cNvGrpSpPr>
            <a:grpSpLocks/>
          </p:cNvGrpSpPr>
          <p:nvPr/>
        </p:nvGrpSpPr>
        <p:grpSpPr bwMode="auto">
          <a:xfrm>
            <a:off x="2627313" y="2492375"/>
            <a:ext cx="4610100" cy="2376488"/>
            <a:chOff x="1655" y="1570"/>
            <a:chExt cx="2904" cy="1497"/>
          </a:xfrm>
        </p:grpSpPr>
        <p:sp>
          <p:nvSpPr>
            <p:cNvPr id="29729" name="Line 48"/>
            <p:cNvSpPr>
              <a:spLocks noChangeShapeType="1"/>
            </p:cNvSpPr>
            <p:nvPr/>
          </p:nvSpPr>
          <p:spPr bwMode="auto">
            <a:xfrm>
              <a:off x="1655"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0" name="Line 49"/>
            <p:cNvSpPr>
              <a:spLocks noChangeShapeType="1"/>
            </p:cNvSpPr>
            <p:nvPr/>
          </p:nvSpPr>
          <p:spPr bwMode="auto">
            <a:xfrm>
              <a:off x="2381"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1" name="Line 50"/>
            <p:cNvSpPr>
              <a:spLocks noChangeShapeType="1"/>
            </p:cNvSpPr>
            <p:nvPr/>
          </p:nvSpPr>
          <p:spPr bwMode="auto">
            <a:xfrm>
              <a:off x="3107"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2" name="Line 51"/>
            <p:cNvSpPr>
              <a:spLocks noChangeShapeType="1"/>
            </p:cNvSpPr>
            <p:nvPr/>
          </p:nvSpPr>
          <p:spPr bwMode="auto">
            <a:xfrm>
              <a:off x="3833"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3" name="Line 52"/>
            <p:cNvSpPr>
              <a:spLocks noChangeShapeType="1"/>
            </p:cNvSpPr>
            <p:nvPr/>
          </p:nvSpPr>
          <p:spPr bwMode="auto">
            <a:xfrm>
              <a:off x="4559"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4000" fill="hold" nodeType="afterEffect">
                                  <p:stCondLst>
                                    <p:cond delay="0"/>
                                  </p:stCondLst>
                                  <p:childTnLst>
                                    <p:anim calcmode="discrete" valueType="str">
                                      <p:cBhvr>
                                        <p:cTn id="6" dur="500" fill="hold"/>
                                        <p:tgtEl>
                                          <p:spTgt spid="26421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lgn="ctr" eaLnBrk="1" hangingPunct="1"/>
            <a:r>
              <a:rPr lang="zh-CN" altLang="en-US" smtClean="0"/>
              <a:t>时分复用可能会造成</a:t>
            </a:r>
            <a:br>
              <a:rPr lang="zh-CN" altLang="en-US" smtClean="0"/>
            </a:br>
            <a:r>
              <a:rPr lang="zh-CN" altLang="en-US" smtClean="0"/>
              <a:t>线路资源的浪费 </a:t>
            </a:r>
          </a:p>
        </p:txBody>
      </p:sp>
      <p:sp>
        <p:nvSpPr>
          <p:cNvPr id="30723" name="Freeform 3"/>
          <p:cNvSpPr>
            <a:spLocks/>
          </p:cNvSpPr>
          <p:nvPr/>
        </p:nvSpPr>
        <p:spPr bwMode="auto">
          <a:xfrm>
            <a:off x="6011863" y="4700588"/>
            <a:ext cx="241300" cy="374650"/>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4" name="Freeform 4"/>
          <p:cNvSpPr>
            <a:spLocks/>
          </p:cNvSpPr>
          <p:nvPr/>
        </p:nvSpPr>
        <p:spPr bwMode="auto">
          <a:xfrm>
            <a:off x="6975475" y="4700588"/>
            <a:ext cx="239713" cy="374650"/>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5" name="Freeform 5"/>
          <p:cNvSpPr>
            <a:spLocks/>
          </p:cNvSpPr>
          <p:nvPr/>
        </p:nvSpPr>
        <p:spPr bwMode="auto">
          <a:xfrm>
            <a:off x="7456488" y="4700588"/>
            <a:ext cx="241300" cy="374650"/>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6" name="Freeform 6"/>
          <p:cNvSpPr>
            <a:spLocks/>
          </p:cNvSpPr>
          <p:nvPr/>
        </p:nvSpPr>
        <p:spPr bwMode="auto">
          <a:xfrm>
            <a:off x="8178800" y="4700588"/>
            <a:ext cx="239713" cy="374650"/>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7" name="Freeform 7"/>
          <p:cNvSpPr>
            <a:spLocks/>
          </p:cNvSpPr>
          <p:nvPr/>
        </p:nvSpPr>
        <p:spPr bwMode="auto">
          <a:xfrm>
            <a:off x="5772150" y="4700588"/>
            <a:ext cx="239713" cy="374650"/>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8" name="Freeform 8"/>
          <p:cNvSpPr>
            <a:spLocks/>
          </p:cNvSpPr>
          <p:nvPr/>
        </p:nvSpPr>
        <p:spPr bwMode="auto">
          <a:xfrm>
            <a:off x="4808538" y="4703763"/>
            <a:ext cx="241300" cy="376237"/>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9" name="Freeform 9"/>
          <p:cNvSpPr>
            <a:spLocks/>
          </p:cNvSpPr>
          <p:nvPr/>
        </p:nvSpPr>
        <p:spPr bwMode="auto">
          <a:xfrm>
            <a:off x="4568825" y="4703763"/>
            <a:ext cx="239713" cy="376237"/>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0" name="Freeform 10"/>
          <p:cNvSpPr>
            <a:spLocks/>
          </p:cNvSpPr>
          <p:nvPr/>
        </p:nvSpPr>
        <p:spPr bwMode="auto">
          <a:xfrm>
            <a:off x="2320925" y="3571875"/>
            <a:ext cx="561975" cy="376238"/>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1" name="Freeform 11"/>
          <p:cNvSpPr>
            <a:spLocks/>
          </p:cNvSpPr>
          <p:nvPr/>
        </p:nvSpPr>
        <p:spPr bwMode="auto">
          <a:xfrm>
            <a:off x="636588" y="4324350"/>
            <a:ext cx="1123950" cy="376238"/>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2" name="Freeform 12"/>
          <p:cNvSpPr>
            <a:spLocks/>
          </p:cNvSpPr>
          <p:nvPr/>
        </p:nvSpPr>
        <p:spPr bwMode="auto">
          <a:xfrm>
            <a:off x="1198563" y="5075238"/>
            <a:ext cx="1122362" cy="376237"/>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3" name="Freeform 13"/>
          <p:cNvSpPr>
            <a:spLocks/>
          </p:cNvSpPr>
          <p:nvPr/>
        </p:nvSpPr>
        <p:spPr bwMode="auto">
          <a:xfrm>
            <a:off x="2320925" y="5827713"/>
            <a:ext cx="561975" cy="376237"/>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4" name="Text Box 14"/>
          <p:cNvSpPr txBox="1">
            <a:spLocks noChangeArrowheads="1"/>
          </p:cNvSpPr>
          <p:nvPr/>
        </p:nvSpPr>
        <p:spPr bwMode="auto">
          <a:xfrm>
            <a:off x="209550" y="3549650"/>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a:t>
            </a:r>
          </a:p>
        </p:txBody>
      </p:sp>
      <p:sp>
        <p:nvSpPr>
          <p:cNvPr id="30735" name="Text Box 15"/>
          <p:cNvSpPr txBox="1">
            <a:spLocks noChangeArrowheads="1"/>
          </p:cNvSpPr>
          <p:nvPr/>
        </p:nvSpPr>
        <p:spPr bwMode="auto">
          <a:xfrm>
            <a:off x="209550" y="4302125"/>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B</a:t>
            </a:r>
          </a:p>
        </p:txBody>
      </p:sp>
      <p:sp>
        <p:nvSpPr>
          <p:cNvPr id="30736" name="Text Box 16"/>
          <p:cNvSpPr txBox="1">
            <a:spLocks noChangeArrowheads="1"/>
          </p:cNvSpPr>
          <p:nvPr/>
        </p:nvSpPr>
        <p:spPr bwMode="auto">
          <a:xfrm>
            <a:off x="209550" y="5054600"/>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C</a:t>
            </a:r>
          </a:p>
        </p:txBody>
      </p:sp>
      <p:sp>
        <p:nvSpPr>
          <p:cNvPr id="30737" name="Text Box 17"/>
          <p:cNvSpPr txBox="1">
            <a:spLocks noChangeArrowheads="1"/>
          </p:cNvSpPr>
          <p:nvPr/>
        </p:nvSpPr>
        <p:spPr bwMode="auto">
          <a:xfrm>
            <a:off x="209550" y="580707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D</a:t>
            </a:r>
          </a:p>
        </p:txBody>
      </p:sp>
      <p:sp>
        <p:nvSpPr>
          <p:cNvPr id="30738" name="Line 18"/>
          <p:cNvSpPr>
            <a:spLocks noChangeShapeType="1"/>
          </p:cNvSpPr>
          <p:nvPr/>
        </p:nvSpPr>
        <p:spPr bwMode="auto">
          <a:xfrm>
            <a:off x="4406900" y="5075238"/>
            <a:ext cx="4252913"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9" name="Line 19"/>
          <p:cNvSpPr>
            <a:spLocks noChangeShapeType="1"/>
          </p:cNvSpPr>
          <p:nvPr/>
        </p:nvSpPr>
        <p:spPr bwMode="auto">
          <a:xfrm>
            <a:off x="5049838" y="4981575"/>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40" name="Text Box 20"/>
          <p:cNvSpPr txBox="1">
            <a:spLocks noChangeArrowheads="1"/>
          </p:cNvSpPr>
          <p:nvPr/>
        </p:nvSpPr>
        <p:spPr bwMode="auto">
          <a:xfrm>
            <a:off x="2441575" y="35337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a:t>
            </a:r>
          </a:p>
        </p:txBody>
      </p:sp>
      <p:sp>
        <p:nvSpPr>
          <p:cNvPr id="30741" name="Text Box 21"/>
          <p:cNvSpPr txBox="1">
            <a:spLocks noChangeArrowheads="1"/>
          </p:cNvSpPr>
          <p:nvPr/>
        </p:nvSpPr>
        <p:spPr bwMode="auto">
          <a:xfrm>
            <a:off x="7426325" y="46863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a:t>
            </a:r>
          </a:p>
        </p:txBody>
      </p:sp>
      <p:sp>
        <p:nvSpPr>
          <p:cNvPr id="30742" name="Text Box 22"/>
          <p:cNvSpPr txBox="1">
            <a:spLocks noChangeArrowheads="1"/>
          </p:cNvSpPr>
          <p:nvPr/>
        </p:nvSpPr>
        <p:spPr bwMode="auto">
          <a:xfrm>
            <a:off x="4768850" y="46863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b</a:t>
            </a:r>
          </a:p>
        </p:txBody>
      </p:sp>
      <p:sp>
        <p:nvSpPr>
          <p:cNvPr id="30743" name="Text Box 23"/>
          <p:cNvSpPr txBox="1">
            <a:spLocks noChangeArrowheads="1"/>
          </p:cNvSpPr>
          <p:nvPr/>
        </p:nvSpPr>
        <p:spPr bwMode="auto">
          <a:xfrm>
            <a:off x="739775" y="4321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b</a:t>
            </a:r>
          </a:p>
        </p:txBody>
      </p:sp>
      <p:sp>
        <p:nvSpPr>
          <p:cNvPr id="30744" name="Text Box 24"/>
          <p:cNvSpPr txBox="1">
            <a:spLocks noChangeArrowheads="1"/>
          </p:cNvSpPr>
          <p:nvPr/>
        </p:nvSpPr>
        <p:spPr bwMode="auto">
          <a:xfrm>
            <a:off x="1893888" y="5045075"/>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c</a:t>
            </a:r>
          </a:p>
        </p:txBody>
      </p:sp>
      <p:sp>
        <p:nvSpPr>
          <p:cNvPr id="30745" name="Text Box 25"/>
          <p:cNvSpPr txBox="1">
            <a:spLocks noChangeArrowheads="1"/>
          </p:cNvSpPr>
          <p:nvPr/>
        </p:nvSpPr>
        <p:spPr bwMode="auto">
          <a:xfrm>
            <a:off x="2408238" y="5802313"/>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d</a:t>
            </a:r>
          </a:p>
        </p:txBody>
      </p:sp>
      <p:sp>
        <p:nvSpPr>
          <p:cNvPr id="30746" name="Text Box 26"/>
          <p:cNvSpPr txBox="1">
            <a:spLocks noChangeArrowheads="1"/>
          </p:cNvSpPr>
          <p:nvPr/>
        </p:nvSpPr>
        <p:spPr bwMode="auto">
          <a:xfrm>
            <a:off x="5738813" y="4686300"/>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b</a:t>
            </a:r>
          </a:p>
        </p:txBody>
      </p:sp>
      <p:sp>
        <p:nvSpPr>
          <p:cNvPr id="30747" name="Text Box 27"/>
          <p:cNvSpPr txBox="1">
            <a:spLocks noChangeArrowheads="1"/>
          </p:cNvSpPr>
          <p:nvPr/>
        </p:nvSpPr>
        <p:spPr bwMode="auto">
          <a:xfrm>
            <a:off x="5972175" y="46863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c</a:t>
            </a:r>
          </a:p>
        </p:txBody>
      </p:sp>
      <p:sp>
        <p:nvSpPr>
          <p:cNvPr id="30748" name="Text Box 28"/>
          <p:cNvSpPr txBox="1">
            <a:spLocks noChangeArrowheads="1"/>
          </p:cNvSpPr>
          <p:nvPr/>
        </p:nvSpPr>
        <p:spPr bwMode="auto">
          <a:xfrm>
            <a:off x="4541838" y="4686300"/>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a:t>
            </a:r>
          </a:p>
        </p:txBody>
      </p:sp>
      <p:sp>
        <p:nvSpPr>
          <p:cNvPr id="30749" name="Text Box 29"/>
          <p:cNvSpPr txBox="1">
            <a:spLocks noChangeArrowheads="1"/>
          </p:cNvSpPr>
          <p:nvPr/>
        </p:nvSpPr>
        <p:spPr bwMode="auto">
          <a:xfrm>
            <a:off x="3103563" y="3549650"/>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0750" name="Text Box 30"/>
          <p:cNvSpPr txBox="1">
            <a:spLocks noChangeArrowheads="1"/>
          </p:cNvSpPr>
          <p:nvPr/>
        </p:nvSpPr>
        <p:spPr bwMode="auto">
          <a:xfrm>
            <a:off x="3103563" y="4319588"/>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0751" name="Text Box 31"/>
          <p:cNvSpPr txBox="1">
            <a:spLocks noChangeArrowheads="1"/>
          </p:cNvSpPr>
          <p:nvPr/>
        </p:nvSpPr>
        <p:spPr bwMode="auto">
          <a:xfrm>
            <a:off x="3103563" y="5089525"/>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0752" name="Text Box 32"/>
          <p:cNvSpPr txBox="1">
            <a:spLocks noChangeArrowheads="1"/>
          </p:cNvSpPr>
          <p:nvPr/>
        </p:nvSpPr>
        <p:spPr bwMode="auto">
          <a:xfrm>
            <a:off x="3103563" y="5859463"/>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0753" name="Text Box 33"/>
          <p:cNvSpPr txBox="1">
            <a:spLocks noChangeArrowheads="1"/>
          </p:cNvSpPr>
          <p:nvPr/>
        </p:nvSpPr>
        <p:spPr bwMode="auto">
          <a:xfrm>
            <a:off x="8639175" y="4678363"/>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0754" name="Line 34"/>
          <p:cNvSpPr>
            <a:spLocks noChangeShapeType="1"/>
          </p:cNvSpPr>
          <p:nvPr/>
        </p:nvSpPr>
        <p:spPr bwMode="auto">
          <a:xfrm>
            <a:off x="6734175" y="4981575"/>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55" name="Line 35"/>
          <p:cNvSpPr>
            <a:spLocks noChangeShapeType="1"/>
          </p:cNvSpPr>
          <p:nvPr/>
        </p:nvSpPr>
        <p:spPr bwMode="auto">
          <a:xfrm>
            <a:off x="1198563" y="4605338"/>
            <a:ext cx="0" cy="95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56" name="Line 36"/>
          <p:cNvSpPr>
            <a:spLocks noChangeShapeType="1"/>
          </p:cNvSpPr>
          <p:nvPr/>
        </p:nvSpPr>
        <p:spPr bwMode="auto">
          <a:xfrm>
            <a:off x="1760538" y="5357813"/>
            <a:ext cx="0" cy="93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57" name="Line 37"/>
          <p:cNvSpPr>
            <a:spLocks noChangeShapeType="1"/>
          </p:cNvSpPr>
          <p:nvPr/>
        </p:nvSpPr>
        <p:spPr bwMode="auto">
          <a:xfrm>
            <a:off x="2320925" y="4605338"/>
            <a:ext cx="0" cy="95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58" name="Line 38"/>
          <p:cNvSpPr>
            <a:spLocks noChangeShapeType="1"/>
          </p:cNvSpPr>
          <p:nvPr/>
        </p:nvSpPr>
        <p:spPr bwMode="auto">
          <a:xfrm>
            <a:off x="1198563" y="6110288"/>
            <a:ext cx="0" cy="93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59" name="Line 39"/>
          <p:cNvSpPr>
            <a:spLocks noChangeShapeType="1"/>
          </p:cNvSpPr>
          <p:nvPr/>
        </p:nvSpPr>
        <p:spPr bwMode="auto">
          <a:xfrm>
            <a:off x="2882900" y="5357813"/>
            <a:ext cx="0" cy="93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0" name="Line 40"/>
          <p:cNvSpPr>
            <a:spLocks noChangeShapeType="1"/>
          </p:cNvSpPr>
          <p:nvPr/>
        </p:nvSpPr>
        <p:spPr bwMode="auto">
          <a:xfrm>
            <a:off x="2320925" y="6110288"/>
            <a:ext cx="0" cy="93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1" name="Line 41"/>
          <p:cNvSpPr>
            <a:spLocks noChangeShapeType="1"/>
          </p:cNvSpPr>
          <p:nvPr/>
        </p:nvSpPr>
        <p:spPr bwMode="auto">
          <a:xfrm>
            <a:off x="4568825" y="5170488"/>
            <a:ext cx="0" cy="187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2" name="Line 42"/>
          <p:cNvSpPr>
            <a:spLocks noChangeShapeType="1"/>
          </p:cNvSpPr>
          <p:nvPr/>
        </p:nvSpPr>
        <p:spPr bwMode="auto">
          <a:xfrm>
            <a:off x="5530850" y="5170488"/>
            <a:ext cx="0" cy="187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3" name="Line 43"/>
          <p:cNvSpPr>
            <a:spLocks noChangeShapeType="1"/>
          </p:cNvSpPr>
          <p:nvPr/>
        </p:nvSpPr>
        <p:spPr bwMode="auto">
          <a:xfrm>
            <a:off x="6492875" y="5170488"/>
            <a:ext cx="0" cy="187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4" name="Line 44"/>
          <p:cNvSpPr>
            <a:spLocks noChangeShapeType="1"/>
          </p:cNvSpPr>
          <p:nvPr/>
        </p:nvSpPr>
        <p:spPr bwMode="auto">
          <a:xfrm>
            <a:off x="7456488" y="5170488"/>
            <a:ext cx="0" cy="187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5" name="Line 45"/>
          <p:cNvSpPr>
            <a:spLocks noChangeShapeType="1"/>
          </p:cNvSpPr>
          <p:nvPr/>
        </p:nvSpPr>
        <p:spPr bwMode="auto">
          <a:xfrm>
            <a:off x="4568825" y="5264150"/>
            <a:ext cx="962025"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6" name="Line 46"/>
          <p:cNvSpPr>
            <a:spLocks noChangeShapeType="1"/>
          </p:cNvSpPr>
          <p:nvPr/>
        </p:nvSpPr>
        <p:spPr bwMode="auto">
          <a:xfrm>
            <a:off x="5530850" y="5264150"/>
            <a:ext cx="962025"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7" name="Line 47"/>
          <p:cNvSpPr>
            <a:spLocks noChangeShapeType="1"/>
          </p:cNvSpPr>
          <p:nvPr/>
        </p:nvSpPr>
        <p:spPr bwMode="auto">
          <a:xfrm>
            <a:off x="6492875" y="5264150"/>
            <a:ext cx="963613"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8" name="Text Box 48"/>
          <p:cNvSpPr txBox="1">
            <a:spLocks noChangeArrowheads="1"/>
          </p:cNvSpPr>
          <p:nvPr/>
        </p:nvSpPr>
        <p:spPr bwMode="auto">
          <a:xfrm>
            <a:off x="5772150" y="5984875"/>
            <a:ext cx="1919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4 </a:t>
            </a:r>
            <a:r>
              <a:rPr kumimoji="1" lang="zh-CN" altLang="en-US" sz="2000">
                <a:solidFill>
                  <a:srgbClr val="333399"/>
                </a:solidFill>
                <a:latin typeface="Arial" pitchFamily="34" charset="0"/>
                <a:ea typeface="黑体" pitchFamily="49" charset="-122"/>
              </a:rPr>
              <a:t>个时分复用帧</a:t>
            </a:r>
          </a:p>
        </p:txBody>
      </p:sp>
      <p:sp>
        <p:nvSpPr>
          <p:cNvPr id="30769" name="Text Box 49"/>
          <p:cNvSpPr txBox="1">
            <a:spLocks noChangeArrowheads="1"/>
          </p:cNvSpPr>
          <p:nvPr/>
        </p:nvSpPr>
        <p:spPr bwMode="auto">
          <a:xfrm>
            <a:off x="4808538" y="5213350"/>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#1</a:t>
            </a:r>
          </a:p>
        </p:txBody>
      </p:sp>
      <p:sp>
        <p:nvSpPr>
          <p:cNvPr id="30770" name="Line 50"/>
          <p:cNvSpPr>
            <a:spLocks noChangeShapeType="1"/>
          </p:cNvSpPr>
          <p:nvPr/>
        </p:nvSpPr>
        <p:spPr bwMode="auto">
          <a:xfrm>
            <a:off x="3276600" y="4002088"/>
            <a:ext cx="1050925" cy="69850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71" name="Line 51"/>
          <p:cNvSpPr>
            <a:spLocks noChangeShapeType="1"/>
          </p:cNvSpPr>
          <p:nvPr/>
        </p:nvSpPr>
        <p:spPr bwMode="auto">
          <a:xfrm>
            <a:off x="3276600" y="4722813"/>
            <a:ext cx="969963" cy="16510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72" name="Line 52"/>
          <p:cNvSpPr>
            <a:spLocks noChangeShapeType="1"/>
          </p:cNvSpPr>
          <p:nvPr/>
        </p:nvSpPr>
        <p:spPr bwMode="auto">
          <a:xfrm flipV="1">
            <a:off x="3348038" y="5075238"/>
            <a:ext cx="898525" cy="366712"/>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73" name="Line 53"/>
          <p:cNvSpPr>
            <a:spLocks noChangeShapeType="1"/>
          </p:cNvSpPr>
          <p:nvPr/>
        </p:nvSpPr>
        <p:spPr bwMode="auto">
          <a:xfrm flipV="1">
            <a:off x="3363913" y="5264150"/>
            <a:ext cx="963612" cy="846138"/>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74" name="Text Box 54"/>
          <p:cNvSpPr txBox="1">
            <a:spLocks noChangeArrowheads="1"/>
          </p:cNvSpPr>
          <p:nvPr/>
        </p:nvSpPr>
        <p:spPr bwMode="auto">
          <a:xfrm>
            <a:off x="3348038" y="5514975"/>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④</a:t>
            </a:r>
          </a:p>
        </p:txBody>
      </p:sp>
      <p:sp>
        <p:nvSpPr>
          <p:cNvPr id="30775" name="Text Box 55"/>
          <p:cNvSpPr txBox="1">
            <a:spLocks noChangeArrowheads="1"/>
          </p:cNvSpPr>
          <p:nvPr/>
        </p:nvSpPr>
        <p:spPr bwMode="auto">
          <a:xfrm>
            <a:off x="3276600" y="5010150"/>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③</a:t>
            </a:r>
          </a:p>
        </p:txBody>
      </p:sp>
      <p:sp>
        <p:nvSpPr>
          <p:cNvPr id="30776" name="Text Box 56"/>
          <p:cNvSpPr txBox="1">
            <a:spLocks noChangeArrowheads="1"/>
          </p:cNvSpPr>
          <p:nvPr/>
        </p:nvSpPr>
        <p:spPr bwMode="auto">
          <a:xfrm>
            <a:off x="3276600" y="4362450"/>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②</a:t>
            </a:r>
          </a:p>
        </p:txBody>
      </p:sp>
      <p:sp>
        <p:nvSpPr>
          <p:cNvPr id="30777" name="Text Box 57"/>
          <p:cNvSpPr txBox="1">
            <a:spLocks noChangeArrowheads="1"/>
          </p:cNvSpPr>
          <p:nvPr/>
        </p:nvSpPr>
        <p:spPr bwMode="auto">
          <a:xfrm>
            <a:off x="3419475" y="3786188"/>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①</a:t>
            </a:r>
          </a:p>
        </p:txBody>
      </p:sp>
      <p:sp>
        <p:nvSpPr>
          <p:cNvPr id="30778" name="Freeform 58"/>
          <p:cNvSpPr>
            <a:spLocks/>
          </p:cNvSpPr>
          <p:nvPr/>
        </p:nvSpPr>
        <p:spPr bwMode="auto">
          <a:xfrm>
            <a:off x="636588" y="3571875"/>
            <a:ext cx="561975" cy="376238"/>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79" name="Line 59"/>
          <p:cNvSpPr>
            <a:spLocks noChangeShapeType="1"/>
          </p:cNvSpPr>
          <p:nvPr/>
        </p:nvSpPr>
        <p:spPr bwMode="auto">
          <a:xfrm>
            <a:off x="2882900" y="4605338"/>
            <a:ext cx="0" cy="95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80" name="Line 60"/>
          <p:cNvSpPr>
            <a:spLocks noChangeShapeType="1"/>
          </p:cNvSpPr>
          <p:nvPr/>
        </p:nvSpPr>
        <p:spPr bwMode="auto">
          <a:xfrm>
            <a:off x="636588" y="6091238"/>
            <a:ext cx="0" cy="93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81" name="Text Box 61"/>
          <p:cNvSpPr txBox="1">
            <a:spLocks noChangeArrowheads="1"/>
          </p:cNvSpPr>
          <p:nvPr/>
        </p:nvSpPr>
        <p:spPr bwMode="auto">
          <a:xfrm>
            <a:off x="739775" y="35306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a:t>
            </a:r>
          </a:p>
        </p:txBody>
      </p:sp>
      <p:sp>
        <p:nvSpPr>
          <p:cNvPr id="30782" name="Text Box 62"/>
          <p:cNvSpPr txBox="1">
            <a:spLocks noChangeArrowheads="1"/>
          </p:cNvSpPr>
          <p:nvPr/>
        </p:nvSpPr>
        <p:spPr bwMode="auto">
          <a:xfrm>
            <a:off x="1328738" y="5032375"/>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c</a:t>
            </a:r>
          </a:p>
        </p:txBody>
      </p:sp>
      <p:sp>
        <p:nvSpPr>
          <p:cNvPr id="30783" name="Text Box 63"/>
          <p:cNvSpPr txBox="1">
            <a:spLocks noChangeArrowheads="1"/>
          </p:cNvSpPr>
          <p:nvPr/>
        </p:nvSpPr>
        <p:spPr bwMode="auto">
          <a:xfrm>
            <a:off x="1355725" y="43243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b</a:t>
            </a:r>
          </a:p>
        </p:txBody>
      </p:sp>
      <p:sp>
        <p:nvSpPr>
          <p:cNvPr id="30784" name="Line 64"/>
          <p:cNvSpPr>
            <a:spLocks noChangeShapeType="1"/>
          </p:cNvSpPr>
          <p:nvPr/>
        </p:nvSpPr>
        <p:spPr bwMode="auto">
          <a:xfrm>
            <a:off x="5289550" y="4981575"/>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85" name="Line 65"/>
          <p:cNvSpPr>
            <a:spLocks noChangeShapeType="1"/>
          </p:cNvSpPr>
          <p:nvPr/>
        </p:nvSpPr>
        <p:spPr bwMode="auto">
          <a:xfrm>
            <a:off x="5530850" y="4981575"/>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86" name="Line 66"/>
          <p:cNvSpPr>
            <a:spLocks noChangeShapeType="1"/>
          </p:cNvSpPr>
          <p:nvPr/>
        </p:nvSpPr>
        <p:spPr bwMode="auto">
          <a:xfrm>
            <a:off x="7456488" y="5264150"/>
            <a:ext cx="962025"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87" name="Line 67"/>
          <p:cNvSpPr>
            <a:spLocks noChangeShapeType="1"/>
          </p:cNvSpPr>
          <p:nvPr/>
        </p:nvSpPr>
        <p:spPr bwMode="auto">
          <a:xfrm>
            <a:off x="8418513" y="5170488"/>
            <a:ext cx="0" cy="187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88" name="Line 68"/>
          <p:cNvSpPr>
            <a:spLocks noChangeShapeType="1"/>
          </p:cNvSpPr>
          <p:nvPr/>
        </p:nvSpPr>
        <p:spPr bwMode="auto">
          <a:xfrm>
            <a:off x="7937500" y="4981575"/>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89" name="Line 69"/>
          <p:cNvSpPr>
            <a:spLocks noChangeShapeType="1"/>
          </p:cNvSpPr>
          <p:nvPr/>
        </p:nvSpPr>
        <p:spPr bwMode="auto">
          <a:xfrm>
            <a:off x="6492875" y="4981575"/>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90" name="Text Box 70"/>
          <p:cNvSpPr txBox="1">
            <a:spLocks noChangeArrowheads="1"/>
          </p:cNvSpPr>
          <p:nvPr/>
        </p:nvSpPr>
        <p:spPr bwMode="auto">
          <a:xfrm>
            <a:off x="6954838" y="46863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c</a:t>
            </a:r>
          </a:p>
        </p:txBody>
      </p:sp>
      <p:sp>
        <p:nvSpPr>
          <p:cNvPr id="30791" name="Text Box 71"/>
          <p:cNvSpPr txBox="1">
            <a:spLocks noChangeArrowheads="1"/>
          </p:cNvSpPr>
          <p:nvPr/>
        </p:nvSpPr>
        <p:spPr bwMode="auto">
          <a:xfrm>
            <a:off x="8139113" y="4686300"/>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d</a:t>
            </a:r>
          </a:p>
        </p:txBody>
      </p:sp>
      <p:sp>
        <p:nvSpPr>
          <p:cNvPr id="30792" name="Text Box 72"/>
          <p:cNvSpPr txBox="1">
            <a:spLocks noChangeArrowheads="1"/>
          </p:cNvSpPr>
          <p:nvPr/>
        </p:nvSpPr>
        <p:spPr bwMode="auto">
          <a:xfrm>
            <a:off x="3605213" y="325120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时分复用</a:t>
            </a:r>
          </a:p>
        </p:txBody>
      </p:sp>
      <p:sp>
        <p:nvSpPr>
          <p:cNvPr id="30793" name="Text Box 73"/>
          <p:cNvSpPr txBox="1">
            <a:spLocks noChangeArrowheads="1"/>
          </p:cNvSpPr>
          <p:nvPr/>
        </p:nvSpPr>
        <p:spPr bwMode="auto">
          <a:xfrm>
            <a:off x="5772150" y="5213350"/>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#2</a:t>
            </a:r>
          </a:p>
        </p:txBody>
      </p:sp>
      <p:sp>
        <p:nvSpPr>
          <p:cNvPr id="30794" name="Text Box 74"/>
          <p:cNvSpPr txBox="1">
            <a:spLocks noChangeArrowheads="1"/>
          </p:cNvSpPr>
          <p:nvPr/>
        </p:nvSpPr>
        <p:spPr bwMode="auto">
          <a:xfrm>
            <a:off x="6781800" y="5213350"/>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#3</a:t>
            </a:r>
          </a:p>
        </p:txBody>
      </p:sp>
      <p:sp>
        <p:nvSpPr>
          <p:cNvPr id="30795" name="Text Box 75"/>
          <p:cNvSpPr txBox="1">
            <a:spLocks noChangeArrowheads="1"/>
          </p:cNvSpPr>
          <p:nvPr/>
        </p:nvSpPr>
        <p:spPr bwMode="auto">
          <a:xfrm>
            <a:off x="7743825" y="5213350"/>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#4</a:t>
            </a:r>
          </a:p>
        </p:txBody>
      </p:sp>
      <p:sp>
        <p:nvSpPr>
          <p:cNvPr id="30796" name="Line 76"/>
          <p:cNvSpPr>
            <a:spLocks noChangeShapeType="1"/>
          </p:cNvSpPr>
          <p:nvPr/>
        </p:nvSpPr>
        <p:spPr bwMode="auto">
          <a:xfrm>
            <a:off x="5129213" y="5610225"/>
            <a:ext cx="1203325"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97" name="Line 77"/>
          <p:cNvSpPr>
            <a:spLocks noChangeShapeType="1"/>
          </p:cNvSpPr>
          <p:nvPr/>
        </p:nvSpPr>
        <p:spPr bwMode="auto">
          <a:xfrm>
            <a:off x="6011863" y="5610225"/>
            <a:ext cx="481012"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98" name="Line 78"/>
          <p:cNvSpPr>
            <a:spLocks noChangeShapeType="1"/>
          </p:cNvSpPr>
          <p:nvPr/>
        </p:nvSpPr>
        <p:spPr bwMode="auto">
          <a:xfrm flipH="1">
            <a:off x="6573838" y="5610225"/>
            <a:ext cx="401637"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99" name="Line 79"/>
          <p:cNvSpPr>
            <a:spLocks noChangeShapeType="1"/>
          </p:cNvSpPr>
          <p:nvPr/>
        </p:nvSpPr>
        <p:spPr bwMode="auto">
          <a:xfrm flipV="1">
            <a:off x="6734175" y="5610225"/>
            <a:ext cx="1203325"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00" name="Text Box 80"/>
          <p:cNvSpPr txBox="1">
            <a:spLocks noChangeArrowheads="1"/>
          </p:cNvSpPr>
          <p:nvPr/>
        </p:nvSpPr>
        <p:spPr bwMode="auto">
          <a:xfrm>
            <a:off x="93663" y="2976563"/>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用户</a:t>
            </a:r>
          </a:p>
        </p:txBody>
      </p:sp>
      <p:sp>
        <p:nvSpPr>
          <p:cNvPr id="30801" name="Line 81"/>
          <p:cNvSpPr>
            <a:spLocks noChangeShapeType="1"/>
          </p:cNvSpPr>
          <p:nvPr/>
        </p:nvSpPr>
        <p:spPr bwMode="auto">
          <a:xfrm>
            <a:off x="557213" y="3948113"/>
            <a:ext cx="2646362"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02" name="Line 82"/>
          <p:cNvSpPr>
            <a:spLocks noChangeShapeType="1"/>
          </p:cNvSpPr>
          <p:nvPr/>
        </p:nvSpPr>
        <p:spPr bwMode="auto">
          <a:xfrm>
            <a:off x="557213" y="4700588"/>
            <a:ext cx="2646362"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03" name="Line 83"/>
          <p:cNvSpPr>
            <a:spLocks noChangeShapeType="1"/>
          </p:cNvSpPr>
          <p:nvPr/>
        </p:nvSpPr>
        <p:spPr bwMode="auto">
          <a:xfrm>
            <a:off x="557213" y="5451475"/>
            <a:ext cx="2646362"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04" name="Line 84"/>
          <p:cNvSpPr>
            <a:spLocks noChangeShapeType="1"/>
          </p:cNvSpPr>
          <p:nvPr/>
        </p:nvSpPr>
        <p:spPr bwMode="auto">
          <a:xfrm>
            <a:off x="557213" y="6203950"/>
            <a:ext cx="2646362"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0805" name="Group 85"/>
          <p:cNvGrpSpPr>
            <a:grpSpLocks/>
          </p:cNvGrpSpPr>
          <p:nvPr/>
        </p:nvGrpSpPr>
        <p:grpSpPr bwMode="auto">
          <a:xfrm>
            <a:off x="4572000" y="4506913"/>
            <a:ext cx="3830638" cy="1079500"/>
            <a:chOff x="1655" y="1570"/>
            <a:chExt cx="2904" cy="1497"/>
          </a:xfrm>
        </p:grpSpPr>
        <p:sp>
          <p:nvSpPr>
            <p:cNvPr id="30811" name="Line 86"/>
            <p:cNvSpPr>
              <a:spLocks noChangeShapeType="1"/>
            </p:cNvSpPr>
            <p:nvPr/>
          </p:nvSpPr>
          <p:spPr bwMode="auto">
            <a:xfrm>
              <a:off x="1655"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12" name="Line 87"/>
            <p:cNvSpPr>
              <a:spLocks noChangeShapeType="1"/>
            </p:cNvSpPr>
            <p:nvPr/>
          </p:nvSpPr>
          <p:spPr bwMode="auto">
            <a:xfrm>
              <a:off x="2381"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13" name="Line 88"/>
            <p:cNvSpPr>
              <a:spLocks noChangeShapeType="1"/>
            </p:cNvSpPr>
            <p:nvPr/>
          </p:nvSpPr>
          <p:spPr bwMode="auto">
            <a:xfrm>
              <a:off x="3107"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14" name="Line 89"/>
            <p:cNvSpPr>
              <a:spLocks noChangeShapeType="1"/>
            </p:cNvSpPr>
            <p:nvPr/>
          </p:nvSpPr>
          <p:spPr bwMode="auto">
            <a:xfrm>
              <a:off x="3833"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15" name="Line 90"/>
            <p:cNvSpPr>
              <a:spLocks noChangeShapeType="1"/>
            </p:cNvSpPr>
            <p:nvPr/>
          </p:nvSpPr>
          <p:spPr bwMode="auto">
            <a:xfrm>
              <a:off x="4559" y="1570"/>
              <a:ext cx="0" cy="1497"/>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806" name="Text Box 91"/>
          <p:cNvSpPr txBox="1">
            <a:spLocks noChangeArrowheads="1"/>
          </p:cNvSpPr>
          <p:nvPr/>
        </p:nvSpPr>
        <p:spPr bwMode="auto">
          <a:xfrm>
            <a:off x="1773238" y="1844675"/>
            <a:ext cx="58229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zh-CN" altLang="en-US">
                <a:solidFill>
                  <a:schemeClr val="folHlink"/>
                </a:solidFill>
                <a:latin typeface="黑体" pitchFamily="49" charset="-122"/>
                <a:ea typeface="黑体" pitchFamily="49" charset="-122"/>
              </a:rPr>
              <a:t>使用时分复用系统传送计算机数据时，</a:t>
            </a:r>
          </a:p>
          <a:p>
            <a:pPr algn="l" eaLnBrk="1" hangingPunct="1"/>
            <a:r>
              <a:rPr lang="zh-CN" altLang="en-US">
                <a:solidFill>
                  <a:schemeClr val="folHlink"/>
                </a:solidFill>
                <a:latin typeface="黑体" pitchFamily="49" charset="-122"/>
                <a:ea typeface="黑体" pitchFamily="49" charset="-122"/>
              </a:rPr>
              <a:t>由于计算机数据的突发性质，用户对</a:t>
            </a:r>
          </a:p>
          <a:p>
            <a:pPr algn="l" eaLnBrk="1" hangingPunct="1"/>
            <a:r>
              <a:rPr lang="zh-CN" altLang="en-US">
                <a:solidFill>
                  <a:schemeClr val="folHlink"/>
                </a:solidFill>
                <a:latin typeface="黑体" pitchFamily="49" charset="-122"/>
                <a:ea typeface="黑体" pitchFamily="49" charset="-122"/>
              </a:rPr>
              <a:t>分配到的子信道的利用率一般是不高的。 </a:t>
            </a:r>
          </a:p>
        </p:txBody>
      </p:sp>
      <p:sp>
        <p:nvSpPr>
          <p:cNvPr id="30807" name="Freeform 95"/>
          <p:cNvSpPr>
            <a:spLocks/>
          </p:cNvSpPr>
          <p:nvPr/>
        </p:nvSpPr>
        <p:spPr bwMode="auto">
          <a:xfrm>
            <a:off x="2552700" y="3124200"/>
            <a:ext cx="5432425" cy="1587500"/>
          </a:xfrm>
          <a:custGeom>
            <a:avLst/>
            <a:gdLst>
              <a:gd name="T0" fmla="*/ 0 w 3422"/>
              <a:gd name="T1" fmla="*/ 2147483647 h 1000"/>
              <a:gd name="T2" fmla="*/ 2147483647 w 3422"/>
              <a:gd name="T3" fmla="*/ 2147483647 h 1000"/>
              <a:gd name="T4" fmla="*/ 2147483647 w 3422"/>
              <a:gd name="T5" fmla="*/ 2147483647 h 1000"/>
              <a:gd name="T6" fmla="*/ 2147483647 w 3422"/>
              <a:gd name="T7" fmla="*/ 2147483647 h 1000"/>
              <a:gd name="T8" fmla="*/ 2147483647 w 3422"/>
              <a:gd name="T9" fmla="*/ 2147483647 h 1000"/>
              <a:gd name="T10" fmla="*/ 2147483647 w 3422"/>
              <a:gd name="T11" fmla="*/ 0 h 1000"/>
              <a:gd name="T12" fmla="*/ 2147483647 w 3422"/>
              <a:gd name="T13" fmla="*/ 2147483647 h 1000"/>
              <a:gd name="T14" fmla="*/ 2147483647 w 3422"/>
              <a:gd name="T15" fmla="*/ 2147483647 h 1000"/>
              <a:gd name="T16" fmla="*/ 2147483647 w 3422"/>
              <a:gd name="T17" fmla="*/ 2147483647 h 1000"/>
              <a:gd name="T18" fmla="*/ 2147483647 w 3422"/>
              <a:gd name="T19" fmla="*/ 2147483647 h 1000"/>
              <a:gd name="T20" fmla="*/ 2147483647 w 3422"/>
              <a:gd name="T21" fmla="*/ 2147483647 h 1000"/>
              <a:gd name="T22" fmla="*/ 2147483647 w 3422"/>
              <a:gd name="T23" fmla="*/ 2147483647 h 1000"/>
              <a:gd name="T24" fmla="*/ 2147483647 w 3422"/>
              <a:gd name="T25" fmla="*/ 2147483647 h 1000"/>
              <a:gd name="T26" fmla="*/ 2147483647 w 3422"/>
              <a:gd name="T27" fmla="*/ 2147483647 h 1000"/>
              <a:gd name="T28" fmla="*/ 2147483647 w 3422"/>
              <a:gd name="T29" fmla="*/ 2147483647 h 1000"/>
              <a:gd name="T30" fmla="*/ 2147483647 w 3422"/>
              <a:gd name="T31" fmla="*/ 2147483647 h 1000"/>
              <a:gd name="T32" fmla="*/ 2147483647 w 3422"/>
              <a:gd name="T33" fmla="*/ 2147483647 h 1000"/>
              <a:gd name="T34" fmla="*/ 2147483647 w 3422"/>
              <a:gd name="T35" fmla="*/ 2147483647 h 1000"/>
              <a:gd name="T36" fmla="*/ 2147483647 w 3422"/>
              <a:gd name="T37" fmla="*/ 2147483647 h 1000"/>
              <a:gd name="T38" fmla="*/ 2147483647 w 3422"/>
              <a:gd name="T39" fmla="*/ 2147483647 h 1000"/>
              <a:gd name="T40" fmla="*/ 2147483647 w 3422"/>
              <a:gd name="T41" fmla="*/ 2147483647 h 1000"/>
              <a:gd name="T42" fmla="*/ 2147483647 w 3422"/>
              <a:gd name="T43" fmla="*/ 2147483647 h 1000"/>
              <a:gd name="T44" fmla="*/ 2147483647 w 3422"/>
              <a:gd name="T45" fmla="*/ 2147483647 h 1000"/>
              <a:gd name="T46" fmla="*/ 2147483647 w 3422"/>
              <a:gd name="T47" fmla="*/ 2147483647 h 100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422" h="1000">
                <a:moveTo>
                  <a:pt x="0" y="240"/>
                </a:moveTo>
                <a:cubicBezTo>
                  <a:pt x="8" y="232"/>
                  <a:pt x="15" y="223"/>
                  <a:pt x="24" y="216"/>
                </a:cubicBezTo>
                <a:cubicBezTo>
                  <a:pt x="31" y="210"/>
                  <a:pt x="41" y="206"/>
                  <a:pt x="48" y="200"/>
                </a:cubicBezTo>
                <a:cubicBezTo>
                  <a:pt x="65" y="185"/>
                  <a:pt x="75" y="159"/>
                  <a:pt x="96" y="152"/>
                </a:cubicBezTo>
                <a:cubicBezTo>
                  <a:pt x="122" y="143"/>
                  <a:pt x="168" y="112"/>
                  <a:pt x="168" y="112"/>
                </a:cubicBezTo>
                <a:cubicBezTo>
                  <a:pt x="207" y="54"/>
                  <a:pt x="332" y="14"/>
                  <a:pt x="400" y="0"/>
                </a:cubicBezTo>
                <a:cubicBezTo>
                  <a:pt x="708" y="4"/>
                  <a:pt x="987" y="19"/>
                  <a:pt x="1288" y="32"/>
                </a:cubicBezTo>
                <a:cubicBezTo>
                  <a:pt x="1374" y="49"/>
                  <a:pt x="1464" y="50"/>
                  <a:pt x="1552" y="56"/>
                </a:cubicBezTo>
                <a:cubicBezTo>
                  <a:pt x="1605" y="67"/>
                  <a:pt x="1660" y="74"/>
                  <a:pt x="1712" y="88"/>
                </a:cubicBezTo>
                <a:cubicBezTo>
                  <a:pt x="1762" y="102"/>
                  <a:pt x="1789" y="113"/>
                  <a:pt x="1840" y="120"/>
                </a:cubicBezTo>
                <a:cubicBezTo>
                  <a:pt x="1900" y="150"/>
                  <a:pt x="1949" y="154"/>
                  <a:pt x="2016" y="160"/>
                </a:cubicBezTo>
                <a:cubicBezTo>
                  <a:pt x="2097" y="180"/>
                  <a:pt x="2189" y="191"/>
                  <a:pt x="2272" y="200"/>
                </a:cubicBezTo>
                <a:cubicBezTo>
                  <a:pt x="2293" y="205"/>
                  <a:pt x="2361" y="221"/>
                  <a:pt x="2384" y="232"/>
                </a:cubicBezTo>
                <a:cubicBezTo>
                  <a:pt x="2422" y="251"/>
                  <a:pt x="2457" y="272"/>
                  <a:pt x="2496" y="288"/>
                </a:cubicBezTo>
                <a:cubicBezTo>
                  <a:pt x="2538" y="305"/>
                  <a:pt x="2592" y="316"/>
                  <a:pt x="2632" y="336"/>
                </a:cubicBezTo>
                <a:cubicBezTo>
                  <a:pt x="2724" y="382"/>
                  <a:pt x="2813" y="434"/>
                  <a:pt x="2904" y="480"/>
                </a:cubicBezTo>
                <a:cubicBezTo>
                  <a:pt x="2956" y="506"/>
                  <a:pt x="2899" y="485"/>
                  <a:pt x="2952" y="520"/>
                </a:cubicBezTo>
                <a:cubicBezTo>
                  <a:pt x="2959" y="525"/>
                  <a:pt x="2969" y="524"/>
                  <a:pt x="2976" y="528"/>
                </a:cubicBezTo>
                <a:cubicBezTo>
                  <a:pt x="3023" y="554"/>
                  <a:pt x="3060" y="595"/>
                  <a:pt x="3112" y="608"/>
                </a:cubicBezTo>
                <a:cubicBezTo>
                  <a:pt x="3138" y="625"/>
                  <a:pt x="3154" y="646"/>
                  <a:pt x="3184" y="656"/>
                </a:cubicBezTo>
                <a:cubicBezTo>
                  <a:pt x="3211" y="683"/>
                  <a:pt x="3298" y="739"/>
                  <a:pt x="3336" y="752"/>
                </a:cubicBezTo>
                <a:cubicBezTo>
                  <a:pt x="3341" y="760"/>
                  <a:pt x="3344" y="771"/>
                  <a:pt x="3352" y="776"/>
                </a:cubicBezTo>
                <a:cubicBezTo>
                  <a:pt x="3366" y="785"/>
                  <a:pt x="3400" y="792"/>
                  <a:pt x="3400" y="792"/>
                </a:cubicBezTo>
                <a:cubicBezTo>
                  <a:pt x="3422" y="858"/>
                  <a:pt x="3416" y="931"/>
                  <a:pt x="3416" y="100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08" name="Freeform 96"/>
          <p:cNvSpPr>
            <a:spLocks/>
          </p:cNvSpPr>
          <p:nvPr/>
        </p:nvSpPr>
        <p:spPr bwMode="auto">
          <a:xfrm>
            <a:off x="2082800" y="3492500"/>
            <a:ext cx="4965700" cy="1485900"/>
          </a:xfrm>
          <a:custGeom>
            <a:avLst/>
            <a:gdLst>
              <a:gd name="T0" fmla="*/ 0 w 3128"/>
              <a:gd name="T1" fmla="*/ 2147483647 h 936"/>
              <a:gd name="T2" fmla="*/ 2147483647 w 3128"/>
              <a:gd name="T3" fmla="*/ 2147483647 h 936"/>
              <a:gd name="T4" fmla="*/ 2147483647 w 3128"/>
              <a:gd name="T5" fmla="*/ 2147483647 h 936"/>
              <a:gd name="T6" fmla="*/ 2147483647 w 3128"/>
              <a:gd name="T7" fmla="*/ 2147483647 h 936"/>
              <a:gd name="T8" fmla="*/ 2147483647 w 3128"/>
              <a:gd name="T9" fmla="*/ 2147483647 h 936"/>
              <a:gd name="T10" fmla="*/ 2147483647 w 3128"/>
              <a:gd name="T11" fmla="*/ 2147483647 h 936"/>
              <a:gd name="T12" fmla="*/ 2147483647 w 3128"/>
              <a:gd name="T13" fmla="*/ 2147483647 h 936"/>
              <a:gd name="T14" fmla="*/ 2147483647 w 3128"/>
              <a:gd name="T15" fmla="*/ 2147483647 h 936"/>
              <a:gd name="T16" fmla="*/ 2147483647 w 3128"/>
              <a:gd name="T17" fmla="*/ 2147483647 h 936"/>
              <a:gd name="T18" fmla="*/ 2147483647 w 3128"/>
              <a:gd name="T19" fmla="*/ 2147483647 h 936"/>
              <a:gd name="T20" fmla="*/ 2147483647 w 3128"/>
              <a:gd name="T21" fmla="*/ 2147483647 h 936"/>
              <a:gd name="T22" fmla="*/ 2147483647 w 3128"/>
              <a:gd name="T23" fmla="*/ 2147483647 h 936"/>
              <a:gd name="T24" fmla="*/ 2147483647 w 3128"/>
              <a:gd name="T25" fmla="*/ 2147483647 h 936"/>
              <a:gd name="T26" fmla="*/ 2147483647 w 3128"/>
              <a:gd name="T27" fmla="*/ 2147483647 h 936"/>
              <a:gd name="T28" fmla="*/ 2147483647 w 3128"/>
              <a:gd name="T29" fmla="*/ 2147483647 h 936"/>
              <a:gd name="T30" fmla="*/ 2147483647 w 3128"/>
              <a:gd name="T31" fmla="*/ 2147483647 h 936"/>
              <a:gd name="T32" fmla="*/ 2147483647 w 3128"/>
              <a:gd name="T33" fmla="*/ 2147483647 h 936"/>
              <a:gd name="T34" fmla="*/ 2147483647 w 3128"/>
              <a:gd name="T35" fmla="*/ 2147483647 h 936"/>
              <a:gd name="T36" fmla="*/ 2147483647 w 3128"/>
              <a:gd name="T37" fmla="*/ 2147483647 h 936"/>
              <a:gd name="T38" fmla="*/ 2147483647 w 3128"/>
              <a:gd name="T39" fmla="*/ 2147483647 h 936"/>
              <a:gd name="T40" fmla="*/ 2147483647 w 3128"/>
              <a:gd name="T41" fmla="*/ 2147483647 h 936"/>
              <a:gd name="T42" fmla="*/ 2147483647 w 3128"/>
              <a:gd name="T43" fmla="*/ 2147483647 h 936"/>
              <a:gd name="T44" fmla="*/ 2147483647 w 3128"/>
              <a:gd name="T45" fmla="*/ 2147483647 h 936"/>
              <a:gd name="T46" fmla="*/ 2147483647 w 3128"/>
              <a:gd name="T47" fmla="*/ 2147483647 h 936"/>
              <a:gd name="T48" fmla="*/ 2147483647 w 3128"/>
              <a:gd name="T49" fmla="*/ 2147483647 h 936"/>
              <a:gd name="T50" fmla="*/ 2147483647 w 3128"/>
              <a:gd name="T51" fmla="*/ 2147483647 h 9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128" h="936">
                <a:moveTo>
                  <a:pt x="0" y="936"/>
                </a:moveTo>
                <a:cubicBezTo>
                  <a:pt x="15" y="834"/>
                  <a:pt x="43" y="746"/>
                  <a:pt x="104" y="664"/>
                </a:cubicBezTo>
                <a:cubicBezTo>
                  <a:pt x="118" y="622"/>
                  <a:pt x="147" y="597"/>
                  <a:pt x="176" y="568"/>
                </a:cubicBezTo>
                <a:cubicBezTo>
                  <a:pt x="218" y="526"/>
                  <a:pt x="253" y="475"/>
                  <a:pt x="296" y="432"/>
                </a:cubicBezTo>
                <a:cubicBezTo>
                  <a:pt x="304" y="424"/>
                  <a:pt x="309" y="412"/>
                  <a:pt x="320" y="408"/>
                </a:cubicBezTo>
                <a:cubicBezTo>
                  <a:pt x="386" y="386"/>
                  <a:pt x="435" y="337"/>
                  <a:pt x="504" y="320"/>
                </a:cubicBezTo>
                <a:cubicBezTo>
                  <a:pt x="570" y="276"/>
                  <a:pt x="653" y="275"/>
                  <a:pt x="728" y="256"/>
                </a:cubicBezTo>
                <a:cubicBezTo>
                  <a:pt x="769" y="246"/>
                  <a:pt x="776" y="232"/>
                  <a:pt x="824" y="224"/>
                </a:cubicBezTo>
                <a:cubicBezTo>
                  <a:pt x="903" y="184"/>
                  <a:pt x="993" y="168"/>
                  <a:pt x="1072" y="128"/>
                </a:cubicBezTo>
                <a:cubicBezTo>
                  <a:pt x="1104" y="112"/>
                  <a:pt x="1176" y="104"/>
                  <a:pt x="1176" y="104"/>
                </a:cubicBezTo>
                <a:cubicBezTo>
                  <a:pt x="1218" y="76"/>
                  <a:pt x="1262" y="78"/>
                  <a:pt x="1312" y="72"/>
                </a:cubicBezTo>
                <a:cubicBezTo>
                  <a:pt x="1528" y="0"/>
                  <a:pt x="1358" y="48"/>
                  <a:pt x="1872" y="56"/>
                </a:cubicBezTo>
                <a:cubicBezTo>
                  <a:pt x="1923" y="73"/>
                  <a:pt x="1973" y="73"/>
                  <a:pt x="2024" y="88"/>
                </a:cubicBezTo>
                <a:cubicBezTo>
                  <a:pt x="2119" y="117"/>
                  <a:pt x="1994" y="96"/>
                  <a:pt x="2136" y="112"/>
                </a:cubicBezTo>
                <a:cubicBezTo>
                  <a:pt x="2182" y="127"/>
                  <a:pt x="2232" y="132"/>
                  <a:pt x="2280" y="144"/>
                </a:cubicBezTo>
                <a:cubicBezTo>
                  <a:pt x="2344" y="187"/>
                  <a:pt x="2426" y="182"/>
                  <a:pt x="2496" y="208"/>
                </a:cubicBezTo>
                <a:cubicBezTo>
                  <a:pt x="2553" y="229"/>
                  <a:pt x="2603" y="254"/>
                  <a:pt x="2664" y="264"/>
                </a:cubicBezTo>
                <a:cubicBezTo>
                  <a:pt x="2721" y="302"/>
                  <a:pt x="2693" y="291"/>
                  <a:pt x="2744" y="304"/>
                </a:cubicBezTo>
                <a:cubicBezTo>
                  <a:pt x="2752" y="309"/>
                  <a:pt x="2759" y="316"/>
                  <a:pt x="2768" y="320"/>
                </a:cubicBezTo>
                <a:cubicBezTo>
                  <a:pt x="2776" y="324"/>
                  <a:pt x="2785" y="324"/>
                  <a:pt x="2792" y="328"/>
                </a:cubicBezTo>
                <a:cubicBezTo>
                  <a:pt x="2875" y="374"/>
                  <a:pt x="2810" y="350"/>
                  <a:pt x="2864" y="368"/>
                </a:cubicBezTo>
                <a:cubicBezTo>
                  <a:pt x="2896" y="400"/>
                  <a:pt x="2929" y="436"/>
                  <a:pt x="2968" y="456"/>
                </a:cubicBezTo>
                <a:cubicBezTo>
                  <a:pt x="2991" y="502"/>
                  <a:pt x="3027" y="541"/>
                  <a:pt x="3056" y="584"/>
                </a:cubicBezTo>
                <a:cubicBezTo>
                  <a:pt x="3065" y="598"/>
                  <a:pt x="3063" y="618"/>
                  <a:pt x="3072" y="632"/>
                </a:cubicBezTo>
                <a:cubicBezTo>
                  <a:pt x="3077" y="640"/>
                  <a:pt x="3084" y="647"/>
                  <a:pt x="3088" y="656"/>
                </a:cubicBezTo>
                <a:cubicBezTo>
                  <a:pt x="3093" y="668"/>
                  <a:pt x="3103" y="728"/>
                  <a:pt x="3128" y="72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09" name="Freeform 97"/>
          <p:cNvSpPr>
            <a:spLocks/>
          </p:cNvSpPr>
          <p:nvPr/>
        </p:nvSpPr>
        <p:spPr bwMode="auto">
          <a:xfrm>
            <a:off x="1498600" y="3898900"/>
            <a:ext cx="4432300" cy="774700"/>
          </a:xfrm>
          <a:custGeom>
            <a:avLst/>
            <a:gdLst>
              <a:gd name="T0" fmla="*/ 0 w 2792"/>
              <a:gd name="T1" fmla="*/ 2147483647 h 488"/>
              <a:gd name="T2" fmla="*/ 2147483647 w 2792"/>
              <a:gd name="T3" fmla="*/ 2147483647 h 488"/>
              <a:gd name="T4" fmla="*/ 2147483647 w 2792"/>
              <a:gd name="T5" fmla="*/ 2147483647 h 488"/>
              <a:gd name="T6" fmla="*/ 2147483647 w 2792"/>
              <a:gd name="T7" fmla="*/ 2147483647 h 488"/>
              <a:gd name="T8" fmla="*/ 2147483647 w 2792"/>
              <a:gd name="T9" fmla="*/ 2147483647 h 488"/>
              <a:gd name="T10" fmla="*/ 2147483647 w 2792"/>
              <a:gd name="T11" fmla="*/ 0 h 488"/>
              <a:gd name="T12" fmla="*/ 2147483647 w 2792"/>
              <a:gd name="T13" fmla="*/ 2147483647 h 488"/>
              <a:gd name="T14" fmla="*/ 2147483647 w 2792"/>
              <a:gd name="T15" fmla="*/ 2147483647 h 488"/>
              <a:gd name="T16" fmla="*/ 2147483647 w 2792"/>
              <a:gd name="T17" fmla="*/ 2147483647 h 488"/>
              <a:gd name="T18" fmla="*/ 2147483647 w 2792"/>
              <a:gd name="T19" fmla="*/ 2147483647 h 488"/>
              <a:gd name="T20" fmla="*/ 2147483647 w 2792"/>
              <a:gd name="T21" fmla="*/ 2147483647 h 488"/>
              <a:gd name="T22" fmla="*/ 2147483647 w 2792"/>
              <a:gd name="T23" fmla="*/ 2147483647 h 488"/>
              <a:gd name="T24" fmla="*/ 2147483647 w 2792"/>
              <a:gd name="T25" fmla="*/ 2147483647 h 488"/>
              <a:gd name="T26" fmla="*/ 2147483647 w 2792"/>
              <a:gd name="T27" fmla="*/ 2147483647 h 488"/>
              <a:gd name="T28" fmla="*/ 2147483647 w 2792"/>
              <a:gd name="T29" fmla="*/ 2147483647 h 488"/>
              <a:gd name="T30" fmla="*/ 2147483647 w 2792"/>
              <a:gd name="T31" fmla="*/ 2147483647 h 488"/>
              <a:gd name="T32" fmla="*/ 2147483647 w 2792"/>
              <a:gd name="T33" fmla="*/ 2147483647 h 488"/>
              <a:gd name="T34" fmla="*/ 2147483647 w 2792"/>
              <a:gd name="T35" fmla="*/ 2147483647 h 4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792" h="488">
                <a:moveTo>
                  <a:pt x="0" y="376"/>
                </a:moveTo>
                <a:cubicBezTo>
                  <a:pt x="10" y="337"/>
                  <a:pt x="10" y="293"/>
                  <a:pt x="24" y="256"/>
                </a:cubicBezTo>
                <a:cubicBezTo>
                  <a:pt x="33" y="231"/>
                  <a:pt x="92" y="180"/>
                  <a:pt x="96" y="176"/>
                </a:cubicBezTo>
                <a:cubicBezTo>
                  <a:pt x="116" y="156"/>
                  <a:pt x="145" y="125"/>
                  <a:pt x="168" y="112"/>
                </a:cubicBezTo>
                <a:cubicBezTo>
                  <a:pt x="183" y="104"/>
                  <a:pt x="216" y="96"/>
                  <a:pt x="216" y="96"/>
                </a:cubicBezTo>
                <a:cubicBezTo>
                  <a:pt x="264" y="48"/>
                  <a:pt x="326" y="13"/>
                  <a:pt x="392" y="0"/>
                </a:cubicBezTo>
                <a:cubicBezTo>
                  <a:pt x="781" y="3"/>
                  <a:pt x="1171" y="2"/>
                  <a:pt x="1560" y="8"/>
                </a:cubicBezTo>
                <a:cubicBezTo>
                  <a:pt x="1672" y="10"/>
                  <a:pt x="1896" y="24"/>
                  <a:pt x="1896" y="24"/>
                </a:cubicBezTo>
                <a:cubicBezTo>
                  <a:pt x="1965" y="31"/>
                  <a:pt x="2008" y="47"/>
                  <a:pt x="2072" y="64"/>
                </a:cubicBezTo>
                <a:cubicBezTo>
                  <a:pt x="2088" y="68"/>
                  <a:pt x="2104" y="75"/>
                  <a:pt x="2120" y="80"/>
                </a:cubicBezTo>
                <a:cubicBezTo>
                  <a:pt x="2128" y="83"/>
                  <a:pt x="2144" y="88"/>
                  <a:pt x="2144" y="88"/>
                </a:cubicBezTo>
                <a:cubicBezTo>
                  <a:pt x="2257" y="173"/>
                  <a:pt x="2419" y="138"/>
                  <a:pt x="2544" y="192"/>
                </a:cubicBezTo>
                <a:cubicBezTo>
                  <a:pt x="2583" y="209"/>
                  <a:pt x="2613" y="241"/>
                  <a:pt x="2648" y="264"/>
                </a:cubicBezTo>
                <a:cubicBezTo>
                  <a:pt x="2704" y="301"/>
                  <a:pt x="2639" y="238"/>
                  <a:pt x="2696" y="288"/>
                </a:cubicBezTo>
                <a:cubicBezTo>
                  <a:pt x="2713" y="303"/>
                  <a:pt x="2744" y="336"/>
                  <a:pt x="2744" y="336"/>
                </a:cubicBezTo>
                <a:cubicBezTo>
                  <a:pt x="2753" y="363"/>
                  <a:pt x="2770" y="388"/>
                  <a:pt x="2776" y="416"/>
                </a:cubicBezTo>
                <a:cubicBezTo>
                  <a:pt x="2780" y="432"/>
                  <a:pt x="2780" y="448"/>
                  <a:pt x="2784" y="464"/>
                </a:cubicBezTo>
                <a:cubicBezTo>
                  <a:pt x="2786" y="472"/>
                  <a:pt x="2792" y="488"/>
                  <a:pt x="2792" y="48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10" name="Text Box 99"/>
          <p:cNvSpPr txBox="1">
            <a:spLocks noChangeArrowheads="1"/>
          </p:cNvSpPr>
          <p:nvPr/>
        </p:nvSpPr>
        <p:spPr bwMode="auto">
          <a:xfrm>
            <a:off x="11113" y="3873500"/>
            <a:ext cx="769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r>
              <a:rPr lang="en-US" altLang="zh-CN"/>
              <a:t> t=0</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gn="ctr" eaLnBrk="1" hangingPunct="1"/>
            <a:r>
              <a:rPr lang="zh-CN" altLang="en-US" smtClean="0"/>
              <a:t>统计时分复用</a:t>
            </a:r>
            <a:r>
              <a:rPr lang="zh-CN" altLang="en-US" sz="3200" smtClean="0"/>
              <a:t> </a:t>
            </a:r>
            <a:r>
              <a:rPr lang="en-US" altLang="zh-CN" smtClean="0"/>
              <a:t>STDM</a:t>
            </a:r>
            <a:br>
              <a:rPr lang="en-US" altLang="zh-CN" smtClean="0"/>
            </a:br>
            <a:r>
              <a:rPr lang="en-US" altLang="zh-CN" smtClean="0"/>
              <a:t>(Statistic TDM)  49</a:t>
            </a:r>
          </a:p>
        </p:txBody>
      </p:sp>
      <p:sp>
        <p:nvSpPr>
          <p:cNvPr id="31747" name="Freeform 85"/>
          <p:cNvSpPr>
            <a:spLocks/>
          </p:cNvSpPr>
          <p:nvPr/>
        </p:nvSpPr>
        <p:spPr bwMode="auto">
          <a:xfrm>
            <a:off x="6891338" y="4021138"/>
            <a:ext cx="269875"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48" name="Freeform 86"/>
          <p:cNvSpPr>
            <a:spLocks/>
          </p:cNvSpPr>
          <p:nvPr/>
        </p:nvSpPr>
        <p:spPr bwMode="auto">
          <a:xfrm>
            <a:off x="7975600" y="4021138"/>
            <a:ext cx="269875"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49" name="Freeform 87"/>
          <p:cNvSpPr>
            <a:spLocks/>
          </p:cNvSpPr>
          <p:nvPr/>
        </p:nvSpPr>
        <p:spPr bwMode="auto">
          <a:xfrm>
            <a:off x="7613650" y="4021138"/>
            <a:ext cx="271463"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0" name="Freeform 88"/>
          <p:cNvSpPr>
            <a:spLocks/>
          </p:cNvSpPr>
          <p:nvPr/>
        </p:nvSpPr>
        <p:spPr bwMode="auto">
          <a:xfrm>
            <a:off x="7251700" y="4021138"/>
            <a:ext cx="271463"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1" name="Freeform 89"/>
          <p:cNvSpPr>
            <a:spLocks/>
          </p:cNvSpPr>
          <p:nvPr/>
        </p:nvSpPr>
        <p:spPr bwMode="auto">
          <a:xfrm>
            <a:off x="6529388" y="4021138"/>
            <a:ext cx="271462"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2" name="Freeform 90"/>
          <p:cNvSpPr>
            <a:spLocks/>
          </p:cNvSpPr>
          <p:nvPr/>
        </p:nvSpPr>
        <p:spPr bwMode="auto">
          <a:xfrm>
            <a:off x="6167438" y="4021138"/>
            <a:ext cx="271462"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3" name="Freeform 91"/>
          <p:cNvSpPr>
            <a:spLocks/>
          </p:cNvSpPr>
          <p:nvPr/>
        </p:nvSpPr>
        <p:spPr bwMode="auto">
          <a:xfrm>
            <a:off x="5807075" y="4021138"/>
            <a:ext cx="269875" cy="403225"/>
          </a:xfrm>
          <a:custGeom>
            <a:avLst/>
            <a:gdLst>
              <a:gd name="T0" fmla="*/ 0 w 96"/>
              <a:gd name="T1" fmla="*/ 2147483647 h 192"/>
              <a:gd name="T2" fmla="*/ 0 w 96"/>
              <a:gd name="T3" fmla="*/ 0 h 192"/>
              <a:gd name="T4" fmla="*/ 2147483647 w 96"/>
              <a:gd name="T5" fmla="*/ 0 h 192"/>
              <a:gd name="T6" fmla="*/ 2147483647 w 96"/>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4" name="Text Box 92"/>
          <p:cNvSpPr txBox="1">
            <a:spLocks noChangeArrowheads="1"/>
          </p:cNvSpPr>
          <p:nvPr/>
        </p:nvSpPr>
        <p:spPr bwMode="auto">
          <a:xfrm>
            <a:off x="660400" y="2138363"/>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用户</a:t>
            </a:r>
          </a:p>
        </p:txBody>
      </p:sp>
      <p:sp>
        <p:nvSpPr>
          <p:cNvPr id="31755" name="Freeform 93"/>
          <p:cNvSpPr>
            <a:spLocks/>
          </p:cNvSpPr>
          <p:nvPr/>
        </p:nvSpPr>
        <p:spPr bwMode="auto">
          <a:xfrm>
            <a:off x="3186113" y="2813050"/>
            <a:ext cx="633412" cy="403225"/>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6" name="Freeform 94"/>
          <p:cNvSpPr>
            <a:spLocks/>
          </p:cNvSpPr>
          <p:nvPr/>
        </p:nvSpPr>
        <p:spPr bwMode="auto">
          <a:xfrm>
            <a:off x="1289050" y="3619500"/>
            <a:ext cx="1265238" cy="401638"/>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7" name="Freeform 95"/>
          <p:cNvSpPr>
            <a:spLocks/>
          </p:cNvSpPr>
          <p:nvPr/>
        </p:nvSpPr>
        <p:spPr bwMode="auto">
          <a:xfrm>
            <a:off x="1920875" y="4424363"/>
            <a:ext cx="1265238" cy="403225"/>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8" name="Freeform 96"/>
          <p:cNvSpPr>
            <a:spLocks/>
          </p:cNvSpPr>
          <p:nvPr/>
        </p:nvSpPr>
        <p:spPr bwMode="auto">
          <a:xfrm>
            <a:off x="2554288" y="5229225"/>
            <a:ext cx="631825" cy="403225"/>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9" name="Text Box 97"/>
          <p:cNvSpPr txBox="1">
            <a:spLocks noChangeArrowheads="1"/>
          </p:cNvSpPr>
          <p:nvPr/>
        </p:nvSpPr>
        <p:spPr bwMode="auto">
          <a:xfrm>
            <a:off x="755650" y="2776538"/>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a:t>
            </a:r>
          </a:p>
        </p:txBody>
      </p:sp>
      <p:sp>
        <p:nvSpPr>
          <p:cNvPr id="31760" name="Text Box 98"/>
          <p:cNvSpPr txBox="1">
            <a:spLocks noChangeArrowheads="1"/>
          </p:cNvSpPr>
          <p:nvPr/>
        </p:nvSpPr>
        <p:spPr bwMode="auto">
          <a:xfrm>
            <a:off x="755650" y="3581400"/>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B</a:t>
            </a:r>
          </a:p>
        </p:txBody>
      </p:sp>
      <p:sp>
        <p:nvSpPr>
          <p:cNvPr id="31761" name="Text Box 99"/>
          <p:cNvSpPr txBox="1">
            <a:spLocks noChangeArrowheads="1"/>
          </p:cNvSpPr>
          <p:nvPr/>
        </p:nvSpPr>
        <p:spPr bwMode="auto">
          <a:xfrm>
            <a:off x="755650" y="4387850"/>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C</a:t>
            </a:r>
          </a:p>
        </p:txBody>
      </p:sp>
      <p:sp>
        <p:nvSpPr>
          <p:cNvPr id="31762" name="Text Box 100"/>
          <p:cNvSpPr txBox="1">
            <a:spLocks noChangeArrowheads="1"/>
          </p:cNvSpPr>
          <p:nvPr/>
        </p:nvSpPr>
        <p:spPr bwMode="auto">
          <a:xfrm>
            <a:off x="755650" y="5192713"/>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D</a:t>
            </a:r>
          </a:p>
        </p:txBody>
      </p:sp>
      <p:sp>
        <p:nvSpPr>
          <p:cNvPr id="31763" name="Line 101"/>
          <p:cNvSpPr>
            <a:spLocks noChangeShapeType="1"/>
          </p:cNvSpPr>
          <p:nvPr/>
        </p:nvSpPr>
        <p:spPr bwMode="auto">
          <a:xfrm>
            <a:off x="5535613" y="4424363"/>
            <a:ext cx="2981325"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4" name="Text Box 102"/>
          <p:cNvSpPr txBox="1">
            <a:spLocks noChangeArrowheads="1"/>
          </p:cNvSpPr>
          <p:nvPr/>
        </p:nvSpPr>
        <p:spPr bwMode="auto">
          <a:xfrm>
            <a:off x="3322638" y="2797175"/>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a:t>
            </a:r>
          </a:p>
        </p:txBody>
      </p:sp>
      <p:sp>
        <p:nvSpPr>
          <p:cNvPr id="31765" name="Text Box 105"/>
          <p:cNvSpPr txBox="1">
            <a:spLocks noChangeArrowheads="1"/>
          </p:cNvSpPr>
          <p:nvPr/>
        </p:nvSpPr>
        <p:spPr bwMode="auto">
          <a:xfrm>
            <a:off x="1477963" y="3605213"/>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b</a:t>
            </a:r>
          </a:p>
        </p:txBody>
      </p:sp>
      <p:sp>
        <p:nvSpPr>
          <p:cNvPr id="31766" name="Text Box 106"/>
          <p:cNvSpPr txBox="1">
            <a:spLocks noChangeArrowheads="1"/>
          </p:cNvSpPr>
          <p:nvPr/>
        </p:nvSpPr>
        <p:spPr bwMode="auto">
          <a:xfrm>
            <a:off x="2705100" y="44005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c</a:t>
            </a:r>
          </a:p>
        </p:txBody>
      </p:sp>
      <p:sp>
        <p:nvSpPr>
          <p:cNvPr id="31767" name="Text Box 107"/>
          <p:cNvSpPr txBox="1">
            <a:spLocks noChangeArrowheads="1"/>
          </p:cNvSpPr>
          <p:nvPr/>
        </p:nvSpPr>
        <p:spPr bwMode="auto">
          <a:xfrm>
            <a:off x="2708275" y="52292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d</a:t>
            </a:r>
          </a:p>
        </p:txBody>
      </p:sp>
      <p:sp>
        <p:nvSpPr>
          <p:cNvPr id="31768" name="Text Box 111"/>
          <p:cNvSpPr txBox="1">
            <a:spLocks noChangeArrowheads="1"/>
          </p:cNvSpPr>
          <p:nvPr/>
        </p:nvSpPr>
        <p:spPr bwMode="auto">
          <a:xfrm>
            <a:off x="4067175" y="2852738"/>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1769" name="Text Box 112"/>
          <p:cNvSpPr txBox="1">
            <a:spLocks noChangeArrowheads="1"/>
          </p:cNvSpPr>
          <p:nvPr/>
        </p:nvSpPr>
        <p:spPr bwMode="auto">
          <a:xfrm>
            <a:off x="4067175" y="3676650"/>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1770" name="Text Box 113"/>
          <p:cNvSpPr txBox="1">
            <a:spLocks noChangeArrowheads="1"/>
          </p:cNvSpPr>
          <p:nvPr/>
        </p:nvSpPr>
        <p:spPr bwMode="auto">
          <a:xfrm>
            <a:off x="4067175" y="4502150"/>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1771" name="Text Box 114"/>
          <p:cNvSpPr txBox="1">
            <a:spLocks noChangeArrowheads="1"/>
          </p:cNvSpPr>
          <p:nvPr/>
        </p:nvSpPr>
        <p:spPr bwMode="auto">
          <a:xfrm>
            <a:off x="4067175" y="5326063"/>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1772" name="Text Box 115"/>
          <p:cNvSpPr txBox="1">
            <a:spLocks noChangeArrowheads="1"/>
          </p:cNvSpPr>
          <p:nvPr/>
        </p:nvSpPr>
        <p:spPr bwMode="auto">
          <a:xfrm>
            <a:off x="8426450" y="4002088"/>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1773" name="Line 116"/>
          <p:cNvSpPr>
            <a:spLocks noChangeShapeType="1"/>
          </p:cNvSpPr>
          <p:nvPr/>
        </p:nvSpPr>
        <p:spPr bwMode="auto">
          <a:xfrm>
            <a:off x="1920875" y="3921125"/>
            <a:ext cx="0" cy="100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4" name="Line 117"/>
          <p:cNvSpPr>
            <a:spLocks noChangeShapeType="1"/>
          </p:cNvSpPr>
          <p:nvPr/>
        </p:nvSpPr>
        <p:spPr bwMode="auto">
          <a:xfrm>
            <a:off x="2554288" y="4725988"/>
            <a:ext cx="0" cy="101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5" name="Line 118"/>
          <p:cNvSpPr>
            <a:spLocks noChangeShapeType="1"/>
          </p:cNvSpPr>
          <p:nvPr/>
        </p:nvSpPr>
        <p:spPr bwMode="auto">
          <a:xfrm>
            <a:off x="3186113" y="3921125"/>
            <a:ext cx="0" cy="100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6" name="Line 119"/>
          <p:cNvSpPr>
            <a:spLocks noChangeShapeType="1"/>
          </p:cNvSpPr>
          <p:nvPr/>
        </p:nvSpPr>
        <p:spPr bwMode="auto">
          <a:xfrm>
            <a:off x="1920875" y="5532438"/>
            <a:ext cx="0" cy="1000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7" name="Line 120"/>
          <p:cNvSpPr>
            <a:spLocks noChangeShapeType="1"/>
          </p:cNvSpPr>
          <p:nvPr/>
        </p:nvSpPr>
        <p:spPr bwMode="auto">
          <a:xfrm>
            <a:off x="3819525" y="4725988"/>
            <a:ext cx="0" cy="101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8" name="Line 121"/>
          <p:cNvSpPr>
            <a:spLocks noChangeShapeType="1"/>
          </p:cNvSpPr>
          <p:nvPr/>
        </p:nvSpPr>
        <p:spPr bwMode="auto">
          <a:xfrm>
            <a:off x="3819525" y="5532438"/>
            <a:ext cx="0" cy="1000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9" name="Line 122"/>
          <p:cNvSpPr>
            <a:spLocks noChangeShapeType="1"/>
          </p:cNvSpPr>
          <p:nvPr/>
        </p:nvSpPr>
        <p:spPr bwMode="auto">
          <a:xfrm>
            <a:off x="5716588" y="4525963"/>
            <a:ext cx="0" cy="200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0" name="Line 123"/>
          <p:cNvSpPr>
            <a:spLocks noChangeShapeType="1"/>
          </p:cNvSpPr>
          <p:nvPr/>
        </p:nvSpPr>
        <p:spPr bwMode="auto">
          <a:xfrm>
            <a:off x="6438900" y="4525963"/>
            <a:ext cx="0" cy="200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1" name="Line 124"/>
          <p:cNvSpPr>
            <a:spLocks noChangeShapeType="1"/>
          </p:cNvSpPr>
          <p:nvPr/>
        </p:nvSpPr>
        <p:spPr bwMode="auto">
          <a:xfrm>
            <a:off x="7161213" y="4525963"/>
            <a:ext cx="0" cy="200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2" name="Line 125"/>
          <p:cNvSpPr>
            <a:spLocks noChangeShapeType="1"/>
          </p:cNvSpPr>
          <p:nvPr/>
        </p:nvSpPr>
        <p:spPr bwMode="auto">
          <a:xfrm>
            <a:off x="5716588" y="4625975"/>
            <a:ext cx="722312"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3" name="Line 126"/>
          <p:cNvSpPr>
            <a:spLocks noChangeShapeType="1"/>
          </p:cNvSpPr>
          <p:nvPr/>
        </p:nvSpPr>
        <p:spPr bwMode="auto">
          <a:xfrm>
            <a:off x="6438900" y="4625975"/>
            <a:ext cx="722313"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4" name="Line 127"/>
          <p:cNvSpPr>
            <a:spLocks noChangeShapeType="1"/>
          </p:cNvSpPr>
          <p:nvPr/>
        </p:nvSpPr>
        <p:spPr bwMode="auto">
          <a:xfrm>
            <a:off x="7161213" y="4625975"/>
            <a:ext cx="72390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5" name="Text Box 128"/>
          <p:cNvSpPr txBox="1">
            <a:spLocks noChangeArrowheads="1"/>
          </p:cNvSpPr>
          <p:nvPr/>
        </p:nvSpPr>
        <p:spPr bwMode="auto">
          <a:xfrm>
            <a:off x="6076950" y="5330825"/>
            <a:ext cx="17637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3 </a:t>
            </a:r>
            <a:r>
              <a:rPr kumimoji="1" lang="zh-CN" altLang="en-US" sz="2000">
                <a:solidFill>
                  <a:srgbClr val="333399"/>
                </a:solidFill>
                <a:latin typeface="Arial" pitchFamily="34" charset="0"/>
                <a:ea typeface="黑体" pitchFamily="49" charset="-122"/>
              </a:rPr>
              <a:t>个 </a:t>
            </a:r>
            <a:r>
              <a:rPr kumimoji="1" lang="en-US" altLang="zh-CN" sz="2000">
                <a:solidFill>
                  <a:srgbClr val="333399"/>
                </a:solidFill>
                <a:latin typeface="Arial" pitchFamily="34" charset="0"/>
                <a:ea typeface="黑体" pitchFamily="49" charset="-122"/>
              </a:rPr>
              <a:t>STDM </a:t>
            </a:r>
            <a:r>
              <a:rPr kumimoji="1" lang="zh-CN" altLang="en-US" sz="2000">
                <a:solidFill>
                  <a:srgbClr val="333399"/>
                </a:solidFill>
                <a:latin typeface="Arial" pitchFamily="34" charset="0"/>
                <a:ea typeface="黑体" pitchFamily="49" charset="-122"/>
              </a:rPr>
              <a:t>帧</a:t>
            </a:r>
          </a:p>
        </p:txBody>
      </p:sp>
      <p:sp>
        <p:nvSpPr>
          <p:cNvPr id="31786" name="Text Box 129"/>
          <p:cNvSpPr txBox="1">
            <a:spLocks noChangeArrowheads="1"/>
          </p:cNvSpPr>
          <p:nvPr/>
        </p:nvSpPr>
        <p:spPr bwMode="auto">
          <a:xfrm>
            <a:off x="5826125" y="4533900"/>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#1</a:t>
            </a:r>
          </a:p>
        </p:txBody>
      </p:sp>
      <p:sp>
        <p:nvSpPr>
          <p:cNvPr id="31787" name="Line 130"/>
          <p:cNvSpPr>
            <a:spLocks noChangeShapeType="1"/>
          </p:cNvSpPr>
          <p:nvPr/>
        </p:nvSpPr>
        <p:spPr bwMode="auto">
          <a:xfrm>
            <a:off x="4284663" y="3213100"/>
            <a:ext cx="1160462" cy="808038"/>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8" name="Line 131"/>
          <p:cNvSpPr>
            <a:spLocks noChangeShapeType="1"/>
          </p:cNvSpPr>
          <p:nvPr/>
        </p:nvSpPr>
        <p:spPr bwMode="auto">
          <a:xfrm>
            <a:off x="4356100" y="4005263"/>
            <a:ext cx="998538" cy="217487"/>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9" name="Line 132"/>
          <p:cNvSpPr>
            <a:spLocks noChangeShapeType="1"/>
          </p:cNvSpPr>
          <p:nvPr/>
        </p:nvSpPr>
        <p:spPr bwMode="auto">
          <a:xfrm flipV="1">
            <a:off x="4356100" y="4424363"/>
            <a:ext cx="998538" cy="373062"/>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0" name="Line 133"/>
          <p:cNvSpPr>
            <a:spLocks noChangeShapeType="1"/>
          </p:cNvSpPr>
          <p:nvPr/>
        </p:nvSpPr>
        <p:spPr bwMode="auto">
          <a:xfrm flipV="1">
            <a:off x="4284663" y="4625975"/>
            <a:ext cx="1160462" cy="96361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1" name="Text Box 134"/>
          <p:cNvSpPr txBox="1">
            <a:spLocks noChangeArrowheads="1"/>
          </p:cNvSpPr>
          <p:nvPr/>
        </p:nvSpPr>
        <p:spPr bwMode="auto">
          <a:xfrm>
            <a:off x="4356100" y="4941888"/>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④</a:t>
            </a:r>
          </a:p>
        </p:txBody>
      </p:sp>
      <p:sp>
        <p:nvSpPr>
          <p:cNvPr id="31792" name="Text Box 135"/>
          <p:cNvSpPr txBox="1">
            <a:spLocks noChangeArrowheads="1"/>
          </p:cNvSpPr>
          <p:nvPr/>
        </p:nvSpPr>
        <p:spPr bwMode="auto">
          <a:xfrm>
            <a:off x="4284663" y="4292600"/>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③</a:t>
            </a:r>
          </a:p>
        </p:txBody>
      </p:sp>
      <p:sp>
        <p:nvSpPr>
          <p:cNvPr id="31793" name="Text Box 136"/>
          <p:cNvSpPr txBox="1">
            <a:spLocks noChangeArrowheads="1"/>
          </p:cNvSpPr>
          <p:nvPr/>
        </p:nvSpPr>
        <p:spPr bwMode="auto">
          <a:xfrm>
            <a:off x="4284663" y="3644900"/>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②</a:t>
            </a:r>
          </a:p>
        </p:txBody>
      </p:sp>
      <p:sp>
        <p:nvSpPr>
          <p:cNvPr id="31794" name="Text Box 137"/>
          <p:cNvSpPr txBox="1">
            <a:spLocks noChangeArrowheads="1"/>
          </p:cNvSpPr>
          <p:nvPr/>
        </p:nvSpPr>
        <p:spPr bwMode="auto">
          <a:xfrm>
            <a:off x="4427538" y="2997200"/>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①</a:t>
            </a:r>
          </a:p>
        </p:txBody>
      </p:sp>
      <p:sp>
        <p:nvSpPr>
          <p:cNvPr id="31795" name="Freeform 138"/>
          <p:cNvSpPr>
            <a:spLocks/>
          </p:cNvSpPr>
          <p:nvPr/>
        </p:nvSpPr>
        <p:spPr bwMode="auto">
          <a:xfrm>
            <a:off x="1289050" y="2813050"/>
            <a:ext cx="631825" cy="403225"/>
          </a:xfrm>
          <a:custGeom>
            <a:avLst/>
            <a:gdLst>
              <a:gd name="T0" fmla="*/ 0 w 1008"/>
              <a:gd name="T1" fmla="*/ 2147483647 h 192"/>
              <a:gd name="T2" fmla="*/ 0 w 1008"/>
              <a:gd name="T3" fmla="*/ 0 h 192"/>
              <a:gd name="T4" fmla="*/ 2147483647 w 1008"/>
              <a:gd name="T5" fmla="*/ 0 h 192"/>
              <a:gd name="T6" fmla="*/ 2147483647 w 100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6" name="Line 139"/>
          <p:cNvSpPr>
            <a:spLocks noChangeShapeType="1"/>
          </p:cNvSpPr>
          <p:nvPr/>
        </p:nvSpPr>
        <p:spPr bwMode="auto">
          <a:xfrm>
            <a:off x="3819525" y="3921125"/>
            <a:ext cx="0" cy="100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7" name="Line 140"/>
          <p:cNvSpPr>
            <a:spLocks noChangeShapeType="1"/>
          </p:cNvSpPr>
          <p:nvPr/>
        </p:nvSpPr>
        <p:spPr bwMode="auto">
          <a:xfrm>
            <a:off x="1379538" y="5532438"/>
            <a:ext cx="0" cy="1000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8" name="Text Box 141"/>
          <p:cNvSpPr txBox="1">
            <a:spLocks noChangeArrowheads="1"/>
          </p:cNvSpPr>
          <p:nvPr/>
        </p:nvSpPr>
        <p:spPr bwMode="auto">
          <a:xfrm>
            <a:off x="1447800" y="27813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a:t>
            </a:r>
          </a:p>
        </p:txBody>
      </p:sp>
      <p:sp>
        <p:nvSpPr>
          <p:cNvPr id="31799" name="Text Box 142"/>
          <p:cNvSpPr txBox="1">
            <a:spLocks noChangeArrowheads="1"/>
          </p:cNvSpPr>
          <p:nvPr/>
        </p:nvSpPr>
        <p:spPr bwMode="auto">
          <a:xfrm>
            <a:off x="2068513" y="43878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c</a:t>
            </a:r>
          </a:p>
        </p:txBody>
      </p:sp>
      <p:sp>
        <p:nvSpPr>
          <p:cNvPr id="31800" name="Text Box 143"/>
          <p:cNvSpPr txBox="1">
            <a:spLocks noChangeArrowheads="1"/>
          </p:cNvSpPr>
          <p:nvPr/>
        </p:nvSpPr>
        <p:spPr bwMode="auto">
          <a:xfrm>
            <a:off x="2098675" y="360838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b</a:t>
            </a:r>
          </a:p>
        </p:txBody>
      </p:sp>
      <p:sp>
        <p:nvSpPr>
          <p:cNvPr id="31801" name="Line 144"/>
          <p:cNvSpPr>
            <a:spLocks noChangeShapeType="1"/>
          </p:cNvSpPr>
          <p:nvPr/>
        </p:nvSpPr>
        <p:spPr bwMode="auto">
          <a:xfrm>
            <a:off x="6529388" y="4324350"/>
            <a:ext cx="0" cy="100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2" name="Line 145"/>
          <p:cNvSpPr>
            <a:spLocks noChangeShapeType="1"/>
          </p:cNvSpPr>
          <p:nvPr/>
        </p:nvSpPr>
        <p:spPr bwMode="auto">
          <a:xfrm>
            <a:off x="6800850" y="4324350"/>
            <a:ext cx="0" cy="100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3" name="Line 146"/>
          <p:cNvSpPr>
            <a:spLocks noChangeShapeType="1"/>
          </p:cNvSpPr>
          <p:nvPr/>
        </p:nvSpPr>
        <p:spPr bwMode="auto">
          <a:xfrm>
            <a:off x="7885113" y="4525963"/>
            <a:ext cx="0" cy="200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4" name="Line 147"/>
          <p:cNvSpPr>
            <a:spLocks noChangeShapeType="1"/>
          </p:cNvSpPr>
          <p:nvPr/>
        </p:nvSpPr>
        <p:spPr bwMode="auto">
          <a:xfrm>
            <a:off x="7885113" y="4324350"/>
            <a:ext cx="0" cy="100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5" name="Text Box 103"/>
          <p:cNvSpPr txBox="1">
            <a:spLocks noChangeArrowheads="1"/>
          </p:cNvSpPr>
          <p:nvPr/>
        </p:nvSpPr>
        <p:spPr bwMode="auto">
          <a:xfrm>
            <a:off x="7951788" y="4005263"/>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a:t>
            </a:r>
          </a:p>
        </p:txBody>
      </p:sp>
      <p:sp>
        <p:nvSpPr>
          <p:cNvPr id="31806" name="Text Box 104"/>
          <p:cNvSpPr txBox="1">
            <a:spLocks noChangeArrowheads="1"/>
          </p:cNvSpPr>
          <p:nvPr/>
        </p:nvSpPr>
        <p:spPr bwMode="auto">
          <a:xfrm>
            <a:off x="6145213" y="4005263"/>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b</a:t>
            </a:r>
          </a:p>
        </p:txBody>
      </p:sp>
      <p:sp>
        <p:nvSpPr>
          <p:cNvPr id="31807" name="Text Box 108"/>
          <p:cNvSpPr txBox="1">
            <a:spLocks noChangeArrowheads="1"/>
          </p:cNvSpPr>
          <p:nvPr/>
        </p:nvSpPr>
        <p:spPr bwMode="auto">
          <a:xfrm>
            <a:off x="6484938" y="4005263"/>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b</a:t>
            </a:r>
          </a:p>
        </p:txBody>
      </p:sp>
      <p:sp>
        <p:nvSpPr>
          <p:cNvPr id="31808" name="Text Box 109"/>
          <p:cNvSpPr txBox="1">
            <a:spLocks noChangeArrowheads="1"/>
          </p:cNvSpPr>
          <p:nvPr/>
        </p:nvSpPr>
        <p:spPr bwMode="auto">
          <a:xfrm>
            <a:off x="6845300" y="4005263"/>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c</a:t>
            </a:r>
          </a:p>
        </p:txBody>
      </p:sp>
      <p:sp>
        <p:nvSpPr>
          <p:cNvPr id="31809" name="Text Box 110"/>
          <p:cNvSpPr txBox="1">
            <a:spLocks noChangeArrowheads="1"/>
          </p:cNvSpPr>
          <p:nvPr/>
        </p:nvSpPr>
        <p:spPr bwMode="auto">
          <a:xfrm>
            <a:off x="5776913" y="4005263"/>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a:t>
            </a:r>
          </a:p>
        </p:txBody>
      </p:sp>
      <p:sp>
        <p:nvSpPr>
          <p:cNvPr id="31810" name="Text Box 148"/>
          <p:cNvSpPr txBox="1">
            <a:spLocks noChangeArrowheads="1"/>
          </p:cNvSpPr>
          <p:nvPr/>
        </p:nvSpPr>
        <p:spPr bwMode="auto">
          <a:xfrm>
            <a:off x="7218363" y="4005263"/>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c</a:t>
            </a:r>
          </a:p>
        </p:txBody>
      </p:sp>
      <p:sp>
        <p:nvSpPr>
          <p:cNvPr id="31811" name="Text Box 149"/>
          <p:cNvSpPr txBox="1">
            <a:spLocks noChangeArrowheads="1"/>
          </p:cNvSpPr>
          <p:nvPr/>
        </p:nvSpPr>
        <p:spPr bwMode="auto">
          <a:xfrm>
            <a:off x="7569200" y="40052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d</a:t>
            </a:r>
          </a:p>
        </p:txBody>
      </p:sp>
      <p:sp>
        <p:nvSpPr>
          <p:cNvPr id="31812" name="Freeform 150"/>
          <p:cNvSpPr>
            <a:spLocks/>
          </p:cNvSpPr>
          <p:nvPr/>
        </p:nvSpPr>
        <p:spPr bwMode="auto">
          <a:xfrm>
            <a:off x="5716588" y="4021138"/>
            <a:ext cx="90487"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3" name="Freeform 151"/>
          <p:cNvSpPr>
            <a:spLocks/>
          </p:cNvSpPr>
          <p:nvPr/>
        </p:nvSpPr>
        <p:spPr bwMode="auto">
          <a:xfrm>
            <a:off x="6076950" y="4021138"/>
            <a:ext cx="90488"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4" name="Freeform 152"/>
          <p:cNvSpPr>
            <a:spLocks/>
          </p:cNvSpPr>
          <p:nvPr/>
        </p:nvSpPr>
        <p:spPr bwMode="auto">
          <a:xfrm>
            <a:off x="6438900" y="4021138"/>
            <a:ext cx="90488"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5" name="Freeform 153"/>
          <p:cNvSpPr>
            <a:spLocks/>
          </p:cNvSpPr>
          <p:nvPr/>
        </p:nvSpPr>
        <p:spPr bwMode="auto">
          <a:xfrm>
            <a:off x="6800850" y="4021138"/>
            <a:ext cx="90488"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6" name="Freeform 154"/>
          <p:cNvSpPr>
            <a:spLocks/>
          </p:cNvSpPr>
          <p:nvPr/>
        </p:nvSpPr>
        <p:spPr bwMode="auto">
          <a:xfrm>
            <a:off x="7161213" y="4021138"/>
            <a:ext cx="90487"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7" name="Freeform 155"/>
          <p:cNvSpPr>
            <a:spLocks/>
          </p:cNvSpPr>
          <p:nvPr/>
        </p:nvSpPr>
        <p:spPr bwMode="auto">
          <a:xfrm>
            <a:off x="7523163" y="4021138"/>
            <a:ext cx="90487"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8" name="Freeform 156"/>
          <p:cNvSpPr>
            <a:spLocks/>
          </p:cNvSpPr>
          <p:nvPr/>
        </p:nvSpPr>
        <p:spPr bwMode="auto">
          <a:xfrm>
            <a:off x="7885113" y="4021138"/>
            <a:ext cx="90487" cy="403225"/>
          </a:xfrm>
          <a:custGeom>
            <a:avLst/>
            <a:gdLst>
              <a:gd name="T0" fmla="*/ 0 w 48"/>
              <a:gd name="T1" fmla="*/ 2147483647 h 192"/>
              <a:gd name="T2" fmla="*/ 0 w 48"/>
              <a:gd name="T3" fmla="*/ 0 h 192"/>
              <a:gd name="T4" fmla="*/ 2147483647 w 48"/>
              <a:gd name="T5" fmla="*/ 0 h 192"/>
              <a:gd name="T6" fmla="*/ 2147483647 w 48"/>
              <a:gd name="T7" fmla="*/ 214748364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9" name="Text Box 157"/>
          <p:cNvSpPr txBox="1">
            <a:spLocks noChangeArrowheads="1"/>
          </p:cNvSpPr>
          <p:nvPr/>
        </p:nvSpPr>
        <p:spPr bwMode="auto">
          <a:xfrm>
            <a:off x="6529388" y="4521200"/>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#2</a:t>
            </a:r>
          </a:p>
        </p:txBody>
      </p:sp>
      <p:sp>
        <p:nvSpPr>
          <p:cNvPr id="31820" name="Text Box 158"/>
          <p:cNvSpPr txBox="1">
            <a:spLocks noChangeArrowheads="1"/>
          </p:cNvSpPr>
          <p:nvPr/>
        </p:nvSpPr>
        <p:spPr bwMode="auto">
          <a:xfrm>
            <a:off x="7232650" y="4508500"/>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#3</a:t>
            </a:r>
          </a:p>
        </p:txBody>
      </p:sp>
      <p:sp>
        <p:nvSpPr>
          <p:cNvPr id="31821" name="Text Box 159"/>
          <p:cNvSpPr txBox="1">
            <a:spLocks noChangeArrowheads="1"/>
          </p:cNvSpPr>
          <p:nvPr/>
        </p:nvSpPr>
        <p:spPr bwMode="auto">
          <a:xfrm>
            <a:off x="4270375" y="2473325"/>
            <a:ext cx="170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统计时分复用</a:t>
            </a:r>
          </a:p>
        </p:txBody>
      </p:sp>
      <p:sp>
        <p:nvSpPr>
          <p:cNvPr id="31822" name="Line 160"/>
          <p:cNvSpPr>
            <a:spLocks noChangeShapeType="1"/>
          </p:cNvSpPr>
          <p:nvPr/>
        </p:nvSpPr>
        <p:spPr bwMode="auto">
          <a:xfrm>
            <a:off x="6076950" y="4927600"/>
            <a:ext cx="633413" cy="503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3" name="Line 161"/>
          <p:cNvSpPr>
            <a:spLocks noChangeShapeType="1"/>
          </p:cNvSpPr>
          <p:nvPr/>
        </p:nvSpPr>
        <p:spPr bwMode="auto">
          <a:xfrm>
            <a:off x="6800850" y="4927600"/>
            <a:ext cx="0" cy="503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4" name="Line 162"/>
          <p:cNvSpPr>
            <a:spLocks noChangeShapeType="1"/>
          </p:cNvSpPr>
          <p:nvPr/>
        </p:nvSpPr>
        <p:spPr bwMode="auto">
          <a:xfrm flipH="1">
            <a:off x="6981825" y="4927600"/>
            <a:ext cx="450850" cy="503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5" name="Line 163"/>
          <p:cNvSpPr>
            <a:spLocks noChangeShapeType="1"/>
          </p:cNvSpPr>
          <p:nvPr/>
        </p:nvSpPr>
        <p:spPr bwMode="auto">
          <a:xfrm>
            <a:off x="1198563" y="3216275"/>
            <a:ext cx="2981325"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6" name="Line 164"/>
          <p:cNvSpPr>
            <a:spLocks noChangeShapeType="1"/>
          </p:cNvSpPr>
          <p:nvPr/>
        </p:nvSpPr>
        <p:spPr bwMode="auto">
          <a:xfrm>
            <a:off x="1198563" y="4021138"/>
            <a:ext cx="2981325"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7" name="Line 165"/>
          <p:cNvSpPr>
            <a:spLocks noChangeShapeType="1"/>
          </p:cNvSpPr>
          <p:nvPr/>
        </p:nvSpPr>
        <p:spPr bwMode="auto">
          <a:xfrm>
            <a:off x="1198563" y="4827588"/>
            <a:ext cx="2981325"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8" name="Line 166"/>
          <p:cNvSpPr>
            <a:spLocks noChangeShapeType="1"/>
          </p:cNvSpPr>
          <p:nvPr/>
        </p:nvSpPr>
        <p:spPr bwMode="auto">
          <a:xfrm>
            <a:off x="1198563" y="5632450"/>
            <a:ext cx="2981325"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9" name="Line 170"/>
          <p:cNvSpPr>
            <a:spLocks noChangeShapeType="1"/>
          </p:cNvSpPr>
          <p:nvPr/>
        </p:nvSpPr>
        <p:spPr bwMode="auto">
          <a:xfrm>
            <a:off x="5710238" y="3716338"/>
            <a:ext cx="0" cy="1079500"/>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0" name="Line 171"/>
          <p:cNvSpPr>
            <a:spLocks noChangeShapeType="1"/>
          </p:cNvSpPr>
          <p:nvPr/>
        </p:nvSpPr>
        <p:spPr bwMode="auto">
          <a:xfrm>
            <a:off x="6434138" y="3716338"/>
            <a:ext cx="0" cy="1079500"/>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1" name="Line 172"/>
          <p:cNvSpPr>
            <a:spLocks noChangeShapeType="1"/>
          </p:cNvSpPr>
          <p:nvPr/>
        </p:nvSpPr>
        <p:spPr bwMode="auto">
          <a:xfrm>
            <a:off x="7158038" y="3716338"/>
            <a:ext cx="0" cy="1079500"/>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32" name="Line 173"/>
          <p:cNvSpPr>
            <a:spLocks noChangeShapeType="1"/>
          </p:cNvSpPr>
          <p:nvPr/>
        </p:nvSpPr>
        <p:spPr bwMode="auto">
          <a:xfrm>
            <a:off x="7880350" y="3716338"/>
            <a:ext cx="0" cy="1079500"/>
          </a:xfrm>
          <a:prstGeom prst="line">
            <a:avLst/>
          </a:prstGeom>
          <a:noFill/>
          <a:ln w="2857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flipH="1">
            <a:off x="6746875" y="3122613"/>
            <a:ext cx="2220913" cy="289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115000"/>
              </a:lnSpc>
            </a:pPr>
            <a:r>
              <a:rPr kumimoji="1" lang="en-US" altLang="zh-CN" sz="2000">
                <a:solidFill>
                  <a:srgbClr val="333399"/>
                </a:solidFill>
                <a:latin typeface="Arial" pitchFamily="34" charset="0"/>
              </a:rPr>
              <a:t> 1550 nm           0 </a:t>
            </a:r>
          </a:p>
          <a:p>
            <a:pPr algn="l" eaLnBrk="1" hangingPunct="1">
              <a:lnSpc>
                <a:spcPct val="115000"/>
              </a:lnSpc>
            </a:pPr>
            <a:r>
              <a:rPr kumimoji="1" lang="en-US" altLang="zh-CN" sz="2000">
                <a:solidFill>
                  <a:srgbClr val="333399"/>
                </a:solidFill>
                <a:latin typeface="Arial" pitchFamily="34" charset="0"/>
              </a:rPr>
              <a:t> 1551 nm           1</a:t>
            </a:r>
          </a:p>
          <a:p>
            <a:pPr algn="l" eaLnBrk="1" hangingPunct="1">
              <a:lnSpc>
                <a:spcPct val="115000"/>
              </a:lnSpc>
            </a:pPr>
            <a:r>
              <a:rPr kumimoji="1" lang="en-US" altLang="zh-CN" sz="2000">
                <a:solidFill>
                  <a:srgbClr val="333399"/>
                </a:solidFill>
                <a:latin typeface="Arial" pitchFamily="34" charset="0"/>
              </a:rPr>
              <a:t> 1552 nm           2</a:t>
            </a:r>
          </a:p>
          <a:p>
            <a:pPr algn="l" eaLnBrk="1" hangingPunct="1">
              <a:lnSpc>
                <a:spcPct val="115000"/>
              </a:lnSpc>
            </a:pPr>
            <a:r>
              <a:rPr kumimoji="1" lang="en-US" altLang="zh-CN" sz="2000">
                <a:solidFill>
                  <a:srgbClr val="333399"/>
                </a:solidFill>
                <a:latin typeface="Arial" pitchFamily="34" charset="0"/>
              </a:rPr>
              <a:t> 1553 nm           3</a:t>
            </a:r>
          </a:p>
          <a:p>
            <a:pPr algn="l" eaLnBrk="1" hangingPunct="1">
              <a:lnSpc>
                <a:spcPct val="115000"/>
              </a:lnSpc>
            </a:pPr>
            <a:r>
              <a:rPr kumimoji="1" lang="en-US" altLang="zh-CN" sz="2000">
                <a:solidFill>
                  <a:srgbClr val="333399"/>
                </a:solidFill>
                <a:latin typeface="Arial" pitchFamily="34" charset="0"/>
              </a:rPr>
              <a:t> 1554 nm           4</a:t>
            </a:r>
          </a:p>
          <a:p>
            <a:pPr algn="l" eaLnBrk="1" hangingPunct="1">
              <a:lnSpc>
                <a:spcPct val="115000"/>
              </a:lnSpc>
            </a:pPr>
            <a:r>
              <a:rPr kumimoji="1" lang="en-US" altLang="zh-CN" sz="2000">
                <a:solidFill>
                  <a:srgbClr val="333399"/>
                </a:solidFill>
                <a:latin typeface="Arial" pitchFamily="34" charset="0"/>
              </a:rPr>
              <a:t> 1555 nm           5</a:t>
            </a:r>
          </a:p>
          <a:p>
            <a:pPr algn="l" eaLnBrk="1" hangingPunct="1">
              <a:lnSpc>
                <a:spcPct val="115000"/>
              </a:lnSpc>
            </a:pPr>
            <a:r>
              <a:rPr kumimoji="1" lang="en-US" altLang="zh-CN" sz="2000">
                <a:solidFill>
                  <a:srgbClr val="333399"/>
                </a:solidFill>
                <a:latin typeface="Arial" pitchFamily="34" charset="0"/>
              </a:rPr>
              <a:t> 1556 nm           6</a:t>
            </a:r>
          </a:p>
          <a:p>
            <a:pPr algn="l" eaLnBrk="1" hangingPunct="1">
              <a:lnSpc>
                <a:spcPct val="115000"/>
              </a:lnSpc>
            </a:pPr>
            <a:r>
              <a:rPr kumimoji="1" lang="en-US" altLang="zh-CN" sz="2000">
                <a:solidFill>
                  <a:srgbClr val="333399"/>
                </a:solidFill>
                <a:latin typeface="Arial" pitchFamily="34" charset="0"/>
              </a:rPr>
              <a:t> 1557 nm           7</a:t>
            </a:r>
          </a:p>
        </p:txBody>
      </p:sp>
      <p:sp>
        <p:nvSpPr>
          <p:cNvPr id="32771" name="Text Box 3"/>
          <p:cNvSpPr txBox="1">
            <a:spLocks noChangeArrowheads="1"/>
          </p:cNvSpPr>
          <p:nvPr/>
        </p:nvSpPr>
        <p:spPr bwMode="auto">
          <a:xfrm>
            <a:off x="179388" y="3159125"/>
            <a:ext cx="2290762" cy="289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115000"/>
              </a:lnSpc>
            </a:pPr>
            <a:r>
              <a:rPr kumimoji="1" lang="en-US" altLang="zh-CN" sz="2000">
                <a:solidFill>
                  <a:srgbClr val="333399"/>
                </a:solidFill>
                <a:latin typeface="Arial" pitchFamily="34" charset="0"/>
                <a:ea typeface="黑体" pitchFamily="49" charset="-122"/>
              </a:rPr>
              <a:t>0          1550 nm    </a:t>
            </a:r>
          </a:p>
          <a:p>
            <a:pPr algn="l" eaLnBrk="1" hangingPunct="1">
              <a:lnSpc>
                <a:spcPct val="115000"/>
              </a:lnSpc>
            </a:pPr>
            <a:r>
              <a:rPr kumimoji="1" lang="en-US" altLang="zh-CN" sz="2000">
                <a:solidFill>
                  <a:srgbClr val="333399"/>
                </a:solidFill>
                <a:latin typeface="Arial" pitchFamily="34" charset="0"/>
                <a:ea typeface="黑体" pitchFamily="49" charset="-122"/>
              </a:rPr>
              <a:t>1          1551 nm  </a:t>
            </a:r>
          </a:p>
          <a:p>
            <a:pPr algn="l" eaLnBrk="1" hangingPunct="1">
              <a:lnSpc>
                <a:spcPct val="115000"/>
              </a:lnSpc>
            </a:pPr>
            <a:r>
              <a:rPr kumimoji="1" lang="en-US" altLang="zh-CN" sz="2000">
                <a:solidFill>
                  <a:srgbClr val="333399"/>
                </a:solidFill>
                <a:latin typeface="Arial" pitchFamily="34" charset="0"/>
                <a:ea typeface="黑体" pitchFamily="49" charset="-122"/>
              </a:rPr>
              <a:t>2          1552 nm  </a:t>
            </a:r>
          </a:p>
          <a:p>
            <a:pPr algn="l" eaLnBrk="1" hangingPunct="1">
              <a:lnSpc>
                <a:spcPct val="115000"/>
              </a:lnSpc>
            </a:pPr>
            <a:r>
              <a:rPr kumimoji="1" lang="en-US" altLang="zh-CN" sz="2000">
                <a:solidFill>
                  <a:srgbClr val="333399"/>
                </a:solidFill>
                <a:latin typeface="Arial" pitchFamily="34" charset="0"/>
                <a:ea typeface="黑体" pitchFamily="49" charset="-122"/>
              </a:rPr>
              <a:t>3          1553 nm  </a:t>
            </a:r>
          </a:p>
          <a:p>
            <a:pPr algn="l" eaLnBrk="1" hangingPunct="1">
              <a:lnSpc>
                <a:spcPct val="115000"/>
              </a:lnSpc>
            </a:pPr>
            <a:r>
              <a:rPr kumimoji="1" lang="en-US" altLang="zh-CN" sz="2000">
                <a:solidFill>
                  <a:srgbClr val="333399"/>
                </a:solidFill>
                <a:latin typeface="Arial" pitchFamily="34" charset="0"/>
                <a:ea typeface="黑体" pitchFamily="49" charset="-122"/>
              </a:rPr>
              <a:t>4          1554 nm  </a:t>
            </a:r>
          </a:p>
          <a:p>
            <a:pPr algn="l" eaLnBrk="1" hangingPunct="1">
              <a:lnSpc>
                <a:spcPct val="115000"/>
              </a:lnSpc>
            </a:pPr>
            <a:r>
              <a:rPr kumimoji="1" lang="en-US" altLang="zh-CN" sz="2000">
                <a:solidFill>
                  <a:srgbClr val="333399"/>
                </a:solidFill>
                <a:latin typeface="Arial" pitchFamily="34" charset="0"/>
                <a:ea typeface="黑体" pitchFamily="49" charset="-122"/>
              </a:rPr>
              <a:t>5          1555 nm  </a:t>
            </a:r>
          </a:p>
          <a:p>
            <a:pPr algn="l" eaLnBrk="1" hangingPunct="1">
              <a:lnSpc>
                <a:spcPct val="115000"/>
              </a:lnSpc>
            </a:pPr>
            <a:r>
              <a:rPr kumimoji="1" lang="en-US" altLang="zh-CN" sz="2000">
                <a:solidFill>
                  <a:srgbClr val="333399"/>
                </a:solidFill>
                <a:latin typeface="Arial" pitchFamily="34" charset="0"/>
                <a:ea typeface="黑体" pitchFamily="49" charset="-122"/>
              </a:rPr>
              <a:t>6          1556 nm  </a:t>
            </a:r>
          </a:p>
          <a:p>
            <a:pPr algn="l" eaLnBrk="1" hangingPunct="1">
              <a:lnSpc>
                <a:spcPct val="115000"/>
              </a:lnSpc>
            </a:pPr>
            <a:r>
              <a:rPr kumimoji="1" lang="en-US" altLang="zh-CN" sz="2000">
                <a:solidFill>
                  <a:srgbClr val="333399"/>
                </a:solidFill>
                <a:latin typeface="Arial" pitchFamily="34" charset="0"/>
                <a:ea typeface="黑体" pitchFamily="49" charset="-122"/>
              </a:rPr>
              <a:t>7          1557 nm  </a:t>
            </a:r>
          </a:p>
        </p:txBody>
      </p:sp>
      <p:sp>
        <p:nvSpPr>
          <p:cNvPr id="32772" name="Rectangle 4"/>
          <p:cNvSpPr>
            <a:spLocks noGrp="1" noChangeArrowheads="1"/>
          </p:cNvSpPr>
          <p:nvPr>
            <p:ph type="title"/>
          </p:nvPr>
        </p:nvSpPr>
        <p:spPr>
          <a:xfrm>
            <a:off x="1150938" y="260350"/>
            <a:ext cx="7793037" cy="1462088"/>
          </a:xfrm>
        </p:spPr>
        <p:txBody>
          <a:bodyPr/>
          <a:lstStyle/>
          <a:p>
            <a:pPr algn="ctr" eaLnBrk="1" hangingPunct="1"/>
            <a:r>
              <a:rPr lang="en-US" altLang="zh-CN" sz="3200" smtClean="0"/>
              <a:t>2.4.2   </a:t>
            </a:r>
            <a:r>
              <a:rPr lang="zh-CN" altLang="en-US" sz="3200" smtClean="0"/>
              <a:t>波分复用 </a:t>
            </a:r>
            <a:r>
              <a:rPr lang="en-US" altLang="zh-CN" sz="3200" smtClean="0"/>
              <a:t>WDM</a:t>
            </a:r>
            <a:br>
              <a:rPr lang="en-US" altLang="zh-CN" sz="3200" smtClean="0"/>
            </a:br>
            <a:r>
              <a:rPr lang="en-US" altLang="zh-CN" sz="3200" smtClean="0"/>
              <a:t>(Wavelength Division Multiplexing)</a:t>
            </a:r>
            <a:r>
              <a:rPr lang="en-US" altLang="zh-CN" sz="3600" smtClean="0"/>
              <a:t> </a:t>
            </a:r>
            <a:r>
              <a:rPr lang="en-US" altLang="zh-CN" sz="3200" smtClean="0"/>
              <a:t> </a:t>
            </a:r>
          </a:p>
        </p:txBody>
      </p:sp>
      <p:sp>
        <p:nvSpPr>
          <p:cNvPr id="150533" name="Rectangle 5"/>
          <p:cNvSpPr>
            <a:spLocks noGrp="1" noChangeArrowheads="1"/>
          </p:cNvSpPr>
          <p:nvPr>
            <p:ph type="body" idx="1"/>
          </p:nvPr>
        </p:nvSpPr>
        <p:spPr>
          <a:xfrm>
            <a:off x="684213" y="1917700"/>
            <a:ext cx="8280400" cy="4114800"/>
          </a:xfrm>
        </p:spPr>
        <p:txBody>
          <a:bodyPr/>
          <a:lstStyle/>
          <a:p>
            <a:pPr eaLnBrk="1" hangingPunct="1"/>
            <a:r>
              <a:rPr lang="zh-CN" altLang="en-US" smtClean="0"/>
              <a:t>波分复用就是光的频分复用。 </a:t>
            </a:r>
          </a:p>
        </p:txBody>
      </p:sp>
      <p:sp>
        <p:nvSpPr>
          <p:cNvPr id="32774" name="Text Box 6"/>
          <p:cNvSpPr txBox="1">
            <a:spLocks noChangeArrowheads="1"/>
          </p:cNvSpPr>
          <p:nvPr/>
        </p:nvSpPr>
        <p:spPr bwMode="auto">
          <a:xfrm>
            <a:off x="3360738" y="2493963"/>
            <a:ext cx="1571625" cy="711200"/>
          </a:xfrm>
          <a:prstGeom prst="rect">
            <a:avLst/>
          </a:prstGeom>
          <a:noFill/>
          <a:ln w="9525">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rPr>
              <a:t>8 </a:t>
            </a:r>
            <a:r>
              <a:rPr kumimoji="1" lang="en-US" altLang="zh-CN" sz="2000">
                <a:solidFill>
                  <a:srgbClr val="333399"/>
                </a:solidFill>
                <a:latin typeface="Arial" pitchFamily="34" charset="0"/>
                <a:sym typeface="Symbol" pitchFamily="18" charset="2"/>
              </a:rPr>
              <a:t> </a:t>
            </a:r>
            <a:r>
              <a:rPr kumimoji="1" lang="en-US" altLang="zh-CN" sz="2000">
                <a:solidFill>
                  <a:srgbClr val="333399"/>
                </a:solidFill>
                <a:latin typeface="Arial" pitchFamily="34" charset="0"/>
              </a:rPr>
              <a:t>2.5 Gb/s</a:t>
            </a:r>
          </a:p>
          <a:p>
            <a:pPr eaLnBrk="1" hangingPunct="1"/>
            <a:r>
              <a:rPr kumimoji="1" lang="en-US" altLang="zh-CN" sz="2000">
                <a:solidFill>
                  <a:srgbClr val="333399"/>
                </a:solidFill>
                <a:latin typeface="Arial" pitchFamily="34" charset="0"/>
              </a:rPr>
              <a:t>1310 nm</a:t>
            </a:r>
          </a:p>
        </p:txBody>
      </p:sp>
      <p:sp>
        <p:nvSpPr>
          <p:cNvPr id="32775" name="Line 7"/>
          <p:cNvSpPr>
            <a:spLocks noChangeShapeType="1"/>
          </p:cNvSpPr>
          <p:nvPr/>
        </p:nvSpPr>
        <p:spPr bwMode="auto">
          <a:xfrm>
            <a:off x="6873875" y="3533775"/>
            <a:ext cx="2090738"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6" name="Line 8"/>
          <p:cNvSpPr>
            <a:spLocks noChangeShapeType="1"/>
          </p:cNvSpPr>
          <p:nvPr/>
        </p:nvSpPr>
        <p:spPr bwMode="auto">
          <a:xfrm>
            <a:off x="6873875" y="3884613"/>
            <a:ext cx="2090738"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7" name="Line 9"/>
          <p:cNvSpPr>
            <a:spLocks noChangeShapeType="1"/>
          </p:cNvSpPr>
          <p:nvPr/>
        </p:nvSpPr>
        <p:spPr bwMode="auto">
          <a:xfrm>
            <a:off x="6873875" y="4233863"/>
            <a:ext cx="2090738"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8" name="Line 10"/>
          <p:cNvSpPr>
            <a:spLocks noChangeShapeType="1"/>
          </p:cNvSpPr>
          <p:nvPr/>
        </p:nvSpPr>
        <p:spPr bwMode="auto">
          <a:xfrm>
            <a:off x="6873875" y="4586288"/>
            <a:ext cx="2090738"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9" name="Line 11"/>
          <p:cNvSpPr>
            <a:spLocks noChangeShapeType="1"/>
          </p:cNvSpPr>
          <p:nvPr/>
        </p:nvSpPr>
        <p:spPr bwMode="auto">
          <a:xfrm>
            <a:off x="6873875" y="4935538"/>
            <a:ext cx="2090738"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0" name="Line 12"/>
          <p:cNvSpPr>
            <a:spLocks noChangeShapeType="1"/>
          </p:cNvSpPr>
          <p:nvPr/>
        </p:nvSpPr>
        <p:spPr bwMode="auto">
          <a:xfrm>
            <a:off x="6873875" y="5287963"/>
            <a:ext cx="2090738"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1" name="Line 13"/>
          <p:cNvSpPr>
            <a:spLocks noChangeShapeType="1"/>
          </p:cNvSpPr>
          <p:nvPr/>
        </p:nvSpPr>
        <p:spPr bwMode="auto">
          <a:xfrm>
            <a:off x="6873875" y="5637213"/>
            <a:ext cx="2090738"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2" name="Line 14"/>
          <p:cNvSpPr>
            <a:spLocks noChangeShapeType="1"/>
          </p:cNvSpPr>
          <p:nvPr/>
        </p:nvSpPr>
        <p:spPr bwMode="auto">
          <a:xfrm>
            <a:off x="6873875" y="5989638"/>
            <a:ext cx="2090738"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3" name="Line 15"/>
          <p:cNvSpPr>
            <a:spLocks noChangeShapeType="1"/>
          </p:cNvSpPr>
          <p:nvPr/>
        </p:nvSpPr>
        <p:spPr bwMode="auto">
          <a:xfrm>
            <a:off x="179388" y="3533775"/>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4" name="Line 16"/>
          <p:cNvSpPr>
            <a:spLocks noChangeShapeType="1"/>
          </p:cNvSpPr>
          <p:nvPr/>
        </p:nvSpPr>
        <p:spPr bwMode="auto">
          <a:xfrm>
            <a:off x="179388" y="3884613"/>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5" name="Line 17"/>
          <p:cNvSpPr>
            <a:spLocks noChangeShapeType="1"/>
          </p:cNvSpPr>
          <p:nvPr/>
        </p:nvSpPr>
        <p:spPr bwMode="auto">
          <a:xfrm>
            <a:off x="179388" y="4233863"/>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6" name="Line 18"/>
          <p:cNvSpPr>
            <a:spLocks noChangeShapeType="1"/>
          </p:cNvSpPr>
          <p:nvPr/>
        </p:nvSpPr>
        <p:spPr bwMode="auto">
          <a:xfrm>
            <a:off x="179388" y="4586288"/>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7" name="Line 19"/>
          <p:cNvSpPr>
            <a:spLocks noChangeShapeType="1"/>
          </p:cNvSpPr>
          <p:nvPr/>
        </p:nvSpPr>
        <p:spPr bwMode="auto">
          <a:xfrm>
            <a:off x="179388" y="4935538"/>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8" name="Line 20"/>
          <p:cNvSpPr>
            <a:spLocks noChangeShapeType="1"/>
          </p:cNvSpPr>
          <p:nvPr/>
        </p:nvSpPr>
        <p:spPr bwMode="auto">
          <a:xfrm>
            <a:off x="179388" y="5287963"/>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9" name="Line 21"/>
          <p:cNvSpPr>
            <a:spLocks noChangeShapeType="1"/>
          </p:cNvSpPr>
          <p:nvPr/>
        </p:nvSpPr>
        <p:spPr bwMode="auto">
          <a:xfrm>
            <a:off x="179388" y="5637213"/>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0" name="Line 22"/>
          <p:cNvSpPr>
            <a:spLocks noChangeShapeType="1"/>
          </p:cNvSpPr>
          <p:nvPr/>
        </p:nvSpPr>
        <p:spPr bwMode="auto">
          <a:xfrm>
            <a:off x="179388" y="5989638"/>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1" name="Line 23"/>
          <p:cNvSpPr>
            <a:spLocks noChangeShapeType="1"/>
          </p:cNvSpPr>
          <p:nvPr/>
        </p:nvSpPr>
        <p:spPr bwMode="auto">
          <a:xfrm>
            <a:off x="2319338" y="4756150"/>
            <a:ext cx="449897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2" name="AutoShape 24"/>
          <p:cNvSpPr>
            <a:spLocks noChangeArrowheads="1"/>
          </p:cNvSpPr>
          <p:nvPr/>
        </p:nvSpPr>
        <p:spPr bwMode="auto">
          <a:xfrm rot="5400000">
            <a:off x="3163887" y="4603751"/>
            <a:ext cx="354013" cy="296862"/>
          </a:xfrm>
          <a:prstGeom prst="triangle">
            <a:avLst>
              <a:gd name="adj" fmla="val 50000"/>
            </a:avLst>
          </a:prstGeom>
          <a:solidFill>
            <a:srgbClr val="FF0066"/>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793" name="Rectangle 25"/>
          <p:cNvSpPr>
            <a:spLocks noChangeArrowheads="1"/>
          </p:cNvSpPr>
          <p:nvPr/>
        </p:nvSpPr>
        <p:spPr bwMode="auto">
          <a:xfrm>
            <a:off x="633413" y="3436938"/>
            <a:ext cx="496887" cy="1968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794" name="Rectangle 26"/>
          <p:cNvSpPr>
            <a:spLocks noChangeArrowheads="1"/>
          </p:cNvSpPr>
          <p:nvPr/>
        </p:nvSpPr>
        <p:spPr bwMode="auto">
          <a:xfrm>
            <a:off x="633413" y="3786188"/>
            <a:ext cx="496887" cy="195262"/>
          </a:xfrm>
          <a:prstGeom prst="rect">
            <a:avLst/>
          </a:prstGeom>
          <a:solidFill>
            <a:srgbClr val="CC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795" name="Rectangle 27"/>
          <p:cNvSpPr>
            <a:spLocks noChangeArrowheads="1"/>
          </p:cNvSpPr>
          <p:nvPr/>
        </p:nvSpPr>
        <p:spPr bwMode="auto">
          <a:xfrm>
            <a:off x="633413" y="4137025"/>
            <a:ext cx="496887" cy="195263"/>
          </a:xfrm>
          <a:prstGeom prst="rect">
            <a:avLst/>
          </a:prstGeom>
          <a:solidFill>
            <a:srgbClr val="CCCC00"/>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796" name="Rectangle 28"/>
          <p:cNvSpPr>
            <a:spLocks noChangeArrowheads="1"/>
          </p:cNvSpPr>
          <p:nvPr/>
        </p:nvSpPr>
        <p:spPr bwMode="auto">
          <a:xfrm>
            <a:off x="633413" y="4487863"/>
            <a:ext cx="496887" cy="195262"/>
          </a:xfrm>
          <a:prstGeom prst="rect">
            <a:avLst/>
          </a:prstGeom>
          <a:solidFill>
            <a:srgbClr val="00CC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797" name="Rectangle 29"/>
          <p:cNvSpPr>
            <a:spLocks noChangeArrowheads="1"/>
          </p:cNvSpPr>
          <p:nvPr/>
        </p:nvSpPr>
        <p:spPr bwMode="auto">
          <a:xfrm>
            <a:off x="633413" y="4838700"/>
            <a:ext cx="496887" cy="195263"/>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798" name="Rectangle 30"/>
          <p:cNvSpPr>
            <a:spLocks noChangeArrowheads="1"/>
          </p:cNvSpPr>
          <p:nvPr/>
        </p:nvSpPr>
        <p:spPr bwMode="auto">
          <a:xfrm>
            <a:off x="633413" y="5189538"/>
            <a:ext cx="496887" cy="195262"/>
          </a:xfrm>
          <a:prstGeom prst="rect">
            <a:avLst/>
          </a:prstGeom>
          <a:solidFill>
            <a:srgbClr val="00CC00"/>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799" name="Rectangle 31"/>
          <p:cNvSpPr>
            <a:spLocks noChangeArrowheads="1"/>
          </p:cNvSpPr>
          <p:nvPr/>
        </p:nvSpPr>
        <p:spPr bwMode="auto">
          <a:xfrm>
            <a:off x="633413" y="5540375"/>
            <a:ext cx="496887" cy="195263"/>
          </a:xfrm>
          <a:prstGeom prst="rect">
            <a:avLst/>
          </a:prstGeom>
          <a:solidFill>
            <a:srgbClr val="FF00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00" name="Rectangle 32"/>
          <p:cNvSpPr>
            <a:spLocks noChangeArrowheads="1"/>
          </p:cNvSpPr>
          <p:nvPr/>
        </p:nvSpPr>
        <p:spPr bwMode="auto">
          <a:xfrm>
            <a:off x="633413" y="5889625"/>
            <a:ext cx="496887" cy="196850"/>
          </a:xfrm>
          <a:prstGeom prst="rect">
            <a:avLst/>
          </a:prstGeom>
          <a:solidFill>
            <a:srgbClr val="3399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01" name="Text Box 33"/>
          <p:cNvSpPr txBox="1">
            <a:spLocks noChangeArrowheads="1"/>
          </p:cNvSpPr>
          <p:nvPr/>
        </p:nvSpPr>
        <p:spPr bwMode="auto">
          <a:xfrm>
            <a:off x="3406775" y="3709988"/>
            <a:ext cx="1071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rPr>
              <a:t>20 Gb/s</a:t>
            </a:r>
          </a:p>
        </p:txBody>
      </p:sp>
      <p:sp>
        <p:nvSpPr>
          <p:cNvPr id="32802" name="AutoShape 34"/>
          <p:cNvSpPr>
            <a:spLocks noChangeArrowheads="1"/>
          </p:cNvSpPr>
          <p:nvPr/>
        </p:nvSpPr>
        <p:spPr bwMode="auto">
          <a:xfrm rot="-5400000">
            <a:off x="799307" y="4512469"/>
            <a:ext cx="3240087" cy="49847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004 w 21600"/>
              <a:gd name="T13" fmla="*/ 3004 h 21600"/>
              <a:gd name="T14" fmla="*/ 18596 w 21600"/>
              <a:gd name="T15" fmla="*/ 18596 h 21600"/>
            </a:gdLst>
            <a:ahLst/>
            <a:cxnLst>
              <a:cxn ang="T8">
                <a:pos x="T0" y="T1"/>
              </a:cxn>
              <a:cxn ang="T9">
                <a:pos x="T2" y="T3"/>
              </a:cxn>
              <a:cxn ang="T10">
                <a:pos x="T4" y="T5"/>
              </a:cxn>
              <a:cxn ang="T11">
                <a:pos x="T6" y="T7"/>
              </a:cxn>
            </a:cxnLst>
            <a:rect l="T12" t="T13" r="T14" b="T15"/>
            <a:pathLst>
              <a:path w="21600" h="21600">
                <a:moveTo>
                  <a:pt x="0" y="0"/>
                </a:moveTo>
                <a:lnTo>
                  <a:pt x="2408" y="21600"/>
                </a:lnTo>
                <a:lnTo>
                  <a:pt x="19192" y="21600"/>
                </a:lnTo>
                <a:lnTo>
                  <a:pt x="21600" y="0"/>
                </a:lnTo>
                <a:lnTo>
                  <a:pt x="0" y="0"/>
                </a:lnTo>
                <a:close/>
              </a:path>
            </a:pathLst>
          </a:custGeom>
          <a:solidFill>
            <a:srgbClr val="CCCC00"/>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03" name="AutoShape 35"/>
          <p:cNvSpPr>
            <a:spLocks noChangeArrowheads="1"/>
          </p:cNvSpPr>
          <p:nvPr/>
        </p:nvSpPr>
        <p:spPr bwMode="auto">
          <a:xfrm rot="5400000" flipH="1">
            <a:off x="5005388" y="4513263"/>
            <a:ext cx="3240087" cy="496887"/>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004 w 21600"/>
              <a:gd name="T13" fmla="*/ 3004 h 21600"/>
              <a:gd name="T14" fmla="*/ 18596 w 21600"/>
              <a:gd name="T15" fmla="*/ 18596 h 21600"/>
            </a:gdLst>
            <a:ahLst/>
            <a:cxnLst>
              <a:cxn ang="T8">
                <a:pos x="T0" y="T1"/>
              </a:cxn>
              <a:cxn ang="T9">
                <a:pos x="T2" y="T3"/>
              </a:cxn>
              <a:cxn ang="T10">
                <a:pos x="T4" y="T5"/>
              </a:cxn>
              <a:cxn ang="T11">
                <a:pos x="T6" y="T7"/>
              </a:cxn>
            </a:cxnLst>
            <a:rect l="T12" t="T13" r="T14" b="T15"/>
            <a:pathLst>
              <a:path w="21600" h="21600">
                <a:moveTo>
                  <a:pt x="0" y="0"/>
                </a:moveTo>
                <a:lnTo>
                  <a:pt x="2408" y="21600"/>
                </a:lnTo>
                <a:lnTo>
                  <a:pt x="19192" y="21600"/>
                </a:lnTo>
                <a:lnTo>
                  <a:pt x="21600" y="0"/>
                </a:lnTo>
                <a:lnTo>
                  <a:pt x="0" y="0"/>
                </a:lnTo>
                <a:close/>
              </a:path>
            </a:pathLst>
          </a:custGeom>
          <a:solidFill>
            <a:srgbClr val="FF9999"/>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04" name="Rectangle 36"/>
          <p:cNvSpPr>
            <a:spLocks noChangeArrowheads="1"/>
          </p:cNvSpPr>
          <p:nvPr/>
        </p:nvSpPr>
        <p:spPr bwMode="auto">
          <a:xfrm>
            <a:off x="7985125" y="3436938"/>
            <a:ext cx="496888" cy="1968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05" name="Rectangle 37"/>
          <p:cNvSpPr>
            <a:spLocks noChangeArrowheads="1"/>
          </p:cNvSpPr>
          <p:nvPr/>
        </p:nvSpPr>
        <p:spPr bwMode="auto">
          <a:xfrm>
            <a:off x="7985125" y="3786188"/>
            <a:ext cx="496888" cy="195262"/>
          </a:xfrm>
          <a:prstGeom prst="rect">
            <a:avLst/>
          </a:prstGeom>
          <a:solidFill>
            <a:srgbClr val="CC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06" name="Rectangle 38"/>
          <p:cNvSpPr>
            <a:spLocks noChangeArrowheads="1"/>
          </p:cNvSpPr>
          <p:nvPr/>
        </p:nvSpPr>
        <p:spPr bwMode="auto">
          <a:xfrm>
            <a:off x="7985125" y="4137025"/>
            <a:ext cx="496888" cy="195263"/>
          </a:xfrm>
          <a:prstGeom prst="rect">
            <a:avLst/>
          </a:prstGeom>
          <a:solidFill>
            <a:srgbClr val="CCCC00"/>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07" name="Rectangle 39"/>
          <p:cNvSpPr>
            <a:spLocks noChangeArrowheads="1"/>
          </p:cNvSpPr>
          <p:nvPr/>
        </p:nvSpPr>
        <p:spPr bwMode="auto">
          <a:xfrm>
            <a:off x="7985125" y="4487863"/>
            <a:ext cx="496888" cy="195262"/>
          </a:xfrm>
          <a:prstGeom prst="rect">
            <a:avLst/>
          </a:prstGeom>
          <a:solidFill>
            <a:srgbClr val="00CC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08" name="Rectangle 40"/>
          <p:cNvSpPr>
            <a:spLocks noChangeArrowheads="1"/>
          </p:cNvSpPr>
          <p:nvPr/>
        </p:nvSpPr>
        <p:spPr bwMode="auto">
          <a:xfrm>
            <a:off x="7985125" y="4838700"/>
            <a:ext cx="496888" cy="195263"/>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09" name="Rectangle 41"/>
          <p:cNvSpPr>
            <a:spLocks noChangeArrowheads="1"/>
          </p:cNvSpPr>
          <p:nvPr/>
        </p:nvSpPr>
        <p:spPr bwMode="auto">
          <a:xfrm>
            <a:off x="7985125" y="5189538"/>
            <a:ext cx="496888" cy="195262"/>
          </a:xfrm>
          <a:prstGeom prst="rect">
            <a:avLst/>
          </a:prstGeom>
          <a:solidFill>
            <a:srgbClr val="00CC00"/>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10" name="Rectangle 42"/>
          <p:cNvSpPr>
            <a:spLocks noChangeArrowheads="1"/>
          </p:cNvSpPr>
          <p:nvPr/>
        </p:nvSpPr>
        <p:spPr bwMode="auto">
          <a:xfrm>
            <a:off x="7985125" y="5540375"/>
            <a:ext cx="496888" cy="195263"/>
          </a:xfrm>
          <a:prstGeom prst="rect">
            <a:avLst/>
          </a:prstGeom>
          <a:solidFill>
            <a:srgbClr val="FF00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11" name="Rectangle 43"/>
          <p:cNvSpPr>
            <a:spLocks noChangeArrowheads="1"/>
          </p:cNvSpPr>
          <p:nvPr/>
        </p:nvSpPr>
        <p:spPr bwMode="auto">
          <a:xfrm>
            <a:off x="7985125" y="5889625"/>
            <a:ext cx="496888" cy="196850"/>
          </a:xfrm>
          <a:prstGeom prst="rect">
            <a:avLst/>
          </a:prstGeom>
          <a:solidFill>
            <a:srgbClr val="3399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12" name="AutoShape 44"/>
          <p:cNvSpPr>
            <a:spLocks noChangeArrowheads="1"/>
          </p:cNvSpPr>
          <p:nvPr/>
        </p:nvSpPr>
        <p:spPr bwMode="auto">
          <a:xfrm rot="5400000">
            <a:off x="4339431" y="4604544"/>
            <a:ext cx="354013" cy="295275"/>
          </a:xfrm>
          <a:prstGeom prst="triangle">
            <a:avLst>
              <a:gd name="adj" fmla="val 50000"/>
            </a:avLst>
          </a:prstGeom>
          <a:solidFill>
            <a:srgbClr val="FF0066"/>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13" name="AutoShape 45"/>
          <p:cNvSpPr>
            <a:spLocks noChangeArrowheads="1"/>
          </p:cNvSpPr>
          <p:nvPr/>
        </p:nvSpPr>
        <p:spPr bwMode="auto">
          <a:xfrm rot="5400000">
            <a:off x="5551487" y="4603751"/>
            <a:ext cx="354013" cy="296862"/>
          </a:xfrm>
          <a:prstGeom prst="triangle">
            <a:avLst>
              <a:gd name="adj" fmla="val 50000"/>
            </a:avLst>
          </a:prstGeom>
          <a:solidFill>
            <a:srgbClr val="FF0066"/>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2814" name="Line 46"/>
          <p:cNvSpPr>
            <a:spLocks noChangeShapeType="1"/>
          </p:cNvSpPr>
          <p:nvPr/>
        </p:nvSpPr>
        <p:spPr bwMode="auto">
          <a:xfrm flipH="1">
            <a:off x="3759200" y="4124325"/>
            <a:ext cx="128588" cy="62230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15" name="Text Box 47"/>
          <p:cNvSpPr txBox="1">
            <a:spLocks noChangeArrowheads="1"/>
          </p:cNvSpPr>
          <p:nvPr/>
        </p:nvSpPr>
        <p:spPr bwMode="auto">
          <a:xfrm>
            <a:off x="2195513" y="4222750"/>
            <a:ext cx="4381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Times New Roman" pitchFamily="18" charset="0"/>
                <a:ea typeface="黑体" pitchFamily="49" charset="-122"/>
              </a:rPr>
              <a:t>复</a:t>
            </a:r>
          </a:p>
          <a:p>
            <a:pPr algn="l" eaLnBrk="1" hangingPunct="1"/>
            <a:r>
              <a:rPr kumimoji="1" lang="zh-CN" altLang="en-US" sz="2000">
                <a:solidFill>
                  <a:srgbClr val="333399"/>
                </a:solidFill>
                <a:latin typeface="Times New Roman" pitchFamily="18" charset="0"/>
                <a:ea typeface="黑体" pitchFamily="49" charset="-122"/>
              </a:rPr>
              <a:t>用</a:t>
            </a:r>
          </a:p>
          <a:p>
            <a:pPr algn="l" eaLnBrk="1" hangingPunct="1"/>
            <a:r>
              <a:rPr kumimoji="1" lang="zh-CN" altLang="en-US" sz="2000">
                <a:solidFill>
                  <a:srgbClr val="333399"/>
                </a:solidFill>
                <a:latin typeface="Times New Roman" pitchFamily="18" charset="0"/>
                <a:ea typeface="黑体" pitchFamily="49" charset="-122"/>
              </a:rPr>
              <a:t>器</a:t>
            </a:r>
          </a:p>
        </p:txBody>
      </p:sp>
      <p:sp>
        <p:nvSpPr>
          <p:cNvPr id="32816" name="Text Box 48"/>
          <p:cNvSpPr txBox="1">
            <a:spLocks noChangeArrowheads="1"/>
          </p:cNvSpPr>
          <p:nvPr/>
        </p:nvSpPr>
        <p:spPr bwMode="auto">
          <a:xfrm>
            <a:off x="6405563" y="4222750"/>
            <a:ext cx="4381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Times New Roman" pitchFamily="18" charset="0"/>
                <a:ea typeface="黑体" pitchFamily="49" charset="-122"/>
              </a:rPr>
              <a:t>分</a:t>
            </a:r>
          </a:p>
          <a:p>
            <a:pPr algn="l" eaLnBrk="1" hangingPunct="1"/>
            <a:r>
              <a:rPr kumimoji="1" lang="zh-CN" altLang="en-US" sz="2000">
                <a:solidFill>
                  <a:srgbClr val="333399"/>
                </a:solidFill>
                <a:latin typeface="Times New Roman" pitchFamily="18" charset="0"/>
                <a:ea typeface="黑体" pitchFamily="49" charset="-122"/>
              </a:rPr>
              <a:t>用</a:t>
            </a:r>
          </a:p>
          <a:p>
            <a:pPr algn="l" eaLnBrk="1" hangingPunct="1"/>
            <a:r>
              <a:rPr kumimoji="1" lang="zh-CN" altLang="en-US" sz="2000">
                <a:solidFill>
                  <a:srgbClr val="333399"/>
                </a:solidFill>
                <a:latin typeface="Times New Roman" pitchFamily="18" charset="0"/>
                <a:ea typeface="黑体" pitchFamily="49" charset="-122"/>
              </a:rPr>
              <a:t>器</a:t>
            </a:r>
          </a:p>
        </p:txBody>
      </p:sp>
      <p:sp>
        <p:nvSpPr>
          <p:cNvPr id="32817" name="Text Box 49"/>
          <p:cNvSpPr txBox="1">
            <a:spLocks noChangeArrowheads="1"/>
          </p:cNvSpPr>
          <p:nvPr/>
        </p:nvSpPr>
        <p:spPr bwMode="auto">
          <a:xfrm>
            <a:off x="4584700" y="3810000"/>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rPr>
              <a:t>EDFA</a:t>
            </a:r>
          </a:p>
        </p:txBody>
      </p:sp>
      <p:sp>
        <p:nvSpPr>
          <p:cNvPr id="32818" name="Line 50"/>
          <p:cNvSpPr>
            <a:spLocks noChangeShapeType="1"/>
          </p:cNvSpPr>
          <p:nvPr/>
        </p:nvSpPr>
        <p:spPr bwMode="auto">
          <a:xfrm flipH="1">
            <a:off x="4545013" y="4221163"/>
            <a:ext cx="438150" cy="43180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19" name="Line 51"/>
          <p:cNvSpPr>
            <a:spLocks noChangeShapeType="1"/>
          </p:cNvSpPr>
          <p:nvPr/>
        </p:nvSpPr>
        <p:spPr bwMode="auto">
          <a:xfrm>
            <a:off x="3290888" y="5006975"/>
            <a:ext cx="0" cy="1968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0" name="Line 52"/>
          <p:cNvSpPr>
            <a:spLocks noChangeShapeType="1"/>
          </p:cNvSpPr>
          <p:nvPr/>
        </p:nvSpPr>
        <p:spPr bwMode="auto">
          <a:xfrm>
            <a:off x="4484688" y="5006975"/>
            <a:ext cx="0" cy="1968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1" name="Line 53"/>
          <p:cNvSpPr>
            <a:spLocks noChangeShapeType="1"/>
          </p:cNvSpPr>
          <p:nvPr/>
        </p:nvSpPr>
        <p:spPr bwMode="auto">
          <a:xfrm>
            <a:off x="3287713" y="5103813"/>
            <a:ext cx="1195387"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2" name="Text Box 54"/>
          <p:cNvSpPr txBox="1">
            <a:spLocks noChangeArrowheads="1"/>
          </p:cNvSpPr>
          <p:nvPr/>
        </p:nvSpPr>
        <p:spPr bwMode="auto">
          <a:xfrm>
            <a:off x="3306763" y="5087938"/>
            <a:ext cx="101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120 km</a:t>
            </a:r>
          </a:p>
        </p:txBody>
      </p:sp>
      <p:sp>
        <p:nvSpPr>
          <p:cNvPr id="32823" name="Text Box 55"/>
          <p:cNvSpPr txBox="1">
            <a:spLocks noChangeArrowheads="1"/>
          </p:cNvSpPr>
          <p:nvPr/>
        </p:nvSpPr>
        <p:spPr bwMode="auto">
          <a:xfrm>
            <a:off x="250825" y="2492375"/>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zh-CN" altLang="en-US">
                <a:solidFill>
                  <a:srgbClr val="333399"/>
                </a:solidFill>
                <a:ea typeface="黑体" pitchFamily="49" charset="-122"/>
              </a:rPr>
              <a:t>光调制器</a:t>
            </a:r>
          </a:p>
        </p:txBody>
      </p:sp>
      <p:sp>
        <p:nvSpPr>
          <p:cNvPr id="32824" name="Line 56"/>
          <p:cNvSpPr>
            <a:spLocks noChangeShapeType="1"/>
          </p:cNvSpPr>
          <p:nvPr/>
        </p:nvSpPr>
        <p:spPr bwMode="auto">
          <a:xfrm>
            <a:off x="900113" y="2924175"/>
            <a:ext cx="0" cy="504825"/>
          </a:xfrm>
          <a:prstGeom prst="line">
            <a:avLst/>
          </a:prstGeom>
          <a:noFill/>
          <a:ln w="952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25" name="Text Box 57"/>
          <p:cNvSpPr txBox="1">
            <a:spLocks noChangeArrowheads="1"/>
          </p:cNvSpPr>
          <p:nvPr/>
        </p:nvSpPr>
        <p:spPr bwMode="auto">
          <a:xfrm>
            <a:off x="7345363" y="2492375"/>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zh-CN" altLang="en-US">
                <a:solidFill>
                  <a:srgbClr val="333399"/>
                </a:solidFill>
                <a:ea typeface="黑体" pitchFamily="49" charset="-122"/>
              </a:rPr>
              <a:t>光解调器</a:t>
            </a:r>
          </a:p>
        </p:txBody>
      </p:sp>
      <p:sp>
        <p:nvSpPr>
          <p:cNvPr id="32826" name="Line 58"/>
          <p:cNvSpPr>
            <a:spLocks noChangeShapeType="1"/>
          </p:cNvSpPr>
          <p:nvPr/>
        </p:nvSpPr>
        <p:spPr bwMode="auto">
          <a:xfrm>
            <a:off x="8243888" y="2924175"/>
            <a:ext cx="0" cy="504825"/>
          </a:xfrm>
          <a:prstGeom prst="line">
            <a:avLst/>
          </a:prstGeom>
          <a:noFill/>
          <a:ln w="952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150938" y="260350"/>
            <a:ext cx="7793037" cy="1462088"/>
          </a:xfrm>
        </p:spPr>
        <p:txBody>
          <a:bodyPr/>
          <a:lstStyle/>
          <a:p>
            <a:pPr algn="ctr" eaLnBrk="1" hangingPunct="1"/>
            <a:r>
              <a:rPr lang="en-US" altLang="zh-CN" sz="4000" smtClean="0"/>
              <a:t>2.4.3   </a:t>
            </a:r>
            <a:r>
              <a:rPr lang="zh-CN" altLang="en-US" sz="4000" smtClean="0"/>
              <a:t>码分复用 </a:t>
            </a:r>
            <a:r>
              <a:rPr lang="en-US" altLang="zh-CN" sz="4000" smtClean="0"/>
              <a:t>CDM</a:t>
            </a:r>
            <a:br>
              <a:rPr lang="en-US" altLang="zh-CN" sz="4000" smtClean="0"/>
            </a:br>
            <a:r>
              <a:rPr lang="en-US" altLang="zh-CN" sz="3600" smtClean="0"/>
              <a:t>(Code Division Multiplexing)</a:t>
            </a:r>
            <a:r>
              <a:rPr lang="en-US" altLang="zh-CN" smtClean="0"/>
              <a:t>  </a:t>
            </a:r>
          </a:p>
        </p:txBody>
      </p:sp>
      <p:sp>
        <p:nvSpPr>
          <p:cNvPr id="142339" name="Rectangle 3"/>
          <p:cNvSpPr>
            <a:spLocks noGrp="1" noChangeArrowheads="1"/>
          </p:cNvSpPr>
          <p:nvPr>
            <p:ph type="body" idx="1"/>
          </p:nvPr>
        </p:nvSpPr>
        <p:spPr>
          <a:xfrm>
            <a:off x="684213" y="1917700"/>
            <a:ext cx="8280400" cy="5256213"/>
          </a:xfrm>
        </p:spPr>
        <p:txBody>
          <a:bodyPr/>
          <a:lstStyle/>
          <a:p>
            <a:pPr eaLnBrk="1" hangingPunct="1"/>
            <a:r>
              <a:rPr lang="zh-CN" altLang="en-US" smtClean="0"/>
              <a:t>常用的名词是</a:t>
            </a:r>
            <a:r>
              <a:rPr lang="zh-CN" altLang="en-US" smtClean="0">
                <a:solidFill>
                  <a:schemeClr val="hlink"/>
                </a:solidFill>
              </a:rPr>
              <a:t>码分多址</a:t>
            </a:r>
            <a:r>
              <a:rPr lang="zh-CN" altLang="en-US" smtClean="0"/>
              <a:t> </a:t>
            </a:r>
            <a:r>
              <a:rPr lang="en-US" altLang="zh-CN" smtClean="0"/>
              <a:t>CDMA </a:t>
            </a:r>
          </a:p>
          <a:p>
            <a:pPr eaLnBrk="1" hangingPunct="1">
              <a:buFont typeface="Wingdings" pitchFamily="2" charset="2"/>
              <a:buNone/>
            </a:pPr>
            <a:r>
              <a:rPr lang="en-US" altLang="zh-CN" smtClean="0"/>
              <a:t>    (Code Division Multiple Access)</a:t>
            </a:r>
            <a:r>
              <a:rPr lang="zh-CN" altLang="en-US" smtClean="0"/>
              <a:t>。</a:t>
            </a:r>
          </a:p>
          <a:p>
            <a:pPr eaLnBrk="1" hangingPunct="1">
              <a:buFont typeface="Wingdings" pitchFamily="2" charset="2"/>
              <a:buNone/>
            </a:pPr>
            <a:endParaRPr lang="zh-CN" altLang="en-US" smtClean="0"/>
          </a:p>
          <a:p>
            <a:pPr eaLnBrk="1" hangingPunct="1">
              <a:buFont typeface="Wingdings" pitchFamily="2" charset="2"/>
              <a:buNone/>
            </a:pPr>
            <a:r>
              <a:rPr lang="zh-CN" altLang="en-US" smtClean="0"/>
              <a:t>	每一个比特时间划分为 </a:t>
            </a:r>
            <a:r>
              <a:rPr lang="en-US" altLang="zh-CN" i="1" smtClean="0"/>
              <a:t>m </a:t>
            </a:r>
            <a:r>
              <a:rPr lang="zh-CN" altLang="en-US" smtClean="0"/>
              <a:t>个短的间隔，称为</a:t>
            </a:r>
            <a:r>
              <a:rPr lang="zh-CN" altLang="en-US" smtClean="0">
                <a:solidFill>
                  <a:schemeClr val="hlink"/>
                </a:solidFill>
              </a:rPr>
              <a:t>码片</a:t>
            </a:r>
            <a:r>
              <a:rPr lang="en-US" altLang="zh-CN" smtClean="0"/>
              <a:t>(chip)</a:t>
            </a:r>
            <a:r>
              <a:rPr lang="zh-CN" altLang="en-US" smtClean="0"/>
              <a:t>。通常</a:t>
            </a:r>
            <a:r>
              <a:rPr lang="en-US" altLang="zh-CN" smtClean="0"/>
              <a:t>m</a:t>
            </a:r>
            <a:r>
              <a:rPr lang="zh-CN" altLang="en-US" smtClean="0"/>
              <a:t>的取值是</a:t>
            </a:r>
            <a:r>
              <a:rPr lang="en-US" altLang="zh-CN" smtClean="0"/>
              <a:t>64</a:t>
            </a:r>
            <a:r>
              <a:rPr lang="zh-CN" altLang="en-US" smtClean="0"/>
              <a:t>或者</a:t>
            </a:r>
            <a:r>
              <a:rPr lang="en-US" altLang="zh-CN" smtClean="0"/>
              <a:t>128.</a:t>
            </a:r>
          </a:p>
          <a:p>
            <a:pPr eaLnBrk="1" hangingPunct="1">
              <a:buFont typeface="Wingdings" pitchFamily="2" charset="2"/>
              <a:buNone/>
            </a:pPr>
            <a:r>
              <a:rPr lang="en-US" altLang="zh-CN"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150938" y="260350"/>
            <a:ext cx="7793037" cy="1462088"/>
          </a:xfrm>
        </p:spPr>
        <p:txBody>
          <a:bodyPr/>
          <a:lstStyle/>
          <a:p>
            <a:pPr algn="ctr" eaLnBrk="1" hangingPunct="1"/>
            <a:r>
              <a:rPr lang="zh-CN" altLang="en-US" smtClean="0"/>
              <a:t>码片序列</a:t>
            </a:r>
            <a:r>
              <a:rPr lang="en-US" altLang="zh-CN" smtClean="0"/>
              <a:t>(chip sequence) </a:t>
            </a:r>
          </a:p>
        </p:txBody>
      </p:sp>
      <p:sp>
        <p:nvSpPr>
          <p:cNvPr id="151555" name="Rectangle 3"/>
          <p:cNvSpPr>
            <a:spLocks noGrp="1" noChangeArrowheads="1"/>
          </p:cNvSpPr>
          <p:nvPr>
            <p:ph type="body" idx="1"/>
          </p:nvPr>
        </p:nvSpPr>
        <p:spPr>
          <a:xfrm>
            <a:off x="539750" y="1917700"/>
            <a:ext cx="8459788" cy="4114800"/>
          </a:xfrm>
        </p:spPr>
        <p:txBody>
          <a:bodyPr/>
          <a:lstStyle/>
          <a:p>
            <a:pPr eaLnBrk="1" hangingPunct="1"/>
            <a:r>
              <a:rPr lang="zh-CN" altLang="en-US" sz="2800" smtClean="0"/>
              <a:t>每个站被指派一个唯一的 </a:t>
            </a:r>
            <a:r>
              <a:rPr lang="en-US" altLang="zh-CN" sz="2800" i="1" smtClean="0"/>
              <a:t>m</a:t>
            </a:r>
            <a:r>
              <a:rPr lang="en-US" altLang="zh-CN" sz="2800" smtClean="0"/>
              <a:t> bit </a:t>
            </a:r>
            <a:r>
              <a:rPr lang="zh-CN" altLang="en-US" sz="2800" smtClean="0"/>
              <a:t>码片序列。</a:t>
            </a:r>
          </a:p>
          <a:p>
            <a:pPr lvl="1" eaLnBrk="1" hangingPunct="1"/>
            <a:r>
              <a:rPr lang="zh-CN" altLang="en-US" sz="2400" smtClean="0">
                <a:solidFill>
                  <a:schemeClr val="hlink"/>
                </a:solidFill>
                <a:latin typeface="Arial" pitchFamily="34" charset="0"/>
                <a:ea typeface="黑体" pitchFamily="49" charset="-122"/>
              </a:rPr>
              <a:t>如发送比特 </a:t>
            </a:r>
            <a:r>
              <a:rPr lang="en-US" altLang="zh-CN" sz="2400" smtClean="0">
                <a:solidFill>
                  <a:schemeClr val="hlink"/>
                </a:solidFill>
                <a:latin typeface="Arial" pitchFamily="34" charset="0"/>
                <a:ea typeface="黑体" pitchFamily="49" charset="-122"/>
              </a:rPr>
              <a:t>1</a:t>
            </a:r>
            <a:r>
              <a:rPr lang="zh-CN" altLang="en-US" sz="2400" smtClean="0">
                <a:solidFill>
                  <a:schemeClr val="hlink"/>
                </a:solidFill>
                <a:latin typeface="Arial" pitchFamily="34" charset="0"/>
                <a:ea typeface="黑体" pitchFamily="49" charset="-122"/>
              </a:rPr>
              <a:t>，则发送自己的 </a:t>
            </a:r>
            <a:r>
              <a:rPr lang="en-US" altLang="zh-CN" sz="2400" i="1" smtClean="0">
                <a:solidFill>
                  <a:schemeClr val="hlink"/>
                </a:solidFill>
                <a:latin typeface="Arial" pitchFamily="34" charset="0"/>
                <a:ea typeface="黑体" pitchFamily="49" charset="-122"/>
              </a:rPr>
              <a:t>m</a:t>
            </a:r>
            <a:r>
              <a:rPr lang="en-US" altLang="zh-CN" sz="2400" smtClean="0">
                <a:solidFill>
                  <a:schemeClr val="hlink"/>
                </a:solidFill>
                <a:latin typeface="Arial" pitchFamily="34" charset="0"/>
                <a:ea typeface="黑体" pitchFamily="49" charset="-122"/>
              </a:rPr>
              <a:t> bit </a:t>
            </a:r>
            <a:r>
              <a:rPr lang="zh-CN" altLang="en-US" sz="2400" smtClean="0">
                <a:solidFill>
                  <a:schemeClr val="hlink"/>
                </a:solidFill>
                <a:latin typeface="Arial" pitchFamily="34" charset="0"/>
                <a:ea typeface="黑体" pitchFamily="49" charset="-122"/>
              </a:rPr>
              <a:t>码片序列。</a:t>
            </a:r>
          </a:p>
          <a:p>
            <a:pPr lvl="1" eaLnBrk="1" hangingPunct="1"/>
            <a:r>
              <a:rPr lang="zh-CN" altLang="en-US" sz="2400" smtClean="0">
                <a:solidFill>
                  <a:schemeClr val="hlink"/>
                </a:solidFill>
                <a:latin typeface="Arial" pitchFamily="34" charset="0"/>
                <a:ea typeface="黑体" pitchFamily="49" charset="-122"/>
              </a:rPr>
              <a:t>如发送比特 </a:t>
            </a:r>
            <a:r>
              <a:rPr lang="en-US" altLang="zh-CN" sz="2400" smtClean="0">
                <a:solidFill>
                  <a:schemeClr val="hlink"/>
                </a:solidFill>
                <a:latin typeface="Arial" pitchFamily="34" charset="0"/>
                <a:ea typeface="黑体" pitchFamily="49" charset="-122"/>
              </a:rPr>
              <a:t>0</a:t>
            </a:r>
            <a:r>
              <a:rPr lang="zh-CN" altLang="en-US" sz="2400" smtClean="0">
                <a:solidFill>
                  <a:schemeClr val="hlink"/>
                </a:solidFill>
                <a:latin typeface="Arial" pitchFamily="34" charset="0"/>
                <a:ea typeface="黑体" pitchFamily="49" charset="-122"/>
              </a:rPr>
              <a:t>，则发送该码片序列的二进制反码。</a:t>
            </a:r>
            <a:r>
              <a:rPr lang="zh-CN" altLang="en-US" sz="2400" smtClean="0"/>
              <a:t> </a:t>
            </a:r>
          </a:p>
          <a:p>
            <a:pPr eaLnBrk="1" hangingPunct="1"/>
            <a:r>
              <a:rPr lang="zh-CN" altLang="en-US" sz="2800" smtClean="0"/>
              <a:t>例如，</a:t>
            </a:r>
            <a:r>
              <a:rPr lang="en-US" altLang="zh-CN" sz="2800" smtClean="0"/>
              <a:t>S </a:t>
            </a:r>
            <a:r>
              <a:rPr lang="zh-CN" altLang="en-US" sz="2800" smtClean="0"/>
              <a:t>站的 </a:t>
            </a:r>
            <a:r>
              <a:rPr lang="en-US" altLang="zh-CN" sz="2800" smtClean="0"/>
              <a:t>8 bit </a:t>
            </a:r>
            <a:r>
              <a:rPr lang="zh-CN" altLang="en-US" sz="2800" smtClean="0"/>
              <a:t>码片序列是 </a:t>
            </a:r>
            <a:r>
              <a:rPr lang="en-US" altLang="zh-CN" sz="2800" smtClean="0"/>
              <a:t>00011011</a:t>
            </a:r>
            <a:r>
              <a:rPr lang="zh-CN" altLang="en-US" sz="2800" smtClean="0"/>
              <a:t>。</a:t>
            </a:r>
          </a:p>
          <a:p>
            <a:pPr lvl="1" eaLnBrk="1" hangingPunct="1"/>
            <a:r>
              <a:rPr lang="zh-CN" altLang="en-US" sz="2400" smtClean="0">
                <a:solidFill>
                  <a:schemeClr val="hlink"/>
                </a:solidFill>
                <a:latin typeface="Arial" pitchFamily="34" charset="0"/>
                <a:ea typeface="黑体" pitchFamily="49" charset="-122"/>
              </a:rPr>
              <a:t>发送比特 </a:t>
            </a:r>
            <a:r>
              <a:rPr lang="en-US" altLang="zh-CN" sz="2400" smtClean="0">
                <a:solidFill>
                  <a:schemeClr val="hlink"/>
                </a:solidFill>
                <a:latin typeface="Arial" pitchFamily="34" charset="0"/>
                <a:ea typeface="黑体" pitchFamily="49" charset="-122"/>
              </a:rPr>
              <a:t>1 </a:t>
            </a:r>
            <a:r>
              <a:rPr lang="zh-CN" altLang="en-US" sz="2400" smtClean="0">
                <a:solidFill>
                  <a:schemeClr val="hlink"/>
                </a:solidFill>
                <a:latin typeface="Arial" pitchFamily="34" charset="0"/>
                <a:ea typeface="黑体" pitchFamily="49" charset="-122"/>
              </a:rPr>
              <a:t>时，就发送序列 </a:t>
            </a:r>
            <a:r>
              <a:rPr lang="en-US" altLang="zh-CN" sz="2400" smtClean="0">
                <a:solidFill>
                  <a:schemeClr val="hlink"/>
                </a:solidFill>
                <a:latin typeface="Arial" pitchFamily="34" charset="0"/>
                <a:ea typeface="黑体" pitchFamily="49" charset="-122"/>
              </a:rPr>
              <a:t>00011011</a:t>
            </a:r>
            <a:r>
              <a:rPr lang="zh-CN" altLang="en-US" sz="2400" smtClean="0">
                <a:solidFill>
                  <a:schemeClr val="hlink"/>
                </a:solidFill>
                <a:latin typeface="Arial" pitchFamily="34" charset="0"/>
                <a:ea typeface="黑体" pitchFamily="49" charset="-122"/>
              </a:rPr>
              <a:t>，</a:t>
            </a:r>
          </a:p>
          <a:p>
            <a:pPr lvl="1" eaLnBrk="1" hangingPunct="1"/>
            <a:r>
              <a:rPr lang="zh-CN" altLang="en-US" sz="2400" smtClean="0">
                <a:solidFill>
                  <a:schemeClr val="hlink"/>
                </a:solidFill>
                <a:latin typeface="Arial" pitchFamily="34" charset="0"/>
                <a:ea typeface="黑体" pitchFamily="49" charset="-122"/>
              </a:rPr>
              <a:t>发送比特 </a:t>
            </a:r>
            <a:r>
              <a:rPr lang="en-US" altLang="zh-CN" sz="2400" smtClean="0">
                <a:solidFill>
                  <a:schemeClr val="hlink"/>
                </a:solidFill>
                <a:latin typeface="Arial" pitchFamily="34" charset="0"/>
                <a:ea typeface="黑体" pitchFamily="49" charset="-122"/>
              </a:rPr>
              <a:t>0 </a:t>
            </a:r>
            <a:r>
              <a:rPr lang="zh-CN" altLang="en-US" sz="2400" smtClean="0">
                <a:solidFill>
                  <a:schemeClr val="hlink"/>
                </a:solidFill>
                <a:latin typeface="Arial" pitchFamily="34" charset="0"/>
                <a:ea typeface="黑体" pitchFamily="49" charset="-122"/>
              </a:rPr>
              <a:t>时，就发送序列 </a:t>
            </a:r>
            <a:r>
              <a:rPr lang="en-US" altLang="zh-CN" sz="2400" smtClean="0">
                <a:solidFill>
                  <a:schemeClr val="hlink"/>
                </a:solidFill>
                <a:latin typeface="Arial" pitchFamily="34" charset="0"/>
                <a:ea typeface="黑体" pitchFamily="49" charset="-122"/>
              </a:rPr>
              <a:t>11100100</a:t>
            </a:r>
            <a:r>
              <a:rPr lang="zh-CN" altLang="en-US" sz="2400" smtClean="0">
                <a:solidFill>
                  <a:schemeClr val="hlink"/>
                </a:solidFill>
                <a:latin typeface="Arial" pitchFamily="34" charset="0"/>
                <a:ea typeface="黑体" pitchFamily="49" charset="-122"/>
              </a:rPr>
              <a:t>。</a:t>
            </a:r>
          </a:p>
          <a:p>
            <a:pPr lvl="1" eaLnBrk="1" hangingPunct="1"/>
            <a:r>
              <a:rPr lang="zh-CN" altLang="en-US" sz="2400" smtClean="0">
                <a:solidFill>
                  <a:schemeClr val="hlink"/>
                </a:solidFill>
                <a:latin typeface="Arial" pitchFamily="34" charset="0"/>
                <a:ea typeface="黑体" pitchFamily="49" charset="-122"/>
              </a:rPr>
              <a:t>计算时</a:t>
            </a:r>
            <a:r>
              <a:rPr lang="en-US" altLang="zh-CN" sz="2400" smtClean="0">
                <a:solidFill>
                  <a:schemeClr val="hlink"/>
                </a:solidFill>
                <a:latin typeface="Arial" pitchFamily="34" charset="0"/>
                <a:ea typeface="黑体" pitchFamily="49" charset="-122"/>
              </a:rPr>
              <a:t>1</a:t>
            </a:r>
            <a:r>
              <a:rPr lang="zh-CN" altLang="en-US" sz="2400" smtClean="0">
                <a:solidFill>
                  <a:schemeClr val="hlink"/>
                </a:solidFill>
                <a:latin typeface="Arial" pitchFamily="34" charset="0"/>
                <a:ea typeface="黑体" pitchFamily="49" charset="-122"/>
              </a:rPr>
              <a:t>用</a:t>
            </a:r>
            <a:r>
              <a:rPr lang="en-US" altLang="zh-CN" sz="2400" smtClean="0">
                <a:solidFill>
                  <a:schemeClr val="hlink"/>
                </a:solidFill>
                <a:latin typeface="Arial" pitchFamily="34" charset="0"/>
                <a:ea typeface="黑体" pitchFamily="49" charset="-122"/>
              </a:rPr>
              <a:t>+1</a:t>
            </a:r>
            <a:r>
              <a:rPr lang="zh-CN" altLang="en-US" sz="2400" smtClean="0">
                <a:solidFill>
                  <a:schemeClr val="hlink"/>
                </a:solidFill>
                <a:latin typeface="Arial" pitchFamily="34" charset="0"/>
                <a:ea typeface="黑体" pitchFamily="49" charset="-122"/>
              </a:rPr>
              <a:t>表示，</a:t>
            </a:r>
            <a:r>
              <a:rPr lang="en-US" altLang="zh-CN" sz="2400" smtClean="0">
                <a:solidFill>
                  <a:schemeClr val="hlink"/>
                </a:solidFill>
                <a:latin typeface="Arial" pitchFamily="34" charset="0"/>
                <a:ea typeface="黑体" pitchFamily="49" charset="-122"/>
              </a:rPr>
              <a:t>0</a:t>
            </a:r>
            <a:r>
              <a:rPr lang="zh-CN" altLang="en-US" sz="2400" smtClean="0">
                <a:solidFill>
                  <a:schemeClr val="hlink"/>
                </a:solidFill>
                <a:latin typeface="Arial" pitchFamily="34" charset="0"/>
                <a:ea typeface="黑体" pitchFamily="49" charset="-122"/>
              </a:rPr>
              <a:t>用</a:t>
            </a:r>
            <a:r>
              <a:rPr lang="en-US" altLang="zh-CN" sz="2400" smtClean="0">
                <a:solidFill>
                  <a:schemeClr val="hlink"/>
                </a:solidFill>
                <a:latin typeface="Arial" pitchFamily="34" charset="0"/>
                <a:ea typeface="黑体" pitchFamily="49" charset="-122"/>
              </a:rPr>
              <a:t>-1</a:t>
            </a:r>
            <a:r>
              <a:rPr lang="zh-CN" altLang="en-US" sz="2400" smtClean="0">
                <a:solidFill>
                  <a:schemeClr val="hlink"/>
                </a:solidFill>
                <a:latin typeface="Arial" pitchFamily="34" charset="0"/>
                <a:ea typeface="黑体" pitchFamily="49" charset="-122"/>
              </a:rPr>
              <a:t>表示。</a:t>
            </a:r>
          </a:p>
          <a:p>
            <a:pPr eaLnBrk="1" hangingPunct="1"/>
            <a:r>
              <a:rPr lang="en-US" altLang="zh-CN" sz="2800" smtClean="0"/>
              <a:t>S </a:t>
            </a:r>
            <a:r>
              <a:rPr lang="zh-CN" altLang="en-US" sz="2800" smtClean="0"/>
              <a:t>站的码片序列：</a:t>
            </a:r>
            <a:r>
              <a:rPr lang="en-US" altLang="zh-CN" sz="2800" smtClean="0"/>
              <a:t>(–1 –1 –1 +1 +1 –1 +1 +1)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55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1555">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1555">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1555">
                                            <p:txEl>
                                              <p:pRg st="6" end="6"/>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155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150938" y="260350"/>
            <a:ext cx="7793037" cy="1462088"/>
          </a:xfrm>
        </p:spPr>
        <p:txBody>
          <a:bodyPr/>
          <a:lstStyle/>
          <a:p>
            <a:pPr algn="ctr" eaLnBrk="1" hangingPunct="1"/>
            <a:r>
              <a:rPr lang="zh-CN" altLang="en-US" smtClean="0"/>
              <a:t>码片序列的正交关系 </a:t>
            </a:r>
          </a:p>
        </p:txBody>
      </p:sp>
      <p:sp>
        <p:nvSpPr>
          <p:cNvPr id="35843" name="Rectangle 3"/>
          <p:cNvSpPr>
            <a:spLocks noGrp="1" noChangeArrowheads="1"/>
          </p:cNvSpPr>
          <p:nvPr>
            <p:ph type="body" idx="1"/>
          </p:nvPr>
        </p:nvSpPr>
        <p:spPr>
          <a:xfrm>
            <a:off x="539750" y="1917700"/>
            <a:ext cx="8353425" cy="3311525"/>
          </a:xfrm>
        </p:spPr>
        <p:txBody>
          <a:bodyPr/>
          <a:lstStyle/>
          <a:p>
            <a:pPr eaLnBrk="1" hangingPunct="1"/>
            <a:r>
              <a:rPr lang="zh-CN" altLang="en-US" smtClean="0"/>
              <a:t>每个站分配的码片序列不仅必须各不相同，并且还必须互相</a:t>
            </a:r>
            <a:r>
              <a:rPr lang="zh-CN" altLang="en-US" smtClean="0">
                <a:solidFill>
                  <a:schemeClr val="hlink"/>
                </a:solidFill>
              </a:rPr>
              <a:t>正交</a:t>
            </a:r>
            <a:r>
              <a:rPr lang="en-US" altLang="zh-CN" smtClean="0"/>
              <a:t>(orthogonal)</a:t>
            </a:r>
            <a:r>
              <a:rPr lang="zh-CN" altLang="en-US" smtClean="0"/>
              <a:t>。</a:t>
            </a:r>
          </a:p>
          <a:p>
            <a:pPr eaLnBrk="1" hangingPunct="1"/>
            <a:r>
              <a:rPr lang="zh-CN" altLang="en-US" smtClean="0"/>
              <a:t>令向量 </a:t>
            </a:r>
            <a:r>
              <a:rPr lang="en-US" altLang="zh-CN" b="1" smtClean="0"/>
              <a:t>S </a:t>
            </a:r>
            <a:r>
              <a:rPr lang="zh-CN" altLang="en-US" smtClean="0"/>
              <a:t>表示站 </a:t>
            </a:r>
            <a:r>
              <a:rPr lang="en-US" altLang="zh-CN" smtClean="0"/>
              <a:t>S </a:t>
            </a:r>
            <a:r>
              <a:rPr lang="zh-CN" altLang="en-US" smtClean="0"/>
              <a:t>的码片向量，令 </a:t>
            </a:r>
            <a:r>
              <a:rPr lang="en-US" altLang="zh-CN" b="1" smtClean="0"/>
              <a:t>T </a:t>
            </a:r>
            <a:r>
              <a:rPr lang="zh-CN" altLang="en-US" smtClean="0"/>
              <a:t>表示其他任何站的码片向量。 </a:t>
            </a:r>
          </a:p>
          <a:p>
            <a:pPr eaLnBrk="1" hangingPunct="1"/>
            <a:r>
              <a:rPr lang="zh-CN" altLang="en-US" smtClean="0"/>
              <a:t>两个不同站的码片序列正交，就是向量 </a:t>
            </a:r>
            <a:r>
              <a:rPr lang="en-US" altLang="zh-CN" b="1" smtClean="0"/>
              <a:t>S </a:t>
            </a:r>
            <a:r>
              <a:rPr lang="zh-CN" altLang="en-US" smtClean="0"/>
              <a:t>和</a:t>
            </a:r>
            <a:r>
              <a:rPr lang="en-US" altLang="zh-CN" b="1" smtClean="0"/>
              <a:t>T </a:t>
            </a:r>
            <a:r>
              <a:rPr lang="zh-CN" altLang="en-US" smtClean="0"/>
              <a:t>的规格化</a:t>
            </a:r>
            <a:r>
              <a:rPr lang="zh-CN" altLang="en-US" smtClean="0">
                <a:solidFill>
                  <a:schemeClr val="hlink"/>
                </a:solidFill>
              </a:rPr>
              <a:t>内积</a:t>
            </a:r>
            <a:r>
              <a:rPr lang="en-US" altLang="zh-CN" smtClean="0"/>
              <a:t>(inner product)</a:t>
            </a:r>
            <a:r>
              <a:rPr lang="zh-CN" altLang="en-US" smtClean="0"/>
              <a:t>都是 </a:t>
            </a:r>
            <a:r>
              <a:rPr lang="en-US" altLang="zh-CN" smtClean="0"/>
              <a:t>0</a:t>
            </a:r>
            <a:r>
              <a:rPr lang="zh-CN" altLang="en-US" smtClean="0"/>
              <a:t>： </a:t>
            </a:r>
          </a:p>
          <a:p>
            <a:pPr eaLnBrk="1" hangingPunct="1"/>
            <a:endParaRPr lang="en-US" altLang="zh-CN" smtClean="0"/>
          </a:p>
        </p:txBody>
      </p:sp>
      <p:sp>
        <p:nvSpPr>
          <p:cNvPr id="3584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845" name="Rectangle 6"/>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35846" name="Object 7"/>
          <p:cNvGraphicFramePr>
            <a:graphicFrameLocks noChangeAspect="1"/>
          </p:cNvGraphicFramePr>
          <p:nvPr/>
        </p:nvGraphicFramePr>
        <p:xfrm>
          <a:off x="2916238" y="5300663"/>
          <a:ext cx="2916237" cy="979487"/>
        </p:xfrm>
        <a:graphic>
          <a:graphicData uri="http://schemas.openxmlformats.org/presentationml/2006/ole">
            <mc:AlternateContent xmlns:mc="http://schemas.openxmlformats.org/markup-compatibility/2006">
              <mc:Choice xmlns:v="urn:schemas-microsoft-com:vml" Requires="v">
                <p:oleObj spid="_x0000_s35849" name="公式" r:id="rId4" imgW="1282700" imgH="431800" progId="Equation.3">
                  <p:embed/>
                </p:oleObj>
              </mc:Choice>
              <mc:Fallback>
                <p:oleObj name="公式" r:id="rId4" imgW="1282700" imgH="4318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6238" y="5300663"/>
                        <a:ext cx="2916237"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7" name="Text Box 8"/>
          <p:cNvSpPr txBox="1">
            <a:spLocks noChangeArrowheads="1"/>
          </p:cNvSpPr>
          <p:nvPr/>
        </p:nvSpPr>
        <p:spPr bwMode="auto">
          <a:xfrm>
            <a:off x="7308850" y="5373688"/>
            <a:ext cx="9382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en-US" altLang="zh-CN" sz="2800">
                <a:latin typeface="Arial" pitchFamily="34" charset="0"/>
              </a:rPr>
              <a:t>(2-3)</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150938" y="260350"/>
            <a:ext cx="7793037" cy="1462088"/>
          </a:xfrm>
        </p:spPr>
        <p:txBody>
          <a:bodyPr/>
          <a:lstStyle/>
          <a:p>
            <a:pPr algn="ctr" eaLnBrk="1" hangingPunct="1"/>
            <a:r>
              <a:rPr lang="zh-CN" altLang="en-US" smtClean="0"/>
              <a:t>码片序列的正交关系举例 </a:t>
            </a:r>
          </a:p>
        </p:txBody>
      </p:sp>
      <p:sp>
        <p:nvSpPr>
          <p:cNvPr id="153603" name="Rectangle 3"/>
          <p:cNvSpPr>
            <a:spLocks noGrp="1" noChangeArrowheads="1"/>
          </p:cNvSpPr>
          <p:nvPr>
            <p:ph type="body" idx="1"/>
          </p:nvPr>
        </p:nvSpPr>
        <p:spPr>
          <a:xfrm>
            <a:off x="539750" y="1917700"/>
            <a:ext cx="8459788" cy="2374900"/>
          </a:xfrm>
        </p:spPr>
        <p:txBody>
          <a:bodyPr/>
          <a:lstStyle/>
          <a:p>
            <a:pPr eaLnBrk="1" hangingPunct="1"/>
            <a:r>
              <a:rPr lang="zh-CN" altLang="en-US" smtClean="0"/>
              <a:t>令向量 </a:t>
            </a:r>
            <a:r>
              <a:rPr lang="en-US" altLang="zh-CN" b="1" smtClean="0"/>
              <a:t>S </a:t>
            </a:r>
            <a:r>
              <a:rPr lang="zh-CN" altLang="en-US" smtClean="0"/>
              <a:t>为</a:t>
            </a:r>
            <a:r>
              <a:rPr lang="en-US" altLang="zh-CN" smtClean="0"/>
              <a:t>(–1 –1 –1 +1 +1 –1 +1 +1)</a:t>
            </a:r>
            <a:r>
              <a:rPr lang="zh-CN" altLang="en-US" smtClean="0"/>
              <a:t>，向量 </a:t>
            </a:r>
            <a:r>
              <a:rPr lang="en-US" altLang="zh-CN" b="1" smtClean="0"/>
              <a:t>T </a:t>
            </a:r>
            <a:r>
              <a:rPr lang="zh-CN" altLang="en-US" smtClean="0"/>
              <a:t>为</a:t>
            </a:r>
            <a:r>
              <a:rPr lang="en-US" altLang="zh-CN" smtClean="0"/>
              <a:t>(–1 –1 +1 –1 +1 +1 +1 –1)</a:t>
            </a:r>
            <a:r>
              <a:rPr lang="zh-CN" altLang="en-US" smtClean="0"/>
              <a:t>。 </a:t>
            </a:r>
          </a:p>
          <a:p>
            <a:pPr eaLnBrk="1" hangingPunct="1"/>
            <a:r>
              <a:rPr lang="zh-CN" altLang="en-US" smtClean="0"/>
              <a:t>把向量 </a:t>
            </a:r>
            <a:r>
              <a:rPr lang="en-US" altLang="zh-CN" b="1" smtClean="0"/>
              <a:t>S </a:t>
            </a:r>
            <a:r>
              <a:rPr lang="zh-CN" altLang="en-US" smtClean="0"/>
              <a:t>和 </a:t>
            </a:r>
            <a:r>
              <a:rPr lang="en-US" altLang="zh-CN" b="1" smtClean="0"/>
              <a:t>T </a:t>
            </a:r>
            <a:r>
              <a:rPr lang="zh-CN" altLang="en-US" smtClean="0"/>
              <a:t>的各分量值代入</a:t>
            </a:r>
            <a:r>
              <a:rPr lang="en-US" altLang="zh-CN" smtClean="0"/>
              <a:t>(2-3)</a:t>
            </a:r>
            <a:r>
              <a:rPr lang="zh-CN" altLang="en-US" smtClean="0"/>
              <a:t>式就可看出这两个码片序列是正交的。 </a:t>
            </a:r>
          </a:p>
        </p:txBody>
      </p:sp>
      <p:sp>
        <p:nvSpPr>
          <p:cNvPr id="36868"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869" name="Rectangle 16"/>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3"/>
          <p:cNvSpPr>
            <a:spLocks noGrp="1" noChangeArrowheads="1"/>
          </p:cNvSpPr>
          <p:nvPr>
            <p:ph type="body" idx="1"/>
          </p:nvPr>
        </p:nvSpPr>
        <p:spPr>
          <a:xfrm>
            <a:off x="539750" y="1917700"/>
            <a:ext cx="8459788" cy="3816350"/>
          </a:xfrm>
        </p:spPr>
        <p:txBody>
          <a:bodyPr/>
          <a:lstStyle/>
          <a:p>
            <a:pPr eaLnBrk="1" hangingPunct="1">
              <a:lnSpc>
                <a:spcPct val="90000"/>
              </a:lnSpc>
            </a:pPr>
            <a:r>
              <a:rPr lang="zh-CN" altLang="en-US" smtClean="0"/>
              <a:t>任何一个码片向量和该码片向量自己的规格化内积都是</a:t>
            </a:r>
            <a:r>
              <a:rPr lang="en-US" altLang="zh-CN" smtClean="0"/>
              <a:t>1 </a:t>
            </a:r>
            <a:r>
              <a:rPr lang="zh-CN" altLang="en-US" smtClean="0"/>
              <a:t>。</a:t>
            </a:r>
          </a:p>
          <a:p>
            <a:pPr eaLnBrk="1" hangingPunct="1">
              <a:lnSpc>
                <a:spcPct val="90000"/>
              </a:lnSpc>
            </a:pPr>
            <a:endParaRPr lang="zh-CN" altLang="en-US" smtClean="0"/>
          </a:p>
          <a:p>
            <a:pPr eaLnBrk="1" hangingPunct="1">
              <a:lnSpc>
                <a:spcPct val="90000"/>
              </a:lnSpc>
            </a:pPr>
            <a:endParaRPr lang="zh-CN" altLang="en-US" smtClean="0"/>
          </a:p>
          <a:p>
            <a:pPr eaLnBrk="1" hangingPunct="1">
              <a:lnSpc>
                <a:spcPct val="90000"/>
              </a:lnSpc>
            </a:pPr>
            <a:endParaRPr lang="zh-CN" altLang="en-US" smtClean="0"/>
          </a:p>
          <a:p>
            <a:pPr eaLnBrk="1" hangingPunct="1">
              <a:lnSpc>
                <a:spcPct val="90000"/>
              </a:lnSpc>
            </a:pPr>
            <a:r>
              <a:rPr lang="zh-CN" altLang="en-US" smtClean="0"/>
              <a:t>一个码片向量和该码片反码的向量的规格化内积值是 </a:t>
            </a:r>
            <a:r>
              <a:rPr lang="en-US" altLang="zh-CN" smtClean="0"/>
              <a:t>–1</a:t>
            </a:r>
            <a:r>
              <a:rPr lang="zh-CN" altLang="en-US" smtClean="0"/>
              <a:t>。 </a:t>
            </a:r>
          </a:p>
        </p:txBody>
      </p:sp>
      <p:sp>
        <p:nvSpPr>
          <p:cNvPr id="37891" name="Rectangle 2"/>
          <p:cNvSpPr>
            <a:spLocks noGrp="1" noChangeArrowheads="1"/>
          </p:cNvSpPr>
          <p:nvPr>
            <p:ph type="title"/>
          </p:nvPr>
        </p:nvSpPr>
        <p:spPr>
          <a:xfrm>
            <a:off x="1150938" y="260350"/>
            <a:ext cx="7793037" cy="1462088"/>
          </a:xfrm>
        </p:spPr>
        <p:txBody>
          <a:bodyPr/>
          <a:lstStyle/>
          <a:p>
            <a:pPr algn="ctr" eaLnBrk="1" hangingPunct="1"/>
            <a:r>
              <a:rPr lang="zh-CN" altLang="en-US" smtClean="0"/>
              <a:t>正交关系的另一个重要特性 </a:t>
            </a:r>
          </a:p>
        </p:txBody>
      </p:sp>
      <p:sp>
        <p:nvSpPr>
          <p:cNvPr id="3789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7893" name="Rectangle 6"/>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7894"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37895" name="Object 7"/>
          <p:cNvGraphicFramePr>
            <a:graphicFrameLocks noChangeAspect="1"/>
          </p:cNvGraphicFramePr>
          <p:nvPr/>
        </p:nvGraphicFramePr>
        <p:xfrm>
          <a:off x="1008063" y="2997200"/>
          <a:ext cx="7380287" cy="1139825"/>
        </p:xfrm>
        <a:graphic>
          <a:graphicData uri="http://schemas.openxmlformats.org/presentationml/2006/ole">
            <mc:AlternateContent xmlns:mc="http://schemas.openxmlformats.org/markup-compatibility/2006">
              <mc:Choice xmlns:v="urn:schemas-microsoft-com:vml" Requires="v">
                <p:oleObj spid="_x0000_s37897" name="公式" r:id="rId4" imgW="2781300" imgH="431800" progId="Equation.3">
                  <p:embed/>
                </p:oleObj>
              </mc:Choice>
              <mc:Fallback>
                <p:oleObj name="公式" r:id="rId4" imgW="2781300" imgH="4318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8063" y="2997200"/>
                        <a:ext cx="7380287"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6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title"/>
          </p:nvPr>
        </p:nvSpPr>
        <p:spPr/>
        <p:txBody>
          <a:bodyPr/>
          <a:lstStyle/>
          <a:p>
            <a:pPr algn="ctr" eaLnBrk="1" hangingPunct="1"/>
            <a:r>
              <a:rPr lang="en-US" altLang="zh-CN" smtClean="0"/>
              <a:t>CDMA </a:t>
            </a:r>
            <a:r>
              <a:rPr lang="zh-CN" altLang="en-US" smtClean="0"/>
              <a:t>的工作原理 </a:t>
            </a:r>
          </a:p>
        </p:txBody>
      </p:sp>
      <p:sp>
        <p:nvSpPr>
          <p:cNvPr id="38915"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8916" name="Rectangle 6"/>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8917"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8918" name="Line 10"/>
          <p:cNvSpPr>
            <a:spLocks noChangeShapeType="1"/>
          </p:cNvSpPr>
          <p:nvPr/>
        </p:nvSpPr>
        <p:spPr bwMode="auto">
          <a:xfrm>
            <a:off x="3338513" y="2643188"/>
            <a:ext cx="1566862"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9" name="Text Box 11"/>
          <p:cNvSpPr txBox="1">
            <a:spLocks noChangeArrowheads="1"/>
          </p:cNvSpPr>
          <p:nvPr/>
        </p:nvSpPr>
        <p:spPr bwMode="auto">
          <a:xfrm>
            <a:off x="971550" y="2830513"/>
            <a:ext cx="2187575"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85000"/>
              </a:lnSpc>
            </a:pPr>
            <a:r>
              <a:rPr kumimoji="1" lang="en-US" altLang="zh-CN" sz="2000">
                <a:solidFill>
                  <a:srgbClr val="333399"/>
                </a:solidFill>
                <a:latin typeface="Arial" pitchFamily="34" charset="0"/>
                <a:ea typeface="黑体" pitchFamily="49" charset="-122"/>
              </a:rPr>
              <a:t>S </a:t>
            </a:r>
            <a:r>
              <a:rPr kumimoji="1" lang="zh-CN" altLang="en-US" sz="2000">
                <a:solidFill>
                  <a:srgbClr val="333399"/>
                </a:solidFill>
                <a:latin typeface="Arial" pitchFamily="34" charset="0"/>
                <a:ea typeface="黑体" pitchFamily="49" charset="-122"/>
              </a:rPr>
              <a:t>站的码片序列 </a:t>
            </a:r>
            <a:r>
              <a:rPr kumimoji="1" lang="en-US" altLang="zh-CN" sz="2000" b="1">
                <a:solidFill>
                  <a:srgbClr val="333399"/>
                </a:solidFill>
                <a:latin typeface="Arial" pitchFamily="34" charset="0"/>
                <a:ea typeface="黑体" pitchFamily="49" charset="-122"/>
              </a:rPr>
              <a:t>S</a:t>
            </a:r>
          </a:p>
        </p:txBody>
      </p:sp>
      <p:sp>
        <p:nvSpPr>
          <p:cNvPr id="38920" name="Line 12"/>
          <p:cNvSpPr>
            <a:spLocks noChangeShapeType="1"/>
          </p:cNvSpPr>
          <p:nvPr/>
        </p:nvSpPr>
        <p:spPr bwMode="auto">
          <a:xfrm>
            <a:off x="3340100" y="1943100"/>
            <a:ext cx="0" cy="38020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1" name="Line 13"/>
          <p:cNvSpPr>
            <a:spLocks noChangeShapeType="1"/>
          </p:cNvSpPr>
          <p:nvPr/>
        </p:nvSpPr>
        <p:spPr bwMode="auto">
          <a:xfrm>
            <a:off x="4918075" y="1943100"/>
            <a:ext cx="0" cy="37814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2" name="Line 14"/>
          <p:cNvSpPr>
            <a:spLocks noChangeShapeType="1"/>
          </p:cNvSpPr>
          <p:nvPr/>
        </p:nvSpPr>
        <p:spPr bwMode="auto">
          <a:xfrm>
            <a:off x="6496050" y="1943100"/>
            <a:ext cx="0" cy="39290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3" name="Line 15"/>
          <p:cNvSpPr>
            <a:spLocks noChangeShapeType="1"/>
          </p:cNvSpPr>
          <p:nvPr/>
        </p:nvSpPr>
        <p:spPr bwMode="auto">
          <a:xfrm>
            <a:off x="8074025" y="1943100"/>
            <a:ext cx="0" cy="37909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4" name="Freeform 16"/>
          <p:cNvSpPr>
            <a:spLocks/>
          </p:cNvSpPr>
          <p:nvPr/>
        </p:nvSpPr>
        <p:spPr bwMode="auto">
          <a:xfrm>
            <a:off x="3340100" y="2874963"/>
            <a:ext cx="1577975" cy="319087"/>
          </a:xfrm>
          <a:custGeom>
            <a:avLst/>
            <a:gdLst>
              <a:gd name="T0" fmla="*/ 0 w 768"/>
              <a:gd name="T1" fmla="*/ 2147483647 h 196"/>
              <a:gd name="T2" fmla="*/ 0 w 768"/>
              <a:gd name="T3" fmla="*/ 2147483647 h 196"/>
              <a:gd name="T4" fmla="*/ 2147483647 w 768"/>
              <a:gd name="T5" fmla="*/ 2147483647 h 196"/>
              <a:gd name="T6" fmla="*/ 2147483647 w 768"/>
              <a:gd name="T7" fmla="*/ 0 h 196"/>
              <a:gd name="T8" fmla="*/ 2147483647 w 768"/>
              <a:gd name="T9" fmla="*/ 0 h 196"/>
              <a:gd name="T10" fmla="*/ 2147483647 w 768"/>
              <a:gd name="T11" fmla="*/ 2147483647 h 196"/>
              <a:gd name="T12" fmla="*/ 2147483647 w 768"/>
              <a:gd name="T13" fmla="*/ 2147483647 h 196"/>
              <a:gd name="T14" fmla="*/ 2147483647 w 768"/>
              <a:gd name="T15" fmla="*/ 0 h 196"/>
              <a:gd name="T16" fmla="*/ 2147483647 w 768"/>
              <a:gd name="T17" fmla="*/ 0 h 196"/>
              <a:gd name="T18" fmla="*/ 2147483647 w 768"/>
              <a:gd name="T19" fmla="*/ 2147483647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5" name="Freeform 17"/>
          <p:cNvSpPr>
            <a:spLocks/>
          </p:cNvSpPr>
          <p:nvPr/>
        </p:nvSpPr>
        <p:spPr bwMode="auto">
          <a:xfrm>
            <a:off x="4918075" y="2874963"/>
            <a:ext cx="1577975" cy="319087"/>
          </a:xfrm>
          <a:custGeom>
            <a:avLst/>
            <a:gdLst>
              <a:gd name="T0" fmla="*/ 0 w 768"/>
              <a:gd name="T1" fmla="*/ 2147483647 h 196"/>
              <a:gd name="T2" fmla="*/ 0 w 768"/>
              <a:gd name="T3" fmla="*/ 2147483647 h 196"/>
              <a:gd name="T4" fmla="*/ 2147483647 w 768"/>
              <a:gd name="T5" fmla="*/ 2147483647 h 196"/>
              <a:gd name="T6" fmla="*/ 2147483647 w 768"/>
              <a:gd name="T7" fmla="*/ 0 h 196"/>
              <a:gd name="T8" fmla="*/ 2147483647 w 768"/>
              <a:gd name="T9" fmla="*/ 0 h 196"/>
              <a:gd name="T10" fmla="*/ 2147483647 w 768"/>
              <a:gd name="T11" fmla="*/ 2147483647 h 196"/>
              <a:gd name="T12" fmla="*/ 2147483647 w 768"/>
              <a:gd name="T13" fmla="*/ 2147483647 h 196"/>
              <a:gd name="T14" fmla="*/ 2147483647 w 768"/>
              <a:gd name="T15" fmla="*/ 0 h 196"/>
              <a:gd name="T16" fmla="*/ 2147483647 w 768"/>
              <a:gd name="T17" fmla="*/ 0 h 196"/>
              <a:gd name="T18" fmla="*/ 2147483647 w 768"/>
              <a:gd name="T19" fmla="*/ 2147483647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6" name="Freeform 18"/>
          <p:cNvSpPr>
            <a:spLocks/>
          </p:cNvSpPr>
          <p:nvPr/>
        </p:nvSpPr>
        <p:spPr bwMode="auto">
          <a:xfrm>
            <a:off x="3340100" y="3965575"/>
            <a:ext cx="1577975" cy="311150"/>
          </a:xfrm>
          <a:custGeom>
            <a:avLst/>
            <a:gdLst>
              <a:gd name="T0" fmla="*/ 0 w 768"/>
              <a:gd name="T1" fmla="*/ 2147483647 h 192"/>
              <a:gd name="T2" fmla="*/ 0 w 768"/>
              <a:gd name="T3" fmla="*/ 2147483647 h 192"/>
              <a:gd name="T4" fmla="*/ 2147483647 w 768"/>
              <a:gd name="T5" fmla="*/ 2147483647 h 192"/>
              <a:gd name="T6" fmla="*/ 2147483647 w 768"/>
              <a:gd name="T7" fmla="*/ 0 h 192"/>
              <a:gd name="T8" fmla="*/ 2147483647 w 768"/>
              <a:gd name="T9" fmla="*/ 0 h 192"/>
              <a:gd name="T10" fmla="*/ 2147483647 w 768"/>
              <a:gd name="T11" fmla="*/ 2147483647 h 192"/>
              <a:gd name="T12" fmla="*/ 2147483647 w 768"/>
              <a:gd name="T13" fmla="*/ 2147483647 h 192"/>
              <a:gd name="T14" fmla="*/ 2147483647 w 768"/>
              <a:gd name="T15" fmla="*/ 0 h 192"/>
              <a:gd name="T16" fmla="*/ 2147483647 w 768"/>
              <a:gd name="T17" fmla="*/ 0 h 192"/>
              <a:gd name="T18" fmla="*/ 2147483647 w 768"/>
              <a:gd name="T19" fmla="*/ 2147483647 h 192"/>
              <a:gd name="T20" fmla="*/ 2147483647 w 768"/>
              <a:gd name="T21" fmla="*/ 2147483647 h 192"/>
              <a:gd name="T22" fmla="*/ 2147483647 w 768"/>
              <a:gd name="T23" fmla="*/ 2147483647 h 1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00FF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7" name="Freeform 19"/>
          <p:cNvSpPr>
            <a:spLocks/>
          </p:cNvSpPr>
          <p:nvPr/>
        </p:nvSpPr>
        <p:spPr bwMode="auto">
          <a:xfrm>
            <a:off x="4918075" y="3965575"/>
            <a:ext cx="1577975" cy="311150"/>
          </a:xfrm>
          <a:custGeom>
            <a:avLst/>
            <a:gdLst>
              <a:gd name="T0" fmla="*/ 0 w 768"/>
              <a:gd name="T1" fmla="*/ 2147483647 h 192"/>
              <a:gd name="T2" fmla="*/ 0 w 768"/>
              <a:gd name="T3" fmla="*/ 2147483647 h 192"/>
              <a:gd name="T4" fmla="*/ 2147483647 w 768"/>
              <a:gd name="T5" fmla="*/ 2147483647 h 192"/>
              <a:gd name="T6" fmla="*/ 2147483647 w 768"/>
              <a:gd name="T7" fmla="*/ 0 h 192"/>
              <a:gd name="T8" fmla="*/ 2147483647 w 768"/>
              <a:gd name="T9" fmla="*/ 0 h 192"/>
              <a:gd name="T10" fmla="*/ 2147483647 w 768"/>
              <a:gd name="T11" fmla="*/ 2147483647 h 192"/>
              <a:gd name="T12" fmla="*/ 2147483647 w 768"/>
              <a:gd name="T13" fmla="*/ 2147483647 h 192"/>
              <a:gd name="T14" fmla="*/ 2147483647 w 768"/>
              <a:gd name="T15" fmla="*/ 0 h 192"/>
              <a:gd name="T16" fmla="*/ 2147483647 w 768"/>
              <a:gd name="T17" fmla="*/ 0 h 192"/>
              <a:gd name="T18" fmla="*/ 2147483647 w 768"/>
              <a:gd name="T19" fmla="*/ 2147483647 h 192"/>
              <a:gd name="T20" fmla="*/ 2147483647 w 768"/>
              <a:gd name="T21" fmla="*/ 2147483647 h 192"/>
              <a:gd name="T22" fmla="*/ 2147483647 w 768"/>
              <a:gd name="T23" fmla="*/ 2147483647 h 1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00FF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8" name="Freeform 20"/>
          <p:cNvSpPr>
            <a:spLocks/>
          </p:cNvSpPr>
          <p:nvPr/>
        </p:nvSpPr>
        <p:spPr bwMode="auto">
          <a:xfrm flipV="1">
            <a:off x="6496050" y="3965575"/>
            <a:ext cx="1577975" cy="311150"/>
          </a:xfrm>
          <a:custGeom>
            <a:avLst/>
            <a:gdLst>
              <a:gd name="T0" fmla="*/ 0 w 768"/>
              <a:gd name="T1" fmla="*/ 2147483647 h 192"/>
              <a:gd name="T2" fmla="*/ 0 w 768"/>
              <a:gd name="T3" fmla="*/ 2147483647 h 192"/>
              <a:gd name="T4" fmla="*/ 2147483647 w 768"/>
              <a:gd name="T5" fmla="*/ 2147483647 h 192"/>
              <a:gd name="T6" fmla="*/ 2147483647 w 768"/>
              <a:gd name="T7" fmla="*/ 0 h 192"/>
              <a:gd name="T8" fmla="*/ 2147483647 w 768"/>
              <a:gd name="T9" fmla="*/ 0 h 192"/>
              <a:gd name="T10" fmla="*/ 2147483647 w 768"/>
              <a:gd name="T11" fmla="*/ 2147483647 h 192"/>
              <a:gd name="T12" fmla="*/ 2147483647 w 768"/>
              <a:gd name="T13" fmla="*/ 2147483647 h 192"/>
              <a:gd name="T14" fmla="*/ 2147483647 w 768"/>
              <a:gd name="T15" fmla="*/ 0 h 192"/>
              <a:gd name="T16" fmla="*/ 2147483647 w 768"/>
              <a:gd name="T17" fmla="*/ 0 h 192"/>
              <a:gd name="T18" fmla="*/ 2147483647 w 768"/>
              <a:gd name="T19" fmla="*/ 2147483647 h 192"/>
              <a:gd name="T20" fmla="*/ 2147483647 w 768"/>
              <a:gd name="T21" fmla="*/ 2147483647 h 192"/>
              <a:gd name="T22" fmla="*/ 2147483647 w 768"/>
              <a:gd name="T23" fmla="*/ 2147483647 h 1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CCECFF"/>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9" name="Freeform 21"/>
          <p:cNvSpPr>
            <a:spLocks/>
          </p:cNvSpPr>
          <p:nvPr/>
        </p:nvSpPr>
        <p:spPr bwMode="auto">
          <a:xfrm>
            <a:off x="3340100" y="5738813"/>
            <a:ext cx="1577975" cy="312737"/>
          </a:xfrm>
          <a:custGeom>
            <a:avLst/>
            <a:gdLst>
              <a:gd name="T0" fmla="*/ 0 w 768"/>
              <a:gd name="T1" fmla="*/ 2147483647 h 192"/>
              <a:gd name="T2" fmla="*/ 0 w 768"/>
              <a:gd name="T3" fmla="*/ 0 h 192"/>
              <a:gd name="T4" fmla="*/ 2147483647 w 768"/>
              <a:gd name="T5" fmla="*/ 0 h 192"/>
              <a:gd name="T6" fmla="*/ 2147483647 w 768"/>
              <a:gd name="T7" fmla="*/ 2147483647 h 192"/>
              <a:gd name="T8" fmla="*/ 2147483647 w 768"/>
              <a:gd name="T9" fmla="*/ 2147483647 h 192"/>
              <a:gd name="T10" fmla="*/ 2147483647 w 768"/>
              <a:gd name="T11" fmla="*/ 0 h 192"/>
              <a:gd name="T12" fmla="*/ 2147483647 w 768"/>
              <a:gd name="T13" fmla="*/ 0 h 192"/>
              <a:gd name="T14" fmla="*/ 2147483647 w 768"/>
              <a:gd name="T15" fmla="*/ 2147483647 h 192"/>
              <a:gd name="T16" fmla="*/ 2147483647 w 768"/>
              <a:gd name="T17" fmla="*/ 2147483647 h 192"/>
              <a:gd name="T18" fmla="*/ 2147483647 w 768"/>
              <a:gd name="T19" fmla="*/ 0 h 192"/>
              <a:gd name="T20" fmla="*/ 2147483647 w 768"/>
              <a:gd name="T21" fmla="*/ 0 h 192"/>
              <a:gd name="T22" fmla="*/ 2147483647 w 768"/>
              <a:gd name="T23" fmla="*/ 2147483647 h 192"/>
              <a:gd name="T24" fmla="*/ 2147483647 w 768"/>
              <a:gd name="T25" fmla="*/ 2147483647 h 192"/>
              <a:gd name="T26" fmla="*/ 2147483647 w 768"/>
              <a:gd name="T27" fmla="*/ 2147483647 h 1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8080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30" name="Freeform 22"/>
          <p:cNvSpPr>
            <a:spLocks/>
          </p:cNvSpPr>
          <p:nvPr/>
        </p:nvSpPr>
        <p:spPr bwMode="auto">
          <a:xfrm>
            <a:off x="4918075" y="5738813"/>
            <a:ext cx="1577975" cy="312737"/>
          </a:xfrm>
          <a:custGeom>
            <a:avLst/>
            <a:gdLst>
              <a:gd name="T0" fmla="*/ 0 w 768"/>
              <a:gd name="T1" fmla="*/ 2147483647 h 192"/>
              <a:gd name="T2" fmla="*/ 0 w 768"/>
              <a:gd name="T3" fmla="*/ 0 h 192"/>
              <a:gd name="T4" fmla="*/ 2147483647 w 768"/>
              <a:gd name="T5" fmla="*/ 0 h 192"/>
              <a:gd name="T6" fmla="*/ 2147483647 w 768"/>
              <a:gd name="T7" fmla="*/ 2147483647 h 192"/>
              <a:gd name="T8" fmla="*/ 2147483647 w 768"/>
              <a:gd name="T9" fmla="*/ 2147483647 h 192"/>
              <a:gd name="T10" fmla="*/ 2147483647 w 768"/>
              <a:gd name="T11" fmla="*/ 0 h 192"/>
              <a:gd name="T12" fmla="*/ 2147483647 w 768"/>
              <a:gd name="T13" fmla="*/ 0 h 192"/>
              <a:gd name="T14" fmla="*/ 2147483647 w 768"/>
              <a:gd name="T15" fmla="*/ 2147483647 h 192"/>
              <a:gd name="T16" fmla="*/ 2147483647 w 768"/>
              <a:gd name="T17" fmla="*/ 2147483647 h 192"/>
              <a:gd name="T18" fmla="*/ 2147483647 w 768"/>
              <a:gd name="T19" fmla="*/ 0 h 192"/>
              <a:gd name="T20" fmla="*/ 2147483647 w 768"/>
              <a:gd name="T21" fmla="*/ 0 h 192"/>
              <a:gd name="T22" fmla="*/ 2147483647 w 768"/>
              <a:gd name="T23" fmla="*/ 2147483647 h 192"/>
              <a:gd name="T24" fmla="*/ 2147483647 w 768"/>
              <a:gd name="T25" fmla="*/ 2147483647 h 192"/>
              <a:gd name="T26" fmla="*/ 2147483647 w 768"/>
              <a:gd name="T27" fmla="*/ 2147483647 h 1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8080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31" name="Freeform 23"/>
          <p:cNvSpPr>
            <a:spLocks/>
          </p:cNvSpPr>
          <p:nvPr/>
        </p:nvSpPr>
        <p:spPr bwMode="auto">
          <a:xfrm flipV="1">
            <a:off x="6496050" y="5738813"/>
            <a:ext cx="1577975" cy="312737"/>
          </a:xfrm>
          <a:custGeom>
            <a:avLst/>
            <a:gdLst>
              <a:gd name="T0" fmla="*/ 0 w 768"/>
              <a:gd name="T1" fmla="*/ 2147483647 h 192"/>
              <a:gd name="T2" fmla="*/ 0 w 768"/>
              <a:gd name="T3" fmla="*/ 0 h 192"/>
              <a:gd name="T4" fmla="*/ 2147483647 w 768"/>
              <a:gd name="T5" fmla="*/ 0 h 192"/>
              <a:gd name="T6" fmla="*/ 2147483647 w 768"/>
              <a:gd name="T7" fmla="*/ 2147483647 h 192"/>
              <a:gd name="T8" fmla="*/ 2147483647 w 768"/>
              <a:gd name="T9" fmla="*/ 2147483647 h 192"/>
              <a:gd name="T10" fmla="*/ 2147483647 w 768"/>
              <a:gd name="T11" fmla="*/ 0 h 192"/>
              <a:gd name="T12" fmla="*/ 2147483647 w 768"/>
              <a:gd name="T13" fmla="*/ 0 h 192"/>
              <a:gd name="T14" fmla="*/ 2147483647 w 768"/>
              <a:gd name="T15" fmla="*/ 2147483647 h 192"/>
              <a:gd name="T16" fmla="*/ 2147483647 w 768"/>
              <a:gd name="T17" fmla="*/ 2147483647 h 192"/>
              <a:gd name="T18" fmla="*/ 2147483647 w 768"/>
              <a:gd name="T19" fmla="*/ 0 h 192"/>
              <a:gd name="T20" fmla="*/ 2147483647 w 768"/>
              <a:gd name="T21" fmla="*/ 0 h 192"/>
              <a:gd name="T22" fmla="*/ 2147483647 w 768"/>
              <a:gd name="T23" fmla="*/ 2147483647 h 192"/>
              <a:gd name="T24" fmla="*/ 2147483647 w 768"/>
              <a:gd name="T25" fmla="*/ 2147483647 h 192"/>
              <a:gd name="T26" fmla="*/ 2147483647 w 768"/>
              <a:gd name="T27" fmla="*/ 2147483647 h 19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FF99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32" name="Freeform 24"/>
          <p:cNvSpPr>
            <a:spLocks/>
          </p:cNvSpPr>
          <p:nvPr/>
        </p:nvSpPr>
        <p:spPr bwMode="auto">
          <a:xfrm>
            <a:off x="3340100" y="5210175"/>
            <a:ext cx="4733925" cy="314325"/>
          </a:xfrm>
          <a:custGeom>
            <a:avLst/>
            <a:gdLst>
              <a:gd name="T0" fmla="*/ 0 w 2827"/>
              <a:gd name="T1" fmla="*/ 2147483647 h 194"/>
              <a:gd name="T2" fmla="*/ 0 w 2827"/>
              <a:gd name="T3" fmla="*/ 0 h 194"/>
              <a:gd name="T4" fmla="*/ 2147483647 w 2827"/>
              <a:gd name="T5" fmla="*/ 2147483647 h 194"/>
              <a:gd name="T6" fmla="*/ 2147483647 w 2827"/>
              <a:gd name="T7" fmla="*/ 2147483647 h 194"/>
              <a:gd name="T8" fmla="*/ 2147483647 w 2827"/>
              <a:gd name="T9" fmla="*/ 2147483647 h 194"/>
              <a:gd name="T10" fmla="*/ 2147483647 w 2827"/>
              <a:gd name="T11" fmla="*/ 2147483647 h 1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27" h="194">
                <a:moveTo>
                  <a:pt x="0" y="96"/>
                </a:moveTo>
                <a:lnTo>
                  <a:pt x="0" y="0"/>
                </a:lnTo>
                <a:lnTo>
                  <a:pt x="1886" y="2"/>
                </a:lnTo>
                <a:lnTo>
                  <a:pt x="1886" y="194"/>
                </a:lnTo>
                <a:lnTo>
                  <a:pt x="2826" y="192"/>
                </a:lnTo>
                <a:lnTo>
                  <a:pt x="2827" y="96"/>
                </a:lnTo>
              </a:path>
            </a:pathLst>
          </a:custGeom>
          <a:solidFill>
            <a:srgbClr val="FFFF66"/>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33" name="Freeform 25"/>
          <p:cNvSpPr>
            <a:spLocks/>
          </p:cNvSpPr>
          <p:nvPr/>
        </p:nvSpPr>
        <p:spPr bwMode="auto">
          <a:xfrm>
            <a:off x="3340100" y="2174875"/>
            <a:ext cx="4733925" cy="312738"/>
          </a:xfrm>
          <a:custGeom>
            <a:avLst/>
            <a:gdLst>
              <a:gd name="T0" fmla="*/ 0 w 2304"/>
              <a:gd name="T1" fmla="*/ 2147483647 h 192"/>
              <a:gd name="T2" fmla="*/ 0 w 2304"/>
              <a:gd name="T3" fmla="*/ 0 h 192"/>
              <a:gd name="T4" fmla="*/ 2147483647 w 2304"/>
              <a:gd name="T5" fmla="*/ 0 h 192"/>
              <a:gd name="T6" fmla="*/ 2147483647 w 2304"/>
              <a:gd name="T7" fmla="*/ 2147483647 h 192"/>
              <a:gd name="T8" fmla="*/ 2147483647 w 2304"/>
              <a:gd name="T9" fmla="*/ 2147483647 h 192"/>
              <a:gd name="T10" fmla="*/ 2147483647 w 2304"/>
              <a:gd name="T11" fmla="*/ 2147483647 h 19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04" h="192">
                <a:moveTo>
                  <a:pt x="0" y="96"/>
                </a:moveTo>
                <a:lnTo>
                  <a:pt x="0" y="0"/>
                </a:lnTo>
                <a:lnTo>
                  <a:pt x="1536" y="0"/>
                </a:lnTo>
                <a:lnTo>
                  <a:pt x="1536" y="192"/>
                </a:lnTo>
                <a:lnTo>
                  <a:pt x="2304" y="192"/>
                </a:lnTo>
                <a:lnTo>
                  <a:pt x="2304" y="96"/>
                </a:lnTo>
              </a:path>
            </a:pathLst>
          </a:custGeom>
          <a:solidFill>
            <a:srgbClr val="FFFF66"/>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34" name="Line 26"/>
          <p:cNvSpPr>
            <a:spLocks noChangeShapeType="1"/>
          </p:cNvSpPr>
          <p:nvPr/>
        </p:nvSpPr>
        <p:spPr bwMode="auto">
          <a:xfrm>
            <a:off x="4918075" y="2058988"/>
            <a:ext cx="0" cy="1555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35" name="Text Box 27"/>
          <p:cNvSpPr txBox="1">
            <a:spLocks noChangeArrowheads="1"/>
          </p:cNvSpPr>
          <p:nvPr/>
        </p:nvSpPr>
        <p:spPr bwMode="auto">
          <a:xfrm>
            <a:off x="3933825" y="1844675"/>
            <a:ext cx="325438"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1</a:t>
            </a:r>
          </a:p>
        </p:txBody>
      </p:sp>
      <p:sp>
        <p:nvSpPr>
          <p:cNvPr id="38936" name="Line 28"/>
          <p:cNvSpPr>
            <a:spLocks noChangeShapeType="1"/>
          </p:cNvSpPr>
          <p:nvPr/>
        </p:nvSpPr>
        <p:spPr bwMode="auto">
          <a:xfrm>
            <a:off x="3184525" y="4119563"/>
            <a:ext cx="5284788"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37" name="Line 29"/>
          <p:cNvSpPr>
            <a:spLocks noChangeShapeType="1"/>
          </p:cNvSpPr>
          <p:nvPr/>
        </p:nvSpPr>
        <p:spPr bwMode="auto">
          <a:xfrm>
            <a:off x="3184525" y="5365750"/>
            <a:ext cx="5284788"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38" name="Line 30"/>
          <p:cNvSpPr>
            <a:spLocks noChangeShapeType="1"/>
          </p:cNvSpPr>
          <p:nvPr/>
        </p:nvSpPr>
        <p:spPr bwMode="auto">
          <a:xfrm flipV="1">
            <a:off x="3184525" y="5895975"/>
            <a:ext cx="5284788" cy="14288"/>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39" name="Freeform 31"/>
          <p:cNvSpPr>
            <a:spLocks/>
          </p:cNvSpPr>
          <p:nvPr/>
        </p:nvSpPr>
        <p:spPr bwMode="auto">
          <a:xfrm>
            <a:off x="3340100" y="4432300"/>
            <a:ext cx="1577975" cy="622300"/>
          </a:xfrm>
          <a:custGeom>
            <a:avLst/>
            <a:gdLst>
              <a:gd name="T0" fmla="*/ 0 w 768"/>
              <a:gd name="T1" fmla="*/ 2147483647 h 384"/>
              <a:gd name="T2" fmla="*/ 0 w 768"/>
              <a:gd name="T3" fmla="*/ 2147483647 h 384"/>
              <a:gd name="T4" fmla="*/ 2147483647 w 768"/>
              <a:gd name="T5" fmla="*/ 2147483647 h 384"/>
              <a:gd name="T6" fmla="*/ 2147483647 w 768"/>
              <a:gd name="T7" fmla="*/ 2147483647 h 384"/>
              <a:gd name="T8" fmla="*/ 2147483647 w 768"/>
              <a:gd name="T9" fmla="*/ 2147483647 h 384"/>
              <a:gd name="T10" fmla="*/ 2147483647 w 768"/>
              <a:gd name="T11" fmla="*/ 0 h 384"/>
              <a:gd name="T12" fmla="*/ 2147483647 w 768"/>
              <a:gd name="T13" fmla="*/ 0 h 384"/>
              <a:gd name="T14" fmla="*/ 2147483647 w 768"/>
              <a:gd name="T15" fmla="*/ 2147483647 h 384"/>
              <a:gd name="T16" fmla="*/ 2147483647 w 768"/>
              <a:gd name="T17" fmla="*/ 2147483647 h 384"/>
              <a:gd name="T18" fmla="*/ 2147483647 w 768"/>
              <a:gd name="T19" fmla="*/ 0 h 384"/>
              <a:gd name="T20" fmla="*/ 2147483647 w 768"/>
              <a:gd name="T21" fmla="*/ 0 h 384"/>
              <a:gd name="T22" fmla="*/ 2147483647 w 768"/>
              <a:gd name="T23" fmla="*/ 2147483647 h 384"/>
              <a:gd name="T24" fmla="*/ 2147483647 w 768"/>
              <a:gd name="T25" fmla="*/ 2147483647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660033"/>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40" name="Freeform 32"/>
          <p:cNvSpPr>
            <a:spLocks/>
          </p:cNvSpPr>
          <p:nvPr/>
        </p:nvSpPr>
        <p:spPr bwMode="auto">
          <a:xfrm>
            <a:off x="4918075" y="4432300"/>
            <a:ext cx="1577975" cy="622300"/>
          </a:xfrm>
          <a:custGeom>
            <a:avLst/>
            <a:gdLst>
              <a:gd name="T0" fmla="*/ 0 w 768"/>
              <a:gd name="T1" fmla="*/ 2147483647 h 384"/>
              <a:gd name="T2" fmla="*/ 0 w 768"/>
              <a:gd name="T3" fmla="*/ 2147483647 h 384"/>
              <a:gd name="T4" fmla="*/ 2147483647 w 768"/>
              <a:gd name="T5" fmla="*/ 2147483647 h 384"/>
              <a:gd name="T6" fmla="*/ 2147483647 w 768"/>
              <a:gd name="T7" fmla="*/ 2147483647 h 384"/>
              <a:gd name="T8" fmla="*/ 2147483647 w 768"/>
              <a:gd name="T9" fmla="*/ 2147483647 h 384"/>
              <a:gd name="T10" fmla="*/ 2147483647 w 768"/>
              <a:gd name="T11" fmla="*/ 0 h 384"/>
              <a:gd name="T12" fmla="*/ 2147483647 w 768"/>
              <a:gd name="T13" fmla="*/ 0 h 384"/>
              <a:gd name="T14" fmla="*/ 2147483647 w 768"/>
              <a:gd name="T15" fmla="*/ 2147483647 h 384"/>
              <a:gd name="T16" fmla="*/ 2147483647 w 768"/>
              <a:gd name="T17" fmla="*/ 2147483647 h 384"/>
              <a:gd name="T18" fmla="*/ 2147483647 w 768"/>
              <a:gd name="T19" fmla="*/ 0 h 384"/>
              <a:gd name="T20" fmla="*/ 2147483647 w 768"/>
              <a:gd name="T21" fmla="*/ 0 h 384"/>
              <a:gd name="T22" fmla="*/ 2147483647 w 768"/>
              <a:gd name="T23" fmla="*/ 2147483647 h 384"/>
              <a:gd name="T24" fmla="*/ 2147483647 w 768"/>
              <a:gd name="T25" fmla="*/ 2147483647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660033"/>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41" name="Freeform 33"/>
          <p:cNvSpPr>
            <a:spLocks/>
          </p:cNvSpPr>
          <p:nvPr/>
        </p:nvSpPr>
        <p:spPr bwMode="auto">
          <a:xfrm flipV="1">
            <a:off x="6496050" y="4432300"/>
            <a:ext cx="1577975" cy="622300"/>
          </a:xfrm>
          <a:custGeom>
            <a:avLst/>
            <a:gdLst>
              <a:gd name="T0" fmla="*/ 0 w 768"/>
              <a:gd name="T1" fmla="*/ 2147483647 h 384"/>
              <a:gd name="T2" fmla="*/ 0 w 768"/>
              <a:gd name="T3" fmla="*/ 2147483647 h 384"/>
              <a:gd name="T4" fmla="*/ 2147483647 w 768"/>
              <a:gd name="T5" fmla="*/ 2147483647 h 384"/>
              <a:gd name="T6" fmla="*/ 2147483647 w 768"/>
              <a:gd name="T7" fmla="*/ 2147483647 h 384"/>
              <a:gd name="T8" fmla="*/ 2147483647 w 768"/>
              <a:gd name="T9" fmla="*/ 2147483647 h 384"/>
              <a:gd name="T10" fmla="*/ 2147483647 w 768"/>
              <a:gd name="T11" fmla="*/ 0 h 384"/>
              <a:gd name="T12" fmla="*/ 2147483647 w 768"/>
              <a:gd name="T13" fmla="*/ 0 h 384"/>
              <a:gd name="T14" fmla="*/ 2147483647 w 768"/>
              <a:gd name="T15" fmla="*/ 2147483647 h 384"/>
              <a:gd name="T16" fmla="*/ 2147483647 w 768"/>
              <a:gd name="T17" fmla="*/ 2147483647 h 384"/>
              <a:gd name="T18" fmla="*/ 2147483647 w 768"/>
              <a:gd name="T19" fmla="*/ 0 h 384"/>
              <a:gd name="T20" fmla="*/ 2147483647 w 768"/>
              <a:gd name="T21" fmla="*/ 0 h 384"/>
              <a:gd name="T22" fmla="*/ 2147483647 w 768"/>
              <a:gd name="T23" fmla="*/ 2147483647 h 384"/>
              <a:gd name="T24" fmla="*/ 2147483647 w 768"/>
              <a:gd name="T25" fmla="*/ 2147483647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CC00FF"/>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42" name="Line 34"/>
          <p:cNvSpPr>
            <a:spLocks noChangeShapeType="1"/>
          </p:cNvSpPr>
          <p:nvPr/>
        </p:nvSpPr>
        <p:spPr bwMode="auto">
          <a:xfrm>
            <a:off x="3184525" y="4741863"/>
            <a:ext cx="5284788"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43" name="Line 35"/>
          <p:cNvSpPr>
            <a:spLocks noChangeShapeType="1"/>
          </p:cNvSpPr>
          <p:nvPr/>
        </p:nvSpPr>
        <p:spPr bwMode="auto">
          <a:xfrm>
            <a:off x="3205163" y="2332038"/>
            <a:ext cx="526415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44" name="Text Box 36"/>
          <p:cNvSpPr txBox="1">
            <a:spLocks noChangeArrowheads="1"/>
          </p:cNvSpPr>
          <p:nvPr/>
        </p:nvSpPr>
        <p:spPr bwMode="auto">
          <a:xfrm>
            <a:off x="5521325" y="1844675"/>
            <a:ext cx="325438"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1</a:t>
            </a:r>
          </a:p>
        </p:txBody>
      </p:sp>
      <p:sp>
        <p:nvSpPr>
          <p:cNvPr id="38945" name="Text Box 37"/>
          <p:cNvSpPr txBox="1">
            <a:spLocks noChangeArrowheads="1"/>
          </p:cNvSpPr>
          <p:nvPr/>
        </p:nvSpPr>
        <p:spPr bwMode="auto">
          <a:xfrm>
            <a:off x="7104063" y="1844675"/>
            <a:ext cx="325437"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0</a:t>
            </a:r>
          </a:p>
        </p:txBody>
      </p:sp>
      <p:sp>
        <p:nvSpPr>
          <p:cNvPr id="38946" name="Text Box 38"/>
          <p:cNvSpPr txBox="1">
            <a:spLocks noChangeArrowheads="1"/>
          </p:cNvSpPr>
          <p:nvPr/>
        </p:nvSpPr>
        <p:spPr bwMode="auto">
          <a:xfrm>
            <a:off x="8470900" y="2073275"/>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8947" name="Text Box 39"/>
          <p:cNvSpPr txBox="1">
            <a:spLocks noChangeArrowheads="1"/>
          </p:cNvSpPr>
          <p:nvPr/>
        </p:nvSpPr>
        <p:spPr bwMode="auto">
          <a:xfrm>
            <a:off x="8470900" y="2786063"/>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8948" name="Text Box 40"/>
          <p:cNvSpPr txBox="1">
            <a:spLocks noChangeArrowheads="1"/>
          </p:cNvSpPr>
          <p:nvPr/>
        </p:nvSpPr>
        <p:spPr bwMode="auto">
          <a:xfrm>
            <a:off x="8470900" y="3890963"/>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8949" name="Text Box 41"/>
          <p:cNvSpPr txBox="1">
            <a:spLocks noChangeArrowheads="1"/>
          </p:cNvSpPr>
          <p:nvPr/>
        </p:nvSpPr>
        <p:spPr bwMode="auto">
          <a:xfrm>
            <a:off x="8470900" y="4498975"/>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8950" name="Text Box 42"/>
          <p:cNvSpPr txBox="1">
            <a:spLocks noChangeArrowheads="1"/>
          </p:cNvSpPr>
          <p:nvPr/>
        </p:nvSpPr>
        <p:spPr bwMode="auto">
          <a:xfrm>
            <a:off x="8470900" y="5121275"/>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8951" name="Text Box 43"/>
          <p:cNvSpPr txBox="1">
            <a:spLocks noChangeArrowheads="1"/>
          </p:cNvSpPr>
          <p:nvPr/>
        </p:nvSpPr>
        <p:spPr bwMode="auto">
          <a:xfrm>
            <a:off x="8470900" y="5649913"/>
            <a:ext cx="25400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8952" name="Rectangle 44"/>
          <p:cNvSpPr>
            <a:spLocks noChangeArrowheads="1"/>
          </p:cNvSpPr>
          <p:nvPr/>
        </p:nvSpPr>
        <p:spPr bwMode="auto">
          <a:xfrm>
            <a:off x="3606800" y="2487613"/>
            <a:ext cx="1057275" cy="2730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53" name="Text Box 45"/>
          <p:cNvSpPr txBox="1">
            <a:spLocks noChangeArrowheads="1"/>
          </p:cNvSpPr>
          <p:nvPr/>
        </p:nvSpPr>
        <p:spPr bwMode="auto">
          <a:xfrm>
            <a:off x="3595688" y="2390775"/>
            <a:ext cx="122555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i="1">
                <a:solidFill>
                  <a:srgbClr val="333399"/>
                </a:solidFill>
                <a:latin typeface="Arial" pitchFamily="34" charset="0"/>
                <a:ea typeface="黑体" pitchFamily="49" charset="-122"/>
              </a:rPr>
              <a:t>m</a:t>
            </a:r>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个码片</a:t>
            </a:r>
          </a:p>
        </p:txBody>
      </p:sp>
      <p:sp>
        <p:nvSpPr>
          <p:cNvPr id="38954" name="Freeform 46"/>
          <p:cNvSpPr>
            <a:spLocks/>
          </p:cNvSpPr>
          <p:nvPr/>
        </p:nvSpPr>
        <p:spPr bwMode="auto">
          <a:xfrm>
            <a:off x="3340100" y="3414713"/>
            <a:ext cx="1577975" cy="317500"/>
          </a:xfrm>
          <a:custGeom>
            <a:avLst/>
            <a:gdLst>
              <a:gd name="T0" fmla="*/ 0 w 768"/>
              <a:gd name="T1" fmla="*/ 2147483647 h 196"/>
              <a:gd name="T2" fmla="*/ 0 w 768"/>
              <a:gd name="T3" fmla="*/ 2147483647 h 196"/>
              <a:gd name="T4" fmla="*/ 2147483647 w 768"/>
              <a:gd name="T5" fmla="*/ 2147483647 h 196"/>
              <a:gd name="T6" fmla="*/ 2147483647 w 768"/>
              <a:gd name="T7" fmla="*/ 0 h 196"/>
              <a:gd name="T8" fmla="*/ 2147483647 w 768"/>
              <a:gd name="T9" fmla="*/ 0 h 196"/>
              <a:gd name="T10" fmla="*/ 2147483647 w 768"/>
              <a:gd name="T11" fmla="*/ 2147483647 h 196"/>
              <a:gd name="T12" fmla="*/ 2147483647 w 768"/>
              <a:gd name="T13" fmla="*/ 2147483647 h 196"/>
              <a:gd name="T14" fmla="*/ 2147483647 w 768"/>
              <a:gd name="T15" fmla="*/ 0 h 196"/>
              <a:gd name="T16" fmla="*/ 2147483647 w 768"/>
              <a:gd name="T17" fmla="*/ 0 h 196"/>
              <a:gd name="T18" fmla="*/ 2147483647 w 768"/>
              <a:gd name="T19" fmla="*/ 2147483647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55" name="Freeform 47"/>
          <p:cNvSpPr>
            <a:spLocks/>
          </p:cNvSpPr>
          <p:nvPr/>
        </p:nvSpPr>
        <p:spPr bwMode="auto">
          <a:xfrm>
            <a:off x="4918075" y="3414713"/>
            <a:ext cx="1577975" cy="317500"/>
          </a:xfrm>
          <a:custGeom>
            <a:avLst/>
            <a:gdLst>
              <a:gd name="T0" fmla="*/ 0 w 768"/>
              <a:gd name="T1" fmla="*/ 2147483647 h 196"/>
              <a:gd name="T2" fmla="*/ 0 w 768"/>
              <a:gd name="T3" fmla="*/ 2147483647 h 196"/>
              <a:gd name="T4" fmla="*/ 2147483647 w 768"/>
              <a:gd name="T5" fmla="*/ 2147483647 h 196"/>
              <a:gd name="T6" fmla="*/ 2147483647 w 768"/>
              <a:gd name="T7" fmla="*/ 0 h 196"/>
              <a:gd name="T8" fmla="*/ 2147483647 w 768"/>
              <a:gd name="T9" fmla="*/ 0 h 196"/>
              <a:gd name="T10" fmla="*/ 2147483647 w 768"/>
              <a:gd name="T11" fmla="*/ 2147483647 h 196"/>
              <a:gd name="T12" fmla="*/ 2147483647 w 768"/>
              <a:gd name="T13" fmla="*/ 2147483647 h 196"/>
              <a:gd name="T14" fmla="*/ 2147483647 w 768"/>
              <a:gd name="T15" fmla="*/ 0 h 196"/>
              <a:gd name="T16" fmla="*/ 2147483647 w 768"/>
              <a:gd name="T17" fmla="*/ 0 h 196"/>
              <a:gd name="T18" fmla="*/ 2147483647 w 768"/>
              <a:gd name="T19" fmla="*/ 2147483647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56" name="Freeform 48"/>
          <p:cNvSpPr>
            <a:spLocks/>
          </p:cNvSpPr>
          <p:nvPr/>
        </p:nvSpPr>
        <p:spPr bwMode="auto">
          <a:xfrm flipV="1">
            <a:off x="6496050" y="3414713"/>
            <a:ext cx="1577975" cy="317500"/>
          </a:xfrm>
          <a:custGeom>
            <a:avLst/>
            <a:gdLst>
              <a:gd name="T0" fmla="*/ 0 w 768"/>
              <a:gd name="T1" fmla="*/ 2147483647 h 196"/>
              <a:gd name="T2" fmla="*/ 0 w 768"/>
              <a:gd name="T3" fmla="*/ 2147483647 h 196"/>
              <a:gd name="T4" fmla="*/ 2147483647 w 768"/>
              <a:gd name="T5" fmla="*/ 2147483647 h 196"/>
              <a:gd name="T6" fmla="*/ 2147483647 w 768"/>
              <a:gd name="T7" fmla="*/ 0 h 196"/>
              <a:gd name="T8" fmla="*/ 2147483647 w 768"/>
              <a:gd name="T9" fmla="*/ 0 h 196"/>
              <a:gd name="T10" fmla="*/ 2147483647 w 768"/>
              <a:gd name="T11" fmla="*/ 2147483647 h 196"/>
              <a:gd name="T12" fmla="*/ 2147483647 w 768"/>
              <a:gd name="T13" fmla="*/ 2147483647 h 196"/>
              <a:gd name="T14" fmla="*/ 2147483647 w 768"/>
              <a:gd name="T15" fmla="*/ 0 h 196"/>
              <a:gd name="T16" fmla="*/ 2147483647 w 768"/>
              <a:gd name="T17" fmla="*/ 0 h 196"/>
              <a:gd name="T18" fmla="*/ 2147483647 w 768"/>
              <a:gd name="T19" fmla="*/ 2147483647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rgbClr val="FF9999"/>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57" name="Line 49"/>
          <p:cNvSpPr>
            <a:spLocks noChangeShapeType="1"/>
          </p:cNvSpPr>
          <p:nvPr/>
        </p:nvSpPr>
        <p:spPr bwMode="auto">
          <a:xfrm flipV="1">
            <a:off x="3184525" y="3570288"/>
            <a:ext cx="5284788" cy="635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58" name="Text Box 50"/>
          <p:cNvSpPr txBox="1">
            <a:spLocks noChangeArrowheads="1"/>
          </p:cNvSpPr>
          <p:nvPr/>
        </p:nvSpPr>
        <p:spPr bwMode="auto">
          <a:xfrm>
            <a:off x="8470900" y="3322638"/>
            <a:ext cx="25400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a:t>
            </a:r>
          </a:p>
        </p:txBody>
      </p:sp>
      <p:sp>
        <p:nvSpPr>
          <p:cNvPr id="38959" name="Freeform 51"/>
          <p:cNvSpPr>
            <a:spLocks/>
          </p:cNvSpPr>
          <p:nvPr/>
        </p:nvSpPr>
        <p:spPr bwMode="auto">
          <a:xfrm>
            <a:off x="6500813" y="2874963"/>
            <a:ext cx="1577975" cy="319087"/>
          </a:xfrm>
          <a:custGeom>
            <a:avLst/>
            <a:gdLst>
              <a:gd name="T0" fmla="*/ 0 w 768"/>
              <a:gd name="T1" fmla="*/ 2147483647 h 196"/>
              <a:gd name="T2" fmla="*/ 0 w 768"/>
              <a:gd name="T3" fmla="*/ 2147483647 h 196"/>
              <a:gd name="T4" fmla="*/ 2147483647 w 768"/>
              <a:gd name="T5" fmla="*/ 2147483647 h 196"/>
              <a:gd name="T6" fmla="*/ 2147483647 w 768"/>
              <a:gd name="T7" fmla="*/ 0 h 196"/>
              <a:gd name="T8" fmla="*/ 2147483647 w 768"/>
              <a:gd name="T9" fmla="*/ 0 h 196"/>
              <a:gd name="T10" fmla="*/ 2147483647 w 768"/>
              <a:gd name="T11" fmla="*/ 2147483647 h 196"/>
              <a:gd name="T12" fmla="*/ 2147483647 w 768"/>
              <a:gd name="T13" fmla="*/ 2147483647 h 196"/>
              <a:gd name="T14" fmla="*/ 2147483647 w 768"/>
              <a:gd name="T15" fmla="*/ 0 h 196"/>
              <a:gd name="T16" fmla="*/ 2147483647 w 768"/>
              <a:gd name="T17" fmla="*/ 0 h 196"/>
              <a:gd name="T18" fmla="*/ 2147483647 w 768"/>
              <a:gd name="T19" fmla="*/ 2147483647 h 1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60" name="Line 52"/>
          <p:cNvSpPr>
            <a:spLocks noChangeShapeType="1"/>
          </p:cNvSpPr>
          <p:nvPr/>
        </p:nvSpPr>
        <p:spPr bwMode="auto">
          <a:xfrm>
            <a:off x="3205163" y="3032125"/>
            <a:ext cx="526415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61" name="Text Box 53"/>
          <p:cNvSpPr txBox="1">
            <a:spLocks noChangeArrowheads="1"/>
          </p:cNvSpPr>
          <p:nvPr/>
        </p:nvSpPr>
        <p:spPr bwMode="auto">
          <a:xfrm>
            <a:off x="971550" y="3309938"/>
            <a:ext cx="227965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S </a:t>
            </a:r>
            <a:r>
              <a:rPr kumimoji="1" lang="zh-CN" altLang="en-US" sz="2000">
                <a:solidFill>
                  <a:srgbClr val="333399"/>
                </a:solidFill>
                <a:latin typeface="Arial" pitchFamily="34" charset="0"/>
                <a:ea typeface="黑体" pitchFamily="49" charset="-122"/>
              </a:rPr>
              <a:t>站发送的信号 </a:t>
            </a:r>
            <a:r>
              <a:rPr kumimoji="1" lang="en-US" altLang="zh-CN" sz="2000" b="1">
                <a:solidFill>
                  <a:srgbClr val="333399"/>
                </a:solidFill>
                <a:latin typeface="Arial" pitchFamily="34" charset="0"/>
                <a:ea typeface="黑体" pitchFamily="49" charset="-122"/>
              </a:rPr>
              <a:t>S</a:t>
            </a:r>
            <a:r>
              <a:rPr kumimoji="1" lang="en-US" altLang="zh-CN" sz="2000" b="1" baseline="-25000">
                <a:solidFill>
                  <a:srgbClr val="333399"/>
                </a:solidFill>
                <a:latin typeface="Arial" pitchFamily="34" charset="0"/>
                <a:ea typeface="黑体" pitchFamily="49" charset="-122"/>
              </a:rPr>
              <a:t>x</a:t>
            </a:r>
          </a:p>
        </p:txBody>
      </p:sp>
      <p:sp>
        <p:nvSpPr>
          <p:cNvPr id="38962" name="Text Box 54"/>
          <p:cNvSpPr txBox="1">
            <a:spLocks noChangeArrowheads="1"/>
          </p:cNvSpPr>
          <p:nvPr/>
        </p:nvSpPr>
        <p:spPr bwMode="auto">
          <a:xfrm>
            <a:off x="971550" y="3860800"/>
            <a:ext cx="2251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T </a:t>
            </a:r>
            <a:r>
              <a:rPr kumimoji="1" lang="zh-CN" altLang="en-US" sz="2000">
                <a:solidFill>
                  <a:srgbClr val="333399"/>
                </a:solidFill>
                <a:latin typeface="Arial" pitchFamily="34" charset="0"/>
                <a:ea typeface="黑体" pitchFamily="49" charset="-122"/>
              </a:rPr>
              <a:t>站发送的信号 </a:t>
            </a:r>
            <a:r>
              <a:rPr kumimoji="1" lang="en-US" altLang="zh-CN" sz="2000" b="1">
                <a:solidFill>
                  <a:srgbClr val="333399"/>
                </a:solidFill>
                <a:latin typeface="Arial" pitchFamily="34" charset="0"/>
                <a:ea typeface="黑体" pitchFamily="49" charset="-122"/>
              </a:rPr>
              <a:t>T</a:t>
            </a:r>
            <a:r>
              <a:rPr kumimoji="1" lang="en-US" altLang="zh-CN" sz="2000" b="1" baseline="-25000">
                <a:solidFill>
                  <a:srgbClr val="333399"/>
                </a:solidFill>
                <a:latin typeface="Arial" pitchFamily="34" charset="0"/>
                <a:ea typeface="黑体" pitchFamily="49" charset="-122"/>
              </a:rPr>
              <a:t>x</a:t>
            </a:r>
          </a:p>
        </p:txBody>
      </p:sp>
      <p:sp>
        <p:nvSpPr>
          <p:cNvPr id="38963" name="Text Box 55"/>
          <p:cNvSpPr txBox="1">
            <a:spLocks noChangeArrowheads="1"/>
          </p:cNvSpPr>
          <p:nvPr/>
        </p:nvSpPr>
        <p:spPr bwMode="auto">
          <a:xfrm>
            <a:off x="684213" y="4498975"/>
            <a:ext cx="25749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总的发送信号 </a:t>
            </a:r>
            <a:r>
              <a:rPr kumimoji="1" lang="en-US" altLang="zh-CN" sz="2000" b="1">
                <a:solidFill>
                  <a:srgbClr val="333399"/>
                </a:solidFill>
                <a:latin typeface="Arial" pitchFamily="34" charset="0"/>
                <a:ea typeface="黑体" pitchFamily="49" charset="-122"/>
              </a:rPr>
              <a:t>S</a:t>
            </a:r>
            <a:r>
              <a:rPr kumimoji="1" lang="en-US" altLang="zh-CN" sz="2000" b="1" baseline="-25000">
                <a:solidFill>
                  <a:srgbClr val="333399"/>
                </a:solidFill>
                <a:latin typeface="Arial" pitchFamily="34" charset="0"/>
                <a:ea typeface="黑体" pitchFamily="49" charset="-122"/>
              </a:rPr>
              <a:t>x</a:t>
            </a:r>
            <a:r>
              <a:rPr kumimoji="1" lang="en-US" altLang="zh-CN" sz="2000">
                <a:solidFill>
                  <a:srgbClr val="333399"/>
                </a:solidFill>
                <a:latin typeface="Arial" pitchFamily="34" charset="0"/>
                <a:ea typeface="黑体" pitchFamily="49" charset="-122"/>
              </a:rPr>
              <a:t> + </a:t>
            </a:r>
            <a:r>
              <a:rPr kumimoji="1" lang="en-US" altLang="zh-CN" sz="2000" b="1">
                <a:solidFill>
                  <a:srgbClr val="333399"/>
                </a:solidFill>
                <a:latin typeface="Arial" pitchFamily="34" charset="0"/>
                <a:ea typeface="黑体" pitchFamily="49" charset="-122"/>
              </a:rPr>
              <a:t>T</a:t>
            </a:r>
            <a:r>
              <a:rPr kumimoji="1" lang="en-US" altLang="zh-CN" sz="2000" b="1" baseline="-25000">
                <a:solidFill>
                  <a:srgbClr val="333399"/>
                </a:solidFill>
                <a:latin typeface="Arial" pitchFamily="34" charset="0"/>
                <a:ea typeface="黑体" pitchFamily="49" charset="-122"/>
              </a:rPr>
              <a:t>x</a:t>
            </a:r>
          </a:p>
        </p:txBody>
      </p:sp>
      <p:sp>
        <p:nvSpPr>
          <p:cNvPr id="38964" name="Text Box 56"/>
          <p:cNvSpPr txBox="1">
            <a:spLocks noChangeArrowheads="1"/>
          </p:cNvSpPr>
          <p:nvPr/>
        </p:nvSpPr>
        <p:spPr bwMode="auto">
          <a:xfrm>
            <a:off x="1042988" y="5119688"/>
            <a:ext cx="22113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规格化内积 </a:t>
            </a:r>
            <a:r>
              <a:rPr kumimoji="1" lang="en-US" altLang="zh-CN" sz="2000" b="1">
                <a:solidFill>
                  <a:srgbClr val="333399"/>
                </a:solidFill>
                <a:latin typeface="Arial" pitchFamily="34" charset="0"/>
                <a:ea typeface="黑体" pitchFamily="49" charset="-122"/>
              </a:rPr>
              <a:t>S</a:t>
            </a:r>
            <a:r>
              <a:rPr kumimoji="1" lang="en-US" altLang="zh-CN" sz="2000">
                <a:solidFill>
                  <a:srgbClr val="333399"/>
                </a:solidFill>
                <a:latin typeface="Arial" pitchFamily="34" charset="0"/>
                <a:ea typeface="黑体" pitchFamily="49" charset="-122"/>
                <a:sym typeface="Symbol" pitchFamily="18" charset="2"/>
              </a:rPr>
              <a:t> </a:t>
            </a:r>
            <a:r>
              <a:rPr kumimoji="1" lang="en-US" altLang="zh-CN" sz="2000">
                <a:solidFill>
                  <a:srgbClr val="333399"/>
                </a:solidFill>
                <a:latin typeface="Arial" pitchFamily="34" charset="0"/>
                <a:ea typeface="黑体" pitchFamily="49" charset="-122"/>
                <a:sym typeface="Wingdings" pitchFamily="2" charset="2"/>
              </a:rPr>
              <a:t> </a:t>
            </a:r>
            <a:r>
              <a:rPr kumimoji="1" lang="en-US" altLang="zh-CN" sz="2000" b="1">
                <a:solidFill>
                  <a:srgbClr val="333399"/>
                </a:solidFill>
                <a:latin typeface="Arial" pitchFamily="34" charset="0"/>
                <a:ea typeface="黑体" pitchFamily="49" charset="-122"/>
              </a:rPr>
              <a:t>S</a:t>
            </a:r>
            <a:r>
              <a:rPr kumimoji="1" lang="en-US" altLang="zh-CN" sz="2000" b="1" baseline="-25000">
                <a:solidFill>
                  <a:srgbClr val="333399"/>
                </a:solidFill>
                <a:latin typeface="Arial" pitchFamily="34" charset="0"/>
                <a:ea typeface="黑体" pitchFamily="49" charset="-122"/>
              </a:rPr>
              <a:t>x</a:t>
            </a:r>
          </a:p>
        </p:txBody>
      </p:sp>
      <p:sp>
        <p:nvSpPr>
          <p:cNvPr id="38965" name="Text Box 57"/>
          <p:cNvSpPr txBox="1">
            <a:spLocks noChangeArrowheads="1"/>
          </p:cNvSpPr>
          <p:nvPr/>
        </p:nvSpPr>
        <p:spPr bwMode="auto">
          <a:xfrm>
            <a:off x="1042988" y="5651500"/>
            <a:ext cx="2197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规格化内积 </a:t>
            </a:r>
            <a:r>
              <a:rPr kumimoji="1" lang="en-US" altLang="zh-CN" sz="2000" b="1">
                <a:solidFill>
                  <a:srgbClr val="333399"/>
                </a:solidFill>
                <a:latin typeface="Arial" pitchFamily="34" charset="0"/>
                <a:ea typeface="黑体" pitchFamily="49" charset="-122"/>
              </a:rPr>
              <a:t>S</a:t>
            </a:r>
            <a:r>
              <a:rPr kumimoji="1" lang="en-US" altLang="zh-CN" sz="2000">
                <a:solidFill>
                  <a:srgbClr val="333399"/>
                </a:solidFill>
                <a:latin typeface="Arial" pitchFamily="34" charset="0"/>
                <a:ea typeface="黑体" pitchFamily="49" charset="-122"/>
                <a:sym typeface="Symbol" pitchFamily="18" charset="2"/>
              </a:rPr>
              <a:t> </a:t>
            </a:r>
            <a:r>
              <a:rPr kumimoji="1" lang="en-US" altLang="zh-CN" sz="2000">
                <a:solidFill>
                  <a:srgbClr val="333399"/>
                </a:solidFill>
                <a:latin typeface="Arial" pitchFamily="34" charset="0"/>
                <a:ea typeface="黑体" pitchFamily="49" charset="-122"/>
                <a:sym typeface="Wingdings" pitchFamily="2" charset="2"/>
              </a:rPr>
              <a:t> </a:t>
            </a:r>
            <a:r>
              <a:rPr kumimoji="1" lang="en-US" altLang="zh-CN" sz="2000" b="1">
                <a:solidFill>
                  <a:srgbClr val="333399"/>
                </a:solidFill>
                <a:latin typeface="Arial" pitchFamily="34" charset="0"/>
                <a:ea typeface="黑体" pitchFamily="49" charset="-122"/>
              </a:rPr>
              <a:t>T</a:t>
            </a:r>
            <a:r>
              <a:rPr kumimoji="1" lang="en-US" altLang="zh-CN" sz="2000" b="1" baseline="-25000">
                <a:solidFill>
                  <a:srgbClr val="333399"/>
                </a:solidFill>
                <a:latin typeface="Arial" pitchFamily="34" charset="0"/>
                <a:ea typeface="黑体" pitchFamily="49" charset="-122"/>
              </a:rPr>
              <a:t>x</a:t>
            </a:r>
          </a:p>
        </p:txBody>
      </p:sp>
      <p:sp>
        <p:nvSpPr>
          <p:cNvPr id="38966" name="Line 58"/>
          <p:cNvSpPr>
            <a:spLocks noChangeShapeType="1"/>
          </p:cNvSpPr>
          <p:nvPr/>
        </p:nvSpPr>
        <p:spPr bwMode="auto">
          <a:xfrm>
            <a:off x="6259513" y="5365750"/>
            <a:ext cx="21701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67" name="Text Box 59"/>
          <p:cNvSpPr txBox="1">
            <a:spLocks noChangeArrowheads="1"/>
          </p:cNvSpPr>
          <p:nvPr/>
        </p:nvSpPr>
        <p:spPr bwMode="auto">
          <a:xfrm>
            <a:off x="1409700" y="1981200"/>
            <a:ext cx="17081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数据码元比特</a:t>
            </a:r>
          </a:p>
        </p:txBody>
      </p:sp>
      <p:sp>
        <p:nvSpPr>
          <p:cNvPr id="38968" name="Text Box 60"/>
          <p:cNvSpPr txBox="1">
            <a:spLocks noChangeArrowheads="1"/>
          </p:cNvSpPr>
          <p:nvPr/>
        </p:nvSpPr>
        <p:spPr bwMode="auto">
          <a:xfrm>
            <a:off x="246063" y="3068638"/>
            <a:ext cx="4381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发</a:t>
            </a:r>
          </a:p>
          <a:p>
            <a:pPr algn="l" eaLnBrk="1" hangingPunct="1"/>
            <a:r>
              <a:rPr kumimoji="1" lang="zh-CN" altLang="en-US" sz="2000">
                <a:solidFill>
                  <a:srgbClr val="333399"/>
                </a:solidFill>
                <a:latin typeface="Arial" pitchFamily="34" charset="0"/>
                <a:ea typeface="黑体" pitchFamily="49" charset="-122"/>
              </a:rPr>
              <a:t>送</a:t>
            </a:r>
          </a:p>
          <a:p>
            <a:pPr algn="l" eaLnBrk="1" hangingPunct="1"/>
            <a:r>
              <a:rPr kumimoji="1" lang="zh-CN" altLang="en-US" sz="2000">
                <a:solidFill>
                  <a:srgbClr val="333399"/>
                </a:solidFill>
                <a:latin typeface="Arial" pitchFamily="34" charset="0"/>
                <a:ea typeface="黑体" pitchFamily="49" charset="-122"/>
              </a:rPr>
              <a:t>端</a:t>
            </a:r>
          </a:p>
        </p:txBody>
      </p:sp>
      <p:sp>
        <p:nvSpPr>
          <p:cNvPr id="38969" name="Text Box 61"/>
          <p:cNvSpPr txBox="1">
            <a:spLocks noChangeArrowheads="1"/>
          </p:cNvSpPr>
          <p:nvPr/>
        </p:nvSpPr>
        <p:spPr bwMode="auto">
          <a:xfrm>
            <a:off x="388938" y="5084763"/>
            <a:ext cx="4381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a:r>
              <a:rPr kumimoji="1" lang="zh-CN" altLang="en-US" sz="2000">
                <a:solidFill>
                  <a:srgbClr val="333399"/>
                </a:solidFill>
                <a:latin typeface="Arial" pitchFamily="34" charset="0"/>
                <a:ea typeface="黑体" pitchFamily="49" charset="-122"/>
              </a:rPr>
              <a:t>接</a:t>
            </a:r>
          </a:p>
          <a:p>
            <a:pPr algn="l"/>
            <a:r>
              <a:rPr kumimoji="1" lang="zh-CN" altLang="en-US" sz="2000">
                <a:solidFill>
                  <a:srgbClr val="333399"/>
                </a:solidFill>
                <a:latin typeface="Arial" pitchFamily="34" charset="0"/>
                <a:ea typeface="黑体" pitchFamily="49" charset="-122"/>
              </a:rPr>
              <a:t>收</a:t>
            </a:r>
          </a:p>
          <a:p>
            <a:pPr algn="l"/>
            <a:r>
              <a:rPr kumimoji="1" lang="zh-CN" altLang="en-US" sz="2000">
                <a:solidFill>
                  <a:srgbClr val="333399"/>
                </a:solidFill>
                <a:latin typeface="Arial" pitchFamily="34" charset="0"/>
                <a:ea typeface="黑体" pitchFamily="49" charset="-122"/>
              </a:rPr>
              <a:t>端</a:t>
            </a:r>
          </a:p>
        </p:txBody>
      </p:sp>
      <p:sp>
        <p:nvSpPr>
          <p:cNvPr id="38970" name="AutoShape 62"/>
          <p:cNvSpPr>
            <a:spLocks/>
          </p:cNvSpPr>
          <p:nvPr/>
        </p:nvSpPr>
        <p:spPr bwMode="auto">
          <a:xfrm>
            <a:off x="684213" y="2060575"/>
            <a:ext cx="144462" cy="3024188"/>
          </a:xfrm>
          <a:prstGeom prst="leftBracket">
            <a:avLst>
              <a:gd name="adj" fmla="val 174451"/>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71" name="AutoShape 63"/>
          <p:cNvSpPr>
            <a:spLocks/>
          </p:cNvSpPr>
          <p:nvPr/>
        </p:nvSpPr>
        <p:spPr bwMode="auto">
          <a:xfrm>
            <a:off x="900113" y="5229225"/>
            <a:ext cx="77787" cy="792163"/>
          </a:xfrm>
          <a:prstGeom prst="leftBracket">
            <a:avLst>
              <a:gd name="adj" fmla="val 84865"/>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72" name="Freeform 66"/>
          <p:cNvSpPr>
            <a:spLocks/>
          </p:cNvSpPr>
          <p:nvPr/>
        </p:nvSpPr>
        <p:spPr bwMode="auto">
          <a:xfrm>
            <a:off x="3276600" y="6092825"/>
            <a:ext cx="1582738" cy="215900"/>
          </a:xfrm>
          <a:custGeom>
            <a:avLst/>
            <a:gdLst>
              <a:gd name="T0" fmla="*/ 0 w 997"/>
              <a:gd name="T1" fmla="*/ 0 h 136"/>
              <a:gd name="T2" fmla="*/ 2147483647 w 997"/>
              <a:gd name="T3" fmla="*/ 2147483647 h 136"/>
              <a:gd name="T4" fmla="*/ 2147483647 w 997"/>
              <a:gd name="T5" fmla="*/ 0 h 136"/>
              <a:gd name="T6" fmla="*/ 0 60000 65536"/>
              <a:gd name="T7" fmla="*/ 0 60000 65536"/>
              <a:gd name="T8" fmla="*/ 0 60000 65536"/>
            </a:gdLst>
            <a:ahLst/>
            <a:cxnLst>
              <a:cxn ang="T6">
                <a:pos x="T0" y="T1"/>
              </a:cxn>
              <a:cxn ang="T7">
                <a:pos x="T2" y="T3"/>
              </a:cxn>
              <a:cxn ang="T8">
                <a:pos x="T4" y="T5"/>
              </a:cxn>
            </a:cxnLst>
            <a:rect l="0" t="0" r="r" b="b"/>
            <a:pathLst>
              <a:path w="997" h="136">
                <a:moveTo>
                  <a:pt x="0" y="0"/>
                </a:moveTo>
                <a:cubicBezTo>
                  <a:pt x="166" y="68"/>
                  <a:pt x="332" y="136"/>
                  <a:pt x="498" y="136"/>
                </a:cubicBezTo>
                <a:cubicBezTo>
                  <a:pt x="664" y="136"/>
                  <a:pt x="914" y="23"/>
                  <a:pt x="997" y="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8973" name="Object 68"/>
          <p:cNvGraphicFramePr>
            <a:graphicFrameLocks noGrp="1" noChangeAspect="1"/>
          </p:cNvGraphicFramePr>
          <p:nvPr>
            <p:ph idx="1"/>
          </p:nvPr>
        </p:nvGraphicFramePr>
        <p:xfrm>
          <a:off x="3419475" y="6308725"/>
          <a:ext cx="1584325" cy="431800"/>
        </p:xfrm>
        <a:graphic>
          <a:graphicData uri="http://schemas.openxmlformats.org/presentationml/2006/ole">
            <mc:AlternateContent xmlns:mc="http://schemas.openxmlformats.org/markup-compatibility/2006">
              <mc:Choice xmlns:v="urn:schemas-microsoft-com:vml" Requires="v">
                <p:oleObj spid="_x0000_s38975" name="公式" r:id="rId4" imgW="1282700" imgH="431800" progId="Equation.3">
                  <p:embed/>
                </p:oleObj>
              </mc:Choice>
              <mc:Fallback>
                <p:oleObj name="公式" r:id="rId4" imgW="1282700" imgH="431800" progId="Equation.3">
                  <p:embed/>
                  <p:pic>
                    <p:nvPicPr>
                      <p:cNvPr id="0" name="Object 6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475" y="6308725"/>
                        <a:ext cx="15843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150938" y="214313"/>
            <a:ext cx="7597775" cy="1462087"/>
          </a:xfrm>
        </p:spPr>
        <p:txBody>
          <a:bodyPr/>
          <a:lstStyle/>
          <a:p>
            <a:pPr algn="ctr" eaLnBrk="1" hangingPunct="1"/>
            <a:r>
              <a:rPr lang="en-US" altLang="zh-CN" sz="4000" smtClean="0"/>
              <a:t>2.5  </a:t>
            </a:r>
            <a:r>
              <a:rPr lang="zh-CN" altLang="en-US" sz="4000" smtClean="0"/>
              <a:t>数字传输系统</a:t>
            </a:r>
            <a:r>
              <a:rPr lang="zh-CN" altLang="en-US" smtClean="0"/>
              <a:t/>
            </a:r>
            <a:br>
              <a:rPr lang="zh-CN" altLang="en-US" smtClean="0"/>
            </a:br>
            <a:r>
              <a:rPr lang="en-US" altLang="zh-CN" sz="3600" smtClean="0"/>
              <a:t>1.  </a:t>
            </a:r>
            <a:r>
              <a:rPr lang="zh-CN" altLang="en-US" sz="3600" smtClean="0"/>
              <a:t>脉码调制 </a:t>
            </a:r>
            <a:r>
              <a:rPr lang="en-US" altLang="zh-CN" sz="3600" smtClean="0"/>
              <a:t>PCM </a:t>
            </a:r>
            <a:r>
              <a:rPr lang="zh-CN" altLang="en-US" sz="3600" smtClean="0"/>
              <a:t>体制</a:t>
            </a:r>
            <a:r>
              <a:rPr lang="zh-CN" altLang="en-US" smtClean="0"/>
              <a:t> </a:t>
            </a:r>
          </a:p>
        </p:txBody>
      </p:sp>
      <p:sp>
        <p:nvSpPr>
          <p:cNvPr id="39939" name="Rectangle 3"/>
          <p:cNvSpPr>
            <a:spLocks noGrp="1" noChangeArrowheads="1"/>
          </p:cNvSpPr>
          <p:nvPr>
            <p:ph type="body" idx="1"/>
          </p:nvPr>
        </p:nvSpPr>
        <p:spPr>
          <a:xfrm>
            <a:off x="539750" y="1773238"/>
            <a:ext cx="8388350" cy="5084762"/>
          </a:xfrm>
        </p:spPr>
        <p:txBody>
          <a:bodyPr/>
          <a:lstStyle/>
          <a:p>
            <a:pPr eaLnBrk="1" hangingPunct="1"/>
            <a:r>
              <a:rPr lang="zh-CN" altLang="en-US" sz="2800" smtClean="0"/>
              <a:t>脉码调制 </a:t>
            </a:r>
            <a:r>
              <a:rPr lang="en-US" altLang="zh-CN" sz="2800" smtClean="0"/>
              <a:t>PCM </a:t>
            </a:r>
            <a:r>
              <a:rPr lang="zh-CN" altLang="en-US" sz="2800" smtClean="0"/>
              <a:t>体制最初是为了在电话局之间的中继线上传送多路的电话。</a:t>
            </a:r>
          </a:p>
          <a:p>
            <a:pPr eaLnBrk="1" hangingPunct="1"/>
            <a:r>
              <a:rPr lang="zh-CN" altLang="en-US" sz="2800" smtClean="0"/>
              <a:t>由于历史上的原因，</a:t>
            </a:r>
            <a:r>
              <a:rPr lang="en-US" altLang="zh-CN" sz="2800" smtClean="0"/>
              <a:t>PCM </a:t>
            </a:r>
            <a:r>
              <a:rPr lang="zh-CN" altLang="en-US" sz="2800" smtClean="0"/>
              <a:t>有两个互不兼容的国际标准，即北美的 </a:t>
            </a:r>
            <a:r>
              <a:rPr lang="en-US" altLang="zh-CN" sz="2800" smtClean="0"/>
              <a:t>24 </a:t>
            </a:r>
            <a:r>
              <a:rPr lang="zh-CN" altLang="en-US" sz="2800" smtClean="0"/>
              <a:t>路 </a:t>
            </a:r>
            <a:r>
              <a:rPr lang="en-US" altLang="zh-CN" sz="2800" smtClean="0"/>
              <a:t>PCM</a:t>
            </a:r>
            <a:r>
              <a:rPr lang="zh-CN" altLang="en-US" sz="2800" smtClean="0"/>
              <a:t>（简称为 </a:t>
            </a:r>
            <a:r>
              <a:rPr lang="en-US" altLang="zh-CN" sz="2800" smtClean="0"/>
              <a:t>T1</a:t>
            </a:r>
            <a:r>
              <a:rPr lang="zh-CN" altLang="en-US" sz="2800" smtClean="0"/>
              <a:t>）和欧洲的 </a:t>
            </a:r>
            <a:r>
              <a:rPr lang="en-US" altLang="zh-CN" sz="2800" smtClean="0"/>
              <a:t>30 </a:t>
            </a:r>
            <a:r>
              <a:rPr lang="zh-CN" altLang="en-US" sz="2800" smtClean="0"/>
              <a:t>路 </a:t>
            </a:r>
            <a:r>
              <a:rPr lang="en-US" altLang="zh-CN" sz="2800" smtClean="0"/>
              <a:t>PCM</a:t>
            </a:r>
            <a:r>
              <a:rPr lang="zh-CN" altLang="en-US" sz="2800" smtClean="0"/>
              <a:t>（简称为 </a:t>
            </a:r>
            <a:r>
              <a:rPr lang="en-US" altLang="zh-CN" sz="2800" smtClean="0"/>
              <a:t>E1</a:t>
            </a:r>
            <a:r>
              <a:rPr lang="zh-CN" altLang="en-US" sz="2800" smtClean="0"/>
              <a:t>）。我国采用的是欧洲的 </a:t>
            </a:r>
            <a:r>
              <a:rPr lang="en-US" altLang="zh-CN" sz="2800" smtClean="0"/>
              <a:t>E1 </a:t>
            </a:r>
            <a:r>
              <a:rPr lang="zh-CN" altLang="en-US" sz="2800" smtClean="0"/>
              <a:t>标准。</a:t>
            </a:r>
          </a:p>
          <a:p>
            <a:pPr eaLnBrk="1" hangingPunct="1"/>
            <a:r>
              <a:rPr lang="en-US" altLang="zh-CN" sz="2800" smtClean="0"/>
              <a:t>E1 </a:t>
            </a:r>
            <a:r>
              <a:rPr lang="zh-CN" altLang="en-US" sz="2800" smtClean="0"/>
              <a:t>的速率是 </a:t>
            </a:r>
            <a:r>
              <a:rPr lang="en-US" altLang="zh-CN" sz="2800" smtClean="0"/>
              <a:t>2.048 Mb/s</a:t>
            </a:r>
            <a:r>
              <a:rPr lang="zh-CN" altLang="en-US" sz="2800" smtClean="0"/>
              <a:t>，而 </a:t>
            </a:r>
            <a:r>
              <a:rPr lang="en-US" altLang="zh-CN" sz="2800" smtClean="0"/>
              <a:t>T1 </a:t>
            </a:r>
            <a:r>
              <a:rPr lang="zh-CN" altLang="en-US" sz="2800" smtClean="0"/>
              <a:t>的速率是 </a:t>
            </a:r>
            <a:r>
              <a:rPr lang="en-US" altLang="zh-CN" sz="2800" smtClean="0"/>
              <a:t>1.544 Mb/s</a:t>
            </a:r>
            <a:r>
              <a:rPr lang="zh-CN" altLang="en-US" sz="2800" smtClean="0"/>
              <a:t>。</a:t>
            </a:r>
          </a:p>
          <a:p>
            <a:pPr eaLnBrk="1" hangingPunct="1"/>
            <a:r>
              <a:rPr lang="zh-CN" altLang="en-US" sz="2800" smtClean="0"/>
              <a:t>当需要有更高的数据率时，可采用高次群复用的方法。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755" name="Group 107"/>
          <p:cNvGrpSpPr>
            <a:grpSpLocks/>
          </p:cNvGrpSpPr>
          <p:nvPr/>
        </p:nvGrpSpPr>
        <p:grpSpPr bwMode="auto">
          <a:xfrm>
            <a:off x="3910013" y="4652963"/>
            <a:ext cx="1025525" cy="727075"/>
            <a:chOff x="2463" y="2931"/>
            <a:chExt cx="646" cy="458"/>
          </a:xfrm>
        </p:grpSpPr>
        <p:sp>
          <p:nvSpPr>
            <p:cNvPr id="41056" name="AutoShape 13"/>
            <p:cNvSpPr>
              <a:spLocks noChangeArrowheads="1"/>
            </p:cNvSpPr>
            <p:nvPr/>
          </p:nvSpPr>
          <p:spPr bwMode="auto">
            <a:xfrm>
              <a:off x="2463" y="2931"/>
              <a:ext cx="646" cy="458"/>
            </a:xfrm>
            <a:prstGeom prst="cube">
              <a:avLst>
                <a:gd name="adj" fmla="val 13069"/>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57" name="Rectangle 16"/>
            <p:cNvSpPr>
              <a:spLocks noChangeArrowheads="1"/>
            </p:cNvSpPr>
            <p:nvPr/>
          </p:nvSpPr>
          <p:spPr bwMode="auto">
            <a:xfrm>
              <a:off x="2546" y="2985"/>
              <a:ext cx="508" cy="40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传输</a:t>
              </a:r>
            </a:p>
            <a:p>
              <a:pPr algn="l" defTabSz="762000" eaLnBrk="0" hangingPunct="0"/>
              <a:r>
                <a:rPr kumimoji="1" lang="zh-CN" altLang="en-US" sz="1800">
                  <a:solidFill>
                    <a:srgbClr val="333399"/>
                  </a:solidFill>
                  <a:latin typeface="Times New Roman" pitchFamily="18" charset="0"/>
                  <a:ea typeface="黑体" pitchFamily="49" charset="-122"/>
                </a:rPr>
                <a:t>系统</a:t>
              </a:r>
            </a:p>
          </p:txBody>
        </p:sp>
      </p:grpSp>
      <p:grpSp>
        <p:nvGrpSpPr>
          <p:cNvPr id="27750" name="Group 102"/>
          <p:cNvGrpSpPr>
            <a:grpSpLocks/>
          </p:cNvGrpSpPr>
          <p:nvPr/>
        </p:nvGrpSpPr>
        <p:grpSpPr bwMode="auto">
          <a:xfrm>
            <a:off x="109538" y="5016500"/>
            <a:ext cx="566737" cy="1233488"/>
            <a:chOff x="69" y="3160"/>
            <a:chExt cx="357" cy="777"/>
          </a:xfrm>
        </p:grpSpPr>
        <p:sp>
          <p:nvSpPr>
            <p:cNvPr id="41054" name="Rectangle 5"/>
            <p:cNvSpPr>
              <a:spLocks noChangeArrowheads="1"/>
            </p:cNvSpPr>
            <p:nvPr/>
          </p:nvSpPr>
          <p:spPr bwMode="auto">
            <a:xfrm>
              <a:off x="69" y="3189"/>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输入信息</a:t>
              </a:r>
            </a:p>
          </p:txBody>
        </p:sp>
        <p:sp>
          <p:nvSpPr>
            <p:cNvPr id="41055" name="Line 17"/>
            <p:cNvSpPr>
              <a:spLocks noChangeShapeType="1"/>
            </p:cNvSpPr>
            <p:nvPr/>
          </p:nvSpPr>
          <p:spPr bwMode="auto">
            <a:xfrm>
              <a:off x="94" y="3160"/>
              <a:ext cx="313"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2" name="Group 104"/>
          <p:cNvGrpSpPr>
            <a:grpSpLocks/>
          </p:cNvGrpSpPr>
          <p:nvPr/>
        </p:nvGrpSpPr>
        <p:grpSpPr bwMode="auto">
          <a:xfrm>
            <a:off x="1444625" y="5016500"/>
            <a:ext cx="627063" cy="1189038"/>
            <a:chOff x="910" y="3160"/>
            <a:chExt cx="395" cy="749"/>
          </a:xfrm>
        </p:grpSpPr>
        <p:sp>
          <p:nvSpPr>
            <p:cNvPr id="41052" name="Rectangle 7"/>
            <p:cNvSpPr>
              <a:spLocks noChangeArrowheads="1"/>
            </p:cNvSpPr>
            <p:nvPr/>
          </p:nvSpPr>
          <p:spPr bwMode="auto">
            <a:xfrm>
              <a:off x="948" y="3161"/>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输入数据</a:t>
              </a:r>
            </a:p>
          </p:txBody>
        </p:sp>
        <p:sp>
          <p:nvSpPr>
            <p:cNvPr id="41053" name="Line 18"/>
            <p:cNvSpPr>
              <a:spLocks noChangeShapeType="1"/>
            </p:cNvSpPr>
            <p:nvPr/>
          </p:nvSpPr>
          <p:spPr bwMode="auto">
            <a:xfrm>
              <a:off x="910" y="3160"/>
              <a:ext cx="346"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4" name="Group 106"/>
          <p:cNvGrpSpPr>
            <a:grpSpLocks/>
          </p:cNvGrpSpPr>
          <p:nvPr/>
        </p:nvGrpSpPr>
        <p:grpSpPr bwMode="auto">
          <a:xfrm>
            <a:off x="2824163" y="5010150"/>
            <a:ext cx="1177925" cy="712788"/>
            <a:chOff x="1779" y="3156"/>
            <a:chExt cx="742" cy="449"/>
          </a:xfrm>
        </p:grpSpPr>
        <p:sp>
          <p:nvSpPr>
            <p:cNvPr id="41050" name="Rectangle 9"/>
            <p:cNvSpPr>
              <a:spLocks noChangeArrowheads="1"/>
            </p:cNvSpPr>
            <p:nvPr/>
          </p:nvSpPr>
          <p:spPr bwMode="auto">
            <a:xfrm>
              <a:off x="1791" y="3203"/>
              <a:ext cx="730"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800">
                  <a:solidFill>
                    <a:srgbClr val="333399"/>
                  </a:solidFill>
                  <a:latin typeface="Times New Roman" pitchFamily="18" charset="0"/>
                  <a:ea typeface="黑体" pitchFamily="49" charset="-122"/>
                </a:rPr>
                <a:t>发送</a:t>
              </a:r>
            </a:p>
            <a:p>
              <a:pPr defTabSz="762000" eaLnBrk="0" hangingPunct="0"/>
              <a:r>
                <a:rPr kumimoji="1" lang="zh-CN" altLang="en-US" sz="1800">
                  <a:solidFill>
                    <a:srgbClr val="333399"/>
                  </a:solidFill>
                  <a:latin typeface="Times New Roman" pitchFamily="18" charset="0"/>
                  <a:ea typeface="黑体" pitchFamily="49" charset="-122"/>
                </a:rPr>
                <a:t>的信号</a:t>
              </a:r>
            </a:p>
          </p:txBody>
        </p:sp>
        <p:sp>
          <p:nvSpPr>
            <p:cNvPr id="41051" name="Line 19"/>
            <p:cNvSpPr>
              <a:spLocks noChangeShapeType="1"/>
            </p:cNvSpPr>
            <p:nvPr/>
          </p:nvSpPr>
          <p:spPr bwMode="auto">
            <a:xfrm>
              <a:off x="1779" y="3156"/>
              <a:ext cx="684" cy="4"/>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6" name="Group 108"/>
          <p:cNvGrpSpPr>
            <a:grpSpLocks/>
          </p:cNvGrpSpPr>
          <p:nvPr/>
        </p:nvGrpSpPr>
        <p:grpSpPr bwMode="auto">
          <a:xfrm>
            <a:off x="4906963" y="5016500"/>
            <a:ext cx="1157287" cy="673100"/>
            <a:chOff x="3091" y="3160"/>
            <a:chExt cx="729" cy="424"/>
          </a:xfrm>
        </p:grpSpPr>
        <p:sp>
          <p:nvSpPr>
            <p:cNvPr id="41048" name="Rectangle 10"/>
            <p:cNvSpPr>
              <a:spLocks noChangeArrowheads="1"/>
            </p:cNvSpPr>
            <p:nvPr/>
          </p:nvSpPr>
          <p:spPr bwMode="auto">
            <a:xfrm>
              <a:off x="3111" y="3182"/>
              <a:ext cx="709"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800">
                  <a:solidFill>
                    <a:srgbClr val="333399"/>
                  </a:solidFill>
                  <a:latin typeface="Times New Roman" pitchFamily="18" charset="0"/>
                  <a:ea typeface="黑体" pitchFamily="49" charset="-122"/>
                </a:rPr>
                <a:t>接收</a:t>
              </a:r>
            </a:p>
            <a:p>
              <a:pPr defTabSz="762000" eaLnBrk="0" hangingPunct="0"/>
              <a:r>
                <a:rPr kumimoji="1" lang="zh-CN" altLang="en-US" sz="1800">
                  <a:solidFill>
                    <a:srgbClr val="333399"/>
                  </a:solidFill>
                  <a:latin typeface="Times New Roman" pitchFamily="18" charset="0"/>
                  <a:ea typeface="黑体" pitchFamily="49" charset="-122"/>
                </a:rPr>
                <a:t>的信号</a:t>
              </a:r>
            </a:p>
          </p:txBody>
        </p:sp>
        <p:sp>
          <p:nvSpPr>
            <p:cNvPr id="41049" name="Line 20"/>
            <p:cNvSpPr>
              <a:spLocks noChangeShapeType="1"/>
            </p:cNvSpPr>
            <p:nvPr/>
          </p:nvSpPr>
          <p:spPr bwMode="auto">
            <a:xfrm>
              <a:off x="3091" y="3160"/>
              <a:ext cx="714"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8" name="Group 110"/>
          <p:cNvGrpSpPr>
            <a:grpSpLocks/>
          </p:cNvGrpSpPr>
          <p:nvPr/>
        </p:nvGrpSpPr>
        <p:grpSpPr bwMode="auto">
          <a:xfrm>
            <a:off x="6854825" y="5016500"/>
            <a:ext cx="592138" cy="1262063"/>
            <a:chOff x="4318" y="3160"/>
            <a:chExt cx="373" cy="795"/>
          </a:xfrm>
        </p:grpSpPr>
        <p:sp>
          <p:nvSpPr>
            <p:cNvPr id="41046" name="Rectangle 8"/>
            <p:cNvSpPr>
              <a:spLocks noChangeArrowheads="1"/>
            </p:cNvSpPr>
            <p:nvPr/>
          </p:nvSpPr>
          <p:spPr bwMode="auto">
            <a:xfrm>
              <a:off x="4334"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输出数据</a:t>
              </a:r>
            </a:p>
          </p:txBody>
        </p:sp>
        <p:sp>
          <p:nvSpPr>
            <p:cNvPr id="41047" name="Line 21"/>
            <p:cNvSpPr>
              <a:spLocks noChangeShapeType="1"/>
            </p:cNvSpPr>
            <p:nvPr/>
          </p:nvSpPr>
          <p:spPr bwMode="auto">
            <a:xfrm>
              <a:off x="4318" y="3160"/>
              <a:ext cx="336"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1" name="Group 103"/>
          <p:cNvGrpSpPr>
            <a:grpSpLocks/>
          </p:cNvGrpSpPr>
          <p:nvPr/>
        </p:nvGrpSpPr>
        <p:grpSpPr bwMode="auto">
          <a:xfrm>
            <a:off x="646113" y="4652963"/>
            <a:ext cx="850900" cy="727075"/>
            <a:chOff x="407" y="2931"/>
            <a:chExt cx="536" cy="458"/>
          </a:xfrm>
        </p:grpSpPr>
        <p:sp>
          <p:nvSpPr>
            <p:cNvPr id="41044" name="AutoShape 11"/>
            <p:cNvSpPr>
              <a:spLocks noChangeArrowheads="1"/>
            </p:cNvSpPr>
            <p:nvPr/>
          </p:nvSpPr>
          <p:spPr bwMode="auto">
            <a:xfrm>
              <a:off x="407" y="2931"/>
              <a:ext cx="536" cy="458"/>
            </a:xfrm>
            <a:prstGeom prst="cube">
              <a:avLst>
                <a:gd name="adj" fmla="val 13069"/>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45" name="Rectangle 22"/>
            <p:cNvSpPr>
              <a:spLocks noChangeArrowheads="1"/>
            </p:cNvSpPr>
            <p:nvPr/>
          </p:nvSpPr>
          <p:spPr bwMode="auto">
            <a:xfrm>
              <a:off x="449" y="3059"/>
              <a:ext cx="447"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源点</a:t>
              </a:r>
            </a:p>
          </p:txBody>
        </p:sp>
      </p:grpSp>
      <p:grpSp>
        <p:nvGrpSpPr>
          <p:cNvPr id="27759" name="Group 111"/>
          <p:cNvGrpSpPr>
            <a:grpSpLocks/>
          </p:cNvGrpSpPr>
          <p:nvPr/>
        </p:nvGrpSpPr>
        <p:grpSpPr bwMode="auto">
          <a:xfrm>
            <a:off x="7388225" y="4652963"/>
            <a:ext cx="850900" cy="727075"/>
            <a:chOff x="4654" y="2931"/>
            <a:chExt cx="536" cy="458"/>
          </a:xfrm>
        </p:grpSpPr>
        <p:sp>
          <p:nvSpPr>
            <p:cNvPr id="41042" name="AutoShape 15"/>
            <p:cNvSpPr>
              <a:spLocks noChangeArrowheads="1"/>
            </p:cNvSpPr>
            <p:nvPr/>
          </p:nvSpPr>
          <p:spPr bwMode="auto">
            <a:xfrm>
              <a:off x="4654" y="2931"/>
              <a:ext cx="536" cy="458"/>
            </a:xfrm>
            <a:prstGeom prst="cube">
              <a:avLst>
                <a:gd name="adj" fmla="val 13069"/>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43" name="Rectangle 23"/>
            <p:cNvSpPr>
              <a:spLocks noChangeArrowheads="1"/>
            </p:cNvSpPr>
            <p:nvPr/>
          </p:nvSpPr>
          <p:spPr bwMode="auto">
            <a:xfrm>
              <a:off x="4699" y="3068"/>
              <a:ext cx="446"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终点</a:t>
              </a:r>
            </a:p>
          </p:txBody>
        </p:sp>
      </p:grpSp>
      <p:grpSp>
        <p:nvGrpSpPr>
          <p:cNvPr id="27753" name="Group 105"/>
          <p:cNvGrpSpPr>
            <a:grpSpLocks/>
          </p:cNvGrpSpPr>
          <p:nvPr/>
        </p:nvGrpSpPr>
        <p:grpSpPr bwMode="auto">
          <a:xfrm>
            <a:off x="1949450" y="4652963"/>
            <a:ext cx="922338" cy="727075"/>
            <a:chOff x="1228" y="2931"/>
            <a:chExt cx="581" cy="458"/>
          </a:xfrm>
        </p:grpSpPr>
        <p:sp>
          <p:nvSpPr>
            <p:cNvPr id="41040" name="AutoShape 12"/>
            <p:cNvSpPr>
              <a:spLocks noChangeArrowheads="1"/>
            </p:cNvSpPr>
            <p:nvPr/>
          </p:nvSpPr>
          <p:spPr bwMode="auto">
            <a:xfrm>
              <a:off x="1256" y="2931"/>
              <a:ext cx="537" cy="458"/>
            </a:xfrm>
            <a:prstGeom prst="cube">
              <a:avLst>
                <a:gd name="adj" fmla="val 13069"/>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41" name="Rectangle 24"/>
            <p:cNvSpPr>
              <a:spLocks noChangeArrowheads="1"/>
            </p:cNvSpPr>
            <p:nvPr/>
          </p:nvSpPr>
          <p:spPr bwMode="auto">
            <a:xfrm>
              <a:off x="1228" y="3068"/>
              <a:ext cx="581"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发送器</a:t>
              </a:r>
            </a:p>
          </p:txBody>
        </p:sp>
      </p:grpSp>
      <p:grpSp>
        <p:nvGrpSpPr>
          <p:cNvPr id="27757" name="Group 109"/>
          <p:cNvGrpSpPr>
            <a:grpSpLocks/>
          </p:cNvGrpSpPr>
          <p:nvPr/>
        </p:nvGrpSpPr>
        <p:grpSpPr bwMode="auto">
          <a:xfrm>
            <a:off x="5997575" y="4652963"/>
            <a:ext cx="922338" cy="727075"/>
            <a:chOff x="3778" y="2931"/>
            <a:chExt cx="581" cy="458"/>
          </a:xfrm>
        </p:grpSpPr>
        <p:sp>
          <p:nvSpPr>
            <p:cNvPr id="41038" name="AutoShape 14"/>
            <p:cNvSpPr>
              <a:spLocks noChangeArrowheads="1"/>
            </p:cNvSpPr>
            <p:nvPr/>
          </p:nvSpPr>
          <p:spPr bwMode="auto">
            <a:xfrm>
              <a:off x="3805" y="2931"/>
              <a:ext cx="535" cy="458"/>
            </a:xfrm>
            <a:prstGeom prst="cube">
              <a:avLst>
                <a:gd name="adj" fmla="val 13069"/>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39" name="Rectangle 25"/>
            <p:cNvSpPr>
              <a:spLocks noChangeArrowheads="1"/>
            </p:cNvSpPr>
            <p:nvPr/>
          </p:nvSpPr>
          <p:spPr bwMode="auto">
            <a:xfrm>
              <a:off x="3778" y="3059"/>
              <a:ext cx="581"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接收器</a:t>
              </a:r>
            </a:p>
          </p:txBody>
        </p:sp>
      </p:grpSp>
      <p:sp>
        <p:nvSpPr>
          <p:cNvPr id="40972" name="Line 26"/>
          <p:cNvSpPr>
            <a:spLocks noChangeShapeType="1"/>
          </p:cNvSpPr>
          <p:nvPr/>
        </p:nvSpPr>
        <p:spPr bwMode="auto">
          <a:xfrm>
            <a:off x="2560638" y="3240088"/>
            <a:ext cx="34798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3" name="Line 27"/>
          <p:cNvSpPr>
            <a:spLocks noChangeShapeType="1"/>
          </p:cNvSpPr>
          <p:nvPr/>
        </p:nvSpPr>
        <p:spPr bwMode="auto">
          <a:xfrm>
            <a:off x="1355725" y="3240088"/>
            <a:ext cx="847725" cy="3175"/>
          </a:xfrm>
          <a:prstGeom prst="line">
            <a:avLst/>
          </a:prstGeom>
          <a:noFill/>
          <a:ln w="76200" cmpd="tri">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4" name="Rectangle 28"/>
          <p:cNvSpPr>
            <a:spLocks noChangeArrowheads="1"/>
          </p:cNvSpPr>
          <p:nvPr/>
        </p:nvSpPr>
        <p:spPr bwMode="auto">
          <a:xfrm>
            <a:off x="1692275" y="3457575"/>
            <a:ext cx="1354138"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调制解调器</a:t>
            </a:r>
          </a:p>
        </p:txBody>
      </p:sp>
      <p:sp>
        <p:nvSpPr>
          <p:cNvPr id="40975" name="Line 29"/>
          <p:cNvSpPr>
            <a:spLocks noChangeShapeType="1"/>
          </p:cNvSpPr>
          <p:nvPr/>
        </p:nvSpPr>
        <p:spPr bwMode="auto">
          <a:xfrm>
            <a:off x="6607175" y="3240088"/>
            <a:ext cx="922338" cy="0"/>
          </a:xfrm>
          <a:prstGeom prst="line">
            <a:avLst/>
          </a:prstGeom>
          <a:noFill/>
          <a:ln w="76200" cmpd="tri">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976" name="Group 80"/>
          <p:cNvGrpSpPr>
            <a:grpSpLocks/>
          </p:cNvGrpSpPr>
          <p:nvPr/>
        </p:nvGrpSpPr>
        <p:grpSpPr bwMode="auto">
          <a:xfrm>
            <a:off x="3635375" y="2708275"/>
            <a:ext cx="1582738" cy="1009650"/>
            <a:chOff x="385" y="2795"/>
            <a:chExt cx="1769" cy="816"/>
          </a:xfrm>
        </p:grpSpPr>
        <p:sp>
          <p:nvSpPr>
            <p:cNvPr id="41021" name="Oval 8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22" name="Oval 8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23" name="Oval 8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24" name="Oval 8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25" name="Oval 8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26" name="Oval 8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27" name="Oval 8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28" name="Oval 8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29" name="Oval 8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30" name="Oval 9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31" name="Oval 9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32" name="Oval 9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33" name="Oval 9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34" name="Oval 9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35" name="Oval 9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36" name="Oval 9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a:p>
          </p:txBody>
        </p:sp>
        <p:sp>
          <p:nvSpPr>
            <p:cNvPr id="41037" name="Freeform 97"/>
            <p:cNvSpPr>
              <a:spLocks/>
            </p:cNvSpPr>
            <p:nvPr/>
          </p:nvSpPr>
          <p:spPr bwMode="auto">
            <a:xfrm>
              <a:off x="567" y="2924"/>
              <a:ext cx="1451" cy="597"/>
            </a:xfrm>
            <a:custGeom>
              <a:avLst/>
              <a:gdLst>
                <a:gd name="T0" fmla="*/ 0 w 1447"/>
                <a:gd name="T1" fmla="*/ 21 h 1128"/>
                <a:gd name="T2" fmla="*/ 80 w 1447"/>
                <a:gd name="T3" fmla="*/ 16 h 1128"/>
                <a:gd name="T4" fmla="*/ 56 w 1447"/>
                <a:gd name="T5" fmla="*/ 16 h 1128"/>
                <a:gd name="T6" fmla="*/ 24 w 1447"/>
                <a:gd name="T7" fmla="*/ 16 h 1128"/>
                <a:gd name="T8" fmla="*/ 40 w 1447"/>
                <a:gd name="T9" fmla="*/ 16 h 1128"/>
                <a:gd name="T10" fmla="*/ 64 w 1447"/>
                <a:gd name="T11" fmla="*/ 15 h 1128"/>
                <a:gd name="T12" fmla="*/ 96 w 1447"/>
                <a:gd name="T13" fmla="*/ 13 h 1128"/>
                <a:gd name="T14" fmla="*/ 104 w 1447"/>
                <a:gd name="T15" fmla="*/ 12 h 1128"/>
                <a:gd name="T16" fmla="*/ 152 w 1447"/>
                <a:gd name="T17" fmla="*/ 8 h 1128"/>
                <a:gd name="T18" fmla="*/ 168 w 1447"/>
                <a:gd name="T19" fmla="*/ 7 h 1128"/>
                <a:gd name="T20" fmla="*/ 205 w 1447"/>
                <a:gd name="T21" fmla="*/ 7 h 1128"/>
                <a:gd name="T22" fmla="*/ 293 w 1447"/>
                <a:gd name="T23" fmla="*/ 4 h 1128"/>
                <a:gd name="T24" fmla="*/ 333 w 1447"/>
                <a:gd name="T25" fmla="*/ 3 h 1128"/>
                <a:gd name="T26" fmla="*/ 357 w 1447"/>
                <a:gd name="T27" fmla="*/ 2 h 1128"/>
                <a:gd name="T28" fmla="*/ 429 w 1447"/>
                <a:gd name="T29" fmla="*/ 2 h 1128"/>
                <a:gd name="T30" fmla="*/ 509 w 1447"/>
                <a:gd name="T31" fmla="*/ 0 h 1128"/>
                <a:gd name="T32" fmla="*/ 818 w 1447"/>
                <a:gd name="T33" fmla="*/ 2 h 1128"/>
                <a:gd name="T34" fmla="*/ 1071 w 1447"/>
                <a:gd name="T35" fmla="*/ 7 h 1128"/>
                <a:gd name="T36" fmla="*/ 1095 w 1447"/>
                <a:gd name="T37" fmla="*/ 8 h 1128"/>
                <a:gd name="T38" fmla="*/ 1119 w 1447"/>
                <a:gd name="T39" fmla="*/ 9 h 1128"/>
                <a:gd name="T40" fmla="*/ 1239 w 1447"/>
                <a:gd name="T41" fmla="*/ 13 h 1128"/>
                <a:gd name="T42" fmla="*/ 1316 w 1447"/>
                <a:gd name="T43" fmla="*/ 15 h 1128"/>
                <a:gd name="T44" fmla="*/ 1364 w 1447"/>
                <a:gd name="T45" fmla="*/ 18 h 1128"/>
                <a:gd name="T46" fmla="*/ 1380 w 1447"/>
                <a:gd name="T47" fmla="*/ 21 h 1128"/>
                <a:gd name="T48" fmla="*/ 1412 w 1447"/>
                <a:gd name="T49" fmla="*/ 22 h 1128"/>
                <a:gd name="T50" fmla="*/ 1436 w 1447"/>
                <a:gd name="T51" fmla="*/ 25 h 1128"/>
                <a:gd name="T52" fmla="*/ 1452 w 1447"/>
                <a:gd name="T53" fmla="*/ 27 h 1128"/>
                <a:gd name="T54" fmla="*/ 1452 w 1447"/>
                <a:gd name="T55" fmla="*/ 35 h 1128"/>
                <a:gd name="T56" fmla="*/ 1436 w 1447"/>
                <a:gd name="T57" fmla="*/ 38 h 1128"/>
                <a:gd name="T58" fmla="*/ 1388 w 1447"/>
                <a:gd name="T59" fmla="*/ 39 h 1128"/>
                <a:gd name="T60" fmla="*/ 1372 w 1447"/>
                <a:gd name="T61" fmla="*/ 39 h 1128"/>
                <a:gd name="T62" fmla="*/ 1324 w 1447"/>
                <a:gd name="T63" fmla="*/ 41 h 1128"/>
                <a:gd name="T64" fmla="*/ 1231 w 1447"/>
                <a:gd name="T65" fmla="*/ 43 h 1128"/>
                <a:gd name="T66" fmla="*/ 1183 w 1447"/>
                <a:gd name="T67" fmla="*/ 44 h 1128"/>
                <a:gd name="T68" fmla="*/ 1127 w 1447"/>
                <a:gd name="T69" fmla="*/ 47 h 1128"/>
                <a:gd name="T70" fmla="*/ 445 w 1447"/>
                <a:gd name="T71" fmla="*/ 46 h 1128"/>
                <a:gd name="T72" fmla="*/ 365 w 1447"/>
                <a:gd name="T73" fmla="*/ 44 h 1128"/>
                <a:gd name="T74" fmla="*/ 309 w 1447"/>
                <a:gd name="T75" fmla="*/ 41 h 1128"/>
                <a:gd name="T76" fmla="*/ 245 w 1447"/>
                <a:gd name="T77" fmla="*/ 37 h 1128"/>
                <a:gd name="T78" fmla="*/ 205 w 1447"/>
                <a:gd name="T79" fmla="*/ 33 h 1128"/>
                <a:gd name="T80" fmla="*/ 120 w 1447"/>
                <a:gd name="T81" fmla="*/ 29 h 1128"/>
                <a:gd name="T82" fmla="*/ 56 w 1447"/>
                <a:gd name="T83" fmla="*/ 26 h 1128"/>
                <a:gd name="T84" fmla="*/ 16 w 1447"/>
                <a:gd name="T85" fmla="*/ 22 h 1128"/>
                <a:gd name="T86" fmla="*/ 8 w 1447"/>
                <a:gd name="T87" fmla="*/ 21 h 1128"/>
                <a:gd name="T88" fmla="*/ 0 w 1447"/>
                <a:gd name="T89" fmla="*/ 2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a:p>
          </p:txBody>
        </p:sp>
      </p:grpSp>
      <p:sp>
        <p:nvSpPr>
          <p:cNvPr id="40977" name="Rectangle 42"/>
          <p:cNvSpPr>
            <a:spLocks noChangeArrowheads="1"/>
          </p:cNvSpPr>
          <p:nvPr/>
        </p:nvSpPr>
        <p:spPr bwMode="auto">
          <a:xfrm>
            <a:off x="684213" y="3530600"/>
            <a:ext cx="86995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en-US" altLang="zh-CN" sz="1800">
                <a:solidFill>
                  <a:srgbClr val="333399"/>
                </a:solidFill>
                <a:latin typeface="Arial" pitchFamily="34" charset="0"/>
                <a:ea typeface="黑体" pitchFamily="49" charset="-122"/>
              </a:rPr>
              <a:t>PC </a:t>
            </a:r>
            <a:r>
              <a:rPr kumimoji="1" lang="zh-CN" altLang="en-US" sz="1800">
                <a:solidFill>
                  <a:srgbClr val="333399"/>
                </a:solidFill>
                <a:latin typeface="Arial" pitchFamily="34" charset="0"/>
                <a:ea typeface="黑体" pitchFamily="49" charset="-122"/>
              </a:rPr>
              <a:t>机</a:t>
            </a:r>
          </a:p>
        </p:txBody>
      </p:sp>
      <p:sp>
        <p:nvSpPr>
          <p:cNvPr id="40978" name="Rectangle 43"/>
          <p:cNvSpPr>
            <a:spLocks noChangeArrowheads="1"/>
          </p:cNvSpPr>
          <p:nvPr/>
        </p:nvSpPr>
        <p:spPr bwMode="auto">
          <a:xfrm>
            <a:off x="3811588" y="3065463"/>
            <a:ext cx="1323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公用电话网</a:t>
            </a:r>
          </a:p>
        </p:txBody>
      </p:sp>
      <p:pic>
        <p:nvPicPr>
          <p:cNvPr id="40979" name="Picture 4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3900" y="3001963"/>
            <a:ext cx="8524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0" name="Picture 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8988" y="2855913"/>
            <a:ext cx="70802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0981" name="Rectangle 46"/>
          <p:cNvSpPr>
            <a:spLocks noChangeArrowheads="1"/>
          </p:cNvSpPr>
          <p:nvPr/>
        </p:nvSpPr>
        <p:spPr bwMode="auto">
          <a:xfrm>
            <a:off x="5684838" y="3486150"/>
            <a:ext cx="1347787"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调制解调器</a:t>
            </a:r>
          </a:p>
        </p:txBody>
      </p:sp>
      <p:grpSp>
        <p:nvGrpSpPr>
          <p:cNvPr id="40982" name="Group 47"/>
          <p:cNvGrpSpPr>
            <a:grpSpLocks/>
          </p:cNvGrpSpPr>
          <p:nvPr/>
        </p:nvGrpSpPr>
        <p:grpSpPr bwMode="auto">
          <a:xfrm>
            <a:off x="2774950" y="2806700"/>
            <a:ext cx="652463" cy="339725"/>
            <a:chOff x="2315" y="3965"/>
            <a:chExt cx="496" cy="254"/>
          </a:xfrm>
        </p:grpSpPr>
        <p:sp>
          <p:nvSpPr>
            <p:cNvPr id="41017" name="Freeform 48"/>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18" name="Freeform 49"/>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19" name="Freeform 50"/>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20" name="Freeform 51"/>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0983" name="Freeform 52"/>
          <p:cNvSpPr>
            <a:spLocks/>
          </p:cNvSpPr>
          <p:nvPr/>
        </p:nvSpPr>
        <p:spPr bwMode="auto">
          <a:xfrm>
            <a:off x="1465263" y="2908300"/>
            <a:ext cx="741362" cy="165100"/>
          </a:xfrm>
          <a:custGeom>
            <a:avLst/>
            <a:gdLst>
              <a:gd name="T0" fmla="*/ 0 w 672"/>
              <a:gd name="T1" fmla="*/ 2147483647 h 288"/>
              <a:gd name="T2" fmla="*/ 2147483647 w 672"/>
              <a:gd name="T3" fmla="*/ 2147483647 h 288"/>
              <a:gd name="T4" fmla="*/ 2147483647 w 672"/>
              <a:gd name="T5" fmla="*/ 0 h 288"/>
              <a:gd name="T6" fmla="*/ 2147483647 w 672"/>
              <a:gd name="T7" fmla="*/ 0 h 288"/>
              <a:gd name="T8" fmla="*/ 2147483647 w 672"/>
              <a:gd name="T9" fmla="*/ 2147483647 h 288"/>
              <a:gd name="T10" fmla="*/ 2147483647 w 672"/>
              <a:gd name="T11" fmla="*/ 2147483647 h 288"/>
              <a:gd name="T12" fmla="*/ 2147483647 w 672"/>
              <a:gd name="T13" fmla="*/ 0 h 288"/>
              <a:gd name="T14" fmla="*/ 2147483647 w 672"/>
              <a:gd name="T15" fmla="*/ 0 h 288"/>
              <a:gd name="T16" fmla="*/ 2147483647 w 672"/>
              <a:gd name="T17" fmla="*/ 2147483647 h 288"/>
              <a:gd name="T18" fmla="*/ 2147483647 w 672"/>
              <a:gd name="T19" fmla="*/ 2147483647 h 288"/>
              <a:gd name="T20" fmla="*/ 2147483647 w 672"/>
              <a:gd name="T21" fmla="*/ 0 h 288"/>
              <a:gd name="T22" fmla="*/ 2147483647 w 672"/>
              <a:gd name="T23" fmla="*/ 0 h 288"/>
              <a:gd name="T24" fmla="*/ 2147483647 w 672"/>
              <a:gd name="T25" fmla="*/ 2147483647 h 288"/>
              <a:gd name="T26" fmla="*/ 2147483647 w 672"/>
              <a:gd name="T27" fmla="*/ 2147483647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4" name="Rectangle 53"/>
          <p:cNvSpPr>
            <a:spLocks noChangeArrowheads="1"/>
          </p:cNvSpPr>
          <p:nvPr/>
        </p:nvSpPr>
        <p:spPr bwMode="auto">
          <a:xfrm>
            <a:off x="1187450" y="2420938"/>
            <a:ext cx="1450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数字比特流</a:t>
            </a:r>
          </a:p>
        </p:txBody>
      </p:sp>
      <p:sp>
        <p:nvSpPr>
          <p:cNvPr id="40985" name="Rectangle 54"/>
          <p:cNvSpPr>
            <a:spLocks noChangeArrowheads="1"/>
          </p:cNvSpPr>
          <p:nvPr/>
        </p:nvSpPr>
        <p:spPr bwMode="auto">
          <a:xfrm>
            <a:off x="6464300" y="2420938"/>
            <a:ext cx="1420813"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数字比特流</a:t>
            </a:r>
          </a:p>
        </p:txBody>
      </p:sp>
      <p:sp>
        <p:nvSpPr>
          <p:cNvPr id="40986" name="Rectangle 55"/>
          <p:cNvSpPr>
            <a:spLocks noChangeArrowheads="1"/>
          </p:cNvSpPr>
          <p:nvPr/>
        </p:nvSpPr>
        <p:spPr bwMode="auto">
          <a:xfrm>
            <a:off x="2627313" y="2420938"/>
            <a:ext cx="1204912"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模拟信号</a:t>
            </a:r>
          </a:p>
        </p:txBody>
      </p:sp>
      <p:sp>
        <p:nvSpPr>
          <p:cNvPr id="40987" name="Rectangle 56"/>
          <p:cNvSpPr>
            <a:spLocks noChangeArrowheads="1"/>
          </p:cNvSpPr>
          <p:nvPr/>
        </p:nvSpPr>
        <p:spPr bwMode="auto">
          <a:xfrm>
            <a:off x="5224463" y="2420938"/>
            <a:ext cx="12192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模拟信号 </a:t>
            </a:r>
          </a:p>
        </p:txBody>
      </p:sp>
      <p:sp>
        <p:nvSpPr>
          <p:cNvPr id="40988" name="Rectangle 57"/>
          <p:cNvSpPr>
            <a:spLocks noChangeArrowheads="1"/>
          </p:cNvSpPr>
          <p:nvPr/>
        </p:nvSpPr>
        <p:spPr bwMode="auto">
          <a:xfrm>
            <a:off x="292100" y="2420938"/>
            <a:ext cx="709613"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输入</a:t>
            </a:r>
          </a:p>
          <a:p>
            <a:pPr algn="l" defTabSz="762000" eaLnBrk="0" hangingPunct="0"/>
            <a:r>
              <a:rPr kumimoji="1" lang="zh-CN" altLang="en-US" sz="1800">
                <a:solidFill>
                  <a:srgbClr val="333399"/>
                </a:solidFill>
                <a:latin typeface="Arial" pitchFamily="34" charset="0"/>
                <a:ea typeface="黑体" pitchFamily="49" charset="-122"/>
              </a:rPr>
              <a:t>汉字</a:t>
            </a:r>
          </a:p>
        </p:txBody>
      </p:sp>
      <p:sp>
        <p:nvSpPr>
          <p:cNvPr id="40989" name="Rectangle 58"/>
          <p:cNvSpPr>
            <a:spLocks noChangeArrowheads="1"/>
          </p:cNvSpPr>
          <p:nvPr/>
        </p:nvSpPr>
        <p:spPr bwMode="auto">
          <a:xfrm>
            <a:off x="8026400" y="2420938"/>
            <a:ext cx="709613"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Arial" pitchFamily="34" charset="0"/>
                <a:ea typeface="黑体" pitchFamily="49" charset="-122"/>
              </a:rPr>
              <a:t>显示</a:t>
            </a:r>
          </a:p>
          <a:p>
            <a:pPr algn="l" defTabSz="762000" eaLnBrk="0" hangingPunct="0"/>
            <a:r>
              <a:rPr kumimoji="1" lang="zh-CN" altLang="en-US" sz="1800">
                <a:solidFill>
                  <a:srgbClr val="333399"/>
                </a:solidFill>
                <a:latin typeface="Arial" pitchFamily="34" charset="0"/>
                <a:ea typeface="黑体" pitchFamily="49" charset="-122"/>
              </a:rPr>
              <a:t>汉字</a:t>
            </a:r>
          </a:p>
        </p:txBody>
      </p:sp>
      <p:sp>
        <p:nvSpPr>
          <p:cNvPr id="40990" name="Freeform 59"/>
          <p:cNvSpPr>
            <a:spLocks/>
          </p:cNvSpPr>
          <p:nvPr/>
        </p:nvSpPr>
        <p:spPr bwMode="auto">
          <a:xfrm>
            <a:off x="6645275" y="2928938"/>
            <a:ext cx="742950" cy="165100"/>
          </a:xfrm>
          <a:custGeom>
            <a:avLst/>
            <a:gdLst>
              <a:gd name="T0" fmla="*/ 0 w 672"/>
              <a:gd name="T1" fmla="*/ 2147483647 h 288"/>
              <a:gd name="T2" fmla="*/ 2147483647 w 672"/>
              <a:gd name="T3" fmla="*/ 2147483647 h 288"/>
              <a:gd name="T4" fmla="*/ 2147483647 w 672"/>
              <a:gd name="T5" fmla="*/ 0 h 288"/>
              <a:gd name="T6" fmla="*/ 2147483647 w 672"/>
              <a:gd name="T7" fmla="*/ 0 h 288"/>
              <a:gd name="T8" fmla="*/ 2147483647 w 672"/>
              <a:gd name="T9" fmla="*/ 2147483647 h 288"/>
              <a:gd name="T10" fmla="*/ 2147483647 w 672"/>
              <a:gd name="T11" fmla="*/ 2147483647 h 288"/>
              <a:gd name="T12" fmla="*/ 2147483647 w 672"/>
              <a:gd name="T13" fmla="*/ 0 h 288"/>
              <a:gd name="T14" fmla="*/ 2147483647 w 672"/>
              <a:gd name="T15" fmla="*/ 0 h 288"/>
              <a:gd name="T16" fmla="*/ 2147483647 w 672"/>
              <a:gd name="T17" fmla="*/ 2147483647 h 288"/>
              <a:gd name="T18" fmla="*/ 2147483647 w 672"/>
              <a:gd name="T19" fmla="*/ 2147483647 h 288"/>
              <a:gd name="T20" fmla="*/ 2147483647 w 672"/>
              <a:gd name="T21" fmla="*/ 0 h 288"/>
              <a:gd name="T22" fmla="*/ 2147483647 w 672"/>
              <a:gd name="T23" fmla="*/ 0 h 288"/>
              <a:gd name="T24" fmla="*/ 2147483647 w 672"/>
              <a:gd name="T25" fmla="*/ 2147483647 h 288"/>
              <a:gd name="T26" fmla="*/ 2147483647 w 672"/>
              <a:gd name="T27" fmla="*/ 2147483647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0991" name="Group 60"/>
          <p:cNvGrpSpPr>
            <a:grpSpLocks/>
          </p:cNvGrpSpPr>
          <p:nvPr/>
        </p:nvGrpSpPr>
        <p:grpSpPr bwMode="auto">
          <a:xfrm>
            <a:off x="5386388" y="2806700"/>
            <a:ext cx="654050" cy="339725"/>
            <a:chOff x="2315" y="3965"/>
            <a:chExt cx="496" cy="254"/>
          </a:xfrm>
        </p:grpSpPr>
        <p:sp>
          <p:nvSpPr>
            <p:cNvPr id="41013" name="Freeform 61"/>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14" name="Freeform 62"/>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15" name="Freeform 63"/>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16" name="Freeform 64"/>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61" name="Group 113"/>
          <p:cNvGrpSpPr>
            <a:grpSpLocks/>
          </p:cNvGrpSpPr>
          <p:nvPr/>
        </p:nvGrpSpPr>
        <p:grpSpPr bwMode="auto">
          <a:xfrm>
            <a:off x="503238" y="2000250"/>
            <a:ext cx="7735887" cy="363538"/>
            <a:chOff x="317" y="1260"/>
            <a:chExt cx="4873" cy="229"/>
          </a:xfrm>
        </p:grpSpPr>
        <p:sp>
          <p:nvSpPr>
            <p:cNvPr id="41011" name="Line 65"/>
            <p:cNvSpPr>
              <a:spLocks noChangeShapeType="1"/>
            </p:cNvSpPr>
            <p:nvPr/>
          </p:nvSpPr>
          <p:spPr bwMode="auto">
            <a:xfrm>
              <a:off x="317" y="1373"/>
              <a:ext cx="4873" cy="0"/>
            </a:xfrm>
            <a:prstGeom prst="line">
              <a:avLst/>
            </a:prstGeom>
            <a:noFill/>
            <a:ln w="28575">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12" name="Rectangle 66"/>
            <p:cNvSpPr>
              <a:spLocks noChangeArrowheads="1"/>
            </p:cNvSpPr>
            <p:nvPr/>
          </p:nvSpPr>
          <p:spPr bwMode="auto">
            <a:xfrm>
              <a:off x="2294" y="1260"/>
              <a:ext cx="994" cy="22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chemeClr val="hlink"/>
                  </a:solidFill>
                  <a:latin typeface="Arial" pitchFamily="34" charset="0"/>
                  <a:ea typeface="黑体" pitchFamily="49" charset="-122"/>
                </a:rPr>
                <a:t>数据通信系统</a:t>
              </a:r>
            </a:p>
          </p:txBody>
        </p:sp>
      </p:grpSp>
      <p:grpSp>
        <p:nvGrpSpPr>
          <p:cNvPr id="27747" name="Group 99"/>
          <p:cNvGrpSpPr>
            <a:grpSpLocks/>
          </p:cNvGrpSpPr>
          <p:nvPr/>
        </p:nvGrpSpPr>
        <p:grpSpPr bwMode="auto">
          <a:xfrm>
            <a:off x="433388" y="3319463"/>
            <a:ext cx="2838450" cy="1660525"/>
            <a:chOff x="273" y="2091"/>
            <a:chExt cx="1788" cy="1046"/>
          </a:xfrm>
        </p:grpSpPr>
        <p:sp>
          <p:nvSpPr>
            <p:cNvPr id="41007" name="Line 68"/>
            <p:cNvSpPr>
              <a:spLocks noChangeShapeType="1"/>
            </p:cNvSpPr>
            <p:nvPr/>
          </p:nvSpPr>
          <p:spPr bwMode="auto">
            <a:xfrm>
              <a:off x="2061" y="2091"/>
              <a:ext cx="0" cy="1046"/>
            </a:xfrm>
            <a:prstGeom prst="line">
              <a:avLst/>
            </a:prstGeom>
            <a:noFill/>
            <a:ln w="19050">
              <a:solidFill>
                <a:srgbClr val="333399"/>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1008" name="Group 98"/>
            <p:cNvGrpSpPr>
              <a:grpSpLocks/>
            </p:cNvGrpSpPr>
            <p:nvPr/>
          </p:nvGrpSpPr>
          <p:grpSpPr bwMode="auto">
            <a:xfrm>
              <a:off x="273" y="2523"/>
              <a:ext cx="1788" cy="237"/>
              <a:chOff x="273" y="2523"/>
              <a:chExt cx="1788" cy="237"/>
            </a:xfrm>
          </p:grpSpPr>
          <p:sp>
            <p:nvSpPr>
              <p:cNvPr id="41009" name="Line 67"/>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10" name="Rectangle 71"/>
              <p:cNvSpPr>
                <a:spLocks noChangeArrowheads="1"/>
              </p:cNvSpPr>
              <p:nvPr/>
            </p:nvSpPr>
            <p:spPr bwMode="auto">
              <a:xfrm>
                <a:off x="854" y="2523"/>
                <a:ext cx="620" cy="237"/>
              </a:xfrm>
              <a:prstGeom prst="rect">
                <a:avLst/>
              </a:prstGeom>
              <a:solidFill>
                <a:srgbClr val="FFFF66"/>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源系统</a:t>
                </a:r>
              </a:p>
            </p:txBody>
          </p:sp>
        </p:grpSp>
      </p:grpSp>
      <p:grpSp>
        <p:nvGrpSpPr>
          <p:cNvPr id="27749" name="Group 101"/>
          <p:cNvGrpSpPr>
            <a:grpSpLocks/>
          </p:cNvGrpSpPr>
          <p:nvPr/>
        </p:nvGrpSpPr>
        <p:grpSpPr bwMode="auto">
          <a:xfrm>
            <a:off x="5541963" y="4021138"/>
            <a:ext cx="2840037" cy="376237"/>
            <a:chOff x="3491" y="2533"/>
            <a:chExt cx="1789" cy="237"/>
          </a:xfrm>
        </p:grpSpPr>
        <p:sp>
          <p:nvSpPr>
            <p:cNvPr id="41005" name="Line 70"/>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06" name="Rectangle 73"/>
            <p:cNvSpPr>
              <a:spLocks noChangeArrowheads="1"/>
            </p:cNvSpPr>
            <p:nvPr/>
          </p:nvSpPr>
          <p:spPr bwMode="auto">
            <a:xfrm>
              <a:off x="4028" y="2533"/>
              <a:ext cx="712" cy="237"/>
            </a:xfrm>
            <a:prstGeom prst="rect">
              <a:avLst/>
            </a:prstGeom>
            <a:solidFill>
              <a:srgbClr val="FFCCFF"/>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目的系统</a:t>
              </a:r>
            </a:p>
          </p:txBody>
        </p:sp>
      </p:grpSp>
      <p:grpSp>
        <p:nvGrpSpPr>
          <p:cNvPr id="27748" name="Group 100"/>
          <p:cNvGrpSpPr>
            <a:grpSpLocks/>
          </p:cNvGrpSpPr>
          <p:nvPr/>
        </p:nvGrpSpPr>
        <p:grpSpPr bwMode="auto">
          <a:xfrm>
            <a:off x="3271838" y="3290888"/>
            <a:ext cx="2270125" cy="1725612"/>
            <a:chOff x="2061" y="2073"/>
            <a:chExt cx="1430" cy="1087"/>
          </a:xfrm>
        </p:grpSpPr>
        <p:sp>
          <p:nvSpPr>
            <p:cNvPr id="41002" name="Line 69"/>
            <p:cNvSpPr>
              <a:spLocks noChangeShapeType="1"/>
            </p:cNvSpPr>
            <p:nvPr/>
          </p:nvSpPr>
          <p:spPr bwMode="auto">
            <a:xfrm>
              <a:off x="2061" y="2660"/>
              <a:ext cx="1430"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03" name="Rectangle 72"/>
            <p:cNvSpPr>
              <a:spLocks noChangeArrowheads="1"/>
            </p:cNvSpPr>
            <p:nvPr/>
          </p:nvSpPr>
          <p:spPr bwMode="auto">
            <a:xfrm>
              <a:off x="2418" y="2533"/>
              <a:ext cx="734" cy="237"/>
            </a:xfrm>
            <a:prstGeom prst="rect">
              <a:avLst/>
            </a:prstGeom>
            <a:solidFill>
              <a:srgbClr val="CCFFFF"/>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传输系统</a:t>
              </a:r>
            </a:p>
          </p:txBody>
        </p:sp>
        <p:sp>
          <p:nvSpPr>
            <p:cNvPr id="41004" name="Line 74"/>
            <p:cNvSpPr>
              <a:spLocks noChangeShapeType="1"/>
            </p:cNvSpPr>
            <p:nvPr/>
          </p:nvSpPr>
          <p:spPr bwMode="auto">
            <a:xfrm flipH="1">
              <a:off x="3486" y="2073"/>
              <a:ext cx="5" cy="1087"/>
            </a:xfrm>
            <a:prstGeom prst="line">
              <a:avLst/>
            </a:prstGeom>
            <a:noFill/>
            <a:ln w="19050">
              <a:solidFill>
                <a:srgbClr val="333399"/>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40996" name="Picture 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7563" y="3052763"/>
            <a:ext cx="852487"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7" name="Picture 7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88225" y="2855913"/>
            <a:ext cx="709613"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27760" name="Group 112"/>
          <p:cNvGrpSpPr>
            <a:grpSpLocks/>
          </p:cNvGrpSpPr>
          <p:nvPr/>
        </p:nvGrpSpPr>
        <p:grpSpPr bwMode="auto">
          <a:xfrm>
            <a:off x="8204200" y="5016500"/>
            <a:ext cx="615950" cy="1262063"/>
            <a:chOff x="5168" y="3160"/>
            <a:chExt cx="388" cy="795"/>
          </a:xfrm>
        </p:grpSpPr>
        <p:sp>
          <p:nvSpPr>
            <p:cNvPr id="41000" name="Rectangle 6"/>
            <p:cNvSpPr>
              <a:spLocks noChangeArrowheads="1"/>
            </p:cNvSpPr>
            <p:nvPr/>
          </p:nvSpPr>
          <p:spPr bwMode="auto">
            <a:xfrm>
              <a:off x="5199"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a:solidFill>
                    <a:srgbClr val="333399"/>
                  </a:solidFill>
                  <a:latin typeface="Times New Roman" pitchFamily="18" charset="0"/>
                  <a:ea typeface="黑体" pitchFamily="49" charset="-122"/>
                </a:rPr>
                <a:t>输出信息</a:t>
              </a:r>
            </a:p>
          </p:txBody>
        </p:sp>
        <p:sp>
          <p:nvSpPr>
            <p:cNvPr id="41001" name="Line 77"/>
            <p:cNvSpPr>
              <a:spLocks noChangeShapeType="1"/>
            </p:cNvSpPr>
            <p:nvPr/>
          </p:nvSpPr>
          <p:spPr bwMode="auto">
            <a:xfrm>
              <a:off x="5168" y="3160"/>
              <a:ext cx="335"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0999" name="Rectangle 79"/>
          <p:cNvSpPr>
            <a:spLocks noChangeArrowheads="1"/>
          </p:cNvSpPr>
          <p:nvPr/>
        </p:nvSpPr>
        <p:spPr bwMode="auto">
          <a:xfrm>
            <a:off x="7356475" y="3527425"/>
            <a:ext cx="8159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en-US" altLang="zh-CN" sz="1800">
                <a:solidFill>
                  <a:srgbClr val="333399"/>
                </a:solidFill>
                <a:latin typeface="Arial" pitchFamily="34" charset="0"/>
                <a:ea typeface="黑体" pitchFamily="49" charset="-122"/>
              </a:rPr>
              <a:t>PC </a:t>
            </a:r>
            <a:r>
              <a:rPr kumimoji="1" lang="zh-CN" altLang="en-US" sz="1800">
                <a:solidFill>
                  <a:srgbClr val="333399"/>
                </a:solidFill>
                <a:latin typeface="Arial" pitchFamily="34" charset="0"/>
                <a:ea typeface="黑体" pitchFamily="49" charset="-122"/>
              </a:rPr>
              <a:t>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2776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27761"/>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27747"/>
                                        </p:tgtEl>
                                        <p:attrNameLst>
                                          <p:attrName>style.visibility</p:attrName>
                                        </p:attrNameLst>
                                      </p:cBhvr>
                                      <p:to>
                                        <p:strVal val="visible"/>
                                      </p:to>
                                    </p:set>
                                  </p:childTnLst>
                                </p:cTn>
                              </p:par>
                            </p:childTnLst>
                          </p:cTn>
                        </p:par>
                        <p:par>
                          <p:cTn id="14" fill="hold" nodeType="afterGroup">
                            <p:stCondLst>
                              <p:cond delay="0"/>
                            </p:stCondLst>
                            <p:childTnLst>
                              <p:par>
                                <p:cTn id="15" presetID="35" presetClass="emph" presetSubtype="0" repeatCount="3000" fill="hold" nodeType="afterEffect">
                                  <p:stCondLst>
                                    <p:cond delay="0"/>
                                  </p:stCondLst>
                                  <p:childTnLst>
                                    <p:anim calcmode="discrete" valueType="str">
                                      <p:cBhvr>
                                        <p:cTn id="16" dur="1000" fill="hold"/>
                                        <p:tgtEl>
                                          <p:spTgt spid="2774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7748"/>
                                        </p:tgtEl>
                                        <p:attrNameLst>
                                          <p:attrName>style.visibility</p:attrName>
                                        </p:attrNameLst>
                                      </p:cBhvr>
                                      <p:to>
                                        <p:strVal val="visible"/>
                                      </p:to>
                                    </p:set>
                                  </p:childTnLst>
                                </p:cTn>
                              </p:par>
                            </p:childTnLst>
                          </p:cTn>
                        </p:par>
                        <p:par>
                          <p:cTn id="21" fill="hold" nodeType="afterGroup">
                            <p:stCondLst>
                              <p:cond delay="0"/>
                            </p:stCondLst>
                            <p:childTnLst>
                              <p:par>
                                <p:cTn id="22" presetID="35" presetClass="emph" presetSubtype="0" repeatCount="3000" fill="hold" nodeType="afterEffect">
                                  <p:stCondLst>
                                    <p:cond delay="0"/>
                                  </p:stCondLst>
                                  <p:childTnLst>
                                    <p:anim calcmode="discrete" valueType="str">
                                      <p:cBhvr>
                                        <p:cTn id="23" dur="1000" fill="hold"/>
                                        <p:tgtEl>
                                          <p:spTgt spid="27748"/>
                                        </p:tgtEl>
                                        <p:attrNameLst>
                                          <p:attrName>style.visibility</p:attrName>
                                        </p:attrNameLst>
                                      </p:cBhvr>
                                      <p:tavLst>
                                        <p:tav tm="0">
                                          <p:val>
                                            <p:strVal val="hidden"/>
                                          </p:val>
                                        </p:tav>
                                        <p:tav tm="50000">
                                          <p:val>
                                            <p:strVal val="visible"/>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7749"/>
                                        </p:tgtEl>
                                        <p:attrNameLst>
                                          <p:attrName>style.visibility</p:attrName>
                                        </p:attrNameLst>
                                      </p:cBhvr>
                                      <p:to>
                                        <p:strVal val="visible"/>
                                      </p:to>
                                    </p:set>
                                  </p:childTnLst>
                                </p:cTn>
                              </p:par>
                            </p:childTnLst>
                          </p:cTn>
                        </p:par>
                        <p:par>
                          <p:cTn id="28" fill="hold" nodeType="afterGroup">
                            <p:stCondLst>
                              <p:cond delay="0"/>
                            </p:stCondLst>
                            <p:childTnLst>
                              <p:par>
                                <p:cTn id="29" presetID="35" presetClass="emph" presetSubtype="0" repeatCount="3000" fill="hold" nodeType="afterEffect">
                                  <p:stCondLst>
                                    <p:cond delay="0"/>
                                  </p:stCondLst>
                                  <p:childTnLst>
                                    <p:anim calcmode="discrete" valueType="str">
                                      <p:cBhvr>
                                        <p:cTn id="30" dur="1000" fill="hold"/>
                                        <p:tgtEl>
                                          <p:spTgt spid="27749"/>
                                        </p:tgtEl>
                                        <p:attrNameLst>
                                          <p:attrName>style.visibility</p:attrName>
                                        </p:attrNameLst>
                                      </p:cBhvr>
                                      <p:tavLst>
                                        <p:tav tm="0">
                                          <p:val>
                                            <p:strVal val="hidden"/>
                                          </p:val>
                                        </p:tav>
                                        <p:tav tm="50000">
                                          <p:val>
                                            <p:strVal val="visible"/>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7750"/>
                                        </p:tgtEl>
                                        <p:attrNameLst>
                                          <p:attrName>style.visibility</p:attrName>
                                        </p:attrNameLst>
                                      </p:cBhvr>
                                      <p:to>
                                        <p:strVal val="visible"/>
                                      </p:to>
                                    </p:set>
                                  </p:childTnLst>
                                </p:cTn>
                              </p:par>
                            </p:childTnLst>
                          </p:cTn>
                        </p:par>
                        <p:par>
                          <p:cTn id="35" fill="hold" nodeType="afterGroup">
                            <p:stCondLst>
                              <p:cond delay="0"/>
                            </p:stCondLst>
                            <p:childTnLst>
                              <p:par>
                                <p:cTn id="36" presetID="1" presetClass="entr" presetSubtype="0" fill="hold" nodeType="afterEffect">
                                  <p:stCondLst>
                                    <p:cond delay="500"/>
                                  </p:stCondLst>
                                  <p:childTnLst>
                                    <p:set>
                                      <p:cBhvr>
                                        <p:cTn id="37" dur="1" fill="hold">
                                          <p:stCondLst>
                                            <p:cond delay="0"/>
                                          </p:stCondLst>
                                        </p:cTn>
                                        <p:tgtEl>
                                          <p:spTgt spid="27751"/>
                                        </p:tgtEl>
                                        <p:attrNameLst>
                                          <p:attrName>style.visibility</p:attrName>
                                        </p:attrNameLst>
                                      </p:cBhvr>
                                      <p:to>
                                        <p:strVal val="visible"/>
                                      </p:to>
                                    </p:set>
                                  </p:childTnLst>
                                </p:cTn>
                              </p:par>
                            </p:childTnLst>
                          </p:cTn>
                        </p:par>
                        <p:par>
                          <p:cTn id="38" fill="hold" nodeType="afterGroup">
                            <p:stCondLst>
                              <p:cond delay="500"/>
                            </p:stCondLst>
                            <p:childTnLst>
                              <p:par>
                                <p:cTn id="39" presetID="1" presetClass="entr" presetSubtype="0" fill="hold" nodeType="afterEffect">
                                  <p:stCondLst>
                                    <p:cond delay="1000"/>
                                  </p:stCondLst>
                                  <p:childTnLst>
                                    <p:set>
                                      <p:cBhvr>
                                        <p:cTn id="40" dur="1" fill="hold">
                                          <p:stCondLst>
                                            <p:cond delay="0"/>
                                          </p:stCondLst>
                                        </p:cTn>
                                        <p:tgtEl>
                                          <p:spTgt spid="27752"/>
                                        </p:tgtEl>
                                        <p:attrNameLst>
                                          <p:attrName>style.visibility</p:attrName>
                                        </p:attrNameLst>
                                      </p:cBhvr>
                                      <p:to>
                                        <p:strVal val="visible"/>
                                      </p:to>
                                    </p:set>
                                  </p:childTnLst>
                                </p:cTn>
                              </p:par>
                            </p:childTnLst>
                          </p:cTn>
                        </p:par>
                        <p:par>
                          <p:cTn id="41" fill="hold" nodeType="afterGroup">
                            <p:stCondLst>
                              <p:cond delay="1500"/>
                            </p:stCondLst>
                            <p:childTnLst>
                              <p:par>
                                <p:cTn id="42" presetID="1" presetClass="entr" presetSubtype="0" fill="hold" nodeType="afterEffect">
                                  <p:stCondLst>
                                    <p:cond delay="1000"/>
                                  </p:stCondLst>
                                  <p:childTnLst>
                                    <p:set>
                                      <p:cBhvr>
                                        <p:cTn id="43" dur="1" fill="hold">
                                          <p:stCondLst>
                                            <p:cond delay="0"/>
                                          </p:stCondLst>
                                        </p:cTn>
                                        <p:tgtEl>
                                          <p:spTgt spid="27753"/>
                                        </p:tgtEl>
                                        <p:attrNameLst>
                                          <p:attrName>style.visibility</p:attrName>
                                        </p:attrNameLst>
                                      </p:cBhvr>
                                      <p:to>
                                        <p:strVal val="visible"/>
                                      </p:to>
                                    </p:set>
                                  </p:childTnLst>
                                </p:cTn>
                              </p:par>
                            </p:childTnLst>
                          </p:cTn>
                        </p:par>
                        <p:par>
                          <p:cTn id="44" fill="hold" nodeType="afterGroup">
                            <p:stCondLst>
                              <p:cond delay="2500"/>
                            </p:stCondLst>
                            <p:childTnLst>
                              <p:par>
                                <p:cTn id="45" presetID="1" presetClass="entr" presetSubtype="0" fill="hold" nodeType="afterEffect">
                                  <p:stCondLst>
                                    <p:cond delay="1000"/>
                                  </p:stCondLst>
                                  <p:childTnLst>
                                    <p:set>
                                      <p:cBhvr>
                                        <p:cTn id="46" dur="1" fill="hold">
                                          <p:stCondLst>
                                            <p:cond delay="0"/>
                                          </p:stCondLst>
                                        </p:cTn>
                                        <p:tgtEl>
                                          <p:spTgt spid="27754"/>
                                        </p:tgtEl>
                                        <p:attrNameLst>
                                          <p:attrName>style.visibility</p:attrName>
                                        </p:attrNameLst>
                                      </p:cBhvr>
                                      <p:to>
                                        <p:strVal val="visible"/>
                                      </p:to>
                                    </p:set>
                                  </p:childTnLst>
                                </p:cTn>
                              </p:par>
                            </p:childTnLst>
                          </p:cTn>
                        </p:par>
                        <p:par>
                          <p:cTn id="47" fill="hold" nodeType="afterGroup">
                            <p:stCondLst>
                              <p:cond delay="3500"/>
                            </p:stCondLst>
                            <p:childTnLst>
                              <p:par>
                                <p:cTn id="48" presetID="1" presetClass="entr" presetSubtype="0" fill="hold" nodeType="afterEffect">
                                  <p:stCondLst>
                                    <p:cond delay="1000"/>
                                  </p:stCondLst>
                                  <p:childTnLst>
                                    <p:set>
                                      <p:cBhvr>
                                        <p:cTn id="49" dur="1" fill="hold">
                                          <p:stCondLst>
                                            <p:cond delay="0"/>
                                          </p:stCondLst>
                                        </p:cTn>
                                        <p:tgtEl>
                                          <p:spTgt spid="27755"/>
                                        </p:tgtEl>
                                        <p:attrNameLst>
                                          <p:attrName>style.visibility</p:attrName>
                                        </p:attrNameLst>
                                      </p:cBhvr>
                                      <p:to>
                                        <p:strVal val="visible"/>
                                      </p:to>
                                    </p:set>
                                  </p:childTnLst>
                                </p:cTn>
                              </p:par>
                            </p:childTnLst>
                          </p:cTn>
                        </p:par>
                        <p:par>
                          <p:cTn id="50" fill="hold" nodeType="afterGroup">
                            <p:stCondLst>
                              <p:cond delay="4500"/>
                            </p:stCondLst>
                            <p:childTnLst>
                              <p:par>
                                <p:cTn id="51" presetID="1" presetClass="entr" presetSubtype="0" fill="hold" nodeType="afterEffect">
                                  <p:stCondLst>
                                    <p:cond delay="1000"/>
                                  </p:stCondLst>
                                  <p:childTnLst>
                                    <p:set>
                                      <p:cBhvr>
                                        <p:cTn id="52" dur="1" fill="hold">
                                          <p:stCondLst>
                                            <p:cond delay="0"/>
                                          </p:stCondLst>
                                        </p:cTn>
                                        <p:tgtEl>
                                          <p:spTgt spid="27756"/>
                                        </p:tgtEl>
                                        <p:attrNameLst>
                                          <p:attrName>style.visibility</p:attrName>
                                        </p:attrNameLst>
                                      </p:cBhvr>
                                      <p:to>
                                        <p:strVal val="visible"/>
                                      </p:to>
                                    </p:set>
                                  </p:childTnLst>
                                </p:cTn>
                              </p:par>
                            </p:childTnLst>
                          </p:cTn>
                        </p:par>
                        <p:par>
                          <p:cTn id="53" fill="hold" nodeType="afterGroup">
                            <p:stCondLst>
                              <p:cond delay="5500"/>
                            </p:stCondLst>
                            <p:childTnLst>
                              <p:par>
                                <p:cTn id="54" presetID="1" presetClass="entr" presetSubtype="0" fill="hold" nodeType="afterEffect">
                                  <p:stCondLst>
                                    <p:cond delay="1000"/>
                                  </p:stCondLst>
                                  <p:childTnLst>
                                    <p:set>
                                      <p:cBhvr>
                                        <p:cTn id="55" dur="1" fill="hold">
                                          <p:stCondLst>
                                            <p:cond delay="0"/>
                                          </p:stCondLst>
                                        </p:cTn>
                                        <p:tgtEl>
                                          <p:spTgt spid="27757"/>
                                        </p:tgtEl>
                                        <p:attrNameLst>
                                          <p:attrName>style.visibility</p:attrName>
                                        </p:attrNameLst>
                                      </p:cBhvr>
                                      <p:to>
                                        <p:strVal val="visible"/>
                                      </p:to>
                                    </p:set>
                                  </p:childTnLst>
                                </p:cTn>
                              </p:par>
                            </p:childTnLst>
                          </p:cTn>
                        </p:par>
                        <p:par>
                          <p:cTn id="56" fill="hold" nodeType="afterGroup">
                            <p:stCondLst>
                              <p:cond delay="6500"/>
                            </p:stCondLst>
                            <p:childTnLst>
                              <p:par>
                                <p:cTn id="57" presetID="1" presetClass="entr" presetSubtype="0" fill="hold" nodeType="afterEffect">
                                  <p:stCondLst>
                                    <p:cond delay="1000"/>
                                  </p:stCondLst>
                                  <p:childTnLst>
                                    <p:set>
                                      <p:cBhvr>
                                        <p:cTn id="58" dur="1" fill="hold">
                                          <p:stCondLst>
                                            <p:cond delay="0"/>
                                          </p:stCondLst>
                                        </p:cTn>
                                        <p:tgtEl>
                                          <p:spTgt spid="27758"/>
                                        </p:tgtEl>
                                        <p:attrNameLst>
                                          <p:attrName>style.visibility</p:attrName>
                                        </p:attrNameLst>
                                      </p:cBhvr>
                                      <p:to>
                                        <p:strVal val="visible"/>
                                      </p:to>
                                    </p:set>
                                  </p:childTnLst>
                                </p:cTn>
                              </p:par>
                            </p:childTnLst>
                          </p:cTn>
                        </p:par>
                        <p:par>
                          <p:cTn id="59" fill="hold" nodeType="afterGroup">
                            <p:stCondLst>
                              <p:cond delay="7500"/>
                            </p:stCondLst>
                            <p:childTnLst>
                              <p:par>
                                <p:cTn id="60" presetID="1" presetClass="entr" presetSubtype="0" fill="hold" nodeType="afterEffect">
                                  <p:stCondLst>
                                    <p:cond delay="1000"/>
                                  </p:stCondLst>
                                  <p:childTnLst>
                                    <p:set>
                                      <p:cBhvr>
                                        <p:cTn id="61" dur="1" fill="hold">
                                          <p:stCondLst>
                                            <p:cond delay="0"/>
                                          </p:stCondLst>
                                        </p:cTn>
                                        <p:tgtEl>
                                          <p:spTgt spid="27759"/>
                                        </p:tgtEl>
                                        <p:attrNameLst>
                                          <p:attrName>style.visibility</p:attrName>
                                        </p:attrNameLst>
                                      </p:cBhvr>
                                      <p:to>
                                        <p:strVal val="visible"/>
                                      </p:to>
                                    </p:set>
                                  </p:childTnLst>
                                </p:cTn>
                              </p:par>
                            </p:childTnLst>
                          </p:cTn>
                        </p:par>
                        <p:par>
                          <p:cTn id="62" fill="hold" nodeType="afterGroup">
                            <p:stCondLst>
                              <p:cond delay="8500"/>
                            </p:stCondLst>
                            <p:childTnLst>
                              <p:par>
                                <p:cTn id="63" presetID="1" presetClass="entr" presetSubtype="0" fill="hold" nodeType="afterEffect">
                                  <p:stCondLst>
                                    <p:cond delay="1000"/>
                                  </p:stCondLst>
                                  <p:childTnLst>
                                    <p:set>
                                      <p:cBhvr>
                                        <p:cTn id="64" dur="1" fill="hold">
                                          <p:stCondLst>
                                            <p:cond delay="0"/>
                                          </p:stCondLst>
                                        </p:cTn>
                                        <p:tgtEl>
                                          <p:spTgt spid="277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4294967295"/>
          </p:nvPr>
        </p:nvSpPr>
        <p:spPr bwMode="auto">
          <a:xfrm>
            <a:off x="6553200" y="6243638"/>
            <a:ext cx="2133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4A801E2A-5F3E-4324-A69C-2BCE32812151}" type="slidenum">
              <a:rPr lang="en-US" altLang="zh-CN"/>
              <a:pPr eaLnBrk="1" hangingPunct="1"/>
              <a:t>39</a:t>
            </a:fld>
            <a:endParaRPr lang="en-US" altLang="zh-CN"/>
          </a:p>
        </p:txBody>
      </p:sp>
      <p:sp>
        <p:nvSpPr>
          <p:cNvPr id="41987" name="Rectangle 5"/>
          <p:cNvSpPr>
            <a:spLocks noGrp="1" noChangeArrowheads="1"/>
          </p:cNvSpPr>
          <p:nvPr>
            <p:ph type="title"/>
          </p:nvPr>
        </p:nvSpPr>
        <p:spPr>
          <a:xfrm>
            <a:off x="1150938" y="214313"/>
            <a:ext cx="7793037" cy="838200"/>
          </a:xfrm>
        </p:spPr>
        <p:txBody>
          <a:bodyPr/>
          <a:lstStyle/>
          <a:p>
            <a:pPr algn="ctr"/>
            <a:r>
              <a:rPr lang="en-US" altLang="zh-CN" smtClean="0"/>
              <a:t>PCM</a:t>
            </a:r>
            <a:r>
              <a:rPr lang="zh-CN" altLang="en-US" smtClean="0"/>
              <a:t>帧结构</a:t>
            </a:r>
          </a:p>
        </p:txBody>
      </p:sp>
      <p:pic>
        <p:nvPicPr>
          <p:cNvPr id="41988" name="Picture 4" descr="2006081716033392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17513" y="1196975"/>
            <a:ext cx="8280400" cy="5443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989" name="Text Box 7"/>
          <p:cNvSpPr txBox="1">
            <a:spLocks noChangeArrowheads="1"/>
          </p:cNvSpPr>
          <p:nvPr/>
        </p:nvSpPr>
        <p:spPr bwMode="auto">
          <a:xfrm>
            <a:off x="6372225" y="4968875"/>
            <a:ext cx="232568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r>
              <a:rPr lang="en-US" altLang="zh-CN" sz="1600"/>
              <a:t>A1/A2</a:t>
            </a:r>
            <a:r>
              <a:rPr lang="zh-CN" altLang="en-US" sz="1600"/>
              <a:t>告警码，</a:t>
            </a:r>
          </a:p>
          <a:p>
            <a:pPr eaLnBrk="1" hangingPunct="1"/>
            <a:r>
              <a:rPr lang="zh-CN" altLang="en-US" sz="1600"/>
              <a:t>正常为</a:t>
            </a:r>
            <a:r>
              <a:rPr lang="en-US" altLang="zh-CN" sz="1600"/>
              <a:t>0</a:t>
            </a:r>
            <a:r>
              <a:rPr lang="zh-CN" altLang="en-US" sz="1600"/>
              <a:t>，告警为</a:t>
            </a:r>
            <a:r>
              <a:rPr lang="en-US" altLang="zh-CN" sz="1600"/>
              <a:t>1</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150938" y="260350"/>
            <a:ext cx="7793037" cy="1462088"/>
          </a:xfrm>
        </p:spPr>
        <p:txBody>
          <a:bodyPr/>
          <a:lstStyle/>
          <a:p>
            <a:pPr algn="ctr" eaLnBrk="1" hangingPunct="1"/>
            <a:r>
              <a:rPr lang="en-US" altLang="zh-CN" sz="3600" smtClean="0"/>
              <a:t>2. </a:t>
            </a:r>
            <a:r>
              <a:rPr lang="zh-CN" altLang="en-US" sz="3600" smtClean="0"/>
              <a:t>同步光纤网 </a:t>
            </a:r>
            <a:r>
              <a:rPr lang="en-US" altLang="zh-CN" sz="3600" smtClean="0"/>
              <a:t>SONET </a:t>
            </a:r>
            <a:r>
              <a:rPr lang="zh-CN" altLang="en-US" sz="3600" smtClean="0"/>
              <a:t>和</a:t>
            </a:r>
            <a:br>
              <a:rPr lang="zh-CN" altLang="en-US" sz="3600" smtClean="0"/>
            </a:br>
            <a:r>
              <a:rPr lang="zh-CN" altLang="en-US" sz="3600" smtClean="0"/>
              <a:t>同步数字系列 </a:t>
            </a:r>
            <a:r>
              <a:rPr lang="en-US" altLang="zh-CN" sz="3600" smtClean="0"/>
              <a:t>SDH </a:t>
            </a:r>
          </a:p>
        </p:txBody>
      </p:sp>
      <p:sp>
        <p:nvSpPr>
          <p:cNvPr id="161795" name="Rectangle 3"/>
          <p:cNvSpPr>
            <a:spLocks noGrp="1" noChangeArrowheads="1"/>
          </p:cNvSpPr>
          <p:nvPr>
            <p:ph type="body" idx="1"/>
          </p:nvPr>
        </p:nvSpPr>
        <p:spPr>
          <a:xfrm>
            <a:off x="539750" y="1917700"/>
            <a:ext cx="8459788" cy="4535488"/>
          </a:xfrm>
        </p:spPr>
        <p:txBody>
          <a:bodyPr/>
          <a:lstStyle/>
          <a:p>
            <a:pPr eaLnBrk="1" hangingPunct="1">
              <a:lnSpc>
                <a:spcPct val="90000"/>
              </a:lnSpc>
            </a:pPr>
            <a:r>
              <a:rPr lang="zh-CN" altLang="en-US" smtClean="0"/>
              <a:t>旧的数字传输系统存在着许多缺点。其中最主要的是以下两个方面： </a:t>
            </a:r>
          </a:p>
          <a:p>
            <a:pPr eaLnBrk="1" hangingPunct="1">
              <a:lnSpc>
                <a:spcPct val="90000"/>
              </a:lnSpc>
            </a:pPr>
            <a:r>
              <a:rPr lang="zh-CN" altLang="en-US" smtClean="0"/>
              <a:t>速率标准不统一。</a:t>
            </a:r>
          </a:p>
          <a:p>
            <a:pPr lvl="1" eaLnBrk="1" hangingPunct="1">
              <a:lnSpc>
                <a:spcPct val="90000"/>
              </a:lnSpc>
            </a:pPr>
            <a:r>
              <a:rPr lang="zh-CN" altLang="en-US" smtClean="0">
                <a:solidFill>
                  <a:srgbClr val="333399"/>
                </a:solidFill>
                <a:ea typeface="黑体" pitchFamily="49" charset="-122"/>
              </a:rPr>
              <a:t>如果不对高次群的数字传输速率进行标准化，国际范围的高速数据传输就很难实现。</a:t>
            </a:r>
            <a:r>
              <a:rPr lang="zh-CN" altLang="en-US" smtClean="0"/>
              <a:t> </a:t>
            </a:r>
          </a:p>
          <a:p>
            <a:pPr eaLnBrk="1" hangingPunct="1">
              <a:lnSpc>
                <a:spcPct val="90000"/>
              </a:lnSpc>
            </a:pPr>
            <a:r>
              <a:rPr lang="zh-CN" altLang="en-US" smtClean="0"/>
              <a:t>不是同步传输。</a:t>
            </a:r>
            <a:r>
              <a:rPr lang="en-US" altLang="zh-CN" smtClean="0"/>
              <a:t>(</a:t>
            </a:r>
            <a:r>
              <a:rPr lang="zh-CN" altLang="en-US" smtClean="0"/>
              <a:t>滑码）</a:t>
            </a:r>
          </a:p>
          <a:p>
            <a:pPr lvl="1" eaLnBrk="1" hangingPunct="1">
              <a:lnSpc>
                <a:spcPct val="90000"/>
              </a:lnSpc>
            </a:pPr>
            <a:r>
              <a:rPr lang="zh-CN" altLang="en-US" smtClean="0">
                <a:solidFill>
                  <a:srgbClr val="333399"/>
                </a:solidFill>
                <a:ea typeface="黑体" pitchFamily="49" charset="-122"/>
              </a:rPr>
              <a:t>在过去相当长的时间，为了节约经费，各国的数字网主要是采用</a:t>
            </a:r>
            <a:r>
              <a:rPr lang="zh-CN" altLang="en-US" smtClean="0">
                <a:solidFill>
                  <a:schemeClr val="hlink"/>
                </a:solidFill>
                <a:ea typeface="黑体" pitchFamily="49" charset="-122"/>
              </a:rPr>
              <a:t>准同步方式</a:t>
            </a:r>
            <a:r>
              <a:rPr lang="zh-CN" altLang="en-US" smtClean="0">
                <a:solidFill>
                  <a:srgbClr val="333399"/>
                </a:solidFill>
                <a:ea typeface="黑体" pitchFamily="49" charset="-122"/>
              </a:rPr>
              <a:t>。各网时钟独立、微小偏差不断累积。</a:t>
            </a:r>
            <a:r>
              <a:rPr lang="zh-CN" altLang="en-US" smtClean="0"/>
              <a:t>   </a:t>
            </a:r>
          </a:p>
        </p:txBody>
      </p:sp>
      <p:sp>
        <p:nvSpPr>
          <p:cNvPr id="430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013" name="Rectangle 6"/>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179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1795">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179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17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4294967295"/>
          </p:nvPr>
        </p:nvSpPr>
        <p:spPr bwMode="auto">
          <a:xfrm>
            <a:off x="67183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fld id="{45366580-1DBD-4AAF-B342-732AE0D503F0}" type="slidenum">
              <a:rPr lang="zh-CN" altLang="en-US"/>
              <a:pPr eaLnBrk="1" hangingPunct="1"/>
              <a:t>41</a:t>
            </a:fld>
            <a:endParaRPr lang="en-US" altLang="zh-CN"/>
          </a:p>
        </p:txBody>
      </p:sp>
      <p:sp>
        <p:nvSpPr>
          <p:cNvPr id="44035" name="Rectangle 6"/>
          <p:cNvSpPr>
            <a:spLocks noGrp="1" noChangeArrowheads="1"/>
          </p:cNvSpPr>
          <p:nvPr>
            <p:ph type="title"/>
          </p:nvPr>
        </p:nvSpPr>
        <p:spPr/>
        <p:txBody>
          <a:bodyPr/>
          <a:lstStyle/>
          <a:p>
            <a:r>
              <a:rPr lang="zh-CN" altLang="en-US" sz="2400" smtClean="0">
                <a:solidFill>
                  <a:srgbClr val="FF3300"/>
                </a:solidFill>
              </a:rPr>
              <a:t>时钟频率同步</a:t>
            </a:r>
            <a:r>
              <a:rPr lang="zh-CN" altLang="en-US" sz="2400" smtClean="0"/>
              <a:t>：要求网内的所有交换机都具有相同的发送时钟频率和接收时钟频率。 </a:t>
            </a:r>
            <a:br>
              <a:rPr lang="zh-CN" altLang="en-US" sz="2400" smtClean="0"/>
            </a:br>
            <a:r>
              <a:rPr lang="zh-CN" altLang="en-US" sz="2400" smtClean="0"/>
              <a:t>   失步时产生的后果： </a:t>
            </a:r>
          </a:p>
        </p:txBody>
      </p:sp>
      <p:pic>
        <p:nvPicPr>
          <p:cNvPr id="44036" name="Picture 5" descr="26副本"/>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29987" b="3394"/>
          <a:stretch>
            <a:fillRect/>
          </a:stretch>
        </p:blipFill>
        <p:spPr>
          <a:xfrm>
            <a:off x="1042988" y="2060575"/>
            <a:ext cx="6553200" cy="4248150"/>
          </a:xfr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150938" y="260350"/>
            <a:ext cx="7793037" cy="1462088"/>
          </a:xfrm>
        </p:spPr>
        <p:txBody>
          <a:bodyPr/>
          <a:lstStyle/>
          <a:p>
            <a:pPr algn="ctr" eaLnBrk="1" hangingPunct="1"/>
            <a:r>
              <a:rPr lang="zh-CN" altLang="en-US" smtClean="0"/>
              <a:t>同步光纤网 </a:t>
            </a:r>
            <a:r>
              <a:rPr lang="en-US" altLang="zh-CN" smtClean="0"/>
              <a:t>SONET</a:t>
            </a:r>
          </a:p>
        </p:txBody>
      </p:sp>
      <p:sp>
        <p:nvSpPr>
          <p:cNvPr id="160771" name="Rectangle 3"/>
          <p:cNvSpPr>
            <a:spLocks noGrp="1" noChangeArrowheads="1"/>
          </p:cNvSpPr>
          <p:nvPr>
            <p:ph type="body" idx="1"/>
          </p:nvPr>
        </p:nvSpPr>
        <p:spPr>
          <a:xfrm>
            <a:off x="395288" y="1917700"/>
            <a:ext cx="8604250" cy="4535488"/>
          </a:xfrm>
        </p:spPr>
        <p:txBody>
          <a:bodyPr/>
          <a:lstStyle/>
          <a:p>
            <a:pPr eaLnBrk="1" hangingPunct="1"/>
            <a:r>
              <a:rPr lang="zh-CN" altLang="en-US" smtClean="0">
                <a:solidFill>
                  <a:schemeClr val="hlink"/>
                </a:solidFill>
              </a:rPr>
              <a:t>同步光纤网</a:t>
            </a:r>
            <a:r>
              <a:rPr lang="zh-CN" altLang="en-US" smtClean="0"/>
              <a:t> </a:t>
            </a:r>
            <a:r>
              <a:rPr lang="en-US" altLang="zh-CN" smtClean="0"/>
              <a:t>SONET (Synchronous Optical Network) </a:t>
            </a:r>
            <a:r>
              <a:rPr lang="zh-CN" altLang="en-US" smtClean="0"/>
              <a:t>的各级时钟都来自一个非常精确的主时钟。 </a:t>
            </a:r>
          </a:p>
          <a:p>
            <a:pPr eaLnBrk="1" hangingPunct="1"/>
            <a:r>
              <a:rPr lang="zh-CN" altLang="en-US" smtClean="0"/>
              <a:t>第 </a:t>
            </a:r>
            <a:r>
              <a:rPr lang="en-US" altLang="zh-CN" smtClean="0"/>
              <a:t>1 </a:t>
            </a:r>
            <a:r>
              <a:rPr lang="zh-CN" altLang="en-US" smtClean="0"/>
              <a:t>级</a:t>
            </a:r>
            <a:r>
              <a:rPr lang="zh-CN" altLang="en-US" smtClean="0">
                <a:solidFill>
                  <a:schemeClr val="hlink"/>
                </a:solidFill>
              </a:rPr>
              <a:t>同步传送信号</a:t>
            </a:r>
            <a:r>
              <a:rPr lang="zh-CN" altLang="en-US" smtClean="0"/>
              <a:t> </a:t>
            </a:r>
            <a:r>
              <a:rPr lang="en-US" altLang="zh-CN" smtClean="0"/>
              <a:t>STS-1 (Synchronous Transport Signal)</a:t>
            </a:r>
            <a:r>
              <a:rPr lang="zh-CN" altLang="en-US" smtClean="0"/>
              <a:t>的传输速率是 </a:t>
            </a:r>
            <a:r>
              <a:rPr lang="en-US" altLang="zh-CN" smtClean="0"/>
              <a:t>51.84 Mb/s</a:t>
            </a:r>
            <a:r>
              <a:rPr lang="zh-CN" altLang="en-US" smtClean="0"/>
              <a:t>。</a:t>
            </a:r>
          </a:p>
          <a:p>
            <a:pPr eaLnBrk="1" hangingPunct="1"/>
            <a:r>
              <a:rPr lang="zh-CN" altLang="en-US" smtClean="0"/>
              <a:t>光信号则称为第 </a:t>
            </a:r>
            <a:r>
              <a:rPr lang="en-US" altLang="zh-CN" smtClean="0"/>
              <a:t>1 </a:t>
            </a:r>
            <a:r>
              <a:rPr lang="zh-CN" altLang="en-US" smtClean="0"/>
              <a:t>级</a:t>
            </a:r>
            <a:r>
              <a:rPr lang="zh-CN" altLang="en-US" smtClean="0">
                <a:solidFill>
                  <a:schemeClr val="hlink"/>
                </a:solidFill>
              </a:rPr>
              <a:t>光载波</a:t>
            </a:r>
            <a:r>
              <a:rPr lang="zh-CN" altLang="en-US" smtClean="0"/>
              <a:t> </a:t>
            </a:r>
            <a:r>
              <a:rPr lang="en-US" altLang="zh-CN" smtClean="0"/>
              <a:t>OC-1</a:t>
            </a:r>
            <a:r>
              <a:rPr lang="zh-CN" altLang="en-US" smtClean="0"/>
              <a:t>，</a:t>
            </a:r>
            <a:r>
              <a:rPr lang="en-US" altLang="zh-CN" smtClean="0"/>
              <a:t>OC </a:t>
            </a:r>
            <a:r>
              <a:rPr lang="zh-CN" altLang="en-US" smtClean="0"/>
              <a:t>表示</a:t>
            </a:r>
            <a:r>
              <a:rPr lang="en-US" altLang="zh-CN" smtClean="0"/>
              <a:t>Optical Carrier</a:t>
            </a:r>
            <a:r>
              <a:rPr lang="zh-CN" altLang="en-US" smtClean="0"/>
              <a:t>。  </a:t>
            </a:r>
          </a:p>
        </p:txBody>
      </p:sp>
      <p:sp>
        <p:nvSpPr>
          <p:cNvPr id="4506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061" name="Rectangle 6"/>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0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150938" y="260350"/>
            <a:ext cx="7793037" cy="1462088"/>
          </a:xfrm>
        </p:spPr>
        <p:txBody>
          <a:bodyPr/>
          <a:lstStyle/>
          <a:p>
            <a:pPr algn="ctr" eaLnBrk="1" hangingPunct="1"/>
            <a:r>
              <a:rPr lang="en-US" altLang="zh-CN" smtClean="0"/>
              <a:t/>
            </a:r>
            <a:br>
              <a:rPr lang="en-US" altLang="zh-CN" smtClean="0"/>
            </a:br>
            <a:r>
              <a:rPr lang="zh-CN" altLang="en-US" smtClean="0"/>
              <a:t>同步数字系列 </a:t>
            </a:r>
            <a:r>
              <a:rPr lang="en-US" altLang="zh-CN" b="1" smtClean="0"/>
              <a:t>SDH</a:t>
            </a:r>
            <a:r>
              <a:rPr lang="en-US" altLang="zh-CN" smtClean="0"/>
              <a:t> </a:t>
            </a:r>
          </a:p>
        </p:txBody>
      </p:sp>
      <p:sp>
        <p:nvSpPr>
          <p:cNvPr id="164867" name="Rectangle 3"/>
          <p:cNvSpPr>
            <a:spLocks noGrp="1" noChangeArrowheads="1"/>
          </p:cNvSpPr>
          <p:nvPr>
            <p:ph type="body" idx="1"/>
          </p:nvPr>
        </p:nvSpPr>
        <p:spPr>
          <a:xfrm>
            <a:off x="539750" y="1917700"/>
            <a:ext cx="8459788" cy="4535488"/>
          </a:xfrm>
        </p:spPr>
        <p:txBody>
          <a:bodyPr/>
          <a:lstStyle/>
          <a:p>
            <a:pPr eaLnBrk="1" hangingPunct="1"/>
            <a:r>
              <a:rPr lang="en-US" altLang="zh-CN" smtClean="0"/>
              <a:t>ITU-T </a:t>
            </a:r>
            <a:r>
              <a:rPr lang="zh-CN" altLang="en-US" smtClean="0"/>
              <a:t>以美国标准 </a:t>
            </a:r>
            <a:r>
              <a:rPr lang="en-US" altLang="zh-CN" smtClean="0"/>
              <a:t>SONET </a:t>
            </a:r>
            <a:r>
              <a:rPr lang="zh-CN" altLang="en-US" smtClean="0"/>
              <a:t>为基础，制订出国际标准</a:t>
            </a:r>
            <a:r>
              <a:rPr lang="zh-CN" altLang="en-US" smtClean="0">
                <a:solidFill>
                  <a:schemeClr val="hlink"/>
                </a:solidFill>
              </a:rPr>
              <a:t>同步数字系列</a:t>
            </a:r>
            <a:r>
              <a:rPr lang="zh-CN" altLang="en-US" smtClean="0"/>
              <a:t> </a:t>
            </a:r>
            <a:r>
              <a:rPr lang="en-US" altLang="zh-CN" smtClean="0"/>
              <a:t>SDH (Synchronous Digital Hierarchy)</a:t>
            </a:r>
            <a:r>
              <a:rPr lang="zh-CN" altLang="en-US" smtClean="0"/>
              <a:t>。</a:t>
            </a:r>
            <a:r>
              <a:rPr lang="en-US" altLang="zh-CN" smtClean="0"/>
              <a:t>(</a:t>
            </a:r>
            <a:r>
              <a:rPr lang="zh-CN" altLang="en-US" smtClean="0"/>
              <a:t>基本速率不同）</a:t>
            </a:r>
          </a:p>
          <a:p>
            <a:pPr eaLnBrk="1" hangingPunct="1"/>
            <a:r>
              <a:rPr lang="zh-CN" altLang="en-US" smtClean="0"/>
              <a:t>一般可认为 </a:t>
            </a:r>
            <a:r>
              <a:rPr lang="en-US" altLang="zh-CN" smtClean="0"/>
              <a:t>SDH </a:t>
            </a:r>
            <a:r>
              <a:rPr lang="zh-CN" altLang="en-US" smtClean="0"/>
              <a:t>与 </a:t>
            </a:r>
            <a:r>
              <a:rPr lang="en-US" altLang="zh-CN" smtClean="0"/>
              <a:t>SONET </a:t>
            </a:r>
            <a:r>
              <a:rPr lang="zh-CN" altLang="en-US" smtClean="0"/>
              <a:t>是同义词。</a:t>
            </a:r>
          </a:p>
          <a:p>
            <a:pPr eaLnBrk="1" hangingPunct="1"/>
            <a:r>
              <a:rPr lang="en-US" altLang="zh-CN" smtClean="0"/>
              <a:t>SDH </a:t>
            </a:r>
            <a:r>
              <a:rPr lang="zh-CN" altLang="en-US" smtClean="0"/>
              <a:t>的基本速率为 </a:t>
            </a:r>
            <a:r>
              <a:rPr lang="en-US" altLang="zh-CN" smtClean="0"/>
              <a:t>155.52 Mb/s</a:t>
            </a:r>
            <a:r>
              <a:rPr lang="zh-CN" altLang="en-US" smtClean="0"/>
              <a:t>，称为第 </a:t>
            </a:r>
            <a:r>
              <a:rPr lang="en-US" altLang="zh-CN" b="1" smtClean="0"/>
              <a:t>1 </a:t>
            </a:r>
            <a:r>
              <a:rPr lang="zh-CN" altLang="en-US" smtClean="0"/>
              <a:t>级</a:t>
            </a:r>
            <a:r>
              <a:rPr lang="zh-CN" altLang="en-US" smtClean="0">
                <a:solidFill>
                  <a:schemeClr val="hlink"/>
                </a:solidFill>
              </a:rPr>
              <a:t>同步传递模块</a:t>
            </a:r>
            <a:r>
              <a:rPr lang="zh-CN" altLang="en-US" smtClean="0"/>
              <a:t> </a:t>
            </a:r>
            <a:r>
              <a:rPr lang="en-US" altLang="zh-CN" smtClean="0"/>
              <a:t>(Synchronous Transfer Module)</a:t>
            </a:r>
            <a:r>
              <a:rPr lang="zh-CN" altLang="en-US" smtClean="0"/>
              <a:t>，即 </a:t>
            </a:r>
            <a:r>
              <a:rPr lang="en-US" altLang="zh-CN" smtClean="0"/>
              <a:t>STM-1</a:t>
            </a:r>
            <a:r>
              <a:rPr lang="zh-CN" altLang="en-US" smtClean="0"/>
              <a:t>，相当于 </a:t>
            </a:r>
            <a:r>
              <a:rPr lang="en-US" altLang="zh-CN" smtClean="0"/>
              <a:t>SONET </a:t>
            </a:r>
            <a:r>
              <a:rPr lang="zh-CN" altLang="en-US" smtClean="0"/>
              <a:t>体系中的 </a:t>
            </a:r>
            <a:r>
              <a:rPr lang="en-US" altLang="zh-CN" smtClean="0"/>
              <a:t>OC-3 </a:t>
            </a:r>
            <a:r>
              <a:rPr lang="zh-CN" altLang="en-US" smtClean="0"/>
              <a:t>速率。   </a:t>
            </a:r>
          </a:p>
        </p:txBody>
      </p:sp>
      <p:sp>
        <p:nvSpPr>
          <p:cNvPr id="4608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6085" name="Rectangle 6"/>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8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48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66305" name="Group 417"/>
          <p:cNvGraphicFramePr>
            <a:graphicFrameLocks noGrp="1"/>
          </p:cNvGraphicFramePr>
          <p:nvPr/>
        </p:nvGraphicFramePr>
        <p:xfrm>
          <a:off x="144463" y="1060450"/>
          <a:ext cx="8820150" cy="5600700"/>
        </p:xfrm>
        <a:graphic>
          <a:graphicData uri="http://schemas.openxmlformats.org/drawingml/2006/table">
            <a:tbl>
              <a:tblPr/>
              <a:tblGrid>
                <a:gridCol w="1690687">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gridCol w="2700338">
                  <a:extLst>
                    <a:ext uri="{9D8B030D-6E8A-4147-A177-3AD203B41FA5}">
                      <a16:colId xmlns:a16="http://schemas.microsoft.com/office/drawing/2014/main" val="20003"/>
                    </a:ext>
                  </a:extLst>
                </a:gridCol>
              </a:tblGrid>
              <a:tr h="8229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smtClean="0">
                          <a:ln>
                            <a:noFill/>
                          </a:ln>
                          <a:solidFill>
                            <a:srgbClr val="333399"/>
                          </a:solidFill>
                          <a:effectLst/>
                          <a:latin typeface="Arial" charset="0"/>
                          <a:ea typeface="黑体" pitchFamily="2" charset="-122"/>
                          <a:cs typeface="Times New Roman" pitchFamily="18" charset="0"/>
                        </a:rPr>
                        <a:t>线路速率</a:t>
                      </a:r>
                      <a:endParaRPr kumimoji="0" lang="zh-CN" altLang="en-US" sz="2800" b="0" i="0" u="none" strike="noStrike" cap="none" normalizeH="0" baseline="0" dirty="0" smtClean="0">
                        <a:ln>
                          <a:noFill/>
                        </a:ln>
                        <a:solidFill>
                          <a:srgbClr val="333399"/>
                        </a:solidFill>
                        <a:effectLst/>
                        <a:latin typeface="Arial" charset="0"/>
                        <a:ea typeface="黑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rgbClr val="333399"/>
                          </a:solidFill>
                          <a:effectLst/>
                          <a:latin typeface="Arial" charset="0"/>
                          <a:ea typeface="黑体" pitchFamily="2" charset="-122"/>
                          <a:cs typeface="Times New Roman" pitchFamily="18" charset="0"/>
                        </a:rPr>
                        <a:t>(Mb/s)</a:t>
                      </a:r>
                      <a:endParaRPr kumimoji="0" lang="en-US" altLang="zh-CN" sz="4400" b="0" i="0" u="none" strike="noStrike" cap="none" normalizeH="0" baseline="0" dirty="0" smtClean="0">
                        <a:ln>
                          <a:noFill/>
                        </a:ln>
                        <a:solidFill>
                          <a:srgbClr val="333399"/>
                        </a:solidFill>
                        <a:effectLst/>
                        <a:latin typeface="Arial" charset="0"/>
                        <a:ea typeface="黑体"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SONET</a:t>
                      </a:r>
                      <a:endParaRPr kumimoji="0" lang="en-US" altLang="zh-CN" sz="2800" b="0" i="0" u="none" strike="noStrike" cap="none" normalizeH="0" baseline="0" smtClean="0">
                        <a:ln>
                          <a:noFill/>
                        </a:ln>
                        <a:solidFill>
                          <a:srgbClr val="333399"/>
                        </a:solidFill>
                        <a:effectLst/>
                        <a:latin typeface="Arial" charset="0"/>
                        <a:ea typeface="黑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333399"/>
                          </a:solidFill>
                          <a:effectLst/>
                          <a:latin typeface="Arial" charset="0"/>
                          <a:ea typeface="黑体" pitchFamily="2" charset="-122"/>
                          <a:cs typeface="Times New Roman" pitchFamily="18" charset="0"/>
                        </a:rPr>
                        <a:t>符号</a:t>
                      </a:r>
                      <a:endParaRPr kumimoji="0" lang="zh-CN" altLang="en-US" sz="4400" b="0" i="0" u="none" strike="noStrike" cap="none" normalizeH="0" baseline="0" smtClean="0">
                        <a:ln>
                          <a:noFill/>
                        </a:ln>
                        <a:solidFill>
                          <a:srgbClr val="333399"/>
                        </a:solidFill>
                        <a:effectLst/>
                        <a:latin typeface="Arial" charset="0"/>
                        <a:ea typeface="黑体"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ITU-T</a:t>
                      </a:r>
                      <a:endParaRPr kumimoji="0" lang="en-US" altLang="zh-CN" sz="2800" b="0" i="0" u="none" strike="noStrike" cap="none" normalizeH="0" baseline="0" smtClean="0">
                        <a:ln>
                          <a:noFill/>
                        </a:ln>
                        <a:solidFill>
                          <a:srgbClr val="333399"/>
                        </a:solidFill>
                        <a:effectLst/>
                        <a:latin typeface="Arial" charset="0"/>
                        <a:ea typeface="黑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333399"/>
                          </a:solidFill>
                          <a:effectLst/>
                          <a:latin typeface="Arial" charset="0"/>
                          <a:ea typeface="黑体" pitchFamily="2" charset="-122"/>
                          <a:cs typeface="Times New Roman" pitchFamily="18" charset="0"/>
                        </a:rPr>
                        <a:t>符号</a:t>
                      </a:r>
                      <a:endParaRPr kumimoji="0" lang="zh-CN" altLang="en-US" sz="4400" b="0" i="0" u="none" strike="noStrike" cap="none" normalizeH="0" baseline="0" smtClean="0">
                        <a:ln>
                          <a:noFill/>
                        </a:ln>
                        <a:solidFill>
                          <a:srgbClr val="333399"/>
                        </a:solidFill>
                        <a:effectLst/>
                        <a:latin typeface="Arial" charset="0"/>
                        <a:ea typeface="黑体"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333399"/>
                          </a:solidFill>
                          <a:effectLst/>
                          <a:latin typeface="Arial" charset="0"/>
                          <a:ea typeface="黑体" pitchFamily="2" charset="-122"/>
                          <a:cs typeface="Times New Roman" pitchFamily="18" charset="0"/>
                        </a:rPr>
                        <a:t>表示线路速率</a:t>
                      </a:r>
                      <a:endParaRPr kumimoji="0" lang="zh-CN" altLang="en-US" sz="2800" b="0" i="0" u="none" strike="noStrike" cap="none" normalizeH="0" baseline="0" smtClean="0">
                        <a:ln>
                          <a:noFill/>
                        </a:ln>
                        <a:solidFill>
                          <a:srgbClr val="333399"/>
                        </a:solidFill>
                        <a:effectLst/>
                        <a:latin typeface="Arial" charset="0"/>
                        <a:ea typeface="黑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rgbClr val="333399"/>
                          </a:solidFill>
                          <a:effectLst/>
                          <a:latin typeface="Arial" charset="0"/>
                          <a:ea typeface="黑体" pitchFamily="2" charset="-122"/>
                          <a:cs typeface="Times New Roman" pitchFamily="18" charset="0"/>
                        </a:rPr>
                        <a:t>的常用近似值</a:t>
                      </a:r>
                      <a:endParaRPr kumimoji="0" lang="zh-CN" altLang="en-US" sz="4400" b="0" i="0" u="none" strike="noStrike" cap="none" normalizeH="0" baseline="0" smtClean="0">
                        <a:ln>
                          <a:noFill/>
                        </a:ln>
                        <a:solidFill>
                          <a:srgbClr val="333399"/>
                        </a:solidFill>
                        <a:effectLst/>
                        <a:latin typeface="Arial" charset="0"/>
                        <a:ea typeface="黑体"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1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  51.840</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rgbClr val="333399"/>
                          </a:solidFill>
                          <a:effectLst/>
                          <a:latin typeface="Arial" charset="0"/>
                          <a:ea typeface="黑体" pitchFamily="2" charset="-122"/>
                          <a:cs typeface="Times New Roman" pitchFamily="18" charset="0"/>
                        </a:rPr>
                        <a:t>OC-1/STS-1</a:t>
                      </a:r>
                      <a:endParaRPr kumimoji="0" lang="en-US" altLang="zh-CN" sz="4400" b="0" i="0" u="none" strike="noStrike" cap="none" normalizeH="0" baseline="0" dirty="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sym typeface="Symbol" pitchFamily="18" charset="2"/>
                        </a:rPr>
                        <a:t></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smtClean="0">
                        <a:ln>
                          <a:noFill/>
                        </a:ln>
                        <a:solidFill>
                          <a:srgbClr val="333399"/>
                        </a:solidFill>
                        <a:effectLst/>
                        <a:latin typeface="Arial" charset="0"/>
                        <a:ea typeface="黑体"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1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 155.520</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rgbClr val="333399"/>
                          </a:solidFill>
                          <a:effectLst/>
                          <a:latin typeface="Arial" charset="0"/>
                          <a:ea typeface="黑体" pitchFamily="2" charset="-122"/>
                          <a:cs typeface="Times New Roman" pitchFamily="18" charset="0"/>
                        </a:rPr>
                        <a:t>OC-3/STS-3</a:t>
                      </a:r>
                      <a:endParaRPr kumimoji="0" lang="en-US" altLang="zh-CN" sz="4400" b="0" i="0" u="none" strike="noStrike" cap="none" normalizeH="0" baseline="0" dirty="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rgbClr val="333399"/>
                          </a:solidFill>
                          <a:effectLst/>
                          <a:latin typeface="Arial" charset="0"/>
                          <a:ea typeface="黑体" pitchFamily="2" charset="-122"/>
                          <a:cs typeface="Times New Roman" pitchFamily="18" charset="0"/>
                        </a:rPr>
                        <a:t>STM-1</a:t>
                      </a:r>
                      <a:endParaRPr kumimoji="0" lang="en-US" altLang="zh-CN" sz="4400" b="0" i="0" u="none" strike="noStrike" cap="none" normalizeH="0" baseline="0" dirty="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155 Mb/s</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1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 466.560</a:t>
                      </a:r>
                      <a:endParaRPr kumimoji="0" lang="en-US" altLang="zh-CN" sz="32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rgbClr val="333399"/>
                          </a:solidFill>
                          <a:effectLst/>
                          <a:latin typeface="Arial" charset="0"/>
                          <a:ea typeface="黑体" pitchFamily="2" charset="-122"/>
                          <a:cs typeface="Times New Roman" pitchFamily="18" charset="0"/>
                        </a:rPr>
                        <a:t>OC-9/STS-9</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STM-3</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smtClean="0">
                        <a:ln>
                          <a:noFill/>
                        </a:ln>
                        <a:solidFill>
                          <a:srgbClr val="333399"/>
                        </a:solidFill>
                        <a:effectLst/>
                        <a:latin typeface="Arial" charset="0"/>
                        <a:ea typeface="黑体"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1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 622.080</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OC-12/STS-12</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STM-4</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622 Mb/s</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1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 933.120</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OC-18/STS-18</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STM-6</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smtClean="0">
                        <a:ln>
                          <a:noFill/>
                        </a:ln>
                        <a:solidFill>
                          <a:srgbClr val="333399"/>
                        </a:solidFill>
                        <a:effectLst/>
                        <a:latin typeface="Arial" charset="0"/>
                        <a:ea typeface="黑体"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1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1244.160</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rgbClr val="333399"/>
                          </a:solidFill>
                          <a:effectLst/>
                          <a:latin typeface="Arial" charset="0"/>
                          <a:ea typeface="黑体" pitchFamily="2" charset="-122"/>
                          <a:cs typeface="Times New Roman" pitchFamily="18" charset="0"/>
                        </a:rPr>
                        <a:t>OC-24/STS-24</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STM-8</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smtClean="0">
                        <a:ln>
                          <a:noFill/>
                        </a:ln>
                        <a:solidFill>
                          <a:srgbClr val="333399"/>
                        </a:solidFill>
                        <a:effectLst/>
                        <a:latin typeface="Arial" charset="0"/>
                        <a:ea typeface="黑体"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745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2488.320</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OC-48/STS-48</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STM-16</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2.5 Gb/s</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4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4976.640</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OC-96/STS-96</a:t>
                      </a:r>
                      <a:endParaRPr kumimoji="0" lang="en-US" altLang="zh-CN" sz="44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STM-32</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800" b="0" i="0" u="none" strike="noStrike" cap="none" normalizeH="0" baseline="0" smtClean="0">
                        <a:ln>
                          <a:noFill/>
                        </a:ln>
                        <a:solidFill>
                          <a:srgbClr val="333399"/>
                        </a:solidFill>
                        <a:effectLst/>
                        <a:latin typeface="Arial" charset="0"/>
                        <a:ea typeface="黑体" pitchFamily="2" charset="-122"/>
                        <a:cs typeface="Times New Roman"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8094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9953.280</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OC-192/STS-192</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STM-64</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smtClean="0">
                          <a:ln>
                            <a:noFill/>
                          </a:ln>
                          <a:solidFill>
                            <a:srgbClr val="333399"/>
                          </a:solidFill>
                          <a:effectLst/>
                          <a:latin typeface="Arial" charset="0"/>
                          <a:ea typeface="黑体" pitchFamily="2" charset="-122"/>
                          <a:cs typeface="Times New Roman" pitchFamily="18" charset="0"/>
                        </a:rPr>
                        <a:t>10 Gb/s</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4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rPr>
                        <a:t>39813.120</a:t>
                      </a:r>
                      <a:r>
                        <a:rPr kumimoji="0" lang="en-US" altLang="zh-CN" sz="2800" b="0" i="0" u="none" strike="noStrike" cap="none" normalizeH="0" baseline="0" smtClean="0">
                          <a:ln>
                            <a:noFill/>
                          </a:ln>
                          <a:solidFill>
                            <a:srgbClr val="333399"/>
                          </a:solidFill>
                          <a:effectLst/>
                          <a:latin typeface="Arial" charset="0"/>
                          <a:ea typeface="黑体" pitchFamily="2" charset="-122"/>
                        </a:rPr>
                        <a:t> </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rPr>
                        <a:t>OC-768/STS-768</a:t>
                      </a:r>
                      <a:r>
                        <a:rPr kumimoji="0" lang="en-US" altLang="zh-CN" sz="2800" b="0" i="0" u="none" strike="noStrike" cap="none" normalizeH="0" baseline="0" smtClean="0">
                          <a:ln>
                            <a:noFill/>
                          </a:ln>
                          <a:solidFill>
                            <a:srgbClr val="333399"/>
                          </a:solidFill>
                          <a:effectLst/>
                          <a:latin typeface="Arial" charset="0"/>
                          <a:ea typeface="黑体" pitchFamily="2" charset="-122"/>
                        </a:rPr>
                        <a:t> </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rgbClr val="333399"/>
                          </a:solidFill>
                          <a:effectLst/>
                          <a:latin typeface="Arial" charset="0"/>
                          <a:ea typeface="黑体" pitchFamily="2" charset="-122"/>
                        </a:rPr>
                        <a:t>STM-256</a:t>
                      </a:r>
                      <a:r>
                        <a:rPr kumimoji="0" lang="en-US" altLang="zh-CN" sz="2800" b="0" i="0" u="none" strike="noStrike" cap="none" normalizeH="0" baseline="0" smtClean="0">
                          <a:ln>
                            <a:noFill/>
                          </a:ln>
                          <a:solidFill>
                            <a:srgbClr val="333399"/>
                          </a:solidFill>
                          <a:effectLst/>
                          <a:latin typeface="Arial" charset="0"/>
                          <a:ea typeface="黑体" pitchFamily="2" charset="-122"/>
                        </a:rPr>
                        <a:t> </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smtClean="0">
                          <a:ln>
                            <a:noFill/>
                          </a:ln>
                          <a:solidFill>
                            <a:srgbClr val="333399"/>
                          </a:solidFill>
                          <a:effectLst/>
                          <a:latin typeface="Arial" charset="0"/>
                          <a:ea typeface="黑体" pitchFamily="2" charset="-122"/>
                        </a:rPr>
                        <a:t>40 Gb/s</a:t>
                      </a:r>
                      <a:r>
                        <a:rPr kumimoji="0" lang="en-US" altLang="zh-CN" sz="2800" b="0" i="0" u="none" strike="noStrike" cap="none" normalizeH="0" baseline="0" smtClean="0">
                          <a:ln>
                            <a:noFill/>
                          </a:ln>
                          <a:solidFill>
                            <a:srgbClr val="333399"/>
                          </a:solidFill>
                          <a:effectLst/>
                          <a:latin typeface="Arial" charset="0"/>
                          <a:ea typeface="黑体" pitchFamily="2" charset="-122"/>
                        </a:rPr>
                        <a:t> </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47169" name="Text Box 321"/>
          <p:cNvSpPr txBox="1">
            <a:spLocks noChangeArrowheads="1"/>
          </p:cNvSpPr>
          <p:nvPr/>
        </p:nvSpPr>
        <p:spPr bwMode="auto">
          <a:xfrm>
            <a:off x="34925" y="157163"/>
            <a:ext cx="90297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en-US" altLang="zh-CN" sz="2800">
                <a:solidFill>
                  <a:srgbClr val="333399"/>
                </a:solidFill>
                <a:latin typeface="Arial" pitchFamily="34" charset="0"/>
                <a:ea typeface="黑体" pitchFamily="49" charset="-122"/>
              </a:rPr>
              <a:t>SONET </a:t>
            </a:r>
            <a:r>
              <a:rPr lang="zh-CN" altLang="en-US" sz="2800">
                <a:solidFill>
                  <a:srgbClr val="333399"/>
                </a:solidFill>
                <a:latin typeface="Arial" pitchFamily="34" charset="0"/>
                <a:ea typeface="黑体" pitchFamily="49" charset="-122"/>
              </a:rPr>
              <a:t>的 </a:t>
            </a:r>
            <a:r>
              <a:rPr lang="en-US" altLang="zh-CN" sz="2800">
                <a:solidFill>
                  <a:srgbClr val="333399"/>
                </a:solidFill>
                <a:latin typeface="Arial" pitchFamily="34" charset="0"/>
                <a:ea typeface="黑体" pitchFamily="49" charset="-122"/>
              </a:rPr>
              <a:t>OC </a:t>
            </a:r>
            <a:r>
              <a:rPr lang="zh-CN" altLang="en-US" sz="2800">
                <a:solidFill>
                  <a:srgbClr val="333399"/>
                </a:solidFill>
                <a:latin typeface="Arial" pitchFamily="34" charset="0"/>
                <a:ea typeface="黑体" pitchFamily="49" charset="-122"/>
              </a:rPr>
              <a:t>级</a:t>
            </a:r>
            <a:r>
              <a:rPr lang="en-US" altLang="zh-CN" sz="2800">
                <a:solidFill>
                  <a:srgbClr val="333399"/>
                </a:solidFill>
                <a:latin typeface="Arial" pitchFamily="34" charset="0"/>
                <a:ea typeface="黑体" pitchFamily="49" charset="-122"/>
              </a:rPr>
              <a:t>/STS </a:t>
            </a:r>
            <a:r>
              <a:rPr lang="zh-CN" altLang="en-US" sz="2800">
                <a:solidFill>
                  <a:srgbClr val="333399"/>
                </a:solidFill>
                <a:latin typeface="Arial" pitchFamily="34" charset="0"/>
                <a:ea typeface="黑体" pitchFamily="49" charset="-122"/>
              </a:rPr>
              <a:t>级与 </a:t>
            </a:r>
            <a:r>
              <a:rPr lang="en-US" altLang="zh-CN" sz="2800">
                <a:solidFill>
                  <a:srgbClr val="333399"/>
                </a:solidFill>
                <a:latin typeface="Arial" pitchFamily="34" charset="0"/>
                <a:ea typeface="黑体" pitchFamily="49" charset="-122"/>
              </a:rPr>
              <a:t>SDH </a:t>
            </a:r>
            <a:r>
              <a:rPr lang="zh-CN" altLang="en-US" sz="2800">
                <a:solidFill>
                  <a:srgbClr val="333399"/>
                </a:solidFill>
                <a:latin typeface="Arial" pitchFamily="34" charset="0"/>
                <a:ea typeface="黑体" pitchFamily="49" charset="-122"/>
              </a:rPr>
              <a:t>的 </a:t>
            </a:r>
            <a:r>
              <a:rPr lang="en-US" altLang="zh-CN" sz="2800">
                <a:solidFill>
                  <a:srgbClr val="333399"/>
                </a:solidFill>
                <a:latin typeface="Arial" pitchFamily="34" charset="0"/>
                <a:ea typeface="黑体" pitchFamily="49" charset="-122"/>
              </a:rPr>
              <a:t>STM </a:t>
            </a:r>
            <a:r>
              <a:rPr lang="zh-CN" altLang="en-US" sz="2800">
                <a:solidFill>
                  <a:srgbClr val="333399"/>
                </a:solidFill>
                <a:latin typeface="Arial" pitchFamily="34" charset="0"/>
                <a:ea typeface="黑体" pitchFamily="49" charset="-122"/>
              </a:rPr>
              <a:t>级的对应关系 </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1524000" y="5791200"/>
            <a:ext cx="541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just" eaLnBrk="1" hangingPunct="1">
              <a:spcBef>
                <a:spcPct val="50000"/>
              </a:spcBef>
            </a:pPr>
            <a:r>
              <a:rPr kumimoji="1" lang="zh-CN" altLang="en-US" sz="2000">
                <a:latin typeface="Times New Roman" pitchFamily="18" charset="0"/>
              </a:rPr>
              <a:t> </a:t>
            </a:r>
            <a:r>
              <a:rPr kumimoji="1" lang="en-US" altLang="zh-CN" sz="2000">
                <a:latin typeface="Times New Roman" pitchFamily="18" charset="0"/>
              </a:rPr>
              <a:t>    </a:t>
            </a:r>
            <a:r>
              <a:rPr kumimoji="1" lang="zh-CN" altLang="en-US" sz="2000">
                <a:latin typeface="Times New Roman" pitchFamily="18" charset="0"/>
              </a:rPr>
              <a:t>北美采用的数字</a:t>
            </a:r>
            <a:r>
              <a:rPr kumimoji="1" lang="en-US" altLang="zh-CN" sz="2000">
                <a:latin typeface="Times New Roman" pitchFamily="18" charset="0"/>
              </a:rPr>
              <a:t>TDM</a:t>
            </a:r>
            <a:r>
              <a:rPr kumimoji="1" lang="zh-CN" altLang="en-US" sz="2000">
                <a:latin typeface="Times New Roman" pitchFamily="18" charset="0"/>
              </a:rPr>
              <a:t>等级结构</a:t>
            </a:r>
          </a:p>
        </p:txBody>
      </p:sp>
      <p:graphicFrame>
        <p:nvGraphicFramePr>
          <p:cNvPr id="48131" name="Object 3"/>
          <p:cNvGraphicFramePr>
            <a:graphicFrameLocks noChangeAspect="1"/>
          </p:cNvGraphicFramePr>
          <p:nvPr/>
        </p:nvGraphicFramePr>
        <p:xfrm>
          <a:off x="381000" y="2205038"/>
          <a:ext cx="7696200" cy="2328862"/>
        </p:xfrm>
        <a:graphic>
          <a:graphicData uri="http://schemas.openxmlformats.org/presentationml/2006/ole">
            <mc:AlternateContent xmlns:mc="http://schemas.openxmlformats.org/markup-compatibility/2006">
              <mc:Choice xmlns:v="urn:schemas-microsoft-com:vml" Requires="v">
                <p:oleObj spid="_x0000_s48133" name="VISIO" r:id="rId3" imgW="4023360" imgH="1219200" progId="Visio.Drawing.4">
                  <p:embed/>
                </p:oleObj>
              </mc:Choice>
              <mc:Fallback>
                <p:oleObj name="VISIO" r:id="rId3" imgW="4023360" imgH="1219200" progId="Visio.Drawing.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205038"/>
                        <a:ext cx="7696200" cy="2328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algn="ctr" eaLnBrk="1" hangingPunct="1"/>
            <a:r>
              <a:rPr lang="en-US" altLang="zh-CN" smtClean="0"/>
              <a:t>2.6  </a:t>
            </a:r>
            <a:r>
              <a:rPr lang="zh-CN" altLang="en-US" smtClean="0"/>
              <a:t>宽带接入技术</a:t>
            </a:r>
            <a:br>
              <a:rPr lang="zh-CN" altLang="en-US" smtClean="0"/>
            </a:br>
            <a:r>
              <a:rPr lang="en-US" altLang="zh-CN" sz="4000" smtClean="0"/>
              <a:t>2.6.1  xDSL</a:t>
            </a:r>
            <a:r>
              <a:rPr lang="zh-CN" altLang="en-US" sz="4000" smtClean="0"/>
              <a:t>技术</a:t>
            </a:r>
          </a:p>
        </p:txBody>
      </p:sp>
      <p:sp>
        <p:nvSpPr>
          <p:cNvPr id="49155" name="Rectangle 3"/>
          <p:cNvSpPr>
            <a:spLocks noGrp="1" noChangeArrowheads="1"/>
          </p:cNvSpPr>
          <p:nvPr>
            <p:ph type="body" idx="1"/>
          </p:nvPr>
        </p:nvSpPr>
        <p:spPr>
          <a:xfrm>
            <a:off x="827088" y="1773238"/>
            <a:ext cx="7988300" cy="4751387"/>
          </a:xfrm>
        </p:spPr>
        <p:txBody>
          <a:bodyPr/>
          <a:lstStyle/>
          <a:p>
            <a:pPr eaLnBrk="1" hangingPunct="1"/>
            <a:r>
              <a:rPr lang="en-US" altLang="zh-CN" sz="2600" smtClean="0"/>
              <a:t>xDSL </a:t>
            </a:r>
            <a:r>
              <a:rPr lang="zh-CN" altLang="en-US" sz="2600" smtClean="0"/>
              <a:t>技术就是用数字技术对现有的模拟电话用户线进行改造，使它能够承载宽带业务。</a:t>
            </a:r>
          </a:p>
          <a:p>
            <a:pPr eaLnBrk="1" hangingPunct="1"/>
            <a:r>
              <a:rPr lang="zh-CN" altLang="en-US" sz="2600" smtClean="0"/>
              <a:t>虽然标准模拟电话信号的频带被限制在 </a:t>
            </a:r>
            <a:r>
              <a:rPr lang="en-US" altLang="zh-CN" sz="2600" smtClean="0"/>
              <a:t>300~3400 kHz </a:t>
            </a:r>
            <a:r>
              <a:rPr lang="zh-CN" altLang="en-US" sz="2600" smtClean="0"/>
              <a:t>的范围内，但用户线本身实际可通过的信号频率仍然超过 </a:t>
            </a:r>
            <a:r>
              <a:rPr lang="en-US" altLang="zh-CN" sz="2600" smtClean="0"/>
              <a:t>1 MHz</a:t>
            </a:r>
            <a:r>
              <a:rPr lang="zh-CN" altLang="en-US" sz="2600" smtClean="0"/>
              <a:t>。</a:t>
            </a:r>
          </a:p>
          <a:p>
            <a:pPr eaLnBrk="1" hangingPunct="1"/>
            <a:r>
              <a:rPr lang="en-US" altLang="zh-CN" sz="2600" smtClean="0"/>
              <a:t>xDSL </a:t>
            </a:r>
            <a:r>
              <a:rPr lang="zh-CN" altLang="en-US" sz="2600" smtClean="0"/>
              <a:t>技术就把 </a:t>
            </a:r>
            <a:r>
              <a:rPr lang="en-US" altLang="zh-CN" sz="2600" smtClean="0"/>
              <a:t>0~4 kHz </a:t>
            </a:r>
            <a:r>
              <a:rPr lang="zh-CN" altLang="en-US" sz="2600" smtClean="0"/>
              <a:t>低端频谱留给传统电话使用，而</a:t>
            </a:r>
            <a:r>
              <a:rPr lang="zh-CN" altLang="en-US" sz="2600" smtClean="0">
                <a:solidFill>
                  <a:schemeClr val="hlink"/>
                </a:solidFill>
              </a:rPr>
              <a:t>把原来没有被利用的高端频谱留给用户上网使用</a:t>
            </a:r>
            <a:r>
              <a:rPr lang="zh-CN" altLang="en-US" sz="2600" smtClean="0"/>
              <a:t>。</a:t>
            </a:r>
          </a:p>
          <a:p>
            <a:pPr eaLnBrk="1" hangingPunct="1"/>
            <a:r>
              <a:rPr lang="en-US" altLang="zh-CN" sz="2600" smtClean="0"/>
              <a:t>DSL </a:t>
            </a:r>
            <a:r>
              <a:rPr lang="zh-CN" altLang="en-US" sz="2600" smtClean="0"/>
              <a:t>就是</a:t>
            </a:r>
            <a:r>
              <a:rPr lang="zh-CN" altLang="en-US" sz="2600" smtClean="0">
                <a:solidFill>
                  <a:schemeClr val="hlink"/>
                </a:solidFill>
              </a:rPr>
              <a:t>数字用户线</a:t>
            </a:r>
            <a:r>
              <a:rPr lang="en-US" altLang="zh-CN" sz="2600" smtClean="0"/>
              <a:t>(Digital Subscriber Line)</a:t>
            </a:r>
            <a:r>
              <a:rPr lang="zh-CN" altLang="en-US" sz="2600" smtClean="0"/>
              <a:t>的缩写。而 </a:t>
            </a:r>
            <a:r>
              <a:rPr lang="en-US" altLang="zh-CN" sz="2600" smtClean="0"/>
              <a:t>DSL </a:t>
            </a:r>
            <a:r>
              <a:rPr lang="zh-CN" altLang="en-US" sz="2600" smtClean="0"/>
              <a:t>的前缀 </a:t>
            </a:r>
            <a:r>
              <a:rPr lang="en-US" altLang="zh-CN" sz="2600" smtClean="0"/>
              <a:t>x </a:t>
            </a:r>
            <a:r>
              <a:rPr lang="zh-CN" altLang="en-US" sz="2600" smtClean="0"/>
              <a:t>则表示在数字用户线上实现的不同宽带方案。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150938" y="214313"/>
            <a:ext cx="7381875" cy="1462087"/>
          </a:xfrm>
        </p:spPr>
        <p:txBody>
          <a:bodyPr/>
          <a:lstStyle/>
          <a:p>
            <a:pPr algn="ctr" eaLnBrk="1" hangingPunct="1"/>
            <a:r>
              <a:rPr lang="en-US" altLang="zh-CN" smtClean="0"/>
              <a:t>xDSL </a:t>
            </a:r>
            <a:r>
              <a:rPr lang="zh-CN" altLang="en-US" smtClean="0"/>
              <a:t>的几种类型 </a:t>
            </a:r>
          </a:p>
        </p:txBody>
      </p:sp>
      <p:sp>
        <p:nvSpPr>
          <p:cNvPr id="277507" name="Rectangle 3"/>
          <p:cNvSpPr>
            <a:spLocks noGrp="1" noChangeArrowheads="1"/>
          </p:cNvSpPr>
          <p:nvPr>
            <p:ph type="body" idx="1"/>
          </p:nvPr>
        </p:nvSpPr>
        <p:spPr>
          <a:xfrm>
            <a:off x="755650" y="1844675"/>
            <a:ext cx="8059738" cy="4775200"/>
          </a:xfrm>
        </p:spPr>
        <p:txBody>
          <a:bodyPr/>
          <a:lstStyle/>
          <a:p>
            <a:pPr eaLnBrk="1" hangingPunct="1"/>
            <a:r>
              <a:rPr lang="en-US" altLang="zh-CN" smtClean="0"/>
              <a:t>ADSL (Asymmetric Digital Subscriber Line)</a:t>
            </a:r>
            <a:r>
              <a:rPr lang="zh-CN" altLang="en-US" smtClean="0"/>
              <a:t>：非对称数字用户线</a:t>
            </a:r>
          </a:p>
          <a:p>
            <a:pPr eaLnBrk="1" hangingPunct="1"/>
            <a:r>
              <a:rPr lang="en-US" altLang="zh-CN" smtClean="0"/>
              <a:t>HDSL (High speed DSL)</a:t>
            </a:r>
            <a:r>
              <a:rPr lang="zh-CN" altLang="en-US" smtClean="0"/>
              <a:t>：高速数字用户线</a:t>
            </a:r>
          </a:p>
          <a:p>
            <a:pPr eaLnBrk="1" hangingPunct="1"/>
            <a:r>
              <a:rPr lang="en-US" altLang="zh-CN" smtClean="0"/>
              <a:t>VDSL (Very high speed DSL)</a:t>
            </a:r>
            <a:r>
              <a:rPr lang="zh-CN" altLang="en-US" smtClean="0"/>
              <a:t>：甚高速数字用户线</a:t>
            </a:r>
          </a:p>
          <a:p>
            <a:pPr eaLnBrk="1" hangingPunct="1"/>
            <a:r>
              <a:rPr lang="zh-CN" altLang="en-US" smtClean="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7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7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77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lgn="ctr" eaLnBrk="1" hangingPunct="1"/>
            <a:r>
              <a:rPr lang="en-US" altLang="zh-CN" sz="4000" smtClean="0"/>
              <a:t>ADSL </a:t>
            </a:r>
            <a:r>
              <a:rPr lang="zh-CN" altLang="en-US" sz="4000" smtClean="0"/>
              <a:t>的极限传输距离</a:t>
            </a:r>
          </a:p>
        </p:txBody>
      </p:sp>
      <p:sp>
        <p:nvSpPr>
          <p:cNvPr id="51203" name="Rectangle 3"/>
          <p:cNvSpPr>
            <a:spLocks noGrp="1" noChangeArrowheads="1"/>
          </p:cNvSpPr>
          <p:nvPr>
            <p:ph type="body" idx="1"/>
          </p:nvPr>
        </p:nvSpPr>
        <p:spPr>
          <a:xfrm>
            <a:off x="1042988" y="1844675"/>
            <a:ext cx="7772400" cy="4692650"/>
          </a:xfrm>
        </p:spPr>
        <p:txBody>
          <a:bodyPr/>
          <a:lstStyle/>
          <a:p>
            <a:pPr eaLnBrk="1" hangingPunct="1"/>
            <a:r>
              <a:rPr lang="en-US" altLang="zh-CN" sz="2800" smtClean="0"/>
              <a:t>ADSL </a:t>
            </a:r>
            <a:r>
              <a:rPr lang="zh-CN" altLang="en-US" sz="2800" smtClean="0"/>
              <a:t>的极限传输距离与数据率以及用户线的线径都有很大的关系（用户线越细，信号传输时的衰减就越大），而所能得到的最高数据传输速率与实际的用户线上的信噪比密切相关。</a:t>
            </a:r>
          </a:p>
          <a:p>
            <a:pPr eaLnBrk="1" hangingPunct="1"/>
            <a:r>
              <a:rPr lang="zh-CN" altLang="en-US" sz="2800" smtClean="0"/>
              <a:t>例如，</a:t>
            </a:r>
            <a:r>
              <a:rPr lang="en-US" altLang="zh-CN" sz="2800" smtClean="0"/>
              <a:t>0.5 </a:t>
            </a:r>
            <a:r>
              <a:rPr lang="zh-CN" altLang="en-US" sz="2800" smtClean="0"/>
              <a:t>毫米线径的用户线，传输速率为 </a:t>
            </a:r>
            <a:r>
              <a:rPr lang="en-US" altLang="zh-CN" sz="2800" smtClean="0"/>
              <a:t>1.5 ~ 2.0 Mb/s </a:t>
            </a:r>
            <a:r>
              <a:rPr lang="zh-CN" altLang="en-US" sz="2800" smtClean="0"/>
              <a:t>时可传送 </a:t>
            </a:r>
            <a:r>
              <a:rPr lang="en-US" altLang="zh-CN" sz="2800" smtClean="0"/>
              <a:t>5.5 </a:t>
            </a:r>
            <a:r>
              <a:rPr lang="zh-CN" altLang="en-US" sz="2800" smtClean="0"/>
              <a:t>公里，但当传输速率提高到 </a:t>
            </a:r>
            <a:r>
              <a:rPr lang="en-US" altLang="zh-CN" sz="2800" smtClean="0"/>
              <a:t>6.1 Mb/s </a:t>
            </a:r>
            <a:r>
              <a:rPr lang="zh-CN" altLang="en-US" sz="2800" smtClean="0"/>
              <a:t>时，传输距离就缩短为 </a:t>
            </a:r>
            <a:r>
              <a:rPr lang="en-US" altLang="zh-CN" sz="2800" smtClean="0"/>
              <a:t>3.7 </a:t>
            </a:r>
            <a:r>
              <a:rPr lang="zh-CN" altLang="en-US" sz="2800" smtClean="0"/>
              <a:t>公里。</a:t>
            </a:r>
          </a:p>
          <a:p>
            <a:pPr eaLnBrk="1" hangingPunct="1"/>
            <a:r>
              <a:rPr lang="zh-CN" altLang="en-US" sz="2800" smtClean="0"/>
              <a:t>如果把用户线的线径减小到</a:t>
            </a:r>
            <a:r>
              <a:rPr lang="en-US" altLang="zh-CN" sz="2800" smtClean="0"/>
              <a:t>0.4</a:t>
            </a:r>
            <a:r>
              <a:rPr lang="zh-CN" altLang="en-US" sz="2800" smtClean="0"/>
              <a:t>毫米，那么在</a:t>
            </a:r>
            <a:r>
              <a:rPr lang="en-US" altLang="zh-CN" sz="2800" smtClean="0"/>
              <a:t>6.1 Mb/s</a:t>
            </a:r>
            <a:r>
              <a:rPr lang="zh-CN" altLang="en-US" sz="2800" smtClean="0"/>
              <a:t>的传输速率下就只能传送</a:t>
            </a:r>
            <a:r>
              <a:rPr lang="en-US" altLang="zh-CN" sz="2800" smtClean="0"/>
              <a:t>2.7</a:t>
            </a:r>
            <a:r>
              <a:rPr lang="zh-CN" altLang="en-US" sz="2800" smtClean="0"/>
              <a:t>公里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algn="ctr" eaLnBrk="1" hangingPunct="1"/>
            <a:r>
              <a:rPr lang="en-US" altLang="zh-CN" smtClean="0"/>
              <a:t>ADSL </a:t>
            </a:r>
            <a:r>
              <a:rPr lang="zh-CN" altLang="en-US" smtClean="0"/>
              <a:t>的特点</a:t>
            </a:r>
          </a:p>
        </p:txBody>
      </p:sp>
      <p:sp>
        <p:nvSpPr>
          <p:cNvPr id="52227" name="Rectangle 3"/>
          <p:cNvSpPr>
            <a:spLocks noGrp="1" noChangeArrowheads="1"/>
          </p:cNvSpPr>
          <p:nvPr>
            <p:ph type="body" idx="1"/>
          </p:nvPr>
        </p:nvSpPr>
        <p:spPr>
          <a:xfrm>
            <a:off x="1042988" y="1978025"/>
            <a:ext cx="7772400" cy="4114800"/>
          </a:xfrm>
        </p:spPr>
        <p:txBody>
          <a:bodyPr/>
          <a:lstStyle/>
          <a:p>
            <a:pPr eaLnBrk="1" hangingPunct="1"/>
            <a:r>
              <a:rPr lang="zh-CN" altLang="en-US" sz="2800" smtClean="0"/>
              <a:t>上行和下行带宽做成不对称的。</a:t>
            </a:r>
          </a:p>
          <a:p>
            <a:pPr eaLnBrk="1" hangingPunct="1"/>
            <a:r>
              <a:rPr lang="zh-CN" altLang="en-US" sz="2800" smtClean="0"/>
              <a:t>上行指从用户到 </a:t>
            </a:r>
            <a:r>
              <a:rPr lang="en-US" altLang="zh-CN" sz="2800" smtClean="0"/>
              <a:t>ISP</a:t>
            </a:r>
            <a:r>
              <a:rPr lang="zh-CN" altLang="en-US" sz="2800" smtClean="0"/>
              <a:t>，而下行指从 </a:t>
            </a:r>
            <a:r>
              <a:rPr lang="en-US" altLang="zh-CN" sz="2800" smtClean="0"/>
              <a:t>ISP </a:t>
            </a:r>
            <a:r>
              <a:rPr lang="zh-CN" altLang="en-US" sz="2800" smtClean="0"/>
              <a:t>到用户。</a:t>
            </a:r>
          </a:p>
          <a:p>
            <a:pPr eaLnBrk="1" hangingPunct="1"/>
            <a:r>
              <a:rPr lang="en-US" altLang="zh-CN" sz="2800" smtClean="0"/>
              <a:t>ADSL </a:t>
            </a:r>
            <a:r>
              <a:rPr lang="zh-CN" altLang="en-US" sz="2800" smtClean="0"/>
              <a:t>在用户线（铜线）的两端各安装一个 </a:t>
            </a:r>
            <a:r>
              <a:rPr lang="en-US" altLang="zh-CN" sz="2800" smtClean="0"/>
              <a:t>ADSL </a:t>
            </a:r>
            <a:r>
              <a:rPr lang="zh-CN" altLang="en-US" sz="2800" smtClean="0"/>
              <a:t>调制解调器。</a:t>
            </a:r>
          </a:p>
          <a:p>
            <a:pPr eaLnBrk="1" hangingPunct="1"/>
            <a:r>
              <a:rPr lang="zh-CN" altLang="en-US" sz="2800" smtClean="0"/>
              <a:t>我国目前采用的方案是</a:t>
            </a:r>
            <a:r>
              <a:rPr lang="zh-CN" altLang="en-US" sz="2800" smtClean="0">
                <a:solidFill>
                  <a:schemeClr val="hlink"/>
                </a:solidFill>
              </a:rPr>
              <a:t>离散多音调 </a:t>
            </a:r>
            <a:r>
              <a:rPr lang="en-US" altLang="zh-CN" sz="2800" b="1" smtClean="0"/>
              <a:t>DMT</a:t>
            </a:r>
            <a:r>
              <a:rPr lang="en-US" altLang="zh-CN" sz="2800" smtClean="0"/>
              <a:t> (Discrete Multi-Tone)</a:t>
            </a:r>
            <a:r>
              <a:rPr lang="zh-CN" altLang="en-US" sz="2800" smtClean="0"/>
              <a:t>调制技术。这里的“多音调”就是“</a:t>
            </a:r>
            <a:r>
              <a:rPr lang="zh-CN" altLang="en-US" sz="2800" smtClean="0">
                <a:solidFill>
                  <a:schemeClr val="hlink"/>
                </a:solidFill>
              </a:rPr>
              <a:t>多载波</a:t>
            </a:r>
            <a:r>
              <a:rPr lang="zh-CN" altLang="en-US" sz="2800" smtClean="0"/>
              <a:t>”或“</a:t>
            </a:r>
            <a:r>
              <a:rPr lang="zh-CN" altLang="en-US" sz="2800" smtClean="0">
                <a:solidFill>
                  <a:schemeClr val="hlink"/>
                </a:solidFill>
              </a:rPr>
              <a:t>多子信道</a:t>
            </a:r>
            <a:r>
              <a:rPr lang="zh-CN" altLang="en-US" sz="2800" smtClean="0"/>
              <a:t>”的意思。</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790575" y="0"/>
            <a:ext cx="8353425" cy="1462088"/>
          </a:xfrm>
        </p:spPr>
        <p:txBody>
          <a:bodyPr/>
          <a:lstStyle/>
          <a:p>
            <a:pPr algn="ctr" eaLnBrk="1" hangingPunct="1"/>
            <a:r>
              <a:rPr lang="en-US" altLang="zh-CN" smtClean="0"/>
              <a:t>DMT </a:t>
            </a:r>
            <a:r>
              <a:rPr lang="zh-CN" altLang="en-US" smtClean="0"/>
              <a:t>技术（</a:t>
            </a:r>
            <a:r>
              <a:rPr lang="en-US" altLang="zh-CN" smtClean="0"/>
              <a:t>Discrete Muti-tone)</a:t>
            </a:r>
          </a:p>
        </p:txBody>
      </p:sp>
      <p:sp>
        <p:nvSpPr>
          <p:cNvPr id="53251" name="Rectangle 3"/>
          <p:cNvSpPr>
            <a:spLocks noGrp="1" noChangeArrowheads="1"/>
          </p:cNvSpPr>
          <p:nvPr>
            <p:ph type="body" idx="1"/>
          </p:nvPr>
        </p:nvSpPr>
        <p:spPr>
          <a:xfrm>
            <a:off x="1042988" y="1906588"/>
            <a:ext cx="7772400" cy="4114800"/>
          </a:xfrm>
        </p:spPr>
        <p:txBody>
          <a:bodyPr/>
          <a:lstStyle/>
          <a:p>
            <a:pPr eaLnBrk="1" hangingPunct="1"/>
            <a:r>
              <a:rPr lang="en-US" altLang="zh-CN" sz="2800" smtClean="0"/>
              <a:t>DMT </a:t>
            </a:r>
            <a:r>
              <a:rPr lang="zh-CN" altLang="en-US" sz="2800" smtClean="0"/>
              <a:t>调制技术采用频分复用的方法，把 </a:t>
            </a:r>
            <a:r>
              <a:rPr lang="en-US" altLang="zh-CN" sz="2800" smtClean="0"/>
              <a:t>40 kHz </a:t>
            </a:r>
            <a:r>
              <a:rPr lang="zh-CN" altLang="en-US" sz="2800" smtClean="0"/>
              <a:t>以上一直到 </a:t>
            </a:r>
            <a:r>
              <a:rPr lang="en-US" altLang="zh-CN" sz="2800" smtClean="0"/>
              <a:t>1.1 MHz </a:t>
            </a:r>
            <a:r>
              <a:rPr lang="zh-CN" altLang="en-US" sz="2800" smtClean="0"/>
              <a:t>的高端频谱划分为许多的子信道，其中 </a:t>
            </a:r>
            <a:r>
              <a:rPr lang="en-US" altLang="zh-CN" sz="2800" smtClean="0"/>
              <a:t>25 </a:t>
            </a:r>
            <a:r>
              <a:rPr lang="zh-CN" altLang="en-US" sz="2800" smtClean="0"/>
              <a:t>个子信道用于上行信道，而 </a:t>
            </a:r>
            <a:r>
              <a:rPr lang="en-US" altLang="zh-CN" sz="2800" smtClean="0"/>
              <a:t>249 </a:t>
            </a:r>
            <a:r>
              <a:rPr lang="zh-CN" altLang="en-US" sz="2800" smtClean="0"/>
              <a:t>个子信道用于下行信道。</a:t>
            </a:r>
          </a:p>
          <a:p>
            <a:pPr eaLnBrk="1" hangingPunct="1"/>
            <a:r>
              <a:rPr lang="zh-CN" altLang="en-US" sz="2800" smtClean="0"/>
              <a:t>每个子信道占据 </a:t>
            </a:r>
            <a:r>
              <a:rPr lang="en-US" altLang="zh-CN" sz="2800" smtClean="0"/>
              <a:t>4 kHz </a:t>
            </a:r>
            <a:r>
              <a:rPr lang="zh-CN" altLang="en-US" sz="2800" smtClean="0"/>
              <a:t>带宽（严格讲是 </a:t>
            </a:r>
            <a:r>
              <a:rPr lang="en-US" altLang="zh-CN" sz="2800" smtClean="0"/>
              <a:t>4.3125 kHz</a:t>
            </a:r>
            <a:r>
              <a:rPr lang="zh-CN" altLang="en-US" sz="2800" smtClean="0"/>
              <a:t>），并使用不同的载波（即不同的音调）进行数字调制。这种做法相当于在一对用户线上使用许多小的调制解调器</a:t>
            </a:r>
            <a:r>
              <a:rPr lang="zh-CN" altLang="en-US" sz="2800" smtClean="0">
                <a:solidFill>
                  <a:schemeClr val="hlink"/>
                </a:solidFill>
              </a:rPr>
              <a:t>并行地</a:t>
            </a:r>
            <a:r>
              <a:rPr lang="zh-CN" altLang="en-US" sz="2800" smtClean="0"/>
              <a:t>传送数据。</a:t>
            </a:r>
          </a:p>
          <a:p>
            <a:pPr eaLnBrk="1" hangingPunct="1"/>
            <a:endParaRPr lang="en-US" altLang="zh-CN" sz="2400" smtClean="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3"/>
          <p:cNvSpPr>
            <a:spLocks noChangeArrowheads="1"/>
          </p:cNvSpPr>
          <p:nvPr/>
        </p:nvSpPr>
        <p:spPr bwMode="auto">
          <a:xfrm>
            <a:off x="2744788" y="3068638"/>
            <a:ext cx="1395412" cy="192881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5" name="Rectangle 2"/>
          <p:cNvSpPr>
            <a:spLocks noGrp="1" noChangeArrowheads="1"/>
          </p:cNvSpPr>
          <p:nvPr>
            <p:ph type="title"/>
          </p:nvPr>
        </p:nvSpPr>
        <p:spPr/>
        <p:txBody>
          <a:bodyPr/>
          <a:lstStyle/>
          <a:p>
            <a:pPr algn="ctr" eaLnBrk="1" hangingPunct="1"/>
            <a:r>
              <a:rPr lang="en-US" altLang="zh-CN" smtClean="0"/>
              <a:t>DMT </a:t>
            </a:r>
            <a:r>
              <a:rPr lang="zh-CN" altLang="en-US" smtClean="0"/>
              <a:t>技术的频谱分布 </a:t>
            </a:r>
          </a:p>
        </p:txBody>
      </p:sp>
      <p:sp>
        <p:nvSpPr>
          <p:cNvPr id="54276" name="Rectangle 30"/>
          <p:cNvSpPr>
            <a:spLocks noChangeArrowheads="1"/>
          </p:cNvSpPr>
          <p:nvPr/>
        </p:nvSpPr>
        <p:spPr bwMode="auto">
          <a:xfrm>
            <a:off x="4103688" y="3051175"/>
            <a:ext cx="3267075" cy="1928813"/>
          </a:xfrm>
          <a:prstGeom prst="rect">
            <a:avLst/>
          </a:prstGeom>
          <a:solidFill>
            <a:srgbClr val="FF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7" name="Text Box 31"/>
          <p:cNvSpPr txBox="1">
            <a:spLocks noChangeArrowheads="1"/>
          </p:cNvSpPr>
          <p:nvPr/>
        </p:nvSpPr>
        <p:spPr bwMode="auto">
          <a:xfrm>
            <a:off x="3182938" y="3306763"/>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b="1">
                <a:solidFill>
                  <a:schemeClr val="folHlink"/>
                </a:solidFill>
                <a:latin typeface="Arial" pitchFamily="34" charset="0"/>
                <a:ea typeface="黑体" pitchFamily="49" charset="-122"/>
              </a:rPr>
              <a:t>…</a:t>
            </a:r>
          </a:p>
        </p:txBody>
      </p:sp>
      <p:sp>
        <p:nvSpPr>
          <p:cNvPr id="54278" name="Text Box 32"/>
          <p:cNvSpPr txBox="1">
            <a:spLocks noChangeArrowheads="1"/>
          </p:cNvSpPr>
          <p:nvPr/>
        </p:nvSpPr>
        <p:spPr bwMode="auto">
          <a:xfrm>
            <a:off x="468313" y="2205038"/>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chemeClr val="folHlink"/>
                </a:solidFill>
                <a:latin typeface="Arial" pitchFamily="34" charset="0"/>
                <a:ea typeface="黑体" pitchFamily="49" charset="-122"/>
              </a:rPr>
              <a:t>频谱</a:t>
            </a:r>
          </a:p>
        </p:txBody>
      </p:sp>
      <p:sp>
        <p:nvSpPr>
          <p:cNvPr id="54279" name="Line 33"/>
          <p:cNvSpPr>
            <a:spLocks noChangeShapeType="1"/>
          </p:cNvSpPr>
          <p:nvPr/>
        </p:nvSpPr>
        <p:spPr bwMode="auto">
          <a:xfrm rot="-5400000">
            <a:off x="-161925" y="3670300"/>
            <a:ext cx="2705100" cy="0"/>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0" name="Text Box 34"/>
          <p:cNvSpPr txBox="1">
            <a:spLocks noChangeArrowheads="1"/>
          </p:cNvSpPr>
          <p:nvPr/>
        </p:nvSpPr>
        <p:spPr bwMode="auto">
          <a:xfrm>
            <a:off x="7742238" y="4687888"/>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chemeClr val="folHlink"/>
                </a:solidFill>
                <a:latin typeface="Arial" pitchFamily="34" charset="0"/>
                <a:ea typeface="黑体" pitchFamily="49" charset="-122"/>
              </a:rPr>
              <a:t>频率</a:t>
            </a:r>
          </a:p>
        </p:txBody>
      </p:sp>
      <p:sp>
        <p:nvSpPr>
          <p:cNvPr id="54281" name="Freeform 36"/>
          <p:cNvSpPr>
            <a:spLocks/>
          </p:cNvSpPr>
          <p:nvPr/>
        </p:nvSpPr>
        <p:spPr bwMode="auto">
          <a:xfrm>
            <a:off x="1190625" y="3014663"/>
            <a:ext cx="341313" cy="1981200"/>
          </a:xfrm>
          <a:custGeom>
            <a:avLst/>
            <a:gdLst>
              <a:gd name="T0" fmla="*/ 0 w 208"/>
              <a:gd name="T1" fmla="*/ 0 h 1248"/>
              <a:gd name="T2" fmla="*/ 2147483647 w 208"/>
              <a:gd name="T3" fmla="*/ 2147483647 h 1248"/>
              <a:gd name="T4" fmla="*/ 2147483647 w 208"/>
              <a:gd name="T5" fmla="*/ 2147483647 h 1248"/>
              <a:gd name="T6" fmla="*/ 2147483647 w 208"/>
              <a:gd name="T7" fmla="*/ 2147483647 h 12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8" h="1248">
                <a:moveTo>
                  <a:pt x="0" y="0"/>
                </a:moveTo>
                <a:cubicBezTo>
                  <a:pt x="19" y="24"/>
                  <a:pt x="80" y="31"/>
                  <a:pt x="112" y="144"/>
                </a:cubicBezTo>
                <a:cubicBezTo>
                  <a:pt x="144" y="257"/>
                  <a:pt x="176" y="496"/>
                  <a:pt x="192" y="680"/>
                </a:cubicBezTo>
                <a:cubicBezTo>
                  <a:pt x="208" y="864"/>
                  <a:pt x="205" y="1130"/>
                  <a:pt x="208" y="124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2" name="Text Box 37"/>
          <p:cNvSpPr txBox="1">
            <a:spLocks noChangeArrowheads="1"/>
          </p:cNvSpPr>
          <p:nvPr/>
        </p:nvSpPr>
        <p:spPr bwMode="auto">
          <a:xfrm>
            <a:off x="2801938" y="231140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r>
              <a:rPr kumimoji="1" lang="zh-CN" altLang="en-US" sz="2000">
                <a:solidFill>
                  <a:schemeClr val="folHlink"/>
                </a:solidFill>
                <a:latin typeface="Arial" pitchFamily="34" charset="0"/>
                <a:ea typeface="黑体" pitchFamily="49" charset="-122"/>
              </a:rPr>
              <a:t>上行信道</a:t>
            </a:r>
          </a:p>
        </p:txBody>
      </p:sp>
      <p:sp>
        <p:nvSpPr>
          <p:cNvPr id="54283" name="Text Box 38"/>
          <p:cNvSpPr txBox="1">
            <a:spLocks noChangeArrowheads="1"/>
          </p:cNvSpPr>
          <p:nvPr/>
        </p:nvSpPr>
        <p:spPr bwMode="auto">
          <a:xfrm>
            <a:off x="1393825" y="2455863"/>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chemeClr val="folHlink"/>
                </a:solidFill>
                <a:latin typeface="Arial" pitchFamily="34" charset="0"/>
                <a:ea typeface="黑体" pitchFamily="49" charset="-122"/>
              </a:rPr>
              <a:t>传统电话</a:t>
            </a:r>
          </a:p>
        </p:txBody>
      </p:sp>
      <p:sp>
        <p:nvSpPr>
          <p:cNvPr id="54284" name="Line 39"/>
          <p:cNvSpPr>
            <a:spLocks noChangeShapeType="1"/>
          </p:cNvSpPr>
          <p:nvPr/>
        </p:nvSpPr>
        <p:spPr bwMode="auto">
          <a:xfrm flipH="1">
            <a:off x="1411288" y="2860675"/>
            <a:ext cx="361950" cy="45085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5" name="Line 40"/>
          <p:cNvSpPr>
            <a:spLocks noChangeShapeType="1"/>
          </p:cNvSpPr>
          <p:nvPr/>
        </p:nvSpPr>
        <p:spPr bwMode="auto">
          <a:xfrm flipV="1">
            <a:off x="1190625" y="5002213"/>
            <a:ext cx="6640513" cy="0"/>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6" name="Text Box 41"/>
          <p:cNvSpPr txBox="1">
            <a:spLocks noChangeArrowheads="1"/>
          </p:cNvSpPr>
          <p:nvPr/>
        </p:nvSpPr>
        <p:spPr bwMode="auto">
          <a:xfrm>
            <a:off x="909638" y="4957763"/>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chemeClr val="folHlink"/>
                </a:solidFill>
                <a:latin typeface="Arial" pitchFamily="34" charset="0"/>
                <a:ea typeface="黑体" pitchFamily="49" charset="-122"/>
              </a:rPr>
              <a:t>0</a:t>
            </a:r>
          </a:p>
        </p:txBody>
      </p:sp>
      <p:sp>
        <p:nvSpPr>
          <p:cNvPr id="54287" name="Text Box 42"/>
          <p:cNvSpPr txBox="1">
            <a:spLocks noChangeArrowheads="1"/>
          </p:cNvSpPr>
          <p:nvPr/>
        </p:nvSpPr>
        <p:spPr bwMode="auto">
          <a:xfrm>
            <a:off x="1358900" y="49577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chemeClr val="folHlink"/>
                </a:solidFill>
                <a:latin typeface="Arial" pitchFamily="34" charset="0"/>
                <a:ea typeface="黑体" pitchFamily="49" charset="-122"/>
              </a:rPr>
              <a:t>4</a:t>
            </a:r>
          </a:p>
        </p:txBody>
      </p:sp>
      <p:sp>
        <p:nvSpPr>
          <p:cNvPr id="54288" name="AutoShape 43"/>
          <p:cNvSpPr>
            <a:spLocks/>
          </p:cNvSpPr>
          <p:nvPr/>
        </p:nvSpPr>
        <p:spPr bwMode="auto">
          <a:xfrm rot="5400000" flipV="1">
            <a:off x="3241675" y="2171700"/>
            <a:ext cx="307975" cy="1241425"/>
          </a:xfrm>
          <a:prstGeom prst="leftBrace">
            <a:avLst>
              <a:gd name="adj1" fmla="val 3359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9" name="AutoShape 44"/>
          <p:cNvSpPr>
            <a:spLocks/>
          </p:cNvSpPr>
          <p:nvPr/>
        </p:nvSpPr>
        <p:spPr bwMode="auto">
          <a:xfrm rot="5400000" flipV="1">
            <a:off x="5593556" y="1239044"/>
            <a:ext cx="307975" cy="3106738"/>
          </a:xfrm>
          <a:prstGeom prst="leftBrace">
            <a:avLst>
              <a:gd name="adj1" fmla="val 8406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0" name="Text Box 45"/>
          <p:cNvSpPr txBox="1">
            <a:spLocks noChangeArrowheads="1"/>
          </p:cNvSpPr>
          <p:nvPr/>
        </p:nvSpPr>
        <p:spPr bwMode="auto">
          <a:xfrm>
            <a:off x="5172075" y="231140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eaLnBrk="1" hangingPunct="1"/>
            <a:r>
              <a:rPr kumimoji="1" lang="zh-CN" altLang="en-US" sz="2000">
                <a:solidFill>
                  <a:schemeClr val="folHlink"/>
                </a:solidFill>
                <a:latin typeface="Arial" pitchFamily="34" charset="0"/>
                <a:ea typeface="黑体" pitchFamily="49" charset="-122"/>
              </a:rPr>
              <a:t>下行信道</a:t>
            </a:r>
          </a:p>
        </p:txBody>
      </p:sp>
      <p:sp>
        <p:nvSpPr>
          <p:cNvPr id="54291" name="Text Box 46"/>
          <p:cNvSpPr txBox="1">
            <a:spLocks noChangeArrowheads="1"/>
          </p:cNvSpPr>
          <p:nvPr/>
        </p:nvSpPr>
        <p:spPr bwMode="auto">
          <a:xfrm>
            <a:off x="5346700" y="3306763"/>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b="1">
                <a:solidFill>
                  <a:schemeClr val="folHlink"/>
                </a:solidFill>
                <a:latin typeface="Arial" pitchFamily="34" charset="0"/>
                <a:ea typeface="黑体" pitchFamily="49" charset="-122"/>
              </a:rPr>
              <a:t>…</a:t>
            </a:r>
          </a:p>
        </p:txBody>
      </p:sp>
      <p:sp>
        <p:nvSpPr>
          <p:cNvPr id="54292" name="Freeform 47"/>
          <p:cNvSpPr>
            <a:spLocks/>
          </p:cNvSpPr>
          <p:nvPr/>
        </p:nvSpPr>
        <p:spPr bwMode="auto">
          <a:xfrm>
            <a:off x="7119938" y="3048000"/>
            <a:ext cx="173037"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3" name="Freeform 48"/>
          <p:cNvSpPr>
            <a:spLocks/>
          </p:cNvSpPr>
          <p:nvPr/>
        </p:nvSpPr>
        <p:spPr bwMode="auto">
          <a:xfrm>
            <a:off x="6943725" y="3051175"/>
            <a:ext cx="173038"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4" name="Freeform 49"/>
          <p:cNvSpPr>
            <a:spLocks/>
          </p:cNvSpPr>
          <p:nvPr/>
        </p:nvSpPr>
        <p:spPr bwMode="auto">
          <a:xfrm>
            <a:off x="6769100" y="3052763"/>
            <a:ext cx="171450" cy="1954212"/>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5" name="Freeform 50"/>
          <p:cNvSpPr>
            <a:spLocks/>
          </p:cNvSpPr>
          <p:nvPr/>
        </p:nvSpPr>
        <p:spPr bwMode="auto">
          <a:xfrm>
            <a:off x="6592888" y="3054350"/>
            <a:ext cx="171450" cy="1955800"/>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6" name="Freeform 51"/>
          <p:cNvSpPr>
            <a:spLocks/>
          </p:cNvSpPr>
          <p:nvPr/>
        </p:nvSpPr>
        <p:spPr bwMode="auto">
          <a:xfrm>
            <a:off x="6416675" y="3057525"/>
            <a:ext cx="171450"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7" name="Freeform 52"/>
          <p:cNvSpPr>
            <a:spLocks/>
          </p:cNvSpPr>
          <p:nvPr/>
        </p:nvSpPr>
        <p:spPr bwMode="auto">
          <a:xfrm>
            <a:off x="6240463" y="3059113"/>
            <a:ext cx="171450" cy="1955800"/>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8" name="Freeform 53"/>
          <p:cNvSpPr>
            <a:spLocks/>
          </p:cNvSpPr>
          <p:nvPr/>
        </p:nvSpPr>
        <p:spPr bwMode="auto">
          <a:xfrm>
            <a:off x="6064250" y="3062288"/>
            <a:ext cx="171450" cy="1954212"/>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9" name="Freeform 54"/>
          <p:cNvSpPr>
            <a:spLocks/>
          </p:cNvSpPr>
          <p:nvPr/>
        </p:nvSpPr>
        <p:spPr bwMode="auto">
          <a:xfrm>
            <a:off x="5888038" y="3063875"/>
            <a:ext cx="173037"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0" name="Freeform 55"/>
          <p:cNvSpPr>
            <a:spLocks/>
          </p:cNvSpPr>
          <p:nvPr/>
        </p:nvSpPr>
        <p:spPr bwMode="auto">
          <a:xfrm>
            <a:off x="5257800" y="3051175"/>
            <a:ext cx="173038"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1" name="Freeform 56"/>
          <p:cNvSpPr>
            <a:spLocks/>
          </p:cNvSpPr>
          <p:nvPr/>
        </p:nvSpPr>
        <p:spPr bwMode="auto">
          <a:xfrm>
            <a:off x="5086350" y="3052763"/>
            <a:ext cx="171450" cy="1954212"/>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2" name="Freeform 57"/>
          <p:cNvSpPr>
            <a:spLocks/>
          </p:cNvSpPr>
          <p:nvPr/>
        </p:nvSpPr>
        <p:spPr bwMode="auto">
          <a:xfrm>
            <a:off x="4914900" y="3054350"/>
            <a:ext cx="171450" cy="1955800"/>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3" name="Freeform 58"/>
          <p:cNvSpPr>
            <a:spLocks/>
          </p:cNvSpPr>
          <p:nvPr/>
        </p:nvSpPr>
        <p:spPr bwMode="auto">
          <a:xfrm>
            <a:off x="4741863" y="3057525"/>
            <a:ext cx="173037"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4" name="Freeform 59"/>
          <p:cNvSpPr>
            <a:spLocks/>
          </p:cNvSpPr>
          <p:nvPr/>
        </p:nvSpPr>
        <p:spPr bwMode="auto">
          <a:xfrm>
            <a:off x="4570413" y="3059113"/>
            <a:ext cx="171450" cy="1955800"/>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5" name="Freeform 60"/>
          <p:cNvSpPr>
            <a:spLocks/>
          </p:cNvSpPr>
          <p:nvPr/>
        </p:nvSpPr>
        <p:spPr bwMode="auto">
          <a:xfrm>
            <a:off x="4397375" y="3062288"/>
            <a:ext cx="173038" cy="1954212"/>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6" name="Freeform 61"/>
          <p:cNvSpPr>
            <a:spLocks/>
          </p:cNvSpPr>
          <p:nvPr/>
        </p:nvSpPr>
        <p:spPr bwMode="auto">
          <a:xfrm>
            <a:off x="4225925" y="3063875"/>
            <a:ext cx="171450"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7" name="Freeform 62"/>
          <p:cNvSpPr>
            <a:spLocks/>
          </p:cNvSpPr>
          <p:nvPr/>
        </p:nvSpPr>
        <p:spPr bwMode="auto">
          <a:xfrm>
            <a:off x="3881438" y="3068638"/>
            <a:ext cx="171450" cy="1954212"/>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8" name="Freeform 63"/>
          <p:cNvSpPr>
            <a:spLocks/>
          </p:cNvSpPr>
          <p:nvPr/>
        </p:nvSpPr>
        <p:spPr bwMode="auto">
          <a:xfrm>
            <a:off x="3709988" y="3070225"/>
            <a:ext cx="171450" cy="1955800"/>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9" name="Freeform 64"/>
          <p:cNvSpPr>
            <a:spLocks/>
          </p:cNvSpPr>
          <p:nvPr/>
        </p:nvSpPr>
        <p:spPr bwMode="auto">
          <a:xfrm>
            <a:off x="3536950" y="3073400"/>
            <a:ext cx="173038"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0" name="Freeform 65"/>
          <p:cNvSpPr>
            <a:spLocks/>
          </p:cNvSpPr>
          <p:nvPr/>
        </p:nvSpPr>
        <p:spPr bwMode="auto">
          <a:xfrm>
            <a:off x="3117850" y="3078163"/>
            <a:ext cx="173038" cy="1954212"/>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1" name="Freeform 66"/>
          <p:cNvSpPr>
            <a:spLocks/>
          </p:cNvSpPr>
          <p:nvPr/>
        </p:nvSpPr>
        <p:spPr bwMode="auto">
          <a:xfrm>
            <a:off x="2946400" y="3079750"/>
            <a:ext cx="171450"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2" name="Freeform 67"/>
          <p:cNvSpPr>
            <a:spLocks/>
          </p:cNvSpPr>
          <p:nvPr/>
        </p:nvSpPr>
        <p:spPr bwMode="auto">
          <a:xfrm>
            <a:off x="2774950" y="3082925"/>
            <a:ext cx="171450" cy="1954213"/>
          </a:xfrm>
          <a:custGeom>
            <a:avLst/>
            <a:gdLst>
              <a:gd name="T0" fmla="*/ 0 w 190"/>
              <a:gd name="T1" fmla="*/ 2147483647 h 862"/>
              <a:gd name="T2" fmla="*/ 2147483647 w 190"/>
              <a:gd name="T3" fmla="*/ 2147483647 h 862"/>
              <a:gd name="T4" fmla="*/ 2147483647 w 190"/>
              <a:gd name="T5" fmla="*/ 2147483647 h 862"/>
              <a:gd name="T6" fmla="*/ 2147483647 w 190"/>
              <a:gd name="T7" fmla="*/ 2147483647 h 862"/>
              <a:gd name="T8" fmla="*/ 2147483647 w 190"/>
              <a:gd name="T9" fmla="*/ 2147483647 h 862"/>
              <a:gd name="T10" fmla="*/ 2147483647 w 190"/>
              <a:gd name="T11" fmla="*/ 0 h 862"/>
              <a:gd name="T12" fmla="*/ 2147483647 w 190"/>
              <a:gd name="T13" fmla="*/ 2147483647 h 862"/>
              <a:gd name="T14" fmla="*/ 2147483647 w 190"/>
              <a:gd name="T15" fmla="*/ 2147483647 h 862"/>
              <a:gd name="T16" fmla="*/ 2147483647 w 190"/>
              <a:gd name="T17" fmla="*/ 2147483647 h 862"/>
              <a:gd name="T18" fmla="*/ 2147483647 w 190"/>
              <a:gd name="T19" fmla="*/ 2147483647 h 862"/>
              <a:gd name="T20" fmla="*/ 2147483647 w 190"/>
              <a:gd name="T21" fmla="*/ 2147483647 h 8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9525">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3" name="Text Box 68"/>
          <p:cNvSpPr txBox="1">
            <a:spLocks noChangeArrowheads="1"/>
          </p:cNvSpPr>
          <p:nvPr/>
        </p:nvSpPr>
        <p:spPr bwMode="auto">
          <a:xfrm>
            <a:off x="8332788" y="4687888"/>
            <a:ext cx="790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chemeClr val="folHlink"/>
                </a:solidFill>
                <a:latin typeface="Arial" pitchFamily="34" charset="0"/>
                <a:ea typeface="黑体" pitchFamily="49" charset="-122"/>
              </a:rPr>
              <a:t>(kHz)</a:t>
            </a:r>
          </a:p>
        </p:txBody>
      </p:sp>
      <p:sp>
        <p:nvSpPr>
          <p:cNvPr id="54314" name="Text Box 69"/>
          <p:cNvSpPr txBox="1">
            <a:spLocks noChangeArrowheads="1"/>
          </p:cNvSpPr>
          <p:nvPr/>
        </p:nvSpPr>
        <p:spPr bwMode="auto">
          <a:xfrm>
            <a:off x="2428875" y="4984750"/>
            <a:ext cx="612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chemeClr val="folHlink"/>
                </a:solidFill>
                <a:latin typeface="Arial" pitchFamily="34" charset="0"/>
                <a:ea typeface="黑体" pitchFamily="49" charset="-122"/>
              </a:rPr>
              <a:t>~40</a:t>
            </a:r>
          </a:p>
        </p:txBody>
      </p:sp>
      <p:sp>
        <p:nvSpPr>
          <p:cNvPr id="54315" name="Text Box 70"/>
          <p:cNvSpPr txBox="1">
            <a:spLocks noChangeArrowheads="1"/>
          </p:cNvSpPr>
          <p:nvPr/>
        </p:nvSpPr>
        <p:spPr bwMode="auto">
          <a:xfrm>
            <a:off x="3749675" y="4984750"/>
            <a:ext cx="755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chemeClr val="folHlink"/>
                </a:solidFill>
                <a:latin typeface="Arial" pitchFamily="34" charset="0"/>
                <a:ea typeface="黑体" pitchFamily="49" charset="-122"/>
              </a:rPr>
              <a:t>~138</a:t>
            </a:r>
          </a:p>
        </p:txBody>
      </p:sp>
      <p:sp>
        <p:nvSpPr>
          <p:cNvPr id="54316" name="Text Box 71"/>
          <p:cNvSpPr txBox="1">
            <a:spLocks noChangeArrowheads="1"/>
          </p:cNvSpPr>
          <p:nvPr/>
        </p:nvSpPr>
        <p:spPr bwMode="auto">
          <a:xfrm>
            <a:off x="6916738" y="4984750"/>
            <a:ext cx="895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chemeClr val="folHlink"/>
                </a:solidFill>
                <a:latin typeface="Arial" pitchFamily="34" charset="0"/>
                <a:ea typeface="黑体" pitchFamily="49" charset="-122"/>
              </a:rPr>
              <a:t>~1100</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150938" y="214313"/>
            <a:ext cx="7165975" cy="1462087"/>
          </a:xfrm>
        </p:spPr>
        <p:txBody>
          <a:bodyPr/>
          <a:lstStyle/>
          <a:p>
            <a:pPr algn="ctr" eaLnBrk="1" hangingPunct="1"/>
            <a:r>
              <a:rPr lang="en-US" altLang="zh-CN" smtClean="0"/>
              <a:t>ADSL </a:t>
            </a:r>
            <a:r>
              <a:rPr lang="zh-CN" altLang="en-US" smtClean="0"/>
              <a:t>的数据率</a:t>
            </a:r>
          </a:p>
        </p:txBody>
      </p:sp>
      <p:sp>
        <p:nvSpPr>
          <p:cNvPr id="55299" name="Rectangle 3"/>
          <p:cNvSpPr>
            <a:spLocks noGrp="1" noChangeArrowheads="1"/>
          </p:cNvSpPr>
          <p:nvPr>
            <p:ph type="body" idx="1"/>
          </p:nvPr>
        </p:nvSpPr>
        <p:spPr>
          <a:xfrm>
            <a:off x="1042988" y="1773238"/>
            <a:ext cx="7772400" cy="4824412"/>
          </a:xfrm>
        </p:spPr>
        <p:txBody>
          <a:bodyPr/>
          <a:lstStyle/>
          <a:p>
            <a:pPr eaLnBrk="1" hangingPunct="1"/>
            <a:r>
              <a:rPr lang="zh-CN" altLang="en-US" sz="2400" smtClean="0"/>
              <a:t>由于用户线的具体条件往往相差很大（距离、线径、受到相邻用户线的干扰程度等都不同），因此 </a:t>
            </a:r>
            <a:r>
              <a:rPr lang="en-US" altLang="zh-CN" sz="2400" smtClean="0"/>
              <a:t>ADSL </a:t>
            </a:r>
            <a:r>
              <a:rPr lang="zh-CN" altLang="en-US" sz="2400" smtClean="0"/>
              <a:t>采用自适应调制技术使用户线能够传送尽可能高的数据率。</a:t>
            </a:r>
          </a:p>
          <a:p>
            <a:pPr eaLnBrk="1" hangingPunct="1"/>
            <a:r>
              <a:rPr lang="zh-CN" altLang="en-US" sz="2400" smtClean="0"/>
              <a:t>当 </a:t>
            </a:r>
            <a:r>
              <a:rPr lang="en-US" altLang="zh-CN" sz="2400" smtClean="0"/>
              <a:t>ADSL </a:t>
            </a:r>
            <a:r>
              <a:rPr lang="zh-CN" altLang="en-US" sz="2400" smtClean="0"/>
              <a:t>启动时，用户线两端的 </a:t>
            </a:r>
            <a:r>
              <a:rPr lang="en-US" altLang="zh-CN" sz="2400" smtClean="0"/>
              <a:t>ADSL </a:t>
            </a:r>
            <a:r>
              <a:rPr lang="zh-CN" altLang="en-US" sz="2400" smtClean="0"/>
              <a:t>调制解调器就测试可用的频率、各子信道受到的干扰情况，以及在每一个频率上测试信号的传输质量。</a:t>
            </a:r>
          </a:p>
          <a:p>
            <a:pPr eaLnBrk="1" hangingPunct="1"/>
            <a:r>
              <a:rPr lang="en-US" altLang="zh-CN" sz="2400" smtClean="0"/>
              <a:t>ADSL </a:t>
            </a:r>
            <a:r>
              <a:rPr lang="zh-CN" altLang="en-US" sz="2400" smtClean="0"/>
              <a:t>不能保证固定的数据率。对于质量很差的用户线甚至无法开通 </a:t>
            </a:r>
            <a:r>
              <a:rPr lang="en-US" altLang="zh-CN" sz="2400" smtClean="0"/>
              <a:t>ADSL</a:t>
            </a:r>
            <a:r>
              <a:rPr lang="zh-CN" altLang="en-US" sz="2400" smtClean="0"/>
              <a:t>。</a:t>
            </a:r>
          </a:p>
          <a:p>
            <a:pPr eaLnBrk="1" hangingPunct="1"/>
            <a:r>
              <a:rPr lang="zh-CN" altLang="en-US" sz="2400" smtClean="0"/>
              <a:t>通常下行数据率在 </a:t>
            </a:r>
            <a:r>
              <a:rPr lang="en-US" altLang="zh-CN" sz="2400" smtClean="0"/>
              <a:t>32 kb/s </a:t>
            </a:r>
            <a:r>
              <a:rPr lang="zh-CN" altLang="en-US" sz="2400" smtClean="0"/>
              <a:t>到 </a:t>
            </a:r>
            <a:r>
              <a:rPr lang="en-US" altLang="zh-CN" sz="2400" smtClean="0"/>
              <a:t>6.4 Mb/s </a:t>
            </a:r>
            <a:r>
              <a:rPr lang="zh-CN" altLang="en-US" sz="2400" smtClean="0"/>
              <a:t>之间，而上行数据率在 </a:t>
            </a:r>
            <a:r>
              <a:rPr lang="en-US" altLang="zh-CN" sz="2400" smtClean="0"/>
              <a:t>32 kb/s </a:t>
            </a:r>
            <a:r>
              <a:rPr lang="zh-CN" altLang="en-US" sz="2400" smtClean="0"/>
              <a:t>到 </a:t>
            </a:r>
            <a:r>
              <a:rPr lang="en-US" altLang="zh-CN" sz="2400" smtClean="0"/>
              <a:t>640 kb/s </a:t>
            </a:r>
            <a:r>
              <a:rPr lang="zh-CN" altLang="en-US" sz="2400" smtClean="0"/>
              <a:t>之间。</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150938" y="-26988"/>
            <a:ext cx="7793037" cy="695326"/>
          </a:xfrm>
        </p:spPr>
        <p:txBody>
          <a:bodyPr/>
          <a:lstStyle/>
          <a:p>
            <a:pPr algn="ctr" eaLnBrk="1" hangingPunct="1"/>
            <a:r>
              <a:rPr lang="en-US" altLang="zh-CN" sz="3600" smtClean="0"/>
              <a:t>ADSL </a:t>
            </a:r>
            <a:r>
              <a:rPr lang="zh-CN" altLang="en-US" sz="3600" smtClean="0"/>
              <a:t>的组成 </a:t>
            </a:r>
          </a:p>
        </p:txBody>
      </p:sp>
      <p:sp>
        <p:nvSpPr>
          <p:cNvPr id="56323" name="AutoShape 3"/>
          <p:cNvSpPr>
            <a:spLocks noChangeArrowheads="1"/>
          </p:cNvSpPr>
          <p:nvPr/>
        </p:nvSpPr>
        <p:spPr bwMode="auto">
          <a:xfrm>
            <a:off x="2463800" y="1585913"/>
            <a:ext cx="2087563" cy="2816225"/>
          </a:xfrm>
          <a:prstGeom prst="roundRect">
            <a:avLst>
              <a:gd name="adj" fmla="val 16667"/>
            </a:avLst>
          </a:prstGeom>
          <a:solidFill>
            <a:srgbClr val="CCE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4" name="Freeform 4"/>
          <p:cNvSpPr>
            <a:spLocks/>
          </p:cNvSpPr>
          <p:nvPr/>
        </p:nvSpPr>
        <p:spPr bwMode="auto">
          <a:xfrm>
            <a:off x="993775" y="1128713"/>
            <a:ext cx="428625" cy="1420812"/>
          </a:xfrm>
          <a:custGeom>
            <a:avLst/>
            <a:gdLst>
              <a:gd name="T0" fmla="*/ 2147483647 w 280"/>
              <a:gd name="T1" fmla="*/ 2147483647 h 600"/>
              <a:gd name="T2" fmla="*/ 2147483647 w 280"/>
              <a:gd name="T3" fmla="*/ 2147483647 h 600"/>
              <a:gd name="T4" fmla="*/ 2147483647 w 280"/>
              <a:gd name="T5" fmla="*/ 2147483647 h 600"/>
              <a:gd name="T6" fmla="*/ 0 w 280"/>
              <a:gd name="T7" fmla="*/ 0 h 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600">
                <a:moveTo>
                  <a:pt x="280" y="600"/>
                </a:moveTo>
                <a:lnTo>
                  <a:pt x="144" y="200"/>
                </a:lnTo>
                <a:lnTo>
                  <a:pt x="112" y="280"/>
                </a:lnTo>
                <a:lnTo>
                  <a:pt x="0" y="0"/>
                </a:lnTo>
              </a:path>
            </a:pathLst>
          </a:custGeom>
          <a:noFill/>
          <a:ln w="28575">
            <a:solidFill>
              <a:schemeClr val="tx1"/>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5" name="Line 5"/>
          <p:cNvSpPr>
            <a:spLocks noChangeShapeType="1"/>
          </p:cNvSpPr>
          <p:nvPr/>
        </p:nvSpPr>
        <p:spPr bwMode="auto">
          <a:xfrm rot="-5400000">
            <a:off x="2574925" y="2582863"/>
            <a:ext cx="0" cy="660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6" name="Freeform 6"/>
          <p:cNvSpPr>
            <a:spLocks/>
          </p:cNvSpPr>
          <p:nvPr/>
        </p:nvSpPr>
        <p:spPr bwMode="auto">
          <a:xfrm rot="-989619">
            <a:off x="4830763" y="2673350"/>
            <a:ext cx="560387" cy="1387475"/>
          </a:xfrm>
          <a:custGeom>
            <a:avLst/>
            <a:gdLst>
              <a:gd name="T0" fmla="*/ 0 w 366"/>
              <a:gd name="T1" fmla="*/ 0 h 702"/>
              <a:gd name="T2" fmla="*/ 2147483647 w 366"/>
              <a:gd name="T3" fmla="*/ 2147483647 h 702"/>
              <a:gd name="T4" fmla="*/ 2147483647 w 366"/>
              <a:gd name="T5" fmla="*/ 2147483647 h 702"/>
              <a:gd name="T6" fmla="*/ 2147483647 w 366"/>
              <a:gd name="T7" fmla="*/ 2147483647 h 7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6" h="702">
                <a:moveTo>
                  <a:pt x="0" y="0"/>
                </a:moveTo>
                <a:lnTo>
                  <a:pt x="138" y="343"/>
                </a:lnTo>
                <a:lnTo>
                  <a:pt x="168" y="252"/>
                </a:lnTo>
                <a:lnTo>
                  <a:pt x="366" y="702"/>
                </a:lnTo>
              </a:path>
            </a:pathLst>
          </a:custGeom>
          <a:noFill/>
          <a:ln w="28575" cmpd="sng">
            <a:solidFill>
              <a:srgbClr val="333399"/>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5632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2088" y="1585913"/>
            <a:ext cx="1050925" cy="243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28" name="AutoShape 8"/>
          <p:cNvSpPr>
            <a:spLocks noChangeArrowheads="1"/>
          </p:cNvSpPr>
          <p:nvPr/>
        </p:nvSpPr>
        <p:spPr bwMode="auto">
          <a:xfrm>
            <a:off x="3482975" y="2879725"/>
            <a:ext cx="950913" cy="569913"/>
          </a:xfrm>
          <a:prstGeom prst="cube">
            <a:avLst>
              <a:gd name="adj" fmla="val 25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9" name="Text Box 9"/>
          <p:cNvSpPr txBox="1">
            <a:spLocks noChangeArrowheads="1"/>
          </p:cNvSpPr>
          <p:nvPr/>
        </p:nvSpPr>
        <p:spPr bwMode="auto">
          <a:xfrm>
            <a:off x="3425825" y="3022600"/>
            <a:ext cx="9636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ATU-C</a:t>
            </a:r>
          </a:p>
        </p:txBody>
      </p:sp>
      <p:sp>
        <p:nvSpPr>
          <p:cNvPr id="56330" name="AutoShape 10"/>
          <p:cNvSpPr>
            <a:spLocks noChangeArrowheads="1"/>
          </p:cNvSpPr>
          <p:nvPr/>
        </p:nvSpPr>
        <p:spPr bwMode="auto">
          <a:xfrm>
            <a:off x="3482975" y="2376488"/>
            <a:ext cx="950913" cy="571500"/>
          </a:xfrm>
          <a:prstGeom prst="cube">
            <a:avLst>
              <a:gd name="adj" fmla="val 25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1" name="Text Box 11"/>
          <p:cNvSpPr txBox="1">
            <a:spLocks noChangeArrowheads="1"/>
          </p:cNvSpPr>
          <p:nvPr/>
        </p:nvSpPr>
        <p:spPr bwMode="auto">
          <a:xfrm>
            <a:off x="3425825" y="2501900"/>
            <a:ext cx="963613" cy="39528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ATU-C</a:t>
            </a:r>
          </a:p>
        </p:txBody>
      </p:sp>
      <p:pic>
        <p:nvPicPr>
          <p:cNvPr id="56332" name="Picture 1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1700" y="1204913"/>
            <a:ext cx="2857500"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6333" name="Line 13"/>
          <p:cNvSpPr>
            <a:spLocks noChangeShapeType="1"/>
          </p:cNvSpPr>
          <p:nvPr/>
        </p:nvSpPr>
        <p:spPr bwMode="auto">
          <a:xfrm>
            <a:off x="6496050" y="2722563"/>
            <a:ext cx="0" cy="5683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56334" name="Picture 1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0300" y="3125788"/>
            <a:ext cx="566738"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35" name="AutoShape 15"/>
          <p:cNvSpPr>
            <a:spLocks noChangeArrowheads="1"/>
          </p:cNvSpPr>
          <p:nvPr/>
        </p:nvSpPr>
        <p:spPr bwMode="auto">
          <a:xfrm>
            <a:off x="6808788" y="2427288"/>
            <a:ext cx="950912" cy="569912"/>
          </a:xfrm>
          <a:prstGeom prst="cube">
            <a:avLst>
              <a:gd name="adj" fmla="val 25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6" name="Text Box 16"/>
          <p:cNvSpPr txBox="1">
            <a:spLocks noChangeArrowheads="1"/>
          </p:cNvSpPr>
          <p:nvPr/>
        </p:nvSpPr>
        <p:spPr bwMode="auto">
          <a:xfrm>
            <a:off x="6740525" y="2566988"/>
            <a:ext cx="9620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ATU-R</a:t>
            </a:r>
          </a:p>
        </p:txBody>
      </p:sp>
      <p:pic>
        <p:nvPicPr>
          <p:cNvPr id="56337" name="Picture 1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25" y="2063750"/>
            <a:ext cx="2141538" cy="1893888"/>
          </a:xfrm>
          <a:prstGeom prst="rect">
            <a:avLst/>
          </a:prstGeom>
          <a:noFill/>
          <a:ln>
            <a:noFill/>
          </a:ln>
          <a:effectLst>
            <a:outerShdw dist="28398" dir="3806097"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6338" name="Freeform 18"/>
          <p:cNvSpPr>
            <a:spLocks/>
          </p:cNvSpPr>
          <p:nvPr/>
        </p:nvSpPr>
        <p:spPr bwMode="auto">
          <a:xfrm>
            <a:off x="4360863" y="2673350"/>
            <a:ext cx="2454275" cy="96838"/>
          </a:xfrm>
          <a:custGeom>
            <a:avLst/>
            <a:gdLst>
              <a:gd name="T0" fmla="*/ 2147483647 w 1608"/>
              <a:gd name="T1" fmla="*/ 2147483647 h 48"/>
              <a:gd name="T2" fmla="*/ 2147483647 w 1608"/>
              <a:gd name="T3" fmla="*/ 2147483647 h 48"/>
              <a:gd name="T4" fmla="*/ 2147483647 w 1608"/>
              <a:gd name="T5" fmla="*/ 2147483647 h 48"/>
              <a:gd name="T6" fmla="*/ 0 w 1608"/>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08" h="48">
                <a:moveTo>
                  <a:pt x="1608" y="48"/>
                </a:moveTo>
                <a:lnTo>
                  <a:pt x="790" y="48"/>
                </a:lnTo>
                <a:lnTo>
                  <a:pt x="844" y="1"/>
                </a:lnTo>
                <a:lnTo>
                  <a:pt x="0" y="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9" name="AutoShape 19"/>
          <p:cNvSpPr>
            <a:spLocks noChangeArrowheads="1"/>
          </p:cNvSpPr>
          <p:nvPr/>
        </p:nvSpPr>
        <p:spPr bwMode="auto">
          <a:xfrm>
            <a:off x="6421438" y="2608263"/>
            <a:ext cx="219075" cy="284162"/>
          </a:xfrm>
          <a:prstGeom prst="cube">
            <a:avLst>
              <a:gd name="adj" fmla="val 25000"/>
            </a:avLst>
          </a:prstGeom>
          <a:solidFill>
            <a:srgbClr val="969696"/>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0" name="AutoShape 20"/>
          <p:cNvSpPr>
            <a:spLocks noChangeArrowheads="1"/>
          </p:cNvSpPr>
          <p:nvPr/>
        </p:nvSpPr>
        <p:spPr bwMode="auto">
          <a:xfrm>
            <a:off x="4589463" y="2533650"/>
            <a:ext cx="220662" cy="282575"/>
          </a:xfrm>
          <a:prstGeom prst="cube">
            <a:avLst>
              <a:gd name="adj" fmla="val 25000"/>
            </a:avLst>
          </a:prstGeom>
          <a:solidFill>
            <a:srgbClr val="969696"/>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1" name="AutoShape 21"/>
          <p:cNvSpPr>
            <a:spLocks noChangeArrowheads="1"/>
          </p:cNvSpPr>
          <p:nvPr/>
        </p:nvSpPr>
        <p:spPr bwMode="auto">
          <a:xfrm>
            <a:off x="3482975" y="1887538"/>
            <a:ext cx="950913" cy="569912"/>
          </a:xfrm>
          <a:prstGeom prst="cube">
            <a:avLst>
              <a:gd name="adj" fmla="val 25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2" name="Text Box 22"/>
          <p:cNvSpPr txBox="1">
            <a:spLocks noChangeArrowheads="1"/>
          </p:cNvSpPr>
          <p:nvPr/>
        </p:nvSpPr>
        <p:spPr bwMode="auto">
          <a:xfrm>
            <a:off x="3425825" y="2055813"/>
            <a:ext cx="962025" cy="39687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ATU-C</a:t>
            </a:r>
          </a:p>
        </p:txBody>
      </p:sp>
      <p:sp>
        <p:nvSpPr>
          <p:cNvPr id="56343" name="Freeform 23"/>
          <p:cNvSpPr>
            <a:spLocks/>
          </p:cNvSpPr>
          <p:nvPr/>
        </p:nvSpPr>
        <p:spPr bwMode="auto">
          <a:xfrm>
            <a:off x="7704138" y="2722563"/>
            <a:ext cx="292100" cy="307975"/>
          </a:xfrm>
          <a:custGeom>
            <a:avLst/>
            <a:gdLst>
              <a:gd name="T0" fmla="*/ 0 w 192"/>
              <a:gd name="T1" fmla="*/ 2147483647 h 156"/>
              <a:gd name="T2" fmla="*/ 2147483647 w 192"/>
              <a:gd name="T3" fmla="*/ 0 h 156"/>
              <a:gd name="T4" fmla="*/ 2147483647 w 192"/>
              <a:gd name="T5" fmla="*/ 2147483647 h 156"/>
              <a:gd name="T6" fmla="*/ 0 60000 65536"/>
              <a:gd name="T7" fmla="*/ 0 60000 65536"/>
              <a:gd name="T8" fmla="*/ 0 60000 65536"/>
            </a:gdLst>
            <a:ahLst/>
            <a:cxnLst>
              <a:cxn ang="T6">
                <a:pos x="T0" y="T1"/>
              </a:cxn>
              <a:cxn ang="T7">
                <a:pos x="T2" y="T3"/>
              </a:cxn>
              <a:cxn ang="T8">
                <a:pos x="T4" y="T5"/>
              </a:cxn>
            </a:cxnLst>
            <a:rect l="0" t="0" r="r" b="b"/>
            <a:pathLst>
              <a:path w="192" h="156">
                <a:moveTo>
                  <a:pt x="0" y="6"/>
                </a:moveTo>
                <a:lnTo>
                  <a:pt x="192" y="0"/>
                </a:lnTo>
                <a:lnTo>
                  <a:pt x="192" y="156"/>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56344" name="Picture 2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39063" y="2913063"/>
            <a:ext cx="566737"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45" name="Text Box 25"/>
          <p:cNvSpPr txBox="1">
            <a:spLocks noChangeArrowheads="1"/>
          </p:cNvSpPr>
          <p:nvPr/>
        </p:nvSpPr>
        <p:spPr bwMode="auto">
          <a:xfrm>
            <a:off x="5080000" y="2276475"/>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用户线</a:t>
            </a:r>
          </a:p>
        </p:txBody>
      </p:sp>
      <p:sp>
        <p:nvSpPr>
          <p:cNvPr id="56346" name="Text Box 26"/>
          <p:cNvSpPr txBox="1">
            <a:spLocks noChangeArrowheads="1"/>
          </p:cNvSpPr>
          <p:nvPr/>
        </p:nvSpPr>
        <p:spPr bwMode="auto">
          <a:xfrm>
            <a:off x="5126038" y="1344613"/>
            <a:ext cx="9461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85000"/>
              </a:lnSpc>
            </a:pPr>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电话</a:t>
            </a:r>
          </a:p>
          <a:p>
            <a:pPr algn="l" eaLnBrk="1" hangingPunct="1">
              <a:lnSpc>
                <a:spcPct val="85000"/>
              </a:lnSpc>
            </a:pPr>
            <a:r>
              <a:rPr kumimoji="1" lang="zh-CN" altLang="en-US" sz="2000">
                <a:solidFill>
                  <a:srgbClr val="333399"/>
                </a:solidFill>
                <a:latin typeface="Arial" pitchFamily="34" charset="0"/>
                <a:ea typeface="黑体" pitchFamily="49" charset="-122"/>
              </a:rPr>
              <a:t>分离器</a:t>
            </a:r>
          </a:p>
        </p:txBody>
      </p:sp>
      <p:sp>
        <p:nvSpPr>
          <p:cNvPr id="56347" name="Line 27"/>
          <p:cNvSpPr>
            <a:spLocks noChangeShapeType="1"/>
          </p:cNvSpPr>
          <p:nvPr/>
        </p:nvSpPr>
        <p:spPr bwMode="auto">
          <a:xfrm flipH="1">
            <a:off x="4810125" y="1962150"/>
            <a:ext cx="438150" cy="66675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8" name="Line 28"/>
          <p:cNvSpPr>
            <a:spLocks noChangeShapeType="1"/>
          </p:cNvSpPr>
          <p:nvPr/>
        </p:nvSpPr>
        <p:spPr bwMode="auto">
          <a:xfrm rot="16200000" flipH="1">
            <a:off x="5795169" y="2002631"/>
            <a:ext cx="666750" cy="585788"/>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9" name="Text Box 29"/>
          <p:cNvSpPr txBox="1">
            <a:spLocks noChangeArrowheads="1"/>
          </p:cNvSpPr>
          <p:nvPr/>
        </p:nvSpPr>
        <p:spPr bwMode="auto">
          <a:xfrm>
            <a:off x="550863" y="2781300"/>
            <a:ext cx="1525587"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区域宽带网</a:t>
            </a:r>
          </a:p>
        </p:txBody>
      </p:sp>
      <p:sp>
        <p:nvSpPr>
          <p:cNvPr id="56350" name="Text Box 30"/>
          <p:cNvSpPr txBox="1">
            <a:spLocks noChangeArrowheads="1"/>
          </p:cNvSpPr>
          <p:nvPr/>
        </p:nvSpPr>
        <p:spPr bwMode="auto">
          <a:xfrm>
            <a:off x="574675" y="766763"/>
            <a:ext cx="915988"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至 </a:t>
            </a:r>
            <a:r>
              <a:rPr kumimoji="1" lang="en-US" altLang="zh-CN" sz="2000">
                <a:solidFill>
                  <a:srgbClr val="333399"/>
                </a:solidFill>
                <a:latin typeface="Arial" pitchFamily="34" charset="0"/>
                <a:ea typeface="黑体" pitchFamily="49" charset="-122"/>
              </a:rPr>
              <a:t>ISP</a:t>
            </a:r>
          </a:p>
        </p:txBody>
      </p:sp>
      <p:sp>
        <p:nvSpPr>
          <p:cNvPr id="56351" name="Text Box 31"/>
          <p:cNvSpPr txBox="1">
            <a:spLocks noChangeArrowheads="1"/>
          </p:cNvSpPr>
          <p:nvPr/>
        </p:nvSpPr>
        <p:spPr bwMode="auto">
          <a:xfrm>
            <a:off x="6861175" y="3590925"/>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居民家庭</a:t>
            </a:r>
          </a:p>
        </p:txBody>
      </p:sp>
      <p:sp>
        <p:nvSpPr>
          <p:cNvPr id="56352" name="Line 32"/>
          <p:cNvSpPr>
            <a:spLocks noChangeShapeType="1"/>
          </p:cNvSpPr>
          <p:nvPr/>
        </p:nvSpPr>
        <p:spPr bwMode="auto">
          <a:xfrm>
            <a:off x="2427288" y="946150"/>
            <a:ext cx="5934075"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3" name="Text Box 33"/>
          <p:cNvSpPr txBox="1">
            <a:spLocks noChangeArrowheads="1"/>
          </p:cNvSpPr>
          <p:nvPr/>
        </p:nvSpPr>
        <p:spPr bwMode="auto">
          <a:xfrm>
            <a:off x="4200525" y="749300"/>
            <a:ext cx="2513013"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基于 </a:t>
            </a:r>
            <a:r>
              <a:rPr kumimoji="1" lang="en-US" altLang="zh-CN" sz="2000">
                <a:solidFill>
                  <a:srgbClr val="333399"/>
                </a:solidFill>
                <a:latin typeface="Arial" pitchFamily="34" charset="0"/>
                <a:ea typeface="黑体" pitchFamily="49" charset="-122"/>
              </a:rPr>
              <a:t>ADSL </a:t>
            </a:r>
            <a:r>
              <a:rPr kumimoji="1" lang="zh-CN" altLang="en-US" sz="2000">
                <a:solidFill>
                  <a:srgbClr val="333399"/>
                </a:solidFill>
                <a:latin typeface="Arial" pitchFamily="34" charset="0"/>
                <a:ea typeface="黑体" pitchFamily="49" charset="-122"/>
              </a:rPr>
              <a:t>的接入网</a:t>
            </a:r>
          </a:p>
        </p:txBody>
      </p:sp>
      <p:sp>
        <p:nvSpPr>
          <p:cNvPr id="56354" name="Text Box 34"/>
          <p:cNvSpPr txBox="1">
            <a:spLocks noChangeArrowheads="1"/>
          </p:cNvSpPr>
          <p:nvPr/>
        </p:nvSpPr>
        <p:spPr bwMode="auto">
          <a:xfrm>
            <a:off x="2667000" y="1125538"/>
            <a:ext cx="170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端局或远端站</a:t>
            </a:r>
          </a:p>
        </p:txBody>
      </p:sp>
      <p:sp>
        <p:nvSpPr>
          <p:cNvPr id="56355" name="Line 35"/>
          <p:cNvSpPr>
            <a:spLocks noChangeShapeType="1"/>
          </p:cNvSpPr>
          <p:nvPr/>
        </p:nvSpPr>
        <p:spPr bwMode="auto">
          <a:xfrm>
            <a:off x="2465388" y="4098925"/>
            <a:ext cx="2073275" cy="15875"/>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6" name="Text Box 36"/>
          <p:cNvSpPr txBox="1">
            <a:spLocks noChangeArrowheads="1"/>
          </p:cNvSpPr>
          <p:nvPr/>
        </p:nvSpPr>
        <p:spPr bwMode="auto">
          <a:xfrm>
            <a:off x="2959100" y="3906838"/>
            <a:ext cx="1060450" cy="35083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lnSpc>
                <a:spcPct val="85000"/>
              </a:lnSpc>
            </a:pPr>
            <a:r>
              <a:rPr kumimoji="1" lang="en-US" altLang="zh-CN" sz="2000">
                <a:solidFill>
                  <a:srgbClr val="333399"/>
                </a:solidFill>
                <a:latin typeface="Arial" pitchFamily="34" charset="0"/>
                <a:ea typeface="黑体" pitchFamily="49" charset="-122"/>
              </a:rPr>
              <a:t>DSLAM</a:t>
            </a:r>
          </a:p>
        </p:txBody>
      </p:sp>
      <p:sp>
        <p:nvSpPr>
          <p:cNvPr id="56357" name="Text Box 37"/>
          <p:cNvSpPr txBox="1">
            <a:spLocks noChangeArrowheads="1"/>
          </p:cNvSpPr>
          <p:nvPr/>
        </p:nvSpPr>
        <p:spPr bwMode="auto">
          <a:xfrm>
            <a:off x="4854575" y="3860800"/>
            <a:ext cx="170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至本地电话局</a:t>
            </a:r>
          </a:p>
        </p:txBody>
      </p:sp>
      <p:sp>
        <p:nvSpPr>
          <p:cNvPr id="56358" name="Text Box 38"/>
          <p:cNvSpPr txBox="1">
            <a:spLocks noChangeArrowheads="1"/>
          </p:cNvSpPr>
          <p:nvPr/>
        </p:nvSpPr>
        <p:spPr bwMode="auto">
          <a:xfrm>
            <a:off x="4503738" y="1809750"/>
            <a:ext cx="523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PS</a:t>
            </a:r>
          </a:p>
        </p:txBody>
      </p:sp>
      <p:sp>
        <p:nvSpPr>
          <p:cNvPr id="56359" name="Text Box 39"/>
          <p:cNvSpPr txBox="1">
            <a:spLocks noChangeArrowheads="1"/>
          </p:cNvSpPr>
          <p:nvPr/>
        </p:nvSpPr>
        <p:spPr bwMode="auto">
          <a:xfrm>
            <a:off x="6389688" y="2276475"/>
            <a:ext cx="523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en-US" altLang="zh-CN" sz="2000">
                <a:solidFill>
                  <a:srgbClr val="333399"/>
                </a:solidFill>
                <a:latin typeface="Arial" pitchFamily="34" charset="0"/>
                <a:ea typeface="黑体" pitchFamily="49" charset="-122"/>
              </a:rPr>
              <a:t>PS</a:t>
            </a:r>
          </a:p>
        </p:txBody>
      </p:sp>
      <p:sp>
        <p:nvSpPr>
          <p:cNvPr id="56360" name="Freeform 40"/>
          <p:cNvSpPr>
            <a:spLocks/>
          </p:cNvSpPr>
          <p:nvPr/>
        </p:nvSpPr>
        <p:spPr bwMode="auto">
          <a:xfrm>
            <a:off x="4381500" y="3149600"/>
            <a:ext cx="298450" cy="1588"/>
          </a:xfrm>
          <a:custGeom>
            <a:avLst/>
            <a:gdLst>
              <a:gd name="T0" fmla="*/ 0 w 196"/>
              <a:gd name="T1" fmla="*/ 0 h 1"/>
              <a:gd name="T2" fmla="*/ 2147483647 w 196"/>
              <a:gd name="T3" fmla="*/ 0 h 1"/>
              <a:gd name="T4" fmla="*/ 0 60000 65536"/>
              <a:gd name="T5" fmla="*/ 0 60000 65536"/>
            </a:gdLst>
            <a:ahLst/>
            <a:cxnLst>
              <a:cxn ang="T4">
                <a:pos x="T0" y="T1"/>
              </a:cxn>
              <a:cxn ang="T5">
                <a:pos x="T2" y="T3"/>
              </a:cxn>
            </a:cxnLst>
            <a:rect l="0" t="0" r="r" b="b"/>
            <a:pathLst>
              <a:path w="196" h="1">
                <a:moveTo>
                  <a:pt x="0" y="0"/>
                </a:moveTo>
                <a:lnTo>
                  <a:pt x="196" y="0"/>
                </a:lnTo>
              </a:path>
            </a:pathLst>
          </a:custGeom>
          <a:noFill/>
          <a:ln w="28575" cmpd="sng">
            <a:solidFill>
              <a:srgbClr val="333399"/>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1" name="Freeform 41"/>
          <p:cNvSpPr>
            <a:spLocks/>
          </p:cNvSpPr>
          <p:nvPr/>
        </p:nvSpPr>
        <p:spPr bwMode="auto">
          <a:xfrm>
            <a:off x="4381500" y="2152650"/>
            <a:ext cx="298450" cy="0"/>
          </a:xfrm>
          <a:custGeom>
            <a:avLst/>
            <a:gdLst>
              <a:gd name="T0" fmla="*/ 0 w 196"/>
              <a:gd name="T1" fmla="*/ 0 h 1"/>
              <a:gd name="T2" fmla="*/ 2147483647 w 196"/>
              <a:gd name="T3" fmla="*/ 0 h 1"/>
              <a:gd name="T4" fmla="*/ 0 60000 65536"/>
              <a:gd name="T5" fmla="*/ 0 60000 65536"/>
            </a:gdLst>
            <a:ahLst/>
            <a:cxnLst>
              <a:cxn ang="T4">
                <a:pos x="T0" y="T1"/>
              </a:cxn>
              <a:cxn ang="T5">
                <a:pos x="T2" y="T3"/>
              </a:cxn>
            </a:cxnLst>
            <a:rect l="0" t="0" r="r" b="b"/>
            <a:pathLst>
              <a:path w="196" h="1">
                <a:moveTo>
                  <a:pt x="0" y="0"/>
                </a:moveTo>
                <a:lnTo>
                  <a:pt x="196" y="0"/>
                </a:lnTo>
              </a:path>
            </a:pathLst>
          </a:custGeom>
          <a:noFill/>
          <a:ln w="28575" cmpd="sng">
            <a:solidFill>
              <a:srgbClr val="333399"/>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2" name="Text Box 42"/>
          <p:cNvSpPr txBox="1">
            <a:spLocks noChangeArrowheads="1"/>
          </p:cNvSpPr>
          <p:nvPr/>
        </p:nvSpPr>
        <p:spPr bwMode="auto">
          <a:xfrm>
            <a:off x="0" y="4600575"/>
            <a:ext cx="9144000" cy="1989138"/>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lang="zh-CN" altLang="en-US">
                <a:solidFill>
                  <a:srgbClr val="333399"/>
                </a:solidFill>
                <a:latin typeface="Arial" pitchFamily="34" charset="0"/>
                <a:ea typeface="黑体" pitchFamily="49" charset="-122"/>
              </a:rPr>
              <a:t>数字用户线接入复用器 </a:t>
            </a:r>
            <a:r>
              <a:rPr lang="en-US" altLang="zh-CN">
                <a:solidFill>
                  <a:srgbClr val="333399"/>
                </a:solidFill>
                <a:latin typeface="Arial" pitchFamily="34" charset="0"/>
                <a:ea typeface="黑体" pitchFamily="49" charset="-122"/>
              </a:rPr>
              <a:t>DSLAM (DSL Access Multiplexer)</a:t>
            </a:r>
          </a:p>
          <a:p>
            <a:pPr algn="l" eaLnBrk="1" hangingPunct="1"/>
            <a:r>
              <a:rPr lang="zh-CN" altLang="en-US">
                <a:solidFill>
                  <a:srgbClr val="333399"/>
                </a:solidFill>
                <a:latin typeface="Arial" pitchFamily="34" charset="0"/>
                <a:ea typeface="黑体" pitchFamily="49" charset="-122"/>
              </a:rPr>
              <a:t>接入端接单元 </a:t>
            </a:r>
            <a:r>
              <a:rPr lang="en-US" altLang="zh-CN">
                <a:solidFill>
                  <a:srgbClr val="333399"/>
                </a:solidFill>
                <a:latin typeface="Arial" pitchFamily="34" charset="0"/>
                <a:ea typeface="黑体" pitchFamily="49" charset="-122"/>
              </a:rPr>
              <a:t>ATU (Access Termination Unit)</a:t>
            </a:r>
          </a:p>
          <a:p>
            <a:pPr algn="l" eaLnBrk="1" hangingPunct="1"/>
            <a:r>
              <a:rPr lang="en-US" altLang="zh-CN">
                <a:solidFill>
                  <a:srgbClr val="333399"/>
                </a:solidFill>
                <a:latin typeface="Arial" pitchFamily="34" charset="0"/>
                <a:ea typeface="黑体" pitchFamily="49" charset="-122"/>
              </a:rPr>
              <a:t>ATU-C</a:t>
            </a:r>
            <a:r>
              <a:rPr lang="zh-CN" altLang="en-US">
                <a:solidFill>
                  <a:srgbClr val="333399"/>
                </a:solidFill>
                <a:latin typeface="Arial" pitchFamily="34" charset="0"/>
                <a:ea typeface="黑体" pitchFamily="49" charset="-122"/>
              </a:rPr>
              <a:t>（</a:t>
            </a:r>
            <a:r>
              <a:rPr lang="en-US" altLang="zh-CN">
                <a:solidFill>
                  <a:srgbClr val="333399"/>
                </a:solidFill>
                <a:latin typeface="Arial" pitchFamily="34" charset="0"/>
                <a:ea typeface="黑体" pitchFamily="49" charset="-122"/>
              </a:rPr>
              <a:t>C </a:t>
            </a:r>
            <a:r>
              <a:rPr lang="zh-CN" altLang="en-US">
                <a:solidFill>
                  <a:srgbClr val="333399"/>
                </a:solidFill>
                <a:latin typeface="Arial" pitchFamily="34" charset="0"/>
                <a:ea typeface="黑体" pitchFamily="49" charset="-122"/>
              </a:rPr>
              <a:t>代表端局 </a:t>
            </a:r>
            <a:r>
              <a:rPr lang="en-US" altLang="zh-CN">
                <a:solidFill>
                  <a:srgbClr val="333399"/>
                </a:solidFill>
                <a:latin typeface="Arial" pitchFamily="34" charset="0"/>
                <a:ea typeface="黑体" pitchFamily="49" charset="-122"/>
              </a:rPr>
              <a:t>Central Office</a:t>
            </a:r>
            <a:r>
              <a:rPr lang="zh-CN" altLang="en-US">
                <a:solidFill>
                  <a:srgbClr val="333399"/>
                </a:solidFill>
                <a:latin typeface="Arial" pitchFamily="34" charset="0"/>
                <a:ea typeface="黑体" pitchFamily="49" charset="-122"/>
              </a:rPr>
              <a:t>）调制解调器</a:t>
            </a:r>
            <a:r>
              <a:rPr lang="en-US" altLang="zh-CN">
                <a:solidFill>
                  <a:srgbClr val="333399"/>
                </a:solidFill>
                <a:latin typeface="Arial" pitchFamily="34" charset="0"/>
                <a:ea typeface="黑体" pitchFamily="49" charset="-122"/>
              </a:rPr>
              <a:t>/</a:t>
            </a:r>
            <a:r>
              <a:rPr lang="zh-CN" altLang="en-US">
                <a:solidFill>
                  <a:srgbClr val="333399"/>
                </a:solidFill>
                <a:latin typeface="Arial" pitchFamily="34" charset="0"/>
                <a:ea typeface="黑体" pitchFamily="49" charset="-122"/>
              </a:rPr>
              <a:t>接入端接单元</a:t>
            </a:r>
          </a:p>
          <a:p>
            <a:pPr algn="l" eaLnBrk="1" hangingPunct="1"/>
            <a:r>
              <a:rPr lang="en-US" altLang="zh-CN">
                <a:solidFill>
                  <a:srgbClr val="333399"/>
                </a:solidFill>
                <a:latin typeface="Arial" pitchFamily="34" charset="0"/>
                <a:ea typeface="黑体" pitchFamily="49" charset="-122"/>
              </a:rPr>
              <a:t>ATU-R</a:t>
            </a:r>
            <a:r>
              <a:rPr lang="zh-CN" altLang="en-US">
                <a:solidFill>
                  <a:srgbClr val="333399"/>
                </a:solidFill>
                <a:latin typeface="Arial" pitchFamily="34" charset="0"/>
                <a:ea typeface="黑体" pitchFamily="49" charset="-122"/>
              </a:rPr>
              <a:t>（</a:t>
            </a:r>
            <a:r>
              <a:rPr lang="en-US" altLang="zh-CN">
                <a:solidFill>
                  <a:srgbClr val="333399"/>
                </a:solidFill>
                <a:latin typeface="Arial" pitchFamily="34" charset="0"/>
                <a:ea typeface="黑体" pitchFamily="49" charset="-122"/>
              </a:rPr>
              <a:t>R </a:t>
            </a:r>
            <a:r>
              <a:rPr lang="zh-CN" altLang="en-US">
                <a:solidFill>
                  <a:srgbClr val="333399"/>
                </a:solidFill>
                <a:latin typeface="Arial" pitchFamily="34" charset="0"/>
                <a:ea typeface="黑体" pitchFamily="49" charset="-122"/>
              </a:rPr>
              <a:t>代表远端 </a:t>
            </a:r>
            <a:r>
              <a:rPr lang="en-US" altLang="zh-CN">
                <a:solidFill>
                  <a:srgbClr val="333399"/>
                </a:solidFill>
                <a:latin typeface="Arial" pitchFamily="34" charset="0"/>
                <a:ea typeface="黑体" pitchFamily="49" charset="-122"/>
              </a:rPr>
              <a:t>Remote</a:t>
            </a:r>
            <a:r>
              <a:rPr lang="zh-CN" altLang="en-US">
                <a:solidFill>
                  <a:srgbClr val="333399"/>
                </a:solidFill>
                <a:latin typeface="Arial" pitchFamily="34" charset="0"/>
                <a:ea typeface="黑体" pitchFamily="49" charset="-122"/>
              </a:rPr>
              <a:t>）</a:t>
            </a:r>
          </a:p>
          <a:p>
            <a:pPr algn="l" eaLnBrk="1" hangingPunct="1"/>
            <a:r>
              <a:rPr lang="zh-CN" altLang="en-US">
                <a:solidFill>
                  <a:srgbClr val="333399"/>
                </a:solidFill>
                <a:latin typeface="Arial" pitchFamily="34" charset="0"/>
                <a:ea typeface="黑体" pitchFamily="49" charset="-122"/>
              </a:rPr>
              <a:t>电话分离器 </a:t>
            </a:r>
            <a:r>
              <a:rPr lang="en-US" altLang="zh-CN">
                <a:solidFill>
                  <a:srgbClr val="333399"/>
                </a:solidFill>
                <a:latin typeface="Arial" pitchFamily="34" charset="0"/>
                <a:ea typeface="黑体" pitchFamily="49" charset="-122"/>
              </a:rPr>
              <a:t>PS (POTS Splitter)</a:t>
            </a:r>
            <a:r>
              <a:rPr lang="en-US" altLang="zh-CN" sz="2800"/>
              <a:t> </a:t>
            </a:r>
            <a:r>
              <a:rPr lang="en-US" altLang="zh-CN">
                <a:solidFill>
                  <a:srgbClr val="333399"/>
                </a:solidFill>
                <a:latin typeface="Arial" pitchFamily="34" charset="0"/>
                <a:ea typeface="黑体" pitchFamily="49" charset="-122"/>
              </a:rPr>
              <a:t> </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150938" y="311150"/>
            <a:ext cx="7793037" cy="1462088"/>
          </a:xfrm>
        </p:spPr>
        <p:txBody>
          <a:bodyPr/>
          <a:lstStyle/>
          <a:p>
            <a:pPr algn="ctr" eaLnBrk="1" hangingPunct="1"/>
            <a:r>
              <a:rPr lang="zh-CN" altLang="en-US" sz="4000" smtClean="0"/>
              <a:t>第二代 </a:t>
            </a:r>
            <a:r>
              <a:rPr lang="en-US" altLang="zh-CN" sz="4000" smtClean="0"/>
              <a:t>ADSL </a:t>
            </a:r>
            <a:br>
              <a:rPr lang="en-US" altLang="zh-CN" sz="4000" smtClean="0"/>
            </a:br>
            <a:r>
              <a:rPr lang="en-US" altLang="zh-CN" sz="4000" smtClean="0"/>
              <a:t> </a:t>
            </a:r>
            <a:r>
              <a:rPr lang="en-US" altLang="zh-CN" sz="2800" smtClean="0"/>
              <a:t>ADSL2</a:t>
            </a:r>
            <a:r>
              <a:rPr lang="zh-CN" altLang="en-US" sz="2800" smtClean="0"/>
              <a:t>（</a:t>
            </a:r>
            <a:r>
              <a:rPr lang="en-US" altLang="zh-CN" sz="2800" smtClean="0"/>
              <a:t>G.992.3 </a:t>
            </a:r>
            <a:r>
              <a:rPr lang="zh-CN" altLang="en-US" sz="2800" smtClean="0"/>
              <a:t>和 </a:t>
            </a:r>
            <a:r>
              <a:rPr lang="en-US" altLang="zh-CN" sz="2800" smtClean="0"/>
              <a:t>G.992.4</a:t>
            </a:r>
            <a:r>
              <a:rPr lang="zh-CN" altLang="en-US" sz="2800" smtClean="0"/>
              <a:t>）</a:t>
            </a:r>
            <a:br>
              <a:rPr lang="zh-CN" altLang="en-US" sz="2800" smtClean="0"/>
            </a:br>
            <a:r>
              <a:rPr lang="en-US" altLang="zh-CN" sz="2800" smtClean="0"/>
              <a:t>ADSL2+</a:t>
            </a:r>
            <a:r>
              <a:rPr lang="zh-CN" altLang="en-US" sz="2800" smtClean="0"/>
              <a:t>（</a:t>
            </a:r>
            <a:r>
              <a:rPr lang="en-US" altLang="zh-CN" sz="2800" smtClean="0"/>
              <a:t>G.992.5</a:t>
            </a:r>
            <a:r>
              <a:rPr lang="zh-CN" altLang="en-US" sz="2800" smtClean="0"/>
              <a:t>）</a:t>
            </a:r>
          </a:p>
        </p:txBody>
      </p:sp>
      <p:sp>
        <p:nvSpPr>
          <p:cNvPr id="57347" name="Rectangle 3"/>
          <p:cNvSpPr>
            <a:spLocks noGrp="1" noChangeArrowheads="1"/>
          </p:cNvSpPr>
          <p:nvPr>
            <p:ph type="body" idx="1"/>
          </p:nvPr>
        </p:nvSpPr>
        <p:spPr>
          <a:xfrm>
            <a:off x="1042988" y="1773238"/>
            <a:ext cx="7777162" cy="4392612"/>
          </a:xfrm>
        </p:spPr>
        <p:txBody>
          <a:bodyPr/>
          <a:lstStyle/>
          <a:p>
            <a:pPr eaLnBrk="1" hangingPunct="1">
              <a:lnSpc>
                <a:spcPct val="90000"/>
              </a:lnSpc>
            </a:pPr>
            <a:r>
              <a:rPr lang="zh-CN" altLang="en-US" sz="3500" smtClean="0"/>
              <a:t>通过提高调制效率</a:t>
            </a:r>
            <a:r>
              <a:rPr lang="zh-CN" altLang="en-US" sz="1800" smtClean="0"/>
              <a:t>码元种数</a:t>
            </a:r>
            <a:r>
              <a:rPr lang="zh-CN" altLang="en-US" sz="3500" smtClean="0"/>
              <a:t>得到了</a:t>
            </a:r>
            <a:r>
              <a:rPr lang="zh-CN" altLang="en-US" sz="3500" smtClean="0">
                <a:solidFill>
                  <a:schemeClr val="hlink"/>
                </a:solidFill>
              </a:rPr>
              <a:t>更高的数据率</a:t>
            </a:r>
            <a:r>
              <a:rPr lang="zh-CN" altLang="en-US" sz="3500" smtClean="0"/>
              <a:t>。例如，</a:t>
            </a:r>
            <a:r>
              <a:rPr lang="en-US" altLang="zh-CN" sz="3500" smtClean="0">
                <a:solidFill>
                  <a:schemeClr val="hlink"/>
                </a:solidFill>
              </a:rPr>
              <a:t>ADSL2 </a:t>
            </a:r>
            <a:r>
              <a:rPr lang="zh-CN" altLang="en-US" sz="3500" smtClean="0"/>
              <a:t>要求至少应支持下行 </a:t>
            </a:r>
            <a:r>
              <a:rPr lang="en-US" altLang="zh-CN" sz="3500" smtClean="0"/>
              <a:t>8 Mb/s</a:t>
            </a:r>
            <a:r>
              <a:rPr lang="zh-CN" altLang="en-US" sz="3500" smtClean="0"/>
              <a:t>、上行 </a:t>
            </a:r>
            <a:r>
              <a:rPr lang="en-US" altLang="zh-CN" sz="3500" smtClean="0"/>
              <a:t>800 kb/s</a:t>
            </a:r>
            <a:r>
              <a:rPr lang="zh-CN" altLang="en-US" sz="3500" smtClean="0"/>
              <a:t>的速率。</a:t>
            </a:r>
          </a:p>
          <a:p>
            <a:pPr eaLnBrk="1" hangingPunct="1">
              <a:lnSpc>
                <a:spcPct val="90000"/>
              </a:lnSpc>
            </a:pPr>
            <a:r>
              <a:rPr lang="zh-CN" altLang="en-US" sz="3500" smtClean="0"/>
              <a:t>而 </a:t>
            </a:r>
            <a:r>
              <a:rPr lang="en-US" altLang="zh-CN" sz="3500" smtClean="0">
                <a:solidFill>
                  <a:schemeClr val="hlink"/>
                </a:solidFill>
              </a:rPr>
              <a:t>ADSL2+</a:t>
            </a:r>
            <a:r>
              <a:rPr lang="en-US" altLang="zh-CN" sz="3500" smtClean="0"/>
              <a:t> </a:t>
            </a:r>
            <a:r>
              <a:rPr lang="zh-CN" altLang="en-US" sz="3500" smtClean="0"/>
              <a:t>则将频谱范围从 </a:t>
            </a:r>
            <a:r>
              <a:rPr lang="en-US" altLang="zh-CN" sz="3500" smtClean="0"/>
              <a:t>1.1 MHz </a:t>
            </a:r>
            <a:r>
              <a:rPr lang="zh-CN" altLang="en-US" sz="3500" smtClean="0"/>
              <a:t>扩展至</a:t>
            </a:r>
            <a:r>
              <a:rPr lang="en-US" altLang="zh-CN" sz="3500" smtClean="0"/>
              <a:t>2.2 MHz</a:t>
            </a:r>
            <a:r>
              <a:rPr lang="zh-CN" altLang="en-US" sz="3500" smtClean="0"/>
              <a:t>，下行速率可达 </a:t>
            </a:r>
            <a:r>
              <a:rPr lang="en-US" altLang="zh-CN" sz="3500" smtClean="0"/>
              <a:t>16 Mb/s</a:t>
            </a:r>
            <a:r>
              <a:rPr lang="zh-CN" altLang="en-US" sz="3500" smtClean="0"/>
              <a:t>（最大传输速率可达</a:t>
            </a:r>
            <a:r>
              <a:rPr lang="en-US" altLang="zh-CN" sz="3500" smtClean="0"/>
              <a:t>25 Mb/s</a:t>
            </a:r>
            <a:r>
              <a:rPr lang="zh-CN" altLang="en-US" sz="3500" smtClean="0"/>
              <a:t>），而上行速率可达 </a:t>
            </a:r>
            <a:r>
              <a:rPr lang="en-US" altLang="zh-CN" sz="3500" smtClean="0"/>
              <a:t>800 kb/s</a:t>
            </a:r>
            <a:r>
              <a:rPr lang="zh-CN" altLang="en-US" sz="3500" smtClean="0"/>
              <a:t>。</a:t>
            </a:r>
          </a:p>
          <a:p>
            <a:pPr eaLnBrk="1" hangingPunct="1">
              <a:lnSpc>
                <a:spcPct val="90000"/>
              </a:lnSpc>
            </a:pPr>
            <a:endParaRPr lang="en-US" altLang="zh-CN" sz="3500" smtClean="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algn="ctr" eaLnBrk="1" hangingPunct="1"/>
            <a:r>
              <a:rPr lang="en-US" altLang="zh-CN" smtClean="0"/>
              <a:t>2.6.2  </a:t>
            </a:r>
            <a:r>
              <a:rPr lang="zh-CN" altLang="en-US" smtClean="0"/>
              <a:t>光纤同轴混合网</a:t>
            </a:r>
            <a:br>
              <a:rPr lang="zh-CN" altLang="en-US" smtClean="0"/>
            </a:br>
            <a:r>
              <a:rPr lang="en-US" altLang="zh-CN" sz="3600" smtClean="0"/>
              <a:t>HFC (Hybrid Fiber Coax)</a:t>
            </a:r>
          </a:p>
        </p:txBody>
      </p:sp>
      <p:sp>
        <p:nvSpPr>
          <p:cNvPr id="287747" name="Rectangle 3"/>
          <p:cNvSpPr>
            <a:spLocks noGrp="1" noChangeArrowheads="1"/>
          </p:cNvSpPr>
          <p:nvPr>
            <p:ph type="body" idx="1"/>
          </p:nvPr>
        </p:nvSpPr>
        <p:spPr>
          <a:xfrm>
            <a:off x="1042988" y="1835150"/>
            <a:ext cx="7772400" cy="4114800"/>
          </a:xfrm>
        </p:spPr>
        <p:txBody>
          <a:bodyPr/>
          <a:lstStyle/>
          <a:p>
            <a:pPr eaLnBrk="1" hangingPunct="1"/>
            <a:r>
              <a:rPr lang="en-US" altLang="zh-CN" sz="2800" smtClean="0"/>
              <a:t>HFC </a:t>
            </a:r>
            <a:r>
              <a:rPr lang="zh-CN" altLang="en-US" sz="2800" smtClean="0"/>
              <a:t>网是在目前覆盖面很广的有线电视网 </a:t>
            </a:r>
            <a:r>
              <a:rPr lang="en-US" altLang="zh-CN" sz="2800" smtClean="0"/>
              <a:t>CATV </a:t>
            </a:r>
            <a:r>
              <a:rPr lang="zh-CN" altLang="en-US" sz="2800" smtClean="0"/>
              <a:t>的基础上开发的一种居民宽带接入网。</a:t>
            </a:r>
          </a:p>
          <a:p>
            <a:pPr eaLnBrk="1" hangingPunct="1"/>
            <a:r>
              <a:rPr lang="en-US" altLang="zh-CN" sz="2800" smtClean="0"/>
              <a:t>HFC </a:t>
            </a:r>
            <a:r>
              <a:rPr lang="zh-CN" altLang="en-US" sz="2800" smtClean="0"/>
              <a:t>网除可传送 </a:t>
            </a:r>
            <a:r>
              <a:rPr lang="en-US" altLang="zh-CN" sz="2800" smtClean="0"/>
              <a:t>CATV </a:t>
            </a:r>
            <a:r>
              <a:rPr lang="zh-CN" altLang="en-US" sz="2800" smtClean="0"/>
              <a:t>外，还提供电话、数据和其他宽带交互型业务。</a:t>
            </a:r>
          </a:p>
          <a:p>
            <a:pPr eaLnBrk="1" hangingPunct="1"/>
            <a:r>
              <a:rPr lang="zh-CN" altLang="en-US" sz="2800" smtClean="0"/>
              <a:t>现有的 </a:t>
            </a:r>
            <a:r>
              <a:rPr lang="en-US" altLang="zh-CN" sz="2800" smtClean="0"/>
              <a:t>CATV </a:t>
            </a:r>
            <a:r>
              <a:rPr lang="zh-CN" altLang="en-US" sz="2800" smtClean="0"/>
              <a:t>网是树形拓扑结构的同轴电缆网络，它采用模拟技术的频分复用对电视节目进行单向传输。而 </a:t>
            </a:r>
            <a:r>
              <a:rPr lang="en-US" altLang="zh-CN" sz="2800" smtClean="0"/>
              <a:t>HFC </a:t>
            </a:r>
            <a:r>
              <a:rPr lang="zh-CN" altLang="en-US" sz="2800" smtClean="0"/>
              <a:t>网则需要对 </a:t>
            </a:r>
            <a:r>
              <a:rPr lang="en-US" altLang="zh-CN" sz="2800" smtClean="0"/>
              <a:t>CATV </a:t>
            </a:r>
            <a:r>
              <a:rPr lang="zh-CN" altLang="en-US" sz="2800" smtClean="0"/>
              <a:t>网进行改造，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7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7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algn="ctr" eaLnBrk="1" hangingPunct="1"/>
            <a:r>
              <a:rPr lang="en-US" altLang="zh-CN" smtClean="0"/>
              <a:t>HFC </a:t>
            </a:r>
            <a:r>
              <a:rPr lang="zh-CN" altLang="en-US" smtClean="0"/>
              <a:t>的主要特点 </a:t>
            </a:r>
          </a:p>
        </p:txBody>
      </p:sp>
      <p:sp>
        <p:nvSpPr>
          <p:cNvPr id="289795" name="Rectangle 3"/>
          <p:cNvSpPr>
            <a:spLocks noGrp="1" noChangeArrowheads="1"/>
          </p:cNvSpPr>
          <p:nvPr>
            <p:ph type="body" idx="1"/>
          </p:nvPr>
        </p:nvSpPr>
        <p:spPr>
          <a:xfrm>
            <a:off x="611188" y="1773238"/>
            <a:ext cx="8204200" cy="4679950"/>
          </a:xfrm>
        </p:spPr>
        <p:txBody>
          <a:bodyPr/>
          <a:lstStyle/>
          <a:p>
            <a:pPr eaLnBrk="1" hangingPunct="1">
              <a:buFont typeface="Wingdings" pitchFamily="2" charset="2"/>
              <a:buNone/>
            </a:pPr>
            <a:r>
              <a:rPr lang="en-US" altLang="zh-CN" smtClean="0"/>
              <a:t>           (1) HFC</a:t>
            </a:r>
            <a:r>
              <a:rPr lang="zh-CN" altLang="en-US" smtClean="0"/>
              <a:t>网的主干线路采用光纤</a:t>
            </a:r>
          </a:p>
          <a:p>
            <a:pPr eaLnBrk="1" hangingPunct="1"/>
            <a:r>
              <a:rPr lang="en-US" altLang="zh-CN" smtClean="0"/>
              <a:t>HFC </a:t>
            </a:r>
            <a:r>
              <a:rPr lang="zh-CN" altLang="en-US" smtClean="0"/>
              <a:t>网将原 </a:t>
            </a:r>
            <a:r>
              <a:rPr lang="en-US" altLang="zh-CN" smtClean="0"/>
              <a:t>CATV </a:t>
            </a:r>
            <a:r>
              <a:rPr lang="zh-CN" altLang="en-US" smtClean="0"/>
              <a:t>网中的同轴电缆主干部分改换为光纤，并使用</a:t>
            </a:r>
            <a:r>
              <a:rPr lang="zh-CN" altLang="en-US" smtClean="0">
                <a:solidFill>
                  <a:schemeClr val="hlink"/>
                </a:solidFill>
              </a:rPr>
              <a:t>光纤通信技术</a:t>
            </a:r>
            <a:r>
              <a:rPr lang="zh-CN" altLang="en-US" smtClean="0"/>
              <a:t>。</a:t>
            </a:r>
          </a:p>
          <a:p>
            <a:pPr eaLnBrk="1" hangingPunct="1"/>
            <a:r>
              <a:rPr lang="zh-CN" altLang="en-US" smtClean="0"/>
              <a:t>模拟光纤从头端连接到</a:t>
            </a:r>
            <a:r>
              <a:rPr lang="zh-CN" altLang="en-US" smtClean="0">
                <a:solidFill>
                  <a:schemeClr val="hlink"/>
                </a:solidFill>
              </a:rPr>
              <a:t>光纤结点</a:t>
            </a:r>
            <a:r>
              <a:rPr lang="en-US" altLang="zh-CN" smtClean="0"/>
              <a:t>(fiber node)</a:t>
            </a:r>
            <a:r>
              <a:rPr lang="zh-CN" altLang="en-US" smtClean="0"/>
              <a:t>，即</a:t>
            </a:r>
            <a:r>
              <a:rPr lang="zh-CN" altLang="en-US" smtClean="0">
                <a:solidFill>
                  <a:schemeClr val="hlink"/>
                </a:solidFill>
              </a:rPr>
              <a:t>光分配结点 </a:t>
            </a:r>
            <a:r>
              <a:rPr lang="en-US" altLang="zh-CN" smtClean="0"/>
              <a:t>ODN (Optical Distribution Node)</a:t>
            </a:r>
            <a:r>
              <a:rPr lang="zh-CN" altLang="en-US" smtClean="0"/>
              <a:t>。在光纤结点光信号被转换为电信号。在光纤结点以下就是同轴电缆。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9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9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150938" y="836613"/>
            <a:ext cx="7793037" cy="839787"/>
          </a:xfrm>
        </p:spPr>
        <p:txBody>
          <a:bodyPr/>
          <a:lstStyle/>
          <a:p>
            <a:pPr algn="ctr" eaLnBrk="1" hangingPunct="1"/>
            <a:r>
              <a:rPr lang="en-US" altLang="zh-CN" sz="4000" smtClean="0"/>
              <a:t>(2) HFC </a:t>
            </a:r>
            <a:r>
              <a:rPr lang="zh-CN" altLang="en-US" sz="4000" smtClean="0"/>
              <a:t>网采用结点体系结构 </a:t>
            </a:r>
          </a:p>
        </p:txBody>
      </p:sp>
      <p:sp>
        <p:nvSpPr>
          <p:cNvPr id="60419" name="AutoShape 3"/>
          <p:cNvSpPr>
            <a:spLocks noChangeArrowheads="1"/>
          </p:cNvSpPr>
          <p:nvPr/>
        </p:nvSpPr>
        <p:spPr bwMode="auto">
          <a:xfrm>
            <a:off x="458788" y="2586038"/>
            <a:ext cx="2260600" cy="1527175"/>
          </a:xfrm>
          <a:prstGeom prst="roundRect">
            <a:avLst>
              <a:gd name="adj" fmla="val 16667"/>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0" name="AutoShape 4"/>
          <p:cNvSpPr>
            <a:spLocks noChangeArrowheads="1"/>
          </p:cNvSpPr>
          <p:nvPr/>
        </p:nvSpPr>
        <p:spPr bwMode="auto">
          <a:xfrm>
            <a:off x="6272213" y="2586038"/>
            <a:ext cx="2260600" cy="1527175"/>
          </a:xfrm>
          <a:prstGeom prst="roundRect">
            <a:avLst>
              <a:gd name="adj" fmla="val 16667"/>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1" name="AutoShape 5"/>
          <p:cNvSpPr>
            <a:spLocks noChangeArrowheads="1"/>
          </p:cNvSpPr>
          <p:nvPr/>
        </p:nvSpPr>
        <p:spPr bwMode="auto">
          <a:xfrm>
            <a:off x="2395538" y="4381500"/>
            <a:ext cx="4602162" cy="1716088"/>
          </a:xfrm>
          <a:prstGeom prst="roundRect">
            <a:avLst>
              <a:gd name="adj" fmla="val 16667"/>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0422" name="Group 6"/>
          <p:cNvGrpSpPr>
            <a:grpSpLocks/>
          </p:cNvGrpSpPr>
          <p:nvPr/>
        </p:nvGrpSpPr>
        <p:grpSpPr bwMode="auto">
          <a:xfrm>
            <a:off x="2328863" y="3006725"/>
            <a:ext cx="161925" cy="1016000"/>
            <a:chOff x="3824" y="1264"/>
            <a:chExt cx="96" cy="640"/>
          </a:xfrm>
        </p:grpSpPr>
        <p:sp>
          <p:nvSpPr>
            <p:cNvPr id="60566" name="Line 7"/>
            <p:cNvSpPr>
              <a:spLocks noChangeShapeType="1"/>
            </p:cNvSpPr>
            <p:nvPr/>
          </p:nvSpPr>
          <p:spPr bwMode="auto">
            <a:xfrm rot="5400000">
              <a:off x="3552" y="1584"/>
              <a:ext cx="6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7" name="Line 8"/>
            <p:cNvSpPr>
              <a:spLocks noChangeShapeType="1"/>
            </p:cNvSpPr>
            <p:nvPr/>
          </p:nvSpPr>
          <p:spPr bwMode="auto">
            <a:xfrm rot="5400000">
              <a:off x="3823" y="1575"/>
              <a:ext cx="96"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8" name="Line 9"/>
            <p:cNvSpPr>
              <a:spLocks noChangeShapeType="1"/>
            </p:cNvSpPr>
            <p:nvPr/>
          </p:nvSpPr>
          <p:spPr bwMode="auto">
            <a:xfrm rot="5400000">
              <a:off x="3823" y="1815"/>
              <a:ext cx="96"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9" name="Line 10"/>
            <p:cNvSpPr>
              <a:spLocks noChangeShapeType="1"/>
            </p:cNvSpPr>
            <p:nvPr/>
          </p:nvSpPr>
          <p:spPr bwMode="auto">
            <a:xfrm>
              <a:off x="3824" y="1384"/>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70" name="Line 11"/>
            <p:cNvSpPr>
              <a:spLocks noChangeShapeType="1"/>
            </p:cNvSpPr>
            <p:nvPr/>
          </p:nvSpPr>
          <p:spPr bwMode="auto">
            <a:xfrm>
              <a:off x="3824" y="1656"/>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0423" name="Group 12"/>
          <p:cNvGrpSpPr>
            <a:grpSpLocks/>
          </p:cNvGrpSpPr>
          <p:nvPr/>
        </p:nvGrpSpPr>
        <p:grpSpPr bwMode="auto">
          <a:xfrm rot="5400000">
            <a:off x="5001419" y="5353844"/>
            <a:ext cx="1411288" cy="0"/>
            <a:chOff x="3960" y="1200"/>
            <a:chExt cx="888" cy="0"/>
          </a:xfrm>
        </p:grpSpPr>
        <p:sp>
          <p:nvSpPr>
            <p:cNvPr id="60562" name="Line 13"/>
            <p:cNvSpPr>
              <a:spLocks noChangeShapeType="1"/>
            </p:cNvSpPr>
            <p:nvPr/>
          </p:nvSpPr>
          <p:spPr bwMode="auto">
            <a:xfrm>
              <a:off x="3960" y="1200"/>
              <a:ext cx="8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3" name="Line 14"/>
            <p:cNvSpPr>
              <a:spLocks noChangeShapeType="1"/>
            </p:cNvSpPr>
            <p:nvPr/>
          </p:nvSpPr>
          <p:spPr bwMode="auto">
            <a:xfrm>
              <a:off x="4224" y="1200"/>
              <a:ext cx="96"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4" name="Line 15"/>
            <p:cNvSpPr>
              <a:spLocks noChangeShapeType="1"/>
            </p:cNvSpPr>
            <p:nvPr/>
          </p:nvSpPr>
          <p:spPr bwMode="auto">
            <a:xfrm>
              <a:off x="4464" y="1200"/>
              <a:ext cx="96"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5" name="Line 16"/>
            <p:cNvSpPr>
              <a:spLocks noChangeShapeType="1"/>
            </p:cNvSpPr>
            <p:nvPr/>
          </p:nvSpPr>
          <p:spPr bwMode="auto">
            <a:xfrm>
              <a:off x="4704" y="1200"/>
              <a:ext cx="96"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424" name="Line 17"/>
          <p:cNvSpPr>
            <a:spLocks noChangeShapeType="1"/>
          </p:cNvSpPr>
          <p:nvPr/>
        </p:nvSpPr>
        <p:spPr bwMode="auto">
          <a:xfrm rot="5400000">
            <a:off x="3766344" y="5372894"/>
            <a:ext cx="12969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5" name="Line 18"/>
          <p:cNvSpPr>
            <a:spLocks noChangeShapeType="1"/>
          </p:cNvSpPr>
          <p:nvPr/>
        </p:nvSpPr>
        <p:spPr bwMode="auto">
          <a:xfrm rot="5400000">
            <a:off x="4337050" y="5219700"/>
            <a:ext cx="152400"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6" name="Line 19"/>
          <p:cNvSpPr>
            <a:spLocks noChangeShapeType="1"/>
          </p:cNvSpPr>
          <p:nvPr/>
        </p:nvSpPr>
        <p:spPr bwMode="auto">
          <a:xfrm rot="5400000">
            <a:off x="4337050" y="5599113"/>
            <a:ext cx="152400"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Line 20"/>
          <p:cNvSpPr>
            <a:spLocks noChangeShapeType="1"/>
          </p:cNvSpPr>
          <p:nvPr/>
        </p:nvSpPr>
        <p:spPr bwMode="auto">
          <a:xfrm>
            <a:off x="1803400" y="4672013"/>
            <a:ext cx="25320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8" name="Line 21"/>
          <p:cNvSpPr>
            <a:spLocks noChangeShapeType="1"/>
          </p:cNvSpPr>
          <p:nvPr/>
        </p:nvSpPr>
        <p:spPr bwMode="auto">
          <a:xfrm flipH="1">
            <a:off x="2947988" y="4672013"/>
            <a:ext cx="161925"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9" name="Line 22"/>
          <p:cNvSpPr>
            <a:spLocks noChangeShapeType="1"/>
          </p:cNvSpPr>
          <p:nvPr/>
        </p:nvSpPr>
        <p:spPr bwMode="auto">
          <a:xfrm flipH="1">
            <a:off x="3432175" y="4672013"/>
            <a:ext cx="161925"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0" name="Line 23"/>
          <p:cNvSpPr>
            <a:spLocks noChangeShapeType="1"/>
          </p:cNvSpPr>
          <p:nvPr/>
        </p:nvSpPr>
        <p:spPr bwMode="auto">
          <a:xfrm flipH="1">
            <a:off x="2463800" y="4672013"/>
            <a:ext cx="160338"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1" name="Freeform 24"/>
          <p:cNvSpPr>
            <a:spLocks/>
          </p:cNvSpPr>
          <p:nvPr/>
        </p:nvSpPr>
        <p:spPr bwMode="auto">
          <a:xfrm>
            <a:off x="2773363" y="4672013"/>
            <a:ext cx="93662" cy="569912"/>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2" name="Freeform 25"/>
          <p:cNvSpPr>
            <a:spLocks/>
          </p:cNvSpPr>
          <p:nvPr/>
        </p:nvSpPr>
        <p:spPr bwMode="auto">
          <a:xfrm flipH="1" flipV="1">
            <a:off x="3259138" y="4648200"/>
            <a:ext cx="92075" cy="566738"/>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3" name="Freeform 26"/>
          <p:cNvSpPr>
            <a:spLocks/>
          </p:cNvSpPr>
          <p:nvPr/>
        </p:nvSpPr>
        <p:spPr bwMode="auto">
          <a:xfrm>
            <a:off x="3741738" y="4672013"/>
            <a:ext cx="95250" cy="569912"/>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0434" name="Picture 2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1750" y="5065713"/>
            <a:ext cx="484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35" name="Picture 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14725" y="5065713"/>
            <a:ext cx="482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36" name="Picture 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28950" y="5065713"/>
            <a:ext cx="4857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0437" name="AutoShape 30"/>
          <p:cNvSpPr>
            <a:spLocks noChangeArrowheads="1"/>
          </p:cNvSpPr>
          <p:nvPr/>
        </p:nvSpPr>
        <p:spPr bwMode="auto">
          <a:xfrm>
            <a:off x="4252913" y="4495800"/>
            <a:ext cx="322262" cy="303213"/>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8" name="AutoShape 31"/>
          <p:cNvSpPr>
            <a:spLocks noChangeArrowheads="1"/>
          </p:cNvSpPr>
          <p:nvPr/>
        </p:nvSpPr>
        <p:spPr bwMode="auto">
          <a:xfrm>
            <a:off x="2274888" y="2738438"/>
            <a:ext cx="322262" cy="317500"/>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9" name="Text Box 32"/>
          <p:cNvSpPr txBox="1">
            <a:spLocks noChangeArrowheads="1"/>
          </p:cNvSpPr>
          <p:nvPr/>
        </p:nvSpPr>
        <p:spPr bwMode="auto">
          <a:xfrm>
            <a:off x="3001963" y="3829050"/>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同轴电缆</a:t>
            </a:r>
          </a:p>
        </p:txBody>
      </p:sp>
      <p:sp>
        <p:nvSpPr>
          <p:cNvPr id="60440" name="AutoShape 33"/>
          <p:cNvSpPr>
            <a:spLocks noChangeArrowheads="1"/>
          </p:cNvSpPr>
          <p:nvPr/>
        </p:nvSpPr>
        <p:spPr bwMode="auto">
          <a:xfrm>
            <a:off x="4092575" y="2586038"/>
            <a:ext cx="808038" cy="611187"/>
          </a:xfrm>
          <a:prstGeom prst="cube">
            <a:avLst>
              <a:gd name="adj" fmla="val 25000"/>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1" name="Text Box 34"/>
          <p:cNvSpPr txBox="1">
            <a:spLocks noChangeArrowheads="1"/>
          </p:cNvSpPr>
          <p:nvPr/>
        </p:nvSpPr>
        <p:spPr bwMode="auto">
          <a:xfrm>
            <a:off x="4079875" y="2684463"/>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头端</a:t>
            </a:r>
          </a:p>
        </p:txBody>
      </p:sp>
      <p:sp>
        <p:nvSpPr>
          <p:cNvPr id="60442" name="Line 35"/>
          <p:cNvSpPr>
            <a:spLocks noChangeShapeType="1"/>
          </p:cNvSpPr>
          <p:nvPr/>
        </p:nvSpPr>
        <p:spPr bwMode="auto">
          <a:xfrm>
            <a:off x="4818063" y="2890838"/>
            <a:ext cx="1614487"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3" name="Line 36"/>
          <p:cNvSpPr>
            <a:spLocks noChangeShapeType="1"/>
          </p:cNvSpPr>
          <p:nvPr/>
        </p:nvSpPr>
        <p:spPr bwMode="auto">
          <a:xfrm>
            <a:off x="2557463" y="2890838"/>
            <a:ext cx="15351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4" name="Line 37"/>
          <p:cNvSpPr>
            <a:spLocks noChangeShapeType="1"/>
          </p:cNvSpPr>
          <p:nvPr/>
        </p:nvSpPr>
        <p:spPr bwMode="auto">
          <a:xfrm rot="5400000">
            <a:off x="3737769" y="3871119"/>
            <a:ext cx="135096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5" name="Oval 38"/>
          <p:cNvSpPr>
            <a:spLocks noChangeArrowheads="1"/>
          </p:cNvSpPr>
          <p:nvPr/>
        </p:nvSpPr>
        <p:spPr bwMode="auto">
          <a:xfrm rot="5400000">
            <a:off x="4407694" y="3823494"/>
            <a:ext cx="142875" cy="131763"/>
          </a:xfrm>
          <a:prstGeom prst="ellipse">
            <a:avLst/>
          </a:prstGeom>
          <a:noFill/>
          <a:ln w="28575">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6" name="AutoShape 39"/>
          <p:cNvSpPr>
            <a:spLocks noChangeArrowheads="1"/>
          </p:cNvSpPr>
          <p:nvPr/>
        </p:nvSpPr>
        <p:spPr bwMode="auto">
          <a:xfrm>
            <a:off x="6432550" y="2738438"/>
            <a:ext cx="322263" cy="306387"/>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7" name="Line 40"/>
          <p:cNvSpPr>
            <a:spLocks noChangeShapeType="1"/>
          </p:cNvSpPr>
          <p:nvPr/>
        </p:nvSpPr>
        <p:spPr bwMode="auto">
          <a:xfrm>
            <a:off x="6715125" y="2890838"/>
            <a:ext cx="16557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8" name="Line 41"/>
          <p:cNvSpPr>
            <a:spLocks noChangeShapeType="1"/>
          </p:cNvSpPr>
          <p:nvPr/>
        </p:nvSpPr>
        <p:spPr bwMode="auto">
          <a:xfrm>
            <a:off x="7159625" y="2890838"/>
            <a:ext cx="163513"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9" name="Line 42"/>
          <p:cNvSpPr>
            <a:spLocks noChangeShapeType="1"/>
          </p:cNvSpPr>
          <p:nvPr/>
        </p:nvSpPr>
        <p:spPr bwMode="auto">
          <a:xfrm>
            <a:off x="7645400" y="2890838"/>
            <a:ext cx="160338"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0" name="Line 43"/>
          <p:cNvSpPr>
            <a:spLocks noChangeShapeType="1"/>
          </p:cNvSpPr>
          <p:nvPr/>
        </p:nvSpPr>
        <p:spPr bwMode="auto">
          <a:xfrm>
            <a:off x="8129588" y="2890838"/>
            <a:ext cx="160337"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1" name="Freeform 44"/>
          <p:cNvSpPr>
            <a:spLocks/>
          </p:cNvSpPr>
          <p:nvPr/>
        </p:nvSpPr>
        <p:spPr bwMode="auto">
          <a:xfrm>
            <a:off x="6945313" y="2890838"/>
            <a:ext cx="95250" cy="569912"/>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2" name="Freeform 45"/>
          <p:cNvSpPr>
            <a:spLocks/>
          </p:cNvSpPr>
          <p:nvPr/>
        </p:nvSpPr>
        <p:spPr bwMode="auto">
          <a:xfrm>
            <a:off x="7940675" y="2890838"/>
            <a:ext cx="93663" cy="569912"/>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0453"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54813" y="3338513"/>
            <a:ext cx="485775" cy="30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54"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24775" y="3338513"/>
            <a:ext cx="485775" cy="30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0455" name="Line 48"/>
          <p:cNvSpPr>
            <a:spLocks noChangeShapeType="1"/>
          </p:cNvSpPr>
          <p:nvPr/>
        </p:nvSpPr>
        <p:spPr bwMode="auto">
          <a:xfrm>
            <a:off x="4535488" y="4648200"/>
            <a:ext cx="18176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6" name="Line 49"/>
          <p:cNvSpPr>
            <a:spLocks noChangeShapeType="1"/>
          </p:cNvSpPr>
          <p:nvPr/>
        </p:nvSpPr>
        <p:spPr bwMode="auto">
          <a:xfrm>
            <a:off x="4979988" y="4648200"/>
            <a:ext cx="161925"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7" name="Line 50"/>
          <p:cNvSpPr>
            <a:spLocks noChangeShapeType="1"/>
          </p:cNvSpPr>
          <p:nvPr/>
        </p:nvSpPr>
        <p:spPr bwMode="auto">
          <a:xfrm>
            <a:off x="5383213" y="4648200"/>
            <a:ext cx="161925"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8" name="Line 51"/>
          <p:cNvSpPr>
            <a:spLocks noChangeShapeType="1"/>
          </p:cNvSpPr>
          <p:nvPr/>
        </p:nvSpPr>
        <p:spPr bwMode="auto">
          <a:xfrm>
            <a:off x="5948363" y="4648200"/>
            <a:ext cx="161925"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9" name="Freeform 52"/>
          <p:cNvSpPr>
            <a:spLocks/>
          </p:cNvSpPr>
          <p:nvPr/>
        </p:nvSpPr>
        <p:spPr bwMode="auto">
          <a:xfrm>
            <a:off x="4791075" y="4648200"/>
            <a:ext cx="95250" cy="568325"/>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0" name="Freeform 53"/>
          <p:cNvSpPr>
            <a:spLocks/>
          </p:cNvSpPr>
          <p:nvPr/>
        </p:nvSpPr>
        <p:spPr bwMode="auto">
          <a:xfrm flipH="1" flipV="1">
            <a:off x="5235575" y="4648200"/>
            <a:ext cx="93663" cy="566738"/>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1" name="Freeform 54"/>
          <p:cNvSpPr>
            <a:spLocks/>
          </p:cNvSpPr>
          <p:nvPr/>
        </p:nvSpPr>
        <p:spPr bwMode="auto">
          <a:xfrm rot="5400000" flipV="1">
            <a:off x="5962650" y="4567238"/>
            <a:ext cx="90488" cy="601662"/>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0462" name="Picture 5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9463" y="5056188"/>
            <a:ext cx="484187" cy="30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63"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59513" y="4648200"/>
            <a:ext cx="482600" cy="30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64"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0950" y="5080000"/>
            <a:ext cx="484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0465" name="Line 58"/>
          <p:cNvSpPr>
            <a:spLocks noChangeShapeType="1"/>
          </p:cNvSpPr>
          <p:nvPr/>
        </p:nvSpPr>
        <p:spPr bwMode="auto">
          <a:xfrm>
            <a:off x="377825" y="2917825"/>
            <a:ext cx="19383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6" name="Line 59"/>
          <p:cNvSpPr>
            <a:spLocks noChangeShapeType="1"/>
          </p:cNvSpPr>
          <p:nvPr/>
        </p:nvSpPr>
        <p:spPr bwMode="auto">
          <a:xfrm flipH="1">
            <a:off x="1185863" y="2917825"/>
            <a:ext cx="161925"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7" name="Line 60"/>
          <p:cNvSpPr>
            <a:spLocks noChangeShapeType="1"/>
          </p:cNvSpPr>
          <p:nvPr/>
        </p:nvSpPr>
        <p:spPr bwMode="auto">
          <a:xfrm flipH="1">
            <a:off x="1670050" y="2917825"/>
            <a:ext cx="160338"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8" name="Line 61"/>
          <p:cNvSpPr>
            <a:spLocks noChangeShapeType="1"/>
          </p:cNvSpPr>
          <p:nvPr/>
        </p:nvSpPr>
        <p:spPr bwMode="auto">
          <a:xfrm flipH="1">
            <a:off x="700088" y="2917825"/>
            <a:ext cx="161925"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9" name="Freeform 62"/>
          <p:cNvSpPr>
            <a:spLocks/>
          </p:cNvSpPr>
          <p:nvPr/>
        </p:nvSpPr>
        <p:spPr bwMode="auto">
          <a:xfrm>
            <a:off x="1009650" y="2917825"/>
            <a:ext cx="95250" cy="566738"/>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0" name="Freeform 63"/>
          <p:cNvSpPr>
            <a:spLocks/>
          </p:cNvSpPr>
          <p:nvPr/>
        </p:nvSpPr>
        <p:spPr bwMode="auto">
          <a:xfrm>
            <a:off x="1979613" y="2917825"/>
            <a:ext cx="93662" cy="566738"/>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0471" name="Picture 6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9625" y="3324225"/>
            <a:ext cx="482600" cy="30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72" name="Picture 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3713" y="3362325"/>
            <a:ext cx="484187" cy="30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0473" name="Line 66"/>
          <p:cNvSpPr>
            <a:spLocks noChangeShapeType="1"/>
          </p:cNvSpPr>
          <p:nvPr/>
        </p:nvSpPr>
        <p:spPr bwMode="auto">
          <a:xfrm>
            <a:off x="3608388" y="4189413"/>
            <a:ext cx="428625" cy="45878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4" name="Line 67"/>
          <p:cNvSpPr>
            <a:spLocks noChangeShapeType="1"/>
          </p:cNvSpPr>
          <p:nvPr/>
        </p:nvSpPr>
        <p:spPr bwMode="auto">
          <a:xfrm>
            <a:off x="3563938" y="2349500"/>
            <a:ext cx="123825" cy="541338"/>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5" name="Text Box 68"/>
          <p:cNvSpPr txBox="1">
            <a:spLocks noChangeArrowheads="1"/>
          </p:cNvSpPr>
          <p:nvPr/>
        </p:nvSpPr>
        <p:spPr bwMode="auto">
          <a:xfrm>
            <a:off x="2987675" y="1989138"/>
            <a:ext cx="120015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模拟光纤</a:t>
            </a:r>
          </a:p>
        </p:txBody>
      </p:sp>
      <p:sp>
        <p:nvSpPr>
          <p:cNvPr id="60476" name="Text Box 69"/>
          <p:cNvSpPr txBox="1">
            <a:spLocks noChangeArrowheads="1"/>
          </p:cNvSpPr>
          <p:nvPr/>
        </p:nvSpPr>
        <p:spPr bwMode="auto">
          <a:xfrm>
            <a:off x="517525" y="2028825"/>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放大器</a:t>
            </a:r>
          </a:p>
        </p:txBody>
      </p:sp>
      <p:sp>
        <p:nvSpPr>
          <p:cNvPr id="60477" name="Line 70"/>
          <p:cNvSpPr>
            <a:spLocks noChangeShapeType="1"/>
          </p:cNvSpPr>
          <p:nvPr/>
        </p:nvSpPr>
        <p:spPr bwMode="auto">
          <a:xfrm rot="16200000" flipH="1">
            <a:off x="927894" y="2542381"/>
            <a:ext cx="431800" cy="242888"/>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8" name="Line 71"/>
          <p:cNvSpPr>
            <a:spLocks noChangeShapeType="1"/>
          </p:cNvSpPr>
          <p:nvPr/>
        </p:nvSpPr>
        <p:spPr bwMode="auto">
          <a:xfrm>
            <a:off x="2155825" y="4902200"/>
            <a:ext cx="684213" cy="635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9" name="Text Box 72"/>
          <p:cNvSpPr txBox="1">
            <a:spLocks noChangeArrowheads="1"/>
          </p:cNvSpPr>
          <p:nvPr/>
        </p:nvSpPr>
        <p:spPr bwMode="auto">
          <a:xfrm>
            <a:off x="1292225" y="4657725"/>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引入线</a:t>
            </a:r>
          </a:p>
        </p:txBody>
      </p:sp>
      <p:sp>
        <p:nvSpPr>
          <p:cNvPr id="60480" name="Line 73"/>
          <p:cNvSpPr>
            <a:spLocks noChangeShapeType="1"/>
          </p:cNvSpPr>
          <p:nvPr/>
        </p:nvSpPr>
        <p:spPr bwMode="auto">
          <a:xfrm>
            <a:off x="2339975" y="2420938"/>
            <a:ext cx="123825" cy="3175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1" name="Text Box 74"/>
          <p:cNvSpPr txBox="1">
            <a:spLocks noChangeArrowheads="1"/>
          </p:cNvSpPr>
          <p:nvPr/>
        </p:nvSpPr>
        <p:spPr bwMode="auto">
          <a:xfrm>
            <a:off x="4922838" y="3900488"/>
            <a:ext cx="947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分路器</a:t>
            </a:r>
          </a:p>
        </p:txBody>
      </p:sp>
      <p:grpSp>
        <p:nvGrpSpPr>
          <p:cNvPr id="60482" name="Group 75"/>
          <p:cNvGrpSpPr>
            <a:grpSpLocks/>
          </p:cNvGrpSpPr>
          <p:nvPr/>
        </p:nvGrpSpPr>
        <p:grpSpPr bwMode="auto">
          <a:xfrm>
            <a:off x="4327525" y="4951413"/>
            <a:ext cx="161925" cy="828675"/>
            <a:chOff x="2540" y="2496"/>
            <a:chExt cx="96" cy="520"/>
          </a:xfrm>
        </p:grpSpPr>
        <p:sp>
          <p:nvSpPr>
            <p:cNvPr id="60559" name="Line 76"/>
            <p:cNvSpPr>
              <a:spLocks noChangeShapeType="1"/>
            </p:cNvSpPr>
            <p:nvPr/>
          </p:nvSpPr>
          <p:spPr bwMode="auto">
            <a:xfrm>
              <a:off x="2540" y="2496"/>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0" name="Line 77"/>
            <p:cNvSpPr>
              <a:spLocks noChangeShapeType="1"/>
            </p:cNvSpPr>
            <p:nvPr/>
          </p:nvSpPr>
          <p:spPr bwMode="auto">
            <a:xfrm>
              <a:off x="2540" y="2768"/>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1" name="Line 78"/>
            <p:cNvSpPr>
              <a:spLocks noChangeShapeType="1"/>
            </p:cNvSpPr>
            <p:nvPr/>
          </p:nvSpPr>
          <p:spPr bwMode="auto">
            <a:xfrm>
              <a:off x="2540" y="3016"/>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0483" name="Group 79"/>
          <p:cNvGrpSpPr>
            <a:grpSpLocks/>
          </p:cNvGrpSpPr>
          <p:nvPr/>
        </p:nvGrpSpPr>
        <p:grpSpPr bwMode="auto">
          <a:xfrm>
            <a:off x="6486525" y="2994025"/>
            <a:ext cx="161925" cy="1017588"/>
            <a:chOff x="3824" y="1264"/>
            <a:chExt cx="96" cy="640"/>
          </a:xfrm>
        </p:grpSpPr>
        <p:sp>
          <p:nvSpPr>
            <p:cNvPr id="60554" name="Line 80"/>
            <p:cNvSpPr>
              <a:spLocks noChangeShapeType="1"/>
            </p:cNvSpPr>
            <p:nvPr/>
          </p:nvSpPr>
          <p:spPr bwMode="auto">
            <a:xfrm rot="5400000">
              <a:off x="3552" y="1584"/>
              <a:ext cx="6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5" name="Line 81"/>
            <p:cNvSpPr>
              <a:spLocks noChangeShapeType="1"/>
            </p:cNvSpPr>
            <p:nvPr/>
          </p:nvSpPr>
          <p:spPr bwMode="auto">
            <a:xfrm rot="5400000">
              <a:off x="3823" y="1575"/>
              <a:ext cx="96"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6" name="Line 82"/>
            <p:cNvSpPr>
              <a:spLocks noChangeShapeType="1"/>
            </p:cNvSpPr>
            <p:nvPr/>
          </p:nvSpPr>
          <p:spPr bwMode="auto">
            <a:xfrm rot="5400000">
              <a:off x="3823" y="1815"/>
              <a:ext cx="96" cy="0"/>
            </a:xfrm>
            <a:prstGeom prst="line">
              <a:avLst/>
            </a:prstGeom>
            <a:noFill/>
            <a:ln w="190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7" name="Line 83"/>
            <p:cNvSpPr>
              <a:spLocks noChangeShapeType="1"/>
            </p:cNvSpPr>
            <p:nvPr/>
          </p:nvSpPr>
          <p:spPr bwMode="auto">
            <a:xfrm>
              <a:off x="3824" y="1384"/>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8" name="Line 84"/>
            <p:cNvSpPr>
              <a:spLocks noChangeShapeType="1"/>
            </p:cNvSpPr>
            <p:nvPr/>
          </p:nvSpPr>
          <p:spPr bwMode="auto">
            <a:xfrm>
              <a:off x="3824" y="1656"/>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484" name="Text Box 85"/>
          <p:cNvSpPr txBox="1">
            <a:spLocks noChangeArrowheads="1"/>
          </p:cNvSpPr>
          <p:nvPr/>
        </p:nvSpPr>
        <p:spPr bwMode="auto">
          <a:xfrm>
            <a:off x="1763713" y="2028825"/>
            <a:ext cx="1201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光纤结点</a:t>
            </a:r>
          </a:p>
        </p:txBody>
      </p:sp>
      <p:sp>
        <p:nvSpPr>
          <p:cNvPr id="60485" name="Freeform 86"/>
          <p:cNvSpPr>
            <a:spLocks/>
          </p:cNvSpPr>
          <p:nvPr/>
        </p:nvSpPr>
        <p:spPr bwMode="auto">
          <a:xfrm rot="5400000" flipV="1">
            <a:off x="5962651" y="4989512"/>
            <a:ext cx="88900" cy="600075"/>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6" name="Freeform 87"/>
          <p:cNvSpPr>
            <a:spLocks/>
          </p:cNvSpPr>
          <p:nvPr/>
        </p:nvSpPr>
        <p:spPr bwMode="auto">
          <a:xfrm rot="5400000" flipV="1">
            <a:off x="5961063" y="5411787"/>
            <a:ext cx="88900" cy="600075"/>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0487" name="Picture 8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2213" y="5030788"/>
            <a:ext cx="482600" cy="30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88" name="Picture 8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6500" y="5487988"/>
            <a:ext cx="484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0489" name="AutoShape 90"/>
          <p:cNvSpPr>
            <a:spLocks noChangeArrowheads="1"/>
          </p:cNvSpPr>
          <p:nvPr/>
        </p:nvSpPr>
        <p:spPr bwMode="auto">
          <a:xfrm>
            <a:off x="5626100" y="4572000"/>
            <a:ext cx="134938" cy="127000"/>
          </a:xfrm>
          <a:prstGeom prst="cube">
            <a:avLst>
              <a:gd name="adj" fmla="val 25000"/>
            </a:avLst>
          </a:prstGeom>
          <a:solidFill>
            <a:srgbClr val="808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90" name="Line 91"/>
          <p:cNvSpPr>
            <a:spLocks noChangeShapeType="1"/>
          </p:cNvSpPr>
          <p:nvPr/>
        </p:nvSpPr>
        <p:spPr bwMode="auto">
          <a:xfrm>
            <a:off x="5411788" y="4252913"/>
            <a:ext cx="254000" cy="36988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91" name="Text Box 92"/>
          <p:cNvSpPr txBox="1">
            <a:spLocks noChangeArrowheads="1"/>
          </p:cNvSpPr>
          <p:nvPr/>
        </p:nvSpPr>
        <p:spPr bwMode="auto">
          <a:xfrm>
            <a:off x="2746375" y="55372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服务区</a:t>
            </a:r>
          </a:p>
        </p:txBody>
      </p:sp>
      <p:sp>
        <p:nvSpPr>
          <p:cNvPr id="60492" name="Freeform 93"/>
          <p:cNvSpPr>
            <a:spLocks/>
          </p:cNvSpPr>
          <p:nvPr/>
        </p:nvSpPr>
        <p:spPr bwMode="auto">
          <a:xfrm>
            <a:off x="7456488" y="2890838"/>
            <a:ext cx="93662" cy="569912"/>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0493" name="Picture 9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0588" y="3338513"/>
            <a:ext cx="484187" cy="30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0494" name="Freeform 95"/>
          <p:cNvSpPr>
            <a:spLocks/>
          </p:cNvSpPr>
          <p:nvPr/>
        </p:nvSpPr>
        <p:spPr bwMode="auto">
          <a:xfrm>
            <a:off x="1481138" y="2905125"/>
            <a:ext cx="93662" cy="569913"/>
          </a:xfrm>
          <a:custGeom>
            <a:avLst/>
            <a:gdLst>
              <a:gd name="T0" fmla="*/ 2147483647 w 56"/>
              <a:gd name="T1" fmla="*/ 0 h 357"/>
              <a:gd name="T2" fmla="*/ 2147483647 w 56"/>
              <a:gd name="T3" fmla="*/ 2147483647 h 357"/>
              <a:gd name="T4" fmla="*/ 2147483647 w 56"/>
              <a:gd name="T5" fmla="*/ 2147483647 h 357"/>
              <a:gd name="T6" fmla="*/ 2147483647 w 56"/>
              <a:gd name="T7" fmla="*/ 2147483647 h 357"/>
              <a:gd name="T8" fmla="*/ 2147483647 w 56"/>
              <a:gd name="T9" fmla="*/ 2147483647 h 357"/>
              <a:gd name="T10" fmla="*/ 2147483647 w 56"/>
              <a:gd name="T11" fmla="*/ 2147483647 h 357"/>
              <a:gd name="T12" fmla="*/ 2147483647 w 56"/>
              <a:gd name="T13" fmla="*/ 2147483647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0495" name="Picture 9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5238" y="3351213"/>
            <a:ext cx="4857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0496" name="Text Box 97"/>
          <p:cNvSpPr txBox="1">
            <a:spLocks noChangeArrowheads="1"/>
          </p:cNvSpPr>
          <p:nvPr/>
        </p:nvSpPr>
        <p:spPr bwMode="auto">
          <a:xfrm>
            <a:off x="6970713" y="3652838"/>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服务区</a:t>
            </a:r>
          </a:p>
        </p:txBody>
      </p:sp>
      <p:sp>
        <p:nvSpPr>
          <p:cNvPr id="60497" name="Text Box 98"/>
          <p:cNvSpPr txBox="1">
            <a:spLocks noChangeArrowheads="1"/>
          </p:cNvSpPr>
          <p:nvPr/>
        </p:nvSpPr>
        <p:spPr bwMode="auto">
          <a:xfrm>
            <a:off x="969963" y="3667125"/>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sz="2400">
                <a:solidFill>
                  <a:schemeClr val="tx1"/>
                </a:solidFill>
                <a:latin typeface="Tahoma" pitchFamily="34" charset="0"/>
                <a:ea typeface="宋体" pitchFamily="2" charset="-122"/>
              </a:defRPr>
            </a:lvl9pPr>
          </a:lstStyle>
          <a:p>
            <a:pPr algn="l" eaLnBrk="1" hangingPunct="1"/>
            <a:r>
              <a:rPr kumimoji="1" lang="zh-CN" altLang="en-US" sz="2000">
                <a:solidFill>
                  <a:srgbClr val="333399"/>
                </a:solidFill>
                <a:latin typeface="Arial" pitchFamily="34" charset="0"/>
                <a:ea typeface="黑体" pitchFamily="49" charset="-122"/>
              </a:rPr>
              <a:t>服务区</a:t>
            </a:r>
          </a:p>
        </p:txBody>
      </p:sp>
      <p:sp>
        <p:nvSpPr>
          <p:cNvPr id="60498" name="Oval 99"/>
          <p:cNvSpPr>
            <a:spLocks noChangeArrowheads="1"/>
          </p:cNvSpPr>
          <p:nvPr/>
        </p:nvSpPr>
        <p:spPr bwMode="auto">
          <a:xfrm rot="5400000">
            <a:off x="5510213" y="2754312"/>
            <a:ext cx="141288" cy="131763"/>
          </a:xfrm>
          <a:prstGeom prst="ellipse">
            <a:avLst/>
          </a:prstGeom>
          <a:noFill/>
          <a:ln w="28575">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99" name="Oval 100"/>
          <p:cNvSpPr>
            <a:spLocks noChangeArrowheads="1"/>
          </p:cNvSpPr>
          <p:nvPr/>
        </p:nvSpPr>
        <p:spPr bwMode="auto">
          <a:xfrm rot="5400000">
            <a:off x="3305175" y="2754313"/>
            <a:ext cx="141288" cy="131762"/>
          </a:xfrm>
          <a:prstGeom prst="ellipse">
            <a:avLst/>
          </a:prstGeom>
          <a:noFill/>
          <a:ln w="28575">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0500" name="Group 101"/>
          <p:cNvGrpSpPr>
            <a:grpSpLocks noChangeAspect="1"/>
          </p:cNvGrpSpPr>
          <p:nvPr/>
        </p:nvGrpSpPr>
        <p:grpSpPr bwMode="auto">
          <a:xfrm>
            <a:off x="4249738" y="2044700"/>
            <a:ext cx="466725" cy="596900"/>
            <a:chOff x="2246" y="722"/>
            <a:chExt cx="228" cy="292"/>
          </a:xfrm>
        </p:grpSpPr>
        <p:sp>
          <p:nvSpPr>
            <p:cNvPr id="60501" name="AutoShape 102"/>
            <p:cNvSpPr>
              <a:spLocks noChangeAspect="1" noChangeArrowheads="1" noTextEdit="1"/>
            </p:cNvSpPr>
            <p:nvPr/>
          </p:nvSpPr>
          <p:spPr bwMode="auto">
            <a:xfrm>
              <a:off x="2246" y="722"/>
              <a:ext cx="22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60502" name="Group 103"/>
            <p:cNvGrpSpPr>
              <a:grpSpLocks/>
            </p:cNvGrpSpPr>
            <p:nvPr/>
          </p:nvGrpSpPr>
          <p:grpSpPr bwMode="auto">
            <a:xfrm>
              <a:off x="2248" y="734"/>
              <a:ext cx="224" cy="279"/>
              <a:chOff x="2248" y="734"/>
              <a:chExt cx="224" cy="279"/>
            </a:xfrm>
          </p:grpSpPr>
          <p:grpSp>
            <p:nvGrpSpPr>
              <p:cNvPr id="60518" name="Group 104"/>
              <p:cNvGrpSpPr>
                <a:grpSpLocks/>
              </p:cNvGrpSpPr>
              <p:nvPr/>
            </p:nvGrpSpPr>
            <p:grpSpPr bwMode="auto">
              <a:xfrm>
                <a:off x="2328" y="898"/>
                <a:ext cx="9" cy="37"/>
                <a:chOff x="2328" y="898"/>
                <a:chExt cx="9" cy="37"/>
              </a:xfrm>
            </p:grpSpPr>
            <p:sp>
              <p:nvSpPr>
                <p:cNvPr id="60552" name="Rectangle 105"/>
                <p:cNvSpPr>
                  <a:spLocks noChangeArrowheads="1"/>
                </p:cNvSpPr>
                <p:nvPr/>
              </p:nvSpPr>
              <p:spPr bwMode="auto">
                <a:xfrm>
                  <a:off x="2328" y="898"/>
                  <a:ext cx="9" cy="37"/>
                </a:xfrm>
                <a:prstGeom prst="rect">
                  <a:avLst/>
                </a:prstGeom>
                <a:solidFill>
                  <a:srgbClr val="C0C0C0"/>
                </a:solidFill>
                <a:ln w="1588">
                  <a:solidFill>
                    <a:srgbClr val="000000"/>
                  </a:solidFill>
                  <a:miter lim="800000"/>
                  <a:headEnd/>
                  <a:tailEnd/>
                </a:ln>
              </p:spPr>
              <p:txBody>
                <a:bodyPr/>
                <a:lstStyle/>
                <a:p>
                  <a:endParaRPr lang="zh-CN" altLang="en-US"/>
                </a:p>
              </p:txBody>
            </p:sp>
            <p:sp>
              <p:nvSpPr>
                <p:cNvPr id="60553" name="Line 106"/>
                <p:cNvSpPr>
                  <a:spLocks noChangeShapeType="1"/>
                </p:cNvSpPr>
                <p:nvPr/>
              </p:nvSpPr>
              <p:spPr bwMode="auto">
                <a:xfrm>
                  <a:off x="2332" y="898"/>
                  <a:ext cx="1" cy="3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0519" name="Rectangle 107"/>
              <p:cNvSpPr>
                <a:spLocks noChangeArrowheads="1"/>
              </p:cNvSpPr>
              <p:nvPr/>
            </p:nvSpPr>
            <p:spPr bwMode="auto">
              <a:xfrm>
                <a:off x="2295" y="876"/>
                <a:ext cx="25" cy="57"/>
              </a:xfrm>
              <a:prstGeom prst="rect">
                <a:avLst/>
              </a:prstGeom>
              <a:solidFill>
                <a:srgbClr val="C0C0C0"/>
              </a:solidFill>
              <a:ln w="1588">
                <a:solidFill>
                  <a:srgbClr val="000000"/>
                </a:solidFill>
                <a:miter lim="800000"/>
                <a:headEnd/>
                <a:tailEnd/>
              </a:ln>
            </p:spPr>
            <p:txBody>
              <a:bodyPr/>
              <a:lstStyle/>
              <a:p>
                <a:endParaRPr lang="zh-CN" altLang="en-US"/>
              </a:p>
            </p:txBody>
          </p:sp>
          <p:sp>
            <p:nvSpPr>
              <p:cNvPr id="60520" name="Freeform 108"/>
              <p:cNvSpPr>
                <a:spLocks/>
              </p:cNvSpPr>
              <p:nvPr/>
            </p:nvSpPr>
            <p:spPr bwMode="auto">
              <a:xfrm>
                <a:off x="2385" y="888"/>
                <a:ext cx="16" cy="12"/>
              </a:xfrm>
              <a:custGeom>
                <a:avLst/>
                <a:gdLst>
                  <a:gd name="T0" fmla="*/ 0 w 112"/>
                  <a:gd name="T1" fmla="*/ 0 h 84"/>
                  <a:gd name="T2" fmla="*/ 0 w 112"/>
                  <a:gd name="T3" fmla="*/ 0 h 84"/>
                  <a:gd name="T4" fmla="*/ 0 w 112"/>
                  <a:gd name="T5" fmla="*/ 0 h 84"/>
                  <a:gd name="T6" fmla="*/ 0 w 112"/>
                  <a:gd name="T7" fmla="*/ 0 h 84"/>
                  <a:gd name="T8" fmla="*/ 0 w 112"/>
                  <a:gd name="T9" fmla="*/ 0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2" h="84">
                    <a:moveTo>
                      <a:pt x="0" y="0"/>
                    </a:moveTo>
                    <a:lnTo>
                      <a:pt x="0" y="84"/>
                    </a:lnTo>
                    <a:lnTo>
                      <a:pt x="112" y="84"/>
                    </a:lnTo>
                    <a:lnTo>
                      <a:pt x="112" y="17"/>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521" name="Freeform 109"/>
              <p:cNvSpPr>
                <a:spLocks/>
              </p:cNvSpPr>
              <p:nvPr/>
            </p:nvSpPr>
            <p:spPr bwMode="auto">
              <a:xfrm>
                <a:off x="2352" y="866"/>
                <a:ext cx="11" cy="11"/>
              </a:xfrm>
              <a:custGeom>
                <a:avLst/>
                <a:gdLst>
                  <a:gd name="T0" fmla="*/ 0 w 77"/>
                  <a:gd name="T1" fmla="*/ 0 h 76"/>
                  <a:gd name="T2" fmla="*/ 0 w 77"/>
                  <a:gd name="T3" fmla="*/ 0 h 76"/>
                  <a:gd name="T4" fmla="*/ 0 w 77"/>
                  <a:gd name="T5" fmla="*/ 0 h 76"/>
                  <a:gd name="T6" fmla="*/ 0 w 77"/>
                  <a:gd name="T7" fmla="*/ 0 h 76"/>
                  <a:gd name="T8" fmla="*/ 0 w 77"/>
                  <a:gd name="T9" fmla="*/ 0 h 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6">
                    <a:moveTo>
                      <a:pt x="42" y="0"/>
                    </a:moveTo>
                    <a:lnTo>
                      <a:pt x="0" y="76"/>
                    </a:lnTo>
                    <a:lnTo>
                      <a:pt x="56" y="70"/>
                    </a:lnTo>
                    <a:lnTo>
                      <a:pt x="77" y="19"/>
                    </a:lnTo>
                    <a:lnTo>
                      <a:pt x="42" y="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60522" name="Freeform 110"/>
              <p:cNvSpPr>
                <a:spLocks/>
              </p:cNvSpPr>
              <p:nvPr/>
            </p:nvSpPr>
            <p:spPr bwMode="auto">
              <a:xfrm>
                <a:off x="2333" y="938"/>
                <a:ext cx="51" cy="4"/>
              </a:xfrm>
              <a:custGeom>
                <a:avLst/>
                <a:gdLst>
                  <a:gd name="T0" fmla="*/ 0 w 356"/>
                  <a:gd name="T1" fmla="*/ 0 h 26"/>
                  <a:gd name="T2" fmla="*/ 0 w 356"/>
                  <a:gd name="T3" fmla="*/ 0 h 26"/>
                  <a:gd name="T4" fmla="*/ 0 w 356"/>
                  <a:gd name="T5" fmla="*/ 0 h 26"/>
                  <a:gd name="T6" fmla="*/ 0 w 356"/>
                  <a:gd name="T7" fmla="*/ 0 h 26"/>
                  <a:gd name="T8" fmla="*/ 0 w 356"/>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26">
                    <a:moveTo>
                      <a:pt x="0" y="0"/>
                    </a:moveTo>
                    <a:lnTo>
                      <a:pt x="356" y="0"/>
                    </a:lnTo>
                    <a:lnTo>
                      <a:pt x="356" y="26"/>
                    </a:lnTo>
                    <a:lnTo>
                      <a:pt x="5" y="26"/>
                    </a:lnTo>
                    <a:lnTo>
                      <a:pt x="0"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60523" name="Freeform 111"/>
              <p:cNvSpPr>
                <a:spLocks/>
              </p:cNvSpPr>
              <p:nvPr/>
            </p:nvSpPr>
            <p:spPr bwMode="auto">
              <a:xfrm>
                <a:off x="2294" y="795"/>
                <a:ext cx="22" cy="24"/>
              </a:xfrm>
              <a:custGeom>
                <a:avLst/>
                <a:gdLst>
                  <a:gd name="T0" fmla="*/ 0 w 149"/>
                  <a:gd name="T1" fmla="*/ 0 h 163"/>
                  <a:gd name="T2" fmla="*/ 0 w 149"/>
                  <a:gd name="T3" fmla="*/ 0 h 163"/>
                  <a:gd name="T4" fmla="*/ 0 w 149"/>
                  <a:gd name="T5" fmla="*/ 0 h 163"/>
                  <a:gd name="T6" fmla="*/ 0 w 149"/>
                  <a:gd name="T7" fmla="*/ 0 h 163"/>
                  <a:gd name="T8" fmla="*/ 0 w 149"/>
                  <a:gd name="T9" fmla="*/ 0 h 1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9" h="163">
                    <a:moveTo>
                      <a:pt x="140" y="0"/>
                    </a:moveTo>
                    <a:lnTo>
                      <a:pt x="2" y="117"/>
                    </a:lnTo>
                    <a:lnTo>
                      <a:pt x="0" y="163"/>
                    </a:lnTo>
                    <a:lnTo>
                      <a:pt x="149" y="54"/>
                    </a:lnTo>
                    <a:lnTo>
                      <a:pt x="140" y="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60524" name="Freeform 112"/>
              <p:cNvSpPr>
                <a:spLocks/>
              </p:cNvSpPr>
              <p:nvPr/>
            </p:nvSpPr>
            <p:spPr bwMode="auto">
              <a:xfrm>
                <a:off x="2289" y="734"/>
                <a:ext cx="32" cy="199"/>
              </a:xfrm>
              <a:custGeom>
                <a:avLst/>
                <a:gdLst>
                  <a:gd name="T0" fmla="*/ 0 w 225"/>
                  <a:gd name="T1" fmla="*/ 0 h 1395"/>
                  <a:gd name="T2" fmla="*/ 0 w 225"/>
                  <a:gd name="T3" fmla="*/ 0 h 1395"/>
                  <a:gd name="T4" fmla="*/ 0 w 225"/>
                  <a:gd name="T5" fmla="*/ 0 h 1395"/>
                  <a:gd name="T6" fmla="*/ 0 w 225"/>
                  <a:gd name="T7" fmla="*/ 0 h 1395"/>
                  <a:gd name="T8" fmla="*/ 0 w 225"/>
                  <a:gd name="T9" fmla="*/ 0 h 1395"/>
                  <a:gd name="T10" fmla="*/ 0 w 225"/>
                  <a:gd name="T11" fmla="*/ 0 h 1395"/>
                  <a:gd name="T12" fmla="*/ 0 w 225"/>
                  <a:gd name="T13" fmla="*/ 0 h 139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5" h="1395">
                    <a:moveTo>
                      <a:pt x="225" y="0"/>
                    </a:moveTo>
                    <a:lnTo>
                      <a:pt x="0" y="82"/>
                    </a:lnTo>
                    <a:lnTo>
                      <a:pt x="0" y="1395"/>
                    </a:lnTo>
                    <a:lnTo>
                      <a:pt x="42" y="1395"/>
                    </a:lnTo>
                    <a:lnTo>
                      <a:pt x="42" y="202"/>
                    </a:lnTo>
                    <a:lnTo>
                      <a:pt x="225" y="133"/>
                    </a:lnTo>
                    <a:lnTo>
                      <a:pt x="225" y="0"/>
                    </a:lnTo>
                    <a:close/>
                  </a:path>
                </a:pathLst>
              </a:custGeom>
              <a:solidFill>
                <a:srgbClr val="9F9F9F"/>
              </a:solidFill>
              <a:ln w="1588">
                <a:solidFill>
                  <a:srgbClr val="000000"/>
                </a:solidFill>
                <a:prstDash val="solid"/>
                <a:round/>
                <a:headEnd/>
                <a:tailEnd/>
              </a:ln>
            </p:spPr>
            <p:txBody>
              <a:bodyPr/>
              <a:lstStyle/>
              <a:p>
                <a:endParaRPr lang="zh-CN" altLang="en-US"/>
              </a:p>
            </p:txBody>
          </p:sp>
          <p:sp>
            <p:nvSpPr>
              <p:cNvPr id="60525" name="Freeform 113"/>
              <p:cNvSpPr>
                <a:spLocks/>
              </p:cNvSpPr>
              <p:nvPr/>
            </p:nvSpPr>
            <p:spPr bwMode="auto">
              <a:xfrm>
                <a:off x="2288" y="933"/>
                <a:ext cx="184" cy="44"/>
              </a:xfrm>
              <a:custGeom>
                <a:avLst/>
                <a:gdLst>
                  <a:gd name="T0" fmla="*/ 0 w 1290"/>
                  <a:gd name="T1" fmla="*/ 0 h 304"/>
                  <a:gd name="T2" fmla="*/ 0 w 1290"/>
                  <a:gd name="T3" fmla="*/ 0 h 304"/>
                  <a:gd name="T4" fmla="*/ 0 w 1290"/>
                  <a:gd name="T5" fmla="*/ 0 h 304"/>
                  <a:gd name="T6" fmla="*/ 0 w 1290"/>
                  <a:gd name="T7" fmla="*/ 0 h 304"/>
                  <a:gd name="T8" fmla="*/ 0 w 1290"/>
                  <a:gd name="T9" fmla="*/ 0 h 304"/>
                  <a:gd name="T10" fmla="*/ 0 w 1290"/>
                  <a:gd name="T11" fmla="*/ 0 h 304"/>
                  <a:gd name="T12" fmla="*/ 0 w 1290"/>
                  <a:gd name="T13" fmla="*/ 0 h 304"/>
                  <a:gd name="T14" fmla="*/ 0 w 1290"/>
                  <a:gd name="T15" fmla="*/ 0 h 304"/>
                  <a:gd name="T16" fmla="*/ 0 w 1290"/>
                  <a:gd name="T17" fmla="*/ 0 h 304"/>
                  <a:gd name="T18" fmla="*/ 0 w 1290"/>
                  <a:gd name="T19" fmla="*/ 0 h 304"/>
                  <a:gd name="T20" fmla="*/ 0 w 1290"/>
                  <a:gd name="T21" fmla="*/ 0 h 3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90" h="304">
                    <a:moveTo>
                      <a:pt x="0" y="304"/>
                    </a:moveTo>
                    <a:lnTo>
                      <a:pt x="0" y="0"/>
                    </a:lnTo>
                    <a:lnTo>
                      <a:pt x="281" y="0"/>
                    </a:lnTo>
                    <a:lnTo>
                      <a:pt x="337" y="51"/>
                    </a:lnTo>
                    <a:lnTo>
                      <a:pt x="505" y="51"/>
                    </a:lnTo>
                    <a:lnTo>
                      <a:pt x="561" y="102"/>
                    </a:lnTo>
                    <a:lnTo>
                      <a:pt x="1122" y="102"/>
                    </a:lnTo>
                    <a:lnTo>
                      <a:pt x="1122" y="203"/>
                    </a:lnTo>
                    <a:lnTo>
                      <a:pt x="1290" y="203"/>
                    </a:lnTo>
                    <a:lnTo>
                      <a:pt x="1290" y="304"/>
                    </a:lnTo>
                    <a:lnTo>
                      <a:pt x="0" y="30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60526" name="Rectangle 114"/>
              <p:cNvSpPr>
                <a:spLocks noChangeArrowheads="1"/>
              </p:cNvSpPr>
              <p:nvPr/>
            </p:nvSpPr>
            <p:spPr bwMode="auto">
              <a:xfrm>
                <a:off x="2288" y="962"/>
                <a:ext cx="136" cy="15"/>
              </a:xfrm>
              <a:prstGeom prst="rect">
                <a:avLst/>
              </a:prstGeom>
              <a:solidFill>
                <a:srgbClr val="C0C0C0"/>
              </a:solidFill>
              <a:ln w="1588">
                <a:solidFill>
                  <a:srgbClr val="000000"/>
                </a:solidFill>
                <a:miter lim="800000"/>
                <a:headEnd/>
                <a:tailEnd/>
              </a:ln>
            </p:spPr>
            <p:txBody>
              <a:bodyPr/>
              <a:lstStyle/>
              <a:p>
                <a:endParaRPr lang="zh-CN" altLang="en-US"/>
              </a:p>
            </p:txBody>
          </p:sp>
          <p:sp>
            <p:nvSpPr>
              <p:cNvPr id="60527" name="Line 115"/>
              <p:cNvSpPr>
                <a:spLocks noChangeShapeType="1"/>
              </p:cNvSpPr>
              <p:nvPr/>
            </p:nvSpPr>
            <p:spPr bwMode="auto">
              <a:xfrm>
                <a:off x="2282" y="873"/>
                <a:ext cx="1" cy="2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28" name="Freeform 116"/>
              <p:cNvSpPr>
                <a:spLocks/>
              </p:cNvSpPr>
              <p:nvPr/>
            </p:nvSpPr>
            <p:spPr bwMode="auto">
              <a:xfrm>
                <a:off x="2277" y="898"/>
                <a:ext cx="12" cy="13"/>
              </a:xfrm>
              <a:custGeom>
                <a:avLst/>
                <a:gdLst>
                  <a:gd name="T0" fmla="*/ 0 w 84"/>
                  <a:gd name="T1" fmla="*/ 0 h 89"/>
                  <a:gd name="T2" fmla="*/ 0 w 84"/>
                  <a:gd name="T3" fmla="*/ 0 h 89"/>
                  <a:gd name="T4" fmla="*/ 0 w 84"/>
                  <a:gd name="T5" fmla="*/ 0 h 89"/>
                  <a:gd name="T6" fmla="*/ 0 w 84"/>
                  <a:gd name="T7" fmla="*/ 0 h 89"/>
                  <a:gd name="T8" fmla="*/ 0 w 84"/>
                  <a:gd name="T9" fmla="*/ 0 h 89"/>
                  <a:gd name="T10" fmla="*/ 0 w 84"/>
                  <a:gd name="T11" fmla="*/ 0 h 89"/>
                  <a:gd name="T12" fmla="*/ 0 w 84"/>
                  <a:gd name="T13" fmla="*/ 0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89">
                    <a:moveTo>
                      <a:pt x="0" y="89"/>
                    </a:moveTo>
                    <a:lnTo>
                      <a:pt x="0" y="0"/>
                    </a:lnTo>
                    <a:lnTo>
                      <a:pt x="84" y="0"/>
                    </a:lnTo>
                    <a:lnTo>
                      <a:pt x="84" y="32"/>
                    </a:lnTo>
                    <a:lnTo>
                      <a:pt x="28" y="32"/>
                    </a:lnTo>
                    <a:lnTo>
                      <a:pt x="28" y="89"/>
                    </a:lnTo>
                    <a:lnTo>
                      <a:pt x="0" y="89"/>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60529" name="Freeform 117"/>
              <p:cNvSpPr>
                <a:spLocks/>
              </p:cNvSpPr>
              <p:nvPr/>
            </p:nvSpPr>
            <p:spPr bwMode="auto">
              <a:xfrm>
                <a:off x="2344" y="889"/>
                <a:ext cx="41" cy="53"/>
              </a:xfrm>
              <a:custGeom>
                <a:avLst/>
                <a:gdLst>
                  <a:gd name="T0" fmla="*/ 0 w 287"/>
                  <a:gd name="T1" fmla="*/ 0 h 367"/>
                  <a:gd name="T2" fmla="*/ 0 w 287"/>
                  <a:gd name="T3" fmla="*/ 0 h 367"/>
                  <a:gd name="T4" fmla="*/ 0 w 287"/>
                  <a:gd name="T5" fmla="*/ 0 h 367"/>
                  <a:gd name="T6" fmla="*/ 0 w 287"/>
                  <a:gd name="T7" fmla="*/ 0 h 367"/>
                  <a:gd name="T8" fmla="*/ 0 w 287"/>
                  <a:gd name="T9" fmla="*/ 0 h 3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 h="367">
                    <a:moveTo>
                      <a:pt x="0" y="0"/>
                    </a:moveTo>
                    <a:lnTo>
                      <a:pt x="287" y="367"/>
                    </a:lnTo>
                    <a:lnTo>
                      <a:pt x="245" y="360"/>
                    </a:lnTo>
                    <a:lnTo>
                      <a:pt x="0" y="51"/>
                    </a:lnTo>
                    <a:lnTo>
                      <a:pt x="0" y="0"/>
                    </a:lnTo>
                    <a:close/>
                  </a:path>
                </a:pathLst>
              </a:custGeom>
              <a:solidFill>
                <a:srgbClr val="9F9F9F"/>
              </a:solidFill>
              <a:ln w="1588">
                <a:solidFill>
                  <a:srgbClr val="000000"/>
                </a:solidFill>
                <a:prstDash val="solid"/>
                <a:round/>
                <a:headEnd/>
                <a:tailEnd/>
              </a:ln>
            </p:spPr>
            <p:txBody>
              <a:bodyPr/>
              <a:lstStyle/>
              <a:p>
                <a:endParaRPr lang="zh-CN" altLang="en-US"/>
              </a:p>
            </p:txBody>
          </p:sp>
          <p:sp>
            <p:nvSpPr>
              <p:cNvPr id="60530" name="Freeform 118"/>
              <p:cNvSpPr>
                <a:spLocks/>
              </p:cNvSpPr>
              <p:nvPr/>
            </p:nvSpPr>
            <p:spPr bwMode="auto">
              <a:xfrm>
                <a:off x="2256" y="919"/>
                <a:ext cx="32" cy="58"/>
              </a:xfrm>
              <a:custGeom>
                <a:avLst/>
                <a:gdLst>
                  <a:gd name="T0" fmla="*/ 0 w 224"/>
                  <a:gd name="T1" fmla="*/ 0 h 405"/>
                  <a:gd name="T2" fmla="*/ 0 w 224"/>
                  <a:gd name="T3" fmla="*/ 0 h 405"/>
                  <a:gd name="T4" fmla="*/ 0 w 224"/>
                  <a:gd name="T5" fmla="*/ 0 h 405"/>
                  <a:gd name="T6" fmla="*/ 0 w 224"/>
                  <a:gd name="T7" fmla="*/ 0 h 405"/>
                  <a:gd name="T8" fmla="*/ 0 w 224"/>
                  <a:gd name="T9" fmla="*/ 0 h 405"/>
                  <a:gd name="T10" fmla="*/ 0 w 224"/>
                  <a:gd name="T11" fmla="*/ 0 h 40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4" h="405">
                    <a:moveTo>
                      <a:pt x="168" y="0"/>
                    </a:moveTo>
                    <a:lnTo>
                      <a:pt x="0" y="152"/>
                    </a:lnTo>
                    <a:lnTo>
                      <a:pt x="0" y="405"/>
                    </a:lnTo>
                    <a:lnTo>
                      <a:pt x="224" y="405"/>
                    </a:lnTo>
                    <a:lnTo>
                      <a:pt x="224" y="101"/>
                    </a:lnTo>
                    <a:lnTo>
                      <a:pt x="168" y="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60531" name="Rectangle 119"/>
              <p:cNvSpPr>
                <a:spLocks noChangeArrowheads="1"/>
              </p:cNvSpPr>
              <p:nvPr/>
            </p:nvSpPr>
            <p:spPr bwMode="auto">
              <a:xfrm>
                <a:off x="2248" y="1004"/>
                <a:ext cx="224" cy="9"/>
              </a:xfrm>
              <a:prstGeom prst="rect">
                <a:avLst/>
              </a:prstGeom>
              <a:solidFill>
                <a:srgbClr val="9F9F9F"/>
              </a:solidFill>
              <a:ln w="1588">
                <a:solidFill>
                  <a:srgbClr val="000000"/>
                </a:solidFill>
                <a:miter lim="800000"/>
                <a:headEnd/>
                <a:tailEnd/>
              </a:ln>
            </p:spPr>
            <p:txBody>
              <a:bodyPr/>
              <a:lstStyle/>
              <a:p>
                <a:endParaRPr lang="zh-CN" altLang="en-US"/>
              </a:p>
            </p:txBody>
          </p:sp>
          <p:sp>
            <p:nvSpPr>
              <p:cNvPr id="60532" name="Rectangle 120"/>
              <p:cNvSpPr>
                <a:spLocks noChangeArrowheads="1"/>
              </p:cNvSpPr>
              <p:nvPr/>
            </p:nvSpPr>
            <p:spPr bwMode="auto">
              <a:xfrm>
                <a:off x="2248" y="991"/>
                <a:ext cx="224" cy="13"/>
              </a:xfrm>
              <a:prstGeom prst="rect">
                <a:avLst/>
              </a:prstGeom>
              <a:solidFill>
                <a:srgbClr val="9F9F9F"/>
              </a:solidFill>
              <a:ln w="1588">
                <a:solidFill>
                  <a:srgbClr val="000000"/>
                </a:solidFill>
                <a:miter lim="800000"/>
                <a:headEnd/>
                <a:tailEnd/>
              </a:ln>
            </p:spPr>
            <p:txBody>
              <a:bodyPr/>
              <a:lstStyle/>
              <a:p>
                <a:endParaRPr lang="zh-CN" altLang="en-US"/>
              </a:p>
            </p:txBody>
          </p:sp>
          <p:sp>
            <p:nvSpPr>
              <p:cNvPr id="60533" name="Rectangle 121"/>
              <p:cNvSpPr>
                <a:spLocks noChangeArrowheads="1"/>
              </p:cNvSpPr>
              <p:nvPr/>
            </p:nvSpPr>
            <p:spPr bwMode="auto">
              <a:xfrm>
                <a:off x="2248" y="977"/>
                <a:ext cx="224" cy="14"/>
              </a:xfrm>
              <a:prstGeom prst="rect">
                <a:avLst/>
              </a:prstGeom>
              <a:solidFill>
                <a:srgbClr val="9F9F9F"/>
              </a:solidFill>
              <a:ln w="1588">
                <a:solidFill>
                  <a:srgbClr val="000000"/>
                </a:solidFill>
                <a:miter lim="800000"/>
                <a:headEnd/>
                <a:tailEnd/>
              </a:ln>
            </p:spPr>
            <p:txBody>
              <a:bodyPr/>
              <a:lstStyle/>
              <a:p>
                <a:endParaRPr lang="zh-CN" altLang="en-US"/>
              </a:p>
            </p:txBody>
          </p:sp>
          <p:sp>
            <p:nvSpPr>
              <p:cNvPr id="60534" name="Rectangle 122"/>
              <p:cNvSpPr>
                <a:spLocks noChangeArrowheads="1"/>
              </p:cNvSpPr>
              <p:nvPr/>
            </p:nvSpPr>
            <p:spPr bwMode="auto">
              <a:xfrm>
                <a:off x="2442" y="966"/>
                <a:ext cx="24" cy="7"/>
              </a:xfrm>
              <a:prstGeom prst="rect">
                <a:avLst/>
              </a:prstGeom>
              <a:solidFill>
                <a:srgbClr val="9F9F9F"/>
              </a:solidFill>
              <a:ln w="1588">
                <a:solidFill>
                  <a:srgbClr val="000000"/>
                </a:solidFill>
                <a:miter lim="800000"/>
                <a:headEnd/>
                <a:tailEnd/>
              </a:ln>
            </p:spPr>
            <p:txBody>
              <a:bodyPr/>
              <a:lstStyle/>
              <a:p>
                <a:endParaRPr lang="zh-CN" altLang="en-US"/>
              </a:p>
            </p:txBody>
          </p:sp>
          <p:sp>
            <p:nvSpPr>
              <p:cNvPr id="60535" name="Oval 123"/>
              <p:cNvSpPr>
                <a:spLocks noChangeArrowheads="1"/>
              </p:cNvSpPr>
              <p:nvPr/>
            </p:nvSpPr>
            <p:spPr bwMode="auto">
              <a:xfrm>
                <a:off x="2271" y="911"/>
                <a:ext cx="18" cy="16"/>
              </a:xfrm>
              <a:prstGeom prst="ellipse">
                <a:avLst/>
              </a:prstGeom>
              <a:solidFill>
                <a:srgbClr val="9F9F9F"/>
              </a:solidFill>
              <a:ln w="1588">
                <a:solidFill>
                  <a:srgbClr val="000000"/>
                </a:solidFill>
                <a:round/>
                <a:headEnd/>
                <a:tailEnd/>
              </a:ln>
            </p:spPr>
            <p:txBody>
              <a:bodyPr/>
              <a:lstStyle/>
              <a:p>
                <a:endParaRPr lang="zh-CN" altLang="en-US"/>
              </a:p>
            </p:txBody>
          </p:sp>
          <p:sp>
            <p:nvSpPr>
              <p:cNvPr id="60536" name="Rectangle 124"/>
              <p:cNvSpPr>
                <a:spLocks noChangeArrowheads="1"/>
              </p:cNvSpPr>
              <p:nvPr/>
            </p:nvSpPr>
            <p:spPr bwMode="auto">
              <a:xfrm>
                <a:off x="2328" y="883"/>
                <a:ext cx="16" cy="14"/>
              </a:xfrm>
              <a:prstGeom prst="rect">
                <a:avLst/>
              </a:prstGeom>
              <a:solidFill>
                <a:srgbClr val="808080"/>
              </a:solidFill>
              <a:ln w="1588">
                <a:solidFill>
                  <a:srgbClr val="000000"/>
                </a:solidFill>
                <a:miter lim="800000"/>
                <a:headEnd/>
                <a:tailEnd/>
              </a:ln>
            </p:spPr>
            <p:txBody>
              <a:bodyPr/>
              <a:lstStyle/>
              <a:p>
                <a:endParaRPr lang="zh-CN" altLang="en-US"/>
              </a:p>
            </p:txBody>
          </p:sp>
          <p:sp>
            <p:nvSpPr>
              <p:cNvPr id="60537" name="Freeform 125"/>
              <p:cNvSpPr>
                <a:spLocks/>
              </p:cNvSpPr>
              <p:nvPr/>
            </p:nvSpPr>
            <p:spPr bwMode="auto">
              <a:xfrm>
                <a:off x="2320" y="876"/>
                <a:ext cx="64" cy="57"/>
              </a:xfrm>
              <a:custGeom>
                <a:avLst/>
                <a:gdLst>
                  <a:gd name="T0" fmla="*/ 0 w 448"/>
                  <a:gd name="T1" fmla="*/ 0 h 403"/>
                  <a:gd name="T2" fmla="*/ 0 w 448"/>
                  <a:gd name="T3" fmla="*/ 0 h 403"/>
                  <a:gd name="T4" fmla="*/ 0 w 448"/>
                  <a:gd name="T5" fmla="*/ 0 h 403"/>
                  <a:gd name="T6" fmla="*/ 0 w 448"/>
                  <a:gd name="T7" fmla="*/ 0 h 403"/>
                  <a:gd name="T8" fmla="*/ 0 w 448"/>
                  <a:gd name="T9" fmla="*/ 0 h 403"/>
                  <a:gd name="T10" fmla="*/ 0 w 448"/>
                  <a:gd name="T11" fmla="*/ 0 h 403"/>
                  <a:gd name="T12" fmla="*/ 0 w 448"/>
                  <a:gd name="T13" fmla="*/ 0 h 40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8" h="403">
                    <a:moveTo>
                      <a:pt x="56" y="403"/>
                    </a:moveTo>
                    <a:lnTo>
                      <a:pt x="56" y="50"/>
                    </a:lnTo>
                    <a:lnTo>
                      <a:pt x="448" y="50"/>
                    </a:lnTo>
                    <a:lnTo>
                      <a:pt x="448" y="0"/>
                    </a:lnTo>
                    <a:lnTo>
                      <a:pt x="0" y="0"/>
                    </a:lnTo>
                    <a:lnTo>
                      <a:pt x="0" y="403"/>
                    </a:lnTo>
                    <a:lnTo>
                      <a:pt x="56" y="403"/>
                    </a:lnTo>
                    <a:close/>
                  </a:path>
                </a:pathLst>
              </a:custGeom>
              <a:solidFill>
                <a:srgbClr val="C0C0C0"/>
              </a:solidFill>
              <a:ln w="1588">
                <a:solidFill>
                  <a:srgbClr val="000000"/>
                </a:solidFill>
                <a:prstDash val="solid"/>
                <a:round/>
                <a:headEnd/>
                <a:tailEnd/>
              </a:ln>
            </p:spPr>
            <p:txBody>
              <a:bodyPr/>
              <a:lstStyle/>
              <a:p>
                <a:endParaRPr lang="zh-CN" altLang="en-US"/>
              </a:p>
            </p:txBody>
          </p:sp>
          <p:grpSp>
            <p:nvGrpSpPr>
              <p:cNvPr id="60538" name="Group 126"/>
              <p:cNvGrpSpPr>
                <a:grpSpLocks/>
              </p:cNvGrpSpPr>
              <p:nvPr/>
            </p:nvGrpSpPr>
            <p:grpSpPr bwMode="auto">
              <a:xfrm>
                <a:off x="2267" y="821"/>
                <a:ext cx="73" cy="59"/>
                <a:chOff x="2267" y="821"/>
                <a:chExt cx="73" cy="59"/>
              </a:xfrm>
            </p:grpSpPr>
            <p:sp>
              <p:nvSpPr>
                <p:cNvPr id="60550" name="Oval 127"/>
                <p:cNvSpPr>
                  <a:spLocks noChangeArrowheads="1"/>
                </p:cNvSpPr>
                <p:nvPr/>
              </p:nvSpPr>
              <p:spPr bwMode="auto">
                <a:xfrm>
                  <a:off x="2273" y="821"/>
                  <a:ext cx="67" cy="59"/>
                </a:xfrm>
                <a:prstGeom prst="ellipse">
                  <a:avLst/>
                </a:prstGeom>
                <a:solidFill>
                  <a:srgbClr val="808080"/>
                </a:solidFill>
                <a:ln w="1588">
                  <a:solidFill>
                    <a:srgbClr val="000000"/>
                  </a:solidFill>
                  <a:round/>
                  <a:headEnd/>
                  <a:tailEnd/>
                </a:ln>
              </p:spPr>
              <p:txBody>
                <a:bodyPr/>
                <a:lstStyle/>
                <a:p>
                  <a:endParaRPr lang="zh-CN" altLang="en-US"/>
                </a:p>
              </p:txBody>
            </p:sp>
            <p:sp>
              <p:nvSpPr>
                <p:cNvPr id="60551" name="Oval 128"/>
                <p:cNvSpPr>
                  <a:spLocks noChangeArrowheads="1"/>
                </p:cNvSpPr>
                <p:nvPr/>
              </p:nvSpPr>
              <p:spPr bwMode="auto">
                <a:xfrm>
                  <a:off x="2267" y="821"/>
                  <a:ext cx="66" cy="59"/>
                </a:xfrm>
                <a:prstGeom prst="ellipse">
                  <a:avLst/>
                </a:prstGeom>
                <a:solidFill>
                  <a:srgbClr val="C0C0C0"/>
                </a:solidFill>
                <a:ln w="1588">
                  <a:solidFill>
                    <a:srgbClr val="000000"/>
                  </a:solidFill>
                  <a:round/>
                  <a:headEnd/>
                  <a:tailEnd/>
                </a:ln>
              </p:spPr>
              <p:txBody>
                <a:bodyPr/>
                <a:lstStyle/>
                <a:p>
                  <a:endParaRPr lang="zh-CN" altLang="en-US"/>
                </a:p>
              </p:txBody>
            </p:sp>
          </p:grpSp>
          <p:grpSp>
            <p:nvGrpSpPr>
              <p:cNvPr id="60539" name="Group 129"/>
              <p:cNvGrpSpPr>
                <a:grpSpLocks/>
              </p:cNvGrpSpPr>
              <p:nvPr/>
            </p:nvGrpSpPr>
            <p:grpSpPr bwMode="auto">
              <a:xfrm>
                <a:off x="2296" y="933"/>
                <a:ext cx="24" cy="58"/>
                <a:chOff x="2296" y="933"/>
                <a:chExt cx="24" cy="58"/>
              </a:xfrm>
            </p:grpSpPr>
            <p:sp>
              <p:nvSpPr>
                <p:cNvPr id="60541" name="Rectangle 130"/>
                <p:cNvSpPr>
                  <a:spLocks noChangeArrowheads="1"/>
                </p:cNvSpPr>
                <p:nvPr/>
              </p:nvSpPr>
              <p:spPr bwMode="auto">
                <a:xfrm>
                  <a:off x="2296" y="933"/>
                  <a:ext cx="24" cy="58"/>
                </a:xfrm>
                <a:prstGeom prst="rect">
                  <a:avLst/>
                </a:prstGeom>
                <a:solidFill>
                  <a:srgbClr val="C0C0C0"/>
                </a:solidFill>
                <a:ln w="1588">
                  <a:solidFill>
                    <a:srgbClr val="000000"/>
                  </a:solidFill>
                  <a:miter lim="800000"/>
                  <a:headEnd/>
                  <a:tailEnd/>
                </a:ln>
              </p:spPr>
              <p:txBody>
                <a:bodyPr/>
                <a:lstStyle/>
                <a:p>
                  <a:endParaRPr lang="zh-CN" altLang="en-US"/>
                </a:p>
              </p:txBody>
            </p:sp>
            <p:grpSp>
              <p:nvGrpSpPr>
                <p:cNvPr id="60542" name="Group 131"/>
                <p:cNvGrpSpPr>
                  <a:grpSpLocks/>
                </p:cNvGrpSpPr>
                <p:nvPr/>
              </p:nvGrpSpPr>
              <p:grpSpPr bwMode="auto">
                <a:xfrm>
                  <a:off x="2296" y="941"/>
                  <a:ext cx="24" cy="44"/>
                  <a:chOff x="2296" y="941"/>
                  <a:chExt cx="24" cy="44"/>
                </a:xfrm>
              </p:grpSpPr>
              <p:sp>
                <p:nvSpPr>
                  <p:cNvPr id="60543" name="Line 132"/>
                  <p:cNvSpPr>
                    <a:spLocks noChangeShapeType="1"/>
                  </p:cNvSpPr>
                  <p:nvPr/>
                </p:nvSpPr>
                <p:spPr bwMode="auto">
                  <a:xfrm>
                    <a:off x="2296" y="948"/>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44" name="Line 133"/>
                  <p:cNvSpPr>
                    <a:spLocks noChangeShapeType="1"/>
                  </p:cNvSpPr>
                  <p:nvPr/>
                </p:nvSpPr>
                <p:spPr bwMode="auto">
                  <a:xfrm>
                    <a:off x="2296" y="970"/>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45" name="Line 134"/>
                  <p:cNvSpPr>
                    <a:spLocks noChangeShapeType="1"/>
                  </p:cNvSpPr>
                  <p:nvPr/>
                </p:nvSpPr>
                <p:spPr bwMode="auto">
                  <a:xfrm>
                    <a:off x="2296" y="962"/>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46" name="Line 135"/>
                  <p:cNvSpPr>
                    <a:spLocks noChangeShapeType="1"/>
                  </p:cNvSpPr>
                  <p:nvPr/>
                </p:nvSpPr>
                <p:spPr bwMode="auto">
                  <a:xfrm>
                    <a:off x="2296" y="955"/>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47" name="Line 136"/>
                  <p:cNvSpPr>
                    <a:spLocks noChangeShapeType="1"/>
                  </p:cNvSpPr>
                  <p:nvPr/>
                </p:nvSpPr>
                <p:spPr bwMode="auto">
                  <a:xfrm>
                    <a:off x="2296" y="941"/>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48" name="Line 137"/>
                  <p:cNvSpPr>
                    <a:spLocks noChangeShapeType="1"/>
                  </p:cNvSpPr>
                  <p:nvPr/>
                </p:nvSpPr>
                <p:spPr bwMode="auto">
                  <a:xfrm>
                    <a:off x="2296" y="977"/>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49" name="Line 138"/>
                  <p:cNvSpPr>
                    <a:spLocks noChangeShapeType="1"/>
                  </p:cNvSpPr>
                  <p:nvPr/>
                </p:nvSpPr>
                <p:spPr bwMode="auto">
                  <a:xfrm>
                    <a:off x="2296" y="984"/>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60540" name="Rectangle 139"/>
              <p:cNvSpPr>
                <a:spLocks noChangeArrowheads="1"/>
              </p:cNvSpPr>
              <p:nvPr/>
            </p:nvSpPr>
            <p:spPr bwMode="auto">
              <a:xfrm>
                <a:off x="2448" y="948"/>
                <a:ext cx="8" cy="14"/>
              </a:xfrm>
              <a:prstGeom prst="rect">
                <a:avLst/>
              </a:prstGeom>
              <a:solidFill>
                <a:srgbClr val="C0C0C0"/>
              </a:solidFill>
              <a:ln w="1588">
                <a:solidFill>
                  <a:srgbClr val="000000"/>
                </a:solidFill>
                <a:miter lim="800000"/>
                <a:headEnd/>
                <a:tailEnd/>
              </a:ln>
            </p:spPr>
            <p:txBody>
              <a:bodyPr/>
              <a:lstStyle/>
              <a:p>
                <a:endParaRPr lang="zh-CN" altLang="en-US"/>
              </a:p>
            </p:txBody>
          </p:sp>
        </p:grpSp>
        <p:grpSp>
          <p:nvGrpSpPr>
            <p:cNvPr id="60503" name="Group 140"/>
            <p:cNvGrpSpPr>
              <a:grpSpLocks/>
            </p:cNvGrpSpPr>
            <p:nvPr/>
          </p:nvGrpSpPr>
          <p:grpSpPr bwMode="auto">
            <a:xfrm>
              <a:off x="2382" y="788"/>
              <a:ext cx="40" cy="40"/>
              <a:chOff x="2382" y="788"/>
              <a:chExt cx="40" cy="40"/>
            </a:xfrm>
          </p:grpSpPr>
          <p:sp>
            <p:nvSpPr>
              <p:cNvPr id="60516" name="Freeform 141"/>
              <p:cNvSpPr>
                <a:spLocks/>
              </p:cNvSpPr>
              <p:nvPr/>
            </p:nvSpPr>
            <p:spPr bwMode="auto">
              <a:xfrm>
                <a:off x="2404" y="800"/>
                <a:ext cx="18" cy="28"/>
              </a:xfrm>
              <a:custGeom>
                <a:avLst/>
                <a:gdLst>
                  <a:gd name="T0" fmla="*/ 0 w 127"/>
                  <a:gd name="T1" fmla="*/ 0 h 195"/>
                  <a:gd name="T2" fmla="*/ 0 w 127"/>
                  <a:gd name="T3" fmla="*/ 0 h 195"/>
                  <a:gd name="T4" fmla="*/ 0 w 127"/>
                  <a:gd name="T5" fmla="*/ 0 h 195"/>
                  <a:gd name="T6" fmla="*/ 0 w 127"/>
                  <a:gd name="T7" fmla="*/ 0 h 195"/>
                  <a:gd name="T8" fmla="*/ 0 w 127"/>
                  <a:gd name="T9" fmla="*/ 0 h 1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 h="195">
                    <a:moveTo>
                      <a:pt x="106" y="0"/>
                    </a:moveTo>
                    <a:lnTo>
                      <a:pt x="0" y="164"/>
                    </a:lnTo>
                    <a:lnTo>
                      <a:pt x="21" y="195"/>
                    </a:lnTo>
                    <a:lnTo>
                      <a:pt x="127" y="6"/>
                    </a:lnTo>
                    <a:lnTo>
                      <a:pt x="106" y="0"/>
                    </a:lnTo>
                    <a:close/>
                  </a:path>
                </a:pathLst>
              </a:custGeom>
              <a:solidFill>
                <a:srgbClr val="BFBFDF"/>
              </a:solidFill>
              <a:ln w="1588">
                <a:solidFill>
                  <a:srgbClr val="000000"/>
                </a:solidFill>
                <a:prstDash val="solid"/>
                <a:round/>
                <a:headEnd/>
                <a:tailEnd/>
              </a:ln>
            </p:spPr>
            <p:txBody>
              <a:bodyPr/>
              <a:lstStyle/>
              <a:p>
                <a:endParaRPr lang="zh-CN" altLang="en-US"/>
              </a:p>
            </p:txBody>
          </p:sp>
          <p:sp>
            <p:nvSpPr>
              <p:cNvPr id="60517" name="Freeform 142"/>
              <p:cNvSpPr>
                <a:spLocks/>
              </p:cNvSpPr>
              <p:nvPr/>
            </p:nvSpPr>
            <p:spPr bwMode="auto">
              <a:xfrm>
                <a:off x="2382" y="788"/>
                <a:ext cx="35" cy="8"/>
              </a:xfrm>
              <a:custGeom>
                <a:avLst/>
                <a:gdLst>
                  <a:gd name="T0" fmla="*/ 0 w 246"/>
                  <a:gd name="T1" fmla="*/ 0 h 57"/>
                  <a:gd name="T2" fmla="*/ 0 w 246"/>
                  <a:gd name="T3" fmla="*/ 0 h 57"/>
                  <a:gd name="T4" fmla="*/ 0 w 246"/>
                  <a:gd name="T5" fmla="*/ 0 h 57"/>
                  <a:gd name="T6" fmla="*/ 0 w 246"/>
                  <a:gd name="T7" fmla="*/ 0 h 57"/>
                  <a:gd name="T8" fmla="*/ 0 w 246"/>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6" h="57">
                    <a:moveTo>
                      <a:pt x="238" y="0"/>
                    </a:moveTo>
                    <a:lnTo>
                      <a:pt x="0" y="31"/>
                    </a:lnTo>
                    <a:lnTo>
                      <a:pt x="35" y="57"/>
                    </a:lnTo>
                    <a:lnTo>
                      <a:pt x="246" y="19"/>
                    </a:lnTo>
                    <a:lnTo>
                      <a:pt x="238" y="0"/>
                    </a:lnTo>
                    <a:close/>
                  </a:path>
                </a:pathLst>
              </a:custGeom>
              <a:solidFill>
                <a:srgbClr val="BFBFDF"/>
              </a:solidFill>
              <a:ln w="1588">
                <a:solidFill>
                  <a:srgbClr val="000000"/>
                </a:solidFill>
                <a:prstDash val="solid"/>
                <a:round/>
                <a:headEnd/>
                <a:tailEnd/>
              </a:ln>
            </p:spPr>
            <p:txBody>
              <a:bodyPr/>
              <a:lstStyle/>
              <a:p>
                <a:endParaRPr lang="zh-CN" altLang="en-US"/>
              </a:p>
            </p:txBody>
          </p:sp>
        </p:grpSp>
        <p:grpSp>
          <p:nvGrpSpPr>
            <p:cNvPr id="60504" name="Group 143"/>
            <p:cNvGrpSpPr>
              <a:grpSpLocks/>
            </p:cNvGrpSpPr>
            <p:nvPr/>
          </p:nvGrpSpPr>
          <p:grpSpPr bwMode="auto">
            <a:xfrm>
              <a:off x="2302" y="723"/>
              <a:ext cx="132" cy="186"/>
              <a:chOff x="2302" y="723"/>
              <a:chExt cx="132" cy="186"/>
            </a:xfrm>
          </p:grpSpPr>
          <p:sp>
            <p:nvSpPr>
              <p:cNvPr id="60514" name="Freeform 144"/>
              <p:cNvSpPr>
                <a:spLocks/>
              </p:cNvSpPr>
              <p:nvPr/>
            </p:nvSpPr>
            <p:spPr bwMode="auto">
              <a:xfrm>
                <a:off x="2302" y="724"/>
                <a:ext cx="132" cy="185"/>
              </a:xfrm>
              <a:custGeom>
                <a:avLst/>
                <a:gdLst>
                  <a:gd name="T0" fmla="*/ 0 w 920"/>
                  <a:gd name="T1" fmla="*/ 0 h 1300"/>
                  <a:gd name="T2" fmla="*/ 0 w 920"/>
                  <a:gd name="T3" fmla="*/ 0 h 1300"/>
                  <a:gd name="T4" fmla="*/ 0 w 920"/>
                  <a:gd name="T5" fmla="*/ 0 h 1300"/>
                  <a:gd name="T6" fmla="*/ 0 w 920"/>
                  <a:gd name="T7" fmla="*/ 0 h 1300"/>
                  <a:gd name="T8" fmla="*/ 0 w 920"/>
                  <a:gd name="T9" fmla="*/ 0 h 1300"/>
                  <a:gd name="T10" fmla="*/ 0 w 920"/>
                  <a:gd name="T11" fmla="*/ 0 h 1300"/>
                  <a:gd name="T12" fmla="*/ 0 w 920"/>
                  <a:gd name="T13" fmla="*/ 0 h 1300"/>
                  <a:gd name="T14" fmla="*/ 0 w 920"/>
                  <a:gd name="T15" fmla="*/ 0 h 1300"/>
                  <a:gd name="T16" fmla="*/ 0 w 920"/>
                  <a:gd name="T17" fmla="*/ 0 h 1300"/>
                  <a:gd name="T18" fmla="*/ 0 w 920"/>
                  <a:gd name="T19" fmla="*/ 0 h 1300"/>
                  <a:gd name="T20" fmla="*/ 0 w 920"/>
                  <a:gd name="T21" fmla="*/ 0 h 1300"/>
                  <a:gd name="T22" fmla="*/ 0 w 920"/>
                  <a:gd name="T23" fmla="*/ 0 h 1300"/>
                  <a:gd name="T24" fmla="*/ 0 w 920"/>
                  <a:gd name="T25" fmla="*/ 0 h 1300"/>
                  <a:gd name="T26" fmla="*/ 0 w 920"/>
                  <a:gd name="T27" fmla="*/ 0 h 1300"/>
                  <a:gd name="T28" fmla="*/ 0 w 920"/>
                  <a:gd name="T29" fmla="*/ 0 h 1300"/>
                  <a:gd name="T30" fmla="*/ 0 w 920"/>
                  <a:gd name="T31" fmla="*/ 0 h 1300"/>
                  <a:gd name="T32" fmla="*/ 0 w 920"/>
                  <a:gd name="T33" fmla="*/ 0 h 1300"/>
                  <a:gd name="T34" fmla="*/ 0 w 920"/>
                  <a:gd name="T35" fmla="*/ 0 h 1300"/>
                  <a:gd name="T36" fmla="*/ 0 w 920"/>
                  <a:gd name="T37" fmla="*/ 0 h 1300"/>
                  <a:gd name="T38" fmla="*/ 0 w 920"/>
                  <a:gd name="T39" fmla="*/ 0 h 1300"/>
                  <a:gd name="T40" fmla="*/ 0 w 920"/>
                  <a:gd name="T41" fmla="*/ 0 h 1300"/>
                  <a:gd name="T42" fmla="*/ 0 w 920"/>
                  <a:gd name="T43" fmla="*/ 0 h 1300"/>
                  <a:gd name="T44" fmla="*/ 0 w 920"/>
                  <a:gd name="T45" fmla="*/ 0 h 13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920" h="1300">
                    <a:moveTo>
                      <a:pt x="30" y="47"/>
                    </a:moveTo>
                    <a:lnTo>
                      <a:pt x="16" y="85"/>
                    </a:lnTo>
                    <a:lnTo>
                      <a:pt x="4" y="132"/>
                    </a:lnTo>
                    <a:lnTo>
                      <a:pt x="0" y="183"/>
                    </a:lnTo>
                    <a:lnTo>
                      <a:pt x="0" y="233"/>
                    </a:lnTo>
                    <a:lnTo>
                      <a:pt x="12" y="299"/>
                    </a:lnTo>
                    <a:lnTo>
                      <a:pt x="23" y="381"/>
                    </a:lnTo>
                    <a:lnTo>
                      <a:pt x="44" y="473"/>
                    </a:lnTo>
                    <a:lnTo>
                      <a:pt x="79" y="578"/>
                    </a:lnTo>
                    <a:lnTo>
                      <a:pt x="131" y="679"/>
                    </a:lnTo>
                    <a:lnTo>
                      <a:pt x="215" y="799"/>
                    </a:lnTo>
                    <a:lnTo>
                      <a:pt x="299" y="912"/>
                    </a:lnTo>
                    <a:lnTo>
                      <a:pt x="369" y="988"/>
                    </a:lnTo>
                    <a:lnTo>
                      <a:pt x="467" y="1079"/>
                    </a:lnTo>
                    <a:lnTo>
                      <a:pt x="569" y="1155"/>
                    </a:lnTo>
                    <a:lnTo>
                      <a:pt x="660" y="1215"/>
                    </a:lnTo>
                    <a:lnTo>
                      <a:pt x="726" y="1253"/>
                    </a:lnTo>
                    <a:lnTo>
                      <a:pt x="793" y="1281"/>
                    </a:lnTo>
                    <a:lnTo>
                      <a:pt x="846" y="1300"/>
                    </a:lnTo>
                    <a:lnTo>
                      <a:pt x="888" y="1300"/>
                    </a:lnTo>
                    <a:lnTo>
                      <a:pt x="920" y="1284"/>
                    </a:lnTo>
                    <a:lnTo>
                      <a:pt x="61" y="0"/>
                    </a:lnTo>
                    <a:lnTo>
                      <a:pt x="30" y="47"/>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60515" name="Freeform 145"/>
              <p:cNvSpPr>
                <a:spLocks/>
              </p:cNvSpPr>
              <p:nvPr/>
            </p:nvSpPr>
            <p:spPr bwMode="auto">
              <a:xfrm>
                <a:off x="2310" y="723"/>
                <a:ext cx="124" cy="184"/>
              </a:xfrm>
              <a:custGeom>
                <a:avLst/>
                <a:gdLst>
                  <a:gd name="T0" fmla="*/ 0 w 866"/>
                  <a:gd name="T1" fmla="*/ 0 h 1288"/>
                  <a:gd name="T2" fmla="*/ 0 w 866"/>
                  <a:gd name="T3" fmla="*/ 0 h 1288"/>
                  <a:gd name="T4" fmla="*/ 0 w 866"/>
                  <a:gd name="T5" fmla="*/ 0 h 1288"/>
                  <a:gd name="T6" fmla="*/ 0 w 866"/>
                  <a:gd name="T7" fmla="*/ 0 h 1288"/>
                  <a:gd name="T8" fmla="*/ 0 w 866"/>
                  <a:gd name="T9" fmla="*/ 0 h 1288"/>
                  <a:gd name="T10" fmla="*/ 0 w 866"/>
                  <a:gd name="T11" fmla="*/ 0 h 1288"/>
                  <a:gd name="T12" fmla="*/ 0 w 866"/>
                  <a:gd name="T13" fmla="*/ 0 h 1288"/>
                  <a:gd name="T14" fmla="*/ 0 w 866"/>
                  <a:gd name="T15" fmla="*/ 0 h 1288"/>
                  <a:gd name="T16" fmla="*/ 0 w 866"/>
                  <a:gd name="T17" fmla="*/ 0 h 1288"/>
                  <a:gd name="T18" fmla="*/ 0 w 866"/>
                  <a:gd name="T19" fmla="*/ 0 h 1288"/>
                  <a:gd name="T20" fmla="*/ 0 w 866"/>
                  <a:gd name="T21" fmla="*/ 0 h 1288"/>
                  <a:gd name="T22" fmla="*/ 0 w 866"/>
                  <a:gd name="T23" fmla="*/ 0 h 1288"/>
                  <a:gd name="T24" fmla="*/ 0 w 866"/>
                  <a:gd name="T25" fmla="*/ 0 h 1288"/>
                  <a:gd name="T26" fmla="*/ 0 w 866"/>
                  <a:gd name="T27" fmla="*/ 0 h 1288"/>
                  <a:gd name="T28" fmla="*/ 0 w 866"/>
                  <a:gd name="T29" fmla="*/ 0 h 1288"/>
                  <a:gd name="T30" fmla="*/ 0 w 866"/>
                  <a:gd name="T31" fmla="*/ 0 h 1288"/>
                  <a:gd name="T32" fmla="*/ 0 w 866"/>
                  <a:gd name="T33" fmla="*/ 0 h 1288"/>
                  <a:gd name="T34" fmla="*/ 0 w 866"/>
                  <a:gd name="T35" fmla="*/ 0 h 1288"/>
                  <a:gd name="T36" fmla="*/ 0 w 866"/>
                  <a:gd name="T37" fmla="*/ 0 h 1288"/>
                  <a:gd name="T38" fmla="*/ 0 w 866"/>
                  <a:gd name="T39" fmla="*/ 0 h 1288"/>
                  <a:gd name="T40" fmla="*/ 0 w 866"/>
                  <a:gd name="T41" fmla="*/ 0 h 1288"/>
                  <a:gd name="T42" fmla="*/ 0 w 866"/>
                  <a:gd name="T43" fmla="*/ 0 h 1288"/>
                  <a:gd name="T44" fmla="*/ 0 w 866"/>
                  <a:gd name="T45" fmla="*/ 0 h 1288"/>
                  <a:gd name="T46" fmla="*/ 0 w 866"/>
                  <a:gd name="T47" fmla="*/ 0 h 1288"/>
                  <a:gd name="T48" fmla="*/ 0 w 866"/>
                  <a:gd name="T49" fmla="*/ 0 h 1288"/>
                  <a:gd name="T50" fmla="*/ 0 w 866"/>
                  <a:gd name="T51" fmla="*/ 0 h 1288"/>
                  <a:gd name="T52" fmla="*/ 0 w 866"/>
                  <a:gd name="T53" fmla="*/ 0 h 1288"/>
                  <a:gd name="T54" fmla="*/ 0 w 866"/>
                  <a:gd name="T55" fmla="*/ 0 h 1288"/>
                  <a:gd name="T56" fmla="*/ 0 w 866"/>
                  <a:gd name="T57" fmla="*/ 0 h 1288"/>
                  <a:gd name="T58" fmla="*/ 0 w 866"/>
                  <a:gd name="T59" fmla="*/ 0 h 1288"/>
                  <a:gd name="T60" fmla="*/ 0 w 866"/>
                  <a:gd name="T61" fmla="*/ 0 h 1288"/>
                  <a:gd name="T62" fmla="*/ 0 w 866"/>
                  <a:gd name="T63" fmla="*/ 0 h 1288"/>
                  <a:gd name="T64" fmla="*/ 0 w 866"/>
                  <a:gd name="T65" fmla="*/ 0 h 1288"/>
                  <a:gd name="T66" fmla="*/ 0 w 866"/>
                  <a:gd name="T67" fmla="*/ 0 h 1288"/>
                  <a:gd name="T68" fmla="*/ 0 w 866"/>
                  <a:gd name="T69" fmla="*/ 0 h 1288"/>
                  <a:gd name="T70" fmla="*/ 0 w 866"/>
                  <a:gd name="T71" fmla="*/ 0 h 1288"/>
                  <a:gd name="T72" fmla="*/ 0 w 866"/>
                  <a:gd name="T73" fmla="*/ 0 h 1288"/>
                  <a:gd name="T74" fmla="*/ 0 w 866"/>
                  <a:gd name="T75" fmla="*/ 0 h 1288"/>
                  <a:gd name="T76" fmla="*/ 0 w 866"/>
                  <a:gd name="T77" fmla="*/ 0 h 1288"/>
                  <a:gd name="T78" fmla="*/ 0 w 866"/>
                  <a:gd name="T79" fmla="*/ 0 h 1288"/>
                  <a:gd name="T80" fmla="*/ 0 w 866"/>
                  <a:gd name="T81" fmla="*/ 0 h 1288"/>
                  <a:gd name="T82" fmla="*/ 0 w 866"/>
                  <a:gd name="T83" fmla="*/ 0 h 1288"/>
                  <a:gd name="T84" fmla="*/ 0 w 866"/>
                  <a:gd name="T85" fmla="*/ 0 h 1288"/>
                  <a:gd name="T86" fmla="*/ 0 w 866"/>
                  <a:gd name="T87" fmla="*/ 0 h 1288"/>
                  <a:gd name="T88" fmla="*/ 0 w 866"/>
                  <a:gd name="T89" fmla="*/ 0 h 128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866" h="1288">
                    <a:moveTo>
                      <a:pt x="7" y="0"/>
                    </a:moveTo>
                    <a:lnTo>
                      <a:pt x="0" y="26"/>
                    </a:lnTo>
                    <a:lnTo>
                      <a:pt x="0" y="82"/>
                    </a:lnTo>
                    <a:lnTo>
                      <a:pt x="4" y="149"/>
                    </a:lnTo>
                    <a:lnTo>
                      <a:pt x="11" y="202"/>
                    </a:lnTo>
                    <a:lnTo>
                      <a:pt x="21" y="272"/>
                    </a:lnTo>
                    <a:lnTo>
                      <a:pt x="35" y="354"/>
                    </a:lnTo>
                    <a:lnTo>
                      <a:pt x="56" y="439"/>
                    </a:lnTo>
                    <a:lnTo>
                      <a:pt x="98" y="547"/>
                    </a:lnTo>
                    <a:lnTo>
                      <a:pt x="161" y="670"/>
                    </a:lnTo>
                    <a:lnTo>
                      <a:pt x="231" y="771"/>
                    </a:lnTo>
                    <a:lnTo>
                      <a:pt x="315" y="878"/>
                    </a:lnTo>
                    <a:lnTo>
                      <a:pt x="392" y="960"/>
                    </a:lnTo>
                    <a:lnTo>
                      <a:pt x="452" y="1016"/>
                    </a:lnTo>
                    <a:lnTo>
                      <a:pt x="508" y="1068"/>
                    </a:lnTo>
                    <a:lnTo>
                      <a:pt x="567" y="1118"/>
                    </a:lnTo>
                    <a:lnTo>
                      <a:pt x="634" y="1168"/>
                    </a:lnTo>
                    <a:lnTo>
                      <a:pt x="679" y="1200"/>
                    </a:lnTo>
                    <a:lnTo>
                      <a:pt x="728" y="1228"/>
                    </a:lnTo>
                    <a:lnTo>
                      <a:pt x="782" y="1256"/>
                    </a:lnTo>
                    <a:lnTo>
                      <a:pt x="827" y="1282"/>
                    </a:lnTo>
                    <a:lnTo>
                      <a:pt x="855" y="1288"/>
                    </a:lnTo>
                    <a:lnTo>
                      <a:pt x="866" y="1270"/>
                    </a:lnTo>
                    <a:lnTo>
                      <a:pt x="863" y="1243"/>
                    </a:lnTo>
                    <a:lnTo>
                      <a:pt x="856" y="1213"/>
                    </a:lnTo>
                    <a:lnTo>
                      <a:pt x="845" y="1159"/>
                    </a:lnTo>
                    <a:lnTo>
                      <a:pt x="831" y="1089"/>
                    </a:lnTo>
                    <a:lnTo>
                      <a:pt x="813" y="1023"/>
                    </a:lnTo>
                    <a:lnTo>
                      <a:pt x="792" y="947"/>
                    </a:lnTo>
                    <a:lnTo>
                      <a:pt x="764" y="866"/>
                    </a:lnTo>
                    <a:lnTo>
                      <a:pt x="733" y="802"/>
                    </a:lnTo>
                    <a:lnTo>
                      <a:pt x="707" y="746"/>
                    </a:lnTo>
                    <a:lnTo>
                      <a:pt x="666" y="672"/>
                    </a:lnTo>
                    <a:lnTo>
                      <a:pt x="627" y="607"/>
                    </a:lnTo>
                    <a:lnTo>
                      <a:pt x="579" y="537"/>
                    </a:lnTo>
                    <a:lnTo>
                      <a:pt x="504" y="448"/>
                    </a:lnTo>
                    <a:lnTo>
                      <a:pt x="452" y="385"/>
                    </a:lnTo>
                    <a:lnTo>
                      <a:pt x="376" y="299"/>
                    </a:lnTo>
                    <a:lnTo>
                      <a:pt x="305" y="237"/>
                    </a:lnTo>
                    <a:lnTo>
                      <a:pt x="235" y="173"/>
                    </a:lnTo>
                    <a:lnTo>
                      <a:pt x="182" y="127"/>
                    </a:lnTo>
                    <a:lnTo>
                      <a:pt x="126" y="78"/>
                    </a:lnTo>
                    <a:lnTo>
                      <a:pt x="84" y="45"/>
                    </a:lnTo>
                    <a:lnTo>
                      <a:pt x="42" y="13"/>
                    </a:lnTo>
                    <a:lnTo>
                      <a:pt x="7" y="0"/>
                    </a:lnTo>
                    <a:close/>
                  </a:path>
                </a:pathLst>
              </a:custGeom>
              <a:solidFill>
                <a:srgbClr val="C0C0C0"/>
              </a:solidFill>
              <a:ln w="1588">
                <a:solidFill>
                  <a:srgbClr val="000000"/>
                </a:solidFill>
                <a:prstDash val="solid"/>
                <a:round/>
                <a:headEnd/>
                <a:tailEnd/>
              </a:ln>
            </p:spPr>
            <p:txBody>
              <a:bodyPr/>
              <a:lstStyle/>
              <a:p>
                <a:endParaRPr lang="zh-CN" altLang="en-US"/>
              </a:p>
            </p:txBody>
          </p:sp>
        </p:grpSp>
        <p:grpSp>
          <p:nvGrpSpPr>
            <p:cNvPr id="60505" name="Group 146"/>
            <p:cNvGrpSpPr>
              <a:grpSpLocks/>
            </p:cNvGrpSpPr>
            <p:nvPr/>
          </p:nvGrpSpPr>
          <p:grpSpPr bwMode="auto">
            <a:xfrm>
              <a:off x="2315" y="770"/>
              <a:ext cx="126" cy="121"/>
              <a:chOff x="2315" y="770"/>
              <a:chExt cx="126" cy="121"/>
            </a:xfrm>
          </p:grpSpPr>
          <p:sp>
            <p:nvSpPr>
              <p:cNvPr id="60512" name="Freeform 147"/>
              <p:cNvSpPr>
                <a:spLocks/>
              </p:cNvSpPr>
              <p:nvPr/>
            </p:nvSpPr>
            <p:spPr bwMode="auto">
              <a:xfrm>
                <a:off x="2315" y="770"/>
                <a:ext cx="121" cy="8"/>
              </a:xfrm>
              <a:custGeom>
                <a:avLst/>
                <a:gdLst>
                  <a:gd name="T0" fmla="*/ 0 w 851"/>
                  <a:gd name="T1" fmla="*/ 0 h 57"/>
                  <a:gd name="T2" fmla="*/ 0 w 851"/>
                  <a:gd name="T3" fmla="*/ 0 h 57"/>
                  <a:gd name="T4" fmla="*/ 0 w 851"/>
                  <a:gd name="T5" fmla="*/ 0 h 57"/>
                  <a:gd name="T6" fmla="*/ 0 w 851"/>
                  <a:gd name="T7" fmla="*/ 0 h 57"/>
                  <a:gd name="T8" fmla="*/ 0 w 851"/>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1" h="57">
                    <a:moveTo>
                      <a:pt x="0" y="0"/>
                    </a:moveTo>
                    <a:lnTo>
                      <a:pt x="851" y="32"/>
                    </a:lnTo>
                    <a:lnTo>
                      <a:pt x="844" y="57"/>
                    </a:lnTo>
                    <a:lnTo>
                      <a:pt x="3" y="26"/>
                    </a:lnTo>
                    <a:lnTo>
                      <a:pt x="0" y="0"/>
                    </a:lnTo>
                    <a:close/>
                  </a:path>
                </a:pathLst>
              </a:custGeom>
              <a:solidFill>
                <a:srgbClr val="DFDFFF"/>
              </a:solidFill>
              <a:ln w="1588">
                <a:solidFill>
                  <a:srgbClr val="000000"/>
                </a:solidFill>
                <a:prstDash val="solid"/>
                <a:round/>
                <a:headEnd/>
                <a:tailEnd/>
              </a:ln>
            </p:spPr>
            <p:txBody>
              <a:bodyPr/>
              <a:lstStyle/>
              <a:p>
                <a:endParaRPr lang="zh-CN" altLang="en-US"/>
              </a:p>
            </p:txBody>
          </p:sp>
          <p:sp>
            <p:nvSpPr>
              <p:cNvPr id="60513" name="Freeform 148"/>
              <p:cNvSpPr>
                <a:spLocks/>
              </p:cNvSpPr>
              <p:nvPr/>
            </p:nvSpPr>
            <p:spPr bwMode="auto">
              <a:xfrm>
                <a:off x="2398" y="794"/>
                <a:ext cx="43" cy="97"/>
              </a:xfrm>
              <a:custGeom>
                <a:avLst/>
                <a:gdLst>
                  <a:gd name="T0" fmla="*/ 0 w 302"/>
                  <a:gd name="T1" fmla="*/ 0 h 673"/>
                  <a:gd name="T2" fmla="*/ 0 w 302"/>
                  <a:gd name="T3" fmla="*/ 0 h 673"/>
                  <a:gd name="T4" fmla="*/ 0 w 302"/>
                  <a:gd name="T5" fmla="*/ 0 h 673"/>
                  <a:gd name="T6" fmla="*/ 0 w 302"/>
                  <a:gd name="T7" fmla="*/ 0 h 673"/>
                  <a:gd name="T8" fmla="*/ 0 w 302"/>
                  <a:gd name="T9" fmla="*/ 0 h 6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2" h="673">
                    <a:moveTo>
                      <a:pt x="267" y="13"/>
                    </a:moveTo>
                    <a:lnTo>
                      <a:pt x="0" y="657"/>
                    </a:lnTo>
                    <a:lnTo>
                      <a:pt x="25" y="673"/>
                    </a:lnTo>
                    <a:lnTo>
                      <a:pt x="302" y="0"/>
                    </a:lnTo>
                    <a:lnTo>
                      <a:pt x="267" y="13"/>
                    </a:lnTo>
                    <a:close/>
                  </a:path>
                </a:pathLst>
              </a:custGeom>
              <a:solidFill>
                <a:srgbClr val="DFDFFF"/>
              </a:solidFill>
              <a:ln w="1588">
                <a:solidFill>
                  <a:srgbClr val="000000"/>
                </a:solidFill>
                <a:prstDash val="solid"/>
                <a:round/>
                <a:headEnd/>
                <a:tailEnd/>
              </a:ln>
            </p:spPr>
            <p:txBody>
              <a:bodyPr/>
              <a:lstStyle/>
              <a:p>
                <a:endParaRPr lang="zh-CN" altLang="en-US"/>
              </a:p>
            </p:txBody>
          </p:sp>
        </p:grpSp>
        <p:grpSp>
          <p:nvGrpSpPr>
            <p:cNvPr id="60506" name="Group 149"/>
            <p:cNvGrpSpPr>
              <a:grpSpLocks/>
            </p:cNvGrpSpPr>
            <p:nvPr/>
          </p:nvGrpSpPr>
          <p:grpSpPr bwMode="auto">
            <a:xfrm>
              <a:off x="2413" y="772"/>
              <a:ext cx="51" cy="30"/>
              <a:chOff x="2413" y="772"/>
              <a:chExt cx="51" cy="30"/>
            </a:xfrm>
          </p:grpSpPr>
          <p:sp>
            <p:nvSpPr>
              <p:cNvPr id="60507" name="Freeform 150"/>
              <p:cNvSpPr>
                <a:spLocks/>
              </p:cNvSpPr>
              <p:nvPr/>
            </p:nvSpPr>
            <p:spPr bwMode="auto">
              <a:xfrm>
                <a:off x="2413" y="776"/>
                <a:ext cx="36" cy="26"/>
              </a:xfrm>
              <a:custGeom>
                <a:avLst/>
                <a:gdLst>
                  <a:gd name="T0" fmla="*/ 0 w 250"/>
                  <a:gd name="T1" fmla="*/ 0 h 184"/>
                  <a:gd name="T2" fmla="*/ 0 w 250"/>
                  <a:gd name="T3" fmla="*/ 0 h 184"/>
                  <a:gd name="T4" fmla="*/ 0 w 250"/>
                  <a:gd name="T5" fmla="*/ 0 h 184"/>
                  <a:gd name="T6" fmla="*/ 0 w 250"/>
                  <a:gd name="T7" fmla="*/ 0 h 184"/>
                  <a:gd name="T8" fmla="*/ 0 w 250"/>
                  <a:gd name="T9" fmla="*/ 0 h 184"/>
                  <a:gd name="T10" fmla="*/ 0 w 250"/>
                  <a:gd name="T11" fmla="*/ 0 h 184"/>
                  <a:gd name="T12" fmla="*/ 0 w 250"/>
                  <a:gd name="T13" fmla="*/ 0 h 184"/>
                  <a:gd name="T14" fmla="*/ 0 w 250"/>
                  <a:gd name="T15" fmla="*/ 0 h 184"/>
                  <a:gd name="T16" fmla="*/ 0 w 250"/>
                  <a:gd name="T17" fmla="*/ 0 h 184"/>
                  <a:gd name="T18" fmla="*/ 0 w 250"/>
                  <a:gd name="T19" fmla="*/ 0 h 184"/>
                  <a:gd name="T20" fmla="*/ 0 w 250"/>
                  <a:gd name="T21" fmla="*/ 0 h 184"/>
                  <a:gd name="T22" fmla="*/ 0 w 250"/>
                  <a:gd name="T23" fmla="*/ 0 h 184"/>
                  <a:gd name="T24" fmla="*/ 0 w 250"/>
                  <a:gd name="T25" fmla="*/ 0 h 184"/>
                  <a:gd name="T26" fmla="*/ 0 w 250"/>
                  <a:gd name="T27" fmla="*/ 0 h 184"/>
                  <a:gd name="T28" fmla="*/ 0 w 250"/>
                  <a:gd name="T29" fmla="*/ 0 h 18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0" h="184">
                    <a:moveTo>
                      <a:pt x="187" y="0"/>
                    </a:moveTo>
                    <a:lnTo>
                      <a:pt x="11" y="57"/>
                    </a:lnTo>
                    <a:lnTo>
                      <a:pt x="4" y="67"/>
                    </a:lnTo>
                    <a:lnTo>
                      <a:pt x="0" y="86"/>
                    </a:lnTo>
                    <a:lnTo>
                      <a:pt x="2" y="112"/>
                    </a:lnTo>
                    <a:lnTo>
                      <a:pt x="5" y="128"/>
                    </a:lnTo>
                    <a:lnTo>
                      <a:pt x="15" y="151"/>
                    </a:lnTo>
                    <a:lnTo>
                      <a:pt x="33" y="169"/>
                    </a:lnTo>
                    <a:lnTo>
                      <a:pt x="57" y="181"/>
                    </a:lnTo>
                    <a:lnTo>
                      <a:pt x="71" y="184"/>
                    </a:lnTo>
                    <a:lnTo>
                      <a:pt x="85" y="184"/>
                    </a:lnTo>
                    <a:lnTo>
                      <a:pt x="250" y="114"/>
                    </a:lnTo>
                    <a:lnTo>
                      <a:pt x="218" y="92"/>
                    </a:lnTo>
                    <a:lnTo>
                      <a:pt x="201" y="70"/>
                    </a:lnTo>
                    <a:lnTo>
                      <a:pt x="187" y="0"/>
                    </a:lnTo>
                    <a:close/>
                  </a:path>
                </a:pathLst>
              </a:custGeom>
              <a:solidFill>
                <a:srgbClr val="BFBFDF"/>
              </a:solidFill>
              <a:ln w="1588">
                <a:solidFill>
                  <a:srgbClr val="000000"/>
                </a:solidFill>
                <a:prstDash val="solid"/>
                <a:round/>
                <a:headEnd/>
                <a:tailEnd/>
              </a:ln>
            </p:spPr>
            <p:txBody>
              <a:bodyPr/>
              <a:lstStyle/>
              <a:p>
                <a:endParaRPr lang="zh-CN" altLang="en-US"/>
              </a:p>
            </p:txBody>
          </p:sp>
          <p:sp>
            <p:nvSpPr>
              <p:cNvPr id="60508" name="Freeform 151"/>
              <p:cNvSpPr>
                <a:spLocks/>
              </p:cNvSpPr>
              <p:nvPr/>
            </p:nvSpPr>
            <p:spPr bwMode="auto">
              <a:xfrm>
                <a:off x="2434" y="772"/>
                <a:ext cx="20" cy="25"/>
              </a:xfrm>
              <a:custGeom>
                <a:avLst/>
                <a:gdLst>
                  <a:gd name="T0" fmla="*/ 0 w 139"/>
                  <a:gd name="T1" fmla="*/ 0 h 173"/>
                  <a:gd name="T2" fmla="*/ 0 w 139"/>
                  <a:gd name="T3" fmla="*/ 0 h 173"/>
                  <a:gd name="T4" fmla="*/ 0 w 139"/>
                  <a:gd name="T5" fmla="*/ 0 h 173"/>
                  <a:gd name="T6" fmla="*/ 0 w 139"/>
                  <a:gd name="T7" fmla="*/ 0 h 173"/>
                  <a:gd name="T8" fmla="*/ 0 w 139"/>
                  <a:gd name="T9" fmla="*/ 0 h 173"/>
                  <a:gd name="T10" fmla="*/ 0 w 139"/>
                  <a:gd name="T11" fmla="*/ 0 h 173"/>
                  <a:gd name="T12" fmla="*/ 0 w 139"/>
                  <a:gd name="T13" fmla="*/ 0 h 173"/>
                  <a:gd name="T14" fmla="*/ 0 w 139"/>
                  <a:gd name="T15" fmla="*/ 0 h 173"/>
                  <a:gd name="T16" fmla="*/ 0 w 139"/>
                  <a:gd name="T17" fmla="*/ 0 h 173"/>
                  <a:gd name="T18" fmla="*/ 0 w 139"/>
                  <a:gd name="T19" fmla="*/ 0 h 173"/>
                  <a:gd name="T20" fmla="*/ 0 w 139"/>
                  <a:gd name="T21" fmla="*/ 0 h 173"/>
                  <a:gd name="T22" fmla="*/ 0 w 139"/>
                  <a:gd name="T23" fmla="*/ 0 h 173"/>
                  <a:gd name="T24" fmla="*/ 0 w 139"/>
                  <a:gd name="T25" fmla="*/ 0 h 173"/>
                  <a:gd name="T26" fmla="*/ 0 w 139"/>
                  <a:gd name="T27" fmla="*/ 0 h 173"/>
                  <a:gd name="T28" fmla="*/ 0 w 139"/>
                  <a:gd name="T29" fmla="*/ 0 h 173"/>
                  <a:gd name="T30" fmla="*/ 0 w 139"/>
                  <a:gd name="T31" fmla="*/ 0 h 173"/>
                  <a:gd name="T32" fmla="*/ 0 w 139"/>
                  <a:gd name="T33" fmla="*/ 0 h 173"/>
                  <a:gd name="T34" fmla="*/ 0 w 139"/>
                  <a:gd name="T35" fmla="*/ 0 h 173"/>
                  <a:gd name="T36" fmla="*/ 0 w 139"/>
                  <a:gd name="T37" fmla="*/ 0 h 173"/>
                  <a:gd name="T38" fmla="*/ 0 w 139"/>
                  <a:gd name="T39" fmla="*/ 0 h 173"/>
                  <a:gd name="T40" fmla="*/ 0 w 139"/>
                  <a:gd name="T41" fmla="*/ 0 h 173"/>
                  <a:gd name="T42" fmla="*/ 0 w 139"/>
                  <a:gd name="T43" fmla="*/ 0 h 173"/>
                  <a:gd name="T44" fmla="*/ 0 w 139"/>
                  <a:gd name="T45" fmla="*/ 0 h 173"/>
                  <a:gd name="T46" fmla="*/ 0 w 139"/>
                  <a:gd name="T47" fmla="*/ 0 h 173"/>
                  <a:gd name="T48" fmla="*/ 0 w 139"/>
                  <a:gd name="T49" fmla="*/ 0 h 1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9" h="173">
                    <a:moveTo>
                      <a:pt x="81" y="25"/>
                    </a:moveTo>
                    <a:lnTo>
                      <a:pt x="74" y="15"/>
                    </a:lnTo>
                    <a:lnTo>
                      <a:pt x="60" y="5"/>
                    </a:lnTo>
                    <a:lnTo>
                      <a:pt x="36" y="0"/>
                    </a:lnTo>
                    <a:lnTo>
                      <a:pt x="22" y="2"/>
                    </a:lnTo>
                    <a:lnTo>
                      <a:pt x="13" y="12"/>
                    </a:lnTo>
                    <a:lnTo>
                      <a:pt x="4" y="25"/>
                    </a:lnTo>
                    <a:lnTo>
                      <a:pt x="0" y="46"/>
                    </a:lnTo>
                    <a:lnTo>
                      <a:pt x="1" y="58"/>
                    </a:lnTo>
                    <a:lnTo>
                      <a:pt x="3" y="74"/>
                    </a:lnTo>
                    <a:lnTo>
                      <a:pt x="9" y="97"/>
                    </a:lnTo>
                    <a:lnTo>
                      <a:pt x="20" y="116"/>
                    </a:lnTo>
                    <a:lnTo>
                      <a:pt x="31" y="133"/>
                    </a:lnTo>
                    <a:lnTo>
                      <a:pt x="44" y="147"/>
                    </a:lnTo>
                    <a:lnTo>
                      <a:pt x="58" y="160"/>
                    </a:lnTo>
                    <a:lnTo>
                      <a:pt x="76" y="167"/>
                    </a:lnTo>
                    <a:lnTo>
                      <a:pt x="97" y="173"/>
                    </a:lnTo>
                    <a:lnTo>
                      <a:pt x="114" y="173"/>
                    </a:lnTo>
                    <a:lnTo>
                      <a:pt x="130" y="164"/>
                    </a:lnTo>
                    <a:lnTo>
                      <a:pt x="137" y="151"/>
                    </a:lnTo>
                    <a:lnTo>
                      <a:pt x="139" y="132"/>
                    </a:lnTo>
                    <a:lnTo>
                      <a:pt x="134" y="111"/>
                    </a:lnTo>
                    <a:lnTo>
                      <a:pt x="123" y="82"/>
                    </a:lnTo>
                    <a:lnTo>
                      <a:pt x="99" y="46"/>
                    </a:lnTo>
                    <a:lnTo>
                      <a:pt x="81" y="2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60509" name="Freeform 152"/>
              <p:cNvSpPr>
                <a:spLocks/>
              </p:cNvSpPr>
              <p:nvPr/>
            </p:nvSpPr>
            <p:spPr bwMode="auto">
              <a:xfrm>
                <a:off x="2439" y="774"/>
                <a:ext cx="25" cy="17"/>
              </a:xfrm>
              <a:custGeom>
                <a:avLst/>
                <a:gdLst>
                  <a:gd name="T0" fmla="*/ 0 w 171"/>
                  <a:gd name="T1" fmla="*/ 0 h 123"/>
                  <a:gd name="T2" fmla="*/ 0 w 171"/>
                  <a:gd name="T3" fmla="*/ 0 h 123"/>
                  <a:gd name="T4" fmla="*/ 0 w 171"/>
                  <a:gd name="T5" fmla="*/ 0 h 123"/>
                  <a:gd name="T6" fmla="*/ 0 w 171"/>
                  <a:gd name="T7" fmla="*/ 0 h 123"/>
                  <a:gd name="T8" fmla="*/ 0 w 171"/>
                  <a:gd name="T9" fmla="*/ 0 h 123"/>
                  <a:gd name="T10" fmla="*/ 0 w 171"/>
                  <a:gd name="T11" fmla="*/ 0 h 123"/>
                  <a:gd name="T12" fmla="*/ 0 w 171"/>
                  <a:gd name="T13" fmla="*/ 0 h 123"/>
                  <a:gd name="T14" fmla="*/ 0 w 171"/>
                  <a:gd name="T15" fmla="*/ 0 h 123"/>
                  <a:gd name="T16" fmla="*/ 0 w 171"/>
                  <a:gd name="T17" fmla="*/ 0 h 123"/>
                  <a:gd name="T18" fmla="*/ 0 w 171"/>
                  <a:gd name="T19" fmla="*/ 0 h 123"/>
                  <a:gd name="T20" fmla="*/ 0 w 171"/>
                  <a:gd name="T21" fmla="*/ 0 h 123"/>
                  <a:gd name="T22" fmla="*/ 0 w 171"/>
                  <a:gd name="T23" fmla="*/ 0 h 123"/>
                  <a:gd name="T24" fmla="*/ 0 w 171"/>
                  <a:gd name="T25" fmla="*/ 0 h 123"/>
                  <a:gd name="T26" fmla="*/ 0 w 171"/>
                  <a:gd name="T27" fmla="*/ 0 h 123"/>
                  <a:gd name="T28" fmla="*/ 0 w 171"/>
                  <a:gd name="T29" fmla="*/ 0 h 123"/>
                  <a:gd name="T30" fmla="*/ 0 w 171"/>
                  <a:gd name="T31" fmla="*/ 0 h 1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1" h="123">
                    <a:moveTo>
                      <a:pt x="13" y="27"/>
                    </a:moveTo>
                    <a:lnTo>
                      <a:pt x="120" y="3"/>
                    </a:lnTo>
                    <a:lnTo>
                      <a:pt x="146" y="0"/>
                    </a:lnTo>
                    <a:lnTo>
                      <a:pt x="164" y="3"/>
                    </a:lnTo>
                    <a:lnTo>
                      <a:pt x="169" y="9"/>
                    </a:lnTo>
                    <a:lnTo>
                      <a:pt x="171" y="22"/>
                    </a:lnTo>
                    <a:lnTo>
                      <a:pt x="164" y="41"/>
                    </a:lnTo>
                    <a:lnTo>
                      <a:pt x="64" y="123"/>
                    </a:lnTo>
                    <a:lnTo>
                      <a:pt x="50" y="122"/>
                    </a:lnTo>
                    <a:lnTo>
                      <a:pt x="34" y="116"/>
                    </a:lnTo>
                    <a:lnTo>
                      <a:pt x="22" y="106"/>
                    </a:lnTo>
                    <a:lnTo>
                      <a:pt x="8" y="90"/>
                    </a:lnTo>
                    <a:lnTo>
                      <a:pt x="1" y="74"/>
                    </a:lnTo>
                    <a:lnTo>
                      <a:pt x="0" y="56"/>
                    </a:lnTo>
                    <a:lnTo>
                      <a:pt x="5" y="40"/>
                    </a:lnTo>
                    <a:lnTo>
                      <a:pt x="13" y="27"/>
                    </a:lnTo>
                    <a:close/>
                  </a:path>
                </a:pathLst>
              </a:custGeom>
              <a:solidFill>
                <a:srgbClr val="9F9FBF"/>
              </a:solidFill>
              <a:ln w="1588">
                <a:solidFill>
                  <a:srgbClr val="000000"/>
                </a:solidFill>
                <a:prstDash val="solid"/>
                <a:round/>
                <a:headEnd/>
                <a:tailEnd/>
              </a:ln>
            </p:spPr>
            <p:txBody>
              <a:bodyPr/>
              <a:lstStyle/>
              <a:p>
                <a:endParaRPr lang="zh-CN" altLang="en-US"/>
              </a:p>
            </p:txBody>
          </p:sp>
          <p:sp>
            <p:nvSpPr>
              <p:cNvPr id="60510" name="Freeform 153"/>
              <p:cNvSpPr>
                <a:spLocks/>
              </p:cNvSpPr>
              <p:nvPr/>
            </p:nvSpPr>
            <p:spPr bwMode="auto">
              <a:xfrm>
                <a:off x="2421" y="782"/>
                <a:ext cx="10" cy="18"/>
              </a:xfrm>
              <a:custGeom>
                <a:avLst/>
                <a:gdLst>
                  <a:gd name="T0" fmla="*/ 0 w 73"/>
                  <a:gd name="T1" fmla="*/ 0 h 124"/>
                  <a:gd name="T2" fmla="*/ 0 w 73"/>
                  <a:gd name="T3" fmla="*/ 0 h 124"/>
                  <a:gd name="T4" fmla="*/ 0 w 73"/>
                  <a:gd name="T5" fmla="*/ 0 h 124"/>
                  <a:gd name="T6" fmla="*/ 0 w 73"/>
                  <a:gd name="T7" fmla="*/ 0 h 124"/>
                  <a:gd name="T8" fmla="*/ 0 w 73"/>
                  <a:gd name="T9" fmla="*/ 0 h 124"/>
                  <a:gd name="T10" fmla="*/ 0 w 73"/>
                  <a:gd name="T11" fmla="*/ 0 h 124"/>
                  <a:gd name="T12" fmla="*/ 0 w 73"/>
                  <a:gd name="T13" fmla="*/ 0 h 124"/>
                  <a:gd name="T14" fmla="*/ 0 w 73"/>
                  <a:gd name="T15" fmla="*/ 0 h 124"/>
                  <a:gd name="T16" fmla="*/ 0 w 73"/>
                  <a:gd name="T17" fmla="*/ 0 h 124"/>
                  <a:gd name="T18" fmla="*/ 0 w 73"/>
                  <a:gd name="T19" fmla="*/ 0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3" h="124">
                    <a:moveTo>
                      <a:pt x="4" y="0"/>
                    </a:moveTo>
                    <a:lnTo>
                      <a:pt x="0" y="20"/>
                    </a:lnTo>
                    <a:lnTo>
                      <a:pt x="0" y="37"/>
                    </a:lnTo>
                    <a:lnTo>
                      <a:pt x="5" y="60"/>
                    </a:lnTo>
                    <a:lnTo>
                      <a:pt x="11" y="78"/>
                    </a:lnTo>
                    <a:lnTo>
                      <a:pt x="26" y="96"/>
                    </a:lnTo>
                    <a:lnTo>
                      <a:pt x="40" y="108"/>
                    </a:lnTo>
                    <a:lnTo>
                      <a:pt x="51" y="114"/>
                    </a:lnTo>
                    <a:lnTo>
                      <a:pt x="61" y="118"/>
                    </a:lnTo>
                    <a:lnTo>
                      <a:pt x="73" y="12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511" name="Freeform 154"/>
              <p:cNvSpPr>
                <a:spLocks/>
              </p:cNvSpPr>
              <p:nvPr/>
            </p:nvSpPr>
            <p:spPr bwMode="auto">
              <a:xfrm>
                <a:off x="2427" y="780"/>
                <a:ext cx="11" cy="18"/>
              </a:xfrm>
              <a:custGeom>
                <a:avLst/>
                <a:gdLst>
                  <a:gd name="T0" fmla="*/ 0 w 74"/>
                  <a:gd name="T1" fmla="*/ 0 h 124"/>
                  <a:gd name="T2" fmla="*/ 0 w 74"/>
                  <a:gd name="T3" fmla="*/ 0 h 124"/>
                  <a:gd name="T4" fmla="*/ 0 w 74"/>
                  <a:gd name="T5" fmla="*/ 0 h 124"/>
                  <a:gd name="T6" fmla="*/ 0 w 74"/>
                  <a:gd name="T7" fmla="*/ 0 h 124"/>
                  <a:gd name="T8" fmla="*/ 0 w 74"/>
                  <a:gd name="T9" fmla="*/ 0 h 124"/>
                  <a:gd name="T10" fmla="*/ 0 w 74"/>
                  <a:gd name="T11" fmla="*/ 0 h 124"/>
                  <a:gd name="T12" fmla="*/ 0 w 74"/>
                  <a:gd name="T13" fmla="*/ 0 h 124"/>
                  <a:gd name="T14" fmla="*/ 0 w 74"/>
                  <a:gd name="T15" fmla="*/ 0 h 124"/>
                  <a:gd name="T16" fmla="*/ 0 w 74"/>
                  <a:gd name="T17" fmla="*/ 0 h 124"/>
                  <a:gd name="T18" fmla="*/ 0 w 74"/>
                  <a:gd name="T19" fmla="*/ 0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4" h="124">
                    <a:moveTo>
                      <a:pt x="5" y="0"/>
                    </a:moveTo>
                    <a:lnTo>
                      <a:pt x="0" y="20"/>
                    </a:lnTo>
                    <a:lnTo>
                      <a:pt x="0" y="38"/>
                    </a:lnTo>
                    <a:lnTo>
                      <a:pt x="6" y="60"/>
                    </a:lnTo>
                    <a:lnTo>
                      <a:pt x="12" y="79"/>
                    </a:lnTo>
                    <a:lnTo>
                      <a:pt x="27" y="95"/>
                    </a:lnTo>
                    <a:lnTo>
                      <a:pt x="41" y="108"/>
                    </a:lnTo>
                    <a:lnTo>
                      <a:pt x="51" y="114"/>
                    </a:lnTo>
                    <a:lnTo>
                      <a:pt x="62" y="119"/>
                    </a:lnTo>
                    <a:lnTo>
                      <a:pt x="74" y="12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539750" y="476250"/>
            <a:ext cx="8404225" cy="839788"/>
          </a:xfrm>
        </p:spPr>
        <p:txBody>
          <a:bodyPr/>
          <a:lstStyle/>
          <a:p>
            <a:pPr algn="ctr" eaLnBrk="1" hangingPunct="1"/>
            <a:r>
              <a:rPr lang="en-US" altLang="zh-CN" sz="4000" smtClean="0"/>
              <a:t>(4) </a:t>
            </a:r>
            <a:r>
              <a:rPr lang="zh-CN" altLang="en-US" sz="4000" smtClean="0"/>
              <a:t>每个家庭要安装一个用户接口盒 </a:t>
            </a:r>
          </a:p>
        </p:txBody>
      </p:sp>
      <p:sp>
        <p:nvSpPr>
          <p:cNvPr id="61443" name="Rectangle 3"/>
          <p:cNvSpPr>
            <a:spLocks noGrp="1" noChangeArrowheads="1"/>
          </p:cNvSpPr>
          <p:nvPr>
            <p:ph type="body" idx="1"/>
          </p:nvPr>
        </p:nvSpPr>
        <p:spPr>
          <a:xfrm>
            <a:off x="1042988" y="1978025"/>
            <a:ext cx="7772400" cy="4114800"/>
          </a:xfrm>
        </p:spPr>
        <p:txBody>
          <a:bodyPr/>
          <a:lstStyle/>
          <a:p>
            <a:pPr eaLnBrk="1" hangingPunct="1"/>
            <a:r>
              <a:rPr lang="zh-CN" altLang="en-US" smtClean="0">
                <a:solidFill>
                  <a:schemeClr val="hlink"/>
                </a:solidFill>
              </a:rPr>
              <a:t>用户接口盒</a:t>
            </a:r>
            <a:r>
              <a:rPr lang="zh-CN" altLang="en-US" smtClean="0"/>
              <a:t> </a:t>
            </a:r>
            <a:r>
              <a:rPr lang="en-US" altLang="zh-CN" smtClean="0"/>
              <a:t>UIB (User Interface Box)</a:t>
            </a:r>
            <a:r>
              <a:rPr lang="zh-CN" altLang="en-US" smtClean="0"/>
              <a:t>要提供三种连接，即：</a:t>
            </a:r>
          </a:p>
          <a:p>
            <a:pPr lvl="1" eaLnBrk="1" hangingPunct="1"/>
            <a:r>
              <a:rPr lang="zh-CN" altLang="en-US" smtClean="0">
                <a:solidFill>
                  <a:srgbClr val="333399"/>
                </a:solidFill>
                <a:latin typeface="Arial" pitchFamily="34" charset="0"/>
                <a:ea typeface="黑体" pitchFamily="49" charset="-122"/>
              </a:rPr>
              <a:t>使用同轴电缆连接到</a:t>
            </a:r>
            <a:r>
              <a:rPr lang="zh-CN" altLang="en-US" smtClean="0">
                <a:solidFill>
                  <a:schemeClr val="hlink"/>
                </a:solidFill>
                <a:latin typeface="Arial" pitchFamily="34" charset="0"/>
                <a:ea typeface="黑体" pitchFamily="49" charset="-122"/>
              </a:rPr>
              <a:t>机顶盒</a:t>
            </a:r>
            <a:r>
              <a:rPr lang="en-US" altLang="zh-CN" smtClean="0">
                <a:solidFill>
                  <a:srgbClr val="333399"/>
                </a:solidFill>
                <a:latin typeface="Arial" pitchFamily="34" charset="0"/>
                <a:ea typeface="黑体" pitchFamily="49" charset="-122"/>
              </a:rPr>
              <a:t>(set-top box)</a:t>
            </a:r>
            <a:r>
              <a:rPr lang="zh-CN" altLang="en-US" smtClean="0">
                <a:solidFill>
                  <a:srgbClr val="333399"/>
                </a:solidFill>
                <a:latin typeface="Arial" pitchFamily="34" charset="0"/>
                <a:ea typeface="黑体" pitchFamily="49" charset="-122"/>
              </a:rPr>
              <a:t>，然后再连接到用户的电视机。</a:t>
            </a:r>
          </a:p>
          <a:p>
            <a:pPr lvl="1" eaLnBrk="1" hangingPunct="1"/>
            <a:r>
              <a:rPr lang="zh-CN" altLang="en-US" smtClean="0">
                <a:solidFill>
                  <a:srgbClr val="333399"/>
                </a:solidFill>
                <a:latin typeface="Arial" pitchFamily="34" charset="0"/>
                <a:ea typeface="黑体" pitchFamily="49" charset="-122"/>
              </a:rPr>
              <a:t>使用双绞线连接到用户的电话机。</a:t>
            </a:r>
          </a:p>
          <a:p>
            <a:pPr lvl="1" eaLnBrk="1" hangingPunct="1"/>
            <a:r>
              <a:rPr lang="zh-CN" altLang="en-US" smtClean="0">
                <a:solidFill>
                  <a:srgbClr val="333399"/>
                </a:solidFill>
                <a:latin typeface="Arial" pitchFamily="34" charset="0"/>
                <a:ea typeface="黑体" pitchFamily="49" charset="-122"/>
              </a:rPr>
              <a:t>使用电缆调制解调器连接到用户的计算机。</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150938" y="214313"/>
            <a:ext cx="7021512" cy="1462087"/>
          </a:xfrm>
        </p:spPr>
        <p:txBody>
          <a:bodyPr/>
          <a:lstStyle/>
          <a:p>
            <a:pPr algn="ctr" eaLnBrk="1" hangingPunct="1"/>
            <a:r>
              <a:rPr lang="en-US" altLang="zh-CN" smtClean="0"/>
              <a:t>2.6.3  FTTx </a:t>
            </a:r>
            <a:r>
              <a:rPr lang="zh-CN" altLang="en-US" smtClean="0"/>
              <a:t>技术 </a:t>
            </a:r>
          </a:p>
        </p:txBody>
      </p:sp>
      <p:sp>
        <p:nvSpPr>
          <p:cNvPr id="302083" name="Rectangle 3"/>
          <p:cNvSpPr>
            <a:spLocks noGrp="1" noChangeArrowheads="1"/>
          </p:cNvSpPr>
          <p:nvPr>
            <p:ph type="body" idx="1"/>
          </p:nvPr>
        </p:nvSpPr>
        <p:spPr>
          <a:xfrm>
            <a:off x="539750" y="1989138"/>
            <a:ext cx="8275638" cy="4464050"/>
          </a:xfrm>
        </p:spPr>
        <p:txBody>
          <a:bodyPr/>
          <a:lstStyle/>
          <a:p>
            <a:pPr eaLnBrk="1" hangingPunct="1">
              <a:lnSpc>
                <a:spcPct val="90000"/>
              </a:lnSpc>
            </a:pPr>
            <a:r>
              <a:rPr lang="en-US" altLang="zh-CN" sz="2800" smtClean="0"/>
              <a:t>FTTx</a:t>
            </a:r>
            <a:r>
              <a:rPr lang="zh-CN" altLang="en-US" sz="2800" smtClean="0"/>
              <a:t>（光纤到</a:t>
            </a:r>
            <a:r>
              <a:rPr lang="en-US" altLang="zh-CN" sz="2800" smtClean="0"/>
              <a:t>……</a:t>
            </a:r>
            <a:r>
              <a:rPr lang="zh-CN" altLang="en-US" sz="2800" smtClean="0"/>
              <a:t>）也是一种实现宽带居民接入网的方案。这里字母 </a:t>
            </a:r>
            <a:r>
              <a:rPr lang="en-US" altLang="zh-CN" sz="2800" smtClean="0"/>
              <a:t>x </a:t>
            </a:r>
            <a:r>
              <a:rPr lang="zh-CN" altLang="en-US" sz="2800" smtClean="0"/>
              <a:t>可代表不同意思。</a:t>
            </a:r>
          </a:p>
          <a:p>
            <a:pPr eaLnBrk="1" hangingPunct="1">
              <a:lnSpc>
                <a:spcPct val="90000"/>
              </a:lnSpc>
            </a:pPr>
            <a:r>
              <a:rPr lang="zh-CN" altLang="en-US" sz="2800" smtClean="0">
                <a:solidFill>
                  <a:schemeClr val="hlink"/>
                </a:solidFill>
              </a:rPr>
              <a:t>光纤到户</a:t>
            </a:r>
            <a:r>
              <a:rPr lang="zh-CN" altLang="en-US" sz="2800" smtClean="0"/>
              <a:t> </a:t>
            </a:r>
            <a:r>
              <a:rPr lang="en-US" altLang="zh-CN" sz="2800" smtClean="0"/>
              <a:t>FTTH (Fiber To The Home)</a:t>
            </a:r>
            <a:r>
              <a:rPr lang="zh-CN" altLang="en-US" sz="2800" smtClean="0"/>
              <a:t>：光纤一直铺设到用户家庭可能是居民接入网最后的解决方法。</a:t>
            </a:r>
          </a:p>
          <a:p>
            <a:pPr eaLnBrk="1" hangingPunct="1">
              <a:lnSpc>
                <a:spcPct val="90000"/>
              </a:lnSpc>
            </a:pPr>
            <a:r>
              <a:rPr lang="zh-CN" altLang="en-US" sz="2800" smtClean="0">
                <a:solidFill>
                  <a:schemeClr val="hlink"/>
                </a:solidFill>
              </a:rPr>
              <a:t>光纤到大楼</a:t>
            </a:r>
            <a:r>
              <a:rPr lang="zh-CN" altLang="en-US" sz="2800" smtClean="0"/>
              <a:t> </a:t>
            </a:r>
            <a:r>
              <a:rPr lang="en-US" altLang="zh-CN" sz="2800" smtClean="0"/>
              <a:t>FTTB (Fiber To The Building)</a:t>
            </a:r>
            <a:r>
              <a:rPr lang="zh-CN" altLang="en-US" sz="2800" smtClean="0"/>
              <a:t>：光纤进入大楼后就转换为电信号，然后用电缆或双绞线分配到各用户。</a:t>
            </a:r>
          </a:p>
          <a:p>
            <a:pPr eaLnBrk="1" hangingPunct="1">
              <a:lnSpc>
                <a:spcPct val="90000"/>
              </a:lnSpc>
            </a:pPr>
            <a:r>
              <a:rPr lang="zh-CN" altLang="en-US" sz="2800" smtClean="0">
                <a:solidFill>
                  <a:schemeClr val="hlink"/>
                </a:solidFill>
              </a:rPr>
              <a:t>光纤到路边</a:t>
            </a:r>
            <a:r>
              <a:rPr lang="zh-CN" altLang="en-US" sz="2800" smtClean="0"/>
              <a:t> </a:t>
            </a:r>
            <a:r>
              <a:rPr lang="en-US" altLang="zh-CN" sz="2800" smtClean="0"/>
              <a:t>FTTC (Fiber To The Curb)</a:t>
            </a:r>
            <a:r>
              <a:rPr lang="zh-CN" altLang="en-US" sz="2800" smtClean="0"/>
              <a:t>：从路边到各用户可使用星形结构双绞线作为传输媒体。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20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20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02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smtClean="0"/>
              <a:t>多种方案的区别</a:t>
            </a:r>
          </a:p>
        </p:txBody>
      </p:sp>
      <p:sp>
        <p:nvSpPr>
          <p:cNvPr id="63491" name="内容占位符 2"/>
          <p:cNvSpPr>
            <a:spLocks noGrp="1"/>
          </p:cNvSpPr>
          <p:nvPr>
            <p:ph idx="1"/>
          </p:nvPr>
        </p:nvSpPr>
        <p:spPr>
          <a:xfrm>
            <a:off x="1042988" y="1773238"/>
            <a:ext cx="7345362" cy="1295400"/>
          </a:xfrm>
        </p:spPr>
        <p:txBody>
          <a:bodyPr/>
          <a:lstStyle/>
          <a:p>
            <a:r>
              <a:rPr lang="zh-CN" altLang="en-US" smtClean="0"/>
              <a:t>降低了光收发器的数量和光纤用量</a:t>
            </a:r>
            <a:endParaRPr lang="en-US" altLang="zh-CN" smtClean="0"/>
          </a:p>
          <a:p>
            <a:r>
              <a:rPr lang="zh-CN" altLang="en-US" smtClean="0"/>
              <a:t>利用已有的电缆网络和电子设备</a:t>
            </a:r>
          </a:p>
        </p:txBody>
      </p:sp>
      <p:pic>
        <p:nvPicPr>
          <p:cNvPr id="6349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738" y="3128963"/>
            <a:ext cx="8704262" cy="3313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5023</TotalTime>
  <Words>3717</Words>
  <Application>Microsoft Office PowerPoint</Application>
  <PresentationFormat>全屏显示(4:3)</PresentationFormat>
  <Paragraphs>748</Paragraphs>
  <Slides>60</Slides>
  <Notes>56</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60</vt:i4>
      </vt:variant>
    </vt:vector>
  </HeadingPairs>
  <TitlesOfParts>
    <vt:vector size="71" baseType="lpstr">
      <vt:lpstr>Arial Unicode MS</vt:lpstr>
      <vt:lpstr>黑体</vt:lpstr>
      <vt:lpstr>宋体</vt:lpstr>
      <vt:lpstr>Arial</vt:lpstr>
      <vt:lpstr>Symbol</vt:lpstr>
      <vt:lpstr>Tahoma</vt:lpstr>
      <vt:lpstr>Times New Roman</vt:lpstr>
      <vt:lpstr>Wingdings</vt:lpstr>
      <vt:lpstr>Blends</vt:lpstr>
      <vt:lpstr>公式</vt:lpstr>
      <vt:lpstr>VISIO</vt:lpstr>
      <vt:lpstr>计算机网络</vt:lpstr>
      <vt:lpstr>2.1  物理层的基本概念</vt:lpstr>
      <vt:lpstr>2.2  数据通信的基础知识 2.2.1 数据通信系统的模型 </vt:lpstr>
      <vt:lpstr>几个术语</vt:lpstr>
      <vt:lpstr> 2.2.2  有关信号的几个基本概念</vt:lpstr>
      <vt:lpstr>基带(baseband)信号和 带通(band pass)信号 </vt:lpstr>
      <vt:lpstr>几种最基本的调制方法 </vt:lpstr>
      <vt:lpstr>对基带数字信号的几种调制方法 </vt:lpstr>
      <vt:lpstr>2.2.3  信道的极限容量 </vt:lpstr>
      <vt:lpstr>数字信号通过实际的信道 </vt:lpstr>
      <vt:lpstr>信道能够通过的频率范围</vt:lpstr>
      <vt:lpstr>香农公式</vt:lpstr>
      <vt:lpstr>香农公式表明 </vt:lpstr>
      <vt:lpstr>请注意 </vt:lpstr>
      <vt:lpstr>2.3 物理层下面的传输媒体</vt:lpstr>
      <vt:lpstr>2.3.1 导向传输媒体</vt:lpstr>
      <vt:lpstr>各种电缆</vt:lpstr>
      <vt:lpstr>光线在光纤中的折射 </vt:lpstr>
      <vt:lpstr>光纤的工作原理</vt:lpstr>
      <vt:lpstr>2.3.2 非导向传输媒体 </vt:lpstr>
      <vt:lpstr>2.4  信道复用技术 2.4.1  频分复用、时分复用和统计时分复用 </vt:lpstr>
      <vt:lpstr>频分复用 FDM (Frequency Division Multiplexing) </vt:lpstr>
      <vt:lpstr>时分复用TDM (Time Division Multiplexing) </vt:lpstr>
      <vt:lpstr>时分复用 </vt:lpstr>
      <vt:lpstr>时分复用 </vt:lpstr>
      <vt:lpstr>时分复用 </vt:lpstr>
      <vt:lpstr>时分复用 </vt:lpstr>
      <vt:lpstr>时分复用可能会造成 线路资源的浪费 </vt:lpstr>
      <vt:lpstr>统计时分复用 STDM (Statistic TDM)  49</vt:lpstr>
      <vt:lpstr>2.4.2   波分复用 WDM (Wavelength Division Multiplexing)  </vt:lpstr>
      <vt:lpstr>2.4.3   码分复用 CDM (Code Division Multiplexing)  </vt:lpstr>
      <vt:lpstr>码片序列(chip sequence) </vt:lpstr>
      <vt:lpstr>码片序列的正交关系 </vt:lpstr>
      <vt:lpstr>码片序列的正交关系举例 </vt:lpstr>
      <vt:lpstr>正交关系的另一个重要特性 </vt:lpstr>
      <vt:lpstr>CDMA 的工作原理 </vt:lpstr>
      <vt:lpstr>2.5  数字传输系统 1.  脉码调制 PCM 体制 </vt:lpstr>
      <vt:lpstr>PowerPoint 演示文稿</vt:lpstr>
      <vt:lpstr>PCM帧结构</vt:lpstr>
      <vt:lpstr>2. 同步光纤网 SONET 和 同步数字系列 SDH </vt:lpstr>
      <vt:lpstr>时钟频率同步：要求网内的所有交换机都具有相同的发送时钟频率和接收时钟频率。     失步时产生的后果： </vt:lpstr>
      <vt:lpstr>同步光纤网 SONET</vt:lpstr>
      <vt:lpstr> 同步数字系列 SDH </vt:lpstr>
      <vt:lpstr>PowerPoint 演示文稿</vt:lpstr>
      <vt:lpstr>PowerPoint 演示文稿</vt:lpstr>
      <vt:lpstr>2.6  宽带接入技术 2.6.1  xDSL技术</vt:lpstr>
      <vt:lpstr>xDSL 的几种类型 </vt:lpstr>
      <vt:lpstr>ADSL 的极限传输距离</vt:lpstr>
      <vt:lpstr>ADSL 的特点</vt:lpstr>
      <vt:lpstr>DMT 技术（Discrete Muti-tone)</vt:lpstr>
      <vt:lpstr>DMT 技术的频谱分布 </vt:lpstr>
      <vt:lpstr>ADSL 的数据率</vt:lpstr>
      <vt:lpstr>ADSL 的组成 </vt:lpstr>
      <vt:lpstr>第二代 ADSL   ADSL2（G.992.3 和 G.992.4） ADSL2+（G.992.5）</vt:lpstr>
      <vt:lpstr>2.6.2  光纤同轴混合网 HFC (Hybrid Fiber Coax)</vt:lpstr>
      <vt:lpstr>HFC 的主要特点 </vt:lpstr>
      <vt:lpstr>(2) HFC 网采用结点体系结构 </vt:lpstr>
      <vt:lpstr>(4) 每个家庭要安装一个用户接口盒 </vt:lpstr>
      <vt:lpstr>2.6.3  FTTx 技术 </vt:lpstr>
      <vt:lpstr>多种方案的区别</vt:lpstr>
    </vt:vector>
  </TitlesOfParts>
  <Company>NICE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XXR</dc:creator>
  <cp:lastModifiedBy>Administrator</cp:lastModifiedBy>
  <cp:revision>325</cp:revision>
  <dcterms:created xsi:type="dcterms:W3CDTF">2004-03-02T12:35:10Z</dcterms:created>
  <dcterms:modified xsi:type="dcterms:W3CDTF">2023-11-21T11:02:25Z</dcterms:modified>
</cp:coreProperties>
</file>