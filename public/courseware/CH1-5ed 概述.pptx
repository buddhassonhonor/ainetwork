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2"/>
  </p:notesMasterIdLst>
  <p:sldIdLst>
    <p:sldId id="429" r:id="rId2"/>
    <p:sldId id="423" r:id="rId3"/>
    <p:sldId id="425" r:id="rId4"/>
    <p:sldId id="427" r:id="rId5"/>
    <p:sldId id="379" r:id="rId6"/>
    <p:sldId id="385" r:id="rId7"/>
    <p:sldId id="386" r:id="rId8"/>
    <p:sldId id="384" r:id="rId9"/>
    <p:sldId id="387" r:id="rId10"/>
    <p:sldId id="389" r:id="rId11"/>
    <p:sldId id="394" r:id="rId12"/>
    <p:sldId id="395" r:id="rId13"/>
    <p:sldId id="396" r:id="rId14"/>
    <p:sldId id="397" r:id="rId15"/>
    <p:sldId id="403" r:id="rId16"/>
    <p:sldId id="434" r:id="rId17"/>
    <p:sldId id="402" r:id="rId18"/>
    <p:sldId id="400" r:id="rId19"/>
    <p:sldId id="401" r:id="rId20"/>
    <p:sldId id="404" r:id="rId21"/>
    <p:sldId id="406" r:id="rId22"/>
    <p:sldId id="405" r:id="rId23"/>
    <p:sldId id="407" r:id="rId24"/>
    <p:sldId id="264" r:id="rId25"/>
    <p:sldId id="265" r:id="rId26"/>
    <p:sldId id="266" r:id="rId27"/>
    <p:sldId id="269" r:id="rId28"/>
    <p:sldId id="270" r:id="rId29"/>
    <p:sldId id="271" r:id="rId30"/>
    <p:sldId id="273" r:id="rId31"/>
    <p:sldId id="274" r:id="rId32"/>
    <p:sldId id="276" r:id="rId33"/>
    <p:sldId id="277" r:id="rId34"/>
    <p:sldId id="278" r:id="rId35"/>
    <p:sldId id="279" r:id="rId36"/>
    <p:sldId id="430" r:id="rId37"/>
    <p:sldId id="411" r:id="rId38"/>
    <p:sldId id="412" r:id="rId39"/>
    <p:sldId id="413" r:id="rId40"/>
    <p:sldId id="280" r:id="rId41"/>
    <p:sldId id="284" r:id="rId42"/>
    <p:sldId id="282" r:id="rId43"/>
    <p:sldId id="294" r:id="rId44"/>
    <p:sldId id="296" r:id="rId45"/>
    <p:sldId id="370" r:id="rId46"/>
    <p:sldId id="298" r:id="rId47"/>
    <p:sldId id="415" r:id="rId48"/>
    <p:sldId id="299" r:id="rId49"/>
    <p:sldId id="300" r:id="rId50"/>
    <p:sldId id="301" r:id="rId51"/>
    <p:sldId id="302" r:id="rId52"/>
    <p:sldId id="303" r:id="rId53"/>
    <p:sldId id="304" r:id="rId54"/>
    <p:sldId id="305" r:id="rId55"/>
    <p:sldId id="371" r:id="rId56"/>
    <p:sldId id="306" r:id="rId57"/>
    <p:sldId id="417" r:id="rId58"/>
    <p:sldId id="418" r:id="rId59"/>
    <p:sldId id="420" r:id="rId60"/>
    <p:sldId id="310" r:id="rId61"/>
    <p:sldId id="374" r:id="rId62"/>
    <p:sldId id="375" r:id="rId63"/>
    <p:sldId id="312"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5" r:id="rId85"/>
    <p:sldId id="346" r:id="rId86"/>
    <p:sldId id="372" r:id="rId87"/>
    <p:sldId id="428" r:id="rId88"/>
    <p:sldId id="431" r:id="rId89"/>
    <p:sldId id="432" r:id="rId90"/>
    <p:sldId id="433" r:id="rId9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a:srgbClr val="CCECFF"/>
    <a:srgbClr val="FFFFCC"/>
    <a:srgbClr val="000066"/>
    <a:srgbClr val="FFCCCC"/>
    <a:srgbClr val="99CCFF"/>
    <a:srgbClr val="CC0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27" autoAdjust="0"/>
    <p:restoredTop sz="88696" autoAdjust="0"/>
  </p:normalViewPr>
  <p:slideViewPr>
    <p:cSldViewPr>
      <p:cViewPr varScale="1">
        <p:scale>
          <a:sx n="89" d="100"/>
          <a:sy n="89" d="100"/>
        </p:scale>
        <p:origin x="-1404" y="-10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Lst>
  </p:outlineViewPr>
  <p:notesTextViewPr>
    <p:cViewPr>
      <p:scale>
        <a:sx n="100" d="100"/>
        <a:sy n="100" d="100"/>
      </p:scale>
      <p:origin x="0" y="0"/>
    </p:cViewPr>
  </p:notesTextViewPr>
  <p:sorterViewPr>
    <p:cViewPr>
      <p:scale>
        <a:sx n="66" d="100"/>
        <a:sy n="66" d="100"/>
      </p:scale>
      <p:origin x="0" y="1355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13" Type="http://schemas.openxmlformats.org/officeDocument/2006/relationships/slide" Target="slides/slide19.xml"/><Relationship Id="rId18" Type="http://schemas.openxmlformats.org/officeDocument/2006/relationships/slide" Target="slides/slide25.xml"/><Relationship Id="rId26" Type="http://schemas.openxmlformats.org/officeDocument/2006/relationships/slide" Target="slides/slide33.xml"/><Relationship Id="rId39" Type="http://schemas.openxmlformats.org/officeDocument/2006/relationships/slide" Target="slides/slide50.xml"/><Relationship Id="rId21" Type="http://schemas.openxmlformats.org/officeDocument/2006/relationships/slide" Target="slides/slide28.xml"/><Relationship Id="rId34" Type="http://schemas.openxmlformats.org/officeDocument/2006/relationships/slide" Target="slides/slide45.xml"/><Relationship Id="rId42" Type="http://schemas.openxmlformats.org/officeDocument/2006/relationships/slide" Target="slides/slide53.xml"/><Relationship Id="rId47" Type="http://schemas.openxmlformats.org/officeDocument/2006/relationships/slide" Target="slides/slide60.xml"/><Relationship Id="rId50" Type="http://schemas.openxmlformats.org/officeDocument/2006/relationships/slide" Target="slides/slide63.xml"/><Relationship Id="rId55" Type="http://schemas.openxmlformats.org/officeDocument/2006/relationships/slide" Target="slides/slide87.xml"/><Relationship Id="rId7" Type="http://schemas.openxmlformats.org/officeDocument/2006/relationships/slide" Target="slides/slide10.xml"/><Relationship Id="rId12" Type="http://schemas.openxmlformats.org/officeDocument/2006/relationships/slide" Target="slides/slide18.xml"/><Relationship Id="rId17" Type="http://schemas.openxmlformats.org/officeDocument/2006/relationships/slide" Target="slides/slide24.xml"/><Relationship Id="rId25" Type="http://schemas.openxmlformats.org/officeDocument/2006/relationships/slide" Target="slides/slide32.xml"/><Relationship Id="rId33" Type="http://schemas.openxmlformats.org/officeDocument/2006/relationships/slide" Target="slides/slide44.xml"/><Relationship Id="rId38" Type="http://schemas.openxmlformats.org/officeDocument/2006/relationships/slide" Target="slides/slide49.xml"/><Relationship Id="rId46" Type="http://schemas.openxmlformats.org/officeDocument/2006/relationships/slide" Target="slides/slide58.xml"/><Relationship Id="rId2" Type="http://schemas.openxmlformats.org/officeDocument/2006/relationships/slide" Target="slides/slide2.xml"/><Relationship Id="rId16" Type="http://schemas.openxmlformats.org/officeDocument/2006/relationships/slide" Target="slides/slide23.xml"/><Relationship Id="rId20" Type="http://schemas.openxmlformats.org/officeDocument/2006/relationships/slide" Target="slides/slide27.xml"/><Relationship Id="rId29" Type="http://schemas.openxmlformats.org/officeDocument/2006/relationships/slide" Target="slides/slide36.xml"/><Relationship Id="rId41" Type="http://schemas.openxmlformats.org/officeDocument/2006/relationships/slide" Target="slides/slide52.xml"/><Relationship Id="rId54" Type="http://schemas.openxmlformats.org/officeDocument/2006/relationships/slide" Target="slides/slide85.xml"/><Relationship Id="rId1" Type="http://schemas.openxmlformats.org/officeDocument/2006/relationships/slide" Target="slides/slide1.xml"/><Relationship Id="rId6" Type="http://schemas.openxmlformats.org/officeDocument/2006/relationships/slide" Target="slides/slide8.xml"/><Relationship Id="rId11" Type="http://schemas.openxmlformats.org/officeDocument/2006/relationships/slide" Target="slides/slide17.xml"/><Relationship Id="rId24" Type="http://schemas.openxmlformats.org/officeDocument/2006/relationships/slide" Target="slides/slide31.xml"/><Relationship Id="rId32" Type="http://schemas.openxmlformats.org/officeDocument/2006/relationships/slide" Target="slides/slide43.xml"/><Relationship Id="rId37" Type="http://schemas.openxmlformats.org/officeDocument/2006/relationships/slide" Target="slides/slide48.xml"/><Relationship Id="rId40" Type="http://schemas.openxmlformats.org/officeDocument/2006/relationships/slide" Target="slides/slide51.xml"/><Relationship Id="rId45" Type="http://schemas.openxmlformats.org/officeDocument/2006/relationships/slide" Target="slides/slide57.xml"/><Relationship Id="rId53" Type="http://schemas.openxmlformats.org/officeDocument/2006/relationships/slide" Target="slides/slide84.xml"/><Relationship Id="rId5" Type="http://schemas.openxmlformats.org/officeDocument/2006/relationships/slide" Target="slides/slide5.xml"/><Relationship Id="rId15" Type="http://schemas.openxmlformats.org/officeDocument/2006/relationships/slide" Target="slides/slide21.xml"/><Relationship Id="rId23" Type="http://schemas.openxmlformats.org/officeDocument/2006/relationships/slide" Target="slides/slide30.xml"/><Relationship Id="rId28" Type="http://schemas.openxmlformats.org/officeDocument/2006/relationships/slide" Target="slides/slide35.xml"/><Relationship Id="rId36" Type="http://schemas.openxmlformats.org/officeDocument/2006/relationships/slide" Target="slides/slide47.xml"/><Relationship Id="rId49" Type="http://schemas.openxmlformats.org/officeDocument/2006/relationships/slide" Target="slides/slide62.xml"/><Relationship Id="rId10" Type="http://schemas.openxmlformats.org/officeDocument/2006/relationships/slide" Target="slides/slide14.xml"/><Relationship Id="rId19" Type="http://schemas.openxmlformats.org/officeDocument/2006/relationships/slide" Target="slides/slide26.xml"/><Relationship Id="rId31" Type="http://schemas.openxmlformats.org/officeDocument/2006/relationships/slide" Target="slides/slide42.xml"/><Relationship Id="rId44" Type="http://schemas.openxmlformats.org/officeDocument/2006/relationships/slide" Target="slides/slide56.xml"/><Relationship Id="rId52" Type="http://schemas.openxmlformats.org/officeDocument/2006/relationships/slide" Target="slides/slide70.xml"/><Relationship Id="rId4" Type="http://schemas.openxmlformats.org/officeDocument/2006/relationships/slide" Target="slides/slide4.xml"/><Relationship Id="rId9" Type="http://schemas.openxmlformats.org/officeDocument/2006/relationships/slide" Target="slides/slide13.xml"/><Relationship Id="rId14" Type="http://schemas.openxmlformats.org/officeDocument/2006/relationships/slide" Target="slides/slide20.xml"/><Relationship Id="rId22" Type="http://schemas.openxmlformats.org/officeDocument/2006/relationships/slide" Target="slides/slide29.xml"/><Relationship Id="rId27" Type="http://schemas.openxmlformats.org/officeDocument/2006/relationships/slide" Target="slides/slide34.xml"/><Relationship Id="rId30" Type="http://schemas.openxmlformats.org/officeDocument/2006/relationships/slide" Target="slides/slide37.xml"/><Relationship Id="rId35" Type="http://schemas.openxmlformats.org/officeDocument/2006/relationships/slide" Target="slides/slide46.xml"/><Relationship Id="rId43" Type="http://schemas.openxmlformats.org/officeDocument/2006/relationships/slide" Target="slides/slide55.xml"/><Relationship Id="rId48" Type="http://schemas.openxmlformats.org/officeDocument/2006/relationships/slide" Target="slides/slide61.xml"/><Relationship Id="rId8" Type="http://schemas.openxmlformats.org/officeDocument/2006/relationships/slide" Target="slides/slide11.xml"/><Relationship Id="rId51" Type="http://schemas.openxmlformats.org/officeDocument/2006/relationships/slide" Target="slides/slide64.xml"/><Relationship Id="rId3"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ltLang="zh-CN"/>
          </a:p>
        </p:txBody>
      </p:sp>
      <p:sp>
        <p:nvSpPr>
          <p:cNvPr id="1751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9523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51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751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1751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F87ECDAB-D1F2-448C-8ED3-1470EE2F7623}" type="slidenum">
              <a:rPr lang="en-US" altLang="zh-CN"/>
              <a:pPr>
                <a:defRPr/>
              </a:pPr>
              <a:t>‹#›</a:t>
            </a:fld>
            <a:endParaRPr lang="en-US" altLang="zh-CN"/>
          </a:p>
        </p:txBody>
      </p:sp>
    </p:spTree>
    <p:extLst>
      <p:ext uri="{BB962C8B-B14F-4D97-AF65-F5344CB8AC3E}">
        <p14:creationId xmlns:p14="http://schemas.microsoft.com/office/powerpoint/2010/main" val="35806133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p:spPr>
        <p:txBody>
          <a:bodyPr/>
          <a:lstStyle/>
          <a:p>
            <a:r>
              <a:rPr lang="zh-CN" altLang="en-US" smtClean="0">
                <a:latin typeface="Arial" pitchFamily="34" charset="0"/>
              </a:rPr>
              <a:t>夫运筹策帷帐之中，决胜于千里之外，吾不如子房。镇国家，抚百姓，给馈饷，不绝粮道，吾不如萧何。连百万之军，战必胜，攻必取，吾不如韩信。此三者，皆人杰也，吾能用之，此吾所以取天下也。</a:t>
            </a:r>
          </a:p>
        </p:txBody>
      </p:sp>
      <p:sp>
        <p:nvSpPr>
          <p:cNvPr id="96260" name="灯片编号占位符 3"/>
          <p:cNvSpPr>
            <a:spLocks noGrp="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95CE1F2-E965-4DD4-850A-2BF3AC46A334}" type="slidenum">
              <a:rPr lang="en-US" altLang="zh-CN" smtClean="0"/>
              <a:pPr eaLnBrk="1" hangingPunct="1"/>
              <a:t>1</a:t>
            </a:fld>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161D18D-BA3C-4ACC-918F-B6563366C8B9}" type="slidenum">
              <a:rPr lang="en-US" altLang="zh-CN" smtClean="0"/>
              <a:pPr eaLnBrk="1" hangingPunct="1"/>
              <a:t>5</a:t>
            </a:fld>
            <a:endParaRPr lang="en-US" altLang="zh-CN" smtClean="0"/>
          </a:p>
        </p:txBody>
      </p:sp>
      <p:sp>
        <p:nvSpPr>
          <p:cNvPr id="97283" name="Rectangle 2"/>
          <p:cNvSpPr>
            <a:spLocks noRo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E7358D9-EA18-4FE0-9B0A-003BBFF22574}" type="slidenum">
              <a:rPr lang="en-US" altLang="zh-CN" smtClean="0"/>
              <a:pPr eaLnBrk="1" hangingPunct="1"/>
              <a:t>6</a:t>
            </a:fld>
            <a:endParaRPr lang="en-US" altLang="zh-CN" smtClean="0"/>
          </a:p>
        </p:txBody>
      </p:sp>
      <p:sp>
        <p:nvSpPr>
          <p:cNvPr id="98307" name="Rectangle 2"/>
          <p:cNvSpPr>
            <a:spLocks noRo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22DE9C5-3648-4AB5-A726-6F39DCF927DA}" type="slidenum">
              <a:rPr lang="en-US" altLang="zh-CN" smtClean="0"/>
              <a:pPr eaLnBrk="1" hangingPunct="1"/>
              <a:t>7</a:t>
            </a:fld>
            <a:endParaRPr lang="en-US" altLang="zh-CN" smtClean="0"/>
          </a:p>
        </p:txBody>
      </p:sp>
      <p:sp>
        <p:nvSpPr>
          <p:cNvPr id="99331" name="Rectangle 2"/>
          <p:cNvSpPr>
            <a:spLocks noRot="1" noChangeArrowheads="1" noTextEdit="1"/>
          </p:cNvSpPr>
          <p:nvPr>
            <p:ph type="sldImg"/>
          </p:nvPr>
        </p:nvSpPr>
        <p:spPr>
          <a:ln/>
        </p:spPr>
      </p:sp>
      <p:sp>
        <p:nvSpPr>
          <p:cNvPr id="993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0FD97859-5DBB-473A-AD5E-2B61C1201CC9}" type="slidenum">
              <a:rPr lang="en-US" altLang="zh-CN" smtClean="0"/>
              <a:pPr eaLnBrk="1" hangingPunct="1"/>
              <a:t>8</a:t>
            </a:fld>
            <a:endParaRPr lang="en-US" altLang="zh-CN" smtClean="0"/>
          </a:p>
        </p:txBody>
      </p:sp>
      <p:sp>
        <p:nvSpPr>
          <p:cNvPr id="100355" name="Rectangle 2"/>
          <p:cNvSpPr>
            <a:spLocks noRo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46A4067-B652-4AF4-9CEA-A9F690A33E25}" type="slidenum">
              <a:rPr lang="en-US" altLang="zh-CN" smtClean="0"/>
              <a:pPr eaLnBrk="1" hangingPunct="1"/>
              <a:t>9</a:t>
            </a:fld>
            <a:endParaRPr lang="en-US" altLang="zh-CN" smtClean="0"/>
          </a:p>
        </p:txBody>
      </p:sp>
      <p:sp>
        <p:nvSpPr>
          <p:cNvPr id="101379" name="Rectangle 2"/>
          <p:cNvSpPr>
            <a:spLocks noRo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37DDA67-D4CF-4627-B444-7EDB133CCA58}" type="slidenum">
              <a:rPr lang="en-US" altLang="zh-CN" smtClean="0"/>
              <a:pPr eaLnBrk="1" hangingPunct="1"/>
              <a:t>10</a:t>
            </a:fld>
            <a:endParaRPr lang="en-US" altLang="zh-CN" smtClean="0"/>
          </a:p>
        </p:txBody>
      </p:sp>
      <p:sp>
        <p:nvSpPr>
          <p:cNvPr id="102403" name="Rectangle 2"/>
          <p:cNvSpPr>
            <a:spLocks noRot="1" noChangeArrowheads="1" noTextEdit="1"/>
          </p:cNvSpPr>
          <p:nvPr>
            <p:ph type="sldImg"/>
          </p:nvPr>
        </p:nvSpPr>
        <p:spPr>
          <a:ln/>
        </p:spPr>
      </p:sp>
      <p:sp>
        <p:nvSpPr>
          <p:cNvPr id="1024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16117A01-531D-4F77-B364-ED569FB156EB}" type="slidenum">
              <a:rPr lang="en-US" altLang="zh-CN" smtClean="0"/>
              <a:pPr eaLnBrk="1" hangingPunct="1"/>
              <a:t>11</a:t>
            </a:fld>
            <a:endParaRPr lang="en-US" altLang="zh-CN" smtClean="0"/>
          </a:p>
        </p:txBody>
      </p:sp>
      <p:sp>
        <p:nvSpPr>
          <p:cNvPr id="103427" name="Rectangle 2"/>
          <p:cNvSpPr>
            <a:spLocks noRot="1" noChangeArrowheads="1" noTextEdit="1"/>
          </p:cNvSpPr>
          <p:nvPr>
            <p:ph type="sldImg"/>
          </p:nvPr>
        </p:nvSpPr>
        <p:spPr>
          <a:ln/>
        </p:spPr>
      </p:sp>
      <p:sp>
        <p:nvSpPr>
          <p:cNvPr id="1034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E99587D-F5B3-4A0D-B6A9-1EE0563FD18D}" type="slidenum">
              <a:rPr lang="en-US" altLang="zh-CN" smtClean="0"/>
              <a:pPr eaLnBrk="1" hangingPunct="1"/>
              <a:t>12</a:t>
            </a:fld>
            <a:endParaRPr lang="en-US" altLang="zh-CN" smtClean="0"/>
          </a:p>
        </p:txBody>
      </p:sp>
      <p:sp>
        <p:nvSpPr>
          <p:cNvPr id="104451" name="Rectangle 2"/>
          <p:cNvSpPr>
            <a:spLocks noRot="1" noChangeArrowheads="1" noTextEdit="1"/>
          </p:cNvSpPr>
          <p:nvPr>
            <p:ph type="sldImg"/>
          </p:nvPr>
        </p:nvSpPr>
        <p:spPr>
          <a:ln/>
        </p:spPr>
      </p:sp>
      <p:sp>
        <p:nvSpPr>
          <p:cNvPr id="1044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6A936FBA-826C-469B-8795-FF36E576E089}" type="slidenum">
              <a:rPr lang="en-US" altLang="zh-CN" smtClean="0"/>
              <a:pPr eaLnBrk="1" hangingPunct="1"/>
              <a:t>13</a:t>
            </a:fld>
            <a:endParaRPr lang="en-US" altLang="zh-CN" smtClean="0"/>
          </a:p>
        </p:txBody>
      </p:sp>
      <p:sp>
        <p:nvSpPr>
          <p:cNvPr id="105475" name="Rectangle 2"/>
          <p:cNvSpPr>
            <a:spLocks noRot="1" noChangeArrowheads="1" noTextEdit="1"/>
          </p:cNvSpPr>
          <p:nvPr>
            <p:ph type="sldImg"/>
          </p:nvPr>
        </p:nvSpPr>
        <p:spPr>
          <a:ln/>
        </p:spPr>
      </p:sp>
      <p:sp>
        <p:nvSpPr>
          <p:cNvPr id="1054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1397E90-1222-47BA-9032-1E63B6848120}" type="slidenum">
              <a:rPr lang="en-US" altLang="zh-CN" smtClean="0"/>
              <a:pPr eaLnBrk="1" hangingPunct="1"/>
              <a:t>14</a:t>
            </a:fld>
            <a:endParaRPr lang="en-US" altLang="zh-CN" smtClean="0"/>
          </a:p>
        </p:txBody>
      </p:sp>
      <p:sp>
        <p:nvSpPr>
          <p:cNvPr id="106499" name="Rectangle 2"/>
          <p:cNvSpPr>
            <a:spLocks noRo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C05BC52-E5D3-4CB9-9CBA-335ADF16E052}" type="slidenum">
              <a:rPr lang="en-US" altLang="zh-CN" smtClean="0"/>
              <a:pPr eaLnBrk="1" hangingPunct="1"/>
              <a:t>15</a:t>
            </a:fld>
            <a:endParaRPr lang="en-US" altLang="zh-CN" smtClean="0"/>
          </a:p>
        </p:txBody>
      </p:sp>
      <p:sp>
        <p:nvSpPr>
          <p:cNvPr id="107523" name="Rectangle 2"/>
          <p:cNvSpPr>
            <a:spLocks noRo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606943FE-41F1-46FD-B72C-F80D14100F66}" type="slidenum">
              <a:rPr lang="en-US" altLang="zh-CN" smtClean="0"/>
              <a:pPr eaLnBrk="1" hangingPunct="1"/>
              <a:t>17</a:t>
            </a:fld>
            <a:endParaRPr lang="en-US" altLang="zh-CN" smtClean="0"/>
          </a:p>
        </p:txBody>
      </p:sp>
      <p:sp>
        <p:nvSpPr>
          <p:cNvPr id="108547" name="Rectangle 2"/>
          <p:cNvSpPr>
            <a:spLocks noRot="1" noChangeArrowheads="1" noTextEdit="1"/>
          </p:cNvSpPr>
          <p:nvPr>
            <p:ph type="sldImg"/>
          </p:nvPr>
        </p:nvSpPr>
        <p:spPr>
          <a:ln/>
        </p:spPr>
      </p:sp>
      <p:sp>
        <p:nvSpPr>
          <p:cNvPr id="1085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0D64E2C-16C3-41F9-84D7-B0A4CA1AD713}" type="slidenum">
              <a:rPr lang="en-US" altLang="zh-CN" smtClean="0"/>
              <a:pPr eaLnBrk="1" hangingPunct="1"/>
              <a:t>18</a:t>
            </a:fld>
            <a:endParaRPr lang="en-US" altLang="zh-CN" smtClean="0"/>
          </a:p>
        </p:txBody>
      </p:sp>
      <p:sp>
        <p:nvSpPr>
          <p:cNvPr id="109571" name="Rectangle 2"/>
          <p:cNvSpPr>
            <a:spLocks noRot="1" noChangeArrowheads="1" noTextEdit="1"/>
          </p:cNvSpPr>
          <p:nvPr>
            <p:ph type="sldImg"/>
          </p:nvPr>
        </p:nvSpPr>
        <p:spPr>
          <a:ln/>
        </p:spPr>
      </p:sp>
      <p:sp>
        <p:nvSpPr>
          <p:cNvPr id="1095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607E4C42-E6C5-4F15-AC6F-04EE5D53957F}" type="slidenum">
              <a:rPr lang="en-US" altLang="zh-CN" smtClean="0"/>
              <a:pPr eaLnBrk="1" hangingPunct="1"/>
              <a:t>19</a:t>
            </a:fld>
            <a:endParaRPr lang="en-US" altLang="zh-CN" smtClean="0"/>
          </a:p>
        </p:txBody>
      </p:sp>
      <p:sp>
        <p:nvSpPr>
          <p:cNvPr id="110595" name="Rectangle 2"/>
          <p:cNvSpPr>
            <a:spLocks noRot="1" noChangeArrowheads="1" noTextEdit="1"/>
          </p:cNvSpPr>
          <p:nvPr>
            <p:ph type="sldImg"/>
          </p:nvPr>
        </p:nvSpPr>
        <p:spPr>
          <a:ln/>
        </p:spPr>
      </p:sp>
      <p:sp>
        <p:nvSpPr>
          <p:cNvPr id="1105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6D3097A-4D74-4C9E-8A72-D9E88A1E5815}" type="slidenum">
              <a:rPr lang="en-US" altLang="zh-CN" smtClean="0"/>
              <a:pPr eaLnBrk="1" hangingPunct="1"/>
              <a:t>20</a:t>
            </a:fld>
            <a:endParaRPr lang="en-US" altLang="zh-CN" smtClean="0"/>
          </a:p>
        </p:txBody>
      </p:sp>
      <p:sp>
        <p:nvSpPr>
          <p:cNvPr id="111619" name="Rectangle 2"/>
          <p:cNvSpPr>
            <a:spLocks noRo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B525808-7509-469F-89FF-FF5019A2A717}" type="slidenum">
              <a:rPr lang="en-US" altLang="zh-CN" smtClean="0"/>
              <a:pPr eaLnBrk="1" hangingPunct="1"/>
              <a:t>21</a:t>
            </a:fld>
            <a:endParaRPr lang="en-US" altLang="zh-CN" smtClean="0"/>
          </a:p>
        </p:txBody>
      </p:sp>
      <p:sp>
        <p:nvSpPr>
          <p:cNvPr id="112643" name="Rectangle 2"/>
          <p:cNvSpPr>
            <a:spLocks noRot="1" noChangeArrowheads="1" noTextEdit="1"/>
          </p:cNvSpPr>
          <p:nvPr>
            <p:ph type="sldImg"/>
          </p:nvPr>
        </p:nvSpPr>
        <p:spPr>
          <a:ln/>
        </p:spPr>
      </p:sp>
      <p:sp>
        <p:nvSpPr>
          <p:cNvPr id="1126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C7BDAEC-C394-414D-8BD8-91217E138E8E}" type="slidenum">
              <a:rPr lang="en-US" altLang="zh-CN" smtClean="0"/>
              <a:pPr eaLnBrk="1" hangingPunct="1"/>
              <a:t>22</a:t>
            </a:fld>
            <a:endParaRPr lang="en-US" altLang="zh-CN" smtClean="0"/>
          </a:p>
        </p:txBody>
      </p:sp>
      <p:sp>
        <p:nvSpPr>
          <p:cNvPr id="113667" name="Rectangle 2"/>
          <p:cNvSpPr>
            <a:spLocks noRot="1" noChangeArrowheads="1" noTextEdit="1"/>
          </p:cNvSpPr>
          <p:nvPr>
            <p:ph type="sldImg"/>
          </p:nvPr>
        </p:nvSpPr>
        <p:spPr>
          <a:ln/>
        </p:spPr>
      </p:sp>
      <p:sp>
        <p:nvSpPr>
          <p:cNvPr id="1136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16DDEBB-98A6-4AEA-83D4-89C50588D4DF}" type="slidenum">
              <a:rPr lang="en-US" altLang="zh-CN" smtClean="0"/>
              <a:pPr eaLnBrk="1" hangingPunct="1"/>
              <a:t>23</a:t>
            </a:fld>
            <a:endParaRPr lang="en-US" altLang="zh-CN" smtClean="0"/>
          </a:p>
        </p:txBody>
      </p:sp>
      <p:sp>
        <p:nvSpPr>
          <p:cNvPr id="114691" name="Rectangle 2"/>
          <p:cNvSpPr>
            <a:spLocks noRot="1" noChangeArrowheads="1" noTextEdit="1"/>
          </p:cNvSpPr>
          <p:nvPr>
            <p:ph type="sldImg"/>
          </p:nvPr>
        </p:nvSpPr>
        <p:spPr>
          <a:ln/>
        </p:spPr>
      </p:sp>
      <p:sp>
        <p:nvSpPr>
          <p:cNvPr id="1146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CED6726-926B-4493-9808-2C84F23B26EF}" type="slidenum">
              <a:rPr lang="en-US" altLang="zh-CN" smtClean="0"/>
              <a:pPr eaLnBrk="1" hangingPunct="1"/>
              <a:t>24</a:t>
            </a:fld>
            <a:endParaRPr lang="en-US" altLang="zh-CN" smtClean="0"/>
          </a:p>
        </p:txBody>
      </p:sp>
      <p:sp>
        <p:nvSpPr>
          <p:cNvPr id="115715" name="Rectangle 2"/>
          <p:cNvSpPr>
            <a:spLocks noRot="1" noChangeArrowheads="1" noTextEdit="1"/>
          </p:cNvSpPr>
          <p:nvPr>
            <p:ph type="sldImg"/>
          </p:nvPr>
        </p:nvSpPr>
        <p:spPr>
          <a:ln/>
        </p:spPr>
      </p:sp>
      <p:sp>
        <p:nvSpPr>
          <p:cNvPr id="1157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AE69D45-604D-465E-A231-A7688F4EF091}" type="slidenum">
              <a:rPr lang="en-US" altLang="zh-CN" smtClean="0"/>
              <a:pPr eaLnBrk="1" hangingPunct="1"/>
              <a:t>25</a:t>
            </a:fld>
            <a:endParaRPr lang="en-US" altLang="zh-CN" smtClean="0"/>
          </a:p>
        </p:txBody>
      </p:sp>
      <p:sp>
        <p:nvSpPr>
          <p:cNvPr id="116739" name="Rectangle 2"/>
          <p:cNvSpPr>
            <a:spLocks noRot="1" noChangeArrowheads="1" noTextEdit="1"/>
          </p:cNvSpPr>
          <p:nvPr>
            <p:ph type="sldImg"/>
          </p:nvPr>
        </p:nvSpPr>
        <p:spPr>
          <a:ln/>
        </p:spPr>
      </p:sp>
      <p:sp>
        <p:nvSpPr>
          <p:cNvPr id="1167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72B02A4-2F3F-472C-B206-FD67B37C7FED}" type="slidenum">
              <a:rPr lang="en-US" altLang="zh-CN" smtClean="0"/>
              <a:pPr eaLnBrk="1" hangingPunct="1"/>
              <a:t>26</a:t>
            </a:fld>
            <a:endParaRPr lang="en-US" altLang="zh-CN" smtClean="0"/>
          </a:p>
        </p:txBody>
      </p:sp>
      <p:sp>
        <p:nvSpPr>
          <p:cNvPr id="117763" name="Rectangle 2"/>
          <p:cNvSpPr>
            <a:spLocks noRot="1" noChangeArrowheads="1" noTextEdit="1"/>
          </p:cNvSpPr>
          <p:nvPr>
            <p:ph type="sldImg"/>
          </p:nvPr>
        </p:nvSpPr>
        <p:spPr>
          <a:ln/>
        </p:spPr>
      </p:sp>
      <p:sp>
        <p:nvSpPr>
          <p:cNvPr id="1177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17600E8-2A92-4662-BEBB-D9A48ECAAC42}" type="slidenum">
              <a:rPr lang="en-US" altLang="zh-CN" smtClean="0"/>
              <a:pPr eaLnBrk="1" hangingPunct="1"/>
              <a:t>27</a:t>
            </a:fld>
            <a:endParaRPr lang="en-US" altLang="zh-CN" smtClean="0"/>
          </a:p>
        </p:txBody>
      </p:sp>
      <p:sp>
        <p:nvSpPr>
          <p:cNvPr id="118787" name="Rectangle 2"/>
          <p:cNvSpPr>
            <a:spLocks noRo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E6CF9A3-FC70-4F37-B750-54C023A7B2B9}" type="slidenum">
              <a:rPr lang="en-US" altLang="zh-CN" smtClean="0"/>
              <a:pPr eaLnBrk="1" hangingPunct="1"/>
              <a:t>28</a:t>
            </a:fld>
            <a:endParaRPr lang="en-US" altLang="zh-CN" smtClean="0"/>
          </a:p>
        </p:txBody>
      </p:sp>
      <p:sp>
        <p:nvSpPr>
          <p:cNvPr id="119811" name="Rectangle 2"/>
          <p:cNvSpPr>
            <a:spLocks noRot="1" noChangeArrowheads="1" noTextEdit="1"/>
          </p:cNvSpPr>
          <p:nvPr>
            <p:ph type="sldImg"/>
          </p:nvPr>
        </p:nvSpPr>
        <p:spPr>
          <a:ln/>
        </p:spPr>
      </p:sp>
      <p:sp>
        <p:nvSpPr>
          <p:cNvPr id="1198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152B892E-9C4A-4D30-9DCA-36FA6D376711}" type="slidenum">
              <a:rPr lang="en-US" altLang="zh-CN" smtClean="0"/>
              <a:pPr eaLnBrk="1" hangingPunct="1"/>
              <a:t>29</a:t>
            </a:fld>
            <a:endParaRPr lang="en-US" altLang="zh-CN" smtClean="0"/>
          </a:p>
        </p:txBody>
      </p:sp>
      <p:sp>
        <p:nvSpPr>
          <p:cNvPr id="120835" name="Rectangle 2"/>
          <p:cNvSpPr>
            <a:spLocks noRot="1" noChangeArrowheads="1" noTextEdit="1"/>
          </p:cNvSpPr>
          <p:nvPr>
            <p:ph type="sldImg"/>
          </p:nvPr>
        </p:nvSpPr>
        <p:spPr>
          <a:ln/>
        </p:spPr>
      </p:sp>
      <p:sp>
        <p:nvSpPr>
          <p:cNvPr id="1208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6B3E2A3-5C4E-40B8-A548-0F1E5EE316FB}" type="slidenum">
              <a:rPr lang="en-US" altLang="zh-CN" smtClean="0"/>
              <a:pPr eaLnBrk="1" hangingPunct="1"/>
              <a:t>30</a:t>
            </a:fld>
            <a:endParaRPr lang="en-US" altLang="zh-CN" smtClean="0"/>
          </a:p>
        </p:txBody>
      </p:sp>
      <p:sp>
        <p:nvSpPr>
          <p:cNvPr id="121859" name="Rectangle 2"/>
          <p:cNvSpPr>
            <a:spLocks noRot="1" noChangeArrowheads="1" noTextEdit="1"/>
          </p:cNvSpPr>
          <p:nvPr>
            <p:ph type="sldImg"/>
          </p:nvPr>
        </p:nvSpPr>
        <p:spPr>
          <a:ln/>
        </p:spPr>
      </p:sp>
      <p:sp>
        <p:nvSpPr>
          <p:cNvPr id="1218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D41EB78-FF45-4EFE-8A92-97437159A016}" type="slidenum">
              <a:rPr lang="en-US" altLang="zh-CN" smtClean="0"/>
              <a:pPr eaLnBrk="1" hangingPunct="1"/>
              <a:t>31</a:t>
            </a:fld>
            <a:endParaRPr lang="en-US" altLang="zh-CN" smtClean="0"/>
          </a:p>
        </p:txBody>
      </p:sp>
      <p:sp>
        <p:nvSpPr>
          <p:cNvPr id="122883" name="Rectangle 2"/>
          <p:cNvSpPr>
            <a:spLocks noRot="1" noChangeArrowheads="1" noTextEdit="1"/>
          </p:cNvSpPr>
          <p:nvPr>
            <p:ph type="sldImg"/>
          </p:nvPr>
        </p:nvSpPr>
        <p:spPr>
          <a:ln/>
        </p:spPr>
      </p:sp>
      <p:sp>
        <p:nvSpPr>
          <p:cNvPr id="1228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8361CA8-7A83-4128-B40E-6A6BF9DEF343}" type="slidenum">
              <a:rPr lang="en-US" altLang="zh-CN" smtClean="0"/>
              <a:pPr eaLnBrk="1" hangingPunct="1"/>
              <a:t>32</a:t>
            </a:fld>
            <a:endParaRPr lang="en-US" altLang="zh-CN" smtClean="0"/>
          </a:p>
        </p:txBody>
      </p:sp>
      <p:sp>
        <p:nvSpPr>
          <p:cNvPr id="123907" name="Rectangle 2"/>
          <p:cNvSpPr>
            <a:spLocks noRot="1" noChangeArrowheads="1" noTextEdit="1"/>
          </p:cNvSpPr>
          <p:nvPr>
            <p:ph type="sldImg"/>
          </p:nvPr>
        </p:nvSpPr>
        <p:spPr>
          <a:ln/>
        </p:spPr>
      </p:sp>
      <p:sp>
        <p:nvSpPr>
          <p:cNvPr id="1239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31B880F4-9CF2-4009-ADF4-203A3850A06D}" type="slidenum">
              <a:rPr lang="en-US" altLang="zh-CN" smtClean="0"/>
              <a:pPr eaLnBrk="1" hangingPunct="1"/>
              <a:t>33</a:t>
            </a:fld>
            <a:endParaRPr lang="en-US" altLang="zh-CN" smtClean="0"/>
          </a:p>
        </p:txBody>
      </p:sp>
      <p:sp>
        <p:nvSpPr>
          <p:cNvPr id="124931" name="Rectangle 2"/>
          <p:cNvSpPr>
            <a:spLocks noRot="1" noChangeArrowheads="1" noTextEdit="1"/>
          </p:cNvSpPr>
          <p:nvPr>
            <p:ph type="sldImg"/>
          </p:nvPr>
        </p:nvSpPr>
        <p:spPr>
          <a:ln/>
        </p:spPr>
      </p:sp>
      <p:sp>
        <p:nvSpPr>
          <p:cNvPr id="1249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70FCA75-D3D1-4F11-A500-CA69207ACF3F}" type="slidenum">
              <a:rPr lang="en-US" altLang="zh-CN" smtClean="0"/>
              <a:pPr eaLnBrk="1" hangingPunct="1"/>
              <a:t>34</a:t>
            </a:fld>
            <a:endParaRPr lang="en-US" altLang="zh-CN" smtClean="0"/>
          </a:p>
        </p:txBody>
      </p:sp>
      <p:sp>
        <p:nvSpPr>
          <p:cNvPr id="125955" name="Rectangle 2"/>
          <p:cNvSpPr>
            <a:spLocks noRot="1" noChangeArrowheads="1" noTextEdit="1"/>
          </p:cNvSpPr>
          <p:nvPr>
            <p:ph type="sldImg"/>
          </p:nvPr>
        </p:nvSpPr>
        <p:spPr>
          <a:ln/>
        </p:spPr>
      </p:sp>
      <p:sp>
        <p:nvSpPr>
          <p:cNvPr id="1259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8A94DED-245D-4D6F-AEF3-B80B0F75260D}" type="slidenum">
              <a:rPr lang="en-US" altLang="zh-CN" smtClean="0"/>
              <a:pPr eaLnBrk="1" hangingPunct="1"/>
              <a:t>35</a:t>
            </a:fld>
            <a:endParaRPr lang="en-US" altLang="zh-CN" smtClean="0"/>
          </a:p>
        </p:txBody>
      </p:sp>
      <p:sp>
        <p:nvSpPr>
          <p:cNvPr id="126979" name="Rectangle 2"/>
          <p:cNvSpPr>
            <a:spLocks noRot="1" noChangeArrowheads="1" noTextEdit="1"/>
          </p:cNvSpPr>
          <p:nvPr>
            <p:ph type="sldImg"/>
          </p:nvPr>
        </p:nvSpPr>
        <p:spPr>
          <a:ln/>
        </p:spPr>
      </p:sp>
      <p:sp>
        <p:nvSpPr>
          <p:cNvPr id="1269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0FE973D-8C39-4F68-8505-B10DE232A354}" type="slidenum">
              <a:rPr lang="en-US" altLang="zh-CN" smtClean="0"/>
              <a:pPr eaLnBrk="1" hangingPunct="1"/>
              <a:t>37</a:t>
            </a:fld>
            <a:endParaRPr lang="en-US" altLang="zh-CN" smtClean="0"/>
          </a:p>
        </p:txBody>
      </p:sp>
      <p:sp>
        <p:nvSpPr>
          <p:cNvPr id="128003" name="Rectangle 2"/>
          <p:cNvSpPr>
            <a:spLocks noRot="1" noChangeArrowheads="1" noTextEdit="1"/>
          </p:cNvSpPr>
          <p:nvPr>
            <p:ph type="sldImg"/>
          </p:nvPr>
        </p:nvSpPr>
        <p:spPr>
          <a:ln/>
        </p:spPr>
      </p:sp>
      <p:sp>
        <p:nvSpPr>
          <p:cNvPr id="1280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127AD53-D03F-49FA-8363-91D919D2C5AC}" type="slidenum">
              <a:rPr lang="en-US" altLang="zh-CN" smtClean="0"/>
              <a:pPr eaLnBrk="1" hangingPunct="1"/>
              <a:t>38</a:t>
            </a:fld>
            <a:endParaRPr lang="en-US" altLang="zh-CN" smtClean="0"/>
          </a:p>
        </p:txBody>
      </p:sp>
      <p:sp>
        <p:nvSpPr>
          <p:cNvPr id="129027" name="Rectangle 2"/>
          <p:cNvSpPr>
            <a:spLocks noRot="1" noChangeArrowheads="1" noTextEdit="1"/>
          </p:cNvSpPr>
          <p:nvPr>
            <p:ph type="sldImg"/>
          </p:nvPr>
        </p:nvSpPr>
        <p:spPr>
          <a:ln/>
        </p:spPr>
      </p:sp>
      <p:sp>
        <p:nvSpPr>
          <p:cNvPr id="1290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0C652DC-8669-4D8F-B5E4-F343CE90B541}" type="slidenum">
              <a:rPr lang="en-US" altLang="zh-CN" smtClean="0"/>
              <a:pPr eaLnBrk="1" hangingPunct="1"/>
              <a:t>39</a:t>
            </a:fld>
            <a:endParaRPr lang="en-US" altLang="zh-CN" smtClean="0"/>
          </a:p>
        </p:txBody>
      </p:sp>
      <p:sp>
        <p:nvSpPr>
          <p:cNvPr id="130051" name="Rectangle 2"/>
          <p:cNvSpPr>
            <a:spLocks noRot="1" noChangeArrowheads="1" noTextEdit="1"/>
          </p:cNvSpPr>
          <p:nvPr>
            <p:ph type="sldImg"/>
          </p:nvPr>
        </p:nvSpPr>
        <p:spPr>
          <a:ln/>
        </p:spPr>
      </p:sp>
      <p:sp>
        <p:nvSpPr>
          <p:cNvPr id="1300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01F96F4-263B-401B-A4B6-9D478DECCADD}" type="slidenum">
              <a:rPr lang="en-US" altLang="zh-CN" smtClean="0"/>
              <a:pPr eaLnBrk="1" hangingPunct="1"/>
              <a:t>40</a:t>
            </a:fld>
            <a:endParaRPr lang="en-US" altLang="zh-CN" smtClean="0"/>
          </a:p>
        </p:txBody>
      </p:sp>
      <p:sp>
        <p:nvSpPr>
          <p:cNvPr id="131075" name="Rectangle 2"/>
          <p:cNvSpPr>
            <a:spLocks noRot="1" noChangeArrowheads="1" noTextEdit="1"/>
          </p:cNvSpPr>
          <p:nvPr>
            <p:ph type="sldImg"/>
          </p:nvPr>
        </p:nvSpPr>
        <p:spPr>
          <a:ln/>
        </p:spPr>
      </p:sp>
      <p:sp>
        <p:nvSpPr>
          <p:cNvPr id="1310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AE6D200-412D-47CE-88F2-8A7FE80EC1C4}" type="slidenum">
              <a:rPr lang="en-US" altLang="zh-CN" smtClean="0"/>
              <a:pPr eaLnBrk="1" hangingPunct="1"/>
              <a:t>41</a:t>
            </a:fld>
            <a:endParaRPr lang="en-US" altLang="zh-CN" smtClean="0"/>
          </a:p>
        </p:txBody>
      </p:sp>
      <p:sp>
        <p:nvSpPr>
          <p:cNvPr id="132099" name="Rectangle 2"/>
          <p:cNvSpPr>
            <a:spLocks noRot="1" noChangeArrowheads="1" noTextEdit="1"/>
          </p:cNvSpPr>
          <p:nvPr>
            <p:ph type="sldImg"/>
          </p:nvPr>
        </p:nvSpPr>
        <p:spPr>
          <a:ln/>
        </p:spPr>
      </p:sp>
      <p:sp>
        <p:nvSpPr>
          <p:cNvPr id="1321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74EB49A-B6E7-4244-8951-28AA2B17A085}" type="slidenum">
              <a:rPr lang="en-US" altLang="zh-CN" smtClean="0"/>
              <a:pPr eaLnBrk="1" hangingPunct="1"/>
              <a:t>42</a:t>
            </a:fld>
            <a:endParaRPr lang="en-US" altLang="zh-CN" smtClean="0"/>
          </a:p>
        </p:txBody>
      </p:sp>
      <p:sp>
        <p:nvSpPr>
          <p:cNvPr id="133123" name="Rectangle 2"/>
          <p:cNvSpPr>
            <a:spLocks noRot="1" noChangeArrowheads="1" noTextEdit="1"/>
          </p:cNvSpPr>
          <p:nvPr>
            <p:ph type="sldImg"/>
          </p:nvPr>
        </p:nvSpPr>
        <p:spPr>
          <a:ln/>
        </p:spPr>
      </p:sp>
      <p:sp>
        <p:nvSpPr>
          <p:cNvPr id="1331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2A11411-6093-421B-974B-97FD7CFEC903}" type="slidenum">
              <a:rPr lang="en-US" altLang="zh-CN" smtClean="0"/>
              <a:pPr eaLnBrk="1" hangingPunct="1"/>
              <a:t>43</a:t>
            </a:fld>
            <a:endParaRPr lang="en-US" altLang="zh-CN" smtClean="0"/>
          </a:p>
        </p:txBody>
      </p:sp>
      <p:sp>
        <p:nvSpPr>
          <p:cNvPr id="134147" name="Rectangle 2"/>
          <p:cNvSpPr>
            <a:spLocks noRo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0DDA442-8662-4109-9E49-103EE8560D30}" type="slidenum">
              <a:rPr lang="en-US" altLang="zh-CN" smtClean="0"/>
              <a:pPr eaLnBrk="1" hangingPunct="1"/>
              <a:t>44</a:t>
            </a:fld>
            <a:endParaRPr lang="en-US" altLang="zh-CN" smtClean="0"/>
          </a:p>
        </p:txBody>
      </p:sp>
      <p:sp>
        <p:nvSpPr>
          <p:cNvPr id="135171" name="Rectangle 2"/>
          <p:cNvSpPr>
            <a:spLocks noRo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259F92F-2292-4617-9F3E-29E3211DD41D}" type="slidenum">
              <a:rPr lang="en-US" altLang="zh-CN" smtClean="0"/>
              <a:pPr eaLnBrk="1" hangingPunct="1"/>
              <a:t>45</a:t>
            </a:fld>
            <a:endParaRPr lang="en-US" altLang="zh-CN" smtClean="0"/>
          </a:p>
        </p:txBody>
      </p:sp>
      <p:sp>
        <p:nvSpPr>
          <p:cNvPr id="136195" name="Rectangle 2"/>
          <p:cNvSpPr>
            <a:spLocks noRo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68C6ADC-5A8E-4285-97DC-D9E1DEDDC685}" type="slidenum">
              <a:rPr lang="en-US" altLang="zh-CN" smtClean="0"/>
              <a:pPr eaLnBrk="1" hangingPunct="1"/>
              <a:t>46</a:t>
            </a:fld>
            <a:endParaRPr lang="en-US" altLang="zh-CN" smtClean="0"/>
          </a:p>
        </p:txBody>
      </p:sp>
      <p:sp>
        <p:nvSpPr>
          <p:cNvPr id="137219" name="Rectangle 2"/>
          <p:cNvSpPr>
            <a:spLocks noRot="1" noChangeArrowheads="1" noTextEdit="1"/>
          </p:cNvSpPr>
          <p:nvPr>
            <p:ph type="sldImg"/>
          </p:nvPr>
        </p:nvSpPr>
        <p:spPr>
          <a:ln/>
        </p:spPr>
      </p:sp>
      <p:sp>
        <p:nvSpPr>
          <p:cNvPr id="1372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85536A6-B736-4301-A2AE-3CCB57DFB59E}" type="slidenum">
              <a:rPr lang="en-US" altLang="zh-CN" smtClean="0"/>
              <a:pPr eaLnBrk="1" hangingPunct="1"/>
              <a:t>47</a:t>
            </a:fld>
            <a:endParaRPr lang="en-US" altLang="zh-CN" smtClean="0"/>
          </a:p>
        </p:txBody>
      </p:sp>
      <p:sp>
        <p:nvSpPr>
          <p:cNvPr id="138243" name="Rectangle 2"/>
          <p:cNvSpPr>
            <a:spLocks noRo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F837A9C-38F5-4B95-9BB5-EDE803A80F8F}" type="slidenum">
              <a:rPr lang="en-US" altLang="zh-CN" smtClean="0"/>
              <a:pPr eaLnBrk="1" hangingPunct="1"/>
              <a:t>48</a:t>
            </a:fld>
            <a:endParaRPr lang="en-US" altLang="zh-CN" smtClean="0"/>
          </a:p>
        </p:txBody>
      </p:sp>
      <p:sp>
        <p:nvSpPr>
          <p:cNvPr id="139267" name="Rectangle 2"/>
          <p:cNvSpPr>
            <a:spLocks noRot="1" noChangeArrowheads="1" noTextEdit="1"/>
          </p:cNvSpPr>
          <p:nvPr>
            <p:ph type="sldImg"/>
          </p:nvPr>
        </p:nvSpPr>
        <p:spPr>
          <a:ln/>
        </p:spPr>
      </p:sp>
      <p:sp>
        <p:nvSpPr>
          <p:cNvPr id="1392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314F071-2C42-4D7F-AEA8-22794B0608A3}" type="slidenum">
              <a:rPr lang="en-US" altLang="zh-CN" smtClean="0"/>
              <a:pPr eaLnBrk="1" hangingPunct="1"/>
              <a:t>49</a:t>
            </a:fld>
            <a:endParaRPr lang="en-US" altLang="zh-CN" smtClean="0"/>
          </a:p>
        </p:txBody>
      </p:sp>
      <p:sp>
        <p:nvSpPr>
          <p:cNvPr id="140291" name="Rectangle 2"/>
          <p:cNvSpPr>
            <a:spLocks noRot="1" noChangeArrowheads="1" noTextEdit="1"/>
          </p:cNvSpPr>
          <p:nvPr>
            <p:ph type="sldImg"/>
          </p:nvPr>
        </p:nvSpPr>
        <p:spPr>
          <a:ln/>
        </p:spPr>
      </p:sp>
      <p:sp>
        <p:nvSpPr>
          <p:cNvPr id="1402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1DFEAEEE-FE36-468F-A23A-F14FD05DBC78}" type="slidenum">
              <a:rPr lang="en-US" altLang="zh-CN" smtClean="0"/>
              <a:pPr eaLnBrk="1" hangingPunct="1"/>
              <a:t>50</a:t>
            </a:fld>
            <a:endParaRPr lang="en-US" altLang="zh-CN" smtClean="0"/>
          </a:p>
        </p:txBody>
      </p:sp>
      <p:sp>
        <p:nvSpPr>
          <p:cNvPr id="141315" name="Rectangle 2"/>
          <p:cNvSpPr>
            <a:spLocks noRot="1" noChangeArrowheads="1" noTextEdit="1"/>
          </p:cNvSpPr>
          <p:nvPr>
            <p:ph type="sldImg"/>
          </p:nvPr>
        </p:nvSpPr>
        <p:spPr>
          <a:ln/>
        </p:spPr>
      </p:sp>
      <p:sp>
        <p:nvSpPr>
          <p:cNvPr id="1413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726E8C9-2445-42EC-878A-D9E431186F40}" type="slidenum">
              <a:rPr lang="en-US" altLang="zh-CN" smtClean="0"/>
              <a:pPr eaLnBrk="1" hangingPunct="1"/>
              <a:t>51</a:t>
            </a:fld>
            <a:endParaRPr lang="en-US" altLang="zh-CN" smtClean="0"/>
          </a:p>
        </p:txBody>
      </p:sp>
      <p:sp>
        <p:nvSpPr>
          <p:cNvPr id="142339" name="Rectangle 2"/>
          <p:cNvSpPr>
            <a:spLocks noRo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DFDF5AD-4E84-46EA-819E-0085512BF376}" type="slidenum">
              <a:rPr lang="en-US" altLang="zh-CN" smtClean="0"/>
              <a:pPr eaLnBrk="1" hangingPunct="1"/>
              <a:t>52</a:t>
            </a:fld>
            <a:endParaRPr lang="en-US" altLang="zh-CN" smtClean="0"/>
          </a:p>
        </p:txBody>
      </p:sp>
      <p:sp>
        <p:nvSpPr>
          <p:cNvPr id="143363" name="Rectangle 2"/>
          <p:cNvSpPr>
            <a:spLocks noRot="1" noChangeArrowheads="1" noTextEdit="1"/>
          </p:cNvSpPr>
          <p:nvPr>
            <p:ph type="sldImg"/>
          </p:nvPr>
        </p:nvSpPr>
        <p:spPr>
          <a:ln/>
        </p:spPr>
      </p:sp>
      <p:sp>
        <p:nvSpPr>
          <p:cNvPr id="1433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1067883-69F8-48DD-9BCB-5D0D6BD1EB3D}" type="slidenum">
              <a:rPr lang="en-US" altLang="zh-CN" smtClean="0"/>
              <a:pPr eaLnBrk="1" hangingPunct="1"/>
              <a:t>53</a:t>
            </a:fld>
            <a:endParaRPr lang="en-US" altLang="zh-CN" smtClean="0"/>
          </a:p>
        </p:txBody>
      </p:sp>
      <p:sp>
        <p:nvSpPr>
          <p:cNvPr id="144387" name="Rectangle 2"/>
          <p:cNvSpPr>
            <a:spLocks noRot="1" noChangeArrowheads="1" noTextEdit="1"/>
          </p:cNvSpPr>
          <p:nvPr>
            <p:ph type="sldImg"/>
          </p:nvPr>
        </p:nvSpPr>
        <p:spPr>
          <a:ln/>
        </p:spPr>
      </p:sp>
      <p:sp>
        <p:nvSpPr>
          <p:cNvPr id="1443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D928A03-E3BB-4B47-A4C0-54E6B751327C}" type="slidenum">
              <a:rPr lang="en-US" altLang="zh-CN" smtClean="0"/>
              <a:pPr eaLnBrk="1" hangingPunct="1"/>
              <a:t>54</a:t>
            </a:fld>
            <a:endParaRPr lang="en-US" altLang="zh-CN" smtClean="0"/>
          </a:p>
        </p:txBody>
      </p:sp>
      <p:sp>
        <p:nvSpPr>
          <p:cNvPr id="145411" name="Rectangle 2"/>
          <p:cNvSpPr>
            <a:spLocks noRot="1" noChangeArrowheads="1" noTextEdit="1"/>
          </p:cNvSpPr>
          <p:nvPr>
            <p:ph type="sldImg"/>
          </p:nvPr>
        </p:nvSpPr>
        <p:spPr>
          <a:ln/>
        </p:spPr>
      </p:sp>
      <p:sp>
        <p:nvSpPr>
          <p:cNvPr id="1454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FA0DB029-002C-48DB-93C4-E7BA2400ACA1}" type="slidenum">
              <a:rPr lang="en-US" altLang="zh-CN" smtClean="0"/>
              <a:pPr eaLnBrk="1" hangingPunct="1"/>
              <a:t>55</a:t>
            </a:fld>
            <a:endParaRPr lang="en-US" altLang="zh-CN" smtClean="0"/>
          </a:p>
        </p:txBody>
      </p:sp>
      <p:sp>
        <p:nvSpPr>
          <p:cNvPr id="146435" name="Rectangle 2"/>
          <p:cNvSpPr>
            <a:spLocks noRot="1" noChangeArrowheads="1" noTextEdit="1"/>
          </p:cNvSpPr>
          <p:nvPr>
            <p:ph type="sldImg"/>
          </p:nvPr>
        </p:nvSpPr>
        <p:spPr>
          <a:ln/>
        </p:spPr>
      </p:sp>
      <p:sp>
        <p:nvSpPr>
          <p:cNvPr id="1464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C72FB03B-3B5B-437E-B2D9-4131FC05C6E6}" type="slidenum">
              <a:rPr lang="en-US" altLang="zh-CN" smtClean="0"/>
              <a:pPr eaLnBrk="1" hangingPunct="1"/>
              <a:t>56</a:t>
            </a:fld>
            <a:endParaRPr lang="en-US" altLang="zh-CN" smtClean="0"/>
          </a:p>
        </p:txBody>
      </p:sp>
      <p:sp>
        <p:nvSpPr>
          <p:cNvPr id="147459" name="Rectangle 2"/>
          <p:cNvSpPr>
            <a:spLocks noRot="1" noChangeArrowheads="1" noTextEdit="1"/>
          </p:cNvSpPr>
          <p:nvPr>
            <p:ph type="sldImg"/>
          </p:nvPr>
        </p:nvSpPr>
        <p:spPr>
          <a:ln/>
        </p:spPr>
      </p:sp>
      <p:sp>
        <p:nvSpPr>
          <p:cNvPr id="1474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FE60E26-F72C-473C-B9DD-B582950193AC}" type="slidenum">
              <a:rPr lang="en-US" altLang="zh-CN" smtClean="0"/>
              <a:pPr eaLnBrk="1" hangingPunct="1"/>
              <a:t>57</a:t>
            </a:fld>
            <a:endParaRPr lang="en-US" altLang="zh-CN" smtClean="0"/>
          </a:p>
        </p:txBody>
      </p:sp>
      <p:sp>
        <p:nvSpPr>
          <p:cNvPr id="148483" name="Rectangle 2"/>
          <p:cNvSpPr>
            <a:spLocks noRot="1" noChangeArrowheads="1" noTextEdit="1"/>
          </p:cNvSpPr>
          <p:nvPr>
            <p:ph type="sldImg"/>
          </p:nvPr>
        </p:nvSpPr>
        <p:spPr>
          <a:ln/>
        </p:spPr>
      </p:sp>
      <p:sp>
        <p:nvSpPr>
          <p:cNvPr id="1484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8279BBC-D2DD-44C3-B4E2-C3FBDAFB063A}" type="slidenum">
              <a:rPr lang="en-US" altLang="zh-CN" smtClean="0"/>
              <a:pPr eaLnBrk="1" hangingPunct="1"/>
              <a:t>58</a:t>
            </a:fld>
            <a:endParaRPr lang="en-US" altLang="zh-CN" smtClean="0"/>
          </a:p>
        </p:txBody>
      </p:sp>
      <p:sp>
        <p:nvSpPr>
          <p:cNvPr id="149507" name="Rectangle 2"/>
          <p:cNvSpPr>
            <a:spLocks noRot="1" noChangeArrowheads="1" noTextEdit="1"/>
          </p:cNvSpPr>
          <p:nvPr>
            <p:ph type="sldImg"/>
          </p:nvPr>
        </p:nvSpPr>
        <p:spPr>
          <a:ln/>
        </p:spPr>
      </p:sp>
      <p:sp>
        <p:nvSpPr>
          <p:cNvPr id="1495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6557DAB-534E-439D-905E-C0350AE8DB5B}" type="slidenum">
              <a:rPr lang="en-US" altLang="zh-CN" smtClean="0"/>
              <a:pPr eaLnBrk="1" hangingPunct="1"/>
              <a:t>59</a:t>
            </a:fld>
            <a:endParaRPr lang="en-US" altLang="zh-CN" smtClean="0"/>
          </a:p>
        </p:txBody>
      </p:sp>
      <p:sp>
        <p:nvSpPr>
          <p:cNvPr id="150531" name="Rectangle 2"/>
          <p:cNvSpPr>
            <a:spLocks noRo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3BA88B1-E34B-4E3C-B7B5-C028FA300CAA}" type="slidenum">
              <a:rPr lang="en-US" altLang="zh-CN" smtClean="0"/>
              <a:pPr eaLnBrk="1" hangingPunct="1"/>
              <a:t>60</a:t>
            </a:fld>
            <a:endParaRPr lang="en-US" altLang="zh-CN" smtClean="0"/>
          </a:p>
        </p:txBody>
      </p:sp>
      <p:sp>
        <p:nvSpPr>
          <p:cNvPr id="151555" name="Rectangle 2"/>
          <p:cNvSpPr>
            <a:spLocks noRot="1" noChangeArrowheads="1" noTextEdit="1"/>
          </p:cNvSpPr>
          <p:nvPr>
            <p:ph type="sldImg"/>
          </p:nvPr>
        </p:nvSpPr>
        <p:spPr>
          <a:ln/>
        </p:spPr>
      </p:sp>
      <p:sp>
        <p:nvSpPr>
          <p:cNvPr id="1515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46F1811E-DA36-4479-86F6-4D1ADBD85AE2}" type="slidenum">
              <a:rPr lang="en-US" altLang="zh-CN" smtClean="0"/>
              <a:pPr eaLnBrk="1" hangingPunct="1"/>
              <a:t>61</a:t>
            </a:fld>
            <a:endParaRPr lang="en-US" altLang="zh-CN" smtClean="0"/>
          </a:p>
        </p:txBody>
      </p:sp>
      <p:sp>
        <p:nvSpPr>
          <p:cNvPr id="152579" name="Rectangle 2"/>
          <p:cNvSpPr>
            <a:spLocks noRot="1"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132904F-7E69-4CFC-B998-9DC2C3045CEC}" type="slidenum">
              <a:rPr lang="en-US" altLang="zh-CN" smtClean="0"/>
              <a:pPr eaLnBrk="1" hangingPunct="1"/>
              <a:t>62</a:t>
            </a:fld>
            <a:endParaRPr lang="en-US" altLang="zh-CN" smtClean="0"/>
          </a:p>
        </p:txBody>
      </p:sp>
      <p:sp>
        <p:nvSpPr>
          <p:cNvPr id="153603" name="Rectangle 2"/>
          <p:cNvSpPr>
            <a:spLocks noRot="1" noChangeArrowheads="1" noTextEdit="1"/>
          </p:cNvSpPr>
          <p:nvPr>
            <p:ph type="sldImg"/>
          </p:nvPr>
        </p:nvSpPr>
        <p:spPr>
          <a:ln/>
        </p:spPr>
      </p:sp>
      <p:sp>
        <p:nvSpPr>
          <p:cNvPr id="1536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AFE7E0A-AC65-4F5B-9C64-39EE71F0B043}" type="slidenum">
              <a:rPr lang="en-US" altLang="zh-CN" smtClean="0"/>
              <a:pPr eaLnBrk="1" hangingPunct="1"/>
              <a:t>63</a:t>
            </a:fld>
            <a:endParaRPr lang="en-US" altLang="zh-CN" smtClean="0"/>
          </a:p>
        </p:txBody>
      </p:sp>
      <p:sp>
        <p:nvSpPr>
          <p:cNvPr id="154627" name="Rectangle 2"/>
          <p:cNvSpPr>
            <a:spLocks noRo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E51DBFD1-CD24-46B8-9C3C-40913F4C0632}" type="slidenum">
              <a:rPr lang="en-US" altLang="zh-CN" smtClean="0"/>
              <a:pPr eaLnBrk="1" hangingPunct="1"/>
              <a:t>64</a:t>
            </a:fld>
            <a:endParaRPr lang="en-US" altLang="zh-CN" smtClean="0"/>
          </a:p>
        </p:txBody>
      </p:sp>
      <p:sp>
        <p:nvSpPr>
          <p:cNvPr id="155651" name="Rectangle 2"/>
          <p:cNvSpPr>
            <a:spLocks noRo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167F92D9-74DF-4017-B666-D92BB824AD05}" type="slidenum">
              <a:rPr lang="en-US" altLang="zh-CN" smtClean="0"/>
              <a:pPr eaLnBrk="1" hangingPunct="1"/>
              <a:t>65</a:t>
            </a:fld>
            <a:endParaRPr lang="en-US" altLang="zh-CN" smtClean="0"/>
          </a:p>
        </p:txBody>
      </p:sp>
      <p:sp>
        <p:nvSpPr>
          <p:cNvPr id="156675" name="Rectangle 2"/>
          <p:cNvSpPr>
            <a:spLocks noRo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8FB09C4-E4B8-4BC6-A8EA-3F46C1ED2337}" type="slidenum">
              <a:rPr lang="en-US" altLang="zh-CN" smtClean="0"/>
              <a:pPr eaLnBrk="1" hangingPunct="1"/>
              <a:t>66</a:t>
            </a:fld>
            <a:endParaRPr lang="en-US" altLang="zh-CN" smtClean="0"/>
          </a:p>
        </p:txBody>
      </p:sp>
      <p:sp>
        <p:nvSpPr>
          <p:cNvPr id="157699" name="Rectangle 2"/>
          <p:cNvSpPr>
            <a:spLocks noRo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43DCEB7-EB3D-407E-AED4-E969B1C029BD}" type="slidenum">
              <a:rPr lang="en-US" altLang="zh-CN" smtClean="0"/>
              <a:pPr eaLnBrk="1" hangingPunct="1"/>
              <a:t>67</a:t>
            </a:fld>
            <a:endParaRPr lang="en-US" altLang="zh-CN" smtClean="0"/>
          </a:p>
        </p:txBody>
      </p:sp>
      <p:sp>
        <p:nvSpPr>
          <p:cNvPr id="158723" name="Rectangle 2"/>
          <p:cNvSpPr>
            <a:spLocks noRo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3A0F0D12-1821-4595-BCC5-D4FAB7E8C40A}" type="slidenum">
              <a:rPr lang="en-US" altLang="zh-CN" smtClean="0"/>
              <a:pPr eaLnBrk="1" hangingPunct="1"/>
              <a:t>68</a:t>
            </a:fld>
            <a:endParaRPr lang="en-US" altLang="zh-CN" smtClean="0"/>
          </a:p>
        </p:txBody>
      </p:sp>
      <p:sp>
        <p:nvSpPr>
          <p:cNvPr id="159747" name="Rectangle 2"/>
          <p:cNvSpPr>
            <a:spLocks noRo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CD97E9E-2965-4061-987E-408FBB633DF9}" type="slidenum">
              <a:rPr lang="en-US" altLang="zh-CN" smtClean="0"/>
              <a:pPr eaLnBrk="1" hangingPunct="1"/>
              <a:t>69</a:t>
            </a:fld>
            <a:endParaRPr lang="en-US" altLang="zh-CN" smtClean="0"/>
          </a:p>
        </p:txBody>
      </p:sp>
      <p:sp>
        <p:nvSpPr>
          <p:cNvPr id="160771" name="Rectangle 2"/>
          <p:cNvSpPr>
            <a:spLocks noRot="1" noChangeArrowheads="1" noTextEdit="1"/>
          </p:cNvSpPr>
          <p:nvPr>
            <p:ph type="sldImg"/>
          </p:nvPr>
        </p:nvSpPr>
        <p:spPr>
          <a:ln/>
        </p:spPr>
      </p:sp>
      <p:sp>
        <p:nvSpPr>
          <p:cNvPr id="1607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86BE2EF-946F-4731-A513-DAC5A20B47E1}" type="slidenum">
              <a:rPr lang="en-US" altLang="zh-CN" smtClean="0"/>
              <a:pPr eaLnBrk="1" hangingPunct="1"/>
              <a:t>70</a:t>
            </a:fld>
            <a:endParaRPr lang="en-US" altLang="zh-CN" smtClean="0"/>
          </a:p>
        </p:txBody>
      </p:sp>
      <p:sp>
        <p:nvSpPr>
          <p:cNvPr id="161795" name="Rectangle 2"/>
          <p:cNvSpPr>
            <a:spLocks noRo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246BBE04-E1A5-4D8C-94AD-F6AC3287CE46}" type="slidenum">
              <a:rPr lang="en-US" altLang="zh-CN" smtClean="0"/>
              <a:pPr eaLnBrk="1" hangingPunct="1"/>
              <a:t>71</a:t>
            </a:fld>
            <a:endParaRPr lang="en-US" altLang="zh-CN" smtClean="0"/>
          </a:p>
        </p:txBody>
      </p:sp>
      <p:sp>
        <p:nvSpPr>
          <p:cNvPr id="162819" name="Rectangle 2"/>
          <p:cNvSpPr>
            <a:spLocks noRot="1" noChangeArrowheads="1" noTextEdit="1"/>
          </p:cNvSpPr>
          <p:nvPr>
            <p:ph type="sldImg"/>
          </p:nvPr>
        </p:nvSpPr>
        <p:spPr>
          <a:ln/>
        </p:spPr>
      </p:sp>
      <p:sp>
        <p:nvSpPr>
          <p:cNvPr id="1628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DA25A96-D8DB-49BF-9A23-D043F64172A9}" type="slidenum">
              <a:rPr lang="en-US" altLang="zh-CN" smtClean="0"/>
              <a:pPr eaLnBrk="1" hangingPunct="1"/>
              <a:t>72</a:t>
            </a:fld>
            <a:endParaRPr lang="en-US" altLang="zh-CN" smtClean="0"/>
          </a:p>
        </p:txBody>
      </p:sp>
      <p:sp>
        <p:nvSpPr>
          <p:cNvPr id="163843" name="Rectangle 2"/>
          <p:cNvSpPr>
            <a:spLocks noRo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7F61AB4D-B456-4D66-8936-6140D6E48856}" type="slidenum">
              <a:rPr lang="en-US" altLang="zh-CN" smtClean="0"/>
              <a:pPr eaLnBrk="1" hangingPunct="1"/>
              <a:t>73</a:t>
            </a:fld>
            <a:endParaRPr lang="en-US" altLang="zh-CN" smtClean="0"/>
          </a:p>
        </p:txBody>
      </p:sp>
      <p:sp>
        <p:nvSpPr>
          <p:cNvPr id="164867" name="Rectangle 2"/>
          <p:cNvSpPr>
            <a:spLocks noRot="1"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F10E6ED-F93A-4D12-99BC-97A2B0D6A471}" type="slidenum">
              <a:rPr lang="en-US" altLang="zh-CN" smtClean="0"/>
              <a:pPr eaLnBrk="1" hangingPunct="1"/>
              <a:t>74</a:t>
            </a:fld>
            <a:endParaRPr lang="en-US" altLang="zh-CN" smtClean="0"/>
          </a:p>
        </p:txBody>
      </p:sp>
      <p:sp>
        <p:nvSpPr>
          <p:cNvPr id="165891" name="Rectangle 2"/>
          <p:cNvSpPr>
            <a:spLocks noRo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0A3E465-B6AD-44BC-9721-8BB4EA8A7142}" type="slidenum">
              <a:rPr lang="en-US" altLang="zh-CN" smtClean="0"/>
              <a:pPr eaLnBrk="1" hangingPunct="1"/>
              <a:t>75</a:t>
            </a:fld>
            <a:endParaRPr lang="en-US" altLang="zh-CN" smtClean="0"/>
          </a:p>
        </p:txBody>
      </p:sp>
      <p:sp>
        <p:nvSpPr>
          <p:cNvPr id="166915" name="Rectangle 2"/>
          <p:cNvSpPr>
            <a:spLocks noRo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9F0055AA-54D1-463B-B10F-E459D4D0A470}" type="slidenum">
              <a:rPr lang="en-US" altLang="zh-CN" smtClean="0"/>
              <a:pPr eaLnBrk="1" hangingPunct="1"/>
              <a:t>76</a:t>
            </a:fld>
            <a:endParaRPr lang="en-US" altLang="zh-CN" smtClean="0"/>
          </a:p>
        </p:txBody>
      </p:sp>
      <p:sp>
        <p:nvSpPr>
          <p:cNvPr id="167939" name="Rectangle 2"/>
          <p:cNvSpPr>
            <a:spLocks noRo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FB45F6C-D776-4E37-BC1A-AEBA9F62A0B2}" type="slidenum">
              <a:rPr lang="en-US" altLang="zh-CN" smtClean="0"/>
              <a:pPr eaLnBrk="1" hangingPunct="1"/>
              <a:t>77</a:t>
            </a:fld>
            <a:endParaRPr lang="en-US" altLang="zh-CN" smtClean="0"/>
          </a:p>
        </p:txBody>
      </p:sp>
      <p:sp>
        <p:nvSpPr>
          <p:cNvPr id="168963" name="Rectangle 2"/>
          <p:cNvSpPr>
            <a:spLocks noRot="1"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8786A53-436E-46DF-8069-8CCF136101FC}" type="slidenum">
              <a:rPr lang="en-US" altLang="zh-CN" smtClean="0"/>
              <a:pPr eaLnBrk="1" hangingPunct="1"/>
              <a:t>78</a:t>
            </a:fld>
            <a:endParaRPr lang="en-US" altLang="zh-CN" smtClean="0"/>
          </a:p>
        </p:txBody>
      </p:sp>
      <p:sp>
        <p:nvSpPr>
          <p:cNvPr id="169987" name="Rectangle 2"/>
          <p:cNvSpPr>
            <a:spLocks noRot="1" noChangeArrowheads="1" noTextEdit="1"/>
          </p:cNvSpPr>
          <p:nvPr>
            <p:ph type="sldImg"/>
          </p:nvPr>
        </p:nvSpPr>
        <p:spPr>
          <a:ln/>
        </p:spPr>
      </p:sp>
      <p:sp>
        <p:nvSpPr>
          <p:cNvPr id="1699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5DD2949B-8C63-406E-8378-31A7F09C7427}" type="slidenum">
              <a:rPr lang="en-US" altLang="zh-CN" smtClean="0"/>
              <a:pPr eaLnBrk="1" hangingPunct="1"/>
              <a:t>79</a:t>
            </a:fld>
            <a:endParaRPr lang="en-US" altLang="zh-CN" smtClean="0"/>
          </a:p>
        </p:txBody>
      </p:sp>
      <p:sp>
        <p:nvSpPr>
          <p:cNvPr id="171011" name="Rectangle 2"/>
          <p:cNvSpPr>
            <a:spLocks noRot="1" noChangeArrowheads="1" noTextEdit="1"/>
          </p:cNvSpPr>
          <p:nvPr>
            <p:ph type="sldImg"/>
          </p:nvPr>
        </p:nvSpPr>
        <p:spPr>
          <a:ln/>
        </p:spPr>
      </p:sp>
      <p:sp>
        <p:nvSpPr>
          <p:cNvPr id="1710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A5EE71A8-8C80-4CAE-9B18-9EF73D0A1024}" type="slidenum">
              <a:rPr lang="en-US" altLang="zh-CN" smtClean="0"/>
              <a:pPr eaLnBrk="1" hangingPunct="1"/>
              <a:t>80</a:t>
            </a:fld>
            <a:endParaRPr lang="en-US" altLang="zh-CN" smtClean="0"/>
          </a:p>
        </p:txBody>
      </p:sp>
      <p:sp>
        <p:nvSpPr>
          <p:cNvPr id="172035" name="Rectangle 2"/>
          <p:cNvSpPr>
            <a:spLocks noRot="1" noChangeArrowheads="1" noTextEdit="1"/>
          </p:cNvSpPr>
          <p:nvPr>
            <p:ph type="sldImg"/>
          </p:nvPr>
        </p:nvSpPr>
        <p:spPr>
          <a:ln/>
        </p:spPr>
      </p:sp>
      <p:sp>
        <p:nvSpPr>
          <p:cNvPr id="1720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1E5982C-BC9B-4556-B63D-2B14DC9D0757}" type="slidenum">
              <a:rPr lang="en-US" altLang="zh-CN" smtClean="0"/>
              <a:pPr eaLnBrk="1" hangingPunct="1"/>
              <a:t>81</a:t>
            </a:fld>
            <a:endParaRPr lang="en-US" altLang="zh-CN" smtClean="0"/>
          </a:p>
        </p:txBody>
      </p:sp>
      <p:sp>
        <p:nvSpPr>
          <p:cNvPr id="173059" name="Rectangle 2"/>
          <p:cNvSpPr>
            <a:spLocks noRot="1" noChangeArrowheads="1" noTextEdit="1"/>
          </p:cNvSpPr>
          <p:nvPr>
            <p:ph type="sldImg"/>
          </p:nvPr>
        </p:nvSpPr>
        <p:spPr>
          <a:ln/>
        </p:spPr>
      </p:sp>
      <p:sp>
        <p:nvSpPr>
          <p:cNvPr id="1730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DFCA5E8-F074-43C7-A17B-8660CA39D229}" type="slidenum">
              <a:rPr lang="en-US" altLang="zh-CN" smtClean="0"/>
              <a:pPr eaLnBrk="1" hangingPunct="1"/>
              <a:t>82</a:t>
            </a:fld>
            <a:endParaRPr lang="en-US" altLang="zh-CN" smtClean="0"/>
          </a:p>
        </p:txBody>
      </p:sp>
      <p:sp>
        <p:nvSpPr>
          <p:cNvPr id="174083" name="Rectangle 2"/>
          <p:cNvSpPr>
            <a:spLocks noRot="1" noChangeArrowheads="1" noTextEdit="1"/>
          </p:cNvSpPr>
          <p:nvPr>
            <p:ph type="sldImg"/>
          </p:nvPr>
        </p:nvSpPr>
        <p:spPr>
          <a:ln/>
        </p:spPr>
      </p:sp>
      <p:sp>
        <p:nvSpPr>
          <p:cNvPr id="1740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87F7C445-D64D-437C-BEF6-88EE11B29F48}" type="slidenum">
              <a:rPr lang="en-US" altLang="zh-CN" smtClean="0"/>
              <a:pPr eaLnBrk="1" hangingPunct="1"/>
              <a:t>83</a:t>
            </a:fld>
            <a:endParaRPr lang="en-US" altLang="zh-CN" smtClean="0"/>
          </a:p>
        </p:txBody>
      </p:sp>
      <p:sp>
        <p:nvSpPr>
          <p:cNvPr id="175107" name="Rectangle 2"/>
          <p:cNvSpPr>
            <a:spLocks noRot="1" noChangeArrowheads="1" noTextEdit="1"/>
          </p:cNvSpPr>
          <p:nvPr>
            <p:ph type="sldImg"/>
          </p:nvPr>
        </p:nvSpPr>
        <p:spPr>
          <a:ln/>
        </p:spPr>
      </p:sp>
      <p:sp>
        <p:nvSpPr>
          <p:cNvPr id="1751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CD18DDC-A846-46F2-B649-4CADF323DB9E}" type="slidenum">
              <a:rPr lang="en-US" altLang="zh-CN" smtClean="0"/>
              <a:pPr eaLnBrk="1" hangingPunct="1"/>
              <a:t>84</a:t>
            </a:fld>
            <a:endParaRPr lang="en-US" altLang="zh-CN" smtClean="0"/>
          </a:p>
        </p:txBody>
      </p:sp>
      <p:sp>
        <p:nvSpPr>
          <p:cNvPr id="176131" name="Rectangle 2"/>
          <p:cNvSpPr>
            <a:spLocks noRot="1" noChangeArrowheads="1" noTextEdit="1"/>
          </p:cNvSpPr>
          <p:nvPr>
            <p:ph type="sldImg"/>
          </p:nvPr>
        </p:nvSpPr>
        <p:spPr>
          <a:ln/>
        </p:spPr>
      </p:sp>
      <p:sp>
        <p:nvSpPr>
          <p:cNvPr id="1761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B5DFE5D4-85BC-4D4F-B2DD-6548B423CF42}" type="slidenum">
              <a:rPr lang="en-US" altLang="zh-CN" smtClean="0"/>
              <a:pPr eaLnBrk="1" hangingPunct="1"/>
              <a:t>85</a:t>
            </a:fld>
            <a:endParaRPr lang="en-US" altLang="zh-CN" smtClean="0"/>
          </a:p>
        </p:txBody>
      </p:sp>
      <p:sp>
        <p:nvSpPr>
          <p:cNvPr id="177155" name="Rectangle 2"/>
          <p:cNvSpPr>
            <a:spLocks noRot="1" noChangeArrowheads="1" noTextEdit="1"/>
          </p:cNvSpPr>
          <p:nvPr>
            <p:ph type="sldImg"/>
          </p:nvPr>
        </p:nvSpPr>
        <p:spPr>
          <a:ln/>
        </p:spPr>
      </p:sp>
      <p:sp>
        <p:nvSpPr>
          <p:cNvPr id="1771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D23CC04B-B106-4ACB-BDA9-6B7A8680164A}" type="slidenum">
              <a:rPr lang="en-US" altLang="zh-CN" smtClean="0"/>
              <a:pPr eaLnBrk="1" hangingPunct="1"/>
              <a:t>86</a:t>
            </a:fld>
            <a:endParaRPr lang="en-US" altLang="zh-CN" smtClean="0"/>
          </a:p>
        </p:txBody>
      </p:sp>
      <p:sp>
        <p:nvSpPr>
          <p:cNvPr id="178179" name="Rectangle 2"/>
          <p:cNvSpPr>
            <a:spLocks noRot="1" noChangeArrowheads="1" noTextEdit="1"/>
          </p:cNvSpPr>
          <p:nvPr>
            <p:ph type="sldImg"/>
          </p:nvPr>
        </p:nvSpPr>
        <p:spPr>
          <a:ln/>
        </p:spPr>
      </p:sp>
      <p:sp>
        <p:nvSpPr>
          <p:cNvPr id="1781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2"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bwMode="auto">
          <a:xfrm>
            <a:off x="5435600" y="6248400"/>
            <a:ext cx="3313113"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solidFill>
                  <a:schemeClr val="bg2"/>
                </a:solidFill>
                <a:latin typeface="Tahoma" pitchFamily="34" charset="0"/>
              </a:defRPr>
            </a:lvl1pPr>
          </a:lstStyle>
          <a:p>
            <a:pPr>
              <a:defRPr/>
            </a:pPr>
            <a:r>
              <a:rPr lang="en-US" altLang="zh-CN"/>
              <a:t>《</a:t>
            </a:r>
            <a:r>
              <a:rPr lang="zh-CN" altLang="en-US"/>
              <a:t>计算机网络</a:t>
            </a:r>
            <a:r>
              <a:rPr lang="en-US" altLang="zh-CN"/>
              <a:t>》</a:t>
            </a:r>
            <a:r>
              <a:rPr lang="zh-CN" altLang="en-US"/>
              <a:t>课件    制作人：谢希仁</a:t>
            </a:r>
          </a:p>
        </p:txBody>
      </p:sp>
      <p:sp>
        <p:nvSpPr>
          <p:cNvPr id="16" name="Rectangle 16"/>
          <p:cNvSpPr>
            <a:spLocks noGrp="1" noChangeArrowheads="1"/>
          </p:cNvSpPr>
          <p:nvPr>
            <p:ph type="sldNum" sz="quarter" idx="12"/>
          </p:nvPr>
        </p:nvSpPr>
        <p:spPr bwMode="auto">
          <a:xfrm>
            <a:off x="3132138"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solidFill>
                  <a:schemeClr val="bg2"/>
                </a:solidFill>
                <a:latin typeface="Tahoma" pitchFamily="34" charset="0"/>
              </a:defRPr>
            </a:lvl1pPr>
          </a:lstStyle>
          <a:p>
            <a:pPr>
              <a:defRPr/>
            </a:pPr>
            <a:fld id="{6FE79305-27D1-483E-8317-06924A8E5269}" type="slidenum">
              <a:rPr lang="en-US" altLang="zh-CN"/>
              <a:pPr>
                <a:defRPr/>
              </a:pPr>
              <a:t>‹#›</a:t>
            </a:fld>
            <a:endParaRPr lang="en-US" altLang="zh-CN"/>
          </a:p>
        </p:txBody>
      </p:sp>
    </p:spTree>
    <p:extLst>
      <p:ext uri="{BB962C8B-B14F-4D97-AF65-F5344CB8AC3E}">
        <p14:creationId xmlns:p14="http://schemas.microsoft.com/office/powerpoint/2010/main" val="3598654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16942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50834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0429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053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010100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352959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09632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62509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931847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3386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025734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214313"/>
            <a:ext cx="1974850" cy="567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042988" y="214313"/>
            <a:ext cx="5773737" cy="56737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97688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ahoma" pitchFamily="34" charset="0"/>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ahoma" pitchFamily="34" charset="0"/>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ahoma" pitchFamily="34" charset="0"/>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ahoma" pitchFamily="34" charset="0"/>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ahoma" pitchFamily="34" charset="0"/>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latin typeface="Tahoma" pitchFamily="34" charset="0"/>
            </a:endParaRPr>
          </a:p>
        </p:txBody>
      </p:sp>
      <p:sp>
        <p:nvSpPr>
          <p:cNvPr id="1032"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33" name="Rectangle 10"/>
          <p:cNvSpPr>
            <a:spLocks noGrp="1" noChangeArrowheads="1"/>
          </p:cNvSpPr>
          <p:nvPr>
            <p:ph type="body" idx="1"/>
          </p:nvPr>
        </p:nvSpPr>
        <p:spPr bwMode="auto">
          <a:xfrm>
            <a:off x="1042988" y="17732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458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latin typeface="Tahoma" pitchFamily="34"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charset="0"/>
          <a:ea typeface="黑体" pitchFamily="2" charset="-122"/>
        </a:defRPr>
      </a:lvl2pPr>
      <a:lvl3pPr algn="l" rtl="0" eaLnBrk="0" fontAlgn="base" hangingPunct="0">
        <a:spcBef>
          <a:spcPct val="0"/>
        </a:spcBef>
        <a:spcAft>
          <a:spcPct val="0"/>
        </a:spcAft>
        <a:defRPr sz="4400">
          <a:solidFill>
            <a:srgbClr val="333399"/>
          </a:solidFill>
          <a:latin typeface="Arial" charset="0"/>
          <a:ea typeface="黑体" pitchFamily="2" charset="-122"/>
        </a:defRPr>
      </a:lvl3pPr>
      <a:lvl4pPr algn="l" rtl="0" eaLnBrk="0" fontAlgn="base" hangingPunct="0">
        <a:spcBef>
          <a:spcPct val="0"/>
        </a:spcBef>
        <a:spcAft>
          <a:spcPct val="0"/>
        </a:spcAft>
        <a:defRPr sz="4400">
          <a:solidFill>
            <a:srgbClr val="333399"/>
          </a:solidFill>
          <a:latin typeface="Arial" charset="0"/>
          <a:ea typeface="黑体" pitchFamily="2" charset="-122"/>
        </a:defRPr>
      </a:lvl4pPr>
      <a:lvl5pPr algn="l" rtl="0" eaLnBrk="0" fontAlgn="base" hangingPunct="0">
        <a:spcBef>
          <a:spcPct val="0"/>
        </a:spcBef>
        <a:spcAft>
          <a:spcPct val="0"/>
        </a:spcAft>
        <a:defRPr sz="4400">
          <a:solidFill>
            <a:srgbClr val="333399"/>
          </a:solidFill>
          <a:latin typeface="Arial" charset="0"/>
          <a:ea typeface="黑体" pitchFamily="2" charset="-122"/>
        </a:defRPr>
      </a:lvl5pPr>
      <a:lvl6pPr marL="457200" algn="l" rtl="0" fontAlgn="base">
        <a:spcBef>
          <a:spcPct val="0"/>
        </a:spcBef>
        <a:spcAft>
          <a:spcPct val="0"/>
        </a:spcAft>
        <a:defRPr sz="4400">
          <a:solidFill>
            <a:srgbClr val="333399"/>
          </a:solidFill>
          <a:latin typeface="Arial" charset="0"/>
          <a:ea typeface="黑体" pitchFamily="2" charset="-122"/>
        </a:defRPr>
      </a:lvl6pPr>
      <a:lvl7pPr marL="914400" algn="l" rtl="0" fontAlgn="base">
        <a:spcBef>
          <a:spcPct val="0"/>
        </a:spcBef>
        <a:spcAft>
          <a:spcPct val="0"/>
        </a:spcAft>
        <a:defRPr sz="4400">
          <a:solidFill>
            <a:srgbClr val="333399"/>
          </a:solidFill>
          <a:latin typeface="Arial" charset="0"/>
          <a:ea typeface="黑体" pitchFamily="2" charset="-122"/>
        </a:defRPr>
      </a:lvl7pPr>
      <a:lvl8pPr marL="1371600" algn="l" rtl="0" fontAlgn="base">
        <a:spcBef>
          <a:spcPct val="0"/>
        </a:spcBef>
        <a:spcAft>
          <a:spcPct val="0"/>
        </a:spcAft>
        <a:defRPr sz="4400">
          <a:solidFill>
            <a:srgbClr val="333399"/>
          </a:solidFill>
          <a:latin typeface="Arial" charset="0"/>
          <a:ea typeface="黑体" pitchFamily="2" charset="-122"/>
        </a:defRPr>
      </a:lvl8pPr>
      <a:lvl9pPr marL="1828800" algn="l" rtl="0" fontAlgn="base">
        <a:spcBef>
          <a:spcPct val="0"/>
        </a:spcBef>
        <a:spcAft>
          <a:spcPct val="0"/>
        </a:spcAft>
        <a:defRPr sz="4400">
          <a:solidFill>
            <a:srgbClr val="333399"/>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333399"/>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wmf"/><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hyperlink" Target="http://baike.baidu.com/view/3912.ht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baike.baidu.com/view/468465.htm" TargetMode="External"/><Relationship Id="rId4" Type="http://schemas.openxmlformats.org/officeDocument/2006/relationships/hyperlink" Target="http://baike.baidu.com/view/1496.htm"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8" Type="http://schemas.openxmlformats.org/officeDocument/2006/relationships/hyperlink" Target="http://baike.baidu.com/view/1535.htm" TargetMode="External"/><Relationship Id="rId3" Type="http://schemas.openxmlformats.org/officeDocument/2006/relationships/hyperlink" Target="http://baike.baidu.com/view/899.htm" TargetMode="External"/><Relationship Id="rId7" Type="http://schemas.openxmlformats.org/officeDocument/2006/relationships/hyperlink" Target="http://baike.baidu.com/view/7718.htm" TargetMode="External"/><Relationship Id="rId2" Type="http://schemas.openxmlformats.org/officeDocument/2006/relationships/hyperlink" Target="http://baike.baidu.com/view/48534.htm" TargetMode="External"/><Relationship Id="rId1" Type="http://schemas.openxmlformats.org/officeDocument/2006/relationships/slideLayout" Target="../slideLayouts/slideLayout2.xml"/><Relationship Id="rId6" Type="http://schemas.openxmlformats.org/officeDocument/2006/relationships/hyperlink" Target="http://baike.baidu.com/view/70545.htm" TargetMode="External"/><Relationship Id="rId5" Type="http://schemas.openxmlformats.org/officeDocument/2006/relationships/hyperlink" Target="http://baike.baidu.com/view/83263.htm" TargetMode="External"/><Relationship Id="rId4" Type="http://schemas.openxmlformats.org/officeDocument/2006/relationships/hyperlink" Target="http://baike.baidu.com/view/930.ht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7.jpeg"/><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2.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3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4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wmf"/><Relationship Id="rId4" Type="http://schemas.openxmlformats.org/officeDocument/2006/relationships/oleObject" Target="../embeddings/oleObject5.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116013" y="188913"/>
            <a:ext cx="7793037" cy="1462087"/>
          </a:xfrm>
        </p:spPr>
        <p:txBody>
          <a:bodyPr/>
          <a:lstStyle/>
          <a:p>
            <a:pPr algn="ctr" eaLnBrk="1" hangingPunct="1"/>
            <a:r>
              <a:rPr lang="zh-CN" altLang="en-US" smtClean="0"/>
              <a:t>计算机网络</a:t>
            </a:r>
          </a:p>
        </p:txBody>
      </p:sp>
      <p:sp>
        <p:nvSpPr>
          <p:cNvPr id="3075" name="Rectangle 3"/>
          <p:cNvSpPr>
            <a:spLocks noGrp="1" noChangeArrowheads="1"/>
          </p:cNvSpPr>
          <p:nvPr>
            <p:ph type="body" idx="1"/>
          </p:nvPr>
        </p:nvSpPr>
        <p:spPr/>
        <p:txBody>
          <a:bodyPr/>
          <a:lstStyle/>
          <a:p>
            <a:pPr eaLnBrk="1" hangingPunct="1"/>
            <a:r>
              <a:rPr lang="zh-CN" altLang="en-US" smtClean="0"/>
              <a:t>计算机网络的定义：一些互相连接的计算机的集合。局域网、城域网、广域网、因特网。</a:t>
            </a:r>
          </a:p>
          <a:p>
            <a:pPr eaLnBrk="1" hangingPunct="1"/>
            <a:r>
              <a:rPr lang="zh-CN" altLang="en-US" smtClean="0"/>
              <a:t>本课程的主要内容：</a:t>
            </a:r>
          </a:p>
          <a:p>
            <a:pPr lvl="1" eaLnBrk="1" hangingPunct="1"/>
            <a:r>
              <a:rPr lang="zh-CN" altLang="en-US" smtClean="0"/>
              <a:t>五层体系结构、分层原因（分工）</a:t>
            </a:r>
          </a:p>
          <a:p>
            <a:pPr lvl="2" eaLnBrk="1" hangingPunct="1"/>
            <a:r>
              <a:rPr lang="zh-CN" altLang="en-US" smtClean="0"/>
              <a:t>物理层</a:t>
            </a:r>
            <a:r>
              <a:rPr lang="en-US" altLang="zh-CN" smtClean="0"/>
              <a:t>(</a:t>
            </a:r>
            <a:r>
              <a:rPr lang="zh-CN" altLang="en-US" smtClean="0"/>
              <a:t>信号发送与接收</a:t>
            </a:r>
            <a:r>
              <a:rPr lang="en-US" altLang="zh-CN" smtClean="0">
                <a:latin typeface="Arial" pitchFamily="34" charset="0"/>
              </a:rPr>
              <a:t>…</a:t>
            </a:r>
            <a:r>
              <a:rPr lang="en-US" altLang="zh-CN" smtClean="0"/>
              <a:t>)</a:t>
            </a:r>
            <a:r>
              <a:rPr lang="zh-CN" altLang="en-US" smtClean="0"/>
              <a:t>、数据链路层</a:t>
            </a:r>
            <a:r>
              <a:rPr lang="en-US" altLang="zh-CN" smtClean="0"/>
              <a:t>(</a:t>
            </a:r>
            <a:r>
              <a:rPr lang="zh-CN" altLang="en-US" smtClean="0"/>
              <a:t>检验纠错</a:t>
            </a:r>
            <a:r>
              <a:rPr lang="en-US" altLang="zh-CN" smtClean="0">
                <a:latin typeface="Arial" pitchFamily="34" charset="0"/>
              </a:rPr>
              <a:t>…</a:t>
            </a:r>
            <a:r>
              <a:rPr lang="en-US" altLang="zh-CN" smtClean="0"/>
              <a:t>)</a:t>
            </a:r>
            <a:r>
              <a:rPr lang="zh-CN" altLang="en-US" smtClean="0"/>
              <a:t>、网络层</a:t>
            </a:r>
            <a:r>
              <a:rPr lang="en-US" altLang="zh-CN" smtClean="0"/>
              <a:t>(</a:t>
            </a:r>
            <a:r>
              <a:rPr lang="zh-CN" altLang="en-US" smtClean="0"/>
              <a:t>路由</a:t>
            </a:r>
            <a:r>
              <a:rPr lang="en-US" altLang="zh-CN" smtClean="0">
                <a:latin typeface="Arial" pitchFamily="34" charset="0"/>
              </a:rPr>
              <a:t>…</a:t>
            </a:r>
            <a:r>
              <a:rPr lang="en-US" altLang="zh-CN" smtClean="0"/>
              <a:t>)</a:t>
            </a:r>
            <a:r>
              <a:rPr lang="zh-CN" altLang="en-US" smtClean="0"/>
              <a:t>、传输层、应用层</a:t>
            </a:r>
          </a:p>
          <a:p>
            <a:pPr lvl="1" eaLnBrk="1" hangingPunct="1"/>
            <a:r>
              <a:rPr lang="zh-CN" altLang="en-US" smtClean="0"/>
              <a:t>网络安全、 无线网络</a:t>
            </a:r>
          </a:p>
        </p:txBody>
      </p:sp>
      <p:pic>
        <p:nvPicPr>
          <p:cNvPr id="3076" name="Picture 6" descr="~`2%QFL{2I5]9MOZRBOD6NB"/>
          <p:cNvPicPr>
            <a:picLocks noChangeAspect="1" noChangeArrowheads="1"/>
          </p:cNvPicPr>
          <p:nvPr/>
        </p:nvPicPr>
        <p:blipFill>
          <a:blip r:embed="rId3">
            <a:lum bright="-20000" contrast="-58000"/>
            <a:extLst>
              <a:ext uri="{28A0092B-C50C-407E-A947-70E740481C1C}">
                <a14:useLocalDpi xmlns:a14="http://schemas.microsoft.com/office/drawing/2010/main" val="0"/>
              </a:ext>
            </a:extLst>
          </a:blip>
          <a:srcRect/>
          <a:stretch>
            <a:fillRect/>
          </a:stretch>
        </p:blipFill>
        <p:spPr bwMode="auto">
          <a:xfrm>
            <a:off x="0" y="5743575"/>
            <a:ext cx="164782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16013" y="-171450"/>
            <a:ext cx="7793037" cy="1462088"/>
          </a:xfrm>
        </p:spPr>
        <p:txBody>
          <a:bodyPr/>
          <a:lstStyle/>
          <a:p>
            <a:pPr algn="ctr" eaLnBrk="1" hangingPunct="1"/>
            <a:r>
              <a:rPr lang="zh-CN" altLang="en-US" smtClean="0">
                <a:solidFill>
                  <a:schemeClr val="tx1"/>
                </a:solidFill>
                <a:latin typeface="Times New Roman" pitchFamily="18" charset="0"/>
              </a:rPr>
              <a:t>计算机网络的地位</a:t>
            </a:r>
          </a:p>
        </p:txBody>
      </p:sp>
      <p:sp>
        <p:nvSpPr>
          <p:cNvPr id="394243" name="Rectangle 3"/>
          <p:cNvSpPr>
            <a:spLocks noGrp="1" noChangeArrowheads="1"/>
          </p:cNvSpPr>
          <p:nvPr>
            <p:ph type="body" idx="1"/>
          </p:nvPr>
        </p:nvSpPr>
        <p:spPr>
          <a:xfrm>
            <a:off x="323850" y="1773238"/>
            <a:ext cx="8569325" cy="4824412"/>
          </a:xfrm>
        </p:spPr>
        <p:txBody>
          <a:bodyPr/>
          <a:lstStyle/>
          <a:p>
            <a:pPr eaLnBrk="1" hangingPunct="1"/>
            <a:r>
              <a:rPr lang="zh-CN" altLang="en-US" smtClean="0">
                <a:solidFill>
                  <a:schemeClr val="tx1"/>
                </a:solidFill>
                <a:latin typeface="黑体" pitchFamily="49" charset="-122"/>
              </a:rPr>
              <a:t>三种最主要的网络：</a:t>
            </a:r>
          </a:p>
          <a:p>
            <a:pPr lvl="1" eaLnBrk="1" hangingPunct="1"/>
            <a:r>
              <a:rPr lang="zh-CN" altLang="en-US" sz="3200" smtClean="0">
                <a:latin typeface="黑体" pitchFamily="49" charset="-122"/>
              </a:rPr>
              <a:t>电信网络（电话网）</a:t>
            </a:r>
          </a:p>
          <a:p>
            <a:pPr lvl="1" eaLnBrk="1" hangingPunct="1"/>
            <a:r>
              <a:rPr lang="zh-CN" altLang="en-US" sz="3200" smtClean="0">
                <a:latin typeface="黑体" pitchFamily="49" charset="-122"/>
              </a:rPr>
              <a:t>有线电视网络</a:t>
            </a:r>
          </a:p>
          <a:p>
            <a:pPr lvl="1" eaLnBrk="1" hangingPunct="1"/>
            <a:r>
              <a:rPr lang="zh-CN" altLang="en-US" sz="3200" smtClean="0">
                <a:latin typeface="黑体" pitchFamily="49" charset="-122"/>
              </a:rPr>
              <a:t>计算机网络</a:t>
            </a:r>
          </a:p>
          <a:p>
            <a:pPr eaLnBrk="1" hangingPunct="1"/>
            <a:r>
              <a:rPr lang="zh-CN" altLang="en-US" smtClean="0">
                <a:solidFill>
                  <a:schemeClr val="tx1"/>
                </a:solidFill>
              </a:rPr>
              <a:t>在这三种网络中，计算机网络的发展最快，其技术已成为信息时代的核心技术。</a:t>
            </a:r>
          </a:p>
          <a:p>
            <a:pPr eaLnBrk="1" hangingPunct="1"/>
            <a:r>
              <a:rPr lang="zh-CN" altLang="en-US" smtClean="0">
                <a:solidFill>
                  <a:schemeClr val="tx1"/>
                </a:solidFill>
              </a:rPr>
              <a:t>三网融合（非物理融合、业务层面融合）例如手机上网、手机电视、电视网络视频点播</a:t>
            </a:r>
          </a:p>
          <a:p>
            <a:pPr eaLnBrk="1" hangingPunct="1"/>
            <a:endParaRPr lang="en-US" altLang="zh-CN" smtClean="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94243">
                                            <p:txEl>
                                              <p:pRg st="1" end="1"/>
                                            </p:txEl>
                                          </p:spTgt>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394243">
                                            <p:txEl>
                                              <p:pRg st="2" end="2"/>
                                            </p:txEl>
                                          </p:spTgt>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394243">
                                            <p:txEl>
                                              <p:pRg st="3" end="3"/>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94243">
                                            <p:txEl>
                                              <p:pRg st="4" end="4"/>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942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AutoShape 2"/>
          <p:cNvSpPr>
            <a:spLocks noChangeArrowheads="1"/>
          </p:cNvSpPr>
          <p:nvPr/>
        </p:nvSpPr>
        <p:spPr bwMode="auto">
          <a:xfrm>
            <a:off x="0" y="4581525"/>
            <a:ext cx="9144000" cy="2276475"/>
          </a:xfrm>
          <a:prstGeom prst="roundRect">
            <a:avLst>
              <a:gd name="adj" fmla="val 39259"/>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3200" b="1">
              <a:latin typeface="Times New Roman" pitchFamily="18" charset="0"/>
              <a:ea typeface="黑体" pitchFamily="49" charset="-122"/>
            </a:endParaRPr>
          </a:p>
        </p:txBody>
      </p:sp>
      <p:sp>
        <p:nvSpPr>
          <p:cNvPr id="5123" name="Rectangle 3"/>
          <p:cNvSpPr>
            <a:spLocks noGrp="1" noChangeArrowheads="1"/>
          </p:cNvSpPr>
          <p:nvPr>
            <p:ph type="title"/>
          </p:nvPr>
        </p:nvSpPr>
        <p:spPr>
          <a:xfrm>
            <a:off x="1187450" y="-242888"/>
            <a:ext cx="7793038" cy="1462088"/>
          </a:xfrm>
        </p:spPr>
        <p:txBody>
          <a:bodyPr/>
          <a:lstStyle/>
          <a:p>
            <a:pPr eaLnBrk="1" hangingPunct="1"/>
            <a:r>
              <a:rPr lang="zh-CN" altLang="en-US" smtClean="0"/>
              <a:t>计算机网络、互连网、互联网</a:t>
            </a:r>
          </a:p>
        </p:txBody>
      </p:sp>
      <p:sp>
        <p:nvSpPr>
          <p:cNvPr id="396292" name="Rectangle 4"/>
          <p:cNvSpPr>
            <a:spLocks noGrp="1" noChangeArrowheads="1"/>
          </p:cNvSpPr>
          <p:nvPr>
            <p:ph type="body" idx="1"/>
          </p:nvPr>
        </p:nvSpPr>
        <p:spPr>
          <a:xfrm>
            <a:off x="1042988" y="1341438"/>
            <a:ext cx="8101012" cy="2708275"/>
          </a:xfrm>
        </p:spPr>
        <p:txBody>
          <a:bodyPr/>
          <a:lstStyle/>
          <a:p>
            <a:pPr eaLnBrk="1" hangingPunct="1"/>
            <a:r>
              <a:rPr lang="zh-CN" altLang="en-US" smtClean="0"/>
              <a:t>计算机网络：一些相互连接的计算机的集合。</a:t>
            </a:r>
          </a:p>
          <a:p>
            <a:pPr eaLnBrk="1" hangingPunct="1"/>
            <a:r>
              <a:rPr lang="zh-CN" altLang="en-US" smtClean="0"/>
              <a:t>互连网：一些相互连接的计算机网络的集合（网络的网络）。 </a:t>
            </a:r>
            <a:r>
              <a:rPr lang="en-US" altLang="zh-CN" sz="2400" smtClean="0"/>
              <a:t>interconnection network </a:t>
            </a:r>
          </a:p>
          <a:p>
            <a:pPr eaLnBrk="1" hangingPunct="1"/>
            <a:r>
              <a:rPr lang="zh-CN" altLang="en-US" smtClean="0"/>
              <a:t>互联网：就是互连网的同义词。</a:t>
            </a:r>
          </a:p>
          <a:p>
            <a:pPr eaLnBrk="1" hangingPunct="1"/>
            <a:endParaRPr lang="en-US" altLang="zh-CN" smtClean="0"/>
          </a:p>
        </p:txBody>
      </p:sp>
      <p:sp>
        <p:nvSpPr>
          <p:cNvPr id="396293" name="Line 5"/>
          <p:cNvSpPr>
            <a:spLocks noChangeShapeType="1"/>
          </p:cNvSpPr>
          <p:nvPr/>
        </p:nvSpPr>
        <p:spPr bwMode="auto">
          <a:xfrm flipV="1">
            <a:off x="2268538" y="5300663"/>
            <a:ext cx="1655762"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6294" name="Line 6"/>
          <p:cNvSpPr>
            <a:spLocks noChangeShapeType="1"/>
          </p:cNvSpPr>
          <p:nvPr/>
        </p:nvSpPr>
        <p:spPr bwMode="auto">
          <a:xfrm>
            <a:off x="2051050" y="5805488"/>
            <a:ext cx="1368425" cy="5762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6295" name="Line 7"/>
          <p:cNvSpPr>
            <a:spLocks noChangeShapeType="1"/>
          </p:cNvSpPr>
          <p:nvPr/>
        </p:nvSpPr>
        <p:spPr bwMode="auto">
          <a:xfrm flipV="1">
            <a:off x="3924300" y="6237288"/>
            <a:ext cx="1943100" cy="714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6296" name="Line 8"/>
          <p:cNvSpPr>
            <a:spLocks noChangeShapeType="1"/>
          </p:cNvSpPr>
          <p:nvPr/>
        </p:nvSpPr>
        <p:spPr bwMode="auto">
          <a:xfrm>
            <a:off x="4787900" y="5373688"/>
            <a:ext cx="1296988" cy="7191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6297" name="Line 9"/>
          <p:cNvSpPr>
            <a:spLocks noChangeShapeType="1"/>
          </p:cNvSpPr>
          <p:nvPr/>
        </p:nvSpPr>
        <p:spPr bwMode="auto">
          <a:xfrm flipH="1">
            <a:off x="3708400" y="5300663"/>
            <a:ext cx="719138" cy="10080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96298" name="Group 10"/>
          <p:cNvGrpSpPr>
            <a:grpSpLocks/>
          </p:cNvGrpSpPr>
          <p:nvPr/>
        </p:nvGrpSpPr>
        <p:grpSpPr bwMode="auto">
          <a:xfrm>
            <a:off x="971550" y="5229225"/>
            <a:ext cx="1655763" cy="935038"/>
            <a:chOff x="1565" y="3521"/>
            <a:chExt cx="1043" cy="589"/>
          </a:xfrm>
        </p:grpSpPr>
        <p:grpSp>
          <p:nvGrpSpPr>
            <p:cNvPr id="5198" name="Group 11"/>
            <p:cNvGrpSpPr>
              <a:grpSpLocks/>
            </p:cNvGrpSpPr>
            <p:nvPr/>
          </p:nvGrpSpPr>
          <p:grpSpPr bwMode="auto">
            <a:xfrm>
              <a:off x="1565" y="3521"/>
              <a:ext cx="1043" cy="589"/>
              <a:chOff x="912" y="768"/>
              <a:chExt cx="2400" cy="1584"/>
            </a:xfrm>
          </p:grpSpPr>
          <p:sp>
            <p:nvSpPr>
              <p:cNvPr id="5200" name="Oval 12"/>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1" name="Oval 13"/>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2" name="Oval 14"/>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3" name="Oval 15"/>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4" name="Oval 16"/>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5" name="Oval 17"/>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6" name="Oval 18"/>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7" name="Oval 19"/>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08" name="Oval 20"/>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209" name="Group 21"/>
              <p:cNvGrpSpPr>
                <a:grpSpLocks/>
              </p:cNvGrpSpPr>
              <p:nvPr/>
            </p:nvGrpSpPr>
            <p:grpSpPr bwMode="auto">
              <a:xfrm>
                <a:off x="912" y="768"/>
                <a:ext cx="2386" cy="1553"/>
                <a:chOff x="912" y="768"/>
                <a:chExt cx="2386" cy="1553"/>
              </a:xfrm>
            </p:grpSpPr>
            <p:sp>
              <p:nvSpPr>
                <p:cNvPr id="5210" name="Oval 22"/>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1" name="Oval 23"/>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2" name="Oval 24"/>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3" name="Oval 25"/>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4" name="Oval 26"/>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5" name="Oval 27"/>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6" name="Oval 28"/>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7" name="Oval 29"/>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18" name="Oval 30"/>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5199" name="Text Box 31"/>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CC"/>
                  </a:solidFill>
                  <a:latin typeface="Times New Roman" pitchFamily="18" charset="0"/>
                  <a:ea typeface="黑体" pitchFamily="49" charset="-122"/>
                </a:rPr>
                <a:t>计算机网络</a:t>
              </a:r>
            </a:p>
          </p:txBody>
        </p:sp>
      </p:grpSp>
      <p:grpSp>
        <p:nvGrpSpPr>
          <p:cNvPr id="396320" name="Group 32"/>
          <p:cNvGrpSpPr>
            <a:grpSpLocks/>
          </p:cNvGrpSpPr>
          <p:nvPr/>
        </p:nvGrpSpPr>
        <p:grpSpPr bwMode="auto">
          <a:xfrm>
            <a:off x="2700338" y="5922963"/>
            <a:ext cx="1655762" cy="935037"/>
            <a:chOff x="1565" y="3521"/>
            <a:chExt cx="1043" cy="589"/>
          </a:xfrm>
        </p:grpSpPr>
        <p:grpSp>
          <p:nvGrpSpPr>
            <p:cNvPr id="5177" name="Group 33"/>
            <p:cNvGrpSpPr>
              <a:grpSpLocks/>
            </p:cNvGrpSpPr>
            <p:nvPr/>
          </p:nvGrpSpPr>
          <p:grpSpPr bwMode="auto">
            <a:xfrm>
              <a:off x="1565" y="3521"/>
              <a:ext cx="1043" cy="589"/>
              <a:chOff x="912" y="768"/>
              <a:chExt cx="2400" cy="1584"/>
            </a:xfrm>
          </p:grpSpPr>
          <p:sp>
            <p:nvSpPr>
              <p:cNvPr id="5179" name="Oval 3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0" name="Oval 3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1" name="Oval 3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2" name="Oval 3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3" name="Oval 3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4" name="Oval 3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5" name="Oval 4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6" name="Oval 4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87" name="Oval 4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88" name="Group 43"/>
              <p:cNvGrpSpPr>
                <a:grpSpLocks/>
              </p:cNvGrpSpPr>
              <p:nvPr/>
            </p:nvGrpSpPr>
            <p:grpSpPr bwMode="auto">
              <a:xfrm>
                <a:off x="912" y="768"/>
                <a:ext cx="2386" cy="1553"/>
                <a:chOff x="912" y="768"/>
                <a:chExt cx="2386" cy="1553"/>
              </a:xfrm>
            </p:grpSpPr>
            <p:sp>
              <p:nvSpPr>
                <p:cNvPr id="5189" name="Oval 4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0" name="Oval 4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1" name="Oval 4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2" name="Oval 4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3" name="Oval 4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4" name="Oval 4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5" name="Oval 5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6" name="Oval 5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97" name="Oval 5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5178" name="Text Box 53"/>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CC"/>
                  </a:solidFill>
                  <a:latin typeface="Times New Roman" pitchFamily="18" charset="0"/>
                  <a:ea typeface="黑体" pitchFamily="49" charset="-122"/>
                </a:rPr>
                <a:t>计算机网络</a:t>
              </a:r>
            </a:p>
          </p:txBody>
        </p:sp>
      </p:grpSp>
      <p:grpSp>
        <p:nvGrpSpPr>
          <p:cNvPr id="396342" name="Group 54"/>
          <p:cNvGrpSpPr>
            <a:grpSpLocks/>
          </p:cNvGrpSpPr>
          <p:nvPr/>
        </p:nvGrpSpPr>
        <p:grpSpPr bwMode="auto">
          <a:xfrm>
            <a:off x="3563938" y="4724400"/>
            <a:ext cx="1655762" cy="935038"/>
            <a:chOff x="1565" y="3521"/>
            <a:chExt cx="1043" cy="589"/>
          </a:xfrm>
        </p:grpSpPr>
        <p:grpSp>
          <p:nvGrpSpPr>
            <p:cNvPr id="5156" name="Group 55"/>
            <p:cNvGrpSpPr>
              <a:grpSpLocks/>
            </p:cNvGrpSpPr>
            <p:nvPr/>
          </p:nvGrpSpPr>
          <p:grpSpPr bwMode="auto">
            <a:xfrm>
              <a:off x="1565" y="3521"/>
              <a:ext cx="1043" cy="589"/>
              <a:chOff x="912" y="768"/>
              <a:chExt cx="2400" cy="1584"/>
            </a:xfrm>
          </p:grpSpPr>
          <p:sp>
            <p:nvSpPr>
              <p:cNvPr id="5158" name="Oval 56"/>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9" name="Oval 57"/>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0" name="Oval 58"/>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1" name="Oval 59"/>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2" name="Oval 60"/>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3" name="Oval 61"/>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4" name="Oval 62"/>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5" name="Oval 63"/>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6" name="Oval 64"/>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67" name="Group 65"/>
              <p:cNvGrpSpPr>
                <a:grpSpLocks/>
              </p:cNvGrpSpPr>
              <p:nvPr/>
            </p:nvGrpSpPr>
            <p:grpSpPr bwMode="auto">
              <a:xfrm>
                <a:off x="912" y="768"/>
                <a:ext cx="2386" cy="1553"/>
                <a:chOff x="912" y="768"/>
                <a:chExt cx="2386" cy="1553"/>
              </a:xfrm>
            </p:grpSpPr>
            <p:sp>
              <p:nvSpPr>
                <p:cNvPr id="5168" name="Oval 66"/>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69" name="Oval 67"/>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0" name="Oval 68"/>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1" name="Oval 69"/>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2" name="Oval 70"/>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3" name="Oval 71"/>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4" name="Oval 72"/>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5" name="Oval 73"/>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76" name="Oval 74"/>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5157" name="Text Box 75"/>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CC"/>
                  </a:solidFill>
                  <a:latin typeface="Times New Roman" pitchFamily="18" charset="0"/>
                  <a:ea typeface="黑体" pitchFamily="49" charset="-122"/>
                </a:rPr>
                <a:t>计算机网络</a:t>
              </a:r>
            </a:p>
          </p:txBody>
        </p:sp>
      </p:grpSp>
      <p:grpSp>
        <p:nvGrpSpPr>
          <p:cNvPr id="396364" name="Group 76"/>
          <p:cNvGrpSpPr>
            <a:grpSpLocks/>
          </p:cNvGrpSpPr>
          <p:nvPr/>
        </p:nvGrpSpPr>
        <p:grpSpPr bwMode="auto">
          <a:xfrm>
            <a:off x="5508625" y="5734050"/>
            <a:ext cx="1655763" cy="935038"/>
            <a:chOff x="1565" y="3521"/>
            <a:chExt cx="1043" cy="589"/>
          </a:xfrm>
        </p:grpSpPr>
        <p:grpSp>
          <p:nvGrpSpPr>
            <p:cNvPr id="5135" name="Group 77"/>
            <p:cNvGrpSpPr>
              <a:grpSpLocks/>
            </p:cNvGrpSpPr>
            <p:nvPr/>
          </p:nvGrpSpPr>
          <p:grpSpPr bwMode="auto">
            <a:xfrm>
              <a:off x="1565" y="3521"/>
              <a:ext cx="1043" cy="589"/>
              <a:chOff x="912" y="768"/>
              <a:chExt cx="2400" cy="1584"/>
            </a:xfrm>
          </p:grpSpPr>
          <p:sp>
            <p:nvSpPr>
              <p:cNvPr id="5137" name="Oval 78"/>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8" name="Oval 79"/>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39" name="Oval 80"/>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0" name="Oval 81"/>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1" name="Oval 82"/>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2" name="Oval 83"/>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3" name="Oval 84"/>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4" name="Oval 85"/>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5" name="Oval 86"/>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146" name="Group 87"/>
              <p:cNvGrpSpPr>
                <a:grpSpLocks/>
              </p:cNvGrpSpPr>
              <p:nvPr/>
            </p:nvGrpSpPr>
            <p:grpSpPr bwMode="auto">
              <a:xfrm>
                <a:off x="912" y="768"/>
                <a:ext cx="2386" cy="1553"/>
                <a:chOff x="912" y="768"/>
                <a:chExt cx="2386" cy="1553"/>
              </a:xfrm>
            </p:grpSpPr>
            <p:sp>
              <p:nvSpPr>
                <p:cNvPr id="5147" name="Oval 88"/>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8" name="Oval 89"/>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49" name="Oval 90"/>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0" name="Oval 91"/>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1" name="Oval 92"/>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2" name="Oval 93"/>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3" name="Oval 94"/>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4" name="Oval 95"/>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55" name="Oval 96"/>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5136" name="Text Box 97"/>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CC"/>
                  </a:solidFill>
                  <a:latin typeface="Times New Roman" pitchFamily="18" charset="0"/>
                  <a:ea typeface="黑体" pitchFamily="49" charset="-122"/>
                </a:rPr>
                <a:t>计算机网络</a:t>
              </a:r>
            </a:p>
          </p:txBody>
        </p:sp>
      </p:grpSp>
      <p:sp>
        <p:nvSpPr>
          <p:cNvPr id="396386" name="Text Box 98"/>
          <p:cNvSpPr txBox="1">
            <a:spLocks noChangeArrowheads="1"/>
          </p:cNvSpPr>
          <p:nvPr/>
        </p:nvSpPr>
        <p:spPr bwMode="auto">
          <a:xfrm>
            <a:off x="5651500" y="4724400"/>
            <a:ext cx="3028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a:effectLst>
                  <a:outerShdw blurRad="38100" dist="38100" dir="2700000" algn="tl">
                    <a:srgbClr val="C0C0C0"/>
                  </a:outerShdw>
                </a:effectLst>
                <a:latin typeface="Times New Roman" pitchFamily="18" charset="0"/>
                <a:ea typeface="黑体" pitchFamily="2" charset="-122"/>
              </a:rPr>
              <a:t>互连网，互联网</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9629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629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629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9629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96320"/>
                                        </p:tgtEl>
                                        <p:attrNameLst>
                                          <p:attrName>style.visibility</p:attrName>
                                        </p:attrNameLst>
                                      </p:cBhvr>
                                      <p:to>
                                        <p:strVal val="visible"/>
                                      </p:to>
                                    </p:set>
                                  </p:childTnLst>
                                </p:cTn>
                              </p:par>
                            </p:childTnLst>
                          </p:cTn>
                        </p:par>
                        <p:par>
                          <p:cTn id="23" fill="hold" nodeType="afterGroup">
                            <p:stCondLst>
                              <p:cond delay="0"/>
                            </p:stCondLst>
                            <p:childTnLst>
                              <p:par>
                                <p:cTn id="24" presetID="1" presetClass="entr" presetSubtype="0" fill="hold" nodeType="afterEffect">
                                  <p:stCondLst>
                                    <p:cond delay="500"/>
                                  </p:stCondLst>
                                  <p:childTnLst>
                                    <p:set>
                                      <p:cBhvr>
                                        <p:cTn id="25" dur="1" fill="hold">
                                          <p:stCondLst>
                                            <p:cond delay="0"/>
                                          </p:stCondLst>
                                        </p:cTn>
                                        <p:tgtEl>
                                          <p:spTgt spid="396342"/>
                                        </p:tgtEl>
                                        <p:attrNameLst>
                                          <p:attrName>style.visibility</p:attrName>
                                        </p:attrNameLst>
                                      </p:cBhvr>
                                      <p:to>
                                        <p:strVal val="visible"/>
                                      </p:to>
                                    </p:set>
                                  </p:childTnLst>
                                </p:cTn>
                              </p:par>
                            </p:childTnLst>
                          </p:cTn>
                        </p:par>
                        <p:par>
                          <p:cTn id="26" fill="hold" nodeType="afterGroup">
                            <p:stCondLst>
                              <p:cond delay="500"/>
                            </p:stCondLst>
                            <p:childTnLst>
                              <p:par>
                                <p:cTn id="27" presetID="1" presetClass="entr" presetSubtype="0" fill="hold" nodeType="afterEffect">
                                  <p:stCondLst>
                                    <p:cond delay="500"/>
                                  </p:stCondLst>
                                  <p:childTnLst>
                                    <p:set>
                                      <p:cBhvr>
                                        <p:cTn id="28" dur="1" fill="hold">
                                          <p:stCondLst>
                                            <p:cond delay="0"/>
                                          </p:stCondLst>
                                        </p:cTn>
                                        <p:tgtEl>
                                          <p:spTgt spid="396364"/>
                                        </p:tgtEl>
                                        <p:attrNameLst>
                                          <p:attrName>style.visibility</p:attrName>
                                        </p:attrNameLst>
                                      </p:cBhvr>
                                      <p:to>
                                        <p:strVal val="visible"/>
                                      </p:to>
                                    </p:set>
                                  </p:childTnLst>
                                </p:cTn>
                              </p:par>
                            </p:childTnLst>
                          </p:cTn>
                        </p:par>
                        <p:par>
                          <p:cTn id="29" fill="hold" nodeType="afterGroup">
                            <p:stCondLst>
                              <p:cond delay="1000"/>
                            </p:stCondLst>
                            <p:childTnLst>
                              <p:par>
                                <p:cTn id="30" presetID="1" presetClass="entr" presetSubtype="0" fill="hold" grpId="0" nodeType="afterEffect">
                                  <p:stCondLst>
                                    <p:cond delay="500"/>
                                  </p:stCondLst>
                                  <p:childTnLst>
                                    <p:set>
                                      <p:cBhvr>
                                        <p:cTn id="31" dur="1" fill="hold">
                                          <p:stCondLst>
                                            <p:cond delay="0"/>
                                          </p:stCondLst>
                                        </p:cTn>
                                        <p:tgtEl>
                                          <p:spTgt spid="396293"/>
                                        </p:tgtEl>
                                        <p:attrNameLst>
                                          <p:attrName>style.visibility</p:attrName>
                                        </p:attrNameLst>
                                      </p:cBhvr>
                                      <p:to>
                                        <p:strVal val="visible"/>
                                      </p:to>
                                    </p:set>
                                  </p:childTnLst>
                                </p:cTn>
                              </p:par>
                            </p:childTnLst>
                          </p:cTn>
                        </p:par>
                        <p:par>
                          <p:cTn id="32" fill="hold" nodeType="afterGroup">
                            <p:stCondLst>
                              <p:cond delay="1500"/>
                            </p:stCondLst>
                            <p:childTnLst>
                              <p:par>
                                <p:cTn id="33" presetID="1" presetClass="entr" presetSubtype="0" fill="hold" grpId="0" nodeType="afterEffect">
                                  <p:stCondLst>
                                    <p:cond delay="500"/>
                                  </p:stCondLst>
                                  <p:childTnLst>
                                    <p:set>
                                      <p:cBhvr>
                                        <p:cTn id="34" dur="1" fill="hold">
                                          <p:stCondLst>
                                            <p:cond delay="0"/>
                                          </p:stCondLst>
                                        </p:cTn>
                                        <p:tgtEl>
                                          <p:spTgt spid="396294"/>
                                        </p:tgtEl>
                                        <p:attrNameLst>
                                          <p:attrName>style.visibility</p:attrName>
                                        </p:attrNameLst>
                                      </p:cBhvr>
                                      <p:to>
                                        <p:strVal val="visible"/>
                                      </p:to>
                                    </p:set>
                                  </p:childTnLst>
                                </p:cTn>
                              </p:par>
                            </p:childTnLst>
                          </p:cTn>
                        </p:par>
                        <p:par>
                          <p:cTn id="35" fill="hold" nodeType="afterGroup">
                            <p:stCondLst>
                              <p:cond delay="2000"/>
                            </p:stCondLst>
                            <p:childTnLst>
                              <p:par>
                                <p:cTn id="36" presetID="1" presetClass="entr" presetSubtype="0" fill="hold" grpId="0" nodeType="afterEffect">
                                  <p:stCondLst>
                                    <p:cond delay="500"/>
                                  </p:stCondLst>
                                  <p:childTnLst>
                                    <p:set>
                                      <p:cBhvr>
                                        <p:cTn id="37" dur="1" fill="hold">
                                          <p:stCondLst>
                                            <p:cond delay="0"/>
                                          </p:stCondLst>
                                        </p:cTn>
                                        <p:tgtEl>
                                          <p:spTgt spid="396297"/>
                                        </p:tgtEl>
                                        <p:attrNameLst>
                                          <p:attrName>style.visibility</p:attrName>
                                        </p:attrNameLst>
                                      </p:cBhvr>
                                      <p:to>
                                        <p:strVal val="visible"/>
                                      </p:to>
                                    </p:set>
                                  </p:childTnLst>
                                </p:cTn>
                              </p:par>
                            </p:childTnLst>
                          </p:cTn>
                        </p:par>
                        <p:par>
                          <p:cTn id="38" fill="hold" nodeType="afterGroup">
                            <p:stCondLst>
                              <p:cond delay="2500"/>
                            </p:stCondLst>
                            <p:childTnLst>
                              <p:par>
                                <p:cTn id="39" presetID="1" presetClass="entr" presetSubtype="0" fill="hold" grpId="0" nodeType="afterEffect">
                                  <p:stCondLst>
                                    <p:cond delay="500"/>
                                  </p:stCondLst>
                                  <p:childTnLst>
                                    <p:set>
                                      <p:cBhvr>
                                        <p:cTn id="40" dur="1" fill="hold">
                                          <p:stCondLst>
                                            <p:cond delay="0"/>
                                          </p:stCondLst>
                                        </p:cTn>
                                        <p:tgtEl>
                                          <p:spTgt spid="396295"/>
                                        </p:tgtEl>
                                        <p:attrNameLst>
                                          <p:attrName>style.visibility</p:attrName>
                                        </p:attrNameLst>
                                      </p:cBhvr>
                                      <p:to>
                                        <p:strVal val="visible"/>
                                      </p:to>
                                    </p:set>
                                  </p:childTnLst>
                                </p:cTn>
                              </p:par>
                            </p:childTnLst>
                          </p:cTn>
                        </p:par>
                        <p:par>
                          <p:cTn id="41" fill="hold" nodeType="afterGroup">
                            <p:stCondLst>
                              <p:cond delay="3000"/>
                            </p:stCondLst>
                            <p:childTnLst>
                              <p:par>
                                <p:cTn id="42" presetID="1" presetClass="entr" presetSubtype="0" fill="hold" grpId="0" nodeType="afterEffect">
                                  <p:stCondLst>
                                    <p:cond delay="500"/>
                                  </p:stCondLst>
                                  <p:childTnLst>
                                    <p:set>
                                      <p:cBhvr>
                                        <p:cTn id="43" dur="1" fill="hold">
                                          <p:stCondLst>
                                            <p:cond delay="0"/>
                                          </p:stCondLst>
                                        </p:cTn>
                                        <p:tgtEl>
                                          <p:spTgt spid="396296"/>
                                        </p:tgtEl>
                                        <p:attrNameLst>
                                          <p:attrName>style.visibility</p:attrName>
                                        </p:attrNameLst>
                                      </p:cBhvr>
                                      <p:to>
                                        <p:strVal val="visible"/>
                                      </p:to>
                                    </p:set>
                                  </p:childTnLst>
                                </p:cTn>
                              </p:par>
                            </p:childTnLst>
                          </p:cTn>
                        </p:par>
                        <p:par>
                          <p:cTn id="44" fill="hold" nodeType="afterGroup">
                            <p:stCondLst>
                              <p:cond delay="3500"/>
                            </p:stCondLst>
                            <p:childTnLst>
                              <p:par>
                                <p:cTn id="45" presetID="1" presetClass="entr" presetSubtype="0" fill="hold" grpId="0" nodeType="afterEffect">
                                  <p:stCondLst>
                                    <p:cond delay="500"/>
                                  </p:stCondLst>
                                  <p:childTnLst>
                                    <p:set>
                                      <p:cBhvr>
                                        <p:cTn id="46" dur="1" fill="hold">
                                          <p:stCondLst>
                                            <p:cond delay="0"/>
                                          </p:stCondLst>
                                        </p:cTn>
                                        <p:tgtEl>
                                          <p:spTgt spid="396290"/>
                                        </p:tgtEl>
                                        <p:attrNameLst>
                                          <p:attrName>style.visibility</p:attrName>
                                        </p:attrNameLst>
                                      </p:cBhvr>
                                      <p:to>
                                        <p:strVal val="visible"/>
                                      </p:to>
                                    </p:set>
                                  </p:childTnLst>
                                </p:cTn>
                              </p:par>
                            </p:childTnLst>
                          </p:cTn>
                        </p:par>
                        <p:par>
                          <p:cTn id="47" fill="hold" nodeType="afterGroup">
                            <p:stCondLst>
                              <p:cond delay="4000"/>
                            </p:stCondLst>
                            <p:childTnLst>
                              <p:par>
                                <p:cTn id="48" presetID="1" presetClass="entr" presetSubtype="0" fill="hold" grpId="0" nodeType="afterEffect">
                                  <p:stCondLst>
                                    <p:cond delay="0"/>
                                  </p:stCondLst>
                                  <p:childTnLst>
                                    <p:set>
                                      <p:cBhvr>
                                        <p:cTn id="49" dur="1" fill="hold">
                                          <p:stCondLst>
                                            <p:cond delay="0"/>
                                          </p:stCondLst>
                                        </p:cTn>
                                        <p:tgtEl>
                                          <p:spTgt spid="396386"/>
                                        </p:tgtEl>
                                        <p:attrNameLst>
                                          <p:attrName>style.visibility</p:attrName>
                                        </p:attrNameLst>
                                      </p:cBhvr>
                                      <p:to>
                                        <p:strVal val="visible"/>
                                      </p:to>
                                    </p:set>
                                  </p:childTnLst>
                                </p:cTn>
                              </p:par>
                            </p:childTnLst>
                          </p:cTn>
                        </p:par>
                        <p:par>
                          <p:cTn id="50" fill="hold" nodeType="afterGroup">
                            <p:stCondLst>
                              <p:cond delay="4000"/>
                            </p:stCondLst>
                            <p:childTnLst>
                              <p:par>
                                <p:cTn id="51" presetID="35" presetClass="emph" presetSubtype="0" fill="hold" grpId="1" nodeType="afterEffect">
                                  <p:stCondLst>
                                    <p:cond delay="0"/>
                                  </p:stCondLst>
                                  <p:childTnLst>
                                    <p:anim calcmode="discrete" valueType="str">
                                      <p:cBhvr>
                                        <p:cTn id="52" dur="1000" fill="hold"/>
                                        <p:tgtEl>
                                          <p:spTgt spid="396386"/>
                                        </p:tgtEl>
                                        <p:attrNameLst>
                                          <p:attrName>style.visibility</p:attrName>
                                        </p:attrNameLst>
                                      </p:cBhvr>
                                      <p:tavLst>
                                        <p:tav tm="0">
                                          <p:val>
                                            <p:strVal val="hidden"/>
                                          </p:val>
                                        </p:tav>
                                        <p:tav tm="50000">
                                          <p:val>
                                            <p:strVal val="visible"/>
                                          </p:val>
                                        </p:tav>
                                      </p:tavLst>
                                    </p:anim>
                                  </p:childTnLst>
                                </p:cTn>
                              </p:par>
                            </p:childTnLst>
                          </p:cTn>
                        </p:par>
                        <p:par>
                          <p:cTn id="53" fill="hold" nodeType="afterGroup">
                            <p:stCondLst>
                              <p:cond delay="5000"/>
                            </p:stCondLst>
                            <p:childTnLst>
                              <p:par>
                                <p:cTn id="54" presetID="35" presetClass="emph" presetSubtype="0" fill="hold" grpId="2" nodeType="afterEffect">
                                  <p:stCondLst>
                                    <p:cond delay="0"/>
                                  </p:stCondLst>
                                  <p:childTnLst>
                                    <p:anim calcmode="discrete" valueType="str">
                                      <p:cBhvr>
                                        <p:cTn id="55" dur="1000" fill="hold"/>
                                        <p:tgtEl>
                                          <p:spTgt spid="3963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0" grpId="0" animBg="1"/>
      <p:bldP spid="396292" grpId="0" build="p"/>
      <p:bldP spid="396293" grpId="0" animBg="1"/>
      <p:bldP spid="396294" grpId="0" animBg="1"/>
      <p:bldP spid="396295" grpId="0" animBg="1"/>
      <p:bldP spid="396296" grpId="0" animBg="1"/>
      <p:bldP spid="396297" grpId="0" animBg="1"/>
      <p:bldP spid="396386" grpId="0"/>
      <p:bldP spid="396386" grpId="1"/>
      <p:bldP spid="396386" grpId="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body" idx="1"/>
          </p:nvPr>
        </p:nvSpPr>
        <p:spPr>
          <a:xfrm>
            <a:off x="457200" y="1600200"/>
            <a:ext cx="8229600" cy="4781550"/>
          </a:xfrm>
        </p:spPr>
        <p:txBody>
          <a:bodyPr/>
          <a:lstStyle/>
          <a:p>
            <a:pPr eaLnBrk="1" hangingPunct="1">
              <a:lnSpc>
                <a:spcPct val="90000"/>
              </a:lnSpc>
            </a:pPr>
            <a:r>
              <a:rPr lang="en-US" altLang="zh-CN" smtClean="0"/>
              <a:t>1997 </a:t>
            </a:r>
            <a:r>
              <a:rPr lang="zh-CN" altLang="en-US" smtClean="0"/>
              <a:t>年 </a:t>
            </a:r>
            <a:r>
              <a:rPr lang="en-US" altLang="zh-CN" smtClean="0"/>
              <a:t>8 </a:t>
            </a:r>
            <a:r>
              <a:rPr lang="zh-CN" altLang="en-US" smtClean="0"/>
              <a:t>月全国科学技术名词审定委员会在其</a:t>
            </a:r>
            <a:r>
              <a:rPr lang="zh-CN" altLang="en-US" smtClean="0">
                <a:latin typeface="宋体" pitchFamily="2" charset="-122"/>
                <a:ea typeface="宋体" pitchFamily="2" charset="-122"/>
              </a:rPr>
              <a:t>“</a:t>
            </a:r>
            <a:r>
              <a:rPr lang="zh-CN" altLang="en-US" smtClean="0"/>
              <a:t>推荐名</a:t>
            </a:r>
            <a:r>
              <a:rPr lang="en-US" altLang="zh-CN" smtClean="0"/>
              <a:t>(</a:t>
            </a:r>
            <a:r>
              <a:rPr lang="zh-CN" altLang="en-US" smtClean="0"/>
              <a:t>一</a:t>
            </a:r>
            <a:r>
              <a:rPr lang="en-US" altLang="zh-CN" smtClean="0"/>
              <a:t>)</a:t>
            </a:r>
            <a:r>
              <a:rPr lang="en-US" altLang="zh-CN" smtClean="0">
                <a:latin typeface="宋体" pitchFamily="2" charset="-122"/>
                <a:ea typeface="宋体" pitchFamily="2" charset="-122"/>
              </a:rPr>
              <a:t>”</a:t>
            </a:r>
            <a:r>
              <a:rPr lang="zh-CN" altLang="en-US" smtClean="0"/>
              <a:t>中：</a:t>
            </a:r>
          </a:p>
          <a:p>
            <a:pPr lvl="1" eaLnBrk="1" hangingPunct="1">
              <a:lnSpc>
                <a:spcPct val="90000"/>
              </a:lnSpc>
            </a:pPr>
            <a:r>
              <a:rPr lang="en-US" altLang="zh-CN" smtClean="0"/>
              <a:t>internet</a:t>
            </a:r>
          </a:p>
          <a:p>
            <a:pPr lvl="1" eaLnBrk="1" hangingPunct="1">
              <a:lnSpc>
                <a:spcPct val="90000"/>
              </a:lnSpc>
            </a:pPr>
            <a:r>
              <a:rPr lang="en-US" altLang="zh-CN" smtClean="0"/>
              <a:t>internetwork</a:t>
            </a:r>
          </a:p>
          <a:p>
            <a:pPr lvl="1" eaLnBrk="1" hangingPunct="1">
              <a:lnSpc>
                <a:spcPct val="90000"/>
              </a:lnSpc>
            </a:pPr>
            <a:r>
              <a:rPr lang="en-US" altLang="zh-CN" smtClean="0"/>
              <a:t>interconnection network  </a:t>
            </a:r>
          </a:p>
          <a:p>
            <a:pPr lvl="1" eaLnBrk="1" hangingPunct="1">
              <a:lnSpc>
                <a:spcPct val="90000"/>
              </a:lnSpc>
              <a:buFont typeface="Wingdings" pitchFamily="2" charset="2"/>
              <a:buNone/>
            </a:pPr>
            <a:r>
              <a:rPr lang="zh-CN" altLang="en-US" smtClean="0"/>
              <a:t>而在注释中给出：</a:t>
            </a:r>
            <a:r>
              <a:rPr lang="zh-CN" altLang="en-US" smtClean="0">
                <a:latin typeface="宋体" pitchFamily="2" charset="-122"/>
              </a:rPr>
              <a:t>“</a:t>
            </a:r>
            <a:r>
              <a:rPr lang="zh-CN" altLang="en-US" smtClean="0"/>
              <a:t>又称互连网</a:t>
            </a:r>
            <a:r>
              <a:rPr lang="zh-CN" altLang="en-US" smtClean="0">
                <a:latin typeface="宋体" pitchFamily="2" charset="-122"/>
              </a:rPr>
              <a:t>”</a:t>
            </a:r>
            <a:r>
              <a:rPr lang="zh-CN" altLang="en-US" smtClean="0"/>
              <a:t>。</a:t>
            </a:r>
          </a:p>
          <a:p>
            <a:pPr eaLnBrk="1" hangingPunct="1">
              <a:lnSpc>
                <a:spcPct val="90000"/>
              </a:lnSpc>
            </a:pPr>
            <a:r>
              <a:rPr lang="zh-CN" altLang="en-US" smtClean="0"/>
              <a:t>以大写字母</a:t>
            </a:r>
            <a:r>
              <a:rPr lang="en-US" altLang="zh-CN" smtClean="0"/>
              <a:t>I</a:t>
            </a:r>
            <a:r>
              <a:rPr lang="zh-CN" altLang="en-US" smtClean="0"/>
              <a:t>开头的</a:t>
            </a:r>
            <a:r>
              <a:rPr lang="en-US" altLang="zh-CN" smtClean="0"/>
              <a:t>Internet</a:t>
            </a:r>
            <a:r>
              <a:rPr lang="zh-CN" altLang="en-US" smtClean="0"/>
              <a:t>是指因特网，这是一个专用名词，特指当前全球最大的、开放的、由众多网络相互连接而成的计算机网络。</a:t>
            </a:r>
          </a:p>
        </p:txBody>
      </p:sp>
      <p:sp>
        <p:nvSpPr>
          <p:cNvPr id="6147" name="Rectangle 3"/>
          <p:cNvSpPr>
            <a:spLocks noGrp="1" noChangeArrowheads="1"/>
          </p:cNvSpPr>
          <p:nvPr>
            <p:ph type="title"/>
          </p:nvPr>
        </p:nvSpPr>
        <p:spPr/>
        <p:txBody>
          <a:bodyPr/>
          <a:lstStyle/>
          <a:p>
            <a:pPr eaLnBrk="1" hangingPunct="1"/>
            <a:r>
              <a:rPr lang="zh-CN" altLang="en-US" smtClean="0"/>
              <a:t>互连与互联（续）</a:t>
            </a:r>
          </a:p>
        </p:txBody>
      </p:sp>
      <p:grpSp>
        <p:nvGrpSpPr>
          <p:cNvPr id="6148" name="Group 6"/>
          <p:cNvGrpSpPr>
            <a:grpSpLocks/>
          </p:cNvGrpSpPr>
          <p:nvPr/>
        </p:nvGrpSpPr>
        <p:grpSpPr bwMode="auto">
          <a:xfrm>
            <a:off x="5364163" y="2781300"/>
            <a:ext cx="2462212" cy="1223963"/>
            <a:chOff x="3379" y="1933"/>
            <a:chExt cx="1551" cy="771"/>
          </a:xfrm>
        </p:grpSpPr>
        <p:sp>
          <p:nvSpPr>
            <p:cNvPr id="6149" name="AutoShape 4"/>
            <p:cNvSpPr>
              <a:spLocks/>
            </p:cNvSpPr>
            <p:nvPr/>
          </p:nvSpPr>
          <p:spPr bwMode="auto">
            <a:xfrm>
              <a:off x="3379" y="1933"/>
              <a:ext cx="137" cy="771"/>
            </a:xfrm>
            <a:prstGeom prst="rightBrace">
              <a:avLst>
                <a:gd name="adj1" fmla="val 46898"/>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3200" b="1">
                <a:latin typeface="Times New Roman" pitchFamily="18" charset="0"/>
                <a:ea typeface="黑体" pitchFamily="49" charset="-122"/>
              </a:endParaRPr>
            </a:p>
          </p:txBody>
        </p:sp>
        <p:sp>
          <p:nvSpPr>
            <p:cNvPr id="398341" name="Text Box 5"/>
            <p:cNvSpPr txBox="1">
              <a:spLocks noChangeArrowheads="1"/>
            </p:cNvSpPr>
            <p:nvPr/>
          </p:nvSpPr>
          <p:spPr bwMode="auto">
            <a:xfrm>
              <a:off x="3470" y="2115"/>
              <a:ext cx="146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b="1">
                  <a:latin typeface="Times New Roman" pitchFamily="18" charset="0"/>
                  <a:ea typeface="黑体" pitchFamily="2" charset="-122"/>
                </a:rPr>
                <a:t>—— </a:t>
              </a:r>
              <a:r>
                <a:rPr lang="zh-CN" altLang="en-US" sz="3200">
                  <a:effectLst>
                    <a:outerShdw blurRad="38100" dist="38100" dir="2700000" algn="tl">
                      <a:srgbClr val="C0C0C0"/>
                    </a:outerShdw>
                  </a:effectLst>
                  <a:latin typeface="Times New Roman" pitchFamily="18" charset="0"/>
                  <a:ea typeface="黑体" pitchFamily="2" charset="-122"/>
                </a:rPr>
                <a:t>互联网</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9833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833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833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833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833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83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CN" smtClean="0"/>
              <a:t>1.2  </a:t>
            </a:r>
            <a:r>
              <a:rPr lang="zh-CN" altLang="en-US" smtClean="0"/>
              <a:t>因特网概述</a:t>
            </a:r>
          </a:p>
        </p:txBody>
      </p:sp>
      <p:sp>
        <p:nvSpPr>
          <p:cNvPr id="7171" name="Rectangle 3"/>
          <p:cNvSpPr>
            <a:spLocks noGrp="1" noChangeArrowheads="1"/>
          </p:cNvSpPr>
          <p:nvPr>
            <p:ph type="body" idx="1"/>
          </p:nvPr>
        </p:nvSpPr>
        <p:spPr>
          <a:xfrm>
            <a:off x="1042988" y="1773238"/>
            <a:ext cx="7772400" cy="4679950"/>
          </a:xfrm>
        </p:spPr>
        <p:txBody>
          <a:bodyPr/>
          <a:lstStyle/>
          <a:p>
            <a:pPr eaLnBrk="1" hangingPunct="1">
              <a:lnSpc>
                <a:spcPct val="90000"/>
              </a:lnSpc>
              <a:buFont typeface="Wingdings" pitchFamily="2" charset="2"/>
              <a:buNone/>
            </a:pPr>
            <a:r>
              <a:rPr lang="en-US" altLang="zh-CN" smtClean="0"/>
              <a:t>1.2.1  </a:t>
            </a:r>
            <a:r>
              <a:rPr lang="zh-CN" altLang="en-US" smtClean="0"/>
              <a:t>网络的网络</a:t>
            </a:r>
          </a:p>
          <a:p>
            <a:pPr eaLnBrk="1" hangingPunct="1">
              <a:lnSpc>
                <a:spcPct val="90000"/>
              </a:lnSpc>
            </a:pPr>
            <a:r>
              <a:rPr lang="zh-CN" altLang="en-US" smtClean="0"/>
              <a:t>起源于美国的因特网现已发展成为世界上最大的国际性计算机互联网 </a:t>
            </a:r>
          </a:p>
          <a:p>
            <a:pPr eaLnBrk="1" hangingPunct="1">
              <a:lnSpc>
                <a:spcPct val="90000"/>
              </a:lnSpc>
            </a:pPr>
            <a:r>
              <a:rPr lang="zh-CN" altLang="en-US" smtClean="0">
                <a:solidFill>
                  <a:srgbClr val="CC0000"/>
                </a:solidFill>
              </a:rPr>
              <a:t>网络</a:t>
            </a:r>
            <a:r>
              <a:rPr lang="en-US" altLang="zh-CN" smtClean="0"/>
              <a:t>(network)</a:t>
            </a:r>
            <a:r>
              <a:rPr lang="zh-CN" altLang="en-US" smtClean="0"/>
              <a:t>由若干</a:t>
            </a:r>
            <a:r>
              <a:rPr lang="zh-CN" altLang="en-US" smtClean="0">
                <a:solidFill>
                  <a:srgbClr val="CC0000"/>
                </a:solidFill>
              </a:rPr>
              <a:t>结点</a:t>
            </a:r>
            <a:r>
              <a:rPr lang="en-US" altLang="zh-CN" smtClean="0"/>
              <a:t>(node)</a:t>
            </a:r>
            <a:r>
              <a:rPr lang="zh-CN" altLang="en-US" smtClean="0"/>
              <a:t>和连接这些结点的</a:t>
            </a:r>
            <a:r>
              <a:rPr lang="zh-CN" altLang="en-US" smtClean="0">
                <a:solidFill>
                  <a:srgbClr val="CC0000"/>
                </a:solidFill>
              </a:rPr>
              <a:t>链路</a:t>
            </a:r>
            <a:r>
              <a:rPr lang="en-US" altLang="zh-CN" smtClean="0"/>
              <a:t>(link)</a:t>
            </a:r>
            <a:r>
              <a:rPr lang="zh-CN" altLang="en-US" smtClean="0"/>
              <a:t>组成。 </a:t>
            </a:r>
          </a:p>
          <a:p>
            <a:pPr eaLnBrk="1" hangingPunct="1">
              <a:lnSpc>
                <a:spcPct val="90000"/>
              </a:lnSpc>
            </a:pPr>
            <a:r>
              <a:rPr lang="zh-CN" altLang="en-US" smtClean="0"/>
              <a:t>互联网是“</a:t>
            </a:r>
            <a:r>
              <a:rPr lang="zh-CN" altLang="en-US" smtClean="0">
                <a:solidFill>
                  <a:srgbClr val="CC0000"/>
                </a:solidFill>
              </a:rPr>
              <a:t>网络的网络</a:t>
            </a:r>
            <a:r>
              <a:rPr lang="zh-CN" altLang="en-US" smtClean="0"/>
              <a:t>”</a:t>
            </a:r>
            <a:r>
              <a:rPr lang="en-US" altLang="zh-CN" smtClean="0"/>
              <a:t>(network of networks)</a:t>
            </a:r>
            <a:r>
              <a:rPr lang="zh-CN" altLang="en-US" smtClean="0"/>
              <a:t>。 </a:t>
            </a:r>
          </a:p>
          <a:p>
            <a:pPr eaLnBrk="1" hangingPunct="1">
              <a:lnSpc>
                <a:spcPct val="90000"/>
              </a:lnSpc>
            </a:pPr>
            <a:r>
              <a:rPr lang="zh-CN" altLang="en-US" smtClean="0"/>
              <a:t>连接在因特网上的计算机都称为</a:t>
            </a:r>
            <a:r>
              <a:rPr lang="zh-CN" altLang="en-US" smtClean="0">
                <a:solidFill>
                  <a:srgbClr val="CC0000"/>
                </a:solidFill>
              </a:rPr>
              <a:t>主机</a:t>
            </a:r>
            <a:r>
              <a:rPr lang="en-US" altLang="zh-CN" smtClean="0"/>
              <a:t>(host)</a:t>
            </a:r>
            <a:r>
              <a:rPr lang="zh-CN" altLang="en-US" smtClean="0"/>
              <a:t>。 </a:t>
            </a:r>
          </a:p>
          <a:p>
            <a:pPr eaLnBrk="1" hangingPunct="1">
              <a:lnSpc>
                <a:spcPct val="90000"/>
              </a:lnSpc>
            </a:pPr>
            <a:endParaRPr lang="en-US" altLang="zh-CN"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194" name="Group 148"/>
          <p:cNvGrpSpPr>
            <a:grpSpLocks/>
          </p:cNvGrpSpPr>
          <p:nvPr/>
        </p:nvGrpSpPr>
        <p:grpSpPr bwMode="auto">
          <a:xfrm>
            <a:off x="73025" y="966788"/>
            <a:ext cx="8747125" cy="4291012"/>
            <a:chOff x="1519" y="640"/>
            <a:chExt cx="3991" cy="1862"/>
          </a:xfrm>
        </p:grpSpPr>
        <p:grpSp>
          <p:nvGrpSpPr>
            <p:cNvPr id="8195" name="Group 4"/>
            <p:cNvGrpSpPr>
              <a:grpSpLocks/>
            </p:cNvGrpSpPr>
            <p:nvPr/>
          </p:nvGrpSpPr>
          <p:grpSpPr bwMode="auto">
            <a:xfrm>
              <a:off x="3514" y="935"/>
              <a:ext cx="1996" cy="1361"/>
              <a:chOff x="109" y="1226"/>
              <a:chExt cx="2516" cy="1675"/>
            </a:xfrm>
          </p:grpSpPr>
          <p:grpSp>
            <p:nvGrpSpPr>
              <p:cNvPr id="8328" name="Group 5"/>
              <p:cNvGrpSpPr>
                <a:grpSpLocks/>
              </p:cNvGrpSpPr>
              <p:nvPr/>
            </p:nvGrpSpPr>
            <p:grpSpPr bwMode="auto">
              <a:xfrm>
                <a:off x="109" y="1226"/>
                <a:ext cx="2516" cy="1675"/>
                <a:chOff x="109" y="1226"/>
                <a:chExt cx="2516" cy="1675"/>
              </a:xfrm>
            </p:grpSpPr>
            <p:grpSp>
              <p:nvGrpSpPr>
                <p:cNvPr id="8330" name="Group 6"/>
                <p:cNvGrpSpPr>
                  <a:grpSpLocks/>
                </p:cNvGrpSpPr>
                <p:nvPr/>
              </p:nvGrpSpPr>
              <p:grpSpPr bwMode="auto">
                <a:xfrm>
                  <a:off x="109" y="1226"/>
                  <a:ext cx="2516" cy="1675"/>
                  <a:chOff x="109" y="1226"/>
                  <a:chExt cx="2516" cy="1675"/>
                </a:xfrm>
              </p:grpSpPr>
              <p:sp>
                <p:nvSpPr>
                  <p:cNvPr id="8332" name="Oval 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p>
                    <a:endParaRPr lang="zh-CN" altLang="en-US"/>
                  </a:p>
                </p:txBody>
              </p:sp>
              <p:sp>
                <p:nvSpPr>
                  <p:cNvPr id="8333" name="Oval 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p>
                    <a:endParaRPr lang="zh-CN" altLang="en-US"/>
                  </a:p>
                </p:txBody>
              </p:sp>
              <p:sp>
                <p:nvSpPr>
                  <p:cNvPr id="8334" name="Oval 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p>
                    <a:endParaRPr lang="zh-CN" altLang="en-US"/>
                  </a:p>
                </p:txBody>
              </p:sp>
              <p:sp>
                <p:nvSpPr>
                  <p:cNvPr id="8335" name="Oval 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p>
                    <a:endParaRPr lang="zh-CN" altLang="en-US"/>
                  </a:p>
                </p:txBody>
              </p:sp>
              <p:sp>
                <p:nvSpPr>
                  <p:cNvPr id="8336" name="Oval 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p>
                    <a:endParaRPr lang="zh-CN" altLang="en-US"/>
                  </a:p>
                </p:txBody>
              </p:sp>
              <p:sp>
                <p:nvSpPr>
                  <p:cNvPr id="8337" name="Oval 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p>
                    <a:endParaRPr lang="zh-CN" altLang="en-US"/>
                  </a:p>
                </p:txBody>
              </p:sp>
              <p:sp>
                <p:nvSpPr>
                  <p:cNvPr id="8338" name="Oval 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p>
                    <a:endParaRPr lang="zh-CN" altLang="en-US"/>
                  </a:p>
                </p:txBody>
              </p:sp>
            </p:grpSp>
            <p:sp>
              <p:nvSpPr>
                <p:cNvPr id="8331" name="Oval 14"/>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a:p>
              </p:txBody>
            </p:sp>
          </p:grpSp>
          <p:sp>
            <p:nvSpPr>
              <p:cNvPr id="8329" name="Freeform 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196" name="Line 16"/>
            <p:cNvSpPr>
              <a:spLocks noChangeShapeType="1"/>
            </p:cNvSpPr>
            <p:nvPr/>
          </p:nvSpPr>
          <p:spPr bwMode="auto">
            <a:xfrm flipH="1">
              <a:off x="4421" y="1661"/>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7" name="Line 17"/>
            <p:cNvSpPr>
              <a:spLocks noChangeShapeType="1"/>
            </p:cNvSpPr>
            <p:nvPr/>
          </p:nvSpPr>
          <p:spPr bwMode="auto">
            <a:xfrm flipH="1" flipV="1">
              <a:off x="4240" y="1480"/>
              <a:ext cx="136"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8" name="Text Box 18"/>
            <p:cNvSpPr txBox="1">
              <a:spLocks noChangeArrowheads="1"/>
            </p:cNvSpPr>
            <p:nvPr/>
          </p:nvSpPr>
          <p:spPr bwMode="auto">
            <a:xfrm>
              <a:off x="2339" y="2276"/>
              <a:ext cx="283"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rgbClr val="333399"/>
                  </a:solidFill>
                  <a:ea typeface="黑体" pitchFamily="49" charset="-122"/>
                </a:rPr>
                <a:t>(a)</a:t>
              </a:r>
            </a:p>
          </p:txBody>
        </p:sp>
        <p:sp>
          <p:nvSpPr>
            <p:cNvPr id="8199" name="Text Box 19"/>
            <p:cNvSpPr txBox="1">
              <a:spLocks noChangeArrowheads="1"/>
            </p:cNvSpPr>
            <p:nvPr/>
          </p:nvSpPr>
          <p:spPr bwMode="auto">
            <a:xfrm>
              <a:off x="4428" y="2276"/>
              <a:ext cx="283"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rgbClr val="333399"/>
                  </a:solidFill>
                  <a:ea typeface="黑体" pitchFamily="49" charset="-122"/>
                </a:rPr>
                <a:t>(b)</a:t>
              </a:r>
            </a:p>
          </p:txBody>
        </p:sp>
        <p:grpSp>
          <p:nvGrpSpPr>
            <p:cNvPr id="8200" name="Group 20"/>
            <p:cNvGrpSpPr>
              <a:grpSpLocks/>
            </p:cNvGrpSpPr>
            <p:nvPr/>
          </p:nvGrpSpPr>
          <p:grpSpPr bwMode="auto">
            <a:xfrm>
              <a:off x="1519" y="1026"/>
              <a:ext cx="1727" cy="1162"/>
              <a:chOff x="1680" y="240"/>
              <a:chExt cx="2529" cy="1270"/>
            </a:xfrm>
          </p:grpSpPr>
          <p:sp>
            <p:nvSpPr>
              <p:cNvPr id="8319" name="Oval 21"/>
              <p:cNvSpPr>
                <a:spLocks noChangeArrowheads="1"/>
              </p:cNvSpPr>
              <p:nvPr/>
            </p:nvSpPr>
            <p:spPr bwMode="auto">
              <a:xfrm>
                <a:off x="2554" y="240"/>
                <a:ext cx="1088"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0" name="Oval 22"/>
              <p:cNvSpPr>
                <a:spLocks noChangeArrowheads="1"/>
              </p:cNvSpPr>
              <p:nvPr/>
            </p:nvSpPr>
            <p:spPr bwMode="auto">
              <a:xfrm>
                <a:off x="1941" y="381"/>
                <a:ext cx="827"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1" name="Oval 23"/>
              <p:cNvSpPr>
                <a:spLocks noChangeArrowheads="1"/>
              </p:cNvSpPr>
              <p:nvPr/>
            </p:nvSpPr>
            <p:spPr bwMode="auto">
              <a:xfrm>
                <a:off x="1680" y="702"/>
                <a:ext cx="552" cy="411"/>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2" name="Oval 24"/>
              <p:cNvSpPr>
                <a:spLocks noChangeArrowheads="1"/>
              </p:cNvSpPr>
              <p:nvPr/>
            </p:nvSpPr>
            <p:spPr bwMode="auto">
              <a:xfrm>
                <a:off x="1849" y="894"/>
                <a:ext cx="842" cy="450"/>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3" name="Oval 25"/>
              <p:cNvSpPr>
                <a:spLocks noChangeArrowheads="1"/>
              </p:cNvSpPr>
              <p:nvPr/>
            </p:nvSpPr>
            <p:spPr bwMode="auto">
              <a:xfrm>
                <a:off x="2462" y="971"/>
                <a:ext cx="1272" cy="539"/>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4" name="Oval 26"/>
              <p:cNvSpPr>
                <a:spLocks noChangeArrowheads="1"/>
              </p:cNvSpPr>
              <p:nvPr/>
            </p:nvSpPr>
            <p:spPr bwMode="auto">
              <a:xfrm>
                <a:off x="3289" y="394"/>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5" name="Oval 27"/>
              <p:cNvSpPr>
                <a:spLocks noChangeArrowheads="1"/>
              </p:cNvSpPr>
              <p:nvPr/>
            </p:nvSpPr>
            <p:spPr bwMode="auto">
              <a:xfrm>
                <a:off x="3412" y="663"/>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6" name="Oval 28"/>
              <p:cNvSpPr>
                <a:spLocks noChangeArrowheads="1"/>
              </p:cNvSpPr>
              <p:nvPr/>
            </p:nvSpPr>
            <p:spPr bwMode="auto">
              <a:xfrm>
                <a:off x="3335" y="753"/>
                <a:ext cx="797" cy="66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27" name="Oval 29"/>
              <p:cNvSpPr>
                <a:spLocks noChangeArrowheads="1"/>
              </p:cNvSpPr>
              <p:nvPr/>
            </p:nvSpPr>
            <p:spPr bwMode="auto">
              <a:xfrm>
                <a:off x="2140" y="548"/>
                <a:ext cx="1640" cy="667"/>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8201" name="Line 30"/>
            <p:cNvSpPr>
              <a:spLocks noChangeShapeType="1"/>
            </p:cNvSpPr>
            <p:nvPr/>
          </p:nvSpPr>
          <p:spPr bwMode="auto">
            <a:xfrm flipH="1" flipV="1">
              <a:off x="2516" y="1207"/>
              <a:ext cx="458" cy="5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2" name="Text Box 31"/>
            <p:cNvSpPr txBox="1">
              <a:spLocks noChangeArrowheads="1"/>
            </p:cNvSpPr>
            <p:nvPr/>
          </p:nvSpPr>
          <p:spPr bwMode="auto">
            <a:xfrm>
              <a:off x="2239" y="640"/>
              <a:ext cx="40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rgbClr val="333399"/>
                  </a:solidFill>
                  <a:latin typeface="黑体" pitchFamily="49" charset="-122"/>
                  <a:ea typeface="黑体" pitchFamily="49" charset="-122"/>
                </a:rPr>
                <a:t>网络</a:t>
              </a:r>
            </a:p>
          </p:txBody>
        </p:sp>
        <p:sp>
          <p:nvSpPr>
            <p:cNvPr id="8203" name="Line 32"/>
            <p:cNvSpPr>
              <a:spLocks noChangeShapeType="1"/>
            </p:cNvSpPr>
            <p:nvPr/>
          </p:nvSpPr>
          <p:spPr bwMode="auto">
            <a:xfrm flipH="1" flipV="1">
              <a:off x="4104" y="1933"/>
              <a:ext cx="726"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33"/>
            <p:cNvSpPr>
              <a:spLocks noChangeShapeType="1"/>
            </p:cNvSpPr>
            <p:nvPr/>
          </p:nvSpPr>
          <p:spPr bwMode="auto">
            <a:xfrm flipV="1">
              <a:off x="4104" y="1117"/>
              <a:ext cx="226"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Text Box 34"/>
            <p:cNvSpPr txBox="1">
              <a:spLocks noChangeArrowheads="1"/>
            </p:cNvSpPr>
            <p:nvPr/>
          </p:nvSpPr>
          <p:spPr bwMode="auto">
            <a:xfrm>
              <a:off x="3787" y="640"/>
              <a:ext cx="1706"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rgbClr val="333399"/>
                  </a:solidFill>
                  <a:latin typeface="黑体" pitchFamily="49" charset="-122"/>
                  <a:ea typeface="黑体" pitchFamily="49" charset="-122"/>
                </a:rPr>
                <a:t>互联网（网络的网络）</a:t>
              </a:r>
            </a:p>
          </p:txBody>
        </p:sp>
        <p:sp>
          <p:nvSpPr>
            <p:cNvPr id="8206" name="Line 35"/>
            <p:cNvSpPr>
              <a:spLocks noChangeShapeType="1"/>
            </p:cNvSpPr>
            <p:nvPr/>
          </p:nvSpPr>
          <p:spPr bwMode="auto">
            <a:xfrm flipH="1">
              <a:off x="3832" y="1480"/>
              <a:ext cx="408"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36"/>
            <p:cNvSpPr>
              <a:spLocks noChangeShapeType="1"/>
            </p:cNvSpPr>
            <p:nvPr/>
          </p:nvSpPr>
          <p:spPr bwMode="auto">
            <a:xfrm>
              <a:off x="4512" y="1117"/>
              <a:ext cx="272"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8" name="Line 37"/>
            <p:cNvSpPr>
              <a:spLocks noChangeShapeType="1"/>
            </p:cNvSpPr>
            <p:nvPr/>
          </p:nvSpPr>
          <p:spPr bwMode="auto">
            <a:xfrm>
              <a:off x="4875" y="1253"/>
              <a:ext cx="408" cy="4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09" name="Line 38"/>
            <p:cNvSpPr>
              <a:spLocks noChangeShapeType="1"/>
            </p:cNvSpPr>
            <p:nvPr/>
          </p:nvSpPr>
          <p:spPr bwMode="auto">
            <a:xfrm flipH="1">
              <a:off x="4784" y="1298"/>
              <a:ext cx="46"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0" name="Line 39"/>
            <p:cNvSpPr>
              <a:spLocks noChangeShapeType="1"/>
            </p:cNvSpPr>
            <p:nvPr/>
          </p:nvSpPr>
          <p:spPr bwMode="auto">
            <a:xfrm flipV="1">
              <a:off x="4240" y="1253"/>
              <a:ext cx="454"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1" name="Line 40"/>
            <p:cNvSpPr>
              <a:spLocks noChangeShapeType="1"/>
            </p:cNvSpPr>
            <p:nvPr/>
          </p:nvSpPr>
          <p:spPr bwMode="auto">
            <a:xfrm>
              <a:off x="4058" y="1162"/>
              <a:ext cx="91"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2" name="Line 41"/>
            <p:cNvSpPr>
              <a:spLocks noChangeShapeType="1"/>
            </p:cNvSpPr>
            <p:nvPr/>
          </p:nvSpPr>
          <p:spPr bwMode="auto">
            <a:xfrm flipV="1">
              <a:off x="4422" y="1616"/>
              <a:ext cx="317" cy="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3" name="Line 42"/>
            <p:cNvSpPr>
              <a:spLocks noChangeShapeType="1"/>
            </p:cNvSpPr>
            <p:nvPr/>
          </p:nvSpPr>
          <p:spPr bwMode="auto">
            <a:xfrm>
              <a:off x="4830" y="1616"/>
              <a:ext cx="408" cy="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4" name="Line 43"/>
            <p:cNvSpPr>
              <a:spLocks noChangeShapeType="1"/>
            </p:cNvSpPr>
            <p:nvPr/>
          </p:nvSpPr>
          <p:spPr bwMode="auto">
            <a:xfrm flipH="1">
              <a:off x="4013" y="1525"/>
              <a:ext cx="136"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5" name="Line 44"/>
            <p:cNvSpPr>
              <a:spLocks noChangeShapeType="1"/>
            </p:cNvSpPr>
            <p:nvPr/>
          </p:nvSpPr>
          <p:spPr bwMode="auto">
            <a:xfrm>
              <a:off x="4784" y="1661"/>
              <a:ext cx="0"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16" name="Group 45"/>
            <p:cNvGrpSpPr>
              <a:grpSpLocks/>
            </p:cNvGrpSpPr>
            <p:nvPr/>
          </p:nvGrpSpPr>
          <p:grpSpPr bwMode="auto">
            <a:xfrm>
              <a:off x="3877" y="1071"/>
              <a:ext cx="272" cy="227"/>
              <a:chOff x="2949" y="196"/>
              <a:chExt cx="941" cy="598"/>
            </a:xfrm>
          </p:grpSpPr>
          <p:sp>
            <p:nvSpPr>
              <p:cNvPr id="8308" name="Oval 46"/>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9" name="Oval 47"/>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0" name="Oval 48"/>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1" name="Oval 49"/>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2" name="Oval 50"/>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3" name="Oval 51"/>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4" name="Oval 52"/>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5" name="Oval 53"/>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6" name="Freeform 5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7" name="Freeform 5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18" name="Freeform 5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17" name="Group 57"/>
            <p:cNvGrpSpPr>
              <a:grpSpLocks/>
            </p:cNvGrpSpPr>
            <p:nvPr/>
          </p:nvGrpSpPr>
          <p:grpSpPr bwMode="auto">
            <a:xfrm>
              <a:off x="4648" y="1071"/>
              <a:ext cx="408" cy="317"/>
              <a:chOff x="2949" y="196"/>
              <a:chExt cx="941" cy="598"/>
            </a:xfrm>
          </p:grpSpPr>
          <p:sp>
            <p:nvSpPr>
              <p:cNvPr id="8297" name="Oval 58"/>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8" name="Oval 59"/>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9" name="Oval 60"/>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0" name="Oval 61"/>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1" name="Oval 62"/>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2" name="Oval 63"/>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3" name="Oval 64"/>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4" name="Oval 65"/>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5" name="Freeform 6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6" name="Freeform 6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07" name="Freeform 6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18" name="Group 69"/>
            <p:cNvGrpSpPr>
              <a:grpSpLocks/>
            </p:cNvGrpSpPr>
            <p:nvPr/>
          </p:nvGrpSpPr>
          <p:grpSpPr bwMode="auto">
            <a:xfrm rot="-1072061">
              <a:off x="3614" y="1401"/>
              <a:ext cx="318" cy="271"/>
              <a:chOff x="2949" y="196"/>
              <a:chExt cx="941" cy="598"/>
            </a:xfrm>
          </p:grpSpPr>
          <p:sp>
            <p:nvSpPr>
              <p:cNvPr id="8286" name="Oval 70"/>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7" name="Oval 71"/>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8" name="Oval 72"/>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9" name="Oval 73"/>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0" name="Oval 74"/>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1" name="Oval 75"/>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2" name="Oval 76"/>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3" name="Oval 77"/>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 name="Freeform 7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5" name="Freeform 7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6" name="Freeform 8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19" name="Group 81"/>
            <p:cNvGrpSpPr>
              <a:grpSpLocks/>
            </p:cNvGrpSpPr>
            <p:nvPr/>
          </p:nvGrpSpPr>
          <p:grpSpPr bwMode="auto">
            <a:xfrm rot="-854928">
              <a:off x="3786" y="1741"/>
              <a:ext cx="362" cy="317"/>
              <a:chOff x="2949" y="196"/>
              <a:chExt cx="941" cy="598"/>
            </a:xfrm>
          </p:grpSpPr>
          <p:sp>
            <p:nvSpPr>
              <p:cNvPr id="8275" name="Oval 82"/>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6" name="Oval 83"/>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7" name="Oval 84"/>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8" name="Oval 85"/>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9" name="Oval 86"/>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0" name="Oval 87"/>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1" name="Oval 88"/>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2" name="Oval 89"/>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3" name="Freeform 9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4" name="Freeform 9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85" name="Freeform 9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20" name="Line 93"/>
            <p:cNvSpPr>
              <a:spLocks noChangeShapeType="1"/>
            </p:cNvSpPr>
            <p:nvPr/>
          </p:nvSpPr>
          <p:spPr bwMode="auto">
            <a:xfrm flipH="1">
              <a:off x="4830" y="1706"/>
              <a:ext cx="453"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21" name="Group 94"/>
            <p:cNvGrpSpPr>
              <a:grpSpLocks/>
            </p:cNvGrpSpPr>
            <p:nvPr/>
          </p:nvGrpSpPr>
          <p:grpSpPr bwMode="auto">
            <a:xfrm rot="-666782">
              <a:off x="4648" y="1888"/>
              <a:ext cx="272" cy="227"/>
              <a:chOff x="2949" y="196"/>
              <a:chExt cx="941" cy="598"/>
            </a:xfrm>
          </p:grpSpPr>
          <p:sp>
            <p:nvSpPr>
              <p:cNvPr id="8264" name="Oval 95"/>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5" name="Oval 96"/>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6" name="Oval 97"/>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7" name="Oval 98"/>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8" name="Oval 99"/>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Oval 100"/>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Oval 101"/>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Oval 102"/>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2" name="Freeform 10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3" name="Freeform 10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74" name="Freeform 10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222" name="Group 106"/>
            <p:cNvGrpSpPr>
              <a:grpSpLocks/>
            </p:cNvGrpSpPr>
            <p:nvPr/>
          </p:nvGrpSpPr>
          <p:grpSpPr bwMode="auto">
            <a:xfrm rot="282232">
              <a:off x="5147" y="1570"/>
              <a:ext cx="272" cy="227"/>
              <a:chOff x="2949" y="196"/>
              <a:chExt cx="941" cy="598"/>
            </a:xfrm>
          </p:grpSpPr>
          <p:sp>
            <p:nvSpPr>
              <p:cNvPr id="8253" name="Oval 107"/>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4" name="Oval 108"/>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5" name="Oval 109"/>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6" name="Oval 110"/>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7" name="Oval 111"/>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8" name="Oval 112"/>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9" name="Oval 113"/>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0" name="Oval 114"/>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Freeform 11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2" name="Freeform 11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63" name="Freeform 11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23" name="Line 118"/>
            <p:cNvSpPr>
              <a:spLocks noChangeShapeType="1"/>
            </p:cNvSpPr>
            <p:nvPr/>
          </p:nvSpPr>
          <p:spPr bwMode="auto">
            <a:xfrm flipV="1">
              <a:off x="1791" y="1207"/>
              <a:ext cx="589"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4" name="Line 119"/>
            <p:cNvSpPr>
              <a:spLocks noChangeShapeType="1"/>
            </p:cNvSpPr>
            <p:nvPr/>
          </p:nvSpPr>
          <p:spPr bwMode="auto">
            <a:xfrm flipV="1">
              <a:off x="2290" y="1207"/>
              <a:ext cx="136" cy="6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225"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0" y="1525"/>
              <a:ext cx="19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26" name="Picture 1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8" y="1389"/>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227" name="Picture 1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5" y="1888"/>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228" name="Picture 1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48" y="1525"/>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229" name="Picture 1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66" y="1389"/>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230" name="Picture 1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85" y="1026"/>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8231" name="Picture 12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20" y="1797"/>
              <a:ext cx="264" cy="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8232" name="Group 127"/>
            <p:cNvGrpSpPr>
              <a:grpSpLocks/>
            </p:cNvGrpSpPr>
            <p:nvPr/>
          </p:nvGrpSpPr>
          <p:grpSpPr bwMode="auto">
            <a:xfrm rot="-666782">
              <a:off x="4285" y="1570"/>
              <a:ext cx="272" cy="227"/>
              <a:chOff x="2949" y="196"/>
              <a:chExt cx="941" cy="598"/>
            </a:xfrm>
          </p:grpSpPr>
          <p:sp>
            <p:nvSpPr>
              <p:cNvPr id="8242" name="Oval 128"/>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3" name="Oval 129"/>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4" name="Oval 130"/>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5" name="Oval 131"/>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6" name="Oval 132"/>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7" name="Oval 133"/>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8" name="Oval 134"/>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9" name="Oval 135"/>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50" name="Freeform 13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1" name="Freeform 13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2" name="Freeform 13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8233" name="Picture 1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4" y="1842"/>
              <a:ext cx="19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34" name="Picture 1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5" y="1752"/>
              <a:ext cx="195"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35" name="Picture 14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959483">
              <a:off x="2299" y="1144"/>
              <a:ext cx="274"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36" name="Oval 142"/>
            <p:cNvSpPr>
              <a:spLocks noChangeArrowheads="1"/>
            </p:cNvSpPr>
            <p:nvPr/>
          </p:nvSpPr>
          <p:spPr bwMode="auto">
            <a:xfrm>
              <a:off x="2885" y="1709"/>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Text Box 143"/>
            <p:cNvSpPr txBox="1">
              <a:spLocks noChangeArrowheads="1"/>
            </p:cNvSpPr>
            <p:nvPr/>
          </p:nvSpPr>
          <p:spPr bwMode="auto">
            <a:xfrm>
              <a:off x="2562" y="973"/>
              <a:ext cx="409"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rgbClr val="333399"/>
                  </a:solidFill>
                  <a:latin typeface="黑体" pitchFamily="49" charset="-122"/>
                  <a:ea typeface="黑体" pitchFamily="49" charset="-122"/>
                </a:rPr>
                <a:t>结点</a:t>
              </a:r>
            </a:p>
          </p:txBody>
        </p:sp>
        <p:sp>
          <p:nvSpPr>
            <p:cNvPr id="8238" name="Text Box 144"/>
            <p:cNvSpPr txBox="1">
              <a:spLocks noChangeArrowheads="1"/>
            </p:cNvSpPr>
            <p:nvPr/>
          </p:nvSpPr>
          <p:spPr bwMode="auto">
            <a:xfrm>
              <a:off x="2734" y="1290"/>
              <a:ext cx="40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rgbClr val="333399"/>
                  </a:solidFill>
                  <a:latin typeface="黑体" pitchFamily="49" charset="-122"/>
                  <a:ea typeface="黑体" pitchFamily="49" charset="-122"/>
                </a:rPr>
                <a:t>链路</a:t>
              </a:r>
            </a:p>
          </p:txBody>
        </p:sp>
        <p:sp>
          <p:nvSpPr>
            <p:cNvPr id="8239" name="Oval 145"/>
            <p:cNvSpPr>
              <a:spLocks noChangeArrowheads="1"/>
            </p:cNvSpPr>
            <p:nvPr/>
          </p:nvSpPr>
          <p:spPr bwMode="auto">
            <a:xfrm>
              <a:off x="2301" y="1077"/>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0" name="Oval 146"/>
            <p:cNvSpPr>
              <a:spLocks noChangeArrowheads="1"/>
            </p:cNvSpPr>
            <p:nvPr/>
          </p:nvSpPr>
          <p:spPr bwMode="auto">
            <a:xfrm>
              <a:off x="1669" y="1501"/>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1" name="Oval 147"/>
            <p:cNvSpPr>
              <a:spLocks noChangeArrowheads="1"/>
            </p:cNvSpPr>
            <p:nvPr/>
          </p:nvSpPr>
          <p:spPr bwMode="auto">
            <a:xfrm>
              <a:off x="2117" y="1813"/>
              <a:ext cx="272" cy="272"/>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218" name="Group 21"/>
          <p:cNvGrpSpPr>
            <a:grpSpLocks/>
          </p:cNvGrpSpPr>
          <p:nvPr/>
        </p:nvGrpSpPr>
        <p:grpSpPr bwMode="auto">
          <a:xfrm>
            <a:off x="468313" y="0"/>
            <a:ext cx="8064500" cy="5175250"/>
            <a:chOff x="249" y="642"/>
            <a:chExt cx="2452" cy="1666"/>
          </a:xfrm>
        </p:grpSpPr>
        <p:sp>
          <p:nvSpPr>
            <p:cNvPr id="9220" name="Line 4"/>
            <p:cNvSpPr>
              <a:spLocks noChangeShapeType="1"/>
            </p:cNvSpPr>
            <p:nvPr/>
          </p:nvSpPr>
          <p:spPr bwMode="auto">
            <a:xfrm flipH="1" flipV="1">
              <a:off x="302" y="1258"/>
              <a:ext cx="673" cy="13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1" name="Line 5"/>
            <p:cNvSpPr>
              <a:spLocks noChangeShapeType="1"/>
            </p:cNvSpPr>
            <p:nvPr/>
          </p:nvSpPr>
          <p:spPr bwMode="auto">
            <a:xfrm flipH="1">
              <a:off x="2109" y="1434"/>
              <a:ext cx="4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Line 6"/>
            <p:cNvSpPr>
              <a:spLocks noChangeShapeType="1"/>
            </p:cNvSpPr>
            <p:nvPr/>
          </p:nvSpPr>
          <p:spPr bwMode="auto">
            <a:xfrm flipH="1">
              <a:off x="1791" y="935"/>
              <a:ext cx="227" cy="2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3" name="Line 7"/>
            <p:cNvSpPr>
              <a:spLocks noChangeShapeType="1"/>
            </p:cNvSpPr>
            <p:nvPr/>
          </p:nvSpPr>
          <p:spPr bwMode="auto">
            <a:xfrm flipH="1" flipV="1">
              <a:off x="1746" y="1797"/>
              <a:ext cx="240"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8"/>
            <p:cNvSpPr>
              <a:spLocks noChangeShapeType="1"/>
            </p:cNvSpPr>
            <p:nvPr/>
          </p:nvSpPr>
          <p:spPr bwMode="auto">
            <a:xfrm>
              <a:off x="975" y="935"/>
              <a:ext cx="181" cy="31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p:cNvSpPr>
              <a:spLocks noChangeShapeType="1"/>
            </p:cNvSpPr>
            <p:nvPr/>
          </p:nvSpPr>
          <p:spPr bwMode="auto">
            <a:xfrm flipV="1">
              <a:off x="1065" y="1752"/>
              <a:ext cx="91" cy="33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Line 10"/>
            <p:cNvSpPr>
              <a:spLocks noChangeShapeType="1"/>
            </p:cNvSpPr>
            <p:nvPr/>
          </p:nvSpPr>
          <p:spPr bwMode="auto">
            <a:xfrm flipV="1">
              <a:off x="590" y="1642"/>
              <a:ext cx="336"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227" name="Picture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 y="75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8" name="Picture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 y="75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9" name="Picture 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207"/>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30" name="Picture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202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31" name="Picture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 y="2024"/>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32" name="Picture 1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 y="1642"/>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33" name="Text Box 17"/>
            <p:cNvSpPr txBox="1">
              <a:spLocks noChangeArrowheads="1"/>
            </p:cNvSpPr>
            <p:nvPr/>
          </p:nvSpPr>
          <p:spPr bwMode="auto">
            <a:xfrm>
              <a:off x="1057" y="642"/>
              <a:ext cx="303"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a:solidFill>
                    <a:srgbClr val="333399"/>
                  </a:solidFill>
                  <a:latin typeface="Times New Roman" pitchFamily="18" charset="0"/>
                  <a:ea typeface="黑体" pitchFamily="49" charset="-122"/>
                </a:rPr>
                <a:t>主机</a:t>
              </a:r>
            </a:p>
          </p:txBody>
        </p:sp>
        <p:pic>
          <p:nvPicPr>
            <p:cNvPr id="9234"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 y="1117"/>
              <a:ext cx="2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235" name="Object 19"/>
            <p:cNvGraphicFramePr>
              <a:graphicFrameLocks noChangeAspect="1"/>
            </p:cNvGraphicFramePr>
            <p:nvPr/>
          </p:nvGraphicFramePr>
          <p:xfrm>
            <a:off x="748" y="1026"/>
            <a:ext cx="1542" cy="1089"/>
          </p:xfrm>
          <a:graphic>
            <a:graphicData uri="http://schemas.openxmlformats.org/presentationml/2006/ole">
              <mc:AlternateContent xmlns:mc="http://schemas.openxmlformats.org/markup-compatibility/2006">
                <mc:Choice xmlns:v="urn:schemas-microsoft-com:vml" Requires="v">
                  <p:oleObj spid="_x0000_s9237" name="VISIO" r:id="rId5" imgW="1687068" imgH="964692" progId="Visio.Drawing.6">
                    <p:embed/>
                  </p:oleObj>
                </mc:Choice>
                <mc:Fallback>
                  <p:oleObj name="VISIO" r:id="rId5" imgW="1687068" imgH="964692" progId="Visio.Drawing.6">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 y="1026"/>
                          <a:ext cx="1542" cy="1089"/>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236" name="Text Box 20"/>
            <p:cNvSpPr txBox="1">
              <a:spLocks noChangeArrowheads="1"/>
            </p:cNvSpPr>
            <p:nvPr/>
          </p:nvSpPr>
          <p:spPr bwMode="auto">
            <a:xfrm>
              <a:off x="1292" y="1367"/>
              <a:ext cx="427"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a:solidFill>
                    <a:srgbClr val="333399"/>
                  </a:solidFill>
                  <a:latin typeface="Times New Roman" pitchFamily="18" charset="0"/>
                  <a:ea typeface="黑体" pitchFamily="49" charset="-122"/>
                </a:rPr>
                <a:t>因特网</a:t>
              </a:r>
            </a:p>
          </p:txBody>
        </p:sp>
      </p:grpSp>
      <p:sp>
        <p:nvSpPr>
          <p:cNvPr id="9219" name="Rectangle 22"/>
          <p:cNvSpPr>
            <a:spLocks noChangeArrowheads="1"/>
          </p:cNvSpPr>
          <p:nvPr/>
        </p:nvSpPr>
        <p:spPr bwMode="auto">
          <a:xfrm>
            <a:off x="1763713" y="5516563"/>
            <a:ext cx="457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a:solidFill>
                  <a:srgbClr val="333399"/>
                </a:solidFill>
              </a:rPr>
              <a:t>网络把许多计算机连接在一起。</a:t>
            </a:r>
          </a:p>
          <a:p>
            <a:r>
              <a:rPr lang="zh-CN" altLang="en-US" sz="2400">
                <a:solidFill>
                  <a:srgbClr val="333399"/>
                </a:solidFill>
              </a:rPr>
              <a:t>因特网则把许多网络连接在一起。</a:t>
            </a:r>
            <a:r>
              <a:rPr lang="zh-CN" altLang="en-US"/>
              <a:t>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多层次 </a:t>
            </a:r>
            <a:r>
              <a:rPr lang="en-US" altLang="zh-CN" smtClean="0"/>
              <a:t>ISP </a:t>
            </a:r>
            <a:r>
              <a:rPr lang="zh-CN" altLang="en-US" smtClean="0"/>
              <a:t>结构的因特网 </a:t>
            </a:r>
          </a:p>
        </p:txBody>
      </p:sp>
      <p:sp>
        <p:nvSpPr>
          <p:cNvPr id="10243" name="Rectangle 3"/>
          <p:cNvSpPr>
            <a:spLocks noGrp="1" noChangeArrowheads="1"/>
          </p:cNvSpPr>
          <p:nvPr>
            <p:ph type="body" idx="1"/>
          </p:nvPr>
        </p:nvSpPr>
        <p:spPr>
          <a:xfrm>
            <a:off x="971550" y="2205038"/>
            <a:ext cx="7772400" cy="4114800"/>
          </a:xfrm>
        </p:spPr>
        <p:txBody>
          <a:bodyPr/>
          <a:lstStyle/>
          <a:p>
            <a:pPr eaLnBrk="1" hangingPunct="1"/>
            <a:r>
              <a:rPr lang="zh-CN" altLang="en-US" smtClean="0"/>
              <a:t>计算机网络现阶段的特点是逐渐形成了多层次 </a:t>
            </a:r>
            <a:r>
              <a:rPr lang="en-US" altLang="zh-CN" smtClean="0"/>
              <a:t>ISP </a:t>
            </a:r>
            <a:r>
              <a:rPr lang="zh-CN" altLang="en-US" smtClean="0"/>
              <a:t>结构的因特网。</a:t>
            </a:r>
          </a:p>
          <a:p>
            <a:pPr eaLnBrk="1" hangingPunct="1"/>
            <a:r>
              <a:rPr lang="zh-CN" altLang="en-US" smtClean="0">
                <a:solidFill>
                  <a:schemeClr val="hlink"/>
                </a:solidFill>
              </a:rPr>
              <a:t>因特网服务提供者 </a:t>
            </a:r>
            <a:r>
              <a:rPr lang="en-US" altLang="zh-CN" smtClean="0">
                <a:solidFill>
                  <a:schemeClr val="hlink"/>
                </a:solidFill>
              </a:rPr>
              <a:t>ISP</a:t>
            </a:r>
            <a:r>
              <a:rPr lang="en-US" altLang="zh-CN" smtClean="0"/>
              <a:t> (Internet Service Provider)</a:t>
            </a:r>
            <a:r>
              <a:rPr lang="zh-CN" altLang="en-US" smtClean="0"/>
              <a:t>。</a:t>
            </a:r>
            <a:r>
              <a:rPr lang="en-US" altLang="zh-CN" smtClean="0"/>
              <a:t>ISP</a:t>
            </a:r>
            <a:r>
              <a:rPr lang="zh-CN" altLang="en-US" smtClean="0"/>
              <a:t>从因特网管理机构申请到多个</a:t>
            </a:r>
            <a:r>
              <a:rPr lang="en-US" altLang="zh-CN" smtClean="0"/>
              <a:t>IP</a:t>
            </a:r>
            <a:r>
              <a:rPr lang="zh-CN" altLang="en-US" smtClean="0"/>
              <a:t>，同时拥有通信线路以及路由器等连网设备。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Line 4"/>
          <p:cNvSpPr>
            <a:spLocks noChangeShapeType="1"/>
          </p:cNvSpPr>
          <p:nvPr/>
        </p:nvSpPr>
        <p:spPr bwMode="auto">
          <a:xfrm flipV="1">
            <a:off x="2921000" y="4203700"/>
            <a:ext cx="1579563" cy="3286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7" name="Line 5"/>
          <p:cNvSpPr>
            <a:spLocks noChangeShapeType="1"/>
          </p:cNvSpPr>
          <p:nvPr/>
        </p:nvSpPr>
        <p:spPr bwMode="auto">
          <a:xfrm flipV="1">
            <a:off x="4895850" y="3219450"/>
            <a:ext cx="2528888" cy="9842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8" name="Line 6"/>
          <p:cNvSpPr>
            <a:spLocks noChangeShapeType="1"/>
          </p:cNvSpPr>
          <p:nvPr/>
        </p:nvSpPr>
        <p:spPr bwMode="auto">
          <a:xfrm>
            <a:off x="1130300" y="1798638"/>
            <a:ext cx="2106613"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9" name="Line 7"/>
          <p:cNvSpPr>
            <a:spLocks noChangeShapeType="1"/>
          </p:cNvSpPr>
          <p:nvPr/>
        </p:nvSpPr>
        <p:spPr bwMode="auto">
          <a:xfrm flipV="1">
            <a:off x="1235075" y="2784475"/>
            <a:ext cx="1897063" cy="107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 name="Line 8"/>
          <p:cNvSpPr>
            <a:spLocks noChangeShapeType="1"/>
          </p:cNvSpPr>
          <p:nvPr/>
        </p:nvSpPr>
        <p:spPr bwMode="auto">
          <a:xfrm flipV="1">
            <a:off x="1552575" y="3000375"/>
            <a:ext cx="1684338" cy="987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1" name="Line 9"/>
          <p:cNvSpPr>
            <a:spLocks noChangeShapeType="1"/>
          </p:cNvSpPr>
          <p:nvPr/>
        </p:nvSpPr>
        <p:spPr bwMode="auto">
          <a:xfrm>
            <a:off x="4030663" y="2784475"/>
            <a:ext cx="24209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1272" name="Object 10"/>
          <p:cNvGraphicFramePr>
            <a:graphicFrameLocks noChangeAspect="1"/>
          </p:cNvGraphicFramePr>
          <p:nvPr/>
        </p:nvGraphicFramePr>
        <p:xfrm>
          <a:off x="5054600" y="1630363"/>
          <a:ext cx="3789363" cy="2682875"/>
        </p:xfrm>
        <a:graphic>
          <a:graphicData uri="http://schemas.openxmlformats.org/presentationml/2006/ole">
            <mc:AlternateContent xmlns:mc="http://schemas.openxmlformats.org/markup-compatibility/2006">
              <mc:Choice xmlns:v="urn:schemas-microsoft-com:vml" Requires="v">
                <p:oleObj spid="_x0000_s11669" name="VISIO" r:id="rId4" imgW="1687068" imgH="964692" progId="Visio.Drawing.6">
                  <p:embed/>
                </p:oleObj>
              </mc:Choice>
              <mc:Fallback>
                <p:oleObj name="VISIO" r:id="rId4" imgW="1687068" imgH="964692" progId="Visio.Drawing.6">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4600" y="1630363"/>
                        <a:ext cx="3789363" cy="268287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273" name="Freeform 12"/>
          <p:cNvSpPr>
            <a:spLocks/>
          </p:cNvSpPr>
          <p:nvPr/>
        </p:nvSpPr>
        <p:spPr bwMode="auto">
          <a:xfrm flipH="1">
            <a:off x="858838" y="1916113"/>
            <a:ext cx="276225" cy="206375"/>
          </a:xfrm>
          <a:custGeom>
            <a:avLst/>
            <a:gdLst>
              <a:gd name="T0" fmla="*/ 0 w 1188"/>
              <a:gd name="T1" fmla="*/ 2147483647 h 738"/>
              <a:gd name="T2" fmla="*/ 0 w 1188"/>
              <a:gd name="T3" fmla="*/ 2147483647 h 738"/>
              <a:gd name="T4" fmla="*/ 2147483647 w 1188"/>
              <a:gd name="T5" fmla="*/ 2147483647 h 738"/>
              <a:gd name="T6" fmla="*/ 2147483647 w 1188"/>
              <a:gd name="T7" fmla="*/ 0 h 738"/>
              <a:gd name="T8" fmla="*/ 0 w 1188"/>
              <a:gd name="T9" fmla="*/ 2147483647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274" name="Freeform 13"/>
          <p:cNvSpPr>
            <a:spLocks/>
          </p:cNvSpPr>
          <p:nvPr/>
        </p:nvSpPr>
        <p:spPr bwMode="auto">
          <a:xfrm flipH="1">
            <a:off x="1135063" y="1965325"/>
            <a:ext cx="206375" cy="157163"/>
          </a:xfrm>
          <a:custGeom>
            <a:avLst/>
            <a:gdLst>
              <a:gd name="T0" fmla="*/ 2147483647 w 882"/>
              <a:gd name="T1" fmla="*/ 2147483647 h 563"/>
              <a:gd name="T2" fmla="*/ 2147483647 w 882"/>
              <a:gd name="T3" fmla="*/ 2147483647 h 563"/>
              <a:gd name="T4" fmla="*/ 0 w 882"/>
              <a:gd name="T5" fmla="*/ 2147483647 h 563"/>
              <a:gd name="T6" fmla="*/ 0 w 882"/>
              <a:gd name="T7" fmla="*/ 0 h 563"/>
              <a:gd name="T8" fmla="*/ 2147483647 w 882"/>
              <a:gd name="T9" fmla="*/ 2147483647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275" name="Freeform 14"/>
          <p:cNvSpPr>
            <a:spLocks/>
          </p:cNvSpPr>
          <p:nvPr/>
        </p:nvSpPr>
        <p:spPr bwMode="auto">
          <a:xfrm flipH="1">
            <a:off x="858838" y="1916113"/>
            <a:ext cx="482600" cy="63500"/>
          </a:xfrm>
          <a:custGeom>
            <a:avLst/>
            <a:gdLst>
              <a:gd name="T0" fmla="*/ 0 w 2070"/>
              <a:gd name="T1" fmla="*/ 2147483647 h 225"/>
              <a:gd name="T2" fmla="*/ 2147483647 w 2070"/>
              <a:gd name="T3" fmla="*/ 2147483647 h 225"/>
              <a:gd name="T4" fmla="*/ 2147483647 w 2070"/>
              <a:gd name="T5" fmla="*/ 0 h 225"/>
              <a:gd name="T6" fmla="*/ 2147483647 w 2070"/>
              <a:gd name="T7" fmla="*/ 0 h 225"/>
              <a:gd name="T8" fmla="*/ 0 w 2070"/>
              <a:gd name="T9" fmla="*/ 2147483647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276" name="Freeform 15"/>
          <p:cNvSpPr>
            <a:spLocks/>
          </p:cNvSpPr>
          <p:nvPr/>
        </p:nvSpPr>
        <p:spPr bwMode="auto">
          <a:xfrm flipH="1">
            <a:off x="1008063" y="1900238"/>
            <a:ext cx="176212" cy="57150"/>
          </a:xfrm>
          <a:custGeom>
            <a:avLst/>
            <a:gdLst>
              <a:gd name="T0" fmla="*/ 0 w 751"/>
              <a:gd name="T1" fmla="*/ 2147483647 h 210"/>
              <a:gd name="T2" fmla="*/ 0 w 751"/>
              <a:gd name="T3" fmla="*/ 2147483647 h 210"/>
              <a:gd name="T4" fmla="*/ 2147483647 w 751"/>
              <a:gd name="T5" fmla="*/ 2147483647 h 210"/>
              <a:gd name="T6" fmla="*/ 2147483647 w 751"/>
              <a:gd name="T7" fmla="*/ 2147483647 h 210"/>
              <a:gd name="T8" fmla="*/ 2147483647 w 751"/>
              <a:gd name="T9" fmla="*/ 0 h 210"/>
              <a:gd name="T10" fmla="*/ 0 w 751"/>
              <a:gd name="T11" fmla="*/ 2147483647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277" name="Freeform 16"/>
          <p:cNvSpPr>
            <a:spLocks/>
          </p:cNvSpPr>
          <p:nvPr/>
        </p:nvSpPr>
        <p:spPr bwMode="auto">
          <a:xfrm flipH="1">
            <a:off x="912813" y="1651000"/>
            <a:ext cx="223837" cy="284163"/>
          </a:xfrm>
          <a:custGeom>
            <a:avLst/>
            <a:gdLst>
              <a:gd name="T0" fmla="*/ 2147483647 w 960"/>
              <a:gd name="T1" fmla="*/ 2147483647 h 1031"/>
              <a:gd name="T2" fmla="*/ 0 w 960"/>
              <a:gd name="T3" fmla="*/ 2147483647 h 1031"/>
              <a:gd name="T4" fmla="*/ 2147483647 w 960"/>
              <a:gd name="T5" fmla="*/ 0 h 1031"/>
              <a:gd name="T6" fmla="*/ 2147483647 w 960"/>
              <a:gd name="T7" fmla="*/ 2147483647 h 1031"/>
              <a:gd name="T8" fmla="*/ 2147483647 w 960"/>
              <a:gd name="T9" fmla="*/ 2147483647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278" name="Freeform 17"/>
          <p:cNvSpPr>
            <a:spLocks/>
          </p:cNvSpPr>
          <p:nvPr/>
        </p:nvSpPr>
        <p:spPr bwMode="auto">
          <a:xfrm flipH="1">
            <a:off x="1108075" y="1658938"/>
            <a:ext cx="195263" cy="282575"/>
          </a:xfrm>
          <a:custGeom>
            <a:avLst/>
            <a:gdLst>
              <a:gd name="T0" fmla="*/ 2147483647 w 850"/>
              <a:gd name="T1" fmla="*/ 0 h 1026"/>
              <a:gd name="T2" fmla="*/ 0 w 850"/>
              <a:gd name="T3" fmla="*/ 2147483647 h 1026"/>
              <a:gd name="T4" fmla="*/ 2147483647 w 850"/>
              <a:gd name="T5" fmla="*/ 2147483647 h 1026"/>
              <a:gd name="T6" fmla="*/ 2147483647 w 850"/>
              <a:gd name="T7" fmla="*/ 2147483647 h 1026"/>
              <a:gd name="T8" fmla="*/ 2147483647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279" name="Freeform 18"/>
          <p:cNvSpPr>
            <a:spLocks/>
          </p:cNvSpPr>
          <p:nvPr/>
        </p:nvSpPr>
        <p:spPr bwMode="auto">
          <a:xfrm flipH="1">
            <a:off x="938213" y="1679575"/>
            <a:ext cx="163512" cy="212725"/>
          </a:xfrm>
          <a:custGeom>
            <a:avLst/>
            <a:gdLst>
              <a:gd name="T0" fmla="*/ 0 w 689"/>
              <a:gd name="T1" fmla="*/ 2147483647 h 778"/>
              <a:gd name="T2" fmla="*/ 2147483647 w 689"/>
              <a:gd name="T3" fmla="*/ 2147483647 h 778"/>
              <a:gd name="T4" fmla="*/ 2147483647 w 689"/>
              <a:gd name="T5" fmla="*/ 2147483647 h 778"/>
              <a:gd name="T6" fmla="*/ 2147483647 w 689"/>
              <a:gd name="T7" fmla="*/ 0 h 778"/>
              <a:gd name="T8" fmla="*/ 0 w 689"/>
              <a:gd name="T9" fmla="*/ 2147483647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11280" name="Freeform 19"/>
          <p:cNvSpPr>
            <a:spLocks/>
          </p:cNvSpPr>
          <p:nvPr/>
        </p:nvSpPr>
        <p:spPr bwMode="auto">
          <a:xfrm flipH="1">
            <a:off x="877888" y="1938338"/>
            <a:ext cx="158750" cy="133350"/>
          </a:xfrm>
          <a:custGeom>
            <a:avLst/>
            <a:gdLst>
              <a:gd name="T0" fmla="*/ 2147483647 w 674"/>
              <a:gd name="T1" fmla="*/ 0 h 482"/>
              <a:gd name="T2" fmla="*/ 0 w 674"/>
              <a:gd name="T3" fmla="*/ 2147483647 h 482"/>
              <a:gd name="T4" fmla="*/ 0 w 674"/>
              <a:gd name="T5" fmla="*/ 2147483647 h 482"/>
              <a:gd name="T6" fmla="*/ 2147483647 w 674"/>
              <a:gd name="T7" fmla="*/ 2147483647 h 482"/>
              <a:gd name="T8" fmla="*/ 2147483647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281" name="Line 20"/>
          <p:cNvSpPr>
            <a:spLocks noChangeShapeType="1"/>
          </p:cNvSpPr>
          <p:nvPr/>
        </p:nvSpPr>
        <p:spPr bwMode="auto">
          <a:xfrm flipH="1" flipV="1">
            <a:off x="890588" y="1971675"/>
            <a:ext cx="41275" cy="9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2" name="Line 21"/>
          <p:cNvSpPr>
            <a:spLocks noChangeShapeType="1"/>
          </p:cNvSpPr>
          <p:nvPr/>
        </p:nvSpPr>
        <p:spPr bwMode="auto">
          <a:xfrm>
            <a:off x="955675" y="1985963"/>
            <a:ext cx="52388" cy="15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3" name="Line 22"/>
          <p:cNvSpPr>
            <a:spLocks noChangeShapeType="1"/>
          </p:cNvSpPr>
          <p:nvPr/>
        </p:nvSpPr>
        <p:spPr bwMode="auto">
          <a:xfrm flipH="1">
            <a:off x="942975" y="1955800"/>
            <a:ext cx="0" cy="857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4" name="Line 23"/>
          <p:cNvSpPr>
            <a:spLocks noChangeShapeType="1"/>
          </p:cNvSpPr>
          <p:nvPr/>
        </p:nvSpPr>
        <p:spPr bwMode="auto">
          <a:xfrm flipH="1">
            <a:off x="1017588" y="1973263"/>
            <a:ext cx="1587" cy="9525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5" name="Line 24"/>
          <p:cNvSpPr>
            <a:spLocks noChangeShapeType="1"/>
          </p:cNvSpPr>
          <p:nvPr/>
        </p:nvSpPr>
        <p:spPr bwMode="auto">
          <a:xfrm>
            <a:off x="876300" y="1971675"/>
            <a:ext cx="142875" cy="4286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6" name="Line 25"/>
          <p:cNvSpPr>
            <a:spLocks noChangeShapeType="1"/>
          </p:cNvSpPr>
          <p:nvPr/>
        </p:nvSpPr>
        <p:spPr bwMode="auto">
          <a:xfrm flipH="1" flipV="1">
            <a:off x="876300" y="1958975"/>
            <a:ext cx="142875" cy="3968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7" name="Freeform 26"/>
          <p:cNvSpPr>
            <a:spLocks/>
          </p:cNvSpPr>
          <p:nvPr/>
        </p:nvSpPr>
        <p:spPr bwMode="auto">
          <a:xfrm flipH="1">
            <a:off x="1050925" y="2065338"/>
            <a:ext cx="17463" cy="53975"/>
          </a:xfrm>
          <a:custGeom>
            <a:avLst/>
            <a:gdLst>
              <a:gd name="T0" fmla="*/ 2147483647 w 75"/>
              <a:gd name="T1" fmla="*/ 0 h 194"/>
              <a:gd name="T2" fmla="*/ 0 w 75"/>
              <a:gd name="T3" fmla="*/ 2147483647 h 194"/>
              <a:gd name="T4" fmla="*/ 2147483647 w 75"/>
              <a:gd name="T5" fmla="*/ 2147483647 h 194"/>
              <a:gd name="T6" fmla="*/ 2147483647 w 75"/>
              <a:gd name="T7" fmla="*/ 2147483647 h 194"/>
              <a:gd name="T8" fmla="*/ 2147483647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288" name="Freeform 27"/>
          <p:cNvSpPr>
            <a:spLocks/>
          </p:cNvSpPr>
          <p:nvPr/>
        </p:nvSpPr>
        <p:spPr bwMode="auto">
          <a:xfrm flipH="1">
            <a:off x="1008063" y="2071688"/>
            <a:ext cx="49212" cy="47625"/>
          </a:xfrm>
          <a:custGeom>
            <a:avLst/>
            <a:gdLst>
              <a:gd name="T0" fmla="*/ 2147483647 w 206"/>
              <a:gd name="T1" fmla="*/ 2147483647 h 168"/>
              <a:gd name="T2" fmla="*/ 0 w 206"/>
              <a:gd name="T3" fmla="*/ 2147483647 h 168"/>
              <a:gd name="T4" fmla="*/ 2147483647 w 206"/>
              <a:gd name="T5" fmla="*/ 2147483647 h 168"/>
              <a:gd name="T6" fmla="*/ 2147483647 w 206"/>
              <a:gd name="T7" fmla="*/ 2147483647 h 168"/>
              <a:gd name="T8" fmla="*/ 2147483647 w 206"/>
              <a:gd name="T9" fmla="*/ 2147483647 h 168"/>
              <a:gd name="T10" fmla="*/ 2147483647 w 206"/>
              <a:gd name="T11" fmla="*/ 0 h 168"/>
              <a:gd name="T12" fmla="*/ 2147483647 w 206"/>
              <a:gd name="T13" fmla="*/ 2147483647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289" name="Freeform 28"/>
          <p:cNvSpPr>
            <a:spLocks/>
          </p:cNvSpPr>
          <p:nvPr/>
        </p:nvSpPr>
        <p:spPr bwMode="auto">
          <a:xfrm flipH="1">
            <a:off x="717550" y="1941513"/>
            <a:ext cx="369888" cy="201612"/>
          </a:xfrm>
          <a:custGeom>
            <a:avLst/>
            <a:gdLst>
              <a:gd name="T0" fmla="*/ 0 w 1583"/>
              <a:gd name="T1" fmla="*/ 2147483647 h 729"/>
              <a:gd name="T2" fmla="*/ 2147483647 w 1583"/>
              <a:gd name="T3" fmla="*/ 2147483647 h 729"/>
              <a:gd name="T4" fmla="*/ 2147483647 w 1583"/>
              <a:gd name="T5" fmla="*/ 2147483647 h 729"/>
              <a:gd name="T6" fmla="*/ 2147483647 w 1583"/>
              <a:gd name="T7" fmla="*/ 0 h 729"/>
              <a:gd name="T8" fmla="*/ 0 w 1583"/>
              <a:gd name="T9" fmla="*/ 2147483647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290" name="Freeform 29"/>
          <p:cNvSpPr>
            <a:spLocks/>
          </p:cNvSpPr>
          <p:nvPr/>
        </p:nvSpPr>
        <p:spPr bwMode="auto">
          <a:xfrm flipH="1">
            <a:off x="909638" y="2025650"/>
            <a:ext cx="184150" cy="144463"/>
          </a:xfrm>
          <a:custGeom>
            <a:avLst/>
            <a:gdLst>
              <a:gd name="T0" fmla="*/ 2147483647 w 792"/>
              <a:gd name="T1" fmla="*/ 0 h 516"/>
              <a:gd name="T2" fmla="*/ 2147483647 w 792"/>
              <a:gd name="T3" fmla="*/ 2147483647 h 516"/>
              <a:gd name="T4" fmla="*/ 2147483647 w 792"/>
              <a:gd name="T5" fmla="*/ 2147483647 h 516"/>
              <a:gd name="T6" fmla="*/ 0 w 792"/>
              <a:gd name="T7" fmla="*/ 2147483647 h 516"/>
              <a:gd name="T8" fmla="*/ 2147483647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291" name="Freeform 30"/>
          <p:cNvSpPr>
            <a:spLocks/>
          </p:cNvSpPr>
          <p:nvPr/>
        </p:nvSpPr>
        <p:spPr bwMode="auto">
          <a:xfrm flipH="1">
            <a:off x="715963" y="2030413"/>
            <a:ext cx="196850" cy="139700"/>
          </a:xfrm>
          <a:custGeom>
            <a:avLst/>
            <a:gdLst>
              <a:gd name="T0" fmla="*/ 0 w 846"/>
              <a:gd name="T1" fmla="*/ 2147483647 h 507"/>
              <a:gd name="T2" fmla="*/ 2147483647 w 846"/>
              <a:gd name="T3" fmla="*/ 2147483647 h 507"/>
              <a:gd name="T4" fmla="*/ 2147483647 w 846"/>
              <a:gd name="T5" fmla="*/ 0 h 507"/>
              <a:gd name="T6" fmla="*/ 2147483647 w 846"/>
              <a:gd name="T7" fmla="*/ 2147483647 h 507"/>
              <a:gd name="T8" fmla="*/ 0 w 846"/>
              <a:gd name="T9" fmla="*/ 2147483647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292" name="Freeform 31"/>
          <p:cNvSpPr>
            <a:spLocks/>
          </p:cNvSpPr>
          <p:nvPr/>
        </p:nvSpPr>
        <p:spPr bwMode="auto">
          <a:xfrm flipH="1">
            <a:off x="865188" y="2033588"/>
            <a:ext cx="150812" cy="92075"/>
          </a:xfrm>
          <a:custGeom>
            <a:avLst/>
            <a:gdLst>
              <a:gd name="T0" fmla="*/ 0 w 637"/>
              <a:gd name="T1" fmla="*/ 2147483647 h 321"/>
              <a:gd name="T2" fmla="*/ 2147483647 w 637"/>
              <a:gd name="T3" fmla="*/ 0 h 321"/>
              <a:gd name="T4" fmla="*/ 2147483647 w 637"/>
              <a:gd name="T5" fmla="*/ 2147483647 h 321"/>
              <a:gd name="T6" fmla="*/ 2147483647 w 637"/>
              <a:gd name="T7" fmla="*/ 2147483647 h 321"/>
              <a:gd name="T8" fmla="*/ 0 w 637"/>
              <a:gd name="T9" fmla="*/ 2147483647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3" name="Freeform 32"/>
          <p:cNvSpPr>
            <a:spLocks/>
          </p:cNvSpPr>
          <p:nvPr/>
        </p:nvSpPr>
        <p:spPr bwMode="auto">
          <a:xfrm flipH="1">
            <a:off x="733425" y="1973263"/>
            <a:ext cx="222250" cy="120650"/>
          </a:xfrm>
          <a:custGeom>
            <a:avLst/>
            <a:gdLst>
              <a:gd name="T0" fmla="*/ 0 w 938"/>
              <a:gd name="T1" fmla="*/ 2147483647 h 434"/>
              <a:gd name="T2" fmla="*/ 2147483647 w 938"/>
              <a:gd name="T3" fmla="*/ 2147483647 h 434"/>
              <a:gd name="T4" fmla="*/ 2147483647 w 938"/>
              <a:gd name="T5" fmla="*/ 2147483647 h 434"/>
              <a:gd name="T6" fmla="*/ 2147483647 w 938"/>
              <a:gd name="T7" fmla="*/ 0 h 434"/>
              <a:gd name="T8" fmla="*/ 0 w 938"/>
              <a:gd name="T9" fmla="*/ 2147483647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4" name="Freeform 33"/>
          <p:cNvSpPr>
            <a:spLocks/>
          </p:cNvSpPr>
          <p:nvPr/>
        </p:nvSpPr>
        <p:spPr bwMode="auto">
          <a:xfrm flipH="1">
            <a:off x="827088" y="1947863"/>
            <a:ext cx="241300" cy="107950"/>
          </a:xfrm>
          <a:custGeom>
            <a:avLst/>
            <a:gdLst>
              <a:gd name="T0" fmla="*/ 2147483647 w 1034"/>
              <a:gd name="T1" fmla="*/ 2147483647 h 395"/>
              <a:gd name="T2" fmla="*/ 0 w 1034"/>
              <a:gd name="T3" fmla="*/ 2147483647 h 395"/>
              <a:gd name="T4" fmla="*/ 2147483647 w 1034"/>
              <a:gd name="T5" fmla="*/ 0 h 395"/>
              <a:gd name="T6" fmla="*/ 2147483647 w 1034"/>
              <a:gd name="T7" fmla="*/ 2147483647 h 395"/>
              <a:gd name="T8" fmla="*/ 2147483647 w 1034"/>
              <a:gd name="T9" fmla="*/ 2147483647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5" name="Line 34"/>
          <p:cNvSpPr>
            <a:spLocks noChangeShapeType="1"/>
          </p:cNvSpPr>
          <p:nvPr/>
        </p:nvSpPr>
        <p:spPr bwMode="auto">
          <a:xfrm flipH="1" flipV="1">
            <a:off x="855663" y="1952625"/>
            <a:ext cx="206375" cy="841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 name="Line 35"/>
          <p:cNvSpPr>
            <a:spLocks noChangeShapeType="1"/>
          </p:cNvSpPr>
          <p:nvPr/>
        </p:nvSpPr>
        <p:spPr bwMode="auto">
          <a:xfrm flipH="1" flipV="1">
            <a:off x="842963" y="1957388"/>
            <a:ext cx="201612"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 name="Line 36"/>
          <p:cNvSpPr>
            <a:spLocks noChangeShapeType="1"/>
          </p:cNvSpPr>
          <p:nvPr/>
        </p:nvSpPr>
        <p:spPr bwMode="auto">
          <a:xfrm flipH="1" flipV="1">
            <a:off x="833438" y="1965325"/>
            <a:ext cx="196850"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8" name="Line 37"/>
          <p:cNvSpPr>
            <a:spLocks noChangeShapeType="1"/>
          </p:cNvSpPr>
          <p:nvPr/>
        </p:nvSpPr>
        <p:spPr bwMode="auto">
          <a:xfrm flipH="1" flipV="1">
            <a:off x="809625" y="1979613"/>
            <a:ext cx="193675" cy="920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9" name="Line 38"/>
          <p:cNvSpPr>
            <a:spLocks noChangeShapeType="1"/>
          </p:cNvSpPr>
          <p:nvPr/>
        </p:nvSpPr>
        <p:spPr bwMode="auto">
          <a:xfrm flipH="1" flipV="1">
            <a:off x="793750" y="1987550"/>
            <a:ext cx="192088" cy="952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0" name="Line 39"/>
          <p:cNvSpPr>
            <a:spLocks noChangeShapeType="1"/>
          </p:cNvSpPr>
          <p:nvPr/>
        </p:nvSpPr>
        <p:spPr bwMode="auto">
          <a:xfrm flipH="1" flipV="1">
            <a:off x="792163" y="2001838"/>
            <a:ext cx="173037"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1" name="Line 40"/>
          <p:cNvSpPr>
            <a:spLocks noChangeShapeType="1"/>
          </p:cNvSpPr>
          <p:nvPr/>
        </p:nvSpPr>
        <p:spPr bwMode="auto">
          <a:xfrm flipH="1" flipV="1">
            <a:off x="779463" y="2009775"/>
            <a:ext cx="168275" cy="9048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2" name="Line 41"/>
          <p:cNvSpPr>
            <a:spLocks noChangeShapeType="1"/>
          </p:cNvSpPr>
          <p:nvPr/>
        </p:nvSpPr>
        <p:spPr bwMode="auto">
          <a:xfrm flipH="1" flipV="1">
            <a:off x="765175" y="2022475"/>
            <a:ext cx="158750"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3" name="Line 42"/>
          <p:cNvSpPr>
            <a:spLocks noChangeShapeType="1"/>
          </p:cNvSpPr>
          <p:nvPr/>
        </p:nvSpPr>
        <p:spPr bwMode="auto">
          <a:xfrm flipH="1">
            <a:off x="896938" y="2051050"/>
            <a:ext cx="100012" cy="682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4" name="Line 43"/>
          <p:cNvSpPr>
            <a:spLocks noChangeShapeType="1"/>
          </p:cNvSpPr>
          <p:nvPr/>
        </p:nvSpPr>
        <p:spPr bwMode="auto">
          <a:xfrm flipH="1">
            <a:off x="877888" y="2043113"/>
            <a:ext cx="98425" cy="635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5" name="Line 44"/>
          <p:cNvSpPr>
            <a:spLocks noChangeShapeType="1"/>
          </p:cNvSpPr>
          <p:nvPr/>
        </p:nvSpPr>
        <p:spPr bwMode="auto">
          <a:xfrm flipH="1">
            <a:off x="836613" y="2022475"/>
            <a:ext cx="96837"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6" name="Line 45"/>
          <p:cNvSpPr>
            <a:spLocks noChangeShapeType="1"/>
          </p:cNvSpPr>
          <p:nvPr/>
        </p:nvSpPr>
        <p:spPr bwMode="auto">
          <a:xfrm flipH="1">
            <a:off x="815975" y="2012950"/>
            <a:ext cx="95250" cy="587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7" name="Line 46"/>
          <p:cNvSpPr>
            <a:spLocks noChangeShapeType="1"/>
          </p:cNvSpPr>
          <p:nvPr/>
        </p:nvSpPr>
        <p:spPr bwMode="auto">
          <a:xfrm flipH="1">
            <a:off x="793750" y="2001838"/>
            <a:ext cx="92075"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8" name="Line 47"/>
          <p:cNvSpPr>
            <a:spLocks noChangeShapeType="1"/>
          </p:cNvSpPr>
          <p:nvPr/>
        </p:nvSpPr>
        <p:spPr bwMode="auto">
          <a:xfrm flipH="1">
            <a:off x="776288" y="1993900"/>
            <a:ext cx="88900" cy="571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9" name="Line 48"/>
          <p:cNvSpPr>
            <a:spLocks noChangeShapeType="1"/>
          </p:cNvSpPr>
          <p:nvPr/>
        </p:nvSpPr>
        <p:spPr bwMode="auto">
          <a:xfrm flipH="1">
            <a:off x="757238" y="1984375"/>
            <a:ext cx="90487" cy="555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0" name="Line 49"/>
          <p:cNvSpPr>
            <a:spLocks noChangeShapeType="1"/>
          </p:cNvSpPr>
          <p:nvPr/>
        </p:nvSpPr>
        <p:spPr bwMode="auto">
          <a:xfrm flipH="1">
            <a:off x="989013" y="2012950"/>
            <a:ext cx="49212" cy="301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1" name="Line 50"/>
          <p:cNvSpPr>
            <a:spLocks noChangeShapeType="1"/>
          </p:cNvSpPr>
          <p:nvPr/>
        </p:nvSpPr>
        <p:spPr bwMode="auto">
          <a:xfrm flipH="1">
            <a:off x="962025" y="2001838"/>
            <a:ext cx="46038"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2" name="Line 51"/>
          <p:cNvSpPr>
            <a:spLocks noChangeShapeType="1"/>
          </p:cNvSpPr>
          <p:nvPr/>
        </p:nvSpPr>
        <p:spPr bwMode="auto">
          <a:xfrm flipH="1">
            <a:off x="933450" y="1990725"/>
            <a:ext cx="46038"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3" name="Line 52"/>
          <p:cNvSpPr>
            <a:spLocks noChangeShapeType="1"/>
          </p:cNvSpPr>
          <p:nvPr/>
        </p:nvSpPr>
        <p:spPr bwMode="auto">
          <a:xfrm flipH="1">
            <a:off x="904875" y="1981200"/>
            <a:ext cx="46038"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4" name="Line 53"/>
          <p:cNvSpPr>
            <a:spLocks noChangeShapeType="1"/>
          </p:cNvSpPr>
          <p:nvPr/>
        </p:nvSpPr>
        <p:spPr bwMode="auto">
          <a:xfrm flipH="1">
            <a:off x="879475" y="1970088"/>
            <a:ext cx="42863"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5" name="Line 54"/>
          <p:cNvSpPr>
            <a:spLocks noChangeShapeType="1"/>
          </p:cNvSpPr>
          <p:nvPr/>
        </p:nvSpPr>
        <p:spPr bwMode="auto">
          <a:xfrm flipH="1">
            <a:off x="850900" y="1957388"/>
            <a:ext cx="39688" cy="2381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6" name="Freeform 55"/>
          <p:cNvSpPr>
            <a:spLocks/>
          </p:cNvSpPr>
          <p:nvPr/>
        </p:nvSpPr>
        <p:spPr bwMode="auto">
          <a:xfrm flipH="1">
            <a:off x="473075" y="2243138"/>
            <a:ext cx="485775" cy="257175"/>
          </a:xfrm>
          <a:custGeom>
            <a:avLst/>
            <a:gdLst>
              <a:gd name="T0" fmla="*/ 2147483647 w 2091"/>
              <a:gd name="T1" fmla="*/ 2147483647 h 931"/>
              <a:gd name="T2" fmla="*/ 2147483647 w 2091"/>
              <a:gd name="T3" fmla="*/ 2147483647 h 931"/>
              <a:gd name="T4" fmla="*/ 0 w 2091"/>
              <a:gd name="T5" fmla="*/ 2147483647 h 931"/>
              <a:gd name="T6" fmla="*/ 2147483647 w 2091"/>
              <a:gd name="T7" fmla="*/ 2147483647 h 931"/>
              <a:gd name="T8" fmla="*/ 2147483647 w 2091"/>
              <a:gd name="T9" fmla="*/ 2147483647 h 931"/>
              <a:gd name="T10" fmla="*/ 2147483647 w 2091"/>
              <a:gd name="T11" fmla="*/ 2147483647 h 931"/>
              <a:gd name="T12" fmla="*/ 2147483647 w 2091"/>
              <a:gd name="T13" fmla="*/ 2147483647 h 931"/>
              <a:gd name="T14" fmla="*/ 2147483647 w 2091"/>
              <a:gd name="T15" fmla="*/ 2147483647 h 931"/>
              <a:gd name="T16" fmla="*/ 2147483647 w 2091"/>
              <a:gd name="T17" fmla="*/ 2147483647 h 931"/>
              <a:gd name="T18" fmla="*/ 2147483647 w 2091"/>
              <a:gd name="T19" fmla="*/ 2147483647 h 931"/>
              <a:gd name="T20" fmla="*/ 2147483647 w 2091"/>
              <a:gd name="T21" fmla="*/ 2147483647 h 931"/>
              <a:gd name="T22" fmla="*/ 2147483647 w 2091"/>
              <a:gd name="T23" fmla="*/ 2147483647 h 931"/>
              <a:gd name="T24" fmla="*/ 2147483647 w 2091"/>
              <a:gd name="T25" fmla="*/ 2147483647 h 931"/>
              <a:gd name="T26" fmla="*/ 2147483647 w 2091"/>
              <a:gd name="T27" fmla="*/ 2147483647 h 931"/>
              <a:gd name="T28" fmla="*/ 2147483647 w 2091"/>
              <a:gd name="T29" fmla="*/ 2147483647 h 931"/>
              <a:gd name="T30" fmla="*/ 2147483647 w 2091"/>
              <a:gd name="T31" fmla="*/ 2147483647 h 931"/>
              <a:gd name="T32" fmla="*/ 2147483647 w 2091"/>
              <a:gd name="T33" fmla="*/ 2147483647 h 931"/>
              <a:gd name="T34" fmla="*/ 2147483647 w 2091"/>
              <a:gd name="T35" fmla="*/ 2147483647 h 931"/>
              <a:gd name="T36" fmla="*/ 2147483647 w 2091"/>
              <a:gd name="T37" fmla="*/ 2147483647 h 931"/>
              <a:gd name="T38" fmla="*/ 2147483647 w 2091"/>
              <a:gd name="T39" fmla="*/ 0 h 931"/>
              <a:gd name="T40" fmla="*/ 2147483647 w 2091"/>
              <a:gd name="T41" fmla="*/ 2147483647 h 931"/>
              <a:gd name="T42" fmla="*/ 2147483647 w 2091"/>
              <a:gd name="T43" fmla="*/ 2147483647 h 931"/>
              <a:gd name="T44" fmla="*/ 2147483647 w 2091"/>
              <a:gd name="T45" fmla="*/ 2147483647 h 931"/>
              <a:gd name="T46" fmla="*/ 2147483647 w 2091"/>
              <a:gd name="T47" fmla="*/ 2147483647 h 931"/>
              <a:gd name="T48" fmla="*/ 2147483647 w 2091"/>
              <a:gd name="T49" fmla="*/ 2147483647 h 931"/>
              <a:gd name="T50" fmla="*/ 2147483647 w 2091"/>
              <a:gd name="T51" fmla="*/ 2147483647 h 931"/>
              <a:gd name="T52" fmla="*/ 2147483647 w 2091"/>
              <a:gd name="T53" fmla="*/ 2147483647 h 931"/>
              <a:gd name="T54" fmla="*/ 2147483647 w 2091"/>
              <a:gd name="T55" fmla="*/ 2147483647 h 931"/>
              <a:gd name="T56" fmla="*/ 2147483647 w 2091"/>
              <a:gd name="T57" fmla="*/ 2147483647 h 931"/>
              <a:gd name="T58" fmla="*/ 2147483647 w 2091"/>
              <a:gd name="T59" fmla="*/ 2147483647 h 931"/>
              <a:gd name="T60" fmla="*/ 2147483647 w 2091"/>
              <a:gd name="T61" fmla="*/ 2147483647 h 931"/>
              <a:gd name="T62" fmla="*/ 2147483647 w 2091"/>
              <a:gd name="T63" fmla="*/ 2147483647 h 931"/>
              <a:gd name="T64" fmla="*/ 2147483647 w 2091"/>
              <a:gd name="T65" fmla="*/ 2147483647 h 931"/>
              <a:gd name="T66" fmla="*/ 2147483647 w 2091"/>
              <a:gd name="T67" fmla="*/ 2147483647 h 931"/>
              <a:gd name="T68" fmla="*/ 2147483647 w 2091"/>
              <a:gd name="T69" fmla="*/ 2147483647 h 931"/>
              <a:gd name="T70" fmla="*/ 2147483647 w 2091"/>
              <a:gd name="T71" fmla="*/ 2147483647 h 931"/>
              <a:gd name="T72" fmla="*/ 2147483647 w 2091"/>
              <a:gd name="T73" fmla="*/ 2147483647 h 931"/>
              <a:gd name="T74" fmla="*/ 2147483647 w 2091"/>
              <a:gd name="T75" fmla="*/ 2147483647 h 931"/>
              <a:gd name="T76" fmla="*/ 2147483647 w 2091"/>
              <a:gd name="T77" fmla="*/ 2147483647 h 931"/>
              <a:gd name="T78" fmla="*/ 2147483647 w 2091"/>
              <a:gd name="T79" fmla="*/ 2147483647 h 931"/>
              <a:gd name="T80" fmla="*/ 2147483647 w 2091"/>
              <a:gd name="T81" fmla="*/ 2147483647 h 931"/>
              <a:gd name="T82" fmla="*/ 2147483647 w 2091"/>
              <a:gd name="T83" fmla="*/ 2147483647 h 931"/>
              <a:gd name="T84" fmla="*/ 2147483647 w 2091"/>
              <a:gd name="T85" fmla="*/ 2147483647 h 931"/>
              <a:gd name="T86" fmla="*/ 2147483647 w 2091"/>
              <a:gd name="T87" fmla="*/ 2147483647 h 931"/>
              <a:gd name="T88" fmla="*/ 2147483647 w 2091"/>
              <a:gd name="T89" fmla="*/ 2147483647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317" name="Freeform 56"/>
          <p:cNvSpPr>
            <a:spLocks/>
          </p:cNvSpPr>
          <p:nvPr/>
        </p:nvSpPr>
        <p:spPr bwMode="auto">
          <a:xfrm flipH="1">
            <a:off x="476250" y="2266950"/>
            <a:ext cx="481013" cy="228600"/>
          </a:xfrm>
          <a:custGeom>
            <a:avLst/>
            <a:gdLst>
              <a:gd name="T0" fmla="*/ 2147483647 w 2049"/>
              <a:gd name="T1" fmla="*/ 2147483647 h 829"/>
              <a:gd name="T2" fmla="*/ 2147483647 w 2049"/>
              <a:gd name="T3" fmla="*/ 2147483647 h 829"/>
              <a:gd name="T4" fmla="*/ 2147483647 w 2049"/>
              <a:gd name="T5" fmla="*/ 2147483647 h 829"/>
              <a:gd name="T6" fmla="*/ 2147483647 w 2049"/>
              <a:gd name="T7" fmla="*/ 2147483647 h 829"/>
              <a:gd name="T8" fmla="*/ 2147483647 w 2049"/>
              <a:gd name="T9" fmla="*/ 2147483647 h 829"/>
              <a:gd name="T10" fmla="*/ 2147483647 w 2049"/>
              <a:gd name="T11" fmla="*/ 2147483647 h 829"/>
              <a:gd name="T12" fmla="*/ 2147483647 w 2049"/>
              <a:gd name="T13" fmla="*/ 2147483647 h 829"/>
              <a:gd name="T14" fmla="*/ 2147483647 w 2049"/>
              <a:gd name="T15" fmla="*/ 2147483647 h 829"/>
              <a:gd name="T16" fmla="*/ 2147483647 w 2049"/>
              <a:gd name="T17" fmla="*/ 2147483647 h 829"/>
              <a:gd name="T18" fmla="*/ 2147483647 w 2049"/>
              <a:gd name="T19" fmla="*/ 2147483647 h 829"/>
              <a:gd name="T20" fmla="*/ 2147483647 w 2049"/>
              <a:gd name="T21" fmla="*/ 2147483647 h 829"/>
              <a:gd name="T22" fmla="*/ 2147483647 w 2049"/>
              <a:gd name="T23" fmla="*/ 2147483647 h 829"/>
              <a:gd name="T24" fmla="*/ 2147483647 w 2049"/>
              <a:gd name="T25" fmla="*/ 2147483647 h 829"/>
              <a:gd name="T26" fmla="*/ 2147483647 w 2049"/>
              <a:gd name="T27" fmla="*/ 2147483647 h 829"/>
              <a:gd name="T28" fmla="*/ 2147483647 w 2049"/>
              <a:gd name="T29" fmla="*/ 2147483647 h 829"/>
              <a:gd name="T30" fmla="*/ 2147483647 w 2049"/>
              <a:gd name="T31" fmla="*/ 2147483647 h 829"/>
              <a:gd name="T32" fmla="*/ 2147483647 w 2049"/>
              <a:gd name="T33" fmla="*/ 2147483647 h 829"/>
              <a:gd name="T34" fmla="*/ 2147483647 w 2049"/>
              <a:gd name="T35" fmla="*/ 2147483647 h 829"/>
              <a:gd name="T36" fmla="*/ 2147483647 w 2049"/>
              <a:gd name="T37" fmla="*/ 2147483647 h 829"/>
              <a:gd name="T38" fmla="*/ 2147483647 w 2049"/>
              <a:gd name="T39" fmla="*/ 2147483647 h 829"/>
              <a:gd name="T40" fmla="*/ 2147483647 w 2049"/>
              <a:gd name="T41" fmla="*/ 2147483647 h 829"/>
              <a:gd name="T42" fmla="*/ 0 w 2049"/>
              <a:gd name="T43" fmla="*/ 2147483647 h 829"/>
              <a:gd name="T44" fmla="*/ 2147483647 w 2049"/>
              <a:gd name="T45" fmla="*/ 2147483647 h 829"/>
              <a:gd name="T46" fmla="*/ 2147483647 w 2049"/>
              <a:gd name="T47" fmla="*/ 2147483647 h 829"/>
              <a:gd name="T48" fmla="*/ 2147483647 w 2049"/>
              <a:gd name="T49" fmla="*/ 2147483647 h 829"/>
              <a:gd name="T50" fmla="*/ 2147483647 w 2049"/>
              <a:gd name="T51" fmla="*/ 2147483647 h 829"/>
              <a:gd name="T52" fmla="*/ 2147483647 w 2049"/>
              <a:gd name="T53" fmla="*/ 2147483647 h 829"/>
              <a:gd name="T54" fmla="*/ 2147483647 w 2049"/>
              <a:gd name="T55" fmla="*/ 2147483647 h 829"/>
              <a:gd name="T56" fmla="*/ 2147483647 w 2049"/>
              <a:gd name="T57" fmla="*/ 2147483647 h 829"/>
              <a:gd name="T58" fmla="*/ 2147483647 w 2049"/>
              <a:gd name="T59" fmla="*/ 2147483647 h 829"/>
              <a:gd name="T60" fmla="*/ 2147483647 w 2049"/>
              <a:gd name="T61" fmla="*/ 2147483647 h 829"/>
              <a:gd name="T62" fmla="*/ 2147483647 w 2049"/>
              <a:gd name="T63" fmla="*/ 2147483647 h 829"/>
              <a:gd name="T64" fmla="*/ 2147483647 w 2049"/>
              <a:gd name="T65" fmla="*/ 2147483647 h 829"/>
              <a:gd name="T66" fmla="*/ 2147483647 w 2049"/>
              <a:gd name="T67" fmla="*/ 2147483647 h 829"/>
              <a:gd name="T68" fmla="*/ 2147483647 w 2049"/>
              <a:gd name="T69" fmla="*/ 0 h 829"/>
              <a:gd name="T70" fmla="*/ 2147483647 w 2049"/>
              <a:gd name="T71" fmla="*/ 2147483647 h 829"/>
              <a:gd name="T72" fmla="*/ 2147483647 w 2049"/>
              <a:gd name="T73" fmla="*/ 2147483647 h 829"/>
              <a:gd name="T74" fmla="*/ 2147483647 w 2049"/>
              <a:gd name="T75" fmla="*/ 2147483647 h 829"/>
              <a:gd name="T76" fmla="*/ 2147483647 w 2049"/>
              <a:gd name="T77" fmla="*/ 2147483647 h 829"/>
              <a:gd name="T78" fmla="*/ 2147483647 w 2049"/>
              <a:gd name="T79" fmla="*/ 2147483647 h 829"/>
              <a:gd name="T80" fmla="*/ 2147483647 w 2049"/>
              <a:gd name="T81" fmla="*/ 2147483647 h 829"/>
              <a:gd name="T82" fmla="*/ 2147483647 w 2049"/>
              <a:gd name="T83" fmla="*/ 2147483647 h 829"/>
              <a:gd name="T84" fmla="*/ 2147483647 w 2049"/>
              <a:gd name="T85" fmla="*/ 2147483647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8" name="Freeform 57"/>
          <p:cNvSpPr>
            <a:spLocks/>
          </p:cNvSpPr>
          <p:nvPr/>
        </p:nvSpPr>
        <p:spPr bwMode="auto">
          <a:xfrm flipH="1">
            <a:off x="544513" y="2347913"/>
            <a:ext cx="66675" cy="14287"/>
          </a:xfrm>
          <a:custGeom>
            <a:avLst/>
            <a:gdLst>
              <a:gd name="T0" fmla="*/ 2147483647 w 280"/>
              <a:gd name="T1" fmla="*/ 0 h 48"/>
              <a:gd name="T2" fmla="*/ 2147483647 w 280"/>
              <a:gd name="T3" fmla="*/ 2147483647 h 48"/>
              <a:gd name="T4" fmla="*/ 0 w 280"/>
              <a:gd name="T5" fmla="*/ 2147483647 h 48"/>
              <a:gd name="T6" fmla="*/ 2147483647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9" name="Freeform 58"/>
          <p:cNvSpPr>
            <a:spLocks/>
          </p:cNvSpPr>
          <p:nvPr/>
        </p:nvSpPr>
        <p:spPr bwMode="auto">
          <a:xfrm flipH="1">
            <a:off x="479425" y="2327275"/>
            <a:ext cx="39688" cy="15875"/>
          </a:xfrm>
          <a:custGeom>
            <a:avLst/>
            <a:gdLst>
              <a:gd name="T0" fmla="*/ 2147483647 w 170"/>
              <a:gd name="T1" fmla="*/ 0 h 57"/>
              <a:gd name="T2" fmla="*/ 2147483647 w 170"/>
              <a:gd name="T3" fmla="*/ 2147483647 h 57"/>
              <a:gd name="T4" fmla="*/ 0 w 170"/>
              <a:gd name="T5" fmla="*/ 2147483647 h 57"/>
              <a:gd name="T6" fmla="*/ 2147483647 w 170"/>
              <a:gd name="T7" fmla="*/ 2147483647 h 57"/>
              <a:gd name="T8" fmla="*/ 2147483647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0" name="Freeform 59"/>
          <p:cNvSpPr>
            <a:spLocks/>
          </p:cNvSpPr>
          <p:nvPr/>
        </p:nvSpPr>
        <p:spPr bwMode="auto">
          <a:xfrm flipH="1">
            <a:off x="646113" y="2312988"/>
            <a:ext cx="61912" cy="42862"/>
          </a:xfrm>
          <a:custGeom>
            <a:avLst/>
            <a:gdLst>
              <a:gd name="T0" fmla="*/ 2147483647 w 263"/>
              <a:gd name="T1" fmla="*/ 0 h 143"/>
              <a:gd name="T2" fmla="*/ 2147483647 w 263"/>
              <a:gd name="T3" fmla="*/ 2147483647 h 143"/>
              <a:gd name="T4" fmla="*/ 2147483647 w 263"/>
              <a:gd name="T5" fmla="*/ 2147483647 h 143"/>
              <a:gd name="T6" fmla="*/ 2147483647 w 263"/>
              <a:gd name="T7" fmla="*/ 2147483647 h 143"/>
              <a:gd name="T8" fmla="*/ 2147483647 w 263"/>
              <a:gd name="T9" fmla="*/ 2147483647 h 143"/>
              <a:gd name="T10" fmla="*/ 0 w 263"/>
              <a:gd name="T11" fmla="*/ 2147483647 h 143"/>
              <a:gd name="T12" fmla="*/ 2147483647 w 263"/>
              <a:gd name="T13" fmla="*/ 2147483647 h 143"/>
              <a:gd name="T14" fmla="*/ 2147483647 w 263"/>
              <a:gd name="T15" fmla="*/ 2147483647 h 143"/>
              <a:gd name="T16" fmla="*/ 2147483647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1" name="Freeform 60"/>
          <p:cNvSpPr>
            <a:spLocks/>
          </p:cNvSpPr>
          <p:nvPr/>
        </p:nvSpPr>
        <p:spPr bwMode="auto">
          <a:xfrm flipH="1">
            <a:off x="708025" y="2405063"/>
            <a:ext cx="201613" cy="58737"/>
          </a:xfrm>
          <a:custGeom>
            <a:avLst/>
            <a:gdLst>
              <a:gd name="T0" fmla="*/ 2147483647 w 853"/>
              <a:gd name="T1" fmla="*/ 0 h 212"/>
              <a:gd name="T2" fmla="*/ 2147483647 w 853"/>
              <a:gd name="T3" fmla="*/ 2147483647 h 212"/>
              <a:gd name="T4" fmla="*/ 2147483647 w 853"/>
              <a:gd name="T5" fmla="*/ 2147483647 h 212"/>
              <a:gd name="T6" fmla="*/ 2147483647 w 853"/>
              <a:gd name="T7" fmla="*/ 2147483647 h 212"/>
              <a:gd name="T8" fmla="*/ 2147483647 w 853"/>
              <a:gd name="T9" fmla="*/ 2147483647 h 212"/>
              <a:gd name="T10" fmla="*/ 2147483647 w 853"/>
              <a:gd name="T11" fmla="*/ 2147483647 h 212"/>
              <a:gd name="T12" fmla="*/ 0 w 853"/>
              <a:gd name="T13" fmla="*/ 2147483647 h 212"/>
              <a:gd name="T14" fmla="*/ 2147483647 w 853"/>
              <a:gd name="T15" fmla="*/ 2147483647 h 212"/>
              <a:gd name="T16" fmla="*/ 2147483647 w 853"/>
              <a:gd name="T17" fmla="*/ 2147483647 h 212"/>
              <a:gd name="T18" fmla="*/ 2147483647 w 853"/>
              <a:gd name="T19" fmla="*/ 2147483647 h 212"/>
              <a:gd name="T20" fmla="*/ 2147483647 w 853"/>
              <a:gd name="T21" fmla="*/ 2147483647 h 212"/>
              <a:gd name="T22" fmla="*/ 2147483647 w 853"/>
              <a:gd name="T23" fmla="*/ 2147483647 h 212"/>
              <a:gd name="T24" fmla="*/ 2147483647 w 853"/>
              <a:gd name="T25" fmla="*/ 2147483647 h 212"/>
              <a:gd name="T26" fmla="*/ 2147483647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2" name="Freeform 61"/>
          <p:cNvSpPr>
            <a:spLocks/>
          </p:cNvSpPr>
          <p:nvPr/>
        </p:nvSpPr>
        <p:spPr bwMode="auto">
          <a:xfrm flipH="1">
            <a:off x="701675" y="1958975"/>
            <a:ext cx="174625" cy="106363"/>
          </a:xfrm>
          <a:custGeom>
            <a:avLst/>
            <a:gdLst>
              <a:gd name="T0" fmla="*/ 2147483647 w 751"/>
              <a:gd name="T1" fmla="*/ 2147483647 h 379"/>
              <a:gd name="T2" fmla="*/ 2147483647 w 751"/>
              <a:gd name="T3" fmla="*/ 2147483647 h 379"/>
              <a:gd name="T4" fmla="*/ 2147483647 w 751"/>
              <a:gd name="T5" fmla="*/ 2147483647 h 379"/>
              <a:gd name="T6" fmla="*/ 2147483647 w 751"/>
              <a:gd name="T7" fmla="*/ 2147483647 h 379"/>
              <a:gd name="T8" fmla="*/ 2147483647 w 751"/>
              <a:gd name="T9" fmla="*/ 2147483647 h 379"/>
              <a:gd name="T10" fmla="*/ 2147483647 w 751"/>
              <a:gd name="T11" fmla="*/ 2147483647 h 379"/>
              <a:gd name="T12" fmla="*/ 2147483647 w 751"/>
              <a:gd name="T13" fmla="*/ 2147483647 h 379"/>
              <a:gd name="T14" fmla="*/ 2147483647 w 751"/>
              <a:gd name="T15" fmla="*/ 2147483647 h 379"/>
              <a:gd name="T16" fmla="*/ 2147483647 w 751"/>
              <a:gd name="T17" fmla="*/ 2147483647 h 379"/>
              <a:gd name="T18" fmla="*/ 2147483647 w 751"/>
              <a:gd name="T19" fmla="*/ 2147483647 h 379"/>
              <a:gd name="T20" fmla="*/ 2147483647 w 751"/>
              <a:gd name="T21" fmla="*/ 2147483647 h 379"/>
              <a:gd name="T22" fmla="*/ 2147483647 w 751"/>
              <a:gd name="T23" fmla="*/ 2147483647 h 379"/>
              <a:gd name="T24" fmla="*/ 2147483647 w 751"/>
              <a:gd name="T25" fmla="*/ 2147483647 h 379"/>
              <a:gd name="T26" fmla="*/ 2147483647 w 751"/>
              <a:gd name="T27" fmla="*/ 2147483647 h 379"/>
              <a:gd name="T28" fmla="*/ 2147483647 w 751"/>
              <a:gd name="T29" fmla="*/ 2147483647 h 379"/>
              <a:gd name="T30" fmla="*/ 2147483647 w 751"/>
              <a:gd name="T31" fmla="*/ 2147483647 h 379"/>
              <a:gd name="T32" fmla="*/ 2147483647 w 751"/>
              <a:gd name="T33" fmla="*/ 2147483647 h 379"/>
              <a:gd name="T34" fmla="*/ 2147483647 w 751"/>
              <a:gd name="T35" fmla="*/ 2147483647 h 379"/>
              <a:gd name="T36" fmla="*/ 2147483647 w 751"/>
              <a:gd name="T37" fmla="*/ 2147483647 h 379"/>
              <a:gd name="T38" fmla="*/ 2147483647 w 751"/>
              <a:gd name="T39" fmla="*/ 2147483647 h 379"/>
              <a:gd name="T40" fmla="*/ 2147483647 w 751"/>
              <a:gd name="T41" fmla="*/ 2147483647 h 379"/>
              <a:gd name="T42" fmla="*/ 2147483647 w 751"/>
              <a:gd name="T43" fmla="*/ 2147483647 h 379"/>
              <a:gd name="T44" fmla="*/ 2147483647 w 751"/>
              <a:gd name="T45" fmla="*/ 2147483647 h 379"/>
              <a:gd name="T46" fmla="*/ 2147483647 w 751"/>
              <a:gd name="T47" fmla="*/ 2147483647 h 379"/>
              <a:gd name="T48" fmla="*/ 2147483647 w 751"/>
              <a:gd name="T49" fmla="*/ 2147483647 h 379"/>
              <a:gd name="T50" fmla="*/ 2147483647 w 751"/>
              <a:gd name="T51" fmla="*/ 2147483647 h 379"/>
              <a:gd name="T52" fmla="*/ 2147483647 w 751"/>
              <a:gd name="T53" fmla="*/ 2147483647 h 379"/>
              <a:gd name="T54" fmla="*/ 2147483647 w 751"/>
              <a:gd name="T55" fmla="*/ 2147483647 h 379"/>
              <a:gd name="T56" fmla="*/ 2147483647 w 751"/>
              <a:gd name="T57" fmla="*/ 2147483647 h 379"/>
              <a:gd name="T58" fmla="*/ 2147483647 w 751"/>
              <a:gd name="T59" fmla="*/ 2147483647 h 379"/>
              <a:gd name="T60" fmla="*/ 2147483647 w 751"/>
              <a:gd name="T61" fmla="*/ 2147483647 h 379"/>
              <a:gd name="T62" fmla="*/ 2147483647 w 751"/>
              <a:gd name="T63" fmla="*/ 2147483647 h 379"/>
              <a:gd name="T64" fmla="*/ 0 w 751"/>
              <a:gd name="T65" fmla="*/ 2147483647 h 379"/>
              <a:gd name="T66" fmla="*/ 2147483647 w 751"/>
              <a:gd name="T67" fmla="*/ 2147483647 h 379"/>
              <a:gd name="T68" fmla="*/ 2147483647 w 751"/>
              <a:gd name="T69" fmla="*/ 2147483647 h 379"/>
              <a:gd name="T70" fmla="*/ 2147483647 w 751"/>
              <a:gd name="T71" fmla="*/ 2147483647 h 379"/>
              <a:gd name="T72" fmla="*/ 2147483647 w 751"/>
              <a:gd name="T73" fmla="*/ 2147483647 h 379"/>
              <a:gd name="T74" fmla="*/ 2147483647 w 751"/>
              <a:gd name="T75" fmla="*/ 2147483647 h 379"/>
              <a:gd name="T76" fmla="*/ 2147483647 w 751"/>
              <a:gd name="T77" fmla="*/ 2147483647 h 379"/>
              <a:gd name="T78" fmla="*/ 2147483647 w 751"/>
              <a:gd name="T79" fmla="*/ 2147483647 h 379"/>
              <a:gd name="T80" fmla="*/ 2147483647 w 751"/>
              <a:gd name="T81" fmla="*/ 2147483647 h 379"/>
              <a:gd name="T82" fmla="*/ 2147483647 w 751"/>
              <a:gd name="T83" fmla="*/ 2147483647 h 379"/>
              <a:gd name="T84" fmla="*/ 2147483647 w 751"/>
              <a:gd name="T85" fmla="*/ 0 h 379"/>
              <a:gd name="T86" fmla="*/ 2147483647 w 751"/>
              <a:gd name="T87" fmla="*/ 2147483647 h 379"/>
              <a:gd name="T88" fmla="*/ 2147483647 w 751"/>
              <a:gd name="T89" fmla="*/ 2147483647 h 379"/>
              <a:gd name="T90" fmla="*/ 2147483647 w 751"/>
              <a:gd name="T91" fmla="*/ 2147483647 h 379"/>
              <a:gd name="T92" fmla="*/ 2147483647 w 751"/>
              <a:gd name="T93" fmla="*/ 2147483647 h 379"/>
              <a:gd name="T94" fmla="*/ 2147483647 w 751"/>
              <a:gd name="T95" fmla="*/ 2147483647 h 379"/>
              <a:gd name="T96" fmla="*/ 2147483647 w 751"/>
              <a:gd name="T97" fmla="*/ 2147483647 h 379"/>
              <a:gd name="T98" fmla="*/ 2147483647 w 751"/>
              <a:gd name="T99" fmla="*/ 2147483647 h 379"/>
              <a:gd name="T100" fmla="*/ 2147483647 w 751"/>
              <a:gd name="T101" fmla="*/ 2147483647 h 379"/>
              <a:gd name="T102" fmla="*/ 2147483647 w 751"/>
              <a:gd name="T103" fmla="*/ 2147483647 h 379"/>
              <a:gd name="T104" fmla="*/ 2147483647 w 751"/>
              <a:gd name="T105" fmla="*/ 2147483647 h 379"/>
              <a:gd name="T106" fmla="*/ 2147483647 w 751"/>
              <a:gd name="T107" fmla="*/ 2147483647 h 379"/>
              <a:gd name="T108" fmla="*/ 2147483647 w 751"/>
              <a:gd name="T109" fmla="*/ 2147483647 h 379"/>
              <a:gd name="T110" fmla="*/ 2147483647 w 751"/>
              <a:gd name="T111" fmla="*/ 2147483647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323" name="Freeform 62"/>
          <p:cNvSpPr>
            <a:spLocks/>
          </p:cNvSpPr>
          <p:nvPr/>
        </p:nvSpPr>
        <p:spPr bwMode="auto">
          <a:xfrm flipH="1">
            <a:off x="766763" y="2008188"/>
            <a:ext cx="42862" cy="11112"/>
          </a:xfrm>
          <a:custGeom>
            <a:avLst/>
            <a:gdLst>
              <a:gd name="T0" fmla="*/ 0 w 179"/>
              <a:gd name="T1" fmla="*/ 0 h 43"/>
              <a:gd name="T2" fmla="*/ 2147483647 w 179"/>
              <a:gd name="T3" fmla="*/ 2147483647 h 43"/>
              <a:gd name="T4" fmla="*/ 2147483647 w 179"/>
              <a:gd name="T5" fmla="*/ 2147483647 h 43"/>
              <a:gd name="T6" fmla="*/ 2147483647 w 179"/>
              <a:gd name="T7" fmla="*/ 2147483647 h 43"/>
              <a:gd name="T8" fmla="*/ 2147483647 w 179"/>
              <a:gd name="T9" fmla="*/ 2147483647 h 43"/>
              <a:gd name="T10" fmla="*/ 2147483647 w 179"/>
              <a:gd name="T11" fmla="*/ 2147483647 h 43"/>
              <a:gd name="T12" fmla="*/ 2147483647 w 179"/>
              <a:gd name="T13" fmla="*/ 2147483647 h 43"/>
              <a:gd name="T14" fmla="*/ 2147483647 w 179"/>
              <a:gd name="T15" fmla="*/ 2147483647 h 43"/>
              <a:gd name="T16" fmla="*/ 2147483647 w 179"/>
              <a:gd name="T17" fmla="*/ 2147483647 h 43"/>
              <a:gd name="T18" fmla="*/ 2147483647 w 179"/>
              <a:gd name="T19" fmla="*/ 2147483647 h 43"/>
              <a:gd name="T20" fmla="*/ 2147483647 w 179"/>
              <a:gd name="T21" fmla="*/ 2147483647 h 43"/>
              <a:gd name="T22" fmla="*/ 2147483647 w 179"/>
              <a:gd name="T23" fmla="*/ 2147483647 h 43"/>
              <a:gd name="T24" fmla="*/ 2147483647 w 179"/>
              <a:gd name="T25" fmla="*/ 2147483647 h 43"/>
              <a:gd name="T26" fmla="*/ 2147483647 w 179"/>
              <a:gd name="T27" fmla="*/ 2147483647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4" name="Freeform 63"/>
          <p:cNvSpPr>
            <a:spLocks/>
          </p:cNvSpPr>
          <p:nvPr/>
        </p:nvSpPr>
        <p:spPr bwMode="auto">
          <a:xfrm flipH="1">
            <a:off x="819150" y="2017713"/>
            <a:ext cx="6350" cy="7937"/>
          </a:xfrm>
          <a:custGeom>
            <a:avLst/>
            <a:gdLst>
              <a:gd name="T0" fmla="*/ 2147483647 w 20"/>
              <a:gd name="T1" fmla="*/ 0 h 24"/>
              <a:gd name="T2" fmla="*/ 2147483647 w 20"/>
              <a:gd name="T3" fmla="*/ 2147483647 h 24"/>
              <a:gd name="T4" fmla="*/ 2147483647 w 20"/>
              <a:gd name="T5" fmla="*/ 2147483647 h 24"/>
              <a:gd name="T6" fmla="*/ 0 w 20"/>
              <a:gd name="T7" fmla="*/ 2147483647 h 24"/>
              <a:gd name="T8" fmla="*/ 2147483647 w 20"/>
              <a:gd name="T9" fmla="*/ 2147483647 h 24"/>
              <a:gd name="T10" fmla="*/ 2147483647 w 20"/>
              <a:gd name="T11" fmla="*/ 2147483647 h 24"/>
              <a:gd name="T12" fmla="*/ 2147483647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5" name="Freeform 64"/>
          <p:cNvSpPr>
            <a:spLocks/>
          </p:cNvSpPr>
          <p:nvPr/>
        </p:nvSpPr>
        <p:spPr bwMode="auto">
          <a:xfrm flipH="1">
            <a:off x="842963" y="1976438"/>
            <a:ext cx="26987" cy="11112"/>
          </a:xfrm>
          <a:custGeom>
            <a:avLst/>
            <a:gdLst>
              <a:gd name="T0" fmla="*/ 0 w 104"/>
              <a:gd name="T1" fmla="*/ 2147483647 h 48"/>
              <a:gd name="T2" fmla="*/ 2147483647 w 104"/>
              <a:gd name="T3" fmla="*/ 2147483647 h 48"/>
              <a:gd name="T4" fmla="*/ 2147483647 w 104"/>
              <a:gd name="T5" fmla="*/ 2147483647 h 48"/>
              <a:gd name="T6" fmla="*/ 2147483647 w 104"/>
              <a:gd name="T7" fmla="*/ 2147483647 h 48"/>
              <a:gd name="T8" fmla="*/ 2147483647 w 104"/>
              <a:gd name="T9" fmla="*/ 2147483647 h 48"/>
              <a:gd name="T10" fmla="*/ 2147483647 w 104"/>
              <a:gd name="T11" fmla="*/ 2147483647 h 48"/>
              <a:gd name="T12" fmla="*/ 2147483647 w 104"/>
              <a:gd name="T13" fmla="*/ 2147483647 h 48"/>
              <a:gd name="T14" fmla="*/ 2147483647 w 104"/>
              <a:gd name="T15" fmla="*/ 2147483647 h 48"/>
              <a:gd name="T16" fmla="*/ 2147483647 w 104"/>
              <a:gd name="T17" fmla="*/ 0 h 48"/>
              <a:gd name="T18" fmla="*/ 2147483647 w 104"/>
              <a:gd name="T19" fmla="*/ 2147483647 h 48"/>
              <a:gd name="T20" fmla="*/ 2147483647 w 104"/>
              <a:gd name="T21" fmla="*/ 2147483647 h 48"/>
              <a:gd name="T22" fmla="*/ 2147483647 w 104"/>
              <a:gd name="T23" fmla="*/ 2147483647 h 48"/>
              <a:gd name="T24" fmla="*/ 0 w 104"/>
              <a:gd name="T25" fmla="*/ 21474836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6" name="Freeform 65"/>
          <p:cNvSpPr>
            <a:spLocks/>
          </p:cNvSpPr>
          <p:nvPr/>
        </p:nvSpPr>
        <p:spPr bwMode="auto">
          <a:xfrm flipH="1">
            <a:off x="793750" y="1971675"/>
            <a:ext cx="38100" cy="9525"/>
          </a:xfrm>
          <a:custGeom>
            <a:avLst/>
            <a:gdLst>
              <a:gd name="T0" fmla="*/ 0 w 166"/>
              <a:gd name="T1" fmla="*/ 2147483647 h 42"/>
              <a:gd name="T2" fmla="*/ 2147483647 w 166"/>
              <a:gd name="T3" fmla="*/ 2147483647 h 42"/>
              <a:gd name="T4" fmla="*/ 2147483647 w 166"/>
              <a:gd name="T5" fmla="*/ 0 h 42"/>
              <a:gd name="T6" fmla="*/ 2147483647 w 166"/>
              <a:gd name="T7" fmla="*/ 0 h 42"/>
              <a:gd name="T8" fmla="*/ 2147483647 w 166"/>
              <a:gd name="T9" fmla="*/ 2147483647 h 42"/>
              <a:gd name="T10" fmla="*/ 2147483647 w 166"/>
              <a:gd name="T11" fmla="*/ 2147483647 h 42"/>
              <a:gd name="T12" fmla="*/ 2147483647 w 166"/>
              <a:gd name="T13" fmla="*/ 2147483647 h 42"/>
              <a:gd name="T14" fmla="*/ 2147483647 w 166"/>
              <a:gd name="T15" fmla="*/ 2147483647 h 42"/>
              <a:gd name="T16" fmla="*/ 2147483647 w 166"/>
              <a:gd name="T17" fmla="*/ 2147483647 h 42"/>
              <a:gd name="T18" fmla="*/ 2147483647 w 166"/>
              <a:gd name="T19" fmla="*/ 2147483647 h 42"/>
              <a:gd name="T20" fmla="*/ 2147483647 w 166"/>
              <a:gd name="T21" fmla="*/ 2147483647 h 42"/>
              <a:gd name="T22" fmla="*/ 2147483647 w 166"/>
              <a:gd name="T23" fmla="*/ 2147483647 h 42"/>
              <a:gd name="T24" fmla="*/ 2147483647 w 166"/>
              <a:gd name="T25" fmla="*/ 2147483647 h 42"/>
              <a:gd name="T26" fmla="*/ 2147483647 w 166"/>
              <a:gd name="T27" fmla="*/ 2147483647 h 42"/>
              <a:gd name="T28" fmla="*/ 2147483647 w 166"/>
              <a:gd name="T29" fmla="*/ 2147483647 h 42"/>
              <a:gd name="T30" fmla="*/ 0 w 166"/>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7" name="Freeform 66"/>
          <p:cNvSpPr>
            <a:spLocks/>
          </p:cNvSpPr>
          <p:nvPr/>
        </p:nvSpPr>
        <p:spPr bwMode="auto">
          <a:xfrm flipH="1">
            <a:off x="855663" y="1984375"/>
            <a:ext cx="6350" cy="6350"/>
          </a:xfrm>
          <a:custGeom>
            <a:avLst/>
            <a:gdLst>
              <a:gd name="T0" fmla="*/ 2147483647 w 33"/>
              <a:gd name="T1" fmla="*/ 0 h 30"/>
              <a:gd name="T2" fmla="*/ 2147483647 w 33"/>
              <a:gd name="T3" fmla="*/ 2147483647 h 30"/>
              <a:gd name="T4" fmla="*/ 2147483647 w 33"/>
              <a:gd name="T5" fmla="*/ 2147483647 h 30"/>
              <a:gd name="T6" fmla="*/ 0 w 33"/>
              <a:gd name="T7" fmla="*/ 2147483647 h 30"/>
              <a:gd name="T8" fmla="*/ 2147483647 w 33"/>
              <a:gd name="T9" fmla="*/ 2147483647 h 30"/>
              <a:gd name="T10" fmla="*/ 2147483647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8" name="Freeform 67"/>
          <p:cNvSpPr>
            <a:spLocks/>
          </p:cNvSpPr>
          <p:nvPr/>
        </p:nvSpPr>
        <p:spPr bwMode="auto">
          <a:xfrm flipH="1">
            <a:off x="862013" y="1976438"/>
            <a:ext cx="9525" cy="7937"/>
          </a:xfrm>
          <a:custGeom>
            <a:avLst/>
            <a:gdLst>
              <a:gd name="T0" fmla="*/ 2147483647 w 33"/>
              <a:gd name="T1" fmla="*/ 2147483647 h 28"/>
              <a:gd name="T2" fmla="*/ 2147483647 w 33"/>
              <a:gd name="T3" fmla="*/ 0 h 28"/>
              <a:gd name="T4" fmla="*/ 2147483647 w 33"/>
              <a:gd name="T5" fmla="*/ 2147483647 h 28"/>
              <a:gd name="T6" fmla="*/ 0 w 33"/>
              <a:gd name="T7" fmla="*/ 2147483647 h 28"/>
              <a:gd name="T8" fmla="*/ 2147483647 w 33"/>
              <a:gd name="T9" fmla="*/ 2147483647 h 28"/>
              <a:gd name="T10" fmla="*/ 2147483647 w 33"/>
              <a:gd name="T11" fmla="*/ 2147483647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29" name="Freeform 68"/>
          <p:cNvSpPr>
            <a:spLocks/>
          </p:cNvSpPr>
          <p:nvPr/>
        </p:nvSpPr>
        <p:spPr bwMode="auto">
          <a:xfrm flipH="1">
            <a:off x="765175" y="1985963"/>
            <a:ext cx="7938" cy="12700"/>
          </a:xfrm>
          <a:custGeom>
            <a:avLst/>
            <a:gdLst>
              <a:gd name="T0" fmla="*/ 0 w 37"/>
              <a:gd name="T1" fmla="*/ 0 h 42"/>
              <a:gd name="T2" fmla="*/ 2147483647 w 37"/>
              <a:gd name="T3" fmla="*/ 2147483647 h 42"/>
              <a:gd name="T4" fmla="*/ 2147483647 w 37"/>
              <a:gd name="T5" fmla="*/ 2147483647 h 42"/>
              <a:gd name="T6" fmla="*/ 2147483647 w 37"/>
              <a:gd name="T7" fmla="*/ 2147483647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0" name="Freeform 69"/>
          <p:cNvSpPr>
            <a:spLocks/>
          </p:cNvSpPr>
          <p:nvPr/>
        </p:nvSpPr>
        <p:spPr bwMode="auto">
          <a:xfrm flipH="1">
            <a:off x="731838" y="2039938"/>
            <a:ext cx="12700" cy="7937"/>
          </a:xfrm>
          <a:custGeom>
            <a:avLst/>
            <a:gdLst>
              <a:gd name="T0" fmla="*/ 2147483647 w 50"/>
              <a:gd name="T1" fmla="*/ 0 h 39"/>
              <a:gd name="T2" fmla="*/ 2147483647 w 50"/>
              <a:gd name="T3" fmla="*/ 2147483647 h 39"/>
              <a:gd name="T4" fmla="*/ 0 w 50"/>
              <a:gd name="T5" fmla="*/ 2147483647 h 39"/>
              <a:gd name="T6" fmla="*/ 2147483647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1" name="Freeform 70"/>
          <p:cNvSpPr>
            <a:spLocks/>
          </p:cNvSpPr>
          <p:nvPr/>
        </p:nvSpPr>
        <p:spPr bwMode="auto">
          <a:xfrm flipH="1">
            <a:off x="673100" y="2017713"/>
            <a:ext cx="53975" cy="74612"/>
          </a:xfrm>
          <a:custGeom>
            <a:avLst/>
            <a:gdLst>
              <a:gd name="T0" fmla="*/ 2147483647 w 219"/>
              <a:gd name="T1" fmla="*/ 2147483647 h 267"/>
              <a:gd name="T2" fmla="*/ 2147483647 w 219"/>
              <a:gd name="T3" fmla="*/ 2147483647 h 267"/>
              <a:gd name="T4" fmla="*/ 2147483647 w 219"/>
              <a:gd name="T5" fmla="*/ 2147483647 h 267"/>
              <a:gd name="T6" fmla="*/ 2147483647 w 219"/>
              <a:gd name="T7" fmla="*/ 2147483647 h 267"/>
              <a:gd name="T8" fmla="*/ 2147483647 w 219"/>
              <a:gd name="T9" fmla="*/ 2147483647 h 267"/>
              <a:gd name="T10" fmla="*/ 0 w 219"/>
              <a:gd name="T11" fmla="*/ 2147483647 h 267"/>
              <a:gd name="T12" fmla="*/ 2147483647 w 219"/>
              <a:gd name="T13" fmla="*/ 2147483647 h 267"/>
              <a:gd name="T14" fmla="*/ 2147483647 w 219"/>
              <a:gd name="T15" fmla="*/ 0 h 267"/>
              <a:gd name="T16" fmla="*/ 2147483647 w 219"/>
              <a:gd name="T17" fmla="*/ 2147483647 h 267"/>
              <a:gd name="T18" fmla="*/ 2147483647 w 219"/>
              <a:gd name="T19" fmla="*/ 2147483647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332" name="Freeform 71"/>
          <p:cNvSpPr>
            <a:spLocks/>
          </p:cNvSpPr>
          <p:nvPr/>
        </p:nvSpPr>
        <p:spPr bwMode="auto">
          <a:xfrm flipH="1">
            <a:off x="681038" y="2025650"/>
            <a:ext cx="39687" cy="60325"/>
          </a:xfrm>
          <a:custGeom>
            <a:avLst/>
            <a:gdLst>
              <a:gd name="T0" fmla="*/ 2147483647 w 175"/>
              <a:gd name="T1" fmla="*/ 2147483647 h 220"/>
              <a:gd name="T2" fmla="*/ 2147483647 w 175"/>
              <a:gd name="T3" fmla="*/ 2147483647 h 220"/>
              <a:gd name="T4" fmla="*/ 2147483647 w 175"/>
              <a:gd name="T5" fmla="*/ 2147483647 h 220"/>
              <a:gd name="T6" fmla="*/ 2147483647 w 175"/>
              <a:gd name="T7" fmla="*/ 2147483647 h 220"/>
              <a:gd name="T8" fmla="*/ 0 w 175"/>
              <a:gd name="T9" fmla="*/ 2147483647 h 220"/>
              <a:gd name="T10" fmla="*/ 2147483647 w 175"/>
              <a:gd name="T11" fmla="*/ 2147483647 h 220"/>
              <a:gd name="T12" fmla="*/ 2147483647 w 175"/>
              <a:gd name="T13" fmla="*/ 0 h 220"/>
              <a:gd name="T14" fmla="*/ 2147483647 w 175"/>
              <a:gd name="T15" fmla="*/ 2147483647 h 220"/>
              <a:gd name="T16" fmla="*/ 2147483647 w 175"/>
              <a:gd name="T17" fmla="*/ 2147483647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3" name="Freeform 72"/>
          <p:cNvSpPr>
            <a:spLocks/>
          </p:cNvSpPr>
          <p:nvPr/>
        </p:nvSpPr>
        <p:spPr bwMode="auto">
          <a:xfrm flipH="1">
            <a:off x="506413" y="1612900"/>
            <a:ext cx="174625" cy="223838"/>
          </a:xfrm>
          <a:custGeom>
            <a:avLst/>
            <a:gdLst>
              <a:gd name="T0" fmla="*/ 2147483647 w 741"/>
              <a:gd name="T1" fmla="*/ 2147483647 h 807"/>
              <a:gd name="T2" fmla="*/ 2147483647 w 741"/>
              <a:gd name="T3" fmla="*/ 2147483647 h 807"/>
              <a:gd name="T4" fmla="*/ 2147483647 w 741"/>
              <a:gd name="T5" fmla="*/ 2147483647 h 807"/>
              <a:gd name="T6" fmla="*/ 2147483647 w 741"/>
              <a:gd name="T7" fmla="*/ 2147483647 h 807"/>
              <a:gd name="T8" fmla="*/ 2147483647 w 741"/>
              <a:gd name="T9" fmla="*/ 2147483647 h 807"/>
              <a:gd name="T10" fmla="*/ 2147483647 w 741"/>
              <a:gd name="T11" fmla="*/ 2147483647 h 807"/>
              <a:gd name="T12" fmla="*/ 2147483647 w 741"/>
              <a:gd name="T13" fmla="*/ 2147483647 h 807"/>
              <a:gd name="T14" fmla="*/ 2147483647 w 741"/>
              <a:gd name="T15" fmla="*/ 2147483647 h 807"/>
              <a:gd name="T16" fmla="*/ 2147483647 w 741"/>
              <a:gd name="T17" fmla="*/ 2147483647 h 807"/>
              <a:gd name="T18" fmla="*/ 0 w 741"/>
              <a:gd name="T19" fmla="*/ 2147483647 h 807"/>
              <a:gd name="T20" fmla="*/ 0 w 741"/>
              <a:gd name="T21" fmla="*/ 2147483647 h 807"/>
              <a:gd name="T22" fmla="*/ 2147483647 w 741"/>
              <a:gd name="T23" fmla="*/ 2147483647 h 807"/>
              <a:gd name="T24" fmla="*/ 2147483647 w 741"/>
              <a:gd name="T25" fmla="*/ 2147483647 h 807"/>
              <a:gd name="T26" fmla="*/ 2147483647 w 741"/>
              <a:gd name="T27" fmla="*/ 2147483647 h 807"/>
              <a:gd name="T28" fmla="*/ 2147483647 w 741"/>
              <a:gd name="T29" fmla="*/ 2147483647 h 807"/>
              <a:gd name="T30" fmla="*/ 2147483647 w 741"/>
              <a:gd name="T31" fmla="*/ 2147483647 h 807"/>
              <a:gd name="T32" fmla="*/ 2147483647 w 741"/>
              <a:gd name="T33" fmla="*/ 2147483647 h 807"/>
              <a:gd name="T34" fmla="*/ 2147483647 w 741"/>
              <a:gd name="T35" fmla="*/ 2147483647 h 807"/>
              <a:gd name="T36" fmla="*/ 2147483647 w 741"/>
              <a:gd name="T37" fmla="*/ 2147483647 h 807"/>
              <a:gd name="T38" fmla="*/ 2147483647 w 741"/>
              <a:gd name="T39" fmla="*/ 2147483647 h 807"/>
              <a:gd name="T40" fmla="*/ 2147483647 w 741"/>
              <a:gd name="T41" fmla="*/ 2147483647 h 807"/>
              <a:gd name="T42" fmla="*/ 2147483647 w 741"/>
              <a:gd name="T43" fmla="*/ 2147483647 h 807"/>
              <a:gd name="T44" fmla="*/ 2147483647 w 741"/>
              <a:gd name="T45" fmla="*/ 2147483647 h 807"/>
              <a:gd name="T46" fmla="*/ 2147483647 w 741"/>
              <a:gd name="T47" fmla="*/ 2147483647 h 807"/>
              <a:gd name="T48" fmla="*/ 2147483647 w 741"/>
              <a:gd name="T49" fmla="*/ 2147483647 h 807"/>
              <a:gd name="T50" fmla="*/ 2147483647 w 741"/>
              <a:gd name="T51" fmla="*/ 2147483647 h 807"/>
              <a:gd name="T52" fmla="*/ 2147483647 w 741"/>
              <a:gd name="T53" fmla="*/ 2147483647 h 807"/>
              <a:gd name="T54" fmla="*/ 2147483647 w 741"/>
              <a:gd name="T55" fmla="*/ 2147483647 h 807"/>
              <a:gd name="T56" fmla="*/ 2147483647 w 741"/>
              <a:gd name="T57" fmla="*/ 2147483647 h 807"/>
              <a:gd name="T58" fmla="*/ 2147483647 w 741"/>
              <a:gd name="T59" fmla="*/ 2147483647 h 807"/>
              <a:gd name="T60" fmla="*/ 2147483647 w 741"/>
              <a:gd name="T61" fmla="*/ 2147483647 h 807"/>
              <a:gd name="T62" fmla="*/ 2147483647 w 741"/>
              <a:gd name="T63" fmla="*/ 2147483647 h 807"/>
              <a:gd name="T64" fmla="*/ 2147483647 w 741"/>
              <a:gd name="T65" fmla="*/ 2147483647 h 807"/>
              <a:gd name="T66" fmla="*/ 2147483647 w 741"/>
              <a:gd name="T67" fmla="*/ 0 h 807"/>
              <a:gd name="T68" fmla="*/ 2147483647 w 741"/>
              <a:gd name="T69" fmla="*/ 2147483647 h 807"/>
              <a:gd name="T70" fmla="*/ 2147483647 w 741"/>
              <a:gd name="T71" fmla="*/ 2147483647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334" name="Freeform 73"/>
          <p:cNvSpPr>
            <a:spLocks/>
          </p:cNvSpPr>
          <p:nvPr/>
        </p:nvSpPr>
        <p:spPr bwMode="auto">
          <a:xfrm flipH="1">
            <a:off x="661988" y="1747838"/>
            <a:ext cx="9525" cy="3175"/>
          </a:xfrm>
          <a:custGeom>
            <a:avLst/>
            <a:gdLst>
              <a:gd name="T0" fmla="*/ 0 w 42"/>
              <a:gd name="T1" fmla="*/ 2147483647 h 9"/>
              <a:gd name="T2" fmla="*/ 2147483647 w 42"/>
              <a:gd name="T3" fmla="*/ 2147483647 h 9"/>
              <a:gd name="T4" fmla="*/ 2147483647 w 42"/>
              <a:gd name="T5" fmla="*/ 2147483647 h 9"/>
              <a:gd name="T6" fmla="*/ 2147483647 w 42"/>
              <a:gd name="T7" fmla="*/ 2147483647 h 9"/>
              <a:gd name="T8" fmla="*/ 2147483647 w 42"/>
              <a:gd name="T9" fmla="*/ 2147483647 h 9"/>
              <a:gd name="T10" fmla="*/ 2147483647 w 42"/>
              <a:gd name="T11" fmla="*/ 0 h 9"/>
              <a:gd name="T12" fmla="*/ 0 w 42"/>
              <a:gd name="T13" fmla="*/ 2147483647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5" name="Freeform 74"/>
          <p:cNvSpPr>
            <a:spLocks/>
          </p:cNvSpPr>
          <p:nvPr/>
        </p:nvSpPr>
        <p:spPr bwMode="auto">
          <a:xfrm flipH="1">
            <a:off x="658813" y="1739900"/>
            <a:ext cx="3175" cy="7938"/>
          </a:xfrm>
          <a:custGeom>
            <a:avLst/>
            <a:gdLst>
              <a:gd name="T0" fmla="*/ 0 w 17"/>
              <a:gd name="T1" fmla="*/ 0 h 31"/>
              <a:gd name="T2" fmla="*/ 2147483647 w 17"/>
              <a:gd name="T3" fmla="*/ 2147483647 h 31"/>
              <a:gd name="T4" fmla="*/ 2147483647 w 17"/>
              <a:gd name="T5" fmla="*/ 2147483647 h 31"/>
              <a:gd name="T6" fmla="*/ 2147483647 w 17"/>
              <a:gd name="T7" fmla="*/ 2147483647 h 31"/>
              <a:gd name="T8" fmla="*/ 2147483647 w 17"/>
              <a:gd name="T9" fmla="*/ 2147483647 h 31"/>
              <a:gd name="T10" fmla="*/ 2147483647 w 17"/>
              <a:gd name="T11" fmla="*/ 2147483647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6" name="Freeform 75"/>
          <p:cNvSpPr>
            <a:spLocks/>
          </p:cNvSpPr>
          <p:nvPr/>
        </p:nvSpPr>
        <p:spPr bwMode="auto">
          <a:xfrm flipH="1">
            <a:off x="650875" y="1711325"/>
            <a:ext cx="3175" cy="17463"/>
          </a:xfrm>
          <a:custGeom>
            <a:avLst/>
            <a:gdLst>
              <a:gd name="T0" fmla="*/ 2147483647 w 19"/>
              <a:gd name="T1" fmla="*/ 0 h 60"/>
              <a:gd name="T2" fmla="*/ 2147483647 w 19"/>
              <a:gd name="T3" fmla="*/ 2147483647 h 60"/>
              <a:gd name="T4" fmla="*/ 0 w 19"/>
              <a:gd name="T5" fmla="*/ 2147483647 h 60"/>
              <a:gd name="T6" fmla="*/ 2147483647 w 19"/>
              <a:gd name="T7" fmla="*/ 2147483647 h 60"/>
              <a:gd name="T8" fmla="*/ 2147483647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7" name="Freeform 76"/>
          <p:cNvSpPr>
            <a:spLocks/>
          </p:cNvSpPr>
          <p:nvPr/>
        </p:nvSpPr>
        <p:spPr bwMode="auto">
          <a:xfrm flipH="1">
            <a:off x="633413" y="1695450"/>
            <a:ext cx="19050" cy="12700"/>
          </a:xfrm>
          <a:custGeom>
            <a:avLst/>
            <a:gdLst>
              <a:gd name="T0" fmla="*/ 0 w 80"/>
              <a:gd name="T1" fmla="*/ 0 h 51"/>
              <a:gd name="T2" fmla="*/ 2147483647 w 80"/>
              <a:gd name="T3" fmla="*/ 2147483647 h 51"/>
              <a:gd name="T4" fmla="*/ 2147483647 w 80"/>
              <a:gd name="T5" fmla="*/ 2147483647 h 51"/>
              <a:gd name="T6" fmla="*/ 2147483647 w 80"/>
              <a:gd name="T7" fmla="*/ 2147483647 h 51"/>
              <a:gd name="T8" fmla="*/ 2147483647 w 80"/>
              <a:gd name="T9" fmla="*/ 2147483647 h 51"/>
              <a:gd name="T10" fmla="*/ 2147483647 w 80"/>
              <a:gd name="T11" fmla="*/ 2147483647 h 51"/>
              <a:gd name="T12" fmla="*/ 2147483647 w 80"/>
              <a:gd name="T13" fmla="*/ 2147483647 h 51"/>
              <a:gd name="T14" fmla="*/ 2147483647 w 80"/>
              <a:gd name="T15" fmla="*/ 2147483647 h 51"/>
              <a:gd name="T16" fmla="*/ 2147483647 w 80"/>
              <a:gd name="T17" fmla="*/ 2147483647 h 51"/>
              <a:gd name="T18" fmla="*/ 2147483647 w 80"/>
              <a:gd name="T19" fmla="*/ 2147483647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8" name="Freeform 77"/>
          <p:cNvSpPr>
            <a:spLocks/>
          </p:cNvSpPr>
          <p:nvPr/>
        </p:nvSpPr>
        <p:spPr bwMode="auto">
          <a:xfrm flipH="1">
            <a:off x="625475" y="1674813"/>
            <a:ext cx="33338" cy="12700"/>
          </a:xfrm>
          <a:custGeom>
            <a:avLst/>
            <a:gdLst>
              <a:gd name="T0" fmla="*/ 0 w 135"/>
              <a:gd name="T1" fmla="*/ 2147483647 h 48"/>
              <a:gd name="T2" fmla="*/ 2147483647 w 135"/>
              <a:gd name="T3" fmla="*/ 2147483647 h 48"/>
              <a:gd name="T4" fmla="*/ 2147483647 w 135"/>
              <a:gd name="T5" fmla="*/ 2147483647 h 48"/>
              <a:gd name="T6" fmla="*/ 2147483647 w 135"/>
              <a:gd name="T7" fmla="*/ 2147483647 h 48"/>
              <a:gd name="T8" fmla="*/ 2147483647 w 135"/>
              <a:gd name="T9" fmla="*/ 2147483647 h 48"/>
              <a:gd name="T10" fmla="*/ 2147483647 w 135"/>
              <a:gd name="T11" fmla="*/ 2147483647 h 48"/>
              <a:gd name="T12" fmla="*/ 2147483647 w 135"/>
              <a:gd name="T13" fmla="*/ 2147483647 h 48"/>
              <a:gd name="T14" fmla="*/ 2147483647 w 135"/>
              <a:gd name="T15" fmla="*/ 2147483647 h 48"/>
              <a:gd name="T16" fmla="*/ 2147483647 w 135"/>
              <a:gd name="T17" fmla="*/ 2147483647 h 48"/>
              <a:gd name="T18" fmla="*/ 2147483647 w 135"/>
              <a:gd name="T19" fmla="*/ 0 h 48"/>
              <a:gd name="T20" fmla="*/ 2147483647 w 135"/>
              <a:gd name="T21" fmla="*/ 2147483647 h 48"/>
              <a:gd name="T22" fmla="*/ 2147483647 w 135"/>
              <a:gd name="T23" fmla="*/ 2147483647 h 48"/>
              <a:gd name="T24" fmla="*/ 2147483647 w 135"/>
              <a:gd name="T25" fmla="*/ 2147483647 h 48"/>
              <a:gd name="T26" fmla="*/ 2147483647 w 135"/>
              <a:gd name="T27" fmla="*/ 2147483647 h 48"/>
              <a:gd name="T28" fmla="*/ 0 w 135"/>
              <a:gd name="T29" fmla="*/ 2147483647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39" name="Freeform 78"/>
          <p:cNvSpPr>
            <a:spLocks/>
          </p:cNvSpPr>
          <p:nvPr/>
        </p:nvSpPr>
        <p:spPr bwMode="auto">
          <a:xfrm flipH="1">
            <a:off x="566738" y="1692275"/>
            <a:ext cx="19050" cy="42863"/>
          </a:xfrm>
          <a:custGeom>
            <a:avLst/>
            <a:gdLst>
              <a:gd name="T0" fmla="*/ 0 w 78"/>
              <a:gd name="T1" fmla="*/ 2147483647 h 159"/>
              <a:gd name="T2" fmla="*/ 2147483647 w 78"/>
              <a:gd name="T3" fmla="*/ 2147483647 h 159"/>
              <a:gd name="T4" fmla="*/ 2147483647 w 78"/>
              <a:gd name="T5" fmla="*/ 2147483647 h 159"/>
              <a:gd name="T6" fmla="*/ 2147483647 w 78"/>
              <a:gd name="T7" fmla="*/ 2147483647 h 159"/>
              <a:gd name="T8" fmla="*/ 2147483647 w 78"/>
              <a:gd name="T9" fmla="*/ 2147483647 h 159"/>
              <a:gd name="T10" fmla="*/ 2147483647 w 78"/>
              <a:gd name="T11" fmla="*/ 2147483647 h 159"/>
              <a:gd name="T12" fmla="*/ 2147483647 w 78"/>
              <a:gd name="T13" fmla="*/ 2147483647 h 159"/>
              <a:gd name="T14" fmla="*/ 2147483647 w 78"/>
              <a:gd name="T15" fmla="*/ 2147483647 h 159"/>
              <a:gd name="T16" fmla="*/ 2147483647 w 78"/>
              <a:gd name="T17" fmla="*/ 2147483647 h 159"/>
              <a:gd name="T18" fmla="*/ 2147483647 w 78"/>
              <a:gd name="T19" fmla="*/ 2147483647 h 159"/>
              <a:gd name="T20" fmla="*/ 2147483647 w 78"/>
              <a:gd name="T21" fmla="*/ 2147483647 h 159"/>
              <a:gd name="T22" fmla="*/ 2147483647 w 78"/>
              <a:gd name="T23" fmla="*/ 2147483647 h 159"/>
              <a:gd name="T24" fmla="*/ 2147483647 w 78"/>
              <a:gd name="T25" fmla="*/ 2147483647 h 159"/>
              <a:gd name="T26" fmla="*/ 2147483647 w 78"/>
              <a:gd name="T27" fmla="*/ 2147483647 h 159"/>
              <a:gd name="T28" fmla="*/ 2147483647 w 78"/>
              <a:gd name="T29" fmla="*/ 2147483647 h 159"/>
              <a:gd name="T30" fmla="*/ 2147483647 w 78"/>
              <a:gd name="T31" fmla="*/ 2147483647 h 159"/>
              <a:gd name="T32" fmla="*/ 2147483647 w 78"/>
              <a:gd name="T33" fmla="*/ 2147483647 h 159"/>
              <a:gd name="T34" fmla="*/ 2147483647 w 78"/>
              <a:gd name="T35" fmla="*/ 2147483647 h 159"/>
              <a:gd name="T36" fmla="*/ 2147483647 w 78"/>
              <a:gd name="T37" fmla="*/ 2147483647 h 159"/>
              <a:gd name="T38" fmla="*/ 2147483647 w 78"/>
              <a:gd name="T39" fmla="*/ 2147483647 h 159"/>
              <a:gd name="T40" fmla="*/ 2147483647 w 78"/>
              <a:gd name="T41" fmla="*/ 0 h 159"/>
              <a:gd name="T42" fmla="*/ 2147483647 w 78"/>
              <a:gd name="T43" fmla="*/ 2147483647 h 159"/>
              <a:gd name="T44" fmla="*/ 0 w 78"/>
              <a:gd name="T45" fmla="*/ 2147483647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0" name="Freeform 79"/>
          <p:cNvSpPr>
            <a:spLocks/>
          </p:cNvSpPr>
          <p:nvPr/>
        </p:nvSpPr>
        <p:spPr bwMode="auto">
          <a:xfrm flipH="1">
            <a:off x="560388" y="1684338"/>
            <a:ext cx="30162" cy="60325"/>
          </a:xfrm>
          <a:custGeom>
            <a:avLst/>
            <a:gdLst>
              <a:gd name="T0" fmla="*/ 0 w 129"/>
              <a:gd name="T1" fmla="*/ 2147483647 h 215"/>
              <a:gd name="T2" fmla="*/ 2147483647 w 129"/>
              <a:gd name="T3" fmla="*/ 2147483647 h 215"/>
              <a:gd name="T4" fmla="*/ 2147483647 w 129"/>
              <a:gd name="T5" fmla="*/ 2147483647 h 215"/>
              <a:gd name="T6" fmla="*/ 2147483647 w 129"/>
              <a:gd name="T7" fmla="*/ 2147483647 h 215"/>
              <a:gd name="T8" fmla="*/ 2147483647 w 129"/>
              <a:gd name="T9" fmla="*/ 2147483647 h 215"/>
              <a:gd name="T10" fmla="*/ 2147483647 w 129"/>
              <a:gd name="T11" fmla="*/ 2147483647 h 215"/>
              <a:gd name="T12" fmla="*/ 2147483647 w 129"/>
              <a:gd name="T13" fmla="*/ 2147483647 h 215"/>
              <a:gd name="T14" fmla="*/ 2147483647 w 129"/>
              <a:gd name="T15" fmla="*/ 2147483647 h 215"/>
              <a:gd name="T16" fmla="*/ 2147483647 w 129"/>
              <a:gd name="T17" fmla="*/ 2147483647 h 215"/>
              <a:gd name="T18" fmla="*/ 2147483647 w 129"/>
              <a:gd name="T19" fmla="*/ 2147483647 h 215"/>
              <a:gd name="T20" fmla="*/ 2147483647 w 129"/>
              <a:gd name="T21" fmla="*/ 2147483647 h 215"/>
              <a:gd name="T22" fmla="*/ 2147483647 w 129"/>
              <a:gd name="T23" fmla="*/ 2147483647 h 215"/>
              <a:gd name="T24" fmla="*/ 2147483647 w 129"/>
              <a:gd name="T25" fmla="*/ 2147483647 h 215"/>
              <a:gd name="T26" fmla="*/ 2147483647 w 129"/>
              <a:gd name="T27" fmla="*/ 2147483647 h 215"/>
              <a:gd name="T28" fmla="*/ 2147483647 w 129"/>
              <a:gd name="T29" fmla="*/ 2147483647 h 215"/>
              <a:gd name="T30" fmla="*/ 2147483647 w 129"/>
              <a:gd name="T31" fmla="*/ 2147483647 h 215"/>
              <a:gd name="T32" fmla="*/ 2147483647 w 129"/>
              <a:gd name="T33" fmla="*/ 2147483647 h 215"/>
              <a:gd name="T34" fmla="*/ 2147483647 w 129"/>
              <a:gd name="T35" fmla="*/ 2147483647 h 215"/>
              <a:gd name="T36" fmla="*/ 2147483647 w 129"/>
              <a:gd name="T37" fmla="*/ 2147483647 h 215"/>
              <a:gd name="T38" fmla="*/ 2147483647 w 129"/>
              <a:gd name="T39" fmla="*/ 2147483647 h 215"/>
              <a:gd name="T40" fmla="*/ 2147483647 w 129"/>
              <a:gd name="T41" fmla="*/ 2147483647 h 215"/>
              <a:gd name="T42" fmla="*/ 2147483647 w 129"/>
              <a:gd name="T43" fmla="*/ 2147483647 h 215"/>
              <a:gd name="T44" fmla="*/ 2147483647 w 129"/>
              <a:gd name="T45" fmla="*/ 2147483647 h 215"/>
              <a:gd name="T46" fmla="*/ 2147483647 w 129"/>
              <a:gd name="T47" fmla="*/ 0 h 215"/>
              <a:gd name="T48" fmla="*/ 2147483647 w 129"/>
              <a:gd name="T49" fmla="*/ 2147483647 h 215"/>
              <a:gd name="T50" fmla="*/ 2147483647 w 129"/>
              <a:gd name="T51" fmla="*/ 2147483647 h 215"/>
              <a:gd name="T52" fmla="*/ 0 w 129"/>
              <a:gd name="T53" fmla="*/ 2147483647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1" name="Freeform 80"/>
          <p:cNvSpPr>
            <a:spLocks/>
          </p:cNvSpPr>
          <p:nvPr/>
        </p:nvSpPr>
        <p:spPr bwMode="auto">
          <a:xfrm flipH="1">
            <a:off x="579438" y="1751013"/>
            <a:ext cx="26987" cy="46037"/>
          </a:xfrm>
          <a:custGeom>
            <a:avLst/>
            <a:gdLst>
              <a:gd name="T0" fmla="*/ 2147483647 w 118"/>
              <a:gd name="T1" fmla="*/ 0 h 179"/>
              <a:gd name="T2" fmla="*/ 2147483647 w 118"/>
              <a:gd name="T3" fmla="*/ 2147483647 h 179"/>
              <a:gd name="T4" fmla="*/ 2147483647 w 118"/>
              <a:gd name="T5" fmla="*/ 2147483647 h 179"/>
              <a:gd name="T6" fmla="*/ 2147483647 w 118"/>
              <a:gd name="T7" fmla="*/ 2147483647 h 179"/>
              <a:gd name="T8" fmla="*/ 2147483647 w 118"/>
              <a:gd name="T9" fmla="*/ 2147483647 h 179"/>
              <a:gd name="T10" fmla="*/ 0 w 118"/>
              <a:gd name="T11" fmla="*/ 2147483647 h 179"/>
              <a:gd name="T12" fmla="*/ 2147483647 w 118"/>
              <a:gd name="T13" fmla="*/ 2147483647 h 179"/>
              <a:gd name="T14" fmla="*/ 2147483647 w 118"/>
              <a:gd name="T15" fmla="*/ 2147483647 h 179"/>
              <a:gd name="T16" fmla="*/ 2147483647 w 118"/>
              <a:gd name="T17" fmla="*/ 2147483647 h 179"/>
              <a:gd name="T18" fmla="*/ 2147483647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2" name="Freeform 81"/>
          <p:cNvSpPr>
            <a:spLocks/>
          </p:cNvSpPr>
          <p:nvPr/>
        </p:nvSpPr>
        <p:spPr bwMode="auto">
          <a:xfrm flipH="1">
            <a:off x="495300" y="1581150"/>
            <a:ext cx="157163" cy="185738"/>
          </a:xfrm>
          <a:custGeom>
            <a:avLst/>
            <a:gdLst>
              <a:gd name="T0" fmla="*/ 2147483647 w 671"/>
              <a:gd name="T1" fmla="*/ 2147483647 h 670"/>
              <a:gd name="T2" fmla="*/ 2147483647 w 671"/>
              <a:gd name="T3" fmla="*/ 2147483647 h 670"/>
              <a:gd name="T4" fmla="*/ 2147483647 w 671"/>
              <a:gd name="T5" fmla="*/ 2147483647 h 670"/>
              <a:gd name="T6" fmla="*/ 2147483647 w 671"/>
              <a:gd name="T7" fmla="*/ 2147483647 h 670"/>
              <a:gd name="T8" fmla="*/ 2147483647 w 671"/>
              <a:gd name="T9" fmla="*/ 2147483647 h 670"/>
              <a:gd name="T10" fmla="*/ 2147483647 w 671"/>
              <a:gd name="T11" fmla="*/ 2147483647 h 670"/>
              <a:gd name="T12" fmla="*/ 2147483647 w 671"/>
              <a:gd name="T13" fmla="*/ 2147483647 h 670"/>
              <a:gd name="T14" fmla="*/ 2147483647 w 671"/>
              <a:gd name="T15" fmla="*/ 2147483647 h 670"/>
              <a:gd name="T16" fmla="*/ 2147483647 w 671"/>
              <a:gd name="T17" fmla="*/ 2147483647 h 670"/>
              <a:gd name="T18" fmla="*/ 2147483647 w 671"/>
              <a:gd name="T19" fmla="*/ 2147483647 h 670"/>
              <a:gd name="T20" fmla="*/ 2147483647 w 671"/>
              <a:gd name="T21" fmla="*/ 2147483647 h 670"/>
              <a:gd name="T22" fmla="*/ 2147483647 w 671"/>
              <a:gd name="T23" fmla="*/ 2147483647 h 670"/>
              <a:gd name="T24" fmla="*/ 2147483647 w 671"/>
              <a:gd name="T25" fmla="*/ 2147483647 h 670"/>
              <a:gd name="T26" fmla="*/ 2147483647 w 671"/>
              <a:gd name="T27" fmla="*/ 2147483647 h 670"/>
              <a:gd name="T28" fmla="*/ 2147483647 w 671"/>
              <a:gd name="T29" fmla="*/ 2147483647 h 670"/>
              <a:gd name="T30" fmla="*/ 2147483647 w 671"/>
              <a:gd name="T31" fmla="*/ 2147483647 h 670"/>
              <a:gd name="T32" fmla="*/ 2147483647 w 671"/>
              <a:gd name="T33" fmla="*/ 2147483647 h 670"/>
              <a:gd name="T34" fmla="*/ 2147483647 w 671"/>
              <a:gd name="T35" fmla="*/ 2147483647 h 670"/>
              <a:gd name="T36" fmla="*/ 2147483647 w 671"/>
              <a:gd name="T37" fmla="*/ 2147483647 h 670"/>
              <a:gd name="T38" fmla="*/ 2147483647 w 671"/>
              <a:gd name="T39" fmla="*/ 2147483647 h 670"/>
              <a:gd name="T40" fmla="*/ 2147483647 w 671"/>
              <a:gd name="T41" fmla="*/ 2147483647 h 670"/>
              <a:gd name="T42" fmla="*/ 2147483647 w 671"/>
              <a:gd name="T43" fmla="*/ 2147483647 h 670"/>
              <a:gd name="T44" fmla="*/ 2147483647 w 671"/>
              <a:gd name="T45" fmla="*/ 2147483647 h 670"/>
              <a:gd name="T46" fmla="*/ 2147483647 w 671"/>
              <a:gd name="T47" fmla="*/ 2147483647 h 670"/>
              <a:gd name="T48" fmla="*/ 2147483647 w 671"/>
              <a:gd name="T49" fmla="*/ 2147483647 h 670"/>
              <a:gd name="T50" fmla="*/ 2147483647 w 671"/>
              <a:gd name="T51" fmla="*/ 2147483647 h 670"/>
              <a:gd name="T52" fmla="*/ 2147483647 w 671"/>
              <a:gd name="T53" fmla="*/ 2147483647 h 670"/>
              <a:gd name="T54" fmla="*/ 2147483647 w 671"/>
              <a:gd name="T55" fmla="*/ 2147483647 h 670"/>
              <a:gd name="T56" fmla="*/ 2147483647 w 671"/>
              <a:gd name="T57" fmla="*/ 2147483647 h 670"/>
              <a:gd name="T58" fmla="*/ 2147483647 w 671"/>
              <a:gd name="T59" fmla="*/ 2147483647 h 670"/>
              <a:gd name="T60" fmla="*/ 2147483647 w 671"/>
              <a:gd name="T61" fmla="*/ 0 h 670"/>
              <a:gd name="T62" fmla="*/ 2147483647 w 671"/>
              <a:gd name="T63" fmla="*/ 2147483647 h 670"/>
              <a:gd name="T64" fmla="*/ 2147483647 w 671"/>
              <a:gd name="T65" fmla="*/ 2147483647 h 670"/>
              <a:gd name="T66" fmla="*/ 2147483647 w 671"/>
              <a:gd name="T67" fmla="*/ 2147483647 h 670"/>
              <a:gd name="T68" fmla="*/ 2147483647 w 671"/>
              <a:gd name="T69" fmla="*/ 2147483647 h 670"/>
              <a:gd name="T70" fmla="*/ 0 w 671"/>
              <a:gd name="T71" fmla="*/ 2147483647 h 670"/>
              <a:gd name="T72" fmla="*/ 2147483647 w 671"/>
              <a:gd name="T73" fmla="*/ 2147483647 h 670"/>
              <a:gd name="T74" fmla="*/ 2147483647 w 671"/>
              <a:gd name="T75" fmla="*/ 2147483647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3" name="Freeform 82"/>
          <p:cNvSpPr>
            <a:spLocks/>
          </p:cNvSpPr>
          <p:nvPr/>
        </p:nvSpPr>
        <p:spPr bwMode="auto">
          <a:xfrm flipH="1">
            <a:off x="498475" y="1584325"/>
            <a:ext cx="149225" cy="176213"/>
          </a:xfrm>
          <a:custGeom>
            <a:avLst/>
            <a:gdLst>
              <a:gd name="T0" fmla="*/ 2147483647 w 636"/>
              <a:gd name="T1" fmla="*/ 2147483647 h 643"/>
              <a:gd name="T2" fmla="*/ 2147483647 w 636"/>
              <a:gd name="T3" fmla="*/ 2147483647 h 643"/>
              <a:gd name="T4" fmla="*/ 2147483647 w 636"/>
              <a:gd name="T5" fmla="*/ 2147483647 h 643"/>
              <a:gd name="T6" fmla="*/ 2147483647 w 636"/>
              <a:gd name="T7" fmla="*/ 2147483647 h 643"/>
              <a:gd name="T8" fmla="*/ 2147483647 w 636"/>
              <a:gd name="T9" fmla="*/ 2147483647 h 643"/>
              <a:gd name="T10" fmla="*/ 2147483647 w 636"/>
              <a:gd name="T11" fmla="*/ 2147483647 h 643"/>
              <a:gd name="T12" fmla="*/ 2147483647 w 636"/>
              <a:gd name="T13" fmla="*/ 2147483647 h 643"/>
              <a:gd name="T14" fmla="*/ 2147483647 w 636"/>
              <a:gd name="T15" fmla="*/ 2147483647 h 643"/>
              <a:gd name="T16" fmla="*/ 2147483647 w 636"/>
              <a:gd name="T17" fmla="*/ 2147483647 h 643"/>
              <a:gd name="T18" fmla="*/ 2147483647 w 636"/>
              <a:gd name="T19" fmla="*/ 2147483647 h 643"/>
              <a:gd name="T20" fmla="*/ 2147483647 w 636"/>
              <a:gd name="T21" fmla="*/ 2147483647 h 643"/>
              <a:gd name="T22" fmla="*/ 2147483647 w 636"/>
              <a:gd name="T23" fmla="*/ 2147483647 h 643"/>
              <a:gd name="T24" fmla="*/ 2147483647 w 636"/>
              <a:gd name="T25" fmla="*/ 2147483647 h 643"/>
              <a:gd name="T26" fmla="*/ 2147483647 w 636"/>
              <a:gd name="T27" fmla="*/ 2147483647 h 643"/>
              <a:gd name="T28" fmla="*/ 2147483647 w 636"/>
              <a:gd name="T29" fmla="*/ 2147483647 h 643"/>
              <a:gd name="T30" fmla="*/ 2147483647 w 636"/>
              <a:gd name="T31" fmla="*/ 2147483647 h 643"/>
              <a:gd name="T32" fmla="*/ 2147483647 w 636"/>
              <a:gd name="T33" fmla="*/ 2147483647 h 643"/>
              <a:gd name="T34" fmla="*/ 2147483647 w 636"/>
              <a:gd name="T35" fmla="*/ 2147483647 h 643"/>
              <a:gd name="T36" fmla="*/ 2147483647 w 636"/>
              <a:gd name="T37" fmla="*/ 2147483647 h 643"/>
              <a:gd name="T38" fmla="*/ 2147483647 w 636"/>
              <a:gd name="T39" fmla="*/ 2147483647 h 643"/>
              <a:gd name="T40" fmla="*/ 2147483647 w 636"/>
              <a:gd name="T41" fmla="*/ 2147483647 h 643"/>
              <a:gd name="T42" fmla="*/ 2147483647 w 636"/>
              <a:gd name="T43" fmla="*/ 2147483647 h 643"/>
              <a:gd name="T44" fmla="*/ 2147483647 w 636"/>
              <a:gd name="T45" fmla="*/ 2147483647 h 643"/>
              <a:gd name="T46" fmla="*/ 2147483647 w 636"/>
              <a:gd name="T47" fmla="*/ 2147483647 h 643"/>
              <a:gd name="T48" fmla="*/ 2147483647 w 636"/>
              <a:gd name="T49" fmla="*/ 2147483647 h 643"/>
              <a:gd name="T50" fmla="*/ 2147483647 w 636"/>
              <a:gd name="T51" fmla="*/ 2147483647 h 643"/>
              <a:gd name="T52" fmla="*/ 2147483647 w 636"/>
              <a:gd name="T53" fmla="*/ 2147483647 h 643"/>
              <a:gd name="T54" fmla="*/ 2147483647 w 636"/>
              <a:gd name="T55" fmla="*/ 2147483647 h 643"/>
              <a:gd name="T56" fmla="*/ 2147483647 w 636"/>
              <a:gd name="T57" fmla="*/ 2147483647 h 643"/>
              <a:gd name="T58" fmla="*/ 2147483647 w 636"/>
              <a:gd name="T59" fmla="*/ 2147483647 h 643"/>
              <a:gd name="T60" fmla="*/ 2147483647 w 636"/>
              <a:gd name="T61" fmla="*/ 2147483647 h 643"/>
              <a:gd name="T62" fmla="*/ 2147483647 w 636"/>
              <a:gd name="T63" fmla="*/ 2147483647 h 643"/>
              <a:gd name="T64" fmla="*/ 2147483647 w 636"/>
              <a:gd name="T65" fmla="*/ 2147483647 h 643"/>
              <a:gd name="T66" fmla="*/ 2147483647 w 636"/>
              <a:gd name="T67" fmla="*/ 2147483647 h 643"/>
              <a:gd name="T68" fmla="*/ 2147483647 w 636"/>
              <a:gd name="T69" fmla="*/ 2147483647 h 643"/>
              <a:gd name="T70" fmla="*/ 2147483647 w 636"/>
              <a:gd name="T71" fmla="*/ 2147483647 h 643"/>
              <a:gd name="T72" fmla="*/ 2147483647 w 636"/>
              <a:gd name="T73" fmla="*/ 2147483647 h 643"/>
              <a:gd name="T74" fmla="*/ 2147483647 w 636"/>
              <a:gd name="T75" fmla="*/ 2147483647 h 643"/>
              <a:gd name="T76" fmla="*/ 2147483647 w 636"/>
              <a:gd name="T77" fmla="*/ 2147483647 h 643"/>
              <a:gd name="T78" fmla="*/ 2147483647 w 636"/>
              <a:gd name="T79" fmla="*/ 2147483647 h 643"/>
              <a:gd name="T80" fmla="*/ 2147483647 w 636"/>
              <a:gd name="T81" fmla="*/ 2147483647 h 643"/>
              <a:gd name="T82" fmla="*/ 2147483647 w 636"/>
              <a:gd name="T83" fmla="*/ 2147483647 h 643"/>
              <a:gd name="T84" fmla="*/ 2147483647 w 636"/>
              <a:gd name="T85" fmla="*/ 2147483647 h 643"/>
              <a:gd name="T86" fmla="*/ 2147483647 w 636"/>
              <a:gd name="T87" fmla="*/ 2147483647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4" name="Freeform 83"/>
          <p:cNvSpPr>
            <a:spLocks/>
          </p:cNvSpPr>
          <p:nvPr/>
        </p:nvSpPr>
        <p:spPr bwMode="auto">
          <a:xfrm flipH="1">
            <a:off x="798513" y="2033588"/>
            <a:ext cx="163512" cy="119062"/>
          </a:xfrm>
          <a:custGeom>
            <a:avLst/>
            <a:gdLst>
              <a:gd name="T0" fmla="*/ 2147483647 w 698"/>
              <a:gd name="T1" fmla="*/ 2147483647 h 425"/>
              <a:gd name="T2" fmla="*/ 2147483647 w 698"/>
              <a:gd name="T3" fmla="*/ 2147483647 h 425"/>
              <a:gd name="T4" fmla="*/ 2147483647 w 698"/>
              <a:gd name="T5" fmla="*/ 2147483647 h 425"/>
              <a:gd name="T6" fmla="*/ 2147483647 w 698"/>
              <a:gd name="T7" fmla="*/ 2147483647 h 425"/>
              <a:gd name="T8" fmla="*/ 2147483647 w 698"/>
              <a:gd name="T9" fmla="*/ 2147483647 h 425"/>
              <a:gd name="T10" fmla="*/ 2147483647 w 698"/>
              <a:gd name="T11" fmla="*/ 2147483647 h 425"/>
              <a:gd name="T12" fmla="*/ 2147483647 w 698"/>
              <a:gd name="T13" fmla="*/ 2147483647 h 425"/>
              <a:gd name="T14" fmla="*/ 2147483647 w 698"/>
              <a:gd name="T15" fmla="*/ 2147483647 h 425"/>
              <a:gd name="T16" fmla="*/ 2147483647 w 698"/>
              <a:gd name="T17" fmla="*/ 2147483647 h 425"/>
              <a:gd name="T18" fmla="*/ 2147483647 w 698"/>
              <a:gd name="T19" fmla="*/ 2147483647 h 425"/>
              <a:gd name="T20" fmla="*/ 2147483647 w 698"/>
              <a:gd name="T21" fmla="*/ 2147483647 h 425"/>
              <a:gd name="T22" fmla="*/ 2147483647 w 698"/>
              <a:gd name="T23" fmla="*/ 0 h 425"/>
              <a:gd name="T24" fmla="*/ 2147483647 w 698"/>
              <a:gd name="T25" fmla="*/ 2147483647 h 425"/>
              <a:gd name="T26" fmla="*/ 2147483647 w 698"/>
              <a:gd name="T27" fmla="*/ 2147483647 h 425"/>
              <a:gd name="T28" fmla="*/ 2147483647 w 698"/>
              <a:gd name="T29" fmla="*/ 2147483647 h 425"/>
              <a:gd name="T30" fmla="*/ 2147483647 w 698"/>
              <a:gd name="T31" fmla="*/ 2147483647 h 425"/>
              <a:gd name="T32" fmla="*/ 2147483647 w 698"/>
              <a:gd name="T33" fmla="*/ 2147483647 h 425"/>
              <a:gd name="T34" fmla="*/ 2147483647 w 698"/>
              <a:gd name="T35" fmla="*/ 2147483647 h 425"/>
              <a:gd name="T36" fmla="*/ 2147483647 w 698"/>
              <a:gd name="T37" fmla="*/ 2147483647 h 425"/>
              <a:gd name="T38" fmla="*/ 2147483647 w 698"/>
              <a:gd name="T39" fmla="*/ 2147483647 h 425"/>
              <a:gd name="T40" fmla="*/ 0 w 698"/>
              <a:gd name="T41" fmla="*/ 2147483647 h 425"/>
              <a:gd name="T42" fmla="*/ 0 w 698"/>
              <a:gd name="T43" fmla="*/ 2147483647 h 425"/>
              <a:gd name="T44" fmla="*/ 2147483647 w 698"/>
              <a:gd name="T45" fmla="*/ 2147483647 h 425"/>
              <a:gd name="T46" fmla="*/ 2147483647 w 698"/>
              <a:gd name="T47" fmla="*/ 2147483647 h 425"/>
              <a:gd name="T48" fmla="*/ 2147483647 w 698"/>
              <a:gd name="T49" fmla="*/ 2147483647 h 425"/>
              <a:gd name="T50" fmla="*/ 2147483647 w 698"/>
              <a:gd name="T51" fmla="*/ 2147483647 h 425"/>
              <a:gd name="T52" fmla="*/ 2147483647 w 698"/>
              <a:gd name="T53" fmla="*/ 2147483647 h 425"/>
              <a:gd name="T54" fmla="*/ 2147483647 w 698"/>
              <a:gd name="T55" fmla="*/ 2147483647 h 425"/>
              <a:gd name="T56" fmla="*/ 2147483647 w 698"/>
              <a:gd name="T57" fmla="*/ 2147483647 h 425"/>
              <a:gd name="T58" fmla="*/ 2147483647 w 698"/>
              <a:gd name="T59" fmla="*/ 2147483647 h 425"/>
              <a:gd name="T60" fmla="*/ 2147483647 w 698"/>
              <a:gd name="T61" fmla="*/ 2147483647 h 425"/>
              <a:gd name="T62" fmla="*/ 2147483647 w 698"/>
              <a:gd name="T63" fmla="*/ 2147483647 h 425"/>
              <a:gd name="T64" fmla="*/ 2147483647 w 698"/>
              <a:gd name="T65" fmla="*/ 2147483647 h 425"/>
              <a:gd name="T66" fmla="*/ 2147483647 w 698"/>
              <a:gd name="T67" fmla="*/ 2147483647 h 425"/>
              <a:gd name="T68" fmla="*/ 2147483647 w 698"/>
              <a:gd name="T69" fmla="*/ 2147483647 h 425"/>
              <a:gd name="T70" fmla="*/ 2147483647 w 698"/>
              <a:gd name="T71" fmla="*/ 2147483647 h 425"/>
              <a:gd name="T72" fmla="*/ 2147483647 w 698"/>
              <a:gd name="T73" fmla="*/ 2147483647 h 425"/>
              <a:gd name="T74" fmla="*/ 2147483647 w 698"/>
              <a:gd name="T75" fmla="*/ 2147483647 h 425"/>
              <a:gd name="T76" fmla="*/ 2147483647 w 698"/>
              <a:gd name="T77" fmla="*/ 2147483647 h 425"/>
              <a:gd name="T78" fmla="*/ 2147483647 w 698"/>
              <a:gd name="T79" fmla="*/ 2147483647 h 425"/>
              <a:gd name="T80" fmla="*/ 2147483647 w 698"/>
              <a:gd name="T81" fmla="*/ 2147483647 h 425"/>
              <a:gd name="T82" fmla="*/ 2147483647 w 698"/>
              <a:gd name="T83" fmla="*/ 2147483647 h 425"/>
              <a:gd name="T84" fmla="*/ 2147483647 w 698"/>
              <a:gd name="T85" fmla="*/ 2147483647 h 425"/>
              <a:gd name="T86" fmla="*/ 2147483647 w 698"/>
              <a:gd name="T87" fmla="*/ 2147483647 h 425"/>
              <a:gd name="T88" fmla="*/ 2147483647 w 698"/>
              <a:gd name="T89" fmla="*/ 2147483647 h 425"/>
              <a:gd name="T90" fmla="*/ 2147483647 w 698"/>
              <a:gd name="T91" fmla="*/ 2147483647 h 425"/>
              <a:gd name="T92" fmla="*/ 2147483647 w 698"/>
              <a:gd name="T93" fmla="*/ 2147483647 h 425"/>
              <a:gd name="T94" fmla="*/ 2147483647 w 698"/>
              <a:gd name="T95" fmla="*/ 2147483647 h 425"/>
              <a:gd name="T96" fmla="*/ 2147483647 w 698"/>
              <a:gd name="T97" fmla="*/ 2147483647 h 425"/>
              <a:gd name="T98" fmla="*/ 2147483647 w 698"/>
              <a:gd name="T99" fmla="*/ 2147483647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345" name="Freeform 84"/>
          <p:cNvSpPr>
            <a:spLocks/>
          </p:cNvSpPr>
          <p:nvPr/>
        </p:nvSpPr>
        <p:spPr bwMode="auto">
          <a:xfrm flipH="1">
            <a:off x="903288" y="2054225"/>
            <a:ext cx="52387" cy="14288"/>
          </a:xfrm>
          <a:custGeom>
            <a:avLst/>
            <a:gdLst>
              <a:gd name="T0" fmla="*/ 0 w 223"/>
              <a:gd name="T1" fmla="*/ 2147483647 h 52"/>
              <a:gd name="T2" fmla="*/ 2147483647 w 223"/>
              <a:gd name="T3" fmla="*/ 2147483647 h 52"/>
              <a:gd name="T4" fmla="*/ 2147483647 w 223"/>
              <a:gd name="T5" fmla="*/ 2147483647 h 52"/>
              <a:gd name="T6" fmla="*/ 2147483647 w 223"/>
              <a:gd name="T7" fmla="*/ 2147483647 h 52"/>
              <a:gd name="T8" fmla="*/ 2147483647 w 223"/>
              <a:gd name="T9" fmla="*/ 2147483647 h 52"/>
              <a:gd name="T10" fmla="*/ 2147483647 w 223"/>
              <a:gd name="T11" fmla="*/ 2147483647 h 52"/>
              <a:gd name="T12" fmla="*/ 2147483647 w 223"/>
              <a:gd name="T13" fmla="*/ 2147483647 h 52"/>
              <a:gd name="T14" fmla="*/ 2147483647 w 223"/>
              <a:gd name="T15" fmla="*/ 2147483647 h 52"/>
              <a:gd name="T16" fmla="*/ 2147483647 w 223"/>
              <a:gd name="T17" fmla="*/ 0 h 52"/>
              <a:gd name="T18" fmla="*/ 2147483647 w 223"/>
              <a:gd name="T19" fmla="*/ 2147483647 h 52"/>
              <a:gd name="T20" fmla="*/ 2147483647 w 223"/>
              <a:gd name="T21" fmla="*/ 2147483647 h 52"/>
              <a:gd name="T22" fmla="*/ 2147483647 w 223"/>
              <a:gd name="T23" fmla="*/ 2147483647 h 52"/>
              <a:gd name="T24" fmla="*/ 0 w 223"/>
              <a:gd name="T25" fmla="*/ 2147483647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6" name="Freeform 85"/>
          <p:cNvSpPr>
            <a:spLocks/>
          </p:cNvSpPr>
          <p:nvPr/>
        </p:nvSpPr>
        <p:spPr bwMode="auto">
          <a:xfrm flipH="1">
            <a:off x="882650" y="2039938"/>
            <a:ext cx="42863" cy="7937"/>
          </a:xfrm>
          <a:custGeom>
            <a:avLst/>
            <a:gdLst>
              <a:gd name="T0" fmla="*/ 2147483647 w 188"/>
              <a:gd name="T1" fmla="*/ 0 h 36"/>
              <a:gd name="T2" fmla="*/ 2147483647 w 188"/>
              <a:gd name="T3" fmla="*/ 2147483647 h 36"/>
              <a:gd name="T4" fmla="*/ 0 w 188"/>
              <a:gd name="T5" fmla="*/ 2147483647 h 36"/>
              <a:gd name="T6" fmla="*/ 2147483647 w 188"/>
              <a:gd name="T7" fmla="*/ 2147483647 h 36"/>
              <a:gd name="T8" fmla="*/ 2147483647 w 188"/>
              <a:gd name="T9" fmla="*/ 2147483647 h 36"/>
              <a:gd name="T10" fmla="*/ 2147483647 w 188"/>
              <a:gd name="T11" fmla="*/ 2147483647 h 36"/>
              <a:gd name="T12" fmla="*/ 2147483647 w 188"/>
              <a:gd name="T13" fmla="*/ 2147483647 h 36"/>
              <a:gd name="T14" fmla="*/ 2147483647 w 188"/>
              <a:gd name="T15" fmla="*/ 2147483647 h 36"/>
              <a:gd name="T16" fmla="*/ 2147483647 w 188"/>
              <a:gd name="T17" fmla="*/ 2147483647 h 36"/>
              <a:gd name="T18" fmla="*/ 2147483647 w 188"/>
              <a:gd name="T19" fmla="*/ 2147483647 h 36"/>
              <a:gd name="T20" fmla="*/ 2147483647 w 188"/>
              <a:gd name="T21" fmla="*/ 2147483647 h 36"/>
              <a:gd name="T22" fmla="*/ 2147483647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7" name="Freeform 86"/>
          <p:cNvSpPr>
            <a:spLocks/>
          </p:cNvSpPr>
          <p:nvPr/>
        </p:nvSpPr>
        <p:spPr bwMode="auto">
          <a:xfrm flipH="1">
            <a:off x="901700" y="2074863"/>
            <a:ext cx="17463" cy="4762"/>
          </a:xfrm>
          <a:custGeom>
            <a:avLst/>
            <a:gdLst>
              <a:gd name="T0" fmla="*/ 0 w 76"/>
              <a:gd name="T1" fmla="*/ 2147483647 h 17"/>
              <a:gd name="T2" fmla="*/ 2147483647 w 76"/>
              <a:gd name="T3" fmla="*/ 2147483647 h 17"/>
              <a:gd name="T4" fmla="*/ 2147483647 w 76"/>
              <a:gd name="T5" fmla="*/ 2147483647 h 17"/>
              <a:gd name="T6" fmla="*/ 2147483647 w 76"/>
              <a:gd name="T7" fmla="*/ 2147483647 h 17"/>
              <a:gd name="T8" fmla="*/ 2147483647 w 76"/>
              <a:gd name="T9" fmla="*/ 0 h 17"/>
              <a:gd name="T10" fmla="*/ 2147483647 w 76"/>
              <a:gd name="T11" fmla="*/ 2147483647 h 17"/>
              <a:gd name="T12" fmla="*/ 0 w 76"/>
              <a:gd name="T13" fmla="*/ 2147483647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8" name="Freeform 87"/>
          <p:cNvSpPr>
            <a:spLocks/>
          </p:cNvSpPr>
          <p:nvPr/>
        </p:nvSpPr>
        <p:spPr bwMode="auto">
          <a:xfrm flipH="1">
            <a:off x="952500" y="2071688"/>
            <a:ext cx="4763" cy="7937"/>
          </a:xfrm>
          <a:custGeom>
            <a:avLst/>
            <a:gdLst>
              <a:gd name="T0" fmla="*/ 2147483647 w 19"/>
              <a:gd name="T1" fmla="*/ 0 h 32"/>
              <a:gd name="T2" fmla="*/ 2147483647 w 19"/>
              <a:gd name="T3" fmla="*/ 2147483647 h 32"/>
              <a:gd name="T4" fmla="*/ 2147483647 w 19"/>
              <a:gd name="T5" fmla="*/ 2147483647 h 32"/>
              <a:gd name="T6" fmla="*/ 0 w 19"/>
              <a:gd name="T7" fmla="*/ 2147483647 h 32"/>
              <a:gd name="T8" fmla="*/ 2147483647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49" name="Freeform 88"/>
          <p:cNvSpPr>
            <a:spLocks/>
          </p:cNvSpPr>
          <p:nvPr/>
        </p:nvSpPr>
        <p:spPr bwMode="auto">
          <a:xfrm flipH="1">
            <a:off x="876300" y="2062163"/>
            <a:ext cx="7938" cy="9525"/>
          </a:xfrm>
          <a:custGeom>
            <a:avLst/>
            <a:gdLst>
              <a:gd name="T0" fmla="*/ 0 w 35"/>
              <a:gd name="T1" fmla="*/ 0 h 43"/>
              <a:gd name="T2" fmla="*/ 2147483647 w 35"/>
              <a:gd name="T3" fmla="*/ 2147483647 h 43"/>
              <a:gd name="T4" fmla="*/ 2147483647 w 35"/>
              <a:gd name="T5" fmla="*/ 2147483647 h 43"/>
              <a:gd name="T6" fmla="*/ 2147483647 w 35"/>
              <a:gd name="T7" fmla="*/ 2147483647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0" name="Freeform 89"/>
          <p:cNvSpPr>
            <a:spLocks/>
          </p:cNvSpPr>
          <p:nvPr/>
        </p:nvSpPr>
        <p:spPr bwMode="auto">
          <a:xfrm flipH="1">
            <a:off x="842963" y="2062163"/>
            <a:ext cx="26987" cy="31750"/>
          </a:xfrm>
          <a:custGeom>
            <a:avLst/>
            <a:gdLst>
              <a:gd name="T0" fmla="*/ 0 w 114"/>
              <a:gd name="T1" fmla="*/ 0 h 114"/>
              <a:gd name="T2" fmla="*/ 2147483647 w 114"/>
              <a:gd name="T3" fmla="*/ 2147483647 h 114"/>
              <a:gd name="T4" fmla="*/ 2147483647 w 114"/>
              <a:gd name="T5" fmla="*/ 2147483647 h 114"/>
              <a:gd name="T6" fmla="*/ 2147483647 w 114"/>
              <a:gd name="T7" fmla="*/ 2147483647 h 114"/>
              <a:gd name="T8" fmla="*/ 2147483647 w 114"/>
              <a:gd name="T9" fmla="*/ 2147483647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1" name="Freeform 90"/>
          <p:cNvSpPr>
            <a:spLocks/>
          </p:cNvSpPr>
          <p:nvPr/>
        </p:nvSpPr>
        <p:spPr bwMode="auto">
          <a:xfrm flipH="1">
            <a:off x="830263" y="2106613"/>
            <a:ext cx="6350" cy="22225"/>
          </a:xfrm>
          <a:custGeom>
            <a:avLst/>
            <a:gdLst>
              <a:gd name="T0" fmla="*/ 2147483647 w 27"/>
              <a:gd name="T1" fmla="*/ 0 h 82"/>
              <a:gd name="T2" fmla="*/ 2147483647 w 27"/>
              <a:gd name="T3" fmla="*/ 2147483647 h 82"/>
              <a:gd name="T4" fmla="*/ 2147483647 w 27"/>
              <a:gd name="T5" fmla="*/ 2147483647 h 82"/>
              <a:gd name="T6" fmla="*/ 2147483647 w 27"/>
              <a:gd name="T7" fmla="*/ 2147483647 h 82"/>
              <a:gd name="T8" fmla="*/ 0 w 27"/>
              <a:gd name="T9" fmla="*/ 2147483647 h 82"/>
              <a:gd name="T10" fmla="*/ 2147483647 w 27"/>
              <a:gd name="T11" fmla="*/ 2147483647 h 82"/>
              <a:gd name="T12" fmla="*/ 2147483647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2" name="Freeform 91"/>
          <p:cNvSpPr>
            <a:spLocks/>
          </p:cNvSpPr>
          <p:nvPr/>
        </p:nvSpPr>
        <p:spPr bwMode="auto">
          <a:xfrm flipH="1">
            <a:off x="892175" y="2082800"/>
            <a:ext cx="1588" cy="9525"/>
          </a:xfrm>
          <a:custGeom>
            <a:avLst/>
            <a:gdLst>
              <a:gd name="T0" fmla="*/ 2147483647 w 15"/>
              <a:gd name="T1" fmla="*/ 0 h 30"/>
              <a:gd name="T2" fmla="*/ 2147483647 w 15"/>
              <a:gd name="T3" fmla="*/ 2147483647 h 30"/>
              <a:gd name="T4" fmla="*/ 0 w 15"/>
              <a:gd name="T5" fmla="*/ 2147483647 h 30"/>
              <a:gd name="T6" fmla="*/ 2147483647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3" name="Freeform 92"/>
          <p:cNvSpPr>
            <a:spLocks/>
          </p:cNvSpPr>
          <p:nvPr/>
        </p:nvSpPr>
        <p:spPr bwMode="auto">
          <a:xfrm flipH="1">
            <a:off x="652463" y="1774825"/>
            <a:ext cx="12700" cy="9525"/>
          </a:xfrm>
          <a:custGeom>
            <a:avLst/>
            <a:gdLst>
              <a:gd name="T0" fmla="*/ 0 w 51"/>
              <a:gd name="T1" fmla="*/ 0 h 36"/>
              <a:gd name="T2" fmla="*/ 2147483647 w 51"/>
              <a:gd name="T3" fmla="*/ 2147483647 h 36"/>
              <a:gd name="T4" fmla="*/ 2147483647 w 51"/>
              <a:gd name="T5" fmla="*/ 2147483647 h 36"/>
              <a:gd name="T6" fmla="*/ 2147483647 w 51"/>
              <a:gd name="T7" fmla="*/ 2147483647 h 36"/>
              <a:gd name="T8" fmla="*/ 2147483647 w 51"/>
              <a:gd name="T9" fmla="*/ 2147483647 h 36"/>
              <a:gd name="T10" fmla="*/ 2147483647 w 51"/>
              <a:gd name="T11" fmla="*/ 2147483647 h 36"/>
              <a:gd name="T12" fmla="*/ 2147483647 w 51"/>
              <a:gd name="T13" fmla="*/ 2147483647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4" name="Freeform 93"/>
          <p:cNvSpPr>
            <a:spLocks/>
          </p:cNvSpPr>
          <p:nvPr/>
        </p:nvSpPr>
        <p:spPr bwMode="auto">
          <a:xfrm flipH="1">
            <a:off x="658813" y="1790700"/>
            <a:ext cx="1587" cy="6350"/>
          </a:xfrm>
          <a:custGeom>
            <a:avLst/>
            <a:gdLst>
              <a:gd name="T0" fmla="*/ 0 w 14"/>
              <a:gd name="T1" fmla="*/ 0 h 24"/>
              <a:gd name="T2" fmla="*/ 2147483647 w 14"/>
              <a:gd name="T3" fmla="*/ 0 h 24"/>
              <a:gd name="T4" fmla="*/ 2147483647 w 14"/>
              <a:gd name="T5" fmla="*/ 2147483647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5" name="Freeform 94"/>
          <p:cNvSpPr>
            <a:spLocks/>
          </p:cNvSpPr>
          <p:nvPr/>
        </p:nvSpPr>
        <p:spPr bwMode="auto">
          <a:xfrm flipH="1">
            <a:off x="611188" y="1843088"/>
            <a:ext cx="96837" cy="296862"/>
          </a:xfrm>
          <a:custGeom>
            <a:avLst/>
            <a:gdLst>
              <a:gd name="T0" fmla="*/ 2147483647 w 431"/>
              <a:gd name="T1" fmla="*/ 0 h 1076"/>
              <a:gd name="T2" fmla="*/ 2147483647 w 431"/>
              <a:gd name="T3" fmla="*/ 2147483647 h 1076"/>
              <a:gd name="T4" fmla="*/ 2147483647 w 431"/>
              <a:gd name="T5" fmla="*/ 2147483647 h 1076"/>
              <a:gd name="T6" fmla="*/ 2147483647 w 431"/>
              <a:gd name="T7" fmla="*/ 2147483647 h 1076"/>
              <a:gd name="T8" fmla="*/ 2147483647 w 431"/>
              <a:gd name="T9" fmla="*/ 2147483647 h 1076"/>
              <a:gd name="T10" fmla="*/ 2147483647 w 431"/>
              <a:gd name="T11" fmla="*/ 2147483647 h 1076"/>
              <a:gd name="T12" fmla="*/ 0 w 431"/>
              <a:gd name="T13" fmla="*/ 2147483647 h 1076"/>
              <a:gd name="T14" fmla="*/ 2147483647 w 431"/>
              <a:gd name="T15" fmla="*/ 2147483647 h 1076"/>
              <a:gd name="T16" fmla="*/ 2147483647 w 431"/>
              <a:gd name="T17" fmla="*/ 2147483647 h 1076"/>
              <a:gd name="T18" fmla="*/ 2147483647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11356" name="Freeform 95"/>
          <p:cNvSpPr>
            <a:spLocks/>
          </p:cNvSpPr>
          <p:nvPr/>
        </p:nvSpPr>
        <p:spPr bwMode="auto">
          <a:xfrm flipH="1">
            <a:off x="449263" y="1784350"/>
            <a:ext cx="376237" cy="498475"/>
          </a:xfrm>
          <a:custGeom>
            <a:avLst/>
            <a:gdLst>
              <a:gd name="T0" fmla="*/ 2147483647 w 1606"/>
              <a:gd name="T1" fmla="*/ 2147483647 h 1792"/>
              <a:gd name="T2" fmla="*/ 2147483647 w 1606"/>
              <a:gd name="T3" fmla="*/ 0 h 1792"/>
              <a:gd name="T4" fmla="*/ 2147483647 w 1606"/>
              <a:gd name="T5" fmla="*/ 2147483647 h 1792"/>
              <a:gd name="T6" fmla="*/ 2147483647 w 1606"/>
              <a:gd name="T7" fmla="*/ 2147483647 h 1792"/>
              <a:gd name="T8" fmla="*/ 2147483647 w 1606"/>
              <a:gd name="T9" fmla="*/ 2147483647 h 1792"/>
              <a:gd name="T10" fmla="*/ 2147483647 w 1606"/>
              <a:gd name="T11" fmla="*/ 2147483647 h 1792"/>
              <a:gd name="T12" fmla="*/ 2147483647 w 1606"/>
              <a:gd name="T13" fmla="*/ 2147483647 h 1792"/>
              <a:gd name="T14" fmla="*/ 2147483647 w 1606"/>
              <a:gd name="T15" fmla="*/ 2147483647 h 1792"/>
              <a:gd name="T16" fmla="*/ 2147483647 w 1606"/>
              <a:gd name="T17" fmla="*/ 2147483647 h 1792"/>
              <a:gd name="T18" fmla="*/ 2147483647 w 1606"/>
              <a:gd name="T19" fmla="*/ 2147483647 h 1792"/>
              <a:gd name="T20" fmla="*/ 2147483647 w 1606"/>
              <a:gd name="T21" fmla="*/ 2147483647 h 1792"/>
              <a:gd name="T22" fmla="*/ 2147483647 w 1606"/>
              <a:gd name="T23" fmla="*/ 2147483647 h 1792"/>
              <a:gd name="T24" fmla="*/ 2147483647 w 1606"/>
              <a:gd name="T25" fmla="*/ 2147483647 h 1792"/>
              <a:gd name="T26" fmla="*/ 2147483647 w 1606"/>
              <a:gd name="T27" fmla="*/ 2147483647 h 1792"/>
              <a:gd name="T28" fmla="*/ 0 w 1606"/>
              <a:gd name="T29" fmla="*/ 2147483647 h 1792"/>
              <a:gd name="T30" fmla="*/ 2147483647 w 1606"/>
              <a:gd name="T31" fmla="*/ 2147483647 h 1792"/>
              <a:gd name="T32" fmla="*/ 2147483647 w 1606"/>
              <a:gd name="T33" fmla="*/ 2147483647 h 1792"/>
              <a:gd name="T34" fmla="*/ 2147483647 w 1606"/>
              <a:gd name="T35" fmla="*/ 2147483647 h 1792"/>
              <a:gd name="T36" fmla="*/ 2147483647 w 1606"/>
              <a:gd name="T37" fmla="*/ 2147483647 h 1792"/>
              <a:gd name="T38" fmla="*/ 2147483647 w 1606"/>
              <a:gd name="T39" fmla="*/ 2147483647 h 1792"/>
              <a:gd name="T40" fmla="*/ 2147483647 w 1606"/>
              <a:gd name="T41" fmla="*/ 2147483647 h 1792"/>
              <a:gd name="T42" fmla="*/ 2147483647 w 1606"/>
              <a:gd name="T43" fmla="*/ 2147483647 h 1792"/>
              <a:gd name="T44" fmla="*/ 2147483647 w 1606"/>
              <a:gd name="T45" fmla="*/ 2147483647 h 1792"/>
              <a:gd name="T46" fmla="*/ 2147483647 w 1606"/>
              <a:gd name="T47" fmla="*/ 2147483647 h 1792"/>
              <a:gd name="T48" fmla="*/ 2147483647 w 1606"/>
              <a:gd name="T49" fmla="*/ 2147483647 h 1792"/>
              <a:gd name="T50" fmla="*/ 2147483647 w 1606"/>
              <a:gd name="T51" fmla="*/ 2147483647 h 1792"/>
              <a:gd name="T52" fmla="*/ 2147483647 w 1606"/>
              <a:gd name="T53" fmla="*/ 2147483647 h 1792"/>
              <a:gd name="T54" fmla="*/ 2147483647 w 1606"/>
              <a:gd name="T55" fmla="*/ 2147483647 h 1792"/>
              <a:gd name="T56" fmla="*/ 2147483647 w 1606"/>
              <a:gd name="T57" fmla="*/ 2147483647 h 1792"/>
              <a:gd name="T58" fmla="*/ 2147483647 w 1606"/>
              <a:gd name="T59" fmla="*/ 2147483647 h 1792"/>
              <a:gd name="T60" fmla="*/ 2147483647 w 1606"/>
              <a:gd name="T61" fmla="*/ 2147483647 h 1792"/>
              <a:gd name="T62" fmla="*/ 2147483647 w 1606"/>
              <a:gd name="T63" fmla="*/ 2147483647 h 1792"/>
              <a:gd name="T64" fmla="*/ 2147483647 w 1606"/>
              <a:gd name="T65" fmla="*/ 2147483647 h 1792"/>
              <a:gd name="T66" fmla="*/ 2147483647 w 1606"/>
              <a:gd name="T67" fmla="*/ 2147483647 h 1792"/>
              <a:gd name="T68" fmla="*/ 2147483647 w 1606"/>
              <a:gd name="T69" fmla="*/ 2147483647 h 1792"/>
              <a:gd name="T70" fmla="*/ 2147483647 w 1606"/>
              <a:gd name="T71" fmla="*/ 2147483647 h 1792"/>
              <a:gd name="T72" fmla="*/ 2147483647 w 1606"/>
              <a:gd name="T73" fmla="*/ 2147483647 h 1792"/>
              <a:gd name="T74" fmla="*/ 2147483647 w 1606"/>
              <a:gd name="T75" fmla="*/ 2147483647 h 1792"/>
              <a:gd name="T76" fmla="*/ 2147483647 w 1606"/>
              <a:gd name="T77" fmla="*/ 2147483647 h 1792"/>
              <a:gd name="T78" fmla="*/ 2147483647 w 1606"/>
              <a:gd name="T79" fmla="*/ 2147483647 h 1792"/>
              <a:gd name="T80" fmla="*/ 2147483647 w 1606"/>
              <a:gd name="T81" fmla="*/ 2147483647 h 1792"/>
              <a:gd name="T82" fmla="*/ 2147483647 w 1606"/>
              <a:gd name="T83" fmla="*/ 2147483647 h 1792"/>
              <a:gd name="T84" fmla="*/ 2147483647 w 1606"/>
              <a:gd name="T85" fmla="*/ 2147483647 h 1792"/>
              <a:gd name="T86" fmla="*/ 2147483647 w 1606"/>
              <a:gd name="T87" fmla="*/ 2147483647 h 1792"/>
              <a:gd name="T88" fmla="*/ 2147483647 w 1606"/>
              <a:gd name="T89" fmla="*/ 2147483647 h 1792"/>
              <a:gd name="T90" fmla="*/ 2147483647 w 1606"/>
              <a:gd name="T91" fmla="*/ 2147483647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357" name="Freeform 96"/>
          <p:cNvSpPr>
            <a:spLocks/>
          </p:cNvSpPr>
          <p:nvPr/>
        </p:nvSpPr>
        <p:spPr bwMode="auto">
          <a:xfrm flipH="1">
            <a:off x="455613" y="1814513"/>
            <a:ext cx="236537" cy="461962"/>
          </a:xfrm>
          <a:custGeom>
            <a:avLst/>
            <a:gdLst>
              <a:gd name="T0" fmla="*/ 2147483647 w 1014"/>
              <a:gd name="T1" fmla="*/ 2147483647 h 1671"/>
              <a:gd name="T2" fmla="*/ 2147483647 w 1014"/>
              <a:gd name="T3" fmla="*/ 2147483647 h 1671"/>
              <a:gd name="T4" fmla="*/ 2147483647 w 1014"/>
              <a:gd name="T5" fmla="*/ 2147483647 h 1671"/>
              <a:gd name="T6" fmla="*/ 2147483647 w 1014"/>
              <a:gd name="T7" fmla="*/ 2147483647 h 1671"/>
              <a:gd name="T8" fmla="*/ 2147483647 w 1014"/>
              <a:gd name="T9" fmla="*/ 2147483647 h 1671"/>
              <a:gd name="T10" fmla="*/ 2147483647 w 1014"/>
              <a:gd name="T11" fmla="*/ 2147483647 h 1671"/>
              <a:gd name="T12" fmla="*/ 2147483647 w 1014"/>
              <a:gd name="T13" fmla="*/ 2147483647 h 1671"/>
              <a:gd name="T14" fmla="*/ 2147483647 w 1014"/>
              <a:gd name="T15" fmla="*/ 2147483647 h 1671"/>
              <a:gd name="T16" fmla="*/ 2147483647 w 1014"/>
              <a:gd name="T17" fmla="*/ 2147483647 h 1671"/>
              <a:gd name="T18" fmla="*/ 2147483647 w 1014"/>
              <a:gd name="T19" fmla="*/ 2147483647 h 1671"/>
              <a:gd name="T20" fmla="*/ 2147483647 w 1014"/>
              <a:gd name="T21" fmla="*/ 2147483647 h 1671"/>
              <a:gd name="T22" fmla="*/ 2147483647 w 1014"/>
              <a:gd name="T23" fmla="*/ 2147483647 h 1671"/>
              <a:gd name="T24" fmla="*/ 2147483647 w 1014"/>
              <a:gd name="T25" fmla="*/ 2147483647 h 1671"/>
              <a:gd name="T26" fmla="*/ 2147483647 w 1014"/>
              <a:gd name="T27" fmla="*/ 2147483647 h 1671"/>
              <a:gd name="T28" fmla="*/ 2147483647 w 1014"/>
              <a:gd name="T29" fmla="*/ 2147483647 h 1671"/>
              <a:gd name="T30" fmla="*/ 2147483647 w 1014"/>
              <a:gd name="T31" fmla="*/ 2147483647 h 1671"/>
              <a:gd name="T32" fmla="*/ 2147483647 w 1014"/>
              <a:gd name="T33" fmla="*/ 2147483647 h 1671"/>
              <a:gd name="T34" fmla="*/ 2147483647 w 1014"/>
              <a:gd name="T35" fmla="*/ 2147483647 h 1671"/>
              <a:gd name="T36" fmla="*/ 2147483647 w 1014"/>
              <a:gd name="T37" fmla="*/ 0 h 1671"/>
              <a:gd name="T38" fmla="*/ 2147483647 w 1014"/>
              <a:gd name="T39" fmla="*/ 2147483647 h 1671"/>
              <a:gd name="T40" fmla="*/ 2147483647 w 1014"/>
              <a:gd name="T41" fmla="*/ 2147483647 h 1671"/>
              <a:gd name="T42" fmla="*/ 2147483647 w 1014"/>
              <a:gd name="T43" fmla="*/ 2147483647 h 1671"/>
              <a:gd name="T44" fmla="*/ 2147483647 w 1014"/>
              <a:gd name="T45" fmla="*/ 2147483647 h 1671"/>
              <a:gd name="T46" fmla="*/ 2147483647 w 1014"/>
              <a:gd name="T47" fmla="*/ 2147483647 h 1671"/>
              <a:gd name="T48" fmla="*/ 2147483647 w 1014"/>
              <a:gd name="T49" fmla="*/ 2147483647 h 1671"/>
              <a:gd name="T50" fmla="*/ 2147483647 w 1014"/>
              <a:gd name="T51" fmla="*/ 2147483647 h 1671"/>
              <a:gd name="T52" fmla="*/ 2147483647 w 1014"/>
              <a:gd name="T53" fmla="*/ 2147483647 h 1671"/>
              <a:gd name="T54" fmla="*/ 2147483647 w 1014"/>
              <a:gd name="T55" fmla="*/ 2147483647 h 1671"/>
              <a:gd name="T56" fmla="*/ 2147483647 w 1014"/>
              <a:gd name="T57" fmla="*/ 2147483647 h 1671"/>
              <a:gd name="T58" fmla="*/ 2147483647 w 1014"/>
              <a:gd name="T59" fmla="*/ 2147483647 h 1671"/>
              <a:gd name="T60" fmla="*/ 2147483647 w 1014"/>
              <a:gd name="T61" fmla="*/ 2147483647 h 1671"/>
              <a:gd name="T62" fmla="*/ 2147483647 w 1014"/>
              <a:gd name="T63" fmla="*/ 2147483647 h 1671"/>
              <a:gd name="T64" fmla="*/ 2147483647 w 1014"/>
              <a:gd name="T65" fmla="*/ 2147483647 h 1671"/>
              <a:gd name="T66" fmla="*/ 2147483647 w 1014"/>
              <a:gd name="T67" fmla="*/ 2147483647 h 1671"/>
              <a:gd name="T68" fmla="*/ 2147483647 w 1014"/>
              <a:gd name="T69" fmla="*/ 2147483647 h 1671"/>
              <a:gd name="T70" fmla="*/ 2147483647 w 1014"/>
              <a:gd name="T71" fmla="*/ 2147483647 h 1671"/>
              <a:gd name="T72" fmla="*/ 2147483647 w 1014"/>
              <a:gd name="T73" fmla="*/ 2147483647 h 1671"/>
              <a:gd name="T74" fmla="*/ 2147483647 w 1014"/>
              <a:gd name="T75" fmla="*/ 2147483647 h 1671"/>
              <a:gd name="T76" fmla="*/ 0 w 1014"/>
              <a:gd name="T77" fmla="*/ 2147483647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8" name="Freeform 97"/>
          <p:cNvSpPr>
            <a:spLocks/>
          </p:cNvSpPr>
          <p:nvPr/>
        </p:nvSpPr>
        <p:spPr bwMode="auto">
          <a:xfrm flipH="1">
            <a:off x="473075" y="2043113"/>
            <a:ext cx="71438" cy="215900"/>
          </a:xfrm>
          <a:custGeom>
            <a:avLst/>
            <a:gdLst>
              <a:gd name="T0" fmla="*/ 0 w 295"/>
              <a:gd name="T1" fmla="*/ 2147483647 h 774"/>
              <a:gd name="T2" fmla="*/ 2147483647 w 295"/>
              <a:gd name="T3" fmla="*/ 2147483647 h 774"/>
              <a:gd name="T4" fmla="*/ 2147483647 w 295"/>
              <a:gd name="T5" fmla="*/ 2147483647 h 774"/>
              <a:gd name="T6" fmla="*/ 2147483647 w 295"/>
              <a:gd name="T7" fmla="*/ 2147483647 h 774"/>
              <a:gd name="T8" fmla="*/ 2147483647 w 295"/>
              <a:gd name="T9" fmla="*/ 2147483647 h 774"/>
              <a:gd name="T10" fmla="*/ 2147483647 w 295"/>
              <a:gd name="T11" fmla="*/ 2147483647 h 774"/>
              <a:gd name="T12" fmla="*/ 2147483647 w 295"/>
              <a:gd name="T13" fmla="*/ 2147483647 h 774"/>
              <a:gd name="T14" fmla="*/ 2147483647 w 295"/>
              <a:gd name="T15" fmla="*/ 2147483647 h 774"/>
              <a:gd name="T16" fmla="*/ 2147483647 w 295"/>
              <a:gd name="T17" fmla="*/ 0 h 774"/>
              <a:gd name="T18" fmla="*/ 2147483647 w 295"/>
              <a:gd name="T19" fmla="*/ 2147483647 h 774"/>
              <a:gd name="T20" fmla="*/ 2147483647 w 295"/>
              <a:gd name="T21" fmla="*/ 2147483647 h 774"/>
              <a:gd name="T22" fmla="*/ 2147483647 w 295"/>
              <a:gd name="T23" fmla="*/ 2147483647 h 774"/>
              <a:gd name="T24" fmla="*/ 2147483647 w 295"/>
              <a:gd name="T25" fmla="*/ 2147483647 h 774"/>
              <a:gd name="T26" fmla="*/ 0 w 295"/>
              <a:gd name="T27" fmla="*/ 2147483647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59" name="Freeform 98"/>
          <p:cNvSpPr>
            <a:spLocks/>
          </p:cNvSpPr>
          <p:nvPr/>
        </p:nvSpPr>
        <p:spPr bwMode="auto">
          <a:xfrm flipH="1">
            <a:off x="544513" y="1871663"/>
            <a:ext cx="273050" cy="320675"/>
          </a:xfrm>
          <a:custGeom>
            <a:avLst/>
            <a:gdLst>
              <a:gd name="T0" fmla="*/ 2147483647 w 1172"/>
              <a:gd name="T1" fmla="*/ 2147483647 h 1162"/>
              <a:gd name="T2" fmla="*/ 2147483647 w 1172"/>
              <a:gd name="T3" fmla="*/ 2147483647 h 1162"/>
              <a:gd name="T4" fmla="*/ 2147483647 w 1172"/>
              <a:gd name="T5" fmla="*/ 2147483647 h 1162"/>
              <a:gd name="T6" fmla="*/ 2147483647 w 1172"/>
              <a:gd name="T7" fmla="*/ 2147483647 h 1162"/>
              <a:gd name="T8" fmla="*/ 2147483647 w 1172"/>
              <a:gd name="T9" fmla="*/ 2147483647 h 1162"/>
              <a:gd name="T10" fmla="*/ 2147483647 w 1172"/>
              <a:gd name="T11" fmla="*/ 2147483647 h 1162"/>
              <a:gd name="T12" fmla="*/ 2147483647 w 1172"/>
              <a:gd name="T13" fmla="*/ 2147483647 h 1162"/>
              <a:gd name="T14" fmla="*/ 2147483647 w 1172"/>
              <a:gd name="T15" fmla="*/ 2147483647 h 1162"/>
              <a:gd name="T16" fmla="*/ 2147483647 w 1172"/>
              <a:gd name="T17" fmla="*/ 2147483647 h 1162"/>
              <a:gd name="T18" fmla="*/ 2147483647 w 1172"/>
              <a:gd name="T19" fmla="*/ 2147483647 h 1162"/>
              <a:gd name="T20" fmla="*/ 2147483647 w 1172"/>
              <a:gd name="T21" fmla="*/ 2147483647 h 1162"/>
              <a:gd name="T22" fmla="*/ 0 w 1172"/>
              <a:gd name="T23" fmla="*/ 2147483647 h 1162"/>
              <a:gd name="T24" fmla="*/ 2147483647 w 1172"/>
              <a:gd name="T25" fmla="*/ 2147483647 h 1162"/>
              <a:gd name="T26" fmla="*/ 2147483647 w 1172"/>
              <a:gd name="T27" fmla="*/ 2147483647 h 1162"/>
              <a:gd name="T28" fmla="*/ 2147483647 w 1172"/>
              <a:gd name="T29" fmla="*/ 2147483647 h 1162"/>
              <a:gd name="T30" fmla="*/ 2147483647 w 1172"/>
              <a:gd name="T31" fmla="*/ 2147483647 h 1162"/>
              <a:gd name="T32" fmla="*/ 2147483647 w 1172"/>
              <a:gd name="T33" fmla="*/ 2147483647 h 1162"/>
              <a:gd name="T34" fmla="*/ 2147483647 w 1172"/>
              <a:gd name="T35" fmla="*/ 2147483647 h 1162"/>
              <a:gd name="T36" fmla="*/ 2147483647 w 1172"/>
              <a:gd name="T37" fmla="*/ 2147483647 h 1162"/>
              <a:gd name="T38" fmla="*/ 2147483647 w 1172"/>
              <a:gd name="T39" fmla="*/ 2147483647 h 1162"/>
              <a:gd name="T40" fmla="*/ 2147483647 w 1172"/>
              <a:gd name="T41" fmla="*/ 2147483647 h 1162"/>
              <a:gd name="T42" fmla="*/ 2147483647 w 1172"/>
              <a:gd name="T43" fmla="*/ 2147483647 h 1162"/>
              <a:gd name="T44" fmla="*/ 2147483647 w 1172"/>
              <a:gd name="T45" fmla="*/ 2147483647 h 1162"/>
              <a:gd name="T46" fmla="*/ 2147483647 w 1172"/>
              <a:gd name="T47" fmla="*/ 2147483647 h 1162"/>
              <a:gd name="T48" fmla="*/ 2147483647 w 1172"/>
              <a:gd name="T49" fmla="*/ 2147483647 h 1162"/>
              <a:gd name="T50" fmla="*/ 2147483647 w 1172"/>
              <a:gd name="T51" fmla="*/ 2147483647 h 1162"/>
              <a:gd name="T52" fmla="*/ 2147483647 w 1172"/>
              <a:gd name="T53" fmla="*/ 2147483647 h 1162"/>
              <a:gd name="T54" fmla="*/ 2147483647 w 1172"/>
              <a:gd name="T55" fmla="*/ 2147483647 h 1162"/>
              <a:gd name="T56" fmla="*/ 2147483647 w 1172"/>
              <a:gd name="T57" fmla="*/ 2147483647 h 1162"/>
              <a:gd name="T58" fmla="*/ 2147483647 w 1172"/>
              <a:gd name="T59" fmla="*/ 2147483647 h 1162"/>
              <a:gd name="T60" fmla="*/ 2147483647 w 1172"/>
              <a:gd name="T61" fmla="*/ 2147483647 h 1162"/>
              <a:gd name="T62" fmla="*/ 2147483647 w 1172"/>
              <a:gd name="T63" fmla="*/ 2147483647 h 1162"/>
              <a:gd name="T64" fmla="*/ 2147483647 w 1172"/>
              <a:gd name="T65" fmla="*/ 2147483647 h 1162"/>
              <a:gd name="T66" fmla="*/ 2147483647 w 1172"/>
              <a:gd name="T67" fmla="*/ 2147483647 h 1162"/>
              <a:gd name="T68" fmla="*/ 2147483647 w 1172"/>
              <a:gd name="T69" fmla="*/ 2147483647 h 1162"/>
              <a:gd name="T70" fmla="*/ 2147483647 w 1172"/>
              <a:gd name="T71" fmla="*/ 2147483647 h 1162"/>
              <a:gd name="T72" fmla="*/ 2147483647 w 1172"/>
              <a:gd name="T73" fmla="*/ 2147483647 h 1162"/>
              <a:gd name="T74" fmla="*/ 2147483647 w 1172"/>
              <a:gd name="T75" fmla="*/ 2147483647 h 1162"/>
              <a:gd name="T76" fmla="*/ 2147483647 w 1172"/>
              <a:gd name="T77" fmla="*/ 2147483647 h 1162"/>
              <a:gd name="T78" fmla="*/ 2147483647 w 1172"/>
              <a:gd name="T79" fmla="*/ 2147483647 h 1162"/>
              <a:gd name="T80" fmla="*/ 2147483647 w 1172"/>
              <a:gd name="T81" fmla="*/ 2147483647 h 1162"/>
              <a:gd name="T82" fmla="*/ 2147483647 w 1172"/>
              <a:gd name="T83" fmla="*/ 2147483647 h 1162"/>
              <a:gd name="T84" fmla="*/ 2147483647 w 1172"/>
              <a:gd name="T85" fmla="*/ 2147483647 h 1162"/>
              <a:gd name="T86" fmla="*/ 2147483647 w 1172"/>
              <a:gd name="T87" fmla="*/ 2147483647 h 1162"/>
              <a:gd name="T88" fmla="*/ 2147483647 w 1172"/>
              <a:gd name="T89" fmla="*/ 2147483647 h 1162"/>
              <a:gd name="T90" fmla="*/ 2147483647 w 1172"/>
              <a:gd name="T91" fmla="*/ 2147483647 h 1162"/>
              <a:gd name="T92" fmla="*/ 2147483647 w 1172"/>
              <a:gd name="T93" fmla="*/ 2147483647 h 1162"/>
              <a:gd name="T94" fmla="*/ 2147483647 w 1172"/>
              <a:gd name="T95" fmla="*/ 2147483647 h 1162"/>
              <a:gd name="T96" fmla="*/ 2147483647 w 1172"/>
              <a:gd name="T97" fmla="*/ 2147483647 h 1162"/>
              <a:gd name="T98" fmla="*/ 2147483647 w 1172"/>
              <a:gd name="T99" fmla="*/ 2147483647 h 1162"/>
              <a:gd name="T100" fmla="*/ 2147483647 w 1172"/>
              <a:gd name="T101" fmla="*/ 2147483647 h 1162"/>
              <a:gd name="T102" fmla="*/ 2147483647 w 1172"/>
              <a:gd name="T103" fmla="*/ 2147483647 h 1162"/>
              <a:gd name="T104" fmla="*/ 2147483647 w 1172"/>
              <a:gd name="T105" fmla="*/ 2147483647 h 1162"/>
              <a:gd name="T106" fmla="*/ 2147483647 w 1172"/>
              <a:gd name="T107" fmla="*/ 2147483647 h 1162"/>
              <a:gd name="T108" fmla="*/ 2147483647 w 1172"/>
              <a:gd name="T109" fmla="*/ 2147483647 h 1162"/>
              <a:gd name="T110" fmla="*/ 2147483647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0" name="Freeform 99"/>
          <p:cNvSpPr>
            <a:spLocks/>
          </p:cNvSpPr>
          <p:nvPr/>
        </p:nvSpPr>
        <p:spPr bwMode="auto">
          <a:xfrm flipH="1">
            <a:off x="561975" y="1990725"/>
            <a:ext cx="69850" cy="71438"/>
          </a:xfrm>
          <a:custGeom>
            <a:avLst/>
            <a:gdLst>
              <a:gd name="T0" fmla="*/ 0 w 295"/>
              <a:gd name="T1" fmla="*/ 0 h 263"/>
              <a:gd name="T2" fmla="*/ 0 w 295"/>
              <a:gd name="T3" fmla="*/ 2147483647 h 263"/>
              <a:gd name="T4" fmla="*/ 2147483647 w 295"/>
              <a:gd name="T5" fmla="*/ 2147483647 h 263"/>
              <a:gd name="T6" fmla="*/ 2147483647 w 295"/>
              <a:gd name="T7" fmla="*/ 2147483647 h 263"/>
              <a:gd name="T8" fmla="*/ 2147483647 w 295"/>
              <a:gd name="T9" fmla="*/ 2147483647 h 263"/>
              <a:gd name="T10" fmla="*/ 2147483647 w 295"/>
              <a:gd name="T11" fmla="*/ 2147483647 h 263"/>
              <a:gd name="T12" fmla="*/ 2147483647 w 295"/>
              <a:gd name="T13" fmla="*/ 2147483647 h 263"/>
              <a:gd name="T14" fmla="*/ 2147483647 w 295"/>
              <a:gd name="T15" fmla="*/ 2147483647 h 263"/>
              <a:gd name="T16" fmla="*/ 2147483647 w 295"/>
              <a:gd name="T17" fmla="*/ 2147483647 h 263"/>
              <a:gd name="T18" fmla="*/ 2147483647 w 295"/>
              <a:gd name="T19" fmla="*/ 2147483647 h 263"/>
              <a:gd name="T20" fmla="*/ 2147483647 w 295"/>
              <a:gd name="T21" fmla="*/ 2147483647 h 263"/>
              <a:gd name="T22" fmla="*/ 2147483647 w 295"/>
              <a:gd name="T23" fmla="*/ 2147483647 h 263"/>
              <a:gd name="T24" fmla="*/ 2147483647 w 295"/>
              <a:gd name="T25" fmla="*/ 2147483647 h 263"/>
              <a:gd name="T26" fmla="*/ 2147483647 w 295"/>
              <a:gd name="T27" fmla="*/ 2147483647 h 263"/>
              <a:gd name="T28" fmla="*/ 2147483647 w 295"/>
              <a:gd name="T29" fmla="*/ 2147483647 h 263"/>
              <a:gd name="T30" fmla="*/ 2147483647 w 295"/>
              <a:gd name="T31" fmla="*/ 2147483647 h 263"/>
              <a:gd name="T32" fmla="*/ 2147483647 w 295"/>
              <a:gd name="T33" fmla="*/ 2147483647 h 263"/>
              <a:gd name="T34" fmla="*/ 2147483647 w 295"/>
              <a:gd name="T35" fmla="*/ 2147483647 h 263"/>
              <a:gd name="T36" fmla="*/ 2147483647 w 295"/>
              <a:gd name="T37" fmla="*/ 2147483647 h 263"/>
              <a:gd name="T38" fmla="*/ 2147483647 w 295"/>
              <a:gd name="T39" fmla="*/ 2147483647 h 263"/>
              <a:gd name="T40" fmla="*/ 2147483647 w 295"/>
              <a:gd name="T41" fmla="*/ 2147483647 h 263"/>
              <a:gd name="T42" fmla="*/ 2147483647 w 295"/>
              <a:gd name="T43" fmla="*/ 2147483647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1" name="Freeform 100"/>
          <p:cNvSpPr>
            <a:spLocks/>
          </p:cNvSpPr>
          <p:nvPr/>
        </p:nvSpPr>
        <p:spPr bwMode="auto">
          <a:xfrm flipH="1">
            <a:off x="565150" y="1930400"/>
            <a:ext cx="61913" cy="95250"/>
          </a:xfrm>
          <a:custGeom>
            <a:avLst/>
            <a:gdLst>
              <a:gd name="T0" fmla="*/ 2147483647 w 270"/>
              <a:gd name="T1" fmla="*/ 0 h 345"/>
              <a:gd name="T2" fmla="*/ 2147483647 w 270"/>
              <a:gd name="T3" fmla="*/ 2147483647 h 345"/>
              <a:gd name="T4" fmla="*/ 0 w 270"/>
              <a:gd name="T5" fmla="*/ 2147483647 h 345"/>
              <a:gd name="T6" fmla="*/ 2147483647 w 270"/>
              <a:gd name="T7" fmla="*/ 2147483647 h 345"/>
              <a:gd name="T8" fmla="*/ 2147483647 w 270"/>
              <a:gd name="T9" fmla="*/ 2147483647 h 345"/>
              <a:gd name="T10" fmla="*/ 2147483647 w 270"/>
              <a:gd name="T11" fmla="*/ 2147483647 h 345"/>
              <a:gd name="T12" fmla="*/ 2147483647 w 270"/>
              <a:gd name="T13" fmla="*/ 2147483647 h 345"/>
              <a:gd name="T14" fmla="*/ 2147483647 w 270"/>
              <a:gd name="T15" fmla="*/ 2147483647 h 345"/>
              <a:gd name="T16" fmla="*/ 2147483647 w 270"/>
              <a:gd name="T17" fmla="*/ 2147483647 h 345"/>
              <a:gd name="T18" fmla="*/ 2147483647 w 270"/>
              <a:gd name="T19" fmla="*/ 2147483647 h 345"/>
              <a:gd name="T20" fmla="*/ 2147483647 w 270"/>
              <a:gd name="T21" fmla="*/ 2147483647 h 345"/>
              <a:gd name="T22" fmla="*/ 2147483647 w 270"/>
              <a:gd name="T23" fmla="*/ 2147483647 h 345"/>
              <a:gd name="T24" fmla="*/ 2147483647 w 270"/>
              <a:gd name="T25" fmla="*/ 2147483647 h 345"/>
              <a:gd name="T26" fmla="*/ 2147483647 w 270"/>
              <a:gd name="T27" fmla="*/ 2147483647 h 345"/>
              <a:gd name="T28" fmla="*/ 2147483647 w 270"/>
              <a:gd name="T29" fmla="*/ 2147483647 h 345"/>
              <a:gd name="T30" fmla="*/ 2147483647 w 270"/>
              <a:gd name="T31" fmla="*/ 2147483647 h 345"/>
              <a:gd name="T32" fmla="*/ 2147483647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2" name="Freeform 101"/>
          <p:cNvSpPr>
            <a:spLocks/>
          </p:cNvSpPr>
          <p:nvPr/>
        </p:nvSpPr>
        <p:spPr bwMode="auto">
          <a:xfrm flipH="1">
            <a:off x="571500" y="1836738"/>
            <a:ext cx="68263" cy="55562"/>
          </a:xfrm>
          <a:custGeom>
            <a:avLst/>
            <a:gdLst>
              <a:gd name="T0" fmla="*/ 0 w 287"/>
              <a:gd name="T1" fmla="*/ 2147483647 h 199"/>
              <a:gd name="T2" fmla="*/ 2147483647 w 287"/>
              <a:gd name="T3" fmla="*/ 2147483647 h 199"/>
              <a:gd name="T4" fmla="*/ 2147483647 w 287"/>
              <a:gd name="T5" fmla="*/ 2147483647 h 199"/>
              <a:gd name="T6" fmla="*/ 2147483647 w 287"/>
              <a:gd name="T7" fmla="*/ 2147483647 h 199"/>
              <a:gd name="T8" fmla="*/ 2147483647 w 287"/>
              <a:gd name="T9" fmla="*/ 0 h 199"/>
              <a:gd name="T10" fmla="*/ 2147483647 w 287"/>
              <a:gd name="T11" fmla="*/ 2147483647 h 199"/>
              <a:gd name="T12" fmla="*/ 2147483647 w 287"/>
              <a:gd name="T13" fmla="*/ 2147483647 h 199"/>
              <a:gd name="T14" fmla="*/ 2147483647 w 287"/>
              <a:gd name="T15" fmla="*/ 2147483647 h 199"/>
              <a:gd name="T16" fmla="*/ 2147483647 w 287"/>
              <a:gd name="T17" fmla="*/ 2147483647 h 199"/>
              <a:gd name="T18" fmla="*/ 0 w 287"/>
              <a:gd name="T19" fmla="*/ 2147483647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3" name="Freeform 102"/>
          <p:cNvSpPr>
            <a:spLocks/>
          </p:cNvSpPr>
          <p:nvPr/>
        </p:nvSpPr>
        <p:spPr bwMode="auto">
          <a:xfrm flipH="1">
            <a:off x="652463" y="1938338"/>
            <a:ext cx="38100" cy="141287"/>
          </a:xfrm>
          <a:custGeom>
            <a:avLst/>
            <a:gdLst>
              <a:gd name="T0" fmla="*/ 0 w 162"/>
              <a:gd name="T1" fmla="*/ 2147483647 h 514"/>
              <a:gd name="T2" fmla="*/ 2147483647 w 162"/>
              <a:gd name="T3" fmla="*/ 2147483647 h 514"/>
              <a:gd name="T4" fmla="*/ 2147483647 w 162"/>
              <a:gd name="T5" fmla="*/ 2147483647 h 514"/>
              <a:gd name="T6" fmla="*/ 2147483647 w 162"/>
              <a:gd name="T7" fmla="*/ 2147483647 h 514"/>
              <a:gd name="T8" fmla="*/ 2147483647 w 162"/>
              <a:gd name="T9" fmla="*/ 2147483647 h 514"/>
              <a:gd name="T10" fmla="*/ 2147483647 w 162"/>
              <a:gd name="T11" fmla="*/ 2147483647 h 514"/>
              <a:gd name="T12" fmla="*/ 2147483647 w 162"/>
              <a:gd name="T13" fmla="*/ 2147483647 h 514"/>
              <a:gd name="T14" fmla="*/ 2147483647 w 162"/>
              <a:gd name="T15" fmla="*/ 2147483647 h 514"/>
              <a:gd name="T16" fmla="*/ 2147483647 w 162"/>
              <a:gd name="T17" fmla="*/ 2147483647 h 514"/>
              <a:gd name="T18" fmla="*/ 2147483647 w 162"/>
              <a:gd name="T19" fmla="*/ 2147483647 h 514"/>
              <a:gd name="T20" fmla="*/ 2147483647 w 162"/>
              <a:gd name="T21" fmla="*/ 2147483647 h 514"/>
              <a:gd name="T22" fmla="*/ 2147483647 w 162"/>
              <a:gd name="T23" fmla="*/ 2147483647 h 514"/>
              <a:gd name="T24" fmla="*/ 2147483647 w 162"/>
              <a:gd name="T25" fmla="*/ 2147483647 h 514"/>
              <a:gd name="T26" fmla="*/ 2147483647 w 162"/>
              <a:gd name="T27" fmla="*/ 2147483647 h 514"/>
              <a:gd name="T28" fmla="*/ 2147483647 w 162"/>
              <a:gd name="T29" fmla="*/ 0 h 514"/>
              <a:gd name="T30" fmla="*/ 2147483647 w 162"/>
              <a:gd name="T31" fmla="*/ 2147483647 h 514"/>
              <a:gd name="T32" fmla="*/ 2147483647 w 162"/>
              <a:gd name="T33" fmla="*/ 2147483647 h 514"/>
              <a:gd name="T34" fmla="*/ 2147483647 w 162"/>
              <a:gd name="T35" fmla="*/ 2147483647 h 514"/>
              <a:gd name="T36" fmla="*/ 0 w 162"/>
              <a:gd name="T37" fmla="*/ 2147483647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4" name="Freeform 103"/>
          <p:cNvSpPr>
            <a:spLocks/>
          </p:cNvSpPr>
          <p:nvPr/>
        </p:nvSpPr>
        <p:spPr bwMode="auto">
          <a:xfrm flipH="1">
            <a:off x="566738" y="2092325"/>
            <a:ext cx="66675" cy="26988"/>
          </a:xfrm>
          <a:custGeom>
            <a:avLst/>
            <a:gdLst>
              <a:gd name="T0" fmla="*/ 2147483647 w 289"/>
              <a:gd name="T1" fmla="*/ 2147483647 h 97"/>
              <a:gd name="T2" fmla="*/ 2147483647 w 289"/>
              <a:gd name="T3" fmla="*/ 2147483647 h 97"/>
              <a:gd name="T4" fmla="*/ 2147483647 w 289"/>
              <a:gd name="T5" fmla="*/ 2147483647 h 97"/>
              <a:gd name="T6" fmla="*/ 2147483647 w 289"/>
              <a:gd name="T7" fmla="*/ 0 h 97"/>
              <a:gd name="T8" fmla="*/ 0 w 289"/>
              <a:gd name="T9" fmla="*/ 2147483647 h 97"/>
              <a:gd name="T10" fmla="*/ 2147483647 w 289"/>
              <a:gd name="T11" fmla="*/ 2147483647 h 97"/>
              <a:gd name="T12" fmla="*/ 2147483647 w 289"/>
              <a:gd name="T13" fmla="*/ 2147483647 h 97"/>
              <a:gd name="T14" fmla="*/ 2147483647 w 289"/>
              <a:gd name="T15" fmla="*/ 2147483647 h 97"/>
              <a:gd name="T16" fmla="*/ 2147483647 w 289"/>
              <a:gd name="T17" fmla="*/ 2147483647 h 97"/>
              <a:gd name="T18" fmla="*/ 2147483647 w 289"/>
              <a:gd name="T19" fmla="*/ 2147483647 h 97"/>
              <a:gd name="T20" fmla="*/ 2147483647 w 289"/>
              <a:gd name="T21" fmla="*/ 2147483647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5" name="Freeform 104"/>
          <p:cNvSpPr>
            <a:spLocks/>
          </p:cNvSpPr>
          <p:nvPr/>
        </p:nvSpPr>
        <p:spPr bwMode="auto">
          <a:xfrm flipH="1">
            <a:off x="647700" y="2103438"/>
            <a:ext cx="42863" cy="60325"/>
          </a:xfrm>
          <a:custGeom>
            <a:avLst/>
            <a:gdLst>
              <a:gd name="T0" fmla="*/ 2147483647 w 176"/>
              <a:gd name="T1" fmla="*/ 2147483647 h 216"/>
              <a:gd name="T2" fmla="*/ 2147483647 w 176"/>
              <a:gd name="T3" fmla="*/ 2147483647 h 216"/>
              <a:gd name="T4" fmla="*/ 2147483647 w 176"/>
              <a:gd name="T5" fmla="*/ 0 h 216"/>
              <a:gd name="T6" fmla="*/ 2147483647 w 176"/>
              <a:gd name="T7" fmla="*/ 2147483647 h 216"/>
              <a:gd name="T8" fmla="*/ 0 w 176"/>
              <a:gd name="T9" fmla="*/ 2147483647 h 216"/>
              <a:gd name="T10" fmla="*/ 2147483647 w 176"/>
              <a:gd name="T11" fmla="*/ 2147483647 h 216"/>
              <a:gd name="T12" fmla="*/ 2147483647 w 176"/>
              <a:gd name="T13" fmla="*/ 2147483647 h 216"/>
              <a:gd name="T14" fmla="*/ 2147483647 w 176"/>
              <a:gd name="T15" fmla="*/ 2147483647 h 216"/>
              <a:gd name="T16" fmla="*/ 2147483647 w 176"/>
              <a:gd name="T17" fmla="*/ 2147483647 h 216"/>
              <a:gd name="T18" fmla="*/ 2147483647 w 176"/>
              <a:gd name="T19" fmla="*/ 2147483647 h 216"/>
              <a:gd name="T20" fmla="*/ 2147483647 w 176"/>
              <a:gd name="T21" fmla="*/ 2147483647 h 216"/>
              <a:gd name="T22" fmla="*/ 2147483647 w 176"/>
              <a:gd name="T23" fmla="*/ 2147483647 h 216"/>
              <a:gd name="T24" fmla="*/ 2147483647 w 176"/>
              <a:gd name="T25" fmla="*/ 2147483647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6" name="Freeform 105"/>
          <p:cNvSpPr>
            <a:spLocks/>
          </p:cNvSpPr>
          <p:nvPr/>
        </p:nvSpPr>
        <p:spPr bwMode="auto">
          <a:xfrm flipH="1">
            <a:off x="525463" y="1789113"/>
            <a:ext cx="98425" cy="74612"/>
          </a:xfrm>
          <a:custGeom>
            <a:avLst/>
            <a:gdLst>
              <a:gd name="T0" fmla="*/ 0 w 418"/>
              <a:gd name="T1" fmla="*/ 2147483647 h 260"/>
              <a:gd name="T2" fmla="*/ 2147483647 w 418"/>
              <a:gd name="T3" fmla="*/ 2147483647 h 260"/>
              <a:gd name="T4" fmla="*/ 2147483647 w 418"/>
              <a:gd name="T5" fmla="*/ 2147483647 h 260"/>
              <a:gd name="T6" fmla="*/ 2147483647 w 418"/>
              <a:gd name="T7" fmla="*/ 2147483647 h 260"/>
              <a:gd name="T8" fmla="*/ 2147483647 w 418"/>
              <a:gd name="T9" fmla="*/ 2147483647 h 260"/>
              <a:gd name="T10" fmla="*/ 2147483647 w 418"/>
              <a:gd name="T11" fmla="*/ 0 h 260"/>
              <a:gd name="T12" fmla="*/ 2147483647 w 418"/>
              <a:gd name="T13" fmla="*/ 2147483647 h 260"/>
              <a:gd name="T14" fmla="*/ 2147483647 w 418"/>
              <a:gd name="T15" fmla="*/ 2147483647 h 260"/>
              <a:gd name="T16" fmla="*/ 2147483647 w 418"/>
              <a:gd name="T17" fmla="*/ 2147483647 h 260"/>
              <a:gd name="T18" fmla="*/ 2147483647 w 418"/>
              <a:gd name="T19" fmla="*/ 2147483647 h 260"/>
              <a:gd name="T20" fmla="*/ 2147483647 w 418"/>
              <a:gd name="T21" fmla="*/ 2147483647 h 260"/>
              <a:gd name="T22" fmla="*/ 0 w 418"/>
              <a:gd name="T23" fmla="*/ 2147483647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7" name="Freeform 106"/>
          <p:cNvSpPr>
            <a:spLocks/>
          </p:cNvSpPr>
          <p:nvPr/>
        </p:nvSpPr>
        <p:spPr bwMode="auto">
          <a:xfrm flipH="1">
            <a:off x="414338" y="2125663"/>
            <a:ext cx="201612" cy="323850"/>
          </a:xfrm>
          <a:custGeom>
            <a:avLst/>
            <a:gdLst>
              <a:gd name="T0" fmla="*/ 2147483647 w 863"/>
              <a:gd name="T1" fmla="*/ 2147483647 h 1164"/>
              <a:gd name="T2" fmla="*/ 2147483647 w 863"/>
              <a:gd name="T3" fmla="*/ 2147483647 h 1164"/>
              <a:gd name="T4" fmla="*/ 2147483647 w 863"/>
              <a:gd name="T5" fmla="*/ 2147483647 h 1164"/>
              <a:gd name="T6" fmla="*/ 2147483647 w 863"/>
              <a:gd name="T7" fmla="*/ 2147483647 h 1164"/>
              <a:gd name="T8" fmla="*/ 2147483647 w 863"/>
              <a:gd name="T9" fmla="*/ 2147483647 h 1164"/>
              <a:gd name="T10" fmla="*/ 2147483647 w 863"/>
              <a:gd name="T11" fmla="*/ 2147483647 h 1164"/>
              <a:gd name="T12" fmla="*/ 2147483647 w 863"/>
              <a:gd name="T13" fmla="*/ 0 h 1164"/>
              <a:gd name="T14" fmla="*/ 2147483647 w 863"/>
              <a:gd name="T15" fmla="*/ 2147483647 h 1164"/>
              <a:gd name="T16" fmla="*/ 2147483647 w 863"/>
              <a:gd name="T17" fmla="*/ 2147483647 h 1164"/>
              <a:gd name="T18" fmla="*/ 2147483647 w 863"/>
              <a:gd name="T19" fmla="*/ 2147483647 h 1164"/>
              <a:gd name="T20" fmla="*/ 2147483647 w 863"/>
              <a:gd name="T21" fmla="*/ 2147483647 h 1164"/>
              <a:gd name="T22" fmla="*/ 2147483647 w 863"/>
              <a:gd name="T23" fmla="*/ 2147483647 h 1164"/>
              <a:gd name="T24" fmla="*/ 2147483647 w 863"/>
              <a:gd name="T25" fmla="*/ 2147483647 h 1164"/>
              <a:gd name="T26" fmla="*/ 2147483647 w 863"/>
              <a:gd name="T27" fmla="*/ 2147483647 h 1164"/>
              <a:gd name="T28" fmla="*/ 2147483647 w 863"/>
              <a:gd name="T29" fmla="*/ 2147483647 h 1164"/>
              <a:gd name="T30" fmla="*/ 0 w 863"/>
              <a:gd name="T31" fmla="*/ 2147483647 h 1164"/>
              <a:gd name="T32" fmla="*/ 2147483647 w 863"/>
              <a:gd name="T33" fmla="*/ 2147483647 h 1164"/>
              <a:gd name="T34" fmla="*/ 2147483647 w 863"/>
              <a:gd name="T35" fmla="*/ 2147483647 h 1164"/>
              <a:gd name="T36" fmla="*/ 2147483647 w 863"/>
              <a:gd name="T37" fmla="*/ 2147483647 h 1164"/>
              <a:gd name="T38" fmla="*/ 2147483647 w 863"/>
              <a:gd name="T39" fmla="*/ 2147483647 h 1164"/>
              <a:gd name="T40" fmla="*/ 2147483647 w 863"/>
              <a:gd name="T41" fmla="*/ 2147483647 h 1164"/>
              <a:gd name="T42" fmla="*/ 2147483647 w 863"/>
              <a:gd name="T43" fmla="*/ 2147483647 h 1164"/>
              <a:gd name="T44" fmla="*/ 2147483647 w 863"/>
              <a:gd name="T45" fmla="*/ 2147483647 h 1164"/>
              <a:gd name="T46" fmla="*/ 2147483647 w 863"/>
              <a:gd name="T47" fmla="*/ 2147483647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368" name="Freeform 107"/>
          <p:cNvSpPr>
            <a:spLocks/>
          </p:cNvSpPr>
          <p:nvPr/>
        </p:nvSpPr>
        <p:spPr bwMode="auto">
          <a:xfrm flipH="1">
            <a:off x="419100" y="2143125"/>
            <a:ext cx="173038" cy="293688"/>
          </a:xfrm>
          <a:custGeom>
            <a:avLst/>
            <a:gdLst>
              <a:gd name="T0" fmla="*/ 2147483647 w 743"/>
              <a:gd name="T1" fmla="*/ 2147483647 h 1068"/>
              <a:gd name="T2" fmla="*/ 2147483647 w 743"/>
              <a:gd name="T3" fmla="*/ 2147483647 h 1068"/>
              <a:gd name="T4" fmla="*/ 2147483647 w 743"/>
              <a:gd name="T5" fmla="*/ 2147483647 h 1068"/>
              <a:gd name="T6" fmla="*/ 2147483647 w 743"/>
              <a:gd name="T7" fmla="*/ 2147483647 h 1068"/>
              <a:gd name="T8" fmla="*/ 2147483647 w 743"/>
              <a:gd name="T9" fmla="*/ 2147483647 h 1068"/>
              <a:gd name="T10" fmla="*/ 2147483647 w 743"/>
              <a:gd name="T11" fmla="*/ 0 h 1068"/>
              <a:gd name="T12" fmla="*/ 2147483647 w 743"/>
              <a:gd name="T13" fmla="*/ 2147483647 h 1068"/>
              <a:gd name="T14" fmla="*/ 2147483647 w 743"/>
              <a:gd name="T15" fmla="*/ 2147483647 h 1068"/>
              <a:gd name="T16" fmla="*/ 2147483647 w 743"/>
              <a:gd name="T17" fmla="*/ 2147483647 h 1068"/>
              <a:gd name="T18" fmla="*/ 2147483647 w 743"/>
              <a:gd name="T19" fmla="*/ 2147483647 h 1068"/>
              <a:gd name="T20" fmla="*/ 2147483647 w 743"/>
              <a:gd name="T21" fmla="*/ 2147483647 h 1068"/>
              <a:gd name="T22" fmla="*/ 2147483647 w 743"/>
              <a:gd name="T23" fmla="*/ 2147483647 h 1068"/>
              <a:gd name="T24" fmla="*/ 2147483647 w 743"/>
              <a:gd name="T25" fmla="*/ 2147483647 h 1068"/>
              <a:gd name="T26" fmla="*/ 2147483647 w 743"/>
              <a:gd name="T27" fmla="*/ 2147483647 h 1068"/>
              <a:gd name="T28" fmla="*/ 2147483647 w 743"/>
              <a:gd name="T29" fmla="*/ 2147483647 h 1068"/>
              <a:gd name="T30" fmla="*/ 0 w 743"/>
              <a:gd name="T31" fmla="*/ 2147483647 h 1068"/>
              <a:gd name="T32" fmla="*/ 2147483647 w 743"/>
              <a:gd name="T33" fmla="*/ 2147483647 h 1068"/>
              <a:gd name="T34" fmla="*/ 2147483647 w 743"/>
              <a:gd name="T35" fmla="*/ 2147483647 h 1068"/>
              <a:gd name="T36" fmla="*/ 2147483647 w 743"/>
              <a:gd name="T37" fmla="*/ 2147483647 h 1068"/>
              <a:gd name="T38" fmla="*/ 2147483647 w 743"/>
              <a:gd name="T39" fmla="*/ 2147483647 h 1068"/>
              <a:gd name="T40" fmla="*/ 2147483647 w 743"/>
              <a:gd name="T41" fmla="*/ 2147483647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69" name="Text Box 108"/>
          <p:cNvSpPr txBox="1">
            <a:spLocks noChangeArrowheads="1"/>
          </p:cNvSpPr>
          <p:nvPr/>
        </p:nvSpPr>
        <p:spPr bwMode="auto">
          <a:xfrm>
            <a:off x="395288" y="977900"/>
            <a:ext cx="996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tx2"/>
                </a:solidFill>
                <a:ea typeface="黑体" pitchFamily="49" charset="-122"/>
              </a:rPr>
              <a:t>用户</a:t>
            </a:r>
          </a:p>
        </p:txBody>
      </p:sp>
      <p:sp>
        <p:nvSpPr>
          <p:cNvPr id="11370" name="Freeform 110"/>
          <p:cNvSpPr>
            <a:spLocks/>
          </p:cNvSpPr>
          <p:nvPr/>
        </p:nvSpPr>
        <p:spPr bwMode="auto">
          <a:xfrm flipH="1">
            <a:off x="1049338" y="3008313"/>
            <a:ext cx="276225" cy="204787"/>
          </a:xfrm>
          <a:custGeom>
            <a:avLst/>
            <a:gdLst>
              <a:gd name="T0" fmla="*/ 0 w 1188"/>
              <a:gd name="T1" fmla="*/ 2147483647 h 738"/>
              <a:gd name="T2" fmla="*/ 0 w 1188"/>
              <a:gd name="T3" fmla="*/ 2147483647 h 738"/>
              <a:gd name="T4" fmla="*/ 2147483647 w 1188"/>
              <a:gd name="T5" fmla="*/ 2147483647 h 738"/>
              <a:gd name="T6" fmla="*/ 2147483647 w 1188"/>
              <a:gd name="T7" fmla="*/ 0 h 738"/>
              <a:gd name="T8" fmla="*/ 0 w 1188"/>
              <a:gd name="T9" fmla="*/ 2147483647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371" name="Freeform 111"/>
          <p:cNvSpPr>
            <a:spLocks/>
          </p:cNvSpPr>
          <p:nvPr/>
        </p:nvSpPr>
        <p:spPr bwMode="auto">
          <a:xfrm flipH="1">
            <a:off x="1325563" y="3057525"/>
            <a:ext cx="206375" cy="155575"/>
          </a:xfrm>
          <a:custGeom>
            <a:avLst/>
            <a:gdLst>
              <a:gd name="T0" fmla="*/ 2147483647 w 882"/>
              <a:gd name="T1" fmla="*/ 2147483647 h 563"/>
              <a:gd name="T2" fmla="*/ 2147483647 w 882"/>
              <a:gd name="T3" fmla="*/ 2147483647 h 563"/>
              <a:gd name="T4" fmla="*/ 0 w 882"/>
              <a:gd name="T5" fmla="*/ 2147483647 h 563"/>
              <a:gd name="T6" fmla="*/ 0 w 882"/>
              <a:gd name="T7" fmla="*/ 0 h 563"/>
              <a:gd name="T8" fmla="*/ 2147483647 w 882"/>
              <a:gd name="T9" fmla="*/ 2147483647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372" name="Freeform 112"/>
          <p:cNvSpPr>
            <a:spLocks/>
          </p:cNvSpPr>
          <p:nvPr/>
        </p:nvSpPr>
        <p:spPr bwMode="auto">
          <a:xfrm flipH="1">
            <a:off x="1049338" y="3008313"/>
            <a:ext cx="482600" cy="63500"/>
          </a:xfrm>
          <a:custGeom>
            <a:avLst/>
            <a:gdLst>
              <a:gd name="T0" fmla="*/ 0 w 2070"/>
              <a:gd name="T1" fmla="*/ 2147483647 h 225"/>
              <a:gd name="T2" fmla="*/ 2147483647 w 2070"/>
              <a:gd name="T3" fmla="*/ 2147483647 h 225"/>
              <a:gd name="T4" fmla="*/ 2147483647 w 2070"/>
              <a:gd name="T5" fmla="*/ 0 h 225"/>
              <a:gd name="T6" fmla="*/ 2147483647 w 2070"/>
              <a:gd name="T7" fmla="*/ 0 h 225"/>
              <a:gd name="T8" fmla="*/ 0 w 2070"/>
              <a:gd name="T9" fmla="*/ 2147483647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373" name="Freeform 113"/>
          <p:cNvSpPr>
            <a:spLocks/>
          </p:cNvSpPr>
          <p:nvPr/>
        </p:nvSpPr>
        <p:spPr bwMode="auto">
          <a:xfrm flipH="1">
            <a:off x="1198563" y="2990850"/>
            <a:ext cx="176212" cy="57150"/>
          </a:xfrm>
          <a:custGeom>
            <a:avLst/>
            <a:gdLst>
              <a:gd name="T0" fmla="*/ 0 w 751"/>
              <a:gd name="T1" fmla="*/ 2147483647 h 210"/>
              <a:gd name="T2" fmla="*/ 0 w 751"/>
              <a:gd name="T3" fmla="*/ 2147483647 h 210"/>
              <a:gd name="T4" fmla="*/ 2147483647 w 751"/>
              <a:gd name="T5" fmla="*/ 2147483647 h 210"/>
              <a:gd name="T6" fmla="*/ 2147483647 w 751"/>
              <a:gd name="T7" fmla="*/ 2147483647 h 210"/>
              <a:gd name="T8" fmla="*/ 2147483647 w 751"/>
              <a:gd name="T9" fmla="*/ 0 h 210"/>
              <a:gd name="T10" fmla="*/ 0 w 751"/>
              <a:gd name="T11" fmla="*/ 2147483647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374" name="Freeform 114"/>
          <p:cNvSpPr>
            <a:spLocks/>
          </p:cNvSpPr>
          <p:nvPr/>
        </p:nvSpPr>
        <p:spPr bwMode="auto">
          <a:xfrm flipH="1">
            <a:off x="1103313" y="2743200"/>
            <a:ext cx="225425" cy="284163"/>
          </a:xfrm>
          <a:custGeom>
            <a:avLst/>
            <a:gdLst>
              <a:gd name="T0" fmla="*/ 2147483647 w 960"/>
              <a:gd name="T1" fmla="*/ 2147483647 h 1031"/>
              <a:gd name="T2" fmla="*/ 0 w 960"/>
              <a:gd name="T3" fmla="*/ 2147483647 h 1031"/>
              <a:gd name="T4" fmla="*/ 2147483647 w 960"/>
              <a:gd name="T5" fmla="*/ 0 h 1031"/>
              <a:gd name="T6" fmla="*/ 2147483647 w 960"/>
              <a:gd name="T7" fmla="*/ 2147483647 h 1031"/>
              <a:gd name="T8" fmla="*/ 2147483647 w 960"/>
              <a:gd name="T9" fmla="*/ 2147483647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375" name="Freeform 115"/>
          <p:cNvSpPr>
            <a:spLocks/>
          </p:cNvSpPr>
          <p:nvPr/>
        </p:nvSpPr>
        <p:spPr bwMode="auto">
          <a:xfrm flipH="1">
            <a:off x="1298575" y="2751138"/>
            <a:ext cx="196850" cy="282575"/>
          </a:xfrm>
          <a:custGeom>
            <a:avLst/>
            <a:gdLst>
              <a:gd name="T0" fmla="*/ 2147483647 w 850"/>
              <a:gd name="T1" fmla="*/ 0 h 1026"/>
              <a:gd name="T2" fmla="*/ 0 w 850"/>
              <a:gd name="T3" fmla="*/ 2147483647 h 1026"/>
              <a:gd name="T4" fmla="*/ 2147483647 w 850"/>
              <a:gd name="T5" fmla="*/ 2147483647 h 1026"/>
              <a:gd name="T6" fmla="*/ 2147483647 w 850"/>
              <a:gd name="T7" fmla="*/ 2147483647 h 1026"/>
              <a:gd name="T8" fmla="*/ 2147483647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376" name="Freeform 116"/>
          <p:cNvSpPr>
            <a:spLocks/>
          </p:cNvSpPr>
          <p:nvPr/>
        </p:nvSpPr>
        <p:spPr bwMode="auto">
          <a:xfrm flipH="1">
            <a:off x="1128713" y="2771775"/>
            <a:ext cx="163512" cy="212725"/>
          </a:xfrm>
          <a:custGeom>
            <a:avLst/>
            <a:gdLst>
              <a:gd name="T0" fmla="*/ 0 w 689"/>
              <a:gd name="T1" fmla="*/ 2147483647 h 778"/>
              <a:gd name="T2" fmla="*/ 2147483647 w 689"/>
              <a:gd name="T3" fmla="*/ 2147483647 h 778"/>
              <a:gd name="T4" fmla="*/ 2147483647 w 689"/>
              <a:gd name="T5" fmla="*/ 2147483647 h 778"/>
              <a:gd name="T6" fmla="*/ 2147483647 w 689"/>
              <a:gd name="T7" fmla="*/ 0 h 778"/>
              <a:gd name="T8" fmla="*/ 0 w 689"/>
              <a:gd name="T9" fmla="*/ 2147483647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11377" name="Freeform 117"/>
          <p:cNvSpPr>
            <a:spLocks/>
          </p:cNvSpPr>
          <p:nvPr/>
        </p:nvSpPr>
        <p:spPr bwMode="auto">
          <a:xfrm flipH="1">
            <a:off x="1068388" y="3030538"/>
            <a:ext cx="158750" cy="131762"/>
          </a:xfrm>
          <a:custGeom>
            <a:avLst/>
            <a:gdLst>
              <a:gd name="T0" fmla="*/ 2147483647 w 674"/>
              <a:gd name="T1" fmla="*/ 0 h 482"/>
              <a:gd name="T2" fmla="*/ 0 w 674"/>
              <a:gd name="T3" fmla="*/ 2147483647 h 482"/>
              <a:gd name="T4" fmla="*/ 0 w 674"/>
              <a:gd name="T5" fmla="*/ 2147483647 h 482"/>
              <a:gd name="T6" fmla="*/ 2147483647 w 674"/>
              <a:gd name="T7" fmla="*/ 2147483647 h 482"/>
              <a:gd name="T8" fmla="*/ 2147483647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378" name="Line 118"/>
          <p:cNvSpPr>
            <a:spLocks noChangeShapeType="1"/>
          </p:cNvSpPr>
          <p:nvPr/>
        </p:nvSpPr>
        <p:spPr bwMode="auto">
          <a:xfrm flipH="1" flipV="1">
            <a:off x="1081088" y="3063875"/>
            <a:ext cx="41275" cy="9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79" name="Line 119"/>
          <p:cNvSpPr>
            <a:spLocks noChangeShapeType="1"/>
          </p:cNvSpPr>
          <p:nvPr/>
        </p:nvSpPr>
        <p:spPr bwMode="auto">
          <a:xfrm>
            <a:off x="1146175" y="3078163"/>
            <a:ext cx="52388" cy="15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0" name="Line 120"/>
          <p:cNvSpPr>
            <a:spLocks noChangeShapeType="1"/>
          </p:cNvSpPr>
          <p:nvPr/>
        </p:nvSpPr>
        <p:spPr bwMode="auto">
          <a:xfrm flipH="1">
            <a:off x="1133475" y="3048000"/>
            <a:ext cx="0" cy="857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1" name="Line 121"/>
          <p:cNvSpPr>
            <a:spLocks noChangeShapeType="1"/>
          </p:cNvSpPr>
          <p:nvPr/>
        </p:nvSpPr>
        <p:spPr bwMode="auto">
          <a:xfrm flipH="1">
            <a:off x="1208088" y="3065463"/>
            <a:ext cx="1587" cy="9525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2" name="Line 122"/>
          <p:cNvSpPr>
            <a:spLocks noChangeShapeType="1"/>
          </p:cNvSpPr>
          <p:nvPr/>
        </p:nvSpPr>
        <p:spPr bwMode="auto">
          <a:xfrm>
            <a:off x="1066800" y="3063875"/>
            <a:ext cx="142875" cy="4286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3" name="Line 123"/>
          <p:cNvSpPr>
            <a:spLocks noChangeShapeType="1"/>
          </p:cNvSpPr>
          <p:nvPr/>
        </p:nvSpPr>
        <p:spPr bwMode="auto">
          <a:xfrm flipH="1" flipV="1">
            <a:off x="1066800" y="3051175"/>
            <a:ext cx="142875" cy="3968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84" name="Freeform 124"/>
          <p:cNvSpPr>
            <a:spLocks/>
          </p:cNvSpPr>
          <p:nvPr/>
        </p:nvSpPr>
        <p:spPr bwMode="auto">
          <a:xfrm flipH="1">
            <a:off x="1241425" y="3157538"/>
            <a:ext cx="17463" cy="53975"/>
          </a:xfrm>
          <a:custGeom>
            <a:avLst/>
            <a:gdLst>
              <a:gd name="T0" fmla="*/ 2147483647 w 75"/>
              <a:gd name="T1" fmla="*/ 0 h 194"/>
              <a:gd name="T2" fmla="*/ 0 w 75"/>
              <a:gd name="T3" fmla="*/ 2147483647 h 194"/>
              <a:gd name="T4" fmla="*/ 2147483647 w 75"/>
              <a:gd name="T5" fmla="*/ 2147483647 h 194"/>
              <a:gd name="T6" fmla="*/ 2147483647 w 75"/>
              <a:gd name="T7" fmla="*/ 2147483647 h 194"/>
              <a:gd name="T8" fmla="*/ 2147483647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385" name="Freeform 125"/>
          <p:cNvSpPr>
            <a:spLocks/>
          </p:cNvSpPr>
          <p:nvPr/>
        </p:nvSpPr>
        <p:spPr bwMode="auto">
          <a:xfrm flipH="1">
            <a:off x="1198563" y="3163888"/>
            <a:ext cx="49212" cy="47625"/>
          </a:xfrm>
          <a:custGeom>
            <a:avLst/>
            <a:gdLst>
              <a:gd name="T0" fmla="*/ 2147483647 w 206"/>
              <a:gd name="T1" fmla="*/ 2147483647 h 168"/>
              <a:gd name="T2" fmla="*/ 0 w 206"/>
              <a:gd name="T3" fmla="*/ 2147483647 h 168"/>
              <a:gd name="T4" fmla="*/ 2147483647 w 206"/>
              <a:gd name="T5" fmla="*/ 2147483647 h 168"/>
              <a:gd name="T6" fmla="*/ 2147483647 w 206"/>
              <a:gd name="T7" fmla="*/ 2147483647 h 168"/>
              <a:gd name="T8" fmla="*/ 2147483647 w 206"/>
              <a:gd name="T9" fmla="*/ 2147483647 h 168"/>
              <a:gd name="T10" fmla="*/ 2147483647 w 206"/>
              <a:gd name="T11" fmla="*/ 0 h 168"/>
              <a:gd name="T12" fmla="*/ 2147483647 w 206"/>
              <a:gd name="T13" fmla="*/ 2147483647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386" name="Freeform 126"/>
          <p:cNvSpPr>
            <a:spLocks/>
          </p:cNvSpPr>
          <p:nvPr/>
        </p:nvSpPr>
        <p:spPr bwMode="auto">
          <a:xfrm flipH="1">
            <a:off x="909638" y="3032125"/>
            <a:ext cx="368300" cy="203200"/>
          </a:xfrm>
          <a:custGeom>
            <a:avLst/>
            <a:gdLst>
              <a:gd name="T0" fmla="*/ 0 w 1583"/>
              <a:gd name="T1" fmla="*/ 2147483647 h 729"/>
              <a:gd name="T2" fmla="*/ 2147483647 w 1583"/>
              <a:gd name="T3" fmla="*/ 2147483647 h 729"/>
              <a:gd name="T4" fmla="*/ 2147483647 w 1583"/>
              <a:gd name="T5" fmla="*/ 2147483647 h 729"/>
              <a:gd name="T6" fmla="*/ 2147483647 w 1583"/>
              <a:gd name="T7" fmla="*/ 0 h 729"/>
              <a:gd name="T8" fmla="*/ 0 w 1583"/>
              <a:gd name="T9" fmla="*/ 2147483647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387" name="Freeform 127"/>
          <p:cNvSpPr>
            <a:spLocks/>
          </p:cNvSpPr>
          <p:nvPr/>
        </p:nvSpPr>
        <p:spPr bwMode="auto">
          <a:xfrm flipH="1">
            <a:off x="1100138" y="3117850"/>
            <a:ext cx="185737" cy="144463"/>
          </a:xfrm>
          <a:custGeom>
            <a:avLst/>
            <a:gdLst>
              <a:gd name="T0" fmla="*/ 2147483647 w 792"/>
              <a:gd name="T1" fmla="*/ 0 h 516"/>
              <a:gd name="T2" fmla="*/ 2147483647 w 792"/>
              <a:gd name="T3" fmla="*/ 2147483647 h 516"/>
              <a:gd name="T4" fmla="*/ 2147483647 w 792"/>
              <a:gd name="T5" fmla="*/ 2147483647 h 516"/>
              <a:gd name="T6" fmla="*/ 0 w 792"/>
              <a:gd name="T7" fmla="*/ 2147483647 h 516"/>
              <a:gd name="T8" fmla="*/ 2147483647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388" name="Freeform 128"/>
          <p:cNvSpPr>
            <a:spLocks/>
          </p:cNvSpPr>
          <p:nvPr/>
        </p:nvSpPr>
        <p:spPr bwMode="auto">
          <a:xfrm flipH="1">
            <a:off x="906463" y="3121025"/>
            <a:ext cx="196850" cy="141288"/>
          </a:xfrm>
          <a:custGeom>
            <a:avLst/>
            <a:gdLst>
              <a:gd name="T0" fmla="*/ 0 w 846"/>
              <a:gd name="T1" fmla="*/ 2147483647 h 507"/>
              <a:gd name="T2" fmla="*/ 2147483647 w 846"/>
              <a:gd name="T3" fmla="*/ 2147483647 h 507"/>
              <a:gd name="T4" fmla="*/ 2147483647 w 846"/>
              <a:gd name="T5" fmla="*/ 0 h 507"/>
              <a:gd name="T6" fmla="*/ 2147483647 w 846"/>
              <a:gd name="T7" fmla="*/ 2147483647 h 507"/>
              <a:gd name="T8" fmla="*/ 0 w 846"/>
              <a:gd name="T9" fmla="*/ 2147483647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389" name="Freeform 129"/>
          <p:cNvSpPr>
            <a:spLocks/>
          </p:cNvSpPr>
          <p:nvPr/>
        </p:nvSpPr>
        <p:spPr bwMode="auto">
          <a:xfrm flipH="1">
            <a:off x="1057275" y="3125788"/>
            <a:ext cx="149225" cy="92075"/>
          </a:xfrm>
          <a:custGeom>
            <a:avLst/>
            <a:gdLst>
              <a:gd name="T0" fmla="*/ 0 w 637"/>
              <a:gd name="T1" fmla="*/ 2147483647 h 321"/>
              <a:gd name="T2" fmla="*/ 2147483647 w 637"/>
              <a:gd name="T3" fmla="*/ 0 h 321"/>
              <a:gd name="T4" fmla="*/ 2147483647 w 637"/>
              <a:gd name="T5" fmla="*/ 2147483647 h 321"/>
              <a:gd name="T6" fmla="*/ 2147483647 w 637"/>
              <a:gd name="T7" fmla="*/ 2147483647 h 321"/>
              <a:gd name="T8" fmla="*/ 0 w 637"/>
              <a:gd name="T9" fmla="*/ 2147483647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90" name="Freeform 130"/>
          <p:cNvSpPr>
            <a:spLocks/>
          </p:cNvSpPr>
          <p:nvPr/>
        </p:nvSpPr>
        <p:spPr bwMode="auto">
          <a:xfrm flipH="1">
            <a:off x="923925" y="3065463"/>
            <a:ext cx="222250" cy="120650"/>
          </a:xfrm>
          <a:custGeom>
            <a:avLst/>
            <a:gdLst>
              <a:gd name="T0" fmla="*/ 0 w 938"/>
              <a:gd name="T1" fmla="*/ 2147483647 h 434"/>
              <a:gd name="T2" fmla="*/ 2147483647 w 938"/>
              <a:gd name="T3" fmla="*/ 2147483647 h 434"/>
              <a:gd name="T4" fmla="*/ 2147483647 w 938"/>
              <a:gd name="T5" fmla="*/ 2147483647 h 434"/>
              <a:gd name="T6" fmla="*/ 2147483647 w 938"/>
              <a:gd name="T7" fmla="*/ 0 h 434"/>
              <a:gd name="T8" fmla="*/ 0 w 938"/>
              <a:gd name="T9" fmla="*/ 2147483647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91" name="Freeform 131"/>
          <p:cNvSpPr>
            <a:spLocks/>
          </p:cNvSpPr>
          <p:nvPr/>
        </p:nvSpPr>
        <p:spPr bwMode="auto">
          <a:xfrm flipH="1">
            <a:off x="1017588" y="3040063"/>
            <a:ext cx="241300" cy="107950"/>
          </a:xfrm>
          <a:custGeom>
            <a:avLst/>
            <a:gdLst>
              <a:gd name="T0" fmla="*/ 2147483647 w 1034"/>
              <a:gd name="T1" fmla="*/ 2147483647 h 395"/>
              <a:gd name="T2" fmla="*/ 0 w 1034"/>
              <a:gd name="T3" fmla="*/ 2147483647 h 395"/>
              <a:gd name="T4" fmla="*/ 2147483647 w 1034"/>
              <a:gd name="T5" fmla="*/ 0 h 395"/>
              <a:gd name="T6" fmla="*/ 2147483647 w 1034"/>
              <a:gd name="T7" fmla="*/ 2147483647 h 395"/>
              <a:gd name="T8" fmla="*/ 2147483647 w 1034"/>
              <a:gd name="T9" fmla="*/ 2147483647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92" name="Line 132"/>
          <p:cNvSpPr>
            <a:spLocks noChangeShapeType="1"/>
          </p:cNvSpPr>
          <p:nvPr/>
        </p:nvSpPr>
        <p:spPr bwMode="auto">
          <a:xfrm flipH="1" flipV="1">
            <a:off x="1046163" y="3044825"/>
            <a:ext cx="206375" cy="841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3" name="Line 133"/>
          <p:cNvSpPr>
            <a:spLocks noChangeShapeType="1"/>
          </p:cNvSpPr>
          <p:nvPr/>
        </p:nvSpPr>
        <p:spPr bwMode="auto">
          <a:xfrm flipH="1" flipV="1">
            <a:off x="1035050" y="3048000"/>
            <a:ext cx="200025" cy="873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4" name="Line 134"/>
          <p:cNvSpPr>
            <a:spLocks noChangeShapeType="1"/>
          </p:cNvSpPr>
          <p:nvPr/>
        </p:nvSpPr>
        <p:spPr bwMode="auto">
          <a:xfrm flipH="1" flipV="1">
            <a:off x="1023938" y="3057525"/>
            <a:ext cx="196850"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5" name="Line 135"/>
          <p:cNvSpPr>
            <a:spLocks noChangeShapeType="1"/>
          </p:cNvSpPr>
          <p:nvPr/>
        </p:nvSpPr>
        <p:spPr bwMode="auto">
          <a:xfrm flipH="1" flipV="1">
            <a:off x="1000125" y="3071813"/>
            <a:ext cx="193675" cy="9048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6" name="Line 136"/>
          <p:cNvSpPr>
            <a:spLocks noChangeShapeType="1"/>
          </p:cNvSpPr>
          <p:nvPr/>
        </p:nvSpPr>
        <p:spPr bwMode="auto">
          <a:xfrm flipH="1" flipV="1">
            <a:off x="984250" y="3079750"/>
            <a:ext cx="192088" cy="952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7" name="Line 137"/>
          <p:cNvSpPr>
            <a:spLocks noChangeShapeType="1"/>
          </p:cNvSpPr>
          <p:nvPr/>
        </p:nvSpPr>
        <p:spPr bwMode="auto">
          <a:xfrm flipH="1" flipV="1">
            <a:off x="982663" y="3094038"/>
            <a:ext cx="173037"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8" name="Line 138"/>
          <p:cNvSpPr>
            <a:spLocks noChangeShapeType="1"/>
          </p:cNvSpPr>
          <p:nvPr/>
        </p:nvSpPr>
        <p:spPr bwMode="auto">
          <a:xfrm flipH="1" flipV="1">
            <a:off x="971550" y="3101975"/>
            <a:ext cx="168275"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99" name="Line 139"/>
          <p:cNvSpPr>
            <a:spLocks noChangeShapeType="1"/>
          </p:cNvSpPr>
          <p:nvPr/>
        </p:nvSpPr>
        <p:spPr bwMode="auto">
          <a:xfrm flipH="1" flipV="1">
            <a:off x="955675" y="3114675"/>
            <a:ext cx="158750"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0" name="Line 140"/>
          <p:cNvSpPr>
            <a:spLocks noChangeShapeType="1"/>
          </p:cNvSpPr>
          <p:nvPr/>
        </p:nvSpPr>
        <p:spPr bwMode="auto">
          <a:xfrm flipH="1">
            <a:off x="1087438" y="3143250"/>
            <a:ext cx="100012" cy="682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1" name="Line 141"/>
          <p:cNvSpPr>
            <a:spLocks noChangeShapeType="1"/>
          </p:cNvSpPr>
          <p:nvPr/>
        </p:nvSpPr>
        <p:spPr bwMode="auto">
          <a:xfrm flipH="1">
            <a:off x="1068388" y="3135313"/>
            <a:ext cx="98425" cy="635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2" name="Line 142"/>
          <p:cNvSpPr>
            <a:spLocks noChangeShapeType="1"/>
          </p:cNvSpPr>
          <p:nvPr/>
        </p:nvSpPr>
        <p:spPr bwMode="auto">
          <a:xfrm flipH="1">
            <a:off x="1027113" y="3114675"/>
            <a:ext cx="96837"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3" name="Line 143"/>
          <p:cNvSpPr>
            <a:spLocks noChangeShapeType="1"/>
          </p:cNvSpPr>
          <p:nvPr/>
        </p:nvSpPr>
        <p:spPr bwMode="auto">
          <a:xfrm flipH="1">
            <a:off x="1006475" y="3105150"/>
            <a:ext cx="95250" cy="5873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4" name="Line 144"/>
          <p:cNvSpPr>
            <a:spLocks noChangeShapeType="1"/>
          </p:cNvSpPr>
          <p:nvPr/>
        </p:nvSpPr>
        <p:spPr bwMode="auto">
          <a:xfrm flipH="1">
            <a:off x="984250" y="3094038"/>
            <a:ext cx="93663"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5" name="Line 145"/>
          <p:cNvSpPr>
            <a:spLocks noChangeShapeType="1"/>
          </p:cNvSpPr>
          <p:nvPr/>
        </p:nvSpPr>
        <p:spPr bwMode="auto">
          <a:xfrm flipH="1">
            <a:off x="966788" y="3086100"/>
            <a:ext cx="90487" cy="571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6" name="Line 146"/>
          <p:cNvSpPr>
            <a:spLocks noChangeShapeType="1"/>
          </p:cNvSpPr>
          <p:nvPr/>
        </p:nvSpPr>
        <p:spPr bwMode="auto">
          <a:xfrm flipH="1">
            <a:off x="947738" y="3076575"/>
            <a:ext cx="90487" cy="555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7" name="Line 147"/>
          <p:cNvSpPr>
            <a:spLocks noChangeShapeType="1"/>
          </p:cNvSpPr>
          <p:nvPr/>
        </p:nvSpPr>
        <p:spPr bwMode="auto">
          <a:xfrm flipH="1">
            <a:off x="1181100" y="3105150"/>
            <a:ext cx="47625" cy="301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8" name="Line 148"/>
          <p:cNvSpPr>
            <a:spLocks noChangeShapeType="1"/>
          </p:cNvSpPr>
          <p:nvPr/>
        </p:nvSpPr>
        <p:spPr bwMode="auto">
          <a:xfrm flipH="1">
            <a:off x="1152525" y="3094038"/>
            <a:ext cx="46038" cy="2698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09" name="Line 149"/>
          <p:cNvSpPr>
            <a:spLocks noChangeShapeType="1"/>
          </p:cNvSpPr>
          <p:nvPr/>
        </p:nvSpPr>
        <p:spPr bwMode="auto">
          <a:xfrm flipH="1">
            <a:off x="1123950" y="3082925"/>
            <a:ext cx="46038"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10" name="Line 150"/>
          <p:cNvSpPr>
            <a:spLocks noChangeShapeType="1"/>
          </p:cNvSpPr>
          <p:nvPr/>
        </p:nvSpPr>
        <p:spPr bwMode="auto">
          <a:xfrm flipH="1">
            <a:off x="1095375" y="3073400"/>
            <a:ext cx="46038"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11" name="Line 151"/>
          <p:cNvSpPr>
            <a:spLocks noChangeShapeType="1"/>
          </p:cNvSpPr>
          <p:nvPr/>
        </p:nvSpPr>
        <p:spPr bwMode="auto">
          <a:xfrm flipH="1">
            <a:off x="1069975" y="3060700"/>
            <a:ext cx="42863" cy="2698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12" name="Line 152"/>
          <p:cNvSpPr>
            <a:spLocks noChangeShapeType="1"/>
          </p:cNvSpPr>
          <p:nvPr/>
        </p:nvSpPr>
        <p:spPr bwMode="auto">
          <a:xfrm flipH="1">
            <a:off x="1041400" y="3048000"/>
            <a:ext cx="39688"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13" name="Freeform 153"/>
          <p:cNvSpPr>
            <a:spLocks/>
          </p:cNvSpPr>
          <p:nvPr/>
        </p:nvSpPr>
        <p:spPr bwMode="auto">
          <a:xfrm flipH="1">
            <a:off x="663575" y="3333750"/>
            <a:ext cx="485775" cy="258763"/>
          </a:xfrm>
          <a:custGeom>
            <a:avLst/>
            <a:gdLst>
              <a:gd name="T0" fmla="*/ 2147483647 w 2091"/>
              <a:gd name="T1" fmla="*/ 2147483647 h 931"/>
              <a:gd name="T2" fmla="*/ 2147483647 w 2091"/>
              <a:gd name="T3" fmla="*/ 2147483647 h 931"/>
              <a:gd name="T4" fmla="*/ 0 w 2091"/>
              <a:gd name="T5" fmla="*/ 2147483647 h 931"/>
              <a:gd name="T6" fmla="*/ 2147483647 w 2091"/>
              <a:gd name="T7" fmla="*/ 2147483647 h 931"/>
              <a:gd name="T8" fmla="*/ 2147483647 w 2091"/>
              <a:gd name="T9" fmla="*/ 2147483647 h 931"/>
              <a:gd name="T10" fmla="*/ 2147483647 w 2091"/>
              <a:gd name="T11" fmla="*/ 2147483647 h 931"/>
              <a:gd name="T12" fmla="*/ 2147483647 w 2091"/>
              <a:gd name="T13" fmla="*/ 2147483647 h 931"/>
              <a:gd name="T14" fmla="*/ 2147483647 w 2091"/>
              <a:gd name="T15" fmla="*/ 2147483647 h 931"/>
              <a:gd name="T16" fmla="*/ 2147483647 w 2091"/>
              <a:gd name="T17" fmla="*/ 2147483647 h 931"/>
              <a:gd name="T18" fmla="*/ 2147483647 w 2091"/>
              <a:gd name="T19" fmla="*/ 2147483647 h 931"/>
              <a:gd name="T20" fmla="*/ 2147483647 w 2091"/>
              <a:gd name="T21" fmla="*/ 2147483647 h 931"/>
              <a:gd name="T22" fmla="*/ 2147483647 w 2091"/>
              <a:gd name="T23" fmla="*/ 2147483647 h 931"/>
              <a:gd name="T24" fmla="*/ 2147483647 w 2091"/>
              <a:gd name="T25" fmla="*/ 2147483647 h 931"/>
              <a:gd name="T26" fmla="*/ 2147483647 w 2091"/>
              <a:gd name="T27" fmla="*/ 2147483647 h 931"/>
              <a:gd name="T28" fmla="*/ 2147483647 w 2091"/>
              <a:gd name="T29" fmla="*/ 2147483647 h 931"/>
              <a:gd name="T30" fmla="*/ 2147483647 w 2091"/>
              <a:gd name="T31" fmla="*/ 2147483647 h 931"/>
              <a:gd name="T32" fmla="*/ 2147483647 w 2091"/>
              <a:gd name="T33" fmla="*/ 2147483647 h 931"/>
              <a:gd name="T34" fmla="*/ 2147483647 w 2091"/>
              <a:gd name="T35" fmla="*/ 2147483647 h 931"/>
              <a:gd name="T36" fmla="*/ 2147483647 w 2091"/>
              <a:gd name="T37" fmla="*/ 2147483647 h 931"/>
              <a:gd name="T38" fmla="*/ 2147483647 w 2091"/>
              <a:gd name="T39" fmla="*/ 0 h 931"/>
              <a:gd name="T40" fmla="*/ 2147483647 w 2091"/>
              <a:gd name="T41" fmla="*/ 2147483647 h 931"/>
              <a:gd name="T42" fmla="*/ 2147483647 w 2091"/>
              <a:gd name="T43" fmla="*/ 2147483647 h 931"/>
              <a:gd name="T44" fmla="*/ 2147483647 w 2091"/>
              <a:gd name="T45" fmla="*/ 2147483647 h 931"/>
              <a:gd name="T46" fmla="*/ 2147483647 w 2091"/>
              <a:gd name="T47" fmla="*/ 2147483647 h 931"/>
              <a:gd name="T48" fmla="*/ 2147483647 w 2091"/>
              <a:gd name="T49" fmla="*/ 2147483647 h 931"/>
              <a:gd name="T50" fmla="*/ 2147483647 w 2091"/>
              <a:gd name="T51" fmla="*/ 2147483647 h 931"/>
              <a:gd name="T52" fmla="*/ 2147483647 w 2091"/>
              <a:gd name="T53" fmla="*/ 2147483647 h 931"/>
              <a:gd name="T54" fmla="*/ 2147483647 w 2091"/>
              <a:gd name="T55" fmla="*/ 2147483647 h 931"/>
              <a:gd name="T56" fmla="*/ 2147483647 w 2091"/>
              <a:gd name="T57" fmla="*/ 2147483647 h 931"/>
              <a:gd name="T58" fmla="*/ 2147483647 w 2091"/>
              <a:gd name="T59" fmla="*/ 2147483647 h 931"/>
              <a:gd name="T60" fmla="*/ 2147483647 w 2091"/>
              <a:gd name="T61" fmla="*/ 2147483647 h 931"/>
              <a:gd name="T62" fmla="*/ 2147483647 w 2091"/>
              <a:gd name="T63" fmla="*/ 2147483647 h 931"/>
              <a:gd name="T64" fmla="*/ 2147483647 w 2091"/>
              <a:gd name="T65" fmla="*/ 2147483647 h 931"/>
              <a:gd name="T66" fmla="*/ 2147483647 w 2091"/>
              <a:gd name="T67" fmla="*/ 2147483647 h 931"/>
              <a:gd name="T68" fmla="*/ 2147483647 w 2091"/>
              <a:gd name="T69" fmla="*/ 2147483647 h 931"/>
              <a:gd name="T70" fmla="*/ 2147483647 w 2091"/>
              <a:gd name="T71" fmla="*/ 2147483647 h 931"/>
              <a:gd name="T72" fmla="*/ 2147483647 w 2091"/>
              <a:gd name="T73" fmla="*/ 2147483647 h 931"/>
              <a:gd name="T74" fmla="*/ 2147483647 w 2091"/>
              <a:gd name="T75" fmla="*/ 2147483647 h 931"/>
              <a:gd name="T76" fmla="*/ 2147483647 w 2091"/>
              <a:gd name="T77" fmla="*/ 2147483647 h 931"/>
              <a:gd name="T78" fmla="*/ 2147483647 w 2091"/>
              <a:gd name="T79" fmla="*/ 2147483647 h 931"/>
              <a:gd name="T80" fmla="*/ 2147483647 w 2091"/>
              <a:gd name="T81" fmla="*/ 2147483647 h 931"/>
              <a:gd name="T82" fmla="*/ 2147483647 w 2091"/>
              <a:gd name="T83" fmla="*/ 2147483647 h 931"/>
              <a:gd name="T84" fmla="*/ 2147483647 w 2091"/>
              <a:gd name="T85" fmla="*/ 2147483647 h 931"/>
              <a:gd name="T86" fmla="*/ 2147483647 w 2091"/>
              <a:gd name="T87" fmla="*/ 2147483647 h 931"/>
              <a:gd name="T88" fmla="*/ 2147483647 w 2091"/>
              <a:gd name="T89" fmla="*/ 2147483647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414" name="Freeform 154"/>
          <p:cNvSpPr>
            <a:spLocks/>
          </p:cNvSpPr>
          <p:nvPr/>
        </p:nvSpPr>
        <p:spPr bwMode="auto">
          <a:xfrm flipH="1">
            <a:off x="666750" y="3359150"/>
            <a:ext cx="481013" cy="228600"/>
          </a:xfrm>
          <a:custGeom>
            <a:avLst/>
            <a:gdLst>
              <a:gd name="T0" fmla="*/ 2147483647 w 2049"/>
              <a:gd name="T1" fmla="*/ 2147483647 h 829"/>
              <a:gd name="T2" fmla="*/ 2147483647 w 2049"/>
              <a:gd name="T3" fmla="*/ 2147483647 h 829"/>
              <a:gd name="T4" fmla="*/ 2147483647 w 2049"/>
              <a:gd name="T5" fmla="*/ 2147483647 h 829"/>
              <a:gd name="T6" fmla="*/ 2147483647 w 2049"/>
              <a:gd name="T7" fmla="*/ 2147483647 h 829"/>
              <a:gd name="T8" fmla="*/ 2147483647 w 2049"/>
              <a:gd name="T9" fmla="*/ 2147483647 h 829"/>
              <a:gd name="T10" fmla="*/ 2147483647 w 2049"/>
              <a:gd name="T11" fmla="*/ 2147483647 h 829"/>
              <a:gd name="T12" fmla="*/ 2147483647 w 2049"/>
              <a:gd name="T13" fmla="*/ 2147483647 h 829"/>
              <a:gd name="T14" fmla="*/ 2147483647 w 2049"/>
              <a:gd name="T15" fmla="*/ 2147483647 h 829"/>
              <a:gd name="T16" fmla="*/ 2147483647 w 2049"/>
              <a:gd name="T17" fmla="*/ 2147483647 h 829"/>
              <a:gd name="T18" fmla="*/ 2147483647 w 2049"/>
              <a:gd name="T19" fmla="*/ 2147483647 h 829"/>
              <a:gd name="T20" fmla="*/ 2147483647 w 2049"/>
              <a:gd name="T21" fmla="*/ 2147483647 h 829"/>
              <a:gd name="T22" fmla="*/ 2147483647 w 2049"/>
              <a:gd name="T23" fmla="*/ 2147483647 h 829"/>
              <a:gd name="T24" fmla="*/ 2147483647 w 2049"/>
              <a:gd name="T25" fmla="*/ 2147483647 h 829"/>
              <a:gd name="T26" fmla="*/ 2147483647 w 2049"/>
              <a:gd name="T27" fmla="*/ 2147483647 h 829"/>
              <a:gd name="T28" fmla="*/ 2147483647 w 2049"/>
              <a:gd name="T29" fmla="*/ 2147483647 h 829"/>
              <a:gd name="T30" fmla="*/ 2147483647 w 2049"/>
              <a:gd name="T31" fmla="*/ 2147483647 h 829"/>
              <a:gd name="T32" fmla="*/ 2147483647 w 2049"/>
              <a:gd name="T33" fmla="*/ 2147483647 h 829"/>
              <a:gd name="T34" fmla="*/ 2147483647 w 2049"/>
              <a:gd name="T35" fmla="*/ 2147483647 h 829"/>
              <a:gd name="T36" fmla="*/ 2147483647 w 2049"/>
              <a:gd name="T37" fmla="*/ 2147483647 h 829"/>
              <a:gd name="T38" fmla="*/ 2147483647 w 2049"/>
              <a:gd name="T39" fmla="*/ 2147483647 h 829"/>
              <a:gd name="T40" fmla="*/ 2147483647 w 2049"/>
              <a:gd name="T41" fmla="*/ 2147483647 h 829"/>
              <a:gd name="T42" fmla="*/ 0 w 2049"/>
              <a:gd name="T43" fmla="*/ 2147483647 h 829"/>
              <a:gd name="T44" fmla="*/ 2147483647 w 2049"/>
              <a:gd name="T45" fmla="*/ 2147483647 h 829"/>
              <a:gd name="T46" fmla="*/ 2147483647 w 2049"/>
              <a:gd name="T47" fmla="*/ 2147483647 h 829"/>
              <a:gd name="T48" fmla="*/ 2147483647 w 2049"/>
              <a:gd name="T49" fmla="*/ 2147483647 h 829"/>
              <a:gd name="T50" fmla="*/ 2147483647 w 2049"/>
              <a:gd name="T51" fmla="*/ 2147483647 h 829"/>
              <a:gd name="T52" fmla="*/ 2147483647 w 2049"/>
              <a:gd name="T53" fmla="*/ 2147483647 h 829"/>
              <a:gd name="T54" fmla="*/ 2147483647 w 2049"/>
              <a:gd name="T55" fmla="*/ 2147483647 h 829"/>
              <a:gd name="T56" fmla="*/ 2147483647 w 2049"/>
              <a:gd name="T57" fmla="*/ 2147483647 h 829"/>
              <a:gd name="T58" fmla="*/ 2147483647 w 2049"/>
              <a:gd name="T59" fmla="*/ 2147483647 h 829"/>
              <a:gd name="T60" fmla="*/ 2147483647 w 2049"/>
              <a:gd name="T61" fmla="*/ 2147483647 h 829"/>
              <a:gd name="T62" fmla="*/ 2147483647 w 2049"/>
              <a:gd name="T63" fmla="*/ 2147483647 h 829"/>
              <a:gd name="T64" fmla="*/ 2147483647 w 2049"/>
              <a:gd name="T65" fmla="*/ 2147483647 h 829"/>
              <a:gd name="T66" fmla="*/ 2147483647 w 2049"/>
              <a:gd name="T67" fmla="*/ 2147483647 h 829"/>
              <a:gd name="T68" fmla="*/ 2147483647 w 2049"/>
              <a:gd name="T69" fmla="*/ 0 h 829"/>
              <a:gd name="T70" fmla="*/ 2147483647 w 2049"/>
              <a:gd name="T71" fmla="*/ 2147483647 h 829"/>
              <a:gd name="T72" fmla="*/ 2147483647 w 2049"/>
              <a:gd name="T73" fmla="*/ 2147483647 h 829"/>
              <a:gd name="T74" fmla="*/ 2147483647 w 2049"/>
              <a:gd name="T75" fmla="*/ 2147483647 h 829"/>
              <a:gd name="T76" fmla="*/ 2147483647 w 2049"/>
              <a:gd name="T77" fmla="*/ 2147483647 h 829"/>
              <a:gd name="T78" fmla="*/ 2147483647 w 2049"/>
              <a:gd name="T79" fmla="*/ 2147483647 h 829"/>
              <a:gd name="T80" fmla="*/ 2147483647 w 2049"/>
              <a:gd name="T81" fmla="*/ 2147483647 h 829"/>
              <a:gd name="T82" fmla="*/ 2147483647 w 2049"/>
              <a:gd name="T83" fmla="*/ 2147483647 h 829"/>
              <a:gd name="T84" fmla="*/ 2147483647 w 2049"/>
              <a:gd name="T85" fmla="*/ 2147483647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15" name="Freeform 155"/>
          <p:cNvSpPr>
            <a:spLocks/>
          </p:cNvSpPr>
          <p:nvPr/>
        </p:nvSpPr>
        <p:spPr bwMode="auto">
          <a:xfrm flipH="1">
            <a:off x="735013" y="3440113"/>
            <a:ext cx="66675" cy="14287"/>
          </a:xfrm>
          <a:custGeom>
            <a:avLst/>
            <a:gdLst>
              <a:gd name="T0" fmla="*/ 2147483647 w 280"/>
              <a:gd name="T1" fmla="*/ 0 h 48"/>
              <a:gd name="T2" fmla="*/ 2147483647 w 280"/>
              <a:gd name="T3" fmla="*/ 2147483647 h 48"/>
              <a:gd name="T4" fmla="*/ 0 w 280"/>
              <a:gd name="T5" fmla="*/ 2147483647 h 48"/>
              <a:gd name="T6" fmla="*/ 2147483647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16" name="Freeform 156"/>
          <p:cNvSpPr>
            <a:spLocks/>
          </p:cNvSpPr>
          <p:nvPr/>
        </p:nvSpPr>
        <p:spPr bwMode="auto">
          <a:xfrm flipH="1">
            <a:off x="669925" y="3419475"/>
            <a:ext cx="39688" cy="15875"/>
          </a:xfrm>
          <a:custGeom>
            <a:avLst/>
            <a:gdLst>
              <a:gd name="T0" fmla="*/ 2147483647 w 170"/>
              <a:gd name="T1" fmla="*/ 0 h 57"/>
              <a:gd name="T2" fmla="*/ 2147483647 w 170"/>
              <a:gd name="T3" fmla="*/ 2147483647 h 57"/>
              <a:gd name="T4" fmla="*/ 0 w 170"/>
              <a:gd name="T5" fmla="*/ 2147483647 h 57"/>
              <a:gd name="T6" fmla="*/ 2147483647 w 170"/>
              <a:gd name="T7" fmla="*/ 2147483647 h 57"/>
              <a:gd name="T8" fmla="*/ 2147483647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17" name="Freeform 157"/>
          <p:cNvSpPr>
            <a:spLocks/>
          </p:cNvSpPr>
          <p:nvPr/>
        </p:nvSpPr>
        <p:spPr bwMode="auto">
          <a:xfrm flipH="1">
            <a:off x="836613" y="3405188"/>
            <a:ext cx="61912" cy="42862"/>
          </a:xfrm>
          <a:custGeom>
            <a:avLst/>
            <a:gdLst>
              <a:gd name="T0" fmla="*/ 2147483647 w 263"/>
              <a:gd name="T1" fmla="*/ 0 h 143"/>
              <a:gd name="T2" fmla="*/ 2147483647 w 263"/>
              <a:gd name="T3" fmla="*/ 2147483647 h 143"/>
              <a:gd name="T4" fmla="*/ 2147483647 w 263"/>
              <a:gd name="T5" fmla="*/ 2147483647 h 143"/>
              <a:gd name="T6" fmla="*/ 2147483647 w 263"/>
              <a:gd name="T7" fmla="*/ 2147483647 h 143"/>
              <a:gd name="T8" fmla="*/ 2147483647 w 263"/>
              <a:gd name="T9" fmla="*/ 2147483647 h 143"/>
              <a:gd name="T10" fmla="*/ 0 w 263"/>
              <a:gd name="T11" fmla="*/ 2147483647 h 143"/>
              <a:gd name="T12" fmla="*/ 2147483647 w 263"/>
              <a:gd name="T13" fmla="*/ 2147483647 h 143"/>
              <a:gd name="T14" fmla="*/ 2147483647 w 263"/>
              <a:gd name="T15" fmla="*/ 2147483647 h 143"/>
              <a:gd name="T16" fmla="*/ 2147483647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18" name="Freeform 158"/>
          <p:cNvSpPr>
            <a:spLocks/>
          </p:cNvSpPr>
          <p:nvPr/>
        </p:nvSpPr>
        <p:spPr bwMode="auto">
          <a:xfrm flipH="1">
            <a:off x="898525" y="3497263"/>
            <a:ext cx="201613" cy="58737"/>
          </a:xfrm>
          <a:custGeom>
            <a:avLst/>
            <a:gdLst>
              <a:gd name="T0" fmla="*/ 2147483647 w 853"/>
              <a:gd name="T1" fmla="*/ 0 h 212"/>
              <a:gd name="T2" fmla="*/ 2147483647 w 853"/>
              <a:gd name="T3" fmla="*/ 2147483647 h 212"/>
              <a:gd name="T4" fmla="*/ 2147483647 w 853"/>
              <a:gd name="T5" fmla="*/ 2147483647 h 212"/>
              <a:gd name="T6" fmla="*/ 2147483647 w 853"/>
              <a:gd name="T7" fmla="*/ 2147483647 h 212"/>
              <a:gd name="T8" fmla="*/ 2147483647 w 853"/>
              <a:gd name="T9" fmla="*/ 2147483647 h 212"/>
              <a:gd name="T10" fmla="*/ 2147483647 w 853"/>
              <a:gd name="T11" fmla="*/ 2147483647 h 212"/>
              <a:gd name="T12" fmla="*/ 0 w 853"/>
              <a:gd name="T13" fmla="*/ 2147483647 h 212"/>
              <a:gd name="T14" fmla="*/ 2147483647 w 853"/>
              <a:gd name="T15" fmla="*/ 2147483647 h 212"/>
              <a:gd name="T16" fmla="*/ 2147483647 w 853"/>
              <a:gd name="T17" fmla="*/ 2147483647 h 212"/>
              <a:gd name="T18" fmla="*/ 2147483647 w 853"/>
              <a:gd name="T19" fmla="*/ 2147483647 h 212"/>
              <a:gd name="T20" fmla="*/ 2147483647 w 853"/>
              <a:gd name="T21" fmla="*/ 2147483647 h 212"/>
              <a:gd name="T22" fmla="*/ 2147483647 w 853"/>
              <a:gd name="T23" fmla="*/ 2147483647 h 212"/>
              <a:gd name="T24" fmla="*/ 2147483647 w 853"/>
              <a:gd name="T25" fmla="*/ 2147483647 h 212"/>
              <a:gd name="T26" fmla="*/ 2147483647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19" name="Freeform 159"/>
          <p:cNvSpPr>
            <a:spLocks/>
          </p:cNvSpPr>
          <p:nvPr/>
        </p:nvSpPr>
        <p:spPr bwMode="auto">
          <a:xfrm flipH="1">
            <a:off x="892175" y="3051175"/>
            <a:ext cx="174625" cy="106363"/>
          </a:xfrm>
          <a:custGeom>
            <a:avLst/>
            <a:gdLst>
              <a:gd name="T0" fmla="*/ 2147483647 w 751"/>
              <a:gd name="T1" fmla="*/ 2147483647 h 379"/>
              <a:gd name="T2" fmla="*/ 2147483647 w 751"/>
              <a:gd name="T3" fmla="*/ 2147483647 h 379"/>
              <a:gd name="T4" fmla="*/ 2147483647 w 751"/>
              <a:gd name="T5" fmla="*/ 2147483647 h 379"/>
              <a:gd name="T6" fmla="*/ 2147483647 w 751"/>
              <a:gd name="T7" fmla="*/ 2147483647 h 379"/>
              <a:gd name="T8" fmla="*/ 2147483647 w 751"/>
              <a:gd name="T9" fmla="*/ 2147483647 h 379"/>
              <a:gd name="T10" fmla="*/ 2147483647 w 751"/>
              <a:gd name="T11" fmla="*/ 2147483647 h 379"/>
              <a:gd name="T12" fmla="*/ 2147483647 w 751"/>
              <a:gd name="T13" fmla="*/ 2147483647 h 379"/>
              <a:gd name="T14" fmla="*/ 2147483647 w 751"/>
              <a:gd name="T15" fmla="*/ 2147483647 h 379"/>
              <a:gd name="T16" fmla="*/ 2147483647 w 751"/>
              <a:gd name="T17" fmla="*/ 2147483647 h 379"/>
              <a:gd name="T18" fmla="*/ 2147483647 w 751"/>
              <a:gd name="T19" fmla="*/ 2147483647 h 379"/>
              <a:gd name="T20" fmla="*/ 2147483647 w 751"/>
              <a:gd name="T21" fmla="*/ 2147483647 h 379"/>
              <a:gd name="T22" fmla="*/ 2147483647 w 751"/>
              <a:gd name="T23" fmla="*/ 2147483647 h 379"/>
              <a:gd name="T24" fmla="*/ 2147483647 w 751"/>
              <a:gd name="T25" fmla="*/ 2147483647 h 379"/>
              <a:gd name="T26" fmla="*/ 2147483647 w 751"/>
              <a:gd name="T27" fmla="*/ 2147483647 h 379"/>
              <a:gd name="T28" fmla="*/ 2147483647 w 751"/>
              <a:gd name="T29" fmla="*/ 2147483647 h 379"/>
              <a:gd name="T30" fmla="*/ 2147483647 w 751"/>
              <a:gd name="T31" fmla="*/ 2147483647 h 379"/>
              <a:gd name="T32" fmla="*/ 2147483647 w 751"/>
              <a:gd name="T33" fmla="*/ 2147483647 h 379"/>
              <a:gd name="T34" fmla="*/ 2147483647 w 751"/>
              <a:gd name="T35" fmla="*/ 2147483647 h 379"/>
              <a:gd name="T36" fmla="*/ 2147483647 w 751"/>
              <a:gd name="T37" fmla="*/ 2147483647 h 379"/>
              <a:gd name="T38" fmla="*/ 2147483647 w 751"/>
              <a:gd name="T39" fmla="*/ 2147483647 h 379"/>
              <a:gd name="T40" fmla="*/ 2147483647 w 751"/>
              <a:gd name="T41" fmla="*/ 2147483647 h 379"/>
              <a:gd name="T42" fmla="*/ 2147483647 w 751"/>
              <a:gd name="T43" fmla="*/ 2147483647 h 379"/>
              <a:gd name="T44" fmla="*/ 2147483647 w 751"/>
              <a:gd name="T45" fmla="*/ 2147483647 h 379"/>
              <a:gd name="T46" fmla="*/ 2147483647 w 751"/>
              <a:gd name="T47" fmla="*/ 2147483647 h 379"/>
              <a:gd name="T48" fmla="*/ 2147483647 w 751"/>
              <a:gd name="T49" fmla="*/ 2147483647 h 379"/>
              <a:gd name="T50" fmla="*/ 2147483647 w 751"/>
              <a:gd name="T51" fmla="*/ 2147483647 h 379"/>
              <a:gd name="T52" fmla="*/ 2147483647 w 751"/>
              <a:gd name="T53" fmla="*/ 2147483647 h 379"/>
              <a:gd name="T54" fmla="*/ 2147483647 w 751"/>
              <a:gd name="T55" fmla="*/ 2147483647 h 379"/>
              <a:gd name="T56" fmla="*/ 2147483647 w 751"/>
              <a:gd name="T57" fmla="*/ 2147483647 h 379"/>
              <a:gd name="T58" fmla="*/ 2147483647 w 751"/>
              <a:gd name="T59" fmla="*/ 2147483647 h 379"/>
              <a:gd name="T60" fmla="*/ 2147483647 w 751"/>
              <a:gd name="T61" fmla="*/ 2147483647 h 379"/>
              <a:gd name="T62" fmla="*/ 2147483647 w 751"/>
              <a:gd name="T63" fmla="*/ 2147483647 h 379"/>
              <a:gd name="T64" fmla="*/ 0 w 751"/>
              <a:gd name="T65" fmla="*/ 2147483647 h 379"/>
              <a:gd name="T66" fmla="*/ 2147483647 w 751"/>
              <a:gd name="T67" fmla="*/ 2147483647 h 379"/>
              <a:gd name="T68" fmla="*/ 2147483647 w 751"/>
              <a:gd name="T69" fmla="*/ 2147483647 h 379"/>
              <a:gd name="T70" fmla="*/ 2147483647 w 751"/>
              <a:gd name="T71" fmla="*/ 2147483647 h 379"/>
              <a:gd name="T72" fmla="*/ 2147483647 w 751"/>
              <a:gd name="T73" fmla="*/ 2147483647 h 379"/>
              <a:gd name="T74" fmla="*/ 2147483647 w 751"/>
              <a:gd name="T75" fmla="*/ 2147483647 h 379"/>
              <a:gd name="T76" fmla="*/ 2147483647 w 751"/>
              <a:gd name="T77" fmla="*/ 2147483647 h 379"/>
              <a:gd name="T78" fmla="*/ 2147483647 w 751"/>
              <a:gd name="T79" fmla="*/ 2147483647 h 379"/>
              <a:gd name="T80" fmla="*/ 2147483647 w 751"/>
              <a:gd name="T81" fmla="*/ 2147483647 h 379"/>
              <a:gd name="T82" fmla="*/ 2147483647 w 751"/>
              <a:gd name="T83" fmla="*/ 2147483647 h 379"/>
              <a:gd name="T84" fmla="*/ 2147483647 w 751"/>
              <a:gd name="T85" fmla="*/ 0 h 379"/>
              <a:gd name="T86" fmla="*/ 2147483647 w 751"/>
              <a:gd name="T87" fmla="*/ 2147483647 h 379"/>
              <a:gd name="T88" fmla="*/ 2147483647 w 751"/>
              <a:gd name="T89" fmla="*/ 2147483647 h 379"/>
              <a:gd name="T90" fmla="*/ 2147483647 w 751"/>
              <a:gd name="T91" fmla="*/ 2147483647 h 379"/>
              <a:gd name="T92" fmla="*/ 2147483647 w 751"/>
              <a:gd name="T93" fmla="*/ 2147483647 h 379"/>
              <a:gd name="T94" fmla="*/ 2147483647 w 751"/>
              <a:gd name="T95" fmla="*/ 2147483647 h 379"/>
              <a:gd name="T96" fmla="*/ 2147483647 w 751"/>
              <a:gd name="T97" fmla="*/ 2147483647 h 379"/>
              <a:gd name="T98" fmla="*/ 2147483647 w 751"/>
              <a:gd name="T99" fmla="*/ 2147483647 h 379"/>
              <a:gd name="T100" fmla="*/ 2147483647 w 751"/>
              <a:gd name="T101" fmla="*/ 2147483647 h 379"/>
              <a:gd name="T102" fmla="*/ 2147483647 w 751"/>
              <a:gd name="T103" fmla="*/ 2147483647 h 379"/>
              <a:gd name="T104" fmla="*/ 2147483647 w 751"/>
              <a:gd name="T105" fmla="*/ 2147483647 h 379"/>
              <a:gd name="T106" fmla="*/ 2147483647 w 751"/>
              <a:gd name="T107" fmla="*/ 2147483647 h 379"/>
              <a:gd name="T108" fmla="*/ 2147483647 w 751"/>
              <a:gd name="T109" fmla="*/ 2147483647 h 379"/>
              <a:gd name="T110" fmla="*/ 2147483647 w 751"/>
              <a:gd name="T111" fmla="*/ 2147483647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420" name="Freeform 160"/>
          <p:cNvSpPr>
            <a:spLocks/>
          </p:cNvSpPr>
          <p:nvPr/>
        </p:nvSpPr>
        <p:spPr bwMode="auto">
          <a:xfrm flipH="1">
            <a:off x="957263" y="3100388"/>
            <a:ext cx="42862" cy="11112"/>
          </a:xfrm>
          <a:custGeom>
            <a:avLst/>
            <a:gdLst>
              <a:gd name="T0" fmla="*/ 0 w 179"/>
              <a:gd name="T1" fmla="*/ 0 h 43"/>
              <a:gd name="T2" fmla="*/ 2147483647 w 179"/>
              <a:gd name="T3" fmla="*/ 2147483647 h 43"/>
              <a:gd name="T4" fmla="*/ 2147483647 w 179"/>
              <a:gd name="T5" fmla="*/ 2147483647 h 43"/>
              <a:gd name="T6" fmla="*/ 2147483647 w 179"/>
              <a:gd name="T7" fmla="*/ 2147483647 h 43"/>
              <a:gd name="T8" fmla="*/ 2147483647 w 179"/>
              <a:gd name="T9" fmla="*/ 2147483647 h 43"/>
              <a:gd name="T10" fmla="*/ 2147483647 w 179"/>
              <a:gd name="T11" fmla="*/ 2147483647 h 43"/>
              <a:gd name="T12" fmla="*/ 2147483647 w 179"/>
              <a:gd name="T13" fmla="*/ 2147483647 h 43"/>
              <a:gd name="T14" fmla="*/ 2147483647 w 179"/>
              <a:gd name="T15" fmla="*/ 2147483647 h 43"/>
              <a:gd name="T16" fmla="*/ 2147483647 w 179"/>
              <a:gd name="T17" fmla="*/ 2147483647 h 43"/>
              <a:gd name="T18" fmla="*/ 2147483647 w 179"/>
              <a:gd name="T19" fmla="*/ 2147483647 h 43"/>
              <a:gd name="T20" fmla="*/ 2147483647 w 179"/>
              <a:gd name="T21" fmla="*/ 2147483647 h 43"/>
              <a:gd name="T22" fmla="*/ 2147483647 w 179"/>
              <a:gd name="T23" fmla="*/ 2147483647 h 43"/>
              <a:gd name="T24" fmla="*/ 2147483647 w 179"/>
              <a:gd name="T25" fmla="*/ 2147483647 h 43"/>
              <a:gd name="T26" fmla="*/ 2147483647 w 179"/>
              <a:gd name="T27" fmla="*/ 2147483647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1" name="Freeform 161"/>
          <p:cNvSpPr>
            <a:spLocks/>
          </p:cNvSpPr>
          <p:nvPr/>
        </p:nvSpPr>
        <p:spPr bwMode="auto">
          <a:xfrm flipH="1">
            <a:off x="1009650" y="3109913"/>
            <a:ext cx="6350" cy="7937"/>
          </a:xfrm>
          <a:custGeom>
            <a:avLst/>
            <a:gdLst>
              <a:gd name="T0" fmla="*/ 2147483647 w 20"/>
              <a:gd name="T1" fmla="*/ 0 h 24"/>
              <a:gd name="T2" fmla="*/ 2147483647 w 20"/>
              <a:gd name="T3" fmla="*/ 2147483647 h 24"/>
              <a:gd name="T4" fmla="*/ 2147483647 w 20"/>
              <a:gd name="T5" fmla="*/ 2147483647 h 24"/>
              <a:gd name="T6" fmla="*/ 0 w 20"/>
              <a:gd name="T7" fmla="*/ 2147483647 h 24"/>
              <a:gd name="T8" fmla="*/ 2147483647 w 20"/>
              <a:gd name="T9" fmla="*/ 2147483647 h 24"/>
              <a:gd name="T10" fmla="*/ 2147483647 w 20"/>
              <a:gd name="T11" fmla="*/ 2147483647 h 24"/>
              <a:gd name="T12" fmla="*/ 2147483647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2" name="Freeform 162"/>
          <p:cNvSpPr>
            <a:spLocks/>
          </p:cNvSpPr>
          <p:nvPr/>
        </p:nvSpPr>
        <p:spPr bwMode="auto">
          <a:xfrm flipH="1">
            <a:off x="1035050" y="3068638"/>
            <a:ext cx="25400" cy="11112"/>
          </a:xfrm>
          <a:custGeom>
            <a:avLst/>
            <a:gdLst>
              <a:gd name="T0" fmla="*/ 0 w 104"/>
              <a:gd name="T1" fmla="*/ 2147483647 h 48"/>
              <a:gd name="T2" fmla="*/ 2147483647 w 104"/>
              <a:gd name="T3" fmla="*/ 2147483647 h 48"/>
              <a:gd name="T4" fmla="*/ 2147483647 w 104"/>
              <a:gd name="T5" fmla="*/ 2147483647 h 48"/>
              <a:gd name="T6" fmla="*/ 2147483647 w 104"/>
              <a:gd name="T7" fmla="*/ 2147483647 h 48"/>
              <a:gd name="T8" fmla="*/ 2147483647 w 104"/>
              <a:gd name="T9" fmla="*/ 2147483647 h 48"/>
              <a:gd name="T10" fmla="*/ 2147483647 w 104"/>
              <a:gd name="T11" fmla="*/ 2147483647 h 48"/>
              <a:gd name="T12" fmla="*/ 2147483647 w 104"/>
              <a:gd name="T13" fmla="*/ 2147483647 h 48"/>
              <a:gd name="T14" fmla="*/ 2147483647 w 104"/>
              <a:gd name="T15" fmla="*/ 2147483647 h 48"/>
              <a:gd name="T16" fmla="*/ 2147483647 w 104"/>
              <a:gd name="T17" fmla="*/ 0 h 48"/>
              <a:gd name="T18" fmla="*/ 2147483647 w 104"/>
              <a:gd name="T19" fmla="*/ 2147483647 h 48"/>
              <a:gd name="T20" fmla="*/ 2147483647 w 104"/>
              <a:gd name="T21" fmla="*/ 2147483647 h 48"/>
              <a:gd name="T22" fmla="*/ 2147483647 w 104"/>
              <a:gd name="T23" fmla="*/ 2147483647 h 48"/>
              <a:gd name="T24" fmla="*/ 0 w 104"/>
              <a:gd name="T25" fmla="*/ 21474836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3" name="Freeform 163"/>
          <p:cNvSpPr>
            <a:spLocks/>
          </p:cNvSpPr>
          <p:nvPr/>
        </p:nvSpPr>
        <p:spPr bwMode="auto">
          <a:xfrm flipH="1">
            <a:off x="984250" y="3063875"/>
            <a:ext cx="38100" cy="9525"/>
          </a:xfrm>
          <a:custGeom>
            <a:avLst/>
            <a:gdLst>
              <a:gd name="T0" fmla="*/ 0 w 166"/>
              <a:gd name="T1" fmla="*/ 2147483647 h 42"/>
              <a:gd name="T2" fmla="*/ 2147483647 w 166"/>
              <a:gd name="T3" fmla="*/ 2147483647 h 42"/>
              <a:gd name="T4" fmla="*/ 2147483647 w 166"/>
              <a:gd name="T5" fmla="*/ 0 h 42"/>
              <a:gd name="T6" fmla="*/ 2147483647 w 166"/>
              <a:gd name="T7" fmla="*/ 0 h 42"/>
              <a:gd name="T8" fmla="*/ 2147483647 w 166"/>
              <a:gd name="T9" fmla="*/ 2147483647 h 42"/>
              <a:gd name="T10" fmla="*/ 2147483647 w 166"/>
              <a:gd name="T11" fmla="*/ 2147483647 h 42"/>
              <a:gd name="T12" fmla="*/ 2147483647 w 166"/>
              <a:gd name="T13" fmla="*/ 2147483647 h 42"/>
              <a:gd name="T14" fmla="*/ 2147483647 w 166"/>
              <a:gd name="T15" fmla="*/ 2147483647 h 42"/>
              <a:gd name="T16" fmla="*/ 2147483647 w 166"/>
              <a:gd name="T17" fmla="*/ 2147483647 h 42"/>
              <a:gd name="T18" fmla="*/ 2147483647 w 166"/>
              <a:gd name="T19" fmla="*/ 2147483647 h 42"/>
              <a:gd name="T20" fmla="*/ 2147483647 w 166"/>
              <a:gd name="T21" fmla="*/ 2147483647 h 42"/>
              <a:gd name="T22" fmla="*/ 2147483647 w 166"/>
              <a:gd name="T23" fmla="*/ 2147483647 h 42"/>
              <a:gd name="T24" fmla="*/ 2147483647 w 166"/>
              <a:gd name="T25" fmla="*/ 2147483647 h 42"/>
              <a:gd name="T26" fmla="*/ 2147483647 w 166"/>
              <a:gd name="T27" fmla="*/ 2147483647 h 42"/>
              <a:gd name="T28" fmla="*/ 2147483647 w 166"/>
              <a:gd name="T29" fmla="*/ 2147483647 h 42"/>
              <a:gd name="T30" fmla="*/ 0 w 166"/>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4" name="Freeform 164"/>
          <p:cNvSpPr>
            <a:spLocks/>
          </p:cNvSpPr>
          <p:nvPr/>
        </p:nvSpPr>
        <p:spPr bwMode="auto">
          <a:xfrm flipH="1">
            <a:off x="1046163" y="3076575"/>
            <a:ext cx="6350" cy="6350"/>
          </a:xfrm>
          <a:custGeom>
            <a:avLst/>
            <a:gdLst>
              <a:gd name="T0" fmla="*/ 2147483647 w 33"/>
              <a:gd name="T1" fmla="*/ 0 h 30"/>
              <a:gd name="T2" fmla="*/ 2147483647 w 33"/>
              <a:gd name="T3" fmla="*/ 2147483647 h 30"/>
              <a:gd name="T4" fmla="*/ 2147483647 w 33"/>
              <a:gd name="T5" fmla="*/ 2147483647 h 30"/>
              <a:gd name="T6" fmla="*/ 0 w 33"/>
              <a:gd name="T7" fmla="*/ 2147483647 h 30"/>
              <a:gd name="T8" fmla="*/ 2147483647 w 33"/>
              <a:gd name="T9" fmla="*/ 2147483647 h 30"/>
              <a:gd name="T10" fmla="*/ 2147483647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5" name="Freeform 165"/>
          <p:cNvSpPr>
            <a:spLocks/>
          </p:cNvSpPr>
          <p:nvPr/>
        </p:nvSpPr>
        <p:spPr bwMode="auto">
          <a:xfrm flipH="1">
            <a:off x="1052513" y="3068638"/>
            <a:ext cx="9525" cy="7937"/>
          </a:xfrm>
          <a:custGeom>
            <a:avLst/>
            <a:gdLst>
              <a:gd name="T0" fmla="*/ 2147483647 w 33"/>
              <a:gd name="T1" fmla="*/ 2147483647 h 28"/>
              <a:gd name="T2" fmla="*/ 2147483647 w 33"/>
              <a:gd name="T3" fmla="*/ 0 h 28"/>
              <a:gd name="T4" fmla="*/ 2147483647 w 33"/>
              <a:gd name="T5" fmla="*/ 2147483647 h 28"/>
              <a:gd name="T6" fmla="*/ 0 w 33"/>
              <a:gd name="T7" fmla="*/ 2147483647 h 28"/>
              <a:gd name="T8" fmla="*/ 2147483647 w 33"/>
              <a:gd name="T9" fmla="*/ 2147483647 h 28"/>
              <a:gd name="T10" fmla="*/ 2147483647 w 33"/>
              <a:gd name="T11" fmla="*/ 2147483647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6" name="Freeform 166"/>
          <p:cNvSpPr>
            <a:spLocks/>
          </p:cNvSpPr>
          <p:nvPr/>
        </p:nvSpPr>
        <p:spPr bwMode="auto">
          <a:xfrm flipH="1">
            <a:off x="955675" y="3078163"/>
            <a:ext cx="7938" cy="12700"/>
          </a:xfrm>
          <a:custGeom>
            <a:avLst/>
            <a:gdLst>
              <a:gd name="T0" fmla="*/ 0 w 37"/>
              <a:gd name="T1" fmla="*/ 0 h 42"/>
              <a:gd name="T2" fmla="*/ 2147483647 w 37"/>
              <a:gd name="T3" fmla="*/ 2147483647 h 42"/>
              <a:gd name="T4" fmla="*/ 2147483647 w 37"/>
              <a:gd name="T5" fmla="*/ 2147483647 h 42"/>
              <a:gd name="T6" fmla="*/ 2147483647 w 37"/>
              <a:gd name="T7" fmla="*/ 2147483647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7" name="Freeform 167"/>
          <p:cNvSpPr>
            <a:spLocks/>
          </p:cNvSpPr>
          <p:nvPr/>
        </p:nvSpPr>
        <p:spPr bwMode="auto">
          <a:xfrm flipH="1">
            <a:off x="922338" y="3132138"/>
            <a:ext cx="12700" cy="7937"/>
          </a:xfrm>
          <a:custGeom>
            <a:avLst/>
            <a:gdLst>
              <a:gd name="T0" fmla="*/ 2147483647 w 50"/>
              <a:gd name="T1" fmla="*/ 0 h 39"/>
              <a:gd name="T2" fmla="*/ 2147483647 w 50"/>
              <a:gd name="T3" fmla="*/ 2147483647 h 39"/>
              <a:gd name="T4" fmla="*/ 0 w 50"/>
              <a:gd name="T5" fmla="*/ 2147483647 h 39"/>
              <a:gd name="T6" fmla="*/ 2147483647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28" name="Freeform 168"/>
          <p:cNvSpPr>
            <a:spLocks/>
          </p:cNvSpPr>
          <p:nvPr/>
        </p:nvSpPr>
        <p:spPr bwMode="auto">
          <a:xfrm flipH="1">
            <a:off x="863600" y="3109913"/>
            <a:ext cx="53975" cy="74612"/>
          </a:xfrm>
          <a:custGeom>
            <a:avLst/>
            <a:gdLst>
              <a:gd name="T0" fmla="*/ 2147483647 w 219"/>
              <a:gd name="T1" fmla="*/ 2147483647 h 267"/>
              <a:gd name="T2" fmla="*/ 2147483647 w 219"/>
              <a:gd name="T3" fmla="*/ 2147483647 h 267"/>
              <a:gd name="T4" fmla="*/ 2147483647 w 219"/>
              <a:gd name="T5" fmla="*/ 2147483647 h 267"/>
              <a:gd name="T6" fmla="*/ 2147483647 w 219"/>
              <a:gd name="T7" fmla="*/ 2147483647 h 267"/>
              <a:gd name="T8" fmla="*/ 2147483647 w 219"/>
              <a:gd name="T9" fmla="*/ 2147483647 h 267"/>
              <a:gd name="T10" fmla="*/ 0 w 219"/>
              <a:gd name="T11" fmla="*/ 2147483647 h 267"/>
              <a:gd name="T12" fmla="*/ 2147483647 w 219"/>
              <a:gd name="T13" fmla="*/ 2147483647 h 267"/>
              <a:gd name="T14" fmla="*/ 2147483647 w 219"/>
              <a:gd name="T15" fmla="*/ 0 h 267"/>
              <a:gd name="T16" fmla="*/ 2147483647 w 219"/>
              <a:gd name="T17" fmla="*/ 2147483647 h 267"/>
              <a:gd name="T18" fmla="*/ 2147483647 w 219"/>
              <a:gd name="T19" fmla="*/ 2147483647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429" name="Freeform 169"/>
          <p:cNvSpPr>
            <a:spLocks/>
          </p:cNvSpPr>
          <p:nvPr/>
        </p:nvSpPr>
        <p:spPr bwMode="auto">
          <a:xfrm flipH="1">
            <a:off x="871538" y="3117850"/>
            <a:ext cx="39687" cy="60325"/>
          </a:xfrm>
          <a:custGeom>
            <a:avLst/>
            <a:gdLst>
              <a:gd name="T0" fmla="*/ 2147483647 w 175"/>
              <a:gd name="T1" fmla="*/ 2147483647 h 220"/>
              <a:gd name="T2" fmla="*/ 2147483647 w 175"/>
              <a:gd name="T3" fmla="*/ 2147483647 h 220"/>
              <a:gd name="T4" fmla="*/ 2147483647 w 175"/>
              <a:gd name="T5" fmla="*/ 2147483647 h 220"/>
              <a:gd name="T6" fmla="*/ 2147483647 w 175"/>
              <a:gd name="T7" fmla="*/ 2147483647 h 220"/>
              <a:gd name="T8" fmla="*/ 0 w 175"/>
              <a:gd name="T9" fmla="*/ 2147483647 h 220"/>
              <a:gd name="T10" fmla="*/ 2147483647 w 175"/>
              <a:gd name="T11" fmla="*/ 2147483647 h 220"/>
              <a:gd name="T12" fmla="*/ 2147483647 w 175"/>
              <a:gd name="T13" fmla="*/ 0 h 220"/>
              <a:gd name="T14" fmla="*/ 2147483647 w 175"/>
              <a:gd name="T15" fmla="*/ 2147483647 h 220"/>
              <a:gd name="T16" fmla="*/ 2147483647 w 175"/>
              <a:gd name="T17" fmla="*/ 2147483647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0" name="Freeform 170"/>
          <p:cNvSpPr>
            <a:spLocks/>
          </p:cNvSpPr>
          <p:nvPr/>
        </p:nvSpPr>
        <p:spPr bwMode="auto">
          <a:xfrm flipH="1">
            <a:off x="696913" y="2703513"/>
            <a:ext cx="174625" cy="225425"/>
          </a:xfrm>
          <a:custGeom>
            <a:avLst/>
            <a:gdLst>
              <a:gd name="T0" fmla="*/ 2147483647 w 741"/>
              <a:gd name="T1" fmla="*/ 2147483647 h 807"/>
              <a:gd name="T2" fmla="*/ 2147483647 w 741"/>
              <a:gd name="T3" fmla="*/ 2147483647 h 807"/>
              <a:gd name="T4" fmla="*/ 2147483647 w 741"/>
              <a:gd name="T5" fmla="*/ 2147483647 h 807"/>
              <a:gd name="T6" fmla="*/ 2147483647 w 741"/>
              <a:gd name="T7" fmla="*/ 2147483647 h 807"/>
              <a:gd name="T8" fmla="*/ 2147483647 w 741"/>
              <a:gd name="T9" fmla="*/ 2147483647 h 807"/>
              <a:gd name="T10" fmla="*/ 2147483647 w 741"/>
              <a:gd name="T11" fmla="*/ 2147483647 h 807"/>
              <a:gd name="T12" fmla="*/ 2147483647 w 741"/>
              <a:gd name="T13" fmla="*/ 2147483647 h 807"/>
              <a:gd name="T14" fmla="*/ 2147483647 w 741"/>
              <a:gd name="T15" fmla="*/ 2147483647 h 807"/>
              <a:gd name="T16" fmla="*/ 2147483647 w 741"/>
              <a:gd name="T17" fmla="*/ 2147483647 h 807"/>
              <a:gd name="T18" fmla="*/ 0 w 741"/>
              <a:gd name="T19" fmla="*/ 2147483647 h 807"/>
              <a:gd name="T20" fmla="*/ 0 w 741"/>
              <a:gd name="T21" fmla="*/ 2147483647 h 807"/>
              <a:gd name="T22" fmla="*/ 2147483647 w 741"/>
              <a:gd name="T23" fmla="*/ 2147483647 h 807"/>
              <a:gd name="T24" fmla="*/ 2147483647 w 741"/>
              <a:gd name="T25" fmla="*/ 2147483647 h 807"/>
              <a:gd name="T26" fmla="*/ 2147483647 w 741"/>
              <a:gd name="T27" fmla="*/ 2147483647 h 807"/>
              <a:gd name="T28" fmla="*/ 2147483647 w 741"/>
              <a:gd name="T29" fmla="*/ 2147483647 h 807"/>
              <a:gd name="T30" fmla="*/ 2147483647 w 741"/>
              <a:gd name="T31" fmla="*/ 2147483647 h 807"/>
              <a:gd name="T32" fmla="*/ 2147483647 w 741"/>
              <a:gd name="T33" fmla="*/ 2147483647 h 807"/>
              <a:gd name="T34" fmla="*/ 2147483647 w 741"/>
              <a:gd name="T35" fmla="*/ 2147483647 h 807"/>
              <a:gd name="T36" fmla="*/ 2147483647 w 741"/>
              <a:gd name="T37" fmla="*/ 2147483647 h 807"/>
              <a:gd name="T38" fmla="*/ 2147483647 w 741"/>
              <a:gd name="T39" fmla="*/ 2147483647 h 807"/>
              <a:gd name="T40" fmla="*/ 2147483647 w 741"/>
              <a:gd name="T41" fmla="*/ 2147483647 h 807"/>
              <a:gd name="T42" fmla="*/ 2147483647 w 741"/>
              <a:gd name="T43" fmla="*/ 2147483647 h 807"/>
              <a:gd name="T44" fmla="*/ 2147483647 w 741"/>
              <a:gd name="T45" fmla="*/ 2147483647 h 807"/>
              <a:gd name="T46" fmla="*/ 2147483647 w 741"/>
              <a:gd name="T47" fmla="*/ 2147483647 h 807"/>
              <a:gd name="T48" fmla="*/ 2147483647 w 741"/>
              <a:gd name="T49" fmla="*/ 2147483647 h 807"/>
              <a:gd name="T50" fmla="*/ 2147483647 w 741"/>
              <a:gd name="T51" fmla="*/ 2147483647 h 807"/>
              <a:gd name="T52" fmla="*/ 2147483647 w 741"/>
              <a:gd name="T53" fmla="*/ 2147483647 h 807"/>
              <a:gd name="T54" fmla="*/ 2147483647 w 741"/>
              <a:gd name="T55" fmla="*/ 2147483647 h 807"/>
              <a:gd name="T56" fmla="*/ 2147483647 w 741"/>
              <a:gd name="T57" fmla="*/ 2147483647 h 807"/>
              <a:gd name="T58" fmla="*/ 2147483647 w 741"/>
              <a:gd name="T59" fmla="*/ 2147483647 h 807"/>
              <a:gd name="T60" fmla="*/ 2147483647 w 741"/>
              <a:gd name="T61" fmla="*/ 2147483647 h 807"/>
              <a:gd name="T62" fmla="*/ 2147483647 w 741"/>
              <a:gd name="T63" fmla="*/ 2147483647 h 807"/>
              <a:gd name="T64" fmla="*/ 2147483647 w 741"/>
              <a:gd name="T65" fmla="*/ 2147483647 h 807"/>
              <a:gd name="T66" fmla="*/ 2147483647 w 741"/>
              <a:gd name="T67" fmla="*/ 0 h 807"/>
              <a:gd name="T68" fmla="*/ 2147483647 w 741"/>
              <a:gd name="T69" fmla="*/ 2147483647 h 807"/>
              <a:gd name="T70" fmla="*/ 2147483647 w 741"/>
              <a:gd name="T71" fmla="*/ 2147483647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431" name="Freeform 171"/>
          <p:cNvSpPr>
            <a:spLocks/>
          </p:cNvSpPr>
          <p:nvPr/>
        </p:nvSpPr>
        <p:spPr bwMode="auto">
          <a:xfrm flipH="1">
            <a:off x="852488" y="2840038"/>
            <a:ext cx="9525" cy="3175"/>
          </a:xfrm>
          <a:custGeom>
            <a:avLst/>
            <a:gdLst>
              <a:gd name="T0" fmla="*/ 0 w 42"/>
              <a:gd name="T1" fmla="*/ 2147483647 h 9"/>
              <a:gd name="T2" fmla="*/ 2147483647 w 42"/>
              <a:gd name="T3" fmla="*/ 2147483647 h 9"/>
              <a:gd name="T4" fmla="*/ 2147483647 w 42"/>
              <a:gd name="T5" fmla="*/ 2147483647 h 9"/>
              <a:gd name="T6" fmla="*/ 2147483647 w 42"/>
              <a:gd name="T7" fmla="*/ 2147483647 h 9"/>
              <a:gd name="T8" fmla="*/ 2147483647 w 42"/>
              <a:gd name="T9" fmla="*/ 2147483647 h 9"/>
              <a:gd name="T10" fmla="*/ 2147483647 w 42"/>
              <a:gd name="T11" fmla="*/ 0 h 9"/>
              <a:gd name="T12" fmla="*/ 0 w 42"/>
              <a:gd name="T13" fmla="*/ 2147483647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2" name="Freeform 172"/>
          <p:cNvSpPr>
            <a:spLocks/>
          </p:cNvSpPr>
          <p:nvPr/>
        </p:nvSpPr>
        <p:spPr bwMode="auto">
          <a:xfrm flipH="1">
            <a:off x="849313" y="2832100"/>
            <a:ext cx="3175" cy="7938"/>
          </a:xfrm>
          <a:custGeom>
            <a:avLst/>
            <a:gdLst>
              <a:gd name="T0" fmla="*/ 0 w 17"/>
              <a:gd name="T1" fmla="*/ 0 h 31"/>
              <a:gd name="T2" fmla="*/ 2147483647 w 17"/>
              <a:gd name="T3" fmla="*/ 2147483647 h 31"/>
              <a:gd name="T4" fmla="*/ 2147483647 w 17"/>
              <a:gd name="T5" fmla="*/ 2147483647 h 31"/>
              <a:gd name="T6" fmla="*/ 2147483647 w 17"/>
              <a:gd name="T7" fmla="*/ 2147483647 h 31"/>
              <a:gd name="T8" fmla="*/ 2147483647 w 17"/>
              <a:gd name="T9" fmla="*/ 2147483647 h 31"/>
              <a:gd name="T10" fmla="*/ 2147483647 w 17"/>
              <a:gd name="T11" fmla="*/ 2147483647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3" name="Freeform 173"/>
          <p:cNvSpPr>
            <a:spLocks/>
          </p:cNvSpPr>
          <p:nvPr/>
        </p:nvSpPr>
        <p:spPr bwMode="auto">
          <a:xfrm flipH="1">
            <a:off x="841375" y="2803525"/>
            <a:ext cx="4763" cy="15875"/>
          </a:xfrm>
          <a:custGeom>
            <a:avLst/>
            <a:gdLst>
              <a:gd name="T0" fmla="*/ 2147483647 w 19"/>
              <a:gd name="T1" fmla="*/ 0 h 60"/>
              <a:gd name="T2" fmla="*/ 2147483647 w 19"/>
              <a:gd name="T3" fmla="*/ 2147483647 h 60"/>
              <a:gd name="T4" fmla="*/ 0 w 19"/>
              <a:gd name="T5" fmla="*/ 2147483647 h 60"/>
              <a:gd name="T6" fmla="*/ 2147483647 w 19"/>
              <a:gd name="T7" fmla="*/ 2147483647 h 60"/>
              <a:gd name="T8" fmla="*/ 2147483647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4" name="Freeform 174"/>
          <p:cNvSpPr>
            <a:spLocks/>
          </p:cNvSpPr>
          <p:nvPr/>
        </p:nvSpPr>
        <p:spPr bwMode="auto">
          <a:xfrm flipH="1">
            <a:off x="825500" y="2787650"/>
            <a:ext cx="17463" cy="12700"/>
          </a:xfrm>
          <a:custGeom>
            <a:avLst/>
            <a:gdLst>
              <a:gd name="T0" fmla="*/ 0 w 80"/>
              <a:gd name="T1" fmla="*/ 0 h 51"/>
              <a:gd name="T2" fmla="*/ 2147483647 w 80"/>
              <a:gd name="T3" fmla="*/ 2147483647 h 51"/>
              <a:gd name="T4" fmla="*/ 2147483647 w 80"/>
              <a:gd name="T5" fmla="*/ 2147483647 h 51"/>
              <a:gd name="T6" fmla="*/ 2147483647 w 80"/>
              <a:gd name="T7" fmla="*/ 2147483647 h 51"/>
              <a:gd name="T8" fmla="*/ 2147483647 w 80"/>
              <a:gd name="T9" fmla="*/ 2147483647 h 51"/>
              <a:gd name="T10" fmla="*/ 2147483647 w 80"/>
              <a:gd name="T11" fmla="*/ 2147483647 h 51"/>
              <a:gd name="T12" fmla="*/ 2147483647 w 80"/>
              <a:gd name="T13" fmla="*/ 2147483647 h 51"/>
              <a:gd name="T14" fmla="*/ 2147483647 w 80"/>
              <a:gd name="T15" fmla="*/ 2147483647 h 51"/>
              <a:gd name="T16" fmla="*/ 2147483647 w 80"/>
              <a:gd name="T17" fmla="*/ 2147483647 h 51"/>
              <a:gd name="T18" fmla="*/ 2147483647 w 80"/>
              <a:gd name="T19" fmla="*/ 2147483647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5" name="Freeform 175"/>
          <p:cNvSpPr>
            <a:spLocks/>
          </p:cNvSpPr>
          <p:nvPr/>
        </p:nvSpPr>
        <p:spPr bwMode="auto">
          <a:xfrm flipH="1">
            <a:off x="815975" y="2767013"/>
            <a:ext cx="33338" cy="12700"/>
          </a:xfrm>
          <a:custGeom>
            <a:avLst/>
            <a:gdLst>
              <a:gd name="T0" fmla="*/ 0 w 135"/>
              <a:gd name="T1" fmla="*/ 2147483647 h 48"/>
              <a:gd name="T2" fmla="*/ 2147483647 w 135"/>
              <a:gd name="T3" fmla="*/ 2147483647 h 48"/>
              <a:gd name="T4" fmla="*/ 2147483647 w 135"/>
              <a:gd name="T5" fmla="*/ 2147483647 h 48"/>
              <a:gd name="T6" fmla="*/ 2147483647 w 135"/>
              <a:gd name="T7" fmla="*/ 2147483647 h 48"/>
              <a:gd name="T8" fmla="*/ 2147483647 w 135"/>
              <a:gd name="T9" fmla="*/ 2147483647 h 48"/>
              <a:gd name="T10" fmla="*/ 2147483647 w 135"/>
              <a:gd name="T11" fmla="*/ 2147483647 h 48"/>
              <a:gd name="T12" fmla="*/ 2147483647 w 135"/>
              <a:gd name="T13" fmla="*/ 2147483647 h 48"/>
              <a:gd name="T14" fmla="*/ 2147483647 w 135"/>
              <a:gd name="T15" fmla="*/ 2147483647 h 48"/>
              <a:gd name="T16" fmla="*/ 2147483647 w 135"/>
              <a:gd name="T17" fmla="*/ 2147483647 h 48"/>
              <a:gd name="T18" fmla="*/ 2147483647 w 135"/>
              <a:gd name="T19" fmla="*/ 0 h 48"/>
              <a:gd name="T20" fmla="*/ 2147483647 w 135"/>
              <a:gd name="T21" fmla="*/ 2147483647 h 48"/>
              <a:gd name="T22" fmla="*/ 2147483647 w 135"/>
              <a:gd name="T23" fmla="*/ 2147483647 h 48"/>
              <a:gd name="T24" fmla="*/ 2147483647 w 135"/>
              <a:gd name="T25" fmla="*/ 2147483647 h 48"/>
              <a:gd name="T26" fmla="*/ 2147483647 w 135"/>
              <a:gd name="T27" fmla="*/ 2147483647 h 48"/>
              <a:gd name="T28" fmla="*/ 0 w 135"/>
              <a:gd name="T29" fmla="*/ 2147483647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6" name="Freeform 176"/>
          <p:cNvSpPr>
            <a:spLocks/>
          </p:cNvSpPr>
          <p:nvPr/>
        </p:nvSpPr>
        <p:spPr bwMode="auto">
          <a:xfrm flipH="1">
            <a:off x="757238" y="2784475"/>
            <a:ext cx="19050" cy="42863"/>
          </a:xfrm>
          <a:custGeom>
            <a:avLst/>
            <a:gdLst>
              <a:gd name="T0" fmla="*/ 0 w 78"/>
              <a:gd name="T1" fmla="*/ 2147483647 h 159"/>
              <a:gd name="T2" fmla="*/ 2147483647 w 78"/>
              <a:gd name="T3" fmla="*/ 2147483647 h 159"/>
              <a:gd name="T4" fmla="*/ 2147483647 w 78"/>
              <a:gd name="T5" fmla="*/ 2147483647 h 159"/>
              <a:gd name="T6" fmla="*/ 2147483647 w 78"/>
              <a:gd name="T7" fmla="*/ 2147483647 h 159"/>
              <a:gd name="T8" fmla="*/ 2147483647 w 78"/>
              <a:gd name="T9" fmla="*/ 2147483647 h 159"/>
              <a:gd name="T10" fmla="*/ 2147483647 w 78"/>
              <a:gd name="T11" fmla="*/ 2147483647 h 159"/>
              <a:gd name="T12" fmla="*/ 2147483647 w 78"/>
              <a:gd name="T13" fmla="*/ 2147483647 h 159"/>
              <a:gd name="T14" fmla="*/ 2147483647 w 78"/>
              <a:gd name="T15" fmla="*/ 2147483647 h 159"/>
              <a:gd name="T16" fmla="*/ 2147483647 w 78"/>
              <a:gd name="T17" fmla="*/ 2147483647 h 159"/>
              <a:gd name="T18" fmla="*/ 2147483647 w 78"/>
              <a:gd name="T19" fmla="*/ 2147483647 h 159"/>
              <a:gd name="T20" fmla="*/ 2147483647 w 78"/>
              <a:gd name="T21" fmla="*/ 2147483647 h 159"/>
              <a:gd name="T22" fmla="*/ 2147483647 w 78"/>
              <a:gd name="T23" fmla="*/ 2147483647 h 159"/>
              <a:gd name="T24" fmla="*/ 2147483647 w 78"/>
              <a:gd name="T25" fmla="*/ 2147483647 h 159"/>
              <a:gd name="T26" fmla="*/ 2147483647 w 78"/>
              <a:gd name="T27" fmla="*/ 2147483647 h 159"/>
              <a:gd name="T28" fmla="*/ 2147483647 w 78"/>
              <a:gd name="T29" fmla="*/ 2147483647 h 159"/>
              <a:gd name="T30" fmla="*/ 2147483647 w 78"/>
              <a:gd name="T31" fmla="*/ 2147483647 h 159"/>
              <a:gd name="T32" fmla="*/ 2147483647 w 78"/>
              <a:gd name="T33" fmla="*/ 2147483647 h 159"/>
              <a:gd name="T34" fmla="*/ 2147483647 w 78"/>
              <a:gd name="T35" fmla="*/ 2147483647 h 159"/>
              <a:gd name="T36" fmla="*/ 2147483647 w 78"/>
              <a:gd name="T37" fmla="*/ 2147483647 h 159"/>
              <a:gd name="T38" fmla="*/ 2147483647 w 78"/>
              <a:gd name="T39" fmla="*/ 2147483647 h 159"/>
              <a:gd name="T40" fmla="*/ 2147483647 w 78"/>
              <a:gd name="T41" fmla="*/ 0 h 159"/>
              <a:gd name="T42" fmla="*/ 2147483647 w 78"/>
              <a:gd name="T43" fmla="*/ 2147483647 h 159"/>
              <a:gd name="T44" fmla="*/ 0 w 78"/>
              <a:gd name="T45" fmla="*/ 2147483647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7" name="Freeform 177"/>
          <p:cNvSpPr>
            <a:spLocks/>
          </p:cNvSpPr>
          <p:nvPr/>
        </p:nvSpPr>
        <p:spPr bwMode="auto">
          <a:xfrm flipH="1">
            <a:off x="750888" y="2776538"/>
            <a:ext cx="30162" cy="60325"/>
          </a:xfrm>
          <a:custGeom>
            <a:avLst/>
            <a:gdLst>
              <a:gd name="T0" fmla="*/ 0 w 129"/>
              <a:gd name="T1" fmla="*/ 2147483647 h 215"/>
              <a:gd name="T2" fmla="*/ 2147483647 w 129"/>
              <a:gd name="T3" fmla="*/ 2147483647 h 215"/>
              <a:gd name="T4" fmla="*/ 2147483647 w 129"/>
              <a:gd name="T5" fmla="*/ 2147483647 h 215"/>
              <a:gd name="T6" fmla="*/ 2147483647 w 129"/>
              <a:gd name="T7" fmla="*/ 2147483647 h 215"/>
              <a:gd name="T8" fmla="*/ 2147483647 w 129"/>
              <a:gd name="T9" fmla="*/ 2147483647 h 215"/>
              <a:gd name="T10" fmla="*/ 2147483647 w 129"/>
              <a:gd name="T11" fmla="*/ 2147483647 h 215"/>
              <a:gd name="T12" fmla="*/ 2147483647 w 129"/>
              <a:gd name="T13" fmla="*/ 2147483647 h 215"/>
              <a:gd name="T14" fmla="*/ 2147483647 w 129"/>
              <a:gd name="T15" fmla="*/ 2147483647 h 215"/>
              <a:gd name="T16" fmla="*/ 2147483647 w 129"/>
              <a:gd name="T17" fmla="*/ 2147483647 h 215"/>
              <a:gd name="T18" fmla="*/ 2147483647 w 129"/>
              <a:gd name="T19" fmla="*/ 2147483647 h 215"/>
              <a:gd name="T20" fmla="*/ 2147483647 w 129"/>
              <a:gd name="T21" fmla="*/ 2147483647 h 215"/>
              <a:gd name="T22" fmla="*/ 2147483647 w 129"/>
              <a:gd name="T23" fmla="*/ 2147483647 h 215"/>
              <a:gd name="T24" fmla="*/ 2147483647 w 129"/>
              <a:gd name="T25" fmla="*/ 2147483647 h 215"/>
              <a:gd name="T26" fmla="*/ 2147483647 w 129"/>
              <a:gd name="T27" fmla="*/ 2147483647 h 215"/>
              <a:gd name="T28" fmla="*/ 2147483647 w 129"/>
              <a:gd name="T29" fmla="*/ 2147483647 h 215"/>
              <a:gd name="T30" fmla="*/ 2147483647 w 129"/>
              <a:gd name="T31" fmla="*/ 2147483647 h 215"/>
              <a:gd name="T32" fmla="*/ 2147483647 w 129"/>
              <a:gd name="T33" fmla="*/ 2147483647 h 215"/>
              <a:gd name="T34" fmla="*/ 2147483647 w 129"/>
              <a:gd name="T35" fmla="*/ 2147483647 h 215"/>
              <a:gd name="T36" fmla="*/ 2147483647 w 129"/>
              <a:gd name="T37" fmla="*/ 2147483647 h 215"/>
              <a:gd name="T38" fmla="*/ 2147483647 w 129"/>
              <a:gd name="T39" fmla="*/ 2147483647 h 215"/>
              <a:gd name="T40" fmla="*/ 2147483647 w 129"/>
              <a:gd name="T41" fmla="*/ 2147483647 h 215"/>
              <a:gd name="T42" fmla="*/ 2147483647 w 129"/>
              <a:gd name="T43" fmla="*/ 2147483647 h 215"/>
              <a:gd name="T44" fmla="*/ 2147483647 w 129"/>
              <a:gd name="T45" fmla="*/ 2147483647 h 215"/>
              <a:gd name="T46" fmla="*/ 2147483647 w 129"/>
              <a:gd name="T47" fmla="*/ 0 h 215"/>
              <a:gd name="T48" fmla="*/ 2147483647 w 129"/>
              <a:gd name="T49" fmla="*/ 2147483647 h 215"/>
              <a:gd name="T50" fmla="*/ 2147483647 w 129"/>
              <a:gd name="T51" fmla="*/ 2147483647 h 215"/>
              <a:gd name="T52" fmla="*/ 0 w 129"/>
              <a:gd name="T53" fmla="*/ 2147483647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8" name="Freeform 178"/>
          <p:cNvSpPr>
            <a:spLocks/>
          </p:cNvSpPr>
          <p:nvPr/>
        </p:nvSpPr>
        <p:spPr bwMode="auto">
          <a:xfrm flipH="1">
            <a:off x="769938" y="2843213"/>
            <a:ext cx="26987" cy="46037"/>
          </a:xfrm>
          <a:custGeom>
            <a:avLst/>
            <a:gdLst>
              <a:gd name="T0" fmla="*/ 2147483647 w 118"/>
              <a:gd name="T1" fmla="*/ 0 h 179"/>
              <a:gd name="T2" fmla="*/ 2147483647 w 118"/>
              <a:gd name="T3" fmla="*/ 2147483647 h 179"/>
              <a:gd name="T4" fmla="*/ 2147483647 w 118"/>
              <a:gd name="T5" fmla="*/ 2147483647 h 179"/>
              <a:gd name="T6" fmla="*/ 2147483647 w 118"/>
              <a:gd name="T7" fmla="*/ 2147483647 h 179"/>
              <a:gd name="T8" fmla="*/ 2147483647 w 118"/>
              <a:gd name="T9" fmla="*/ 2147483647 h 179"/>
              <a:gd name="T10" fmla="*/ 0 w 118"/>
              <a:gd name="T11" fmla="*/ 2147483647 h 179"/>
              <a:gd name="T12" fmla="*/ 2147483647 w 118"/>
              <a:gd name="T13" fmla="*/ 2147483647 h 179"/>
              <a:gd name="T14" fmla="*/ 2147483647 w 118"/>
              <a:gd name="T15" fmla="*/ 2147483647 h 179"/>
              <a:gd name="T16" fmla="*/ 2147483647 w 118"/>
              <a:gd name="T17" fmla="*/ 2147483647 h 179"/>
              <a:gd name="T18" fmla="*/ 2147483647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39" name="Freeform 179"/>
          <p:cNvSpPr>
            <a:spLocks/>
          </p:cNvSpPr>
          <p:nvPr/>
        </p:nvSpPr>
        <p:spPr bwMode="auto">
          <a:xfrm flipH="1">
            <a:off x="685800" y="2673350"/>
            <a:ext cx="157163" cy="185738"/>
          </a:xfrm>
          <a:custGeom>
            <a:avLst/>
            <a:gdLst>
              <a:gd name="T0" fmla="*/ 2147483647 w 671"/>
              <a:gd name="T1" fmla="*/ 2147483647 h 670"/>
              <a:gd name="T2" fmla="*/ 2147483647 w 671"/>
              <a:gd name="T3" fmla="*/ 2147483647 h 670"/>
              <a:gd name="T4" fmla="*/ 2147483647 w 671"/>
              <a:gd name="T5" fmla="*/ 2147483647 h 670"/>
              <a:gd name="T6" fmla="*/ 2147483647 w 671"/>
              <a:gd name="T7" fmla="*/ 2147483647 h 670"/>
              <a:gd name="T8" fmla="*/ 2147483647 w 671"/>
              <a:gd name="T9" fmla="*/ 2147483647 h 670"/>
              <a:gd name="T10" fmla="*/ 2147483647 w 671"/>
              <a:gd name="T11" fmla="*/ 2147483647 h 670"/>
              <a:gd name="T12" fmla="*/ 2147483647 w 671"/>
              <a:gd name="T13" fmla="*/ 2147483647 h 670"/>
              <a:gd name="T14" fmla="*/ 2147483647 w 671"/>
              <a:gd name="T15" fmla="*/ 2147483647 h 670"/>
              <a:gd name="T16" fmla="*/ 2147483647 w 671"/>
              <a:gd name="T17" fmla="*/ 2147483647 h 670"/>
              <a:gd name="T18" fmla="*/ 2147483647 w 671"/>
              <a:gd name="T19" fmla="*/ 2147483647 h 670"/>
              <a:gd name="T20" fmla="*/ 2147483647 w 671"/>
              <a:gd name="T21" fmla="*/ 2147483647 h 670"/>
              <a:gd name="T22" fmla="*/ 2147483647 w 671"/>
              <a:gd name="T23" fmla="*/ 2147483647 h 670"/>
              <a:gd name="T24" fmla="*/ 2147483647 w 671"/>
              <a:gd name="T25" fmla="*/ 2147483647 h 670"/>
              <a:gd name="T26" fmla="*/ 2147483647 w 671"/>
              <a:gd name="T27" fmla="*/ 2147483647 h 670"/>
              <a:gd name="T28" fmla="*/ 2147483647 w 671"/>
              <a:gd name="T29" fmla="*/ 2147483647 h 670"/>
              <a:gd name="T30" fmla="*/ 2147483647 w 671"/>
              <a:gd name="T31" fmla="*/ 2147483647 h 670"/>
              <a:gd name="T32" fmla="*/ 2147483647 w 671"/>
              <a:gd name="T33" fmla="*/ 2147483647 h 670"/>
              <a:gd name="T34" fmla="*/ 2147483647 w 671"/>
              <a:gd name="T35" fmla="*/ 2147483647 h 670"/>
              <a:gd name="T36" fmla="*/ 2147483647 w 671"/>
              <a:gd name="T37" fmla="*/ 2147483647 h 670"/>
              <a:gd name="T38" fmla="*/ 2147483647 w 671"/>
              <a:gd name="T39" fmla="*/ 2147483647 h 670"/>
              <a:gd name="T40" fmla="*/ 2147483647 w 671"/>
              <a:gd name="T41" fmla="*/ 2147483647 h 670"/>
              <a:gd name="T42" fmla="*/ 2147483647 w 671"/>
              <a:gd name="T43" fmla="*/ 2147483647 h 670"/>
              <a:gd name="T44" fmla="*/ 2147483647 w 671"/>
              <a:gd name="T45" fmla="*/ 2147483647 h 670"/>
              <a:gd name="T46" fmla="*/ 2147483647 w 671"/>
              <a:gd name="T47" fmla="*/ 2147483647 h 670"/>
              <a:gd name="T48" fmla="*/ 2147483647 w 671"/>
              <a:gd name="T49" fmla="*/ 2147483647 h 670"/>
              <a:gd name="T50" fmla="*/ 2147483647 w 671"/>
              <a:gd name="T51" fmla="*/ 2147483647 h 670"/>
              <a:gd name="T52" fmla="*/ 2147483647 w 671"/>
              <a:gd name="T53" fmla="*/ 2147483647 h 670"/>
              <a:gd name="T54" fmla="*/ 2147483647 w 671"/>
              <a:gd name="T55" fmla="*/ 2147483647 h 670"/>
              <a:gd name="T56" fmla="*/ 2147483647 w 671"/>
              <a:gd name="T57" fmla="*/ 2147483647 h 670"/>
              <a:gd name="T58" fmla="*/ 2147483647 w 671"/>
              <a:gd name="T59" fmla="*/ 2147483647 h 670"/>
              <a:gd name="T60" fmla="*/ 2147483647 w 671"/>
              <a:gd name="T61" fmla="*/ 0 h 670"/>
              <a:gd name="T62" fmla="*/ 2147483647 w 671"/>
              <a:gd name="T63" fmla="*/ 2147483647 h 670"/>
              <a:gd name="T64" fmla="*/ 2147483647 w 671"/>
              <a:gd name="T65" fmla="*/ 2147483647 h 670"/>
              <a:gd name="T66" fmla="*/ 2147483647 w 671"/>
              <a:gd name="T67" fmla="*/ 2147483647 h 670"/>
              <a:gd name="T68" fmla="*/ 2147483647 w 671"/>
              <a:gd name="T69" fmla="*/ 2147483647 h 670"/>
              <a:gd name="T70" fmla="*/ 0 w 671"/>
              <a:gd name="T71" fmla="*/ 2147483647 h 670"/>
              <a:gd name="T72" fmla="*/ 2147483647 w 671"/>
              <a:gd name="T73" fmla="*/ 2147483647 h 670"/>
              <a:gd name="T74" fmla="*/ 2147483647 w 671"/>
              <a:gd name="T75" fmla="*/ 2147483647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0" name="Freeform 180"/>
          <p:cNvSpPr>
            <a:spLocks/>
          </p:cNvSpPr>
          <p:nvPr/>
        </p:nvSpPr>
        <p:spPr bwMode="auto">
          <a:xfrm flipH="1">
            <a:off x="688975" y="2674938"/>
            <a:ext cx="149225" cy="177800"/>
          </a:xfrm>
          <a:custGeom>
            <a:avLst/>
            <a:gdLst>
              <a:gd name="T0" fmla="*/ 2147483647 w 636"/>
              <a:gd name="T1" fmla="*/ 2147483647 h 643"/>
              <a:gd name="T2" fmla="*/ 2147483647 w 636"/>
              <a:gd name="T3" fmla="*/ 2147483647 h 643"/>
              <a:gd name="T4" fmla="*/ 2147483647 w 636"/>
              <a:gd name="T5" fmla="*/ 2147483647 h 643"/>
              <a:gd name="T6" fmla="*/ 2147483647 w 636"/>
              <a:gd name="T7" fmla="*/ 2147483647 h 643"/>
              <a:gd name="T8" fmla="*/ 2147483647 w 636"/>
              <a:gd name="T9" fmla="*/ 2147483647 h 643"/>
              <a:gd name="T10" fmla="*/ 2147483647 w 636"/>
              <a:gd name="T11" fmla="*/ 2147483647 h 643"/>
              <a:gd name="T12" fmla="*/ 2147483647 w 636"/>
              <a:gd name="T13" fmla="*/ 2147483647 h 643"/>
              <a:gd name="T14" fmla="*/ 2147483647 w 636"/>
              <a:gd name="T15" fmla="*/ 2147483647 h 643"/>
              <a:gd name="T16" fmla="*/ 2147483647 w 636"/>
              <a:gd name="T17" fmla="*/ 2147483647 h 643"/>
              <a:gd name="T18" fmla="*/ 2147483647 w 636"/>
              <a:gd name="T19" fmla="*/ 2147483647 h 643"/>
              <a:gd name="T20" fmla="*/ 2147483647 w 636"/>
              <a:gd name="T21" fmla="*/ 2147483647 h 643"/>
              <a:gd name="T22" fmla="*/ 2147483647 w 636"/>
              <a:gd name="T23" fmla="*/ 2147483647 h 643"/>
              <a:gd name="T24" fmla="*/ 2147483647 w 636"/>
              <a:gd name="T25" fmla="*/ 2147483647 h 643"/>
              <a:gd name="T26" fmla="*/ 2147483647 w 636"/>
              <a:gd name="T27" fmla="*/ 2147483647 h 643"/>
              <a:gd name="T28" fmla="*/ 2147483647 w 636"/>
              <a:gd name="T29" fmla="*/ 2147483647 h 643"/>
              <a:gd name="T30" fmla="*/ 2147483647 w 636"/>
              <a:gd name="T31" fmla="*/ 2147483647 h 643"/>
              <a:gd name="T32" fmla="*/ 2147483647 w 636"/>
              <a:gd name="T33" fmla="*/ 2147483647 h 643"/>
              <a:gd name="T34" fmla="*/ 2147483647 w 636"/>
              <a:gd name="T35" fmla="*/ 2147483647 h 643"/>
              <a:gd name="T36" fmla="*/ 2147483647 w 636"/>
              <a:gd name="T37" fmla="*/ 2147483647 h 643"/>
              <a:gd name="T38" fmla="*/ 2147483647 w 636"/>
              <a:gd name="T39" fmla="*/ 2147483647 h 643"/>
              <a:gd name="T40" fmla="*/ 2147483647 w 636"/>
              <a:gd name="T41" fmla="*/ 2147483647 h 643"/>
              <a:gd name="T42" fmla="*/ 2147483647 w 636"/>
              <a:gd name="T43" fmla="*/ 2147483647 h 643"/>
              <a:gd name="T44" fmla="*/ 2147483647 w 636"/>
              <a:gd name="T45" fmla="*/ 2147483647 h 643"/>
              <a:gd name="T46" fmla="*/ 2147483647 w 636"/>
              <a:gd name="T47" fmla="*/ 2147483647 h 643"/>
              <a:gd name="T48" fmla="*/ 2147483647 w 636"/>
              <a:gd name="T49" fmla="*/ 2147483647 h 643"/>
              <a:gd name="T50" fmla="*/ 2147483647 w 636"/>
              <a:gd name="T51" fmla="*/ 2147483647 h 643"/>
              <a:gd name="T52" fmla="*/ 2147483647 w 636"/>
              <a:gd name="T53" fmla="*/ 2147483647 h 643"/>
              <a:gd name="T54" fmla="*/ 2147483647 w 636"/>
              <a:gd name="T55" fmla="*/ 2147483647 h 643"/>
              <a:gd name="T56" fmla="*/ 2147483647 w 636"/>
              <a:gd name="T57" fmla="*/ 2147483647 h 643"/>
              <a:gd name="T58" fmla="*/ 2147483647 w 636"/>
              <a:gd name="T59" fmla="*/ 2147483647 h 643"/>
              <a:gd name="T60" fmla="*/ 2147483647 w 636"/>
              <a:gd name="T61" fmla="*/ 2147483647 h 643"/>
              <a:gd name="T62" fmla="*/ 2147483647 w 636"/>
              <a:gd name="T63" fmla="*/ 2147483647 h 643"/>
              <a:gd name="T64" fmla="*/ 2147483647 w 636"/>
              <a:gd name="T65" fmla="*/ 2147483647 h 643"/>
              <a:gd name="T66" fmla="*/ 2147483647 w 636"/>
              <a:gd name="T67" fmla="*/ 2147483647 h 643"/>
              <a:gd name="T68" fmla="*/ 2147483647 w 636"/>
              <a:gd name="T69" fmla="*/ 2147483647 h 643"/>
              <a:gd name="T70" fmla="*/ 2147483647 w 636"/>
              <a:gd name="T71" fmla="*/ 2147483647 h 643"/>
              <a:gd name="T72" fmla="*/ 2147483647 w 636"/>
              <a:gd name="T73" fmla="*/ 2147483647 h 643"/>
              <a:gd name="T74" fmla="*/ 2147483647 w 636"/>
              <a:gd name="T75" fmla="*/ 2147483647 h 643"/>
              <a:gd name="T76" fmla="*/ 2147483647 w 636"/>
              <a:gd name="T77" fmla="*/ 2147483647 h 643"/>
              <a:gd name="T78" fmla="*/ 2147483647 w 636"/>
              <a:gd name="T79" fmla="*/ 2147483647 h 643"/>
              <a:gd name="T80" fmla="*/ 2147483647 w 636"/>
              <a:gd name="T81" fmla="*/ 2147483647 h 643"/>
              <a:gd name="T82" fmla="*/ 2147483647 w 636"/>
              <a:gd name="T83" fmla="*/ 2147483647 h 643"/>
              <a:gd name="T84" fmla="*/ 2147483647 w 636"/>
              <a:gd name="T85" fmla="*/ 2147483647 h 643"/>
              <a:gd name="T86" fmla="*/ 2147483647 w 636"/>
              <a:gd name="T87" fmla="*/ 2147483647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1" name="Freeform 181"/>
          <p:cNvSpPr>
            <a:spLocks/>
          </p:cNvSpPr>
          <p:nvPr/>
        </p:nvSpPr>
        <p:spPr bwMode="auto">
          <a:xfrm flipH="1">
            <a:off x="989013" y="3125788"/>
            <a:ext cx="163512" cy="119062"/>
          </a:xfrm>
          <a:custGeom>
            <a:avLst/>
            <a:gdLst>
              <a:gd name="T0" fmla="*/ 2147483647 w 698"/>
              <a:gd name="T1" fmla="*/ 2147483647 h 425"/>
              <a:gd name="T2" fmla="*/ 2147483647 w 698"/>
              <a:gd name="T3" fmla="*/ 2147483647 h 425"/>
              <a:gd name="T4" fmla="*/ 2147483647 w 698"/>
              <a:gd name="T5" fmla="*/ 2147483647 h 425"/>
              <a:gd name="T6" fmla="*/ 2147483647 w 698"/>
              <a:gd name="T7" fmla="*/ 2147483647 h 425"/>
              <a:gd name="T8" fmla="*/ 2147483647 w 698"/>
              <a:gd name="T9" fmla="*/ 2147483647 h 425"/>
              <a:gd name="T10" fmla="*/ 2147483647 w 698"/>
              <a:gd name="T11" fmla="*/ 2147483647 h 425"/>
              <a:gd name="T12" fmla="*/ 2147483647 w 698"/>
              <a:gd name="T13" fmla="*/ 2147483647 h 425"/>
              <a:gd name="T14" fmla="*/ 2147483647 w 698"/>
              <a:gd name="T15" fmla="*/ 2147483647 h 425"/>
              <a:gd name="T16" fmla="*/ 2147483647 w 698"/>
              <a:gd name="T17" fmla="*/ 2147483647 h 425"/>
              <a:gd name="T18" fmla="*/ 2147483647 w 698"/>
              <a:gd name="T19" fmla="*/ 2147483647 h 425"/>
              <a:gd name="T20" fmla="*/ 2147483647 w 698"/>
              <a:gd name="T21" fmla="*/ 2147483647 h 425"/>
              <a:gd name="T22" fmla="*/ 2147483647 w 698"/>
              <a:gd name="T23" fmla="*/ 0 h 425"/>
              <a:gd name="T24" fmla="*/ 2147483647 w 698"/>
              <a:gd name="T25" fmla="*/ 2147483647 h 425"/>
              <a:gd name="T26" fmla="*/ 2147483647 w 698"/>
              <a:gd name="T27" fmla="*/ 2147483647 h 425"/>
              <a:gd name="T28" fmla="*/ 2147483647 w 698"/>
              <a:gd name="T29" fmla="*/ 2147483647 h 425"/>
              <a:gd name="T30" fmla="*/ 2147483647 w 698"/>
              <a:gd name="T31" fmla="*/ 2147483647 h 425"/>
              <a:gd name="T32" fmla="*/ 2147483647 w 698"/>
              <a:gd name="T33" fmla="*/ 2147483647 h 425"/>
              <a:gd name="T34" fmla="*/ 2147483647 w 698"/>
              <a:gd name="T35" fmla="*/ 2147483647 h 425"/>
              <a:gd name="T36" fmla="*/ 2147483647 w 698"/>
              <a:gd name="T37" fmla="*/ 2147483647 h 425"/>
              <a:gd name="T38" fmla="*/ 2147483647 w 698"/>
              <a:gd name="T39" fmla="*/ 2147483647 h 425"/>
              <a:gd name="T40" fmla="*/ 0 w 698"/>
              <a:gd name="T41" fmla="*/ 2147483647 h 425"/>
              <a:gd name="T42" fmla="*/ 0 w 698"/>
              <a:gd name="T43" fmla="*/ 2147483647 h 425"/>
              <a:gd name="T44" fmla="*/ 2147483647 w 698"/>
              <a:gd name="T45" fmla="*/ 2147483647 h 425"/>
              <a:gd name="T46" fmla="*/ 2147483647 w 698"/>
              <a:gd name="T47" fmla="*/ 2147483647 h 425"/>
              <a:gd name="T48" fmla="*/ 2147483647 w 698"/>
              <a:gd name="T49" fmla="*/ 2147483647 h 425"/>
              <a:gd name="T50" fmla="*/ 2147483647 w 698"/>
              <a:gd name="T51" fmla="*/ 2147483647 h 425"/>
              <a:gd name="T52" fmla="*/ 2147483647 w 698"/>
              <a:gd name="T53" fmla="*/ 2147483647 h 425"/>
              <a:gd name="T54" fmla="*/ 2147483647 w 698"/>
              <a:gd name="T55" fmla="*/ 2147483647 h 425"/>
              <a:gd name="T56" fmla="*/ 2147483647 w 698"/>
              <a:gd name="T57" fmla="*/ 2147483647 h 425"/>
              <a:gd name="T58" fmla="*/ 2147483647 w 698"/>
              <a:gd name="T59" fmla="*/ 2147483647 h 425"/>
              <a:gd name="T60" fmla="*/ 2147483647 w 698"/>
              <a:gd name="T61" fmla="*/ 2147483647 h 425"/>
              <a:gd name="T62" fmla="*/ 2147483647 w 698"/>
              <a:gd name="T63" fmla="*/ 2147483647 h 425"/>
              <a:gd name="T64" fmla="*/ 2147483647 w 698"/>
              <a:gd name="T65" fmla="*/ 2147483647 h 425"/>
              <a:gd name="T66" fmla="*/ 2147483647 w 698"/>
              <a:gd name="T67" fmla="*/ 2147483647 h 425"/>
              <a:gd name="T68" fmla="*/ 2147483647 w 698"/>
              <a:gd name="T69" fmla="*/ 2147483647 h 425"/>
              <a:gd name="T70" fmla="*/ 2147483647 w 698"/>
              <a:gd name="T71" fmla="*/ 2147483647 h 425"/>
              <a:gd name="T72" fmla="*/ 2147483647 w 698"/>
              <a:gd name="T73" fmla="*/ 2147483647 h 425"/>
              <a:gd name="T74" fmla="*/ 2147483647 w 698"/>
              <a:gd name="T75" fmla="*/ 2147483647 h 425"/>
              <a:gd name="T76" fmla="*/ 2147483647 w 698"/>
              <a:gd name="T77" fmla="*/ 2147483647 h 425"/>
              <a:gd name="T78" fmla="*/ 2147483647 w 698"/>
              <a:gd name="T79" fmla="*/ 2147483647 h 425"/>
              <a:gd name="T80" fmla="*/ 2147483647 w 698"/>
              <a:gd name="T81" fmla="*/ 2147483647 h 425"/>
              <a:gd name="T82" fmla="*/ 2147483647 w 698"/>
              <a:gd name="T83" fmla="*/ 2147483647 h 425"/>
              <a:gd name="T84" fmla="*/ 2147483647 w 698"/>
              <a:gd name="T85" fmla="*/ 2147483647 h 425"/>
              <a:gd name="T86" fmla="*/ 2147483647 w 698"/>
              <a:gd name="T87" fmla="*/ 2147483647 h 425"/>
              <a:gd name="T88" fmla="*/ 2147483647 w 698"/>
              <a:gd name="T89" fmla="*/ 2147483647 h 425"/>
              <a:gd name="T90" fmla="*/ 2147483647 w 698"/>
              <a:gd name="T91" fmla="*/ 2147483647 h 425"/>
              <a:gd name="T92" fmla="*/ 2147483647 w 698"/>
              <a:gd name="T93" fmla="*/ 2147483647 h 425"/>
              <a:gd name="T94" fmla="*/ 2147483647 w 698"/>
              <a:gd name="T95" fmla="*/ 2147483647 h 425"/>
              <a:gd name="T96" fmla="*/ 2147483647 w 698"/>
              <a:gd name="T97" fmla="*/ 2147483647 h 425"/>
              <a:gd name="T98" fmla="*/ 2147483647 w 698"/>
              <a:gd name="T99" fmla="*/ 2147483647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442" name="Freeform 182"/>
          <p:cNvSpPr>
            <a:spLocks/>
          </p:cNvSpPr>
          <p:nvPr/>
        </p:nvSpPr>
        <p:spPr bwMode="auto">
          <a:xfrm flipH="1">
            <a:off x="1093788" y="3146425"/>
            <a:ext cx="52387" cy="14288"/>
          </a:xfrm>
          <a:custGeom>
            <a:avLst/>
            <a:gdLst>
              <a:gd name="T0" fmla="*/ 0 w 223"/>
              <a:gd name="T1" fmla="*/ 2147483647 h 52"/>
              <a:gd name="T2" fmla="*/ 2147483647 w 223"/>
              <a:gd name="T3" fmla="*/ 2147483647 h 52"/>
              <a:gd name="T4" fmla="*/ 2147483647 w 223"/>
              <a:gd name="T5" fmla="*/ 2147483647 h 52"/>
              <a:gd name="T6" fmla="*/ 2147483647 w 223"/>
              <a:gd name="T7" fmla="*/ 2147483647 h 52"/>
              <a:gd name="T8" fmla="*/ 2147483647 w 223"/>
              <a:gd name="T9" fmla="*/ 2147483647 h 52"/>
              <a:gd name="T10" fmla="*/ 2147483647 w 223"/>
              <a:gd name="T11" fmla="*/ 2147483647 h 52"/>
              <a:gd name="T12" fmla="*/ 2147483647 w 223"/>
              <a:gd name="T13" fmla="*/ 2147483647 h 52"/>
              <a:gd name="T14" fmla="*/ 2147483647 w 223"/>
              <a:gd name="T15" fmla="*/ 2147483647 h 52"/>
              <a:gd name="T16" fmla="*/ 2147483647 w 223"/>
              <a:gd name="T17" fmla="*/ 0 h 52"/>
              <a:gd name="T18" fmla="*/ 2147483647 w 223"/>
              <a:gd name="T19" fmla="*/ 2147483647 h 52"/>
              <a:gd name="T20" fmla="*/ 2147483647 w 223"/>
              <a:gd name="T21" fmla="*/ 2147483647 h 52"/>
              <a:gd name="T22" fmla="*/ 2147483647 w 223"/>
              <a:gd name="T23" fmla="*/ 2147483647 h 52"/>
              <a:gd name="T24" fmla="*/ 0 w 223"/>
              <a:gd name="T25" fmla="*/ 2147483647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3" name="Freeform 183"/>
          <p:cNvSpPr>
            <a:spLocks/>
          </p:cNvSpPr>
          <p:nvPr/>
        </p:nvSpPr>
        <p:spPr bwMode="auto">
          <a:xfrm flipH="1">
            <a:off x="1073150" y="3132138"/>
            <a:ext cx="42863" cy="7937"/>
          </a:xfrm>
          <a:custGeom>
            <a:avLst/>
            <a:gdLst>
              <a:gd name="T0" fmla="*/ 2147483647 w 188"/>
              <a:gd name="T1" fmla="*/ 0 h 36"/>
              <a:gd name="T2" fmla="*/ 2147483647 w 188"/>
              <a:gd name="T3" fmla="*/ 2147483647 h 36"/>
              <a:gd name="T4" fmla="*/ 0 w 188"/>
              <a:gd name="T5" fmla="*/ 2147483647 h 36"/>
              <a:gd name="T6" fmla="*/ 2147483647 w 188"/>
              <a:gd name="T7" fmla="*/ 2147483647 h 36"/>
              <a:gd name="T8" fmla="*/ 2147483647 w 188"/>
              <a:gd name="T9" fmla="*/ 2147483647 h 36"/>
              <a:gd name="T10" fmla="*/ 2147483647 w 188"/>
              <a:gd name="T11" fmla="*/ 2147483647 h 36"/>
              <a:gd name="T12" fmla="*/ 2147483647 w 188"/>
              <a:gd name="T13" fmla="*/ 2147483647 h 36"/>
              <a:gd name="T14" fmla="*/ 2147483647 w 188"/>
              <a:gd name="T15" fmla="*/ 2147483647 h 36"/>
              <a:gd name="T16" fmla="*/ 2147483647 w 188"/>
              <a:gd name="T17" fmla="*/ 2147483647 h 36"/>
              <a:gd name="T18" fmla="*/ 2147483647 w 188"/>
              <a:gd name="T19" fmla="*/ 2147483647 h 36"/>
              <a:gd name="T20" fmla="*/ 2147483647 w 188"/>
              <a:gd name="T21" fmla="*/ 2147483647 h 36"/>
              <a:gd name="T22" fmla="*/ 2147483647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4" name="Freeform 184"/>
          <p:cNvSpPr>
            <a:spLocks/>
          </p:cNvSpPr>
          <p:nvPr/>
        </p:nvSpPr>
        <p:spPr bwMode="auto">
          <a:xfrm flipH="1">
            <a:off x="1092200" y="3167063"/>
            <a:ext cx="17463" cy="4762"/>
          </a:xfrm>
          <a:custGeom>
            <a:avLst/>
            <a:gdLst>
              <a:gd name="T0" fmla="*/ 0 w 76"/>
              <a:gd name="T1" fmla="*/ 2147483647 h 17"/>
              <a:gd name="T2" fmla="*/ 2147483647 w 76"/>
              <a:gd name="T3" fmla="*/ 2147483647 h 17"/>
              <a:gd name="T4" fmla="*/ 2147483647 w 76"/>
              <a:gd name="T5" fmla="*/ 2147483647 h 17"/>
              <a:gd name="T6" fmla="*/ 2147483647 w 76"/>
              <a:gd name="T7" fmla="*/ 2147483647 h 17"/>
              <a:gd name="T8" fmla="*/ 2147483647 w 76"/>
              <a:gd name="T9" fmla="*/ 0 h 17"/>
              <a:gd name="T10" fmla="*/ 2147483647 w 76"/>
              <a:gd name="T11" fmla="*/ 2147483647 h 17"/>
              <a:gd name="T12" fmla="*/ 0 w 76"/>
              <a:gd name="T13" fmla="*/ 2147483647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5" name="Freeform 185"/>
          <p:cNvSpPr>
            <a:spLocks/>
          </p:cNvSpPr>
          <p:nvPr/>
        </p:nvSpPr>
        <p:spPr bwMode="auto">
          <a:xfrm flipH="1">
            <a:off x="1143000" y="3162300"/>
            <a:ext cx="4763" cy="9525"/>
          </a:xfrm>
          <a:custGeom>
            <a:avLst/>
            <a:gdLst>
              <a:gd name="T0" fmla="*/ 2147483647 w 19"/>
              <a:gd name="T1" fmla="*/ 0 h 32"/>
              <a:gd name="T2" fmla="*/ 2147483647 w 19"/>
              <a:gd name="T3" fmla="*/ 2147483647 h 32"/>
              <a:gd name="T4" fmla="*/ 2147483647 w 19"/>
              <a:gd name="T5" fmla="*/ 2147483647 h 32"/>
              <a:gd name="T6" fmla="*/ 0 w 19"/>
              <a:gd name="T7" fmla="*/ 2147483647 h 32"/>
              <a:gd name="T8" fmla="*/ 2147483647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6" name="Freeform 186"/>
          <p:cNvSpPr>
            <a:spLocks/>
          </p:cNvSpPr>
          <p:nvPr/>
        </p:nvSpPr>
        <p:spPr bwMode="auto">
          <a:xfrm flipH="1">
            <a:off x="1066800" y="3152775"/>
            <a:ext cx="9525" cy="11113"/>
          </a:xfrm>
          <a:custGeom>
            <a:avLst/>
            <a:gdLst>
              <a:gd name="T0" fmla="*/ 0 w 35"/>
              <a:gd name="T1" fmla="*/ 0 h 43"/>
              <a:gd name="T2" fmla="*/ 2147483647 w 35"/>
              <a:gd name="T3" fmla="*/ 2147483647 h 43"/>
              <a:gd name="T4" fmla="*/ 2147483647 w 35"/>
              <a:gd name="T5" fmla="*/ 2147483647 h 43"/>
              <a:gd name="T6" fmla="*/ 2147483647 w 35"/>
              <a:gd name="T7" fmla="*/ 2147483647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7" name="Freeform 187"/>
          <p:cNvSpPr>
            <a:spLocks/>
          </p:cNvSpPr>
          <p:nvPr/>
        </p:nvSpPr>
        <p:spPr bwMode="auto">
          <a:xfrm flipH="1">
            <a:off x="1035050" y="3152775"/>
            <a:ext cx="25400" cy="33338"/>
          </a:xfrm>
          <a:custGeom>
            <a:avLst/>
            <a:gdLst>
              <a:gd name="T0" fmla="*/ 0 w 114"/>
              <a:gd name="T1" fmla="*/ 0 h 114"/>
              <a:gd name="T2" fmla="*/ 2147483647 w 114"/>
              <a:gd name="T3" fmla="*/ 2147483647 h 114"/>
              <a:gd name="T4" fmla="*/ 2147483647 w 114"/>
              <a:gd name="T5" fmla="*/ 2147483647 h 114"/>
              <a:gd name="T6" fmla="*/ 2147483647 w 114"/>
              <a:gd name="T7" fmla="*/ 2147483647 h 114"/>
              <a:gd name="T8" fmla="*/ 2147483647 w 114"/>
              <a:gd name="T9" fmla="*/ 2147483647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8" name="Freeform 188"/>
          <p:cNvSpPr>
            <a:spLocks/>
          </p:cNvSpPr>
          <p:nvPr/>
        </p:nvSpPr>
        <p:spPr bwMode="auto">
          <a:xfrm flipH="1">
            <a:off x="1020763" y="3198813"/>
            <a:ext cx="6350" cy="20637"/>
          </a:xfrm>
          <a:custGeom>
            <a:avLst/>
            <a:gdLst>
              <a:gd name="T0" fmla="*/ 2147483647 w 27"/>
              <a:gd name="T1" fmla="*/ 0 h 82"/>
              <a:gd name="T2" fmla="*/ 2147483647 w 27"/>
              <a:gd name="T3" fmla="*/ 2147483647 h 82"/>
              <a:gd name="T4" fmla="*/ 2147483647 w 27"/>
              <a:gd name="T5" fmla="*/ 2147483647 h 82"/>
              <a:gd name="T6" fmla="*/ 2147483647 w 27"/>
              <a:gd name="T7" fmla="*/ 2147483647 h 82"/>
              <a:gd name="T8" fmla="*/ 0 w 27"/>
              <a:gd name="T9" fmla="*/ 2147483647 h 82"/>
              <a:gd name="T10" fmla="*/ 2147483647 w 27"/>
              <a:gd name="T11" fmla="*/ 2147483647 h 82"/>
              <a:gd name="T12" fmla="*/ 2147483647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49" name="Freeform 189"/>
          <p:cNvSpPr>
            <a:spLocks/>
          </p:cNvSpPr>
          <p:nvPr/>
        </p:nvSpPr>
        <p:spPr bwMode="auto">
          <a:xfrm flipH="1">
            <a:off x="1082675" y="3175000"/>
            <a:ext cx="1588" cy="9525"/>
          </a:xfrm>
          <a:custGeom>
            <a:avLst/>
            <a:gdLst>
              <a:gd name="T0" fmla="*/ 2147483647 w 15"/>
              <a:gd name="T1" fmla="*/ 0 h 30"/>
              <a:gd name="T2" fmla="*/ 2147483647 w 15"/>
              <a:gd name="T3" fmla="*/ 2147483647 h 30"/>
              <a:gd name="T4" fmla="*/ 0 w 15"/>
              <a:gd name="T5" fmla="*/ 2147483647 h 30"/>
              <a:gd name="T6" fmla="*/ 2147483647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0" name="Freeform 190"/>
          <p:cNvSpPr>
            <a:spLocks/>
          </p:cNvSpPr>
          <p:nvPr/>
        </p:nvSpPr>
        <p:spPr bwMode="auto">
          <a:xfrm flipH="1">
            <a:off x="842963" y="2867025"/>
            <a:ext cx="12700" cy="9525"/>
          </a:xfrm>
          <a:custGeom>
            <a:avLst/>
            <a:gdLst>
              <a:gd name="T0" fmla="*/ 0 w 51"/>
              <a:gd name="T1" fmla="*/ 0 h 36"/>
              <a:gd name="T2" fmla="*/ 2147483647 w 51"/>
              <a:gd name="T3" fmla="*/ 2147483647 h 36"/>
              <a:gd name="T4" fmla="*/ 2147483647 w 51"/>
              <a:gd name="T5" fmla="*/ 2147483647 h 36"/>
              <a:gd name="T6" fmla="*/ 2147483647 w 51"/>
              <a:gd name="T7" fmla="*/ 2147483647 h 36"/>
              <a:gd name="T8" fmla="*/ 2147483647 w 51"/>
              <a:gd name="T9" fmla="*/ 2147483647 h 36"/>
              <a:gd name="T10" fmla="*/ 2147483647 w 51"/>
              <a:gd name="T11" fmla="*/ 2147483647 h 36"/>
              <a:gd name="T12" fmla="*/ 2147483647 w 51"/>
              <a:gd name="T13" fmla="*/ 2147483647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1" name="Freeform 191"/>
          <p:cNvSpPr>
            <a:spLocks/>
          </p:cNvSpPr>
          <p:nvPr/>
        </p:nvSpPr>
        <p:spPr bwMode="auto">
          <a:xfrm flipH="1">
            <a:off x="849313" y="2881313"/>
            <a:ext cx="1587" cy="7937"/>
          </a:xfrm>
          <a:custGeom>
            <a:avLst/>
            <a:gdLst>
              <a:gd name="T0" fmla="*/ 0 w 14"/>
              <a:gd name="T1" fmla="*/ 0 h 24"/>
              <a:gd name="T2" fmla="*/ 2147483647 w 14"/>
              <a:gd name="T3" fmla="*/ 0 h 24"/>
              <a:gd name="T4" fmla="*/ 2147483647 w 14"/>
              <a:gd name="T5" fmla="*/ 2147483647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2" name="Freeform 192"/>
          <p:cNvSpPr>
            <a:spLocks/>
          </p:cNvSpPr>
          <p:nvPr/>
        </p:nvSpPr>
        <p:spPr bwMode="auto">
          <a:xfrm flipH="1">
            <a:off x="801688" y="2933700"/>
            <a:ext cx="96837" cy="298450"/>
          </a:xfrm>
          <a:custGeom>
            <a:avLst/>
            <a:gdLst>
              <a:gd name="T0" fmla="*/ 2147483647 w 431"/>
              <a:gd name="T1" fmla="*/ 0 h 1076"/>
              <a:gd name="T2" fmla="*/ 2147483647 w 431"/>
              <a:gd name="T3" fmla="*/ 2147483647 h 1076"/>
              <a:gd name="T4" fmla="*/ 2147483647 w 431"/>
              <a:gd name="T5" fmla="*/ 2147483647 h 1076"/>
              <a:gd name="T6" fmla="*/ 2147483647 w 431"/>
              <a:gd name="T7" fmla="*/ 2147483647 h 1076"/>
              <a:gd name="T8" fmla="*/ 2147483647 w 431"/>
              <a:gd name="T9" fmla="*/ 2147483647 h 1076"/>
              <a:gd name="T10" fmla="*/ 2147483647 w 431"/>
              <a:gd name="T11" fmla="*/ 2147483647 h 1076"/>
              <a:gd name="T12" fmla="*/ 0 w 431"/>
              <a:gd name="T13" fmla="*/ 2147483647 h 1076"/>
              <a:gd name="T14" fmla="*/ 2147483647 w 431"/>
              <a:gd name="T15" fmla="*/ 2147483647 h 1076"/>
              <a:gd name="T16" fmla="*/ 2147483647 w 431"/>
              <a:gd name="T17" fmla="*/ 2147483647 h 1076"/>
              <a:gd name="T18" fmla="*/ 2147483647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11453" name="Freeform 193"/>
          <p:cNvSpPr>
            <a:spLocks/>
          </p:cNvSpPr>
          <p:nvPr/>
        </p:nvSpPr>
        <p:spPr bwMode="auto">
          <a:xfrm flipH="1">
            <a:off x="639763" y="2876550"/>
            <a:ext cx="376237" cy="498475"/>
          </a:xfrm>
          <a:custGeom>
            <a:avLst/>
            <a:gdLst>
              <a:gd name="T0" fmla="*/ 2147483647 w 1606"/>
              <a:gd name="T1" fmla="*/ 2147483647 h 1792"/>
              <a:gd name="T2" fmla="*/ 2147483647 w 1606"/>
              <a:gd name="T3" fmla="*/ 0 h 1792"/>
              <a:gd name="T4" fmla="*/ 2147483647 w 1606"/>
              <a:gd name="T5" fmla="*/ 2147483647 h 1792"/>
              <a:gd name="T6" fmla="*/ 2147483647 w 1606"/>
              <a:gd name="T7" fmla="*/ 2147483647 h 1792"/>
              <a:gd name="T8" fmla="*/ 2147483647 w 1606"/>
              <a:gd name="T9" fmla="*/ 2147483647 h 1792"/>
              <a:gd name="T10" fmla="*/ 2147483647 w 1606"/>
              <a:gd name="T11" fmla="*/ 2147483647 h 1792"/>
              <a:gd name="T12" fmla="*/ 2147483647 w 1606"/>
              <a:gd name="T13" fmla="*/ 2147483647 h 1792"/>
              <a:gd name="T14" fmla="*/ 2147483647 w 1606"/>
              <a:gd name="T15" fmla="*/ 2147483647 h 1792"/>
              <a:gd name="T16" fmla="*/ 2147483647 w 1606"/>
              <a:gd name="T17" fmla="*/ 2147483647 h 1792"/>
              <a:gd name="T18" fmla="*/ 2147483647 w 1606"/>
              <a:gd name="T19" fmla="*/ 2147483647 h 1792"/>
              <a:gd name="T20" fmla="*/ 2147483647 w 1606"/>
              <a:gd name="T21" fmla="*/ 2147483647 h 1792"/>
              <a:gd name="T22" fmla="*/ 2147483647 w 1606"/>
              <a:gd name="T23" fmla="*/ 2147483647 h 1792"/>
              <a:gd name="T24" fmla="*/ 2147483647 w 1606"/>
              <a:gd name="T25" fmla="*/ 2147483647 h 1792"/>
              <a:gd name="T26" fmla="*/ 2147483647 w 1606"/>
              <a:gd name="T27" fmla="*/ 2147483647 h 1792"/>
              <a:gd name="T28" fmla="*/ 0 w 1606"/>
              <a:gd name="T29" fmla="*/ 2147483647 h 1792"/>
              <a:gd name="T30" fmla="*/ 2147483647 w 1606"/>
              <a:gd name="T31" fmla="*/ 2147483647 h 1792"/>
              <a:gd name="T32" fmla="*/ 2147483647 w 1606"/>
              <a:gd name="T33" fmla="*/ 2147483647 h 1792"/>
              <a:gd name="T34" fmla="*/ 2147483647 w 1606"/>
              <a:gd name="T35" fmla="*/ 2147483647 h 1792"/>
              <a:gd name="T36" fmla="*/ 2147483647 w 1606"/>
              <a:gd name="T37" fmla="*/ 2147483647 h 1792"/>
              <a:gd name="T38" fmla="*/ 2147483647 w 1606"/>
              <a:gd name="T39" fmla="*/ 2147483647 h 1792"/>
              <a:gd name="T40" fmla="*/ 2147483647 w 1606"/>
              <a:gd name="T41" fmla="*/ 2147483647 h 1792"/>
              <a:gd name="T42" fmla="*/ 2147483647 w 1606"/>
              <a:gd name="T43" fmla="*/ 2147483647 h 1792"/>
              <a:gd name="T44" fmla="*/ 2147483647 w 1606"/>
              <a:gd name="T45" fmla="*/ 2147483647 h 1792"/>
              <a:gd name="T46" fmla="*/ 2147483647 w 1606"/>
              <a:gd name="T47" fmla="*/ 2147483647 h 1792"/>
              <a:gd name="T48" fmla="*/ 2147483647 w 1606"/>
              <a:gd name="T49" fmla="*/ 2147483647 h 1792"/>
              <a:gd name="T50" fmla="*/ 2147483647 w 1606"/>
              <a:gd name="T51" fmla="*/ 2147483647 h 1792"/>
              <a:gd name="T52" fmla="*/ 2147483647 w 1606"/>
              <a:gd name="T53" fmla="*/ 2147483647 h 1792"/>
              <a:gd name="T54" fmla="*/ 2147483647 w 1606"/>
              <a:gd name="T55" fmla="*/ 2147483647 h 1792"/>
              <a:gd name="T56" fmla="*/ 2147483647 w 1606"/>
              <a:gd name="T57" fmla="*/ 2147483647 h 1792"/>
              <a:gd name="T58" fmla="*/ 2147483647 w 1606"/>
              <a:gd name="T59" fmla="*/ 2147483647 h 1792"/>
              <a:gd name="T60" fmla="*/ 2147483647 w 1606"/>
              <a:gd name="T61" fmla="*/ 2147483647 h 1792"/>
              <a:gd name="T62" fmla="*/ 2147483647 w 1606"/>
              <a:gd name="T63" fmla="*/ 2147483647 h 1792"/>
              <a:gd name="T64" fmla="*/ 2147483647 w 1606"/>
              <a:gd name="T65" fmla="*/ 2147483647 h 1792"/>
              <a:gd name="T66" fmla="*/ 2147483647 w 1606"/>
              <a:gd name="T67" fmla="*/ 2147483647 h 1792"/>
              <a:gd name="T68" fmla="*/ 2147483647 w 1606"/>
              <a:gd name="T69" fmla="*/ 2147483647 h 1792"/>
              <a:gd name="T70" fmla="*/ 2147483647 w 1606"/>
              <a:gd name="T71" fmla="*/ 2147483647 h 1792"/>
              <a:gd name="T72" fmla="*/ 2147483647 w 1606"/>
              <a:gd name="T73" fmla="*/ 2147483647 h 1792"/>
              <a:gd name="T74" fmla="*/ 2147483647 w 1606"/>
              <a:gd name="T75" fmla="*/ 2147483647 h 1792"/>
              <a:gd name="T76" fmla="*/ 2147483647 w 1606"/>
              <a:gd name="T77" fmla="*/ 2147483647 h 1792"/>
              <a:gd name="T78" fmla="*/ 2147483647 w 1606"/>
              <a:gd name="T79" fmla="*/ 2147483647 h 1792"/>
              <a:gd name="T80" fmla="*/ 2147483647 w 1606"/>
              <a:gd name="T81" fmla="*/ 2147483647 h 1792"/>
              <a:gd name="T82" fmla="*/ 2147483647 w 1606"/>
              <a:gd name="T83" fmla="*/ 2147483647 h 1792"/>
              <a:gd name="T84" fmla="*/ 2147483647 w 1606"/>
              <a:gd name="T85" fmla="*/ 2147483647 h 1792"/>
              <a:gd name="T86" fmla="*/ 2147483647 w 1606"/>
              <a:gd name="T87" fmla="*/ 2147483647 h 1792"/>
              <a:gd name="T88" fmla="*/ 2147483647 w 1606"/>
              <a:gd name="T89" fmla="*/ 2147483647 h 1792"/>
              <a:gd name="T90" fmla="*/ 2147483647 w 1606"/>
              <a:gd name="T91" fmla="*/ 2147483647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454" name="Freeform 194"/>
          <p:cNvSpPr>
            <a:spLocks/>
          </p:cNvSpPr>
          <p:nvPr/>
        </p:nvSpPr>
        <p:spPr bwMode="auto">
          <a:xfrm flipH="1">
            <a:off x="646113" y="2906713"/>
            <a:ext cx="236537" cy="461962"/>
          </a:xfrm>
          <a:custGeom>
            <a:avLst/>
            <a:gdLst>
              <a:gd name="T0" fmla="*/ 2147483647 w 1014"/>
              <a:gd name="T1" fmla="*/ 2147483647 h 1671"/>
              <a:gd name="T2" fmla="*/ 2147483647 w 1014"/>
              <a:gd name="T3" fmla="*/ 2147483647 h 1671"/>
              <a:gd name="T4" fmla="*/ 2147483647 w 1014"/>
              <a:gd name="T5" fmla="*/ 2147483647 h 1671"/>
              <a:gd name="T6" fmla="*/ 2147483647 w 1014"/>
              <a:gd name="T7" fmla="*/ 2147483647 h 1671"/>
              <a:gd name="T8" fmla="*/ 2147483647 w 1014"/>
              <a:gd name="T9" fmla="*/ 2147483647 h 1671"/>
              <a:gd name="T10" fmla="*/ 2147483647 w 1014"/>
              <a:gd name="T11" fmla="*/ 2147483647 h 1671"/>
              <a:gd name="T12" fmla="*/ 2147483647 w 1014"/>
              <a:gd name="T13" fmla="*/ 2147483647 h 1671"/>
              <a:gd name="T14" fmla="*/ 2147483647 w 1014"/>
              <a:gd name="T15" fmla="*/ 2147483647 h 1671"/>
              <a:gd name="T16" fmla="*/ 2147483647 w 1014"/>
              <a:gd name="T17" fmla="*/ 2147483647 h 1671"/>
              <a:gd name="T18" fmla="*/ 2147483647 w 1014"/>
              <a:gd name="T19" fmla="*/ 2147483647 h 1671"/>
              <a:gd name="T20" fmla="*/ 2147483647 w 1014"/>
              <a:gd name="T21" fmla="*/ 2147483647 h 1671"/>
              <a:gd name="T22" fmla="*/ 2147483647 w 1014"/>
              <a:gd name="T23" fmla="*/ 2147483647 h 1671"/>
              <a:gd name="T24" fmla="*/ 2147483647 w 1014"/>
              <a:gd name="T25" fmla="*/ 2147483647 h 1671"/>
              <a:gd name="T26" fmla="*/ 2147483647 w 1014"/>
              <a:gd name="T27" fmla="*/ 2147483647 h 1671"/>
              <a:gd name="T28" fmla="*/ 2147483647 w 1014"/>
              <a:gd name="T29" fmla="*/ 2147483647 h 1671"/>
              <a:gd name="T30" fmla="*/ 2147483647 w 1014"/>
              <a:gd name="T31" fmla="*/ 2147483647 h 1671"/>
              <a:gd name="T32" fmla="*/ 2147483647 w 1014"/>
              <a:gd name="T33" fmla="*/ 2147483647 h 1671"/>
              <a:gd name="T34" fmla="*/ 2147483647 w 1014"/>
              <a:gd name="T35" fmla="*/ 2147483647 h 1671"/>
              <a:gd name="T36" fmla="*/ 2147483647 w 1014"/>
              <a:gd name="T37" fmla="*/ 0 h 1671"/>
              <a:gd name="T38" fmla="*/ 2147483647 w 1014"/>
              <a:gd name="T39" fmla="*/ 2147483647 h 1671"/>
              <a:gd name="T40" fmla="*/ 2147483647 w 1014"/>
              <a:gd name="T41" fmla="*/ 2147483647 h 1671"/>
              <a:gd name="T42" fmla="*/ 2147483647 w 1014"/>
              <a:gd name="T43" fmla="*/ 2147483647 h 1671"/>
              <a:gd name="T44" fmla="*/ 2147483647 w 1014"/>
              <a:gd name="T45" fmla="*/ 2147483647 h 1671"/>
              <a:gd name="T46" fmla="*/ 2147483647 w 1014"/>
              <a:gd name="T47" fmla="*/ 2147483647 h 1671"/>
              <a:gd name="T48" fmla="*/ 2147483647 w 1014"/>
              <a:gd name="T49" fmla="*/ 2147483647 h 1671"/>
              <a:gd name="T50" fmla="*/ 2147483647 w 1014"/>
              <a:gd name="T51" fmla="*/ 2147483647 h 1671"/>
              <a:gd name="T52" fmla="*/ 2147483647 w 1014"/>
              <a:gd name="T53" fmla="*/ 2147483647 h 1671"/>
              <a:gd name="T54" fmla="*/ 2147483647 w 1014"/>
              <a:gd name="T55" fmla="*/ 2147483647 h 1671"/>
              <a:gd name="T56" fmla="*/ 2147483647 w 1014"/>
              <a:gd name="T57" fmla="*/ 2147483647 h 1671"/>
              <a:gd name="T58" fmla="*/ 2147483647 w 1014"/>
              <a:gd name="T59" fmla="*/ 2147483647 h 1671"/>
              <a:gd name="T60" fmla="*/ 2147483647 w 1014"/>
              <a:gd name="T61" fmla="*/ 2147483647 h 1671"/>
              <a:gd name="T62" fmla="*/ 2147483647 w 1014"/>
              <a:gd name="T63" fmla="*/ 2147483647 h 1671"/>
              <a:gd name="T64" fmla="*/ 2147483647 w 1014"/>
              <a:gd name="T65" fmla="*/ 2147483647 h 1671"/>
              <a:gd name="T66" fmla="*/ 2147483647 w 1014"/>
              <a:gd name="T67" fmla="*/ 2147483647 h 1671"/>
              <a:gd name="T68" fmla="*/ 2147483647 w 1014"/>
              <a:gd name="T69" fmla="*/ 2147483647 h 1671"/>
              <a:gd name="T70" fmla="*/ 2147483647 w 1014"/>
              <a:gd name="T71" fmla="*/ 2147483647 h 1671"/>
              <a:gd name="T72" fmla="*/ 2147483647 w 1014"/>
              <a:gd name="T73" fmla="*/ 2147483647 h 1671"/>
              <a:gd name="T74" fmla="*/ 2147483647 w 1014"/>
              <a:gd name="T75" fmla="*/ 2147483647 h 1671"/>
              <a:gd name="T76" fmla="*/ 0 w 1014"/>
              <a:gd name="T77" fmla="*/ 2147483647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5" name="Freeform 195"/>
          <p:cNvSpPr>
            <a:spLocks/>
          </p:cNvSpPr>
          <p:nvPr/>
        </p:nvSpPr>
        <p:spPr bwMode="auto">
          <a:xfrm flipH="1">
            <a:off x="663575" y="3135313"/>
            <a:ext cx="71438" cy="215900"/>
          </a:xfrm>
          <a:custGeom>
            <a:avLst/>
            <a:gdLst>
              <a:gd name="T0" fmla="*/ 0 w 295"/>
              <a:gd name="T1" fmla="*/ 2147483647 h 774"/>
              <a:gd name="T2" fmla="*/ 2147483647 w 295"/>
              <a:gd name="T3" fmla="*/ 2147483647 h 774"/>
              <a:gd name="T4" fmla="*/ 2147483647 w 295"/>
              <a:gd name="T5" fmla="*/ 2147483647 h 774"/>
              <a:gd name="T6" fmla="*/ 2147483647 w 295"/>
              <a:gd name="T7" fmla="*/ 2147483647 h 774"/>
              <a:gd name="T8" fmla="*/ 2147483647 w 295"/>
              <a:gd name="T9" fmla="*/ 2147483647 h 774"/>
              <a:gd name="T10" fmla="*/ 2147483647 w 295"/>
              <a:gd name="T11" fmla="*/ 2147483647 h 774"/>
              <a:gd name="T12" fmla="*/ 2147483647 w 295"/>
              <a:gd name="T13" fmla="*/ 2147483647 h 774"/>
              <a:gd name="T14" fmla="*/ 2147483647 w 295"/>
              <a:gd name="T15" fmla="*/ 2147483647 h 774"/>
              <a:gd name="T16" fmla="*/ 2147483647 w 295"/>
              <a:gd name="T17" fmla="*/ 0 h 774"/>
              <a:gd name="T18" fmla="*/ 2147483647 w 295"/>
              <a:gd name="T19" fmla="*/ 2147483647 h 774"/>
              <a:gd name="T20" fmla="*/ 2147483647 w 295"/>
              <a:gd name="T21" fmla="*/ 2147483647 h 774"/>
              <a:gd name="T22" fmla="*/ 2147483647 w 295"/>
              <a:gd name="T23" fmla="*/ 2147483647 h 774"/>
              <a:gd name="T24" fmla="*/ 2147483647 w 295"/>
              <a:gd name="T25" fmla="*/ 2147483647 h 774"/>
              <a:gd name="T26" fmla="*/ 0 w 295"/>
              <a:gd name="T27" fmla="*/ 2147483647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6" name="Freeform 196"/>
          <p:cNvSpPr>
            <a:spLocks/>
          </p:cNvSpPr>
          <p:nvPr/>
        </p:nvSpPr>
        <p:spPr bwMode="auto">
          <a:xfrm flipH="1">
            <a:off x="735013" y="2962275"/>
            <a:ext cx="273050" cy="322263"/>
          </a:xfrm>
          <a:custGeom>
            <a:avLst/>
            <a:gdLst>
              <a:gd name="T0" fmla="*/ 2147483647 w 1172"/>
              <a:gd name="T1" fmla="*/ 2147483647 h 1162"/>
              <a:gd name="T2" fmla="*/ 2147483647 w 1172"/>
              <a:gd name="T3" fmla="*/ 2147483647 h 1162"/>
              <a:gd name="T4" fmla="*/ 2147483647 w 1172"/>
              <a:gd name="T5" fmla="*/ 2147483647 h 1162"/>
              <a:gd name="T6" fmla="*/ 2147483647 w 1172"/>
              <a:gd name="T7" fmla="*/ 2147483647 h 1162"/>
              <a:gd name="T8" fmla="*/ 2147483647 w 1172"/>
              <a:gd name="T9" fmla="*/ 2147483647 h 1162"/>
              <a:gd name="T10" fmla="*/ 2147483647 w 1172"/>
              <a:gd name="T11" fmla="*/ 2147483647 h 1162"/>
              <a:gd name="T12" fmla="*/ 2147483647 w 1172"/>
              <a:gd name="T13" fmla="*/ 2147483647 h 1162"/>
              <a:gd name="T14" fmla="*/ 2147483647 w 1172"/>
              <a:gd name="T15" fmla="*/ 2147483647 h 1162"/>
              <a:gd name="T16" fmla="*/ 2147483647 w 1172"/>
              <a:gd name="T17" fmla="*/ 2147483647 h 1162"/>
              <a:gd name="T18" fmla="*/ 2147483647 w 1172"/>
              <a:gd name="T19" fmla="*/ 2147483647 h 1162"/>
              <a:gd name="T20" fmla="*/ 2147483647 w 1172"/>
              <a:gd name="T21" fmla="*/ 2147483647 h 1162"/>
              <a:gd name="T22" fmla="*/ 0 w 1172"/>
              <a:gd name="T23" fmla="*/ 2147483647 h 1162"/>
              <a:gd name="T24" fmla="*/ 2147483647 w 1172"/>
              <a:gd name="T25" fmla="*/ 2147483647 h 1162"/>
              <a:gd name="T26" fmla="*/ 2147483647 w 1172"/>
              <a:gd name="T27" fmla="*/ 2147483647 h 1162"/>
              <a:gd name="T28" fmla="*/ 2147483647 w 1172"/>
              <a:gd name="T29" fmla="*/ 2147483647 h 1162"/>
              <a:gd name="T30" fmla="*/ 2147483647 w 1172"/>
              <a:gd name="T31" fmla="*/ 2147483647 h 1162"/>
              <a:gd name="T32" fmla="*/ 2147483647 w 1172"/>
              <a:gd name="T33" fmla="*/ 2147483647 h 1162"/>
              <a:gd name="T34" fmla="*/ 2147483647 w 1172"/>
              <a:gd name="T35" fmla="*/ 2147483647 h 1162"/>
              <a:gd name="T36" fmla="*/ 2147483647 w 1172"/>
              <a:gd name="T37" fmla="*/ 2147483647 h 1162"/>
              <a:gd name="T38" fmla="*/ 2147483647 w 1172"/>
              <a:gd name="T39" fmla="*/ 2147483647 h 1162"/>
              <a:gd name="T40" fmla="*/ 2147483647 w 1172"/>
              <a:gd name="T41" fmla="*/ 2147483647 h 1162"/>
              <a:gd name="T42" fmla="*/ 2147483647 w 1172"/>
              <a:gd name="T43" fmla="*/ 2147483647 h 1162"/>
              <a:gd name="T44" fmla="*/ 2147483647 w 1172"/>
              <a:gd name="T45" fmla="*/ 2147483647 h 1162"/>
              <a:gd name="T46" fmla="*/ 2147483647 w 1172"/>
              <a:gd name="T47" fmla="*/ 2147483647 h 1162"/>
              <a:gd name="T48" fmla="*/ 2147483647 w 1172"/>
              <a:gd name="T49" fmla="*/ 2147483647 h 1162"/>
              <a:gd name="T50" fmla="*/ 2147483647 w 1172"/>
              <a:gd name="T51" fmla="*/ 2147483647 h 1162"/>
              <a:gd name="T52" fmla="*/ 2147483647 w 1172"/>
              <a:gd name="T53" fmla="*/ 2147483647 h 1162"/>
              <a:gd name="T54" fmla="*/ 2147483647 w 1172"/>
              <a:gd name="T55" fmla="*/ 2147483647 h 1162"/>
              <a:gd name="T56" fmla="*/ 2147483647 w 1172"/>
              <a:gd name="T57" fmla="*/ 2147483647 h 1162"/>
              <a:gd name="T58" fmla="*/ 2147483647 w 1172"/>
              <a:gd name="T59" fmla="*/ 2147483647 h 1162"/>
              <a:gd name="T60" fmla="*/ 2147483647 w 1172"/>
              <a:gd name="T61" fmla="*/ 2147483647 h 1162"/>
              <a:gd name="T62" fmla="*/ 2147483647 w 1172"/>
              <a:gd name="T63" fmla="*/ 2147483647 h 1162"/>
              <a:gd name="T64" fmla="*/ 2147483647 w 1172"/>
              <a:gd name="T65" fmla="*/ 2147483647 h 1162"/>
              <a:gd name="T66" fmla="*/ 2147483647 w 1172"/>
              <a:gd name="T67" fmla="*/ 2147483647 h 1162"/>
              <a:gd name="T68" fmla="*/ 2147483647 w 1172"/>
              <a:gd name="T69" fmla="*/ 2147483647 h 1162"/>
              <a:gd name="T70" fmla="*/ 2147483647 w 1172"/>
              <a:gd name="T71" fmla="*/ 2147483647 h 1162"/>
              <a:gd name="T72" fmla="*/ 2147483647 w 1172"/>
              <a:gd name="T73" fmla="*/ 2147483647 h 1162"/>
              <a:gd name="T74" fmla="*/ 2147483647 w 1172"/>
              <a:gd name="T75" fmla="*/ 2147483647 h 1162"/>
              <a:gd name="T76" fmla="*/ 2147483647 w 1172"/>
              <a:gd name="T77" fmla="*/ 2147483647 h 1162"/>
              <a:gd name="T78" fmla="*/ 2147483647 w 1172"/>
              <a:gd name="T79" fmla="*/ 2147483647 h 1162"/>
              <a:gd name="T80" fmla="*/ 2147483647 w 1172"/>
              <a:gd name="T81" fmla="*/ 2147483647 h 1162"/>
              <a:gd name="T82" fmla="*/ 2147483647 w 1172"/>
              <a:gd name="T83" fmla="*/ 2147483647 h 1162"/>
              <a:gd name="T84" fmla="*/ 2147483647 w 1172"/>
              <a:gd name="T85" fmla="*/ 2147483647 h 1162"/>
              <a:gd name="T86" fmla="*/ 2147483647 w 1172"/>
              <a:gd name="T87" fmla="*/ 2147483647 h 1162"/>
              <a:gd name="T88" fmla="*/ 2147483647 w 1172"/>
              <a:gd name="T89" fmla="*/ 2147483647 h 1162"/>
              <a:gd name="T90" fmla="*/ 2147483647 w 1172"/>
              <a:gd name="T91" fmla="*/ 2147483647 h 1162"/>
              <a:gd name="T92" fmla="*/ 2147483647 w 1172"/>
              <a:gd name="T93" fmla="*/ 2147483647 h 1162"/>
              <a:gd name="T94" fmla="*/ 2147483647 w 1172"/>
              <a:gd name="T95" fmla="*/ 2147483647 h 1162"/>
              <a:gd name="T96" fmla="*/ 2147483647 w 1172"/>
              <a:gd name="T97" fmla="*/ 2147483647 h 1162"/>
              <a:gd name="T98" fmla="*/ 2147483647 w 1172"/>
              <a:gd name="T99" fmla="*/ 2147483647 h 1162"/>
              <a:gd name="T100" fmla="*/ 2147483647 w 1172"/>
              <a:gd name="T101" fmla="*/ 2147483647 h 1162"/>
              <a:gd name="T102" fmla="*/ 2147483647 w 1172"/>
              <a:gd name="T103" fmla="*/ 2147483647 h 1162"/>
              <a:gd name="T104" fmla="*/ 2147483647 w 1172"/>
              <a:gd name="T105" fmla="*/ 2147483647 h 1162"/>
              <a:gd name="T106" fmla="*/ 2147483647 w 1172"/>
              <a:gd name="T107" fmla="*/ 2147483647 h 1162"/>
              <a:gd name="T108" fmla="*/ 2147483647 w 1172"/>
              <a:gd name="T109" fmla="*/ 2147483647 h 1162"/>
              <a:gd name="T110" fmla="*/ 2147483647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7" name="Freeform 197"/>
          <p:cNvSpPr>
            <a:spLocks/>
          </p:cNvSpPr>
          <p:nvPr/>
        </p:nvSpPr>
        <p:spPr bwMode="auto">
          <a:xfrm flipH="1">
            <a:off x="752475" y="3082925"/>
            <a:ext cx="69850" cy="71438"/>
          </a:xfrm>
          <a:custGeom>
            <a:avLst/>
            <a:gdLst>
              <a:gd name="T0" fmla="*/ 0 w 295"/>
              <a:gd name="T1" fmla="*/ 0 h 263"/>
              <a:gd name="T2" fmla="*/ 0 w 295"/>
              <a:gd name="T3" fmla="*/ 2147483647 h 263"/>
              <a:gd name="T4" fmla="*/ 2147483647 w 295"/>
              <a:gd name="T5" fmla="*/ 2147483647 h 263"/>
              <a:gd name="T6" fmla="*/ 2147483647 w 295"/>
              <a:gd name="T7" fmla="*/ 2147483647 h 263"/>
              <a:gd name="T8" fmla="*/ 2147483647 w 295"/>
              <a:gd name="T9" fmla="*/ 2147483647 h 263"/>
              <a:gd name="T10" fmla="*/ 2147483647 w 295"/>
              <a:gd name="T11" fmla="*/ 2147483647 h 263"/>
              <a:gd name="T12" fmla="*/ 2147483647 w 295"/>
              <a:gd name="T13" fmla="*/ 2147483647 h 263"/>
              <a:gd name="T14" fmla="*/ 2147483647 w 295"/>
              <a:gd name="T15" fmla="*/ 2147483647 h 263"/>
              <a:gd name="T16" fmla="*/ 2147483647 w 295"/>
              <a:gd name="T17" fmla="*/ 2147483647 h 263"/>
              <a:gd name="T18" fmla="*/ 2147483647 w 295"/>
              <a:gd name="T19" fmla="*/ 2147483647 h 263"/>
              <a:gd name="T20" fmla="*/ 2147483647 w 295"/>
              <a:gd name="T21" fmla="*/ 2147483647 h 263"/>
              <a:gd name="T22" fmla="*/ 2147483647 w 295"/>
              <a:gd name="T23" fmla="*/ 2147483647 h 263"/>
              <a:gd name="T24" fmla="*/ 2147483647 w 295"/>
              <a:gd name="T25" fmla="*/ 2147483647 h 263"/>
              <a:gd name="T26" fmla="*/ 2147483647 w 295"/>
              <a:gd name="T27" fmla="*/ 2147483647 h 263"/>
              <a:gd name="T28" fmla="*/ 2147483647 w 295"/>
              <a:gd name="T29" fmla="*/ 2147483647 h 263"/>
              <a:gd name="T30" fmla="*/ 2147483647 w 295"/>
              <a:gd name="T31" fmla="*/ 2147483647 h 263"/>
              <a:gd name="T32" fmla="*/ 2147483647 w 295"/>
              <a:gd name="T33" fmla="*/ 2147483647 h 263"/>
              <a:gd name="T34" fmla="*/ 2147483647 w 295"/>
              <a:gd name="T35" fmla="*/ 2147483647 h 263"/>
              <a:gd name="T36" fmla="*/ 2147483647 w 295"/>
              <a:gd name="T37" fmla="*/ 2147483647 h 263"/>
              <a:gd name="T38" fmla="*/ 2147483647 w 295"/>
              <a:gd name="T39" fmla="*/ 2147483647 h 263"/>
              <a:gd name="T40" fmla="*/ 2147483647 w 295"/>
              <a:gd name="T41" fmla="*/ 2147483647 h 263"/>
              <a:gd name="T42" fmla="*/ 2147483647 w 295"/>
              <a:gd name="T43" fmla="*/ 2147483647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8" name="Freeform 198"/>
          <p:cNvSpPr>
            <a:spLocks/>
          </p:cNvSpPr>
          <p:nvPr/>
        </p:nvSpPr>
        <p:spPr bwMode="auto">
          <a:xfrm flipH="1">
            <a:off x="755650" y="3022600"/>
            <a:ext cx="61913" cy="95250"/>
          </a:xfrm>
          <a:custGeom>
            <a:avLst/>
            <a:gdLst>
              <a:gd name="T0" fmla="*/ 2147483647 w 270"/>
              <a:gd name="T1" fmla="*/ 0 h 345"/>
              <a:gd name="T2" fmla="*/ 2147483647 w 270"/>
              <a:gd name="T3" fmla="*/ 2147483647 h 345"/>
              <a:gd name="T4" fmla="*/ 0 w 270"/>
              <a:gd name="T5" fmla="*/ 2147483647 h 345"/>
              <a:gd name="T6" fmla="*/ 2147483647 w 270"/>
              <a:gd name="T7" fmla="*/ 2147483647 h 345"/>
              <a:gd name="T8" fmla="*/ 2147483647 w 270"/>
              <a:gd name="T9" fmla="*/ 2147483647 h 345"/>
              <a:gd name="T10" fmla="*/ 2147483647 w 270"/>
              <a:gd name="T11" fmla="*/ 2147483647 h 345"/>
              <a:gd name="T12" fmla="*/ 2147483647 w 270"/>
              <a:gd name="T13" fmla="*/ 2147483647 h 345"/>
              <a:gd name="T14" fmla="*/ 2147483647 w 270"/>
              <a:gd name="T15" fmla="*/ 2147483647 h 345"/>
              <a:gd name="T16" fmla="*/ 2147483647 w 270"/>
              <a:gd name="T17" fmla="*/ 2147483647 h 345"/>
              <a:gd name="T18" fmla="*/ 2147483647 w 270"/>
              <a:gd name="T19" fmla="*/ 2147483647 h 345"/>
              <a:gd name="T20" fmla="*/ 2147483647 w 270"/>
              <a:gd name="T21" fmla="*/ 2147483647 h 345"/>
              <a:gd name="T22" fmla="*/ 2147483647 w 270"/>
              <a:gd name="T23" fmla="*/ 2147483647 h 345"/>
              <a:gd name="T24" fmla="*/ 2147483647 w 270"/>
              <a:gd name="T25" fmla="*/ 2147483647 h 345"/>
              <a:gd name="T26" fmla="*/ 2147483647 w 270"/>
              <a:gd name="T27" fmla="*/ 2147483647 h 345"/>
              <a:gd name="T28" fmla="*/ 2147483647 w 270"/>
              <a:gd name="T29" fmla="*/ 2147483647 h 345"/>
              <a:gd name="T30" fmla="*/ 2147483647 w 270"/>
              <a:gd name="T31" fmla="*/ 2147483647 h 345"/>
              <a:gd name="T32" fmla="*/ 2147483647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59" name="Freeform 199"/>
          <p:cNvSpPr>
            <a:spLocks/>
          </p:cNvSpPr>
          <p:nvPr/>
        </p:nvSpPr>
        <p:spPr bwMode="auto">
          <a:xfrm flipH="1">
            <a:off x="763588" y="2928938"/>
            <a:ext cx="66675" cy="55562"/>
          </a:xfrm>
          <a:custGeom>
            <a:avLst/>
            <a:gdLst>
              <a:gd name="T0" fmla="*/ 0 w 287"/>
              <a:gd name="T1" fmla="*/ 2147483647 h 199"/>
              <a:gd name="T2" fmla="*/ 2147483647 w 287"/>
              <a:gd name="T3" fmla="*/ 2147483647 h 199"/>
              <a:gd name="T4" fmla="*/ 2147483647 w 287"/>
              <a:gd name="T5" fmla="*/ 2147483647 h 199"/>
              <a:gd name="T6" fmla="*/ 2147483647 w 287"/>
              <a:gd name="T7" fmla="*/ 2147483647 h 199"/>
              <a:gd name="T8" fmla="*/ 2147483647 w 287"/>
              <a:gd name="T9" fmla="*/ 0 h 199"/>
              <a:gd name="T10" fmla="*/ 2147483647 w 287"/>
              <a:gd name="T11" fmla="*/ 2147483647 h 199"/>
              <a:gd name="T12" fmla="*/ 2147483647 w 287"/>
              <a:gd name="T13" fmla="*/ 2147483647 h 199"/>
              <a:gd name="T14" fmla="*/ 2147483647 w 287"/>
              <a:gd name="T15" fmla="*/ 2147483647 h 199"/>
              <a:gd name="T16" fmla="*/ 2147483647 w 287"/>
              <a:gd name="T17" fmla="*/ 2147483647 h 199"/>
              <a:gd name="T18" fmla="*/ 0 w 287"/>
              <a:gd name="T19" fmla="*/ 2147483647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60" name="Freeform 200"/>
          <p:cNvSpPr>
            <a:spLocks/>
          </p:cNvSpPr>
          <p:nvPr/>
        </p:nvSpPr>
        <p:spPr bwMode="auto">
          <a:xfrm flipH="1">
            <a:off x="842963" y="3030538"/>
            <a:ext cx="38100" cy="141287"/>
          </a:xfrm>
          <a:custGeom>
            <a:avLst/>
            <a:gdLst>
              <a:gd name="T0" fmla="*/ 0 w 162"/>
              <a:gd name="T1" fmla="*/ 2147483647 h 514"/>
              <a:gd name="T2" fmla="*/ 2147483647 w 162"/>
              <a:gd name="T3" fmla="*/ 2147483647 h 514"/>
              <a:gd name="T4" fmla="*/ 2147483647 w 162"/>
              <a:gd name="T5" fmla="*/ 2147483647 h 514"/>
              <a:gd name="T6" fmla="*/ 2147483647 w 162"/>
              <a:gd name="T7" fmla="*/ 2147483647 h 514"/>
              <a:gd name="T8" fmla="*/ 2147483647 w 162"/>
              <a:gd name="T9" fmla="*/ 2147483647 h 514"/>
              <a:gd name="T10" fmla="*/ 2147483647 w 162"/>
              <a:gd name="T11" fmla="*/ 2147483647 h 514"/>
              <a:gd name="T12" fmla="*/ 2147483647 w 162"/>
              <a:gd name="T13" fmla="*/ 2147483647 h 514"/>
              <a:gd name="T14" fmla="*/ 2147483647 w 162"/>
              <a:gd name="T15" fmla="*/ 2147483647 h 514"/>
              <a:gd name="T16" fmla="*/ 2147483647 w 162"/>
              <a:gd name="T17" fmla="*/ 2147483647 h 514"/>
              <a:gd name="T18" fmla="*/ 2147483647 w 162"/>
              <a:gd name="T19" fmla="*/ 2147483647 h 514"/>
              <a:gd name="T20" fmla="*/ 2147483647 w 162"/>
              <a:gd name="T21" fmla="*/ 2147483647 h 514"/>
              <a:gd name="T22" fmla="*/ 2147483647 w 162"/>
              <a:gd name="T23" fmla="*/ 2147483647 h 514"/>
              <a:gd name="T24" fmla="*/ 2147483647 w 162"/>
              <a:gd name="T25" fmla="*/ 2147483647 h 514"/>
              <a:gd name="T26" fmla="*/ 2147483647 w 162"/>
              <a:gd name="T27" fmla="*/ 2147483647 h 514"/>
              <a:gd name="T28" fmla="*/ 2147483647 w 162"/>
              <a:gd name="T29" fmla="*/ 0 h 514"/>
              <a:gd name="T30" fmla="*/ 2147483647 w 162"/>
              <a:gd name="T31" fmla="*/ 2147483647 h 514"/>
              <a:gd name="T32" fmla="*/ 2147483647 w 162"/>
              <a:gd name="T33" fmla="*/ 2147483647 h 514"/>
              <a:gd name="T34" fmla="*/ 2147483647 w 162"/>
              <a:gd name="T35" fmla="*/ 2147483647 h 514"/>
              <a:gd name="T36" fmla="*/ 0 w 162"/>
              <a:gd name="T37" fmla="*/ 2147483647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61" name="Freeform 201"/>
          <p:cNvSpPr>
            <a:spLocks/>
          </p:cNvSpPr>
          <p:nvPr/>
        </p:nvSpPr>
        <p:spPr bwMode="auto">
          <a:xfrm flipH="1">
            <a:off x="757238" y="3184525"/>
            <a:ext cx="68262" cy="26988"/>
          </a:xfrm>
          <a:custGeom>
            <a:avLst/>
            <a:gdLst>
              <a:gd name="T0" fmla="*/ 2147483647 w 289"/>
              <a:gd name="T1" fmla="*/ 2147483647 h 97"/>
              <a:gd name="T2" fmla="*/ 2147483647 w 289"/>
              <a:gd name="T3" fmla="*/ 2147483647 h 97"/>
              <a:gd name="T4" fmla="*/ 2147483647 w 289"/>
              <a:gd name="T5" fmla="*/ 2147483647 h 97"/>
              <a:gd name="T6" fmla="*/ 2147483647 w 289"/>
              <a:gd name="T7" fmla="*/ 0 h 97"/>
              <a:gd name="T8" fmla="*/ 0 w 289"/>
              <a:gd name="T9" fmla="*/ 2147483647 h 97"/>
              <a:gd name="T10" fmla="*/ 2147483647 w 289"/>
              <a:gd name="T11" fmla="*/ 2147483647 h 97"/>
              <a:gd name="T12" fmla="*/ 2147483647 w 289"/>
              <a:gd name="T13" fmla="*/ 2147483647 h 97"/>
              <a:gd name="T14" fmla="*/ 2147483647 w 289"/>
              <a:gd name="T15" fmla="*/ 2147483647 h 97"/>
              <a:gd name="T16" fmla="*/ 2147483647 w 289"/>
              <a:gd name="T17" fmla="*/ 2147483647 h 97"/>
              <a:gd name="T18" fmla="*/ 2147483647 w 289"/>
              <a:gd name="T19" fmla="*/ 2147483647 h 97"/>
              <a:gd name="T20" fmla="*/ 2147483647 w 289"/>
              <a:gd name="T21" fmla="*/ 2147483647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62" name="Freeform 202"/>
          <p:cNvSpPr>
            <a:spLocks/>
          </p:cNvSpPr>
          <p:nvPr/>
        </p:nvSpPr>
        <p:spPr bwMode="auto">
          <a:xfrm flipH="1">
            <a:off x="838200" y="3195638"/>
            <a:ext cx="42863" cy="60325"/>
          </a:xfrm>
          <a:custGeom>
            <a:avLst/>
            <a:gdLst>
              <a:gd name="T0" fmla="*/ 2147483647 w 176"/>
              <a:gd name="T1" fmla="*/ 2147483647 h 216"/>
              <a:gd name="T2" fmla="*/ 2147483647 w 176"/>
              <a:gd name="T3" fmla="*/ 2147483647 h 216"/>
              <a:gd name="T4" fmla="*/ 2147483647 w 176"/>
              <a:gd name="T5" fmla="*/ 0 h 216"/>
              <a:gd name="T6" fmla="*/ 2147483647 w 176"/>
              <a:gd name="T7" fmla="*/ 2147483647 h 216"/>
              <a:gd name="T8" fmla="*/ 0 w 176"/>
              <a:gd name="T9" fmla="*/ 2147483647 h 216"/>
              <a:gd name="T10" fmla="*/ 2147483647 w 176"/>
              <a:gd name="T11" fmla="*/ 2147483647 h 216"/>
              <a:gd name="T12" fmla="*/ 2147483647 w 176"/>
              <a:gd name="T13" fmla="*/ 2147483647 h 216"/>
              <a:gd name="T14" fmla="*/ 2147483647 w 176"/>
              <a:gd name="T15" fmla="*/ 2147483647 h 216"/>
              <a:gd name="T16" fmla="*/ 2147483647 w 176"/>
              <a:gd name="T17" fmla="*/ 2147483647 h 216"/>
              <a:gd name="T18" fmla="*/ 2147483647 w 176"/>
              <a:gd name="T19" fmla="*/ 2147483647 h 216"/>
              <a:gd name="T20" fmla="*/ 2147483647 w 176"/>
              <a:gd name="T21" fmla="*/ 2147483647 h 216"/>
              <a:gd name="T22" fmla="*/ 2147483647 w 176"/>
              <a:gd name="T23" fmla="*/ 2147483647 h 216"/>
              <a:gd name="T24" fmla="*/ 2147483647 w 176"/>
              <a:gd name="T25" fmla="*/ 2147483647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63" name="Freeform 203"/>
          <p:cNvSpPr>
            <a:spLocks/>
          </p:cNvSpPr>
          <p:nvPr/>
        </p:nvSpPr>
        <p:spPr bwMode="auto">
          <a:xfrm flipH="1">
            <a:off x="715963" y="2879725"/>
            <a:ext cx="98425" cy="76200"/>
          </a:xfrm>
          <a:custGeom>
            <a:avLst/>
            <a:gdLst>
              <a:gd name="T0" fmla="*/ 0 w 418"/>
              <a:gd name="T1" fmla="*/ 2147483647 h 260"/>
              <a:gd name="T2" fmla="*/ 2147483647 w 418"/>
              <a:gd name="T3" fmla="*/ 2147483647 h 260"/>
              <a:gd name="T4" fmla="*/ 2147483647 w 418"/>
              <a:gd name="T5" fmla="*/ 2147483647 h 260"/>
              <a:gd name="T6" fmla="*/ 2147483647 w 418"/>
              <a:gd name="T7" fmla="*/ 2147483647 h 260"/>
              <a:gd name="T8" fmla="*/ 2147483647 w 418"/>
              <a:gd name="T9" fmla="*/ 2147483647 h 260"/>
              <a:gd name="T10" fmla="*/ 2147483647 w 418"/>
              <a:gd name="T11" fmla="*/ 0 h 260"/>
              <a:gd name="T12" fmla="*/ 2147483647 w 418"/>
              <a:gd name="T13" fmla="*/ 2147483647 h 260"/>
              <a:gd name="T14" fmla="*/ 2147483647 w 418"/>
              <a:gd name="T15" fmla="*/ 2147483647 h 260"/>
              <a:gd name="T16" fmla="*/ 2147483647 w 418"/>
              <a:gd name="T17" fmla="*/ 2147483647 h 260"/>
              <a:gd name="T18" fmla="*/ 2147483647 w 418"/>
              <a:gd name="T19" fmla="*/ 2147483647 h 260"/>
              <a:gd name="T20" fmla="*/ 2147483647 w 418"/>
              <a:gd name="T21" fmla="*/ 2147483647 h 260"/>
              <a:gd name="T22" fmla="*/ 0 w 418"/>
              <a:gd name="T23" fmla="*/ 2147483647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64" name="Freeform 204"/>
          <p:cNvSpPr>
            <a:spLocks/>
          </p:cNvSpPr>
          <p:nvPr/>
        </p:nvSpPr>
        <p:spPr bwMode="auto">
          <a:xfrm flipH="1">
            <a:off x="604838" y="3217863"/>
            <a:ext cx="201612" cy="323850"/>
          </a:xfrm>
          <a:custGeom>
            <a:avLst/>
            <a:gdLst>
              <a:gd name="T0" fmla="*/ 2147483647 w 863"/>
              <a:gd name="T1" fmla="*/ 2147483647 h 1164"/>
              <a:gd name="T2" fmla="*/ 2147483647 w 863"/>
              <a:gd name="T3" fmla="*/ 2147483647 h 1164"/>
              <a:gd name="T4" fmla="*/ 2147483647 w 863"/>
              <a:gd name="T5" fmla="*/ 2147483647 h 1164"/>
              <a:gd name="T6" fmla="*/ 2147483647 w 863"/>
              <a:gd name="T7" fmla="*/ 2147483647 h 1164"/>
              <a:gd name="T8" fmla="*/ 2147483647 w 863"/>
              <a:gd name="T9" fmla="*/ 2147483647 h 1164"/>
              <a:gd name="T10" fmla="*/ 2147483647 w 863"/>
              <a:gd name="T11" fmla="*/ 2147483647 h 1164"/>
              <a:gd name="T12" fmla="*/ 2147483647 w 863"/>
              <a:gd name="T13" fmla="*/ 0 h 1164"/>
              <a:gd name="T14" fmla="*/ 2147483647 w 863"/>
              <a:gd name="T15" fmla="*/ 2147483647 h 1164"/>
              <a:gd name="T16" fmla="*/ 2147483647 w 863"/>
              <a:gd name="T17" fmla="*/ 2147483647 h 1164"/>
              <a:gd name="T18" fmla="*/ 2147483647 w 863"/>
              <a:gd name="T19" fmla="*/ 2147483647 h 1164"/>
              <a:gd name="T20" fmla="*/ 2147483647 w 863"/>
              <a:gd name="T21" fmla="*/ 2147483647 h 1164"/>
              <a:gd name="T22" fmla="*/ 2147483647 w 863"/>
              <a:gd name="T23" fmla="*/ 2147483647 h 1164"/>
              <a:gd name="T24" fmla="*/ 2147483647 w 863"/>
              <a:gd name="T25" fmla="*/ 2147483647 h 1164"/>
              <a:gd name="T26" fmla="*/ 2147483647 w 863"/>
              <a:gd name="T27" fmla="*/ 2147483647 h 1164"/>
              <a:gd name="T28" fmla="*/ 2147483647 w 863"/>
              <a:gd name="T29" fmla="*/ 2147483647 h 1164"/>
              <a:gd name="T30" fmla="*/ 0 w 863"/>
              <a:gd name="T31" fmla="*/ 2147483647 h 1164"/>
              <a:gd name="T32" fmla="*/ 2147483647 w 863"/>
              <a:gd name="T33" fmla="*/ 2147483647 h 1164"/>
              <a:gd name="T34" fmla="*/ 2147483647 w 863"/>
              <a:gd name="T35" fmla="*/ 2147483647 h 1164"/>
              <a:gd name="T36" fmla="*/ 2147483647 w 863"/>
              <a:gd name="T37" fmla="*/ 2147483647 h 1164"/>
              <a:gd name="T38" fmla="*/ 2147483647 w 863"/>
              <a:gd name="T39" fmla="*/ 2147483647 h 1164"/>
              <a:gd name="T40" fmla="*/ 2147483647 w 863"/>
              <a:gd name="T41" fmla="*/ 2147483647 h 1164"/>
              <a:gd name="T42" fmla="*/ 2147483647 w 863"/>
              <a:gd name="T43" fmla="*/ 2147483647 h 1164"/>
              <a:gd name="T44" fmla="*/ 2147483647 w 863"/>
              <a:gd name="T45" fmla="*/ 2147483647 h 1164"/>
              <a:gd name="T46" fmla="*/ 2147483647 w 863"/>
              <a:gd name="T47" fmla="*/ 2147483647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465" name="Freeform 205"/>
          <p:cNvSpPr>
            <a:spLocks/>
          </p:cNvSpPr>
          <p:nvPr/>
        </p:nvSpPr>
        <p:spPr bwMode="auto">
          <a:xfrm flipH="1">
            <a:off x="609600" y="3235325"/>
            <a:ext cx="174625" cy="293688"/>
          </a:xfrm>
          <a:custGeom>
            <a:avLst/>
            <a:gdLst>
              <a:gd name="T0" fmla="*/ 2147483647 w 743"/>
              <a:gd name="T1" fmla="*/ 2147483647 h 1068"/>
              <a:gd name="T2" fmla="*/ 2147483647 w 743"/>
              <a:gd name="T3" fmla="*/ 2147483647 h 1068"/>
              <a:gd name="T4" fmla="*/ 2147483647 w 743"/>
              <a:gd name="T5" fmla="*/ 2147483647 h 1068"/>
              <a:gd name="T6" fmla="*/ 2147483647 w 743"/>
              <a:gd name="T7" fmla="*/ 2147483647 h 1068"/>
              <a:gd name="T8" fmla="*/ 2147483647 w 743"/>
              <a:gd name="T9" fmla="*/ 2147483647 h 1068"/>
              <a:gd name="T10" fmla="*/ 2147483647 w 743"/>
              <a:gd name="T11" fmla="*/ 0 h 1068"/>
              <a:gd name="T12" fmla="*/ 2147483647 w 743"/>
              <a:gd name="T13" fmla="*/ 2147483647 h 1068"/>
              <a:gd name="T14" fmla="*/ 2147483647 w 743"/>
              <a:gd name="T15" fmla="*/ 2147483647 h 1068"/>
              <a:gd name="T16" fmla="*/ 2147483647 w 743"/>
              <a:gd name="T17" fmla="*/ 2147483647 h 1068"/>
              <a:gd name="T18" fmla="*/ 2147483647 w 743"/>
              <a:gd name="T19" fmla="*/ 2147483647 h 1068"/>
              <a:gd name="T20" fmla="*/ 2147483647 w 743"/>
              <a:gd name="T21" fmla="*/ 2147483647 h 1068"/>
              <a:gd name="T22" fmla="*/ 2147483647 w 743"/>
              <a:gd name="T23" fmla="*/ 2147483647 h 1068"/>
              <a:gd name="T24" fmla="*/ 2147483647 w 743"/>
              <a:gd name="T25" fmla="*/ 2147483647 h 1068"/>
              <a:gd name="T26" fmla="*/ 2147483647 w 743"/>
              <a:gd name="T27" fmla="*/ 2147483647 h 1068"/>
              <a:gd name="T28" fmla="*/ 2147483647 w 743"/>
              <a:gd name="T29" fmla="*/ 2147483647 h 1068"/>
              <a:gd name="T30" fmla="*/ 0 w 743"/>
              <a:gd name="T31" fmla="*/ 2147483647 h 1068"/>
              <a:gd name="T32" fmla="*/ 2147483647 w 743"/>
              <a:gd name="T33" fmla="*/ 2147483647 h 1068"/>
              <a:gd name="T34" fmla="*/ 2147483647 w 743"/>
              <a:gd name="T35" fmla="*/ 2147483647 h 1068"/>
              <a:gd name="T36" fmla="*/ 2147483647 w 743"/>
              <a:gd name="T37" fmla="*/ 2147483647 h 1068"/>
              <a:gd name="T38" fmla="*/ 2147483647 w 743"/>
              <a:gd name="T39" fmla="*/ 2147483647 h 1068"/>
              <a:gd name="T40" fmla="*/ 2147483647 w 743"/>
              <a:gd name="T41" fmla="*/ 2147483647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66" name="Freeform 207"/>
          <p:cNvSpPr>
            <a:spLocks/>
          </p:cNvSpPr>
          <p:nvPr/>
        </p:nvSpPr>
        <p:spPr bwMode="auto">
          <a:xfrm flipH="1">
            <a:off x="1365250" y="4102100"/>
            <a:ext cx="277813" cy="204788"/>
          </a:xfrm>
          <a:custGeom>
            <a:avLst/>
            <a:gdLst>
              <a:gd name="T0" fmla="*/ 0 w 1188"/>
              <a:gd name="T1" fmla="*/ 2147483647 h 738"/>
              <a:gd name="T2" fmla="*/ 0 w 1188"/>
              <a:gd name="T3" fmla="*/ 2147483647 h 738"/>
              <a:gd name="T4" fmla="*/ 2147483647 w 1188"/>
              <a:gd name="T5" fmla="*/ 2147483647 h 738"/>
              <a:gd name="T6" fmla="*/ 2147483647 w 1188"/>
              <a:gd name="T7" fmla="*/ 0 h 738"/>
              <a:gd name="T8" fmla="*/ 0 w 1188"/>
              <a:gd name="T9" fmla="*/ 2147483647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467" name="Freeform 208"/>
          <p:cNvSpPr>
            <a:spLocks/>
          </p:cNvSpPr>
          <p:nvPr/>
        </p:nvSpPr>
        <p:spPr bwMode="auto">
          <a:xfrm flipH="1">
            <a:off x="1643063" y="4151313"/>
            <a:ext cx="204787" cy="155575"/>
          </a:xfrm>
          <a:custGeom>
            <a:avLst/>
            <a:gdLst>
              <a:gd name="T0" fmla="*/ 2147483647 w 882"/>
              <a:gd name="T1" fmla="*/ 2147483647 h 563"/>
              <a:gd name="T2" fmla="*/ 2147483647 w 882"/>
              <a:gd name="T3" fmla="*/ 2147483647 h 563"/>
              <a:gd name="T4" fmla="*/ 0 w 882"/>
              <a:gd name="T5" fmla="*/ 2147483647 h 563"/>
              <a:gd name="T6" fmla="*/ 0 w 882"/>
              <a:gd name="T7" fmla="*/ 0 h 563"/>
              <a:gd name="T8" fmla="*/ 2147483647 w 882"/>
              <a:gd name="T9" fmla="*/ 2147483647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468" name="Freeform 209"/>
          <p:cNvSpPr>
            <a:spLocks/>
          </p:cNvSpPr>
          <p:nvPr/>
        </p:nvSpPr>
        <p:spPr bwMode="auto">
          <a:xfrm flipH="1">
            <a:off x="1365250" y="4102100"/>
            <a:ext cx="482600" cy="63500"/>
          </a:xfrm>
          <a:custGeom>
            <a:avLst/>
            <a:gdLst>
              <a:gd name="T0" fmla="*/ 0 w 2070"/>
              <a:gd name="T1" fmla="*/ 2147483647 h 225"/>
              <a:gd name="T2" fmla="*/ 2147483647 w 2070"/>
              <a:gd name="T3" fmla="*/ 2147483647 h 225"/>
              <a:gd name="T4" fmla="*/ 2147483647 w 2070"/>
              <a:gd name="T5" fmla="*/ 0 h 225"/>
              <a:gd name="T6" fmla="*/ 2147483647 w 2070"/>
              <a:gd name="T7" fmla="*/ 0 h 225"/>
              <a:gd name="T8" fmla="*/ 0 w 2070"/>
              <a:gd name="T9" fmla="*/ 2147483647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469" name="Freeform 210"/>
          <p:cNvSpPr>
            <a:spLocks/>
          </p:cNvSpPr>
          <p:nvPr/>
        </p:nvSpPr>
        <p:spPr bwMode="auto">
          <a:xfrm flipH="1">
            <a:off x="1512888" y="4086225"/>
            <a:ext cx="177800" cy="57150"/>
          </a:xfrm>
          <a:custGeom>
            <a:avLst/>
            <a:gdLst>
              <a:gd name="T0" fmla="*/ 0 w 751"/>
              <a:gd name="T1" fmla="*/ 2147483647 h 210"/>
              <a:gd name="T2" fmla="*/ 0 w 751"/>
              <a:gd name="T3" fmla="*/ 2147483647 h 210"/>
              <a:gd name="T4" fmla="*/ 2147483647 w 751"/>
              <a:gd name="T5" fmla="*/ 2147483647 h 210"/>
              <a:gd name="T6" fmla="*/ 2147483647 w 751"/>
              <a:gd name="T7" fmla="*/ 2147483647 h 210"/>
              <a:gd name="T8" fmla="*/ 2147483647 w 751"/>
              <a:gd name="T9" fmla="*/ 0 h 210"/>
              <a:gd name="T10" fmla="*/ 0 w 751"/>
              <a:gd name="T11" fmla="*/ 2147483647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470" name="Freeform 211"/>
          <p:cNvSpPr>
            <a:spLocks/>
          </p:cNvSpPr>
          <p:nvPr/>
        </p:nvSpPr>
        <p:spPr bwMode="auto">
          <a:xfrm flipH="1">
            <a:off x="1419225" y="3838575"/>
            <a:ext cx="225425" cy="282575"/>
          </a:xfrm>
          <a:custGeom>
            <a:avLst/>
            <a:gdLst>
              <a:gd name="T0" fmla="*/ 2147483647 w 960"/>
              <a:gd name="T1" fmla="*/ 2147483647 h 1031"/>
              <a:gd name="T2" fmla="*/ 0 w 960"/>
              <a:gd name="T3" fmla="*/ 2147483647 h 1031"/>
              <a:gd name="T4" fmla="*/ 2147483647 w 960"/>
              <a:gd name="T5" fmla="*/ 0 h 1031"/>
              <a:gd name="T6" fmla="*/ 2147483647 w 960"/>
              <a:gd name="T7" fmla="*/ 2147483647 h 1031"/>
              <a:gd name="T8" fmla="*/ 2147483647 w 960"/>
              <a:gd name="T9" fmla="*/ 2147483647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471" name="Freeform 212"/>
          <p:cNvSpPr>
            <a:spLocks/>
          </p:cNvSpPr>
          <p:nvPr/>
        </p:nvSpPr>
        <p:spPr bwMode="auto">
          <a:xfrm flipH="1">
            <a:off x="1612900" y="3846513"/>
            <a:ext cx="198438" cy="282575"/>
          </a:xfrm>
          <a:custGeom>
            <a:avLst/>
            <a:gdLst>
              <a:gd name="T0" fmla="*/ 2147483647 w 850"/>
              <a:gd name="T1" fmla="*/ 0 h 1026"/>
              <a:gd name="T2" fmla="*/ 0 w 850"/>
              <a:gd name="T3" fmla="*/ 2147483647 h 1026"/>
              <a:gd name="T4" fmla="*/ 2147483647 w 850"/>
              <a:gd name="T5" fmla="*/ 2147483647 h 1026"/>
              <a:gd name="T6" fmla="*/ 2147483647 w 850"/>
              <a:gd name="T7" fmla="*/ 2147483647 h 1026"/>
              <a:gd name="T8" fmla="*/ 2147483647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472" name="Freeform 213"/>
          <p:cNvSpPr>
            <a:spLocks/>
          </p:cNvSpPr>
          <p:nvPr/>
        </p:nvSpPr>
        <p:spPr bwMode="auto">
          <a:xfrm flipH="1">
            <a:off x="1444625" y="3867150"/>
            <a:ext cx="161925" cy="212725"/>
          </a:xfrm>
          <a:custGeom>
            <a:avLst/>
            <a:gdLst>
              <a:gd name="T0" fmla="*/ 0 w 689"/>
              <a:gd name="T1" fmla="*/ 2147483647 h 778"/>
              <a:gd name="T2" fmla="*/ 2147483647 w 689"/>
              <a:gd name="T3" fmla="*/ 2147483647 h 778"/>
              <a:gd name="T4" fmla="*/ 2147483647 w 689"/>
              <a:gd name="T5" fmla="*/ 2147483647 h 778"/>
              <a:gd name="T6" fmla="*/ 2147483647 w 689"/>
              <a:gd name="T7" fmla="*/ 0 h 778"/>
              <a:gd name="T8" fmla="*/ 0 w 689"/>
              <a:gd name="T9" fmla="*/ 2147483647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11473" name="Freeform 214"/>
          <p:cNvSpPr>
            <a:spLocks/>
          </p:cNvSpPr>
          <p:nvPr/>
        </p:nvSpPr>
        <p:spPr bwMode="auto">
          <a:xfrm flipH="1">
            <a:off x="1384300" y="4124325"/>
            <a:ext cx="157163" cy="131763"/>
          </a:xfrm>
          <a:custGeom>
            <a:avLst/>
            <a:gdLst>
              <a:gd name="T0" fmla="*/ 2147483647 w 674"/>
              <a:gd name="T1" fmla="*/ 0 h 482"/>
              <a:gd name="T2" fmla="*/ 0 w 674"/>
              <a:gd name="T3" fmla="*/ 2147483647 h 482"/>
              <a:gd name="T4" fmla="*/ 0 w 674"/>
              <a:gd name="T5" fmla="*/ 2147483647 h 482"/>
              <a:gd name="T6" fmla="*/ 2147483647 w 674"/>
              <a:gd name="T7" fmla="*/ 2147483647 h 482"/>
              <a:gd name="T8" fmla="*/ 2147483647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474" name="Line 215"/>
          <p:cNvSpPr>
            <a:spLocks noChangeShapeType="1"/>
          </p:cNvSpPr>
          <p:nvPr/>
        </p:nvSpPr>
        <p:spPr bwMode="auto">
          <a:xfrm flipH="1" flipV="1">
            <a:off x="1395413" y="4157663"/>
            <a:ext cx="42862" cy="95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5" name="Line 216"/>
          <p:cNvSpPr>
            <a:spLocks noChangeShapeType="1"/>
          </p:cNvSpPr>
          <p:nvPr/>
        </p:nvSpPr>
        <p:spPr bwMode="auto">
          <a:xfrm>
            <a:off x="1460500" y="4171950"/>
            <a:ext cx="52388" cy="174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6" name="Line 217"/>
          <p:cNvSpPr>
            <a:spLocks noChangeShapeType="1"/>
          </p:cNvSpPr>
          <p:nvPr/>
        </p:nvSpPr>
        <p:spPr bwMode="auto">
          <a:xfrm flipH="1">
            <a:off x="1447800" y="4140200"/>
            <a:ext cx="0" cy="873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7" name="Line 218"/>
          <p:cNvSpPr>
            <a:spLocks noChangeShapeType="1"/>
          </p:cNvSpPr>
          <p:nvPr/>
        </p:nvSpPr>
        <p:spPr bwMode="auto">
          <a:xfrm flipH="1">
            <a:off x="1524000" y="4160838"/>
            <a:ext cx="1588" cy="9207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8" name="Line 219"/>
          <p:cNvSpPr>
            <a:spLocks noChangeShapeType="1"/>
          </p:cNvSpPr>
          <p:nvPr/>
        </p:nvSpPr>
        <p:spPr bwMode="auto">
          <a:xfrm>
            <a:off x="1381125" y="4157663"/>
            <a:ext cx="144463" cy="4286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9" name="Line 220"/>
          <p:cNvSpPr>
            <a:spLocks noChangeShapeType="1"/>
          </p:cNvSpPr>
          <p:nvPr/>
        </p:nvSpPr>
        <p:spPr bwMode="auto">
          <a:xfrm flipH="1" flipV="1">
            <a:off x="1381125" y="4146550"/>
            <a:ext cx="144463" cy="3810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80" name="Freeform 221"/>
          <p:cNvSpPr>
            <a:spLocks/>
          </p:cNvSpPr>
          <p:nvPr/>
        </p:nvSpPr>
        <p:spPr bwMode="auto">
          <a:xfrm flipH="1">
            <a:off x="1558925" y="4252913"/>
            <a:ext cx="14288" cy="52387"/>
          </a:xfrm>
          <a:custGeom>
            <a:avLst/>
            <a:gdLst>
              <a:gd name="T0" fmla="*/ 2147483647 w 75"/>
              <a:gd name="T1" fmla="*/ 0 h 194"/>
              <a:gd name="T2" fmla="*/ 0 w 75"/>
              <a:gd name="T3" fmla="*/ 2147483647 h 194"/>
              <a:gd name="T4" fmla="*/ 2147483647 w 75"/>
              <a:gd name="T5" fmla="*/ 2147483647 h 194"/>
              <a:gd name="T6" fmla="*/ 2147483647 w 75"/>
              <a:gd name="T7" fmla="*/ 2147483647 h 194"/>
              <a:gd name="T8" fmla="*/ 2147483647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481" name="Freeform 222"/>
          <p:cNvSpPr>
            <a:spLocks/>
          </p:cNvSpPr>
          <p:nvPr/>
        </p:nvSpPr>
        <p:spPr bwMode="auto">
          <a:xfrm flipH="1">
            <a:off x="1512888" y="4259263"/>
            <a:ext cx="50800" cy="46037"/>
          </a:xfrm>
          <a:custGeom>
            <a:avLst/>
            <a:gdLst>
              <a:gd name="T0" fmla="*/ 2147483647 w 206"/>
              <a:gd name="T1" fmla="*/ 2147483647 h 168"/>
              <a:gd name="T2" fmla="*/ 0 w 206"/>
              <a:gd name="T3" fmla="*/ 2147483647 h 168"/>
              <a:gd name="T4" fmla="*/ 2147483647 w 206"/>
              <a:gd name="T5" fmla="*/ 2147483647 h 168"/>
              <a:gd name="T6" fmla="*/ 2147483647 w 206"/>
              <a:gd name="T7" fmla="*/ 2147483647 h 168"/>
              <a:gd name="T8" fmla="*/ 2147483647 w 206"/>
              <a:gd name="T9" fmla="*/ 2147483647 h 168"/>
              <a:gd name="T10" fmla="*/ 2147483647 w 206"/>
              <a:gd name="T11" fmla="*/ 0 h 168"/>
              <a:gd name="T12" fmla="*/ 2147483647 w 206"/>
              <a:gd name="T13" fmla="*/ 2147483647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482" name="Freeform 223"/>
          <p:cNvSpPr>
            <a:spLocks/>
          </p:cNvSpPr>
          <p:nvPr/>
        </p:nvSpPr>
        <p:spPr bwMode="auto">
          <a:xfrm flipH="1">
            <a:off x="1223963" y="4125913"/>
            <a:ext cx="368300" cy="203200"/>
          </a:xfrm>
          <a:custGeom>
            <a:avLst/>
            <a:gdLst>
              <a:gd name="T0" fmla="*/ 0 w 1583"/>
              <a:gd name="T1" fmla="*/ 2147483647 h 729"/>
              <a:gd name="T2" fmla="*/ 2147483647 w 1583"/>
              <a:gd name="T3" fmla="*/ 2147483647 h 729"/>
              <a:gd name="T4" fmla="*/ 2147483647 w 1583"/>
              <a:gd name="T5" fmla="*/ 2147483647 h 729"/>
              <a:gd name="T6" fmla="*/ 2147483647 w 1583"/>
              <a:gd name="T7" fmla="*/ 0 h 729"/>
              <a:gd name="T8" fmla="*/ 0 w 1583"/>
              <a:gd name="T9" fmla="*/ 2147483647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483" name="Freeform 224"/>
          <p:cNvSpPr>
            <a:spLocks/>
          </p:cNvSpPr>
          <p:nvPr/>
        </p:nvSpPr>
        <p:spPr bwMode="auto">
          <a:xfrm flipH="1">
            <a:off x="1414463" y="4211638"/>
            <a:ext cx="185737" cy="144462"/>
          </a:xfrm>
          <a:custGeom>
            <a:avLst/>
            <a:gdLst>
              <a:gd name="T0" fmla="*/ 2147483647 w 792"/>
              <a:gd name="T1" fmla="*/ 0 h 516"/>
              <a:gd name="T2" fmla="*/ 2147483647 w 792"/>
              <a:gd name="T3" fmla="*/ 2147483647 h 516"/>
              <a:gd name="T4" fmla="*/ 2147483647 w 792"/>
              <a:gd name="T5" fmla="*/ 2147483647 h 516"/>
              <a:gd name="T6" fmla="*/ 0 w 792"/>
              <a:gd name="T7" fmla="*/ 2147483647 h 516"/>
              <a:gd name="T8" fmla="*/ 2147483647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484" name="Freeform 225"/>
          <p:cNvSpPr>
            <a:spLocks/>
          </p:cNvSpPr>
          <p:nvPr/>
        </p:nvSpPr>
        <p:spPr bwMode="auto">
          <a:xfrm flipH="1">
            <a:off x="1220788" y="4214813"/>
            <a:ext cx="198437" cy="141287"/>
          </a:xfrm>
          <a:custGeom>
            <a:avLst/>
            <a:gdLst>
              <a:gd name="T0" fmla="*/ 0 w 846"/>
              <a:gd name="T1" fmla="*/ 2147483647 h 507"/>
              <a:gd name="T2" fmla="*/ 2147483647 w 846"/>
              <a:gd name="T3" fmla="*/ 2147483647 h 507"/>
              <a:gd name="T4" fmla="*/ 2147483647 w 846"/>
              <a:gd name="T5" fmla="*/ 0 h 507"/>
              <a:gd name="T6" fmla="*/ 2147483647 w 846"/>
              <a:gd name="T7" fmla="*/ 2147483647 h 507"/>
              <a:gd name="T8" fmla="*/ 0 w 846"/>
              <a:gd name="T9" fmla="*/ 2147483647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485" name="Freeform 226"/>
          <p:cNvSpPr>
            <a:spLocks/>
          </p:cNvSpPr>
          <p:nvPr/>
        </p:nvSpPr>
        <p:spPr bwMode="auto">
          <a:xfrm flipH="1">
            <a:off x="1373188" y="4221163"/>
            <a:ext cx="147637" cy="90487"/>
          </a:xfrm>
          <a:custGeom>
            <a:avLst/>
            <a:gdLst>
              <a:gd name="T0" fmla="*/ 0 w 637"/>
              <a:gd name="T1" fmla="*/ 2147483647 h 321"/>
              <a:gd name="T2" fmla="*/ 2147483647 w 637"/>
              <a:gd name="T3" fmla="*/ 0 h 321"/>
              <a:gd name="T4" fmla="*/ 2147483647 w 637"/>
              <a:gd name="T5" fmla="*/ 2147483647 h 321"/>
              <a:gd name="T6" fmla="*/ 2147483647 w 637"/>
              <a:gd name="T7" fmla="*/ 2147483647 h 321"/>
              <a:gd name="T8" fmla="*/ 0 w 637"/>
              <a:gd name="T9" fmla="*/ 2147483647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86" name="Freeform 227"/>
          <p:cNvSpPr>
            <a:spLocks/>
          </p:cNvSpPr>
          <p:nvPr/>
        </p:nvSpPr>
        <p:spPr bwMode="auto">
          <a:xfrm flipH="1">
            <a:off x="1239838" y="4160838"/>
            <a:ext cx="220662" cy="120650"/>
          </a:xfrm>
          <a:custGeom>
            <a:avLst/>
            <a:gdLst>
              <a:gd name="T0" fmla="*/ 0 w 938"/>
              <a:gd name="T1" fmla="*/ 2147483647 h 434"/>
              <a:gd name="T2" fmla="*/ 2147483647 w 938"/>
              <a:gd name="T3" fmla="*/ 2147483647 h 434"/>
              <a:gd name="T4" fmla="*/ 2147483647 w 938"/>
              <a:gd name="T5" fmla="*/ 2147483647 h 434"/>
              <a:gd name="T6" fmla="*/ 2147483647 w 938"/>
              <a:gd name="T7" fmla="*/ 0 h 434"/>
              <a:gd name="T8" fmla="*/ 0 w 938"/>
              <a:gd name="T9" fmla="*/ 2147483647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87" name="Freeform 228"/>
          <p:cNvSpPr>
            <a:spLocks/>
          </p:cNvSpPr>
          <p:nvPr/>
        </p:nvSpPr>
        <p:spPr bwMode="auto">
          <a:xfrm flipH="1">
            <a:off x="1333500" y="4133850"/>
            <a:ext cx="239713" cy="107950"/>
          </a:xfrm>
          <a:custGeom>
            <a:avLst/>
            <a:gdLst>
              <a:gd name="T0" fmla="*/ 2147483647 w 1034"/>
              <a:gd name="T1" fmla="*/ 2147483647 h 395"/>
              <a:gd name="T2" fmla="*/ 0 w 1034"/>
              <a:gd name="T3" fmla="*/ 2147483647 h 395"/>
              <a:gd name="T4" fmla="*/ 2147483647 w 1034"/>
              <a:gd name="T5" fmla="*/ 0 h 395"/>
              <a:gd name="T6" fmla="*/ 2147483647 w 1034"/>
              <a:gd name="T7" fmla="*/ 2147483647 h 395"/>
              <a:gd name="T8" fmla="*/ 2147483647 w 1034"/>
              <a:gd name="T9" fmla="*/ 2147483647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88" name="Line 229"/>
          <p:cNvSpPr>
            <a:spLocks noChangeShapeType="1"/>
          </p:cNvSpPr>
          <p:nvPr/>
        </p:nvSpPr>
        <p:spPr bwMode="auto">
          <a:xfrm flipH="1" flipV="1">
            <a:off x="1360488" y="4138613"/>
            <a:ext cx="206375" cy="841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89" name="Line 230"/>
          <p:cNvSpPr>
            <a:spLocks noChangeShapeType="1"/>
          </p:cNvSpPr>
          <p:nvPr/>
        </p:nvSpPr>
        <p:spPr bwMode="auto">
          <a:xfrm flipH="1" flipV="1">
            <a:off x="1349375" y="4143375"/>
            <a:ext cx="201613" cy="873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0" name="Line 231"/>
          <p:cNvSpPr>
            <a:spLocks noChangeShapeType="1"/>
          </p:cNvSpPr>
          <p:nvPr/>
        </p:nvSpPr>
        <p:spPr bwMode="auto">
          <a:xfrm flipH="1" flipV="1">
            <a:off x="1339850" y="4151313"/>
            <a:ext cx="198438"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1" name="Line 232"/>
          <p:cNvSpPr>
            <a:spLocks noChangeShapeType="1"/>
          </p:cNvSpPr>
          <p:nvPr/>
        </p:nvSpPr>
        <p:spPr bwMode="auto">
          <a:xfrm flipH="1" flipV="1">
            <a:off x="1314450" y="4165600"/>
            <a:ext cx="195263" cy="9048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2" name="Line 233"/>
          <p:cNvSpPr>
            <a:spLocks noChangeShapeType="1"/>
          </p:cNvSpPr>
          <p:nvPr/>
        </p:nvSpPr>
        <p:spPr bwMode="auto">
          <a:xfrm flipH="1" flipV="1">
            <a:off x="1300163" y="4175125"/>
            <a:ext cx="192087" cy="936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3" name="Line 234"/>
          <p:cNvSpPr>
            <a:spLocks noChangeShapeType="1"/>
          </p:cNvSpPr>
          <p:nvPr/>
        </p:nvSpPr>
        <p:spPr bwMode="auto">
          <a:xfrm flipH="1" flipV="1">
            <a:off x="1296988" y="4189413"/>
            <a:ext cx="174625" cy="857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4" name="Line 235"/>
          <p:cNvSpPr>
            <a:spLocks noChangeShapeType="1"/>
          </p:cNvSpPr>
          <p:nvPr/>
        </p:nvSpPr>
        <p:spPr bwMode="auto">
          <a:xfrm flipH="1" flipV="1">
            <a:off x="1287463" y="4195763"/>
            <a:ext cx="166687" cy="889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5" name="Line 236"/>
          <p:cNvSpPr>
            <a:spLocks noChangeShapeType="1"/>
          </p:cNvSpPr>
          <p:nvPr/>
        </p:nvSpPr>
        <p:spPr bwMode="auto">
          <a:xfrm flipH="1" flipV="1">
            <a:off x="1270000" y="4208463"/>
            <a:ext cx="161925" cy="8731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6" name="Line 237"/>
          <p:cNvSpPr>
            <a:spLocks noChangeShapeType="1"/>
          </p:cNvSpPr>
          <p:nvPr/>
        </p:nvSpPr>
        <p:spPr bwMode="auto">
          <a:xfrm flipH="1">
            <a:off x="1401763" y="4238625"/>
            <a:ext cx="100012" cy="666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7" name="Line 238"/>
          <p:cNvSpPr>
            <a:spLocks noChangeShapeType="1"/>
          </p:cNvSpPr>
          <p:nvPr/>
        </p:nvSpPr>
        <p:spPr bwMode="auto">
          <a:xfrm flipH="1">
            <a:off x="1384300" y="4230688"/>
            <a:ext cx="96838" cy="6191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8" name="Line 239"/>
          <p:cNvSpPr>
            <a:spLocks noChangeShapeType="1"/>
          </p:cNvSpPr>
          <p:nvPr/>
        </p:nvSpPr>
        <p:spPr bwMode="auto">
          <a:xfrm flipH="1">
            <a:off x="1341438" y="4208463"/>
            <a:ext cx="98425"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99" name="Line 240"/>
          <p:cNvSpPr>
            <a:spLocks noChangeShapeType="1"/>
          </p:cNvSpPr>
          <p:nvPr/>
        </p:nvSpPr>
        <p:spPr bwMode="auto">
          <a:xfrm flipH="1">
            <a:off x="1320800" y="4198938"/>
            <a:ext cx="95250"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0" name="Line 241"/>
          <p:cNvSpPr>
            <a:spLocks noChangeShapeType="1"/>
          </p:cNvSpPr>
          <p:nvPr/>
        </p:nvSpPr>
        <p:spPr bwMode="auto">
          <a:xfrm flipH="1">
            <a:off x="1300163" y="4189413"/>
            <a:ext cx="93662" cy="6032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1" name="Line 242"/>
          <p:cNvSpPr>
            <a:spLocks noChangeShapeType="1"/>
          </p:cNvSpPr>
          <p:nvPr/>
        </p:nvSpPr>
        <p:spPr bwMode="auto">
          <a:xfrm flipH="1">
            <a:off x="1281113" y="4179888"/>
            <a:ext cx="92075" cy="5873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2" name="Line 243"/>
          <p:cNvSpPr>
            <a:spLocks noChangeShapeType="1"/>
          </p:cNvSpPr>
          <p:nvPr/>
        </p:nvSpPr>
        <p:spPr bwMode="auto">
          <a:xfrm flipH="1">
            <a:off x="1262063" y="4170363"/>
            <a:ext cx="92075" cy="539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3" name="Line 244"/>
          <p:cNvSpPr>
            <a:spLocks noChangeShapeType="1"/>
          </p:cNvSpPr>
          <p:nvPr/>
        </p:nvSpPr>
        <p:spPr bwMode="auto">
          <a:xfrm flipH="1">
            <a:off x="1495425" y="4198938"/>
            <a:ext cx="49213" cy="3175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4" name="Line 245"/>
          <p:cNvSpPr>
            <a:spLocks noChangeShapeType="1"/>
          </p:cNvSpPr>
          <p:nvPr/>
        </p:nvSpPr>
        <p:spPr bwMode="auto">
          <a:xfrm flipH="1">
            <a:off x="1466850" y="4189413"/>
            <a:ext cx="46038"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5" name="Line 246"/>
          <p:cNvSpPr>
            <a:spLocks noChangeShapeType="1"/>
          </p:cNvSpPr>
          <p:nvPr/>
        </p:nvSpPr>
        <p:spPr bwMode="auto">
          <a:xfrm flipH="1">
            <a:off x="1439863" y="4178300"/>
            <a:ext cx="46037" cy="28575"/>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6" name="Line 247"/>
          <p:cNvSpPr>
            <a:spLocks noChangeShapeType="1"/>
          </p:cNvSpPr>
          <p:nvPr/>
        </p:nvSpPr>
        <p:spPr bwMode="auto">
          <a:xfrm flipH="1">
            <a:off x="1412875" y="4167188"/>
            <a:ext cx="42863" cy="2540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7" name="Line 248"/>
          <p:cNvSpPr>
            <a:spLocks noChangeShapeType="1"/>
          </p:cNvSpPr>
          <p:nvPr/>
        </p:nvSpPr>
        <p:spPr bwMode="auto">
          <a:xfrm flipH="1">
            <a:off x="1385888" y="4154488"/>
            <a:ext cx="41275" cy="2698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8" name="Line 249"/>
          <p:cNvSpPr>
            <a:spLocks noChangeShapeType="1"/>
          </p:cNvSpPr>
          <p:nvPr/>
        </p:nvSpPr>
        <p:spPr bwMode="auto">
          <a:xfrm flipH="1">
            <a:off x="1355725" y="4143375"/>
            <a:ext cx="39688" cy="2381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09" name="Freeform 250"/>
          <p:cNvSpPr>
            <a:spLocks/>
          </p:cNvSpPr>
          <p:nvPr/>
        </p:nvSpPr>
        <p:spPr bwMode="auto">
          <a:xfrm flipH="1">
            <a:off x="977900" y="4425950"/>
            <a:ext cx="487363" cy="258763"/>
          </a:xfrm>
          <a:custGeom>
            <a:avLst/>
            <a:gdLst>
              <a:gd name="T0" fmla="*/ 2147483647 w 2091"/>
              <a:gd name="T1" fmla="*/ 2147483647 h 931"/>
              <a:gd name="T2" fmla="*/ 2147483647 w 2091"/>
              <a:gd name="T3" fmla="*/ 2147483647 h 931"/>
              <a:gd name="T4" fmla="*/ 0 w 2091"/>
              <a:gd name="T5" fmla="*/ 2147483647 h 931"/>
              <a:gd name="T6" fmla="*/ 2147483647 w 2091"/>
              <a:gd name="T7" fmla="*/ 2147483647 h 931"/>
              <a:gd name="T8" fmla="*/ 2147483647 w 2091"/>
              <a:gd name="T9" fmla="*/ 2147483647 h 931"/>
              <a:gd name="T10" fmla="*/ 2147483647 w 2091"/>
              <a:gd name="T11" fmla="*/ 2147483647 h 931"/>
              <a:gd name="T12" fmla="*/ 2147483647 w 2091"/>
              <a:gd name="T13" fmla="*/ 2147483647 h 931"/>
              <a:gd name="T14" fmla="*/ 2147483647 w 2091"/>
              <a:gd name="T15" fmla="*/ 2147483647 h 931"/>
              <a:gd name="T16" fmla="*/ 2147483647 w 2091"/>
              <a:gd name="T17" fmla="*/ 2147483647 h 931"/>
              <a:gd name="T18" fmla="*/ 2147483647 w 2091"/>
              <a:gd name="T19" fmla="*/ 2147483647 h 931"/>
              <a:gd name="T20" fmla="*/ 2147483647 w 2091"/>
              <a:gd name="T21" fmla="*/ 2147483647 h 931"/>
              <a:gd name="T22" fmla="*/ 2147483647 w 2091"/>
              <a:gd name="T23" fmla="*/ 2147483647 h 931"/>
              <a:gd name="T24" fmla="*/ 2147483647 w 2091"/>
              <a:gd name="T25" fmla="*/ 2147483647 h 931"/>
              <a:gd name="T26" fmla="*/ 2147483647 w 2091"/>
              <a:gd name="T27" fmla="*/ 2147483647 h 931"/>
              <a:gd name="T28" fmla="*/ 2147483647 w 2091"/>
              <a:gd name="T29" fmla="*/ 2147483647 h 931"/>
              <a:gd name="T30" fmla="*/ 2147483647 w 2091"/>
              <a:gd name="T31" fmla="*/ 2147483647 h 931"/>
              <a:gd name="T32" fmla="*/ 2147483647 w 2091"/>
              <a:gd name="T33" fmla="*/ 2147483647 h 931"/>
              <a:gd name="T34" fmla="*/ 2147483647 w 2091"/>
              <a:gd name="T35" fmla="*/ 2147483647 h 931"/>
              <a:gd name="T36" fmla="*/ 2147483647 w 2091"/>
              <a:gd name="T37" fmla="*/ 2147483647 h 931"/>
              <a:gd name="T38" fmla="*/ 2147483647 w 2091"/>
              <a:gd name="T39" fmla="*/ 0 h 931"/>
              <a:gd name="T40" fmla="*/ 2147483647 w 2091"/>
              <a:gd name="T41" fmla="*/ 2147483647 h 931"/>
              <a:gd name="T42" fmla="*/ 2147483647 w 2091"/>
              <a:gd name="T43" fmla="*/ 2147483647 h 931"/>
              <a:gd name="T44" fmla="*/ 2147483647 w 2091"/>
              <a:gd name="T45" fmla="*/ 2147483647 h 931"/>
              <a:gd name="T46" fmla="*/ 2147483647 w 2091"/>
              <a:gd name="T47" fmla="*/ 2147483647 h 931"/>
              <a:gd name="T48" fmla="*/ 2147483647 w 2091"/>
              <a:gd name="T49" fmla="*/ 2147483647 h 931"/>
              <a:gd name="T50" fmla="*/ 2147483647 w 2091"/>
              <a:gd name="T51" fmla="*/ 2147483647 h 931"/>
              <a:gd name="T52" fmla="*/ 2147483647 w 2091"/>
              <a:gd name="T53" fmla="*/ 2147483647 h 931"/>
              <a:gd name="T54" fmla="*/ 2147483647 w 2091"/>
              <a:gd name="T55" fmla="*/ 2147483647 h 931"/>
              <a:gd name="T56" fmla="*/ 2147483647 w 2091"/>
              <a:gd name="T57" fmla="*/ 2147483647 h 931"/>
              <a:gd name="T58" fmla="*/ 2147483647 w 2091"/>
              <a:gd name="T59" fmla="*/ 2147483647 h 931"/>
              <a:gd name="T60" fmla="*/ 2147483647 w 2091"/>
              <a:gd name="T61" fmla="*/ 2147483647 h 931"/>
              <a:gd name="T62" fmla="*/ 2147483647 w 2091"/>
              <a:gd name="T63" fmla="*/ 2147483647 h 931"/>
              <a:gd name="T64" fmla="*/ 2147483647 w 2091"/>
              <a:gd name="T65" fmla="*/ 2147483647 h 931"/>
              <a:gd name="T66" fmla="*/ 2147483647 w 2091"/>
              <a:gd name="T67" fmla="*/ 2147483647 h 931"/>
              <a:gd name="T68" fmla="*/ 2147483647 w 2091"/>
              <a:gd name="T69" fmla="*/ 2147483647 h 931"/>
              <a:gd name="T70" fmla="*/ 2147483647 w 2091"/>
              <a:gd name="T71" fmla="*/ 2147483647 h 931"/>
              <a:gd name="T72" fmla="*/ 2147483647 w 2091"/>
              <a:gd name="T73" fmla="*/ 2147483647 h 931"/>
              <a:gd name="T74" fmla="*/ 2147483647 w 2091"/>
              <a:gd name="T75" fmla="*/ 2147483647 h 931"/>
              <a:gd name="T76" fmla="*/ 2147483647 w 2091"/>
              <a:gd name="T77" fmla="*/ 2147483647 h 931"/>
              <a:gd name="T78" fmla="*/ 2147483647 w 2091"/>
              <a:gd name="T79" fmla="*/ 2147483647 h 931"/>
              <a:gd name="T80" fmla="*/ 2147483647 w 2091"/>
              <a:gd name="T81" fmla="*/ 2147483647 h 931"/>
              <a:gd name="T82" fmla="*/ 2147483647 w 2091"/>
              <a:gd name="T83" fmla="*/ 2147483647 h 931"/>
              <a:gd name="T84" fmla="*/ 2147483647 w 2091"/>
              <a:gd name="T85" fmla="*/ 2147483647 h 931"/>
              <a:gd name="T86" fmla="*/ 2147483647 w 2091"/>
              <a:gd name="T87" fmla="*/ 2147483647 h 931"/>
              <a:gd name="T88" fmla="*/ 2147483647 w 2091"/>
              <a:gd name="T89" fmla="*/ 2147483647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510" name="Freeform 251"/>
          <p:cNvSpPr>
            <a:spLocks/>
          </p:cNvSpPr>
          <p:nvPr/>
        </p:nvSpPr>
        <p:spPr bwMode="auto">
          <a:xfrm flipH="1">
            <a:off x="982663" y="4452938"/>
            <a:ext cx="479425" cy="228600"/>
          </a:xfrm>
          <a:custGeom>
            <a:avLst/>
            <a:gdLst>
              <a:gd name="T0" fmla="*/ 2147483647 w 2049"/>
              <a:gd name="T1" fmla="*/ 2147483647 h 829"/>
              <a:gd name="T2" fmla="*/ 2147483647 w 2049"/>
              <a:gd name="T3" fmla="*/ 2147483647 h 829"/>
              <a:gd name="T4" fmla="*/ 2147483647 w 2049"/>
              <a:gd name="T5" fmla="*/ 2147483647 h 829"/>
              <a:gd name="T6" fmla="*/ 2147483647 w 2049"/>
              <a:gd name="T7" fmla="*/ 2147483647 h 829"/>
              <a:gd name="T8" fmla="*/ 2147483647 w 2049"/>
              <a:gd name="T9" fmla="*/ 2147483647 h 829"/>
              <a:gd name="T10" fmla="*/ 2147483647 w 2049"/>
              <a:gd name="T11" fmla="*/ 2147483647 h 829"/>
              <a:gd name="T12" fmla="*/ 2147483647 w 2049"/>
              <a:gd name="T13" fmla="*/ 2147483647 h 829"/>
              <a:gd name="T14" fmla="*/ 2147483647 w 2049"/>
              <a:gd name="T15" fmla="*/ 2147483647 h 829"/>
              <a:gd name="T16" fmla="*/ 2147483647 w 2049"/>
              <a:gd name="T17" fmla="*/ 2147483647 h 829"/>
              <a:gd name="T18" fmla="*/ 2147483647 w 2049"/>
              <a:gd name="T19" fmla="*/ 2147483647 h 829"/>
              <a:gd name="T20" fmla="*/ 2147483647 w 2049"/>
              <a:gd name="T21" fmla="*/ 2147483647 h 829"/>
              <a:gd name="T22" fmla="*/ 2147483647 w 2049"/>
              <a:gd name="T23" fmla="*/ 2147483647 h 829"/>
              <a:gd name="T24" fmla="*/ 2147483647 w 2049"/>
              <a:gd name="T25" fmla="*/ 2147483647 h 829"/>
              <a:gd name="T26" fmla="*/ 2147483647 w 2049"/>
              <a:gd name="T27" fmla="*/ 2147483647 h 829"/>
              <a:gd name="T28" fmla="*/ 2147483647 w 2049"/>
              <a:gd name="T29" fmla="*/ 2147483647 h 829"/>
              <a:gd name="T30" fmla="*/ 2147483647 w 2049"/>
              <a:gd name="T31" fmla="*/ 2147483647 h 829"/>
              <a:gd name="T32" fmla="*/ 2147483647 w 2049"/>
              <a:gd name="T33" fmla="*/ 2147483647 h 829"/>
              <a:gd name="T34" fmla="*/ 2147483647 w 2049"/>
              <a:gd name="T35" fmla="*/ 2147483647 h 829"/>
              <a:gd name="T36" fmla="*/ 2147483647 w 2049"/>
              <a:gd name="T37" fmla="*/ 2147483647 h 829"/>
              <a:gd name="T38" fmla="*/ 2147483647 w 2049"/>
              <a:gd name="T39" fmla="*/ 2147483647 h 829"/>
              <a:gd name="T40" fmla="*/ 2147483647 w 2049"/>
              <a:gd name="T41" fmla="*/ 2147483647 h 829"/>
              <a:gd name="T42" fmla="*/ 0 w 2049"/>
              <a:gd name="T43" fmla="*/ 2147483647 h 829"/>
              <a:gd name="T44" fmla="*/ 2147483647 w 2049"/>
              <a:gd name="T45" fmla="*/ 2147483647 h 829"/>
              <a:gd name="T46" fmla="*/ 2147483647 w 2049"/>
              <a:gd name="T47" fmla="*/ 2147483647 h 829"/>
              <a:gd name="T48" fmla="*/ 2147483647 w 2049"/>
              <a:gd name="T49" fmla="*/ 2147483647 h 829"/>
              <a:gd name="T50" fmla="*/ 2147483647 w 2049"/>
              <a:gd name="T51" fmla="*/ 2147483647 h 829"/>
              <a:gd name="T52" fmla="*/ 2147483647 w 2049"/>
              <a:gd name="T53" fmla="*/ 2147483647 h 829"/>
              <a:gd name="T54" fmla="*/ 2147483647 w 2049"/>
              <a:gd name="T55" fmla="*/ 2147483647 h 829"/>
              <a:gd name="T56" fmla="*/ 2147483647 w 2049"/>
              <a:gd name="T57" fmla="*/ 2147483647 h 829"/>
              <a:gd name="T58" fmla="*/ 2147483647 w 2049"/>
              <a:gd name="T59" fmla="*/ 2147483647 h 829"/>
              <a:gd name="T60" fmla="*/ 2147483647 w 2049"/>
              <a:gd name="T61" fmla="*/ 2147483647 h 829"/>
              <a:gd name="T62" fmla="*/ 2147483647 w 2049"/>
              <a:gd name="T63" fmla="*/ 2147483647 h 829"/>
              <a:gd name="T64" fmla="*/ 2147483647 w 2049"/>
              <a:gd name="T65" fmla="*/ 2147483647 h 829"/>
              <a:gd name="T66" fmla="*/ 2147483647 w 2049"/>
              <a:gd name="T67" fmla="*/ 2147483647 h 829"/>
              <a:gd name="T68" fmla="*/ 2147483647 w 2049"/>
              <a:gd name="T69" fmla="*/ 0 h 829"/>
              <a:gd name="T70" fmla="*/ 2147483647 w 2049"/>
              <a:gd name="T71" fmla="*/ 2147483647 h 829"/>
              <a:gd name="T72" fmla="*/ 2147483647 w 2049"/>
              <a:gd name="T73" fmla="*/ 2147483647 h 829"/>
              <a:gd name="T74" fmla="*/ 2147483647 w 2049"/>
              <a:gd name="T75" fmla="*/ 2147483647 h 829"/>
              <a:gd name="T76" fmla="*/ 2147483647 w 2049"/>
              <a:gd name="T77" fmla="*/ 2147483647 h 829"/>
              <a:gd name="T78" fmla="*/ 2147483647 w 2049"/>
              <a:gd name="T79" fmla="*/ 2147483647 h 829"/>
              <a:gd name="T80" fmla="*/ 2147483647 w 2049"/>
              <a:gd name="T81" fmla="*/ 2147483647 h 829"/>
              <a:gd name="T82" fmla="*/ 2147483647 w 2049"/>
              <a:gd name="T83" fmla="*/ 2147483647 h 829"/>
              <a:gd name="T84" fmla="*/ 2147483647 w 2049"/>
              <a:gd name="T85" fmla="*/ 2147483647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1" name="Freeform 252"/>
          <p:cNvSpPr>
            <a:spLocks/>
          </p:cNvSpPr>
          <p:nvPr/>
        </p:nvSpPr>
        <p:spPr bwMode="auto">
          <a:xfrm flipH="1">
            <a:off x="1049338" y="4533900"/>
            <a:ext cx="66675" cy="12700"/>
          </a:xfrm>
          <a:custGeom>
            <a:avLst/>
            <a:gdLst>
              <a:gd name="T0" fmla="*/ 2147483647 w 280"/>
              <a:gd name="T1" fmla="*/ 0 h 48"/>
              <a:gd name="T2" fmla="*/ 2147483647 w 280"/>
              <a:gd name="T3" fmla="*/ 2147483647 h 48"/>
              <a:gd name="T4" fmla="*/ 0 w 280"/>
              <a:gd name="T5" fmla="*/ 2147483647 h 48"/>
              <a:gd name="T6" fmla="*/ 2147483647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2" name="Freeform 253"/>
          <p:cNvSpPr>
            <a:spLocks/>
          </p:cNvSpPr>
          <p:nvPr/>
        </p:nvSpPr>
        <p:spPr bwMode="auto">
          <a:xfrm flipH="1">
            <a:off x="984250" y="4511675"/>
            <a:ext cx="39688" cy="17463"/>
          </a:xfrm>
          <a:custGeom>
            <a:avLst/>
            <a:gdLst>
              <a:gd name="T0" fmla="*/ 2147483647 w 170"/>
              <a:gd name="T1" fmla="*/ 0 h 57"/>
              <a:gd name="T2" fmla="*/ 2147483647 w 170"/>
              <a:gd name="T3" fmla="*/ 2147483647 h 57"/>
              <a:gd name="T4" fmla="*/ 0 w 170"/>
              <a:gd name="T5" fmla="*/ 2147483647 h 57"/>
              <a:gd name="T6" fmla="*/ 2147483647 w 170"/>
              <a:gd name="T7" fmla="*/ 2147483647 h 57"/>
              <a:gd name="T8" fmla="*/ 2147483647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3" name="Freeform 254"/>
          <p:cNvSpPr>
            <a:spLocks/>
          </p:cNvSpPr>
          <p:nvPr/>
        </p:nvSpPr>
        <p:spPr bwMode="auto">
          <a:xfrm flipH="1">
            <a:off x="1150938" y="4500563"/>
            <a:ext cx="63500" cy="39687"/>
          </a:xfrm>
          <a:custGeom>
            <a:avLst/>
            <a:gdLst>
              <a:gd name="T0" fmla="*/ 2147483647 w 263"/>
              <a:gd name="T1" fmla="*/ 0 h 143"/>
              <a:gd name="T2" fmla="*/ 2147483647 w 263"/>
              <a:gd name="T3" fmla="*/ 2147483647 h 143"/>
              <a:gd name="T4" fmla="*/ 2147483647 w 263"/>
              <a:gd name="T5" fmla="*/ 2147483647 h 143"/>
              <a:gd name="T6" fmla="*/ 2147483647 w 263"/>
              <a:gd name="T7" fmla="*/ 2147483647 h 143"/>
              <a:gd name="T8" fmla="*/ 2147483647 w 263"/>
              <a:gd name="T9" fmla="*/ 2147483647 h 143"/>
              <a:gd name="T10" fmla="*/ 0 w 263"/>
              <a:gd name="T11" fmla="*/ 2147483647 h 143"/>
              <a:gd name="T12" fmla="*/ 2147483647 w 263"/>
              <a:gd name="T13" fmla="*/ 2147483647 h 143"/>
              <a:gd name="T14" fmla="*/ 2147483647 w 263"/>
              <a:gd name="T15" fmla="*/ 2147483647 h 143"/>
              <a:gd name="T16" fmla="*/ 2147483647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4" name="Freeform 255"/>
          <p:cNvSpPr>
            <a:spLocks/>
          </p:cNvSpPr>
          <p:nvPr/>
        </p:nvSpPr>
        <p:spPr bwMode="auto">
          <a:xfrm flipH="1">
            <a:off x="1214438" y="4591050"/>
            <a:ext cx="200025" cy="58738"/>
          </a:xfrm>
          <a:custGeom>
            <a:avLst/>
            <a:gdLst>
              <a:gd name="T0" fmla="*/ 2147483647 w 853"/>
              <a:gd name="T1" fmla="*/ 0 h 212"/>
              <a:gd name="T2" fmla="*/ 2147483647 w 853"/>
              <a:gd name="T3" fmla="*/ 2147483647 h 212"/>
              <a:gd name="T4" fmla="*/ 2147483647 w 853"/>
              <a:gd name="T5" fmla="*/ 2147483647 h 212"/>
              <a:gd name="T6" fmla="*/ 2147483647 w 853"/>
              <a:gd name="T7" fmla="*/ 2147483647 h 212"/>
              <a:gd name="T8" fmla="*/ 2147483647 w 853"/>
              <a:gd name="T9" fmla="*/ 2147483647 h 212"/>
              <a:gd name="T10" fmla="*/ 2147483647 w 853"/>
              <a:gd name="T11" fmla="*/ 2147483647 h 212"/>
              <a:gd name="T12" fmla="*/ 0 w 853"/>
              <a:gd name="T13" fmla="*/ 2147483647 h 212"/>
              <a:gd name="T14" fmla="*/ 2147483647 w 853"/>
              <a:gd name="T15" fmla="*/ 2147483647 h 212"/>
              <a:gd name="T16" fmla="*/ 2147483647 w 853"/>
              <a:gd name="T17" fmla="*/ 2147483647 h 212"/>
              <a:gd name="T18" fmla="*/ 2147483647 w 853"/>
              <a:gd name="T19" fmla="*/ 2147483647 h 212"/>
              <a:gd name="T20" fmla="*/ 2147483647 w 853"/>
              <a:gd name="T21" fmla="*/ 2147483647 h 212"/>
              <a:gd name="T22" fmla="*/ 2147483647 w 853"/>
              <a:gd name="T23" fmla="*/ 2147483647 h 212"/>
              <a:gd name="T24" fmla="*/ 2147483647 w 853"/>
              <a:gd name="T25" fmla="*/ 2147483647 h 212"/>
              <a:gd name="T26" fmla="*/ 2147483647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5" name="Freeform 256"/>
          <p:cNvSpPr>
            <a:spLocks/>
          </p:cNvSpPr>
          <p:nvPr/>
        </p:nvSpPr>
        <p:spPr bwMode="auto">
          <a:xfrm flipH="1">
            <a:off x="1208088" y="4146550"/>
            <a:ext cx="173037" cy="106363"/>
          </a:xfrm>
          <a:custGeom>
            <a:avLst/>
            <a:gdLst>
              <a:gd name="T0" fmla="*/ 2147483647 w 751"/>
              <a:gd name="T1" fmla="*/ 2147483647 h 379"/>
              <a:gd name="T2" fmla="*/ 2147483647 w 751"/>
              <a:gd name="T3" fmla="*/ 2147483647 h 379"/>
              <a:gd name="T4" fmla="*/ 2147483647 w 751"/>
              <a:gd name="T5" fmla="*/ 2147483647 h 379"/>
              <a:gd name="T6" fmla="*/ 2147483647 w 751"/>
              <a:gd name="T7" fmla="*/ 2147483647 h 379"/>
              <a:gd name="T8" fmla="*/ 2147483647 w 751"/>
              <a:gd name="T9" fmla="*/ 2147483647 h 379"/>
              <a:gd name="T10" fmla="*/ 2147483647 w 751"/>
              <a:gd name="T11" fmla="*/ 2147483647 h 379"/>
              <a:gd name="T12" fmla="*/ 2147483647 w 751"/>
              <a:gd name="T13" fmla="*/ 2147483647 h 379"/>
              <a:gd name="T14" fmla="*/ 2147483647 w 751"/>
              <a:gd name="T15" fmla="*/ 2147483647 h 379"/>
              <a:gd name="T16" fmla="*/ 2147483647 w 751"/>
              <a:gd name="T17" fmla="*/ 2147483647 h 379"/>
              <a:gd name="T18" fmla="*/ 2147483647 w 751"/>
              <a:gd name="T19" fmla="*/ 2147483647 h 379"/>
              <a:gd name="T20" fmla="*/ 2147483647 w 751"/>
              <a:gd name="T21" fmla="*/ 2147483647 h 379"/>
              <a:gd name="T22" fmla="*/ 2147483647 w 751"/>
              <a:gd name="T23" fmla="*/ 2147483647 h 379"/>
              <a:gd name="T24" fmla="*/ 2147483647 w 751"/>
              <a:gd name="T25" fmla="*/ 2147483647 h 379"/>
              <a:gd name="T26" fmla="*/ 2147483647 w 751"/>
              <a:gd name="T27" fmla="*/ 2147483647 h 379"/>
              <a:gd name="T28" fmla="*/ 2147483647 w 751"/>
              <a:gd name="T29" fmla="*/ 2147483647 h 379"/>
              <a:gd name="T30" fmla="*/ 2147483647 w 751"/>
              <a:gd name="T31" fmla="*/ 2147483647 h 379"/>
              <a:gd name="T32" fmla="*/ 2147483647 w 751"/>
              <a:gd name="T33" fmla="*/ 2147483647 h 379"/>
              <a:gd name="T34" fmla="*/ 2147483647 w 751"/>
              <a:gd name="T35" fmla="*/ 2147483647 h 379"/>
              <a:gd name="T36" fmla="*/ 2147483647 w 751"/>
              <a:gd name="T37" fmla="*/ 2147483647 h 379"/>
              <a:gd name="T38" fmla="*/ 2147483647 w 751"/>
              <a:gd name="T39" fmla="*/ 2147483647 h 379"/>
              <a:gd name="T40" fmla="*/ 2147483647 w 751"/>
              <a:gd name="T41" fmla="*/ 2147483647 h 379"/>
              <a:gd name="T42" fmla="*/ 2147483647 w 751"/>
              <a:gd name="T43" fmla="*/ 2147483647 h 379"/>
              <a:gd name="T44" fmla="*/ 2147483647 w 751"/>
              <a:gd name="T45" fmla="*/ 2147483647 h 379"/>
              <a:gd name="T46" fmla="*/ 2147483647 w 751"/>
              <a:gd name="T47" fmla="*/ 2147483647 h 379"/>
              <a:gd name="T48" fmla="*/ 2147483647 w 751"/>
              <a:gd name="T49" fmla="*/ 2147483647 h 379"/>
              <a:gd name="T50" fmla="*/ 2147483647 w 751"/>
              <a:gd name="T51" fmla="*/ 2147483647 h 379"/>
              <a:gd name="T52" fmla="*/ 2147483647 w 751"/>
              <a:gd name="T53" fmla="*/ 2147483647 h 379"/>
              <a:gd name="T54" fmla="*/ 2147483647 w 751"/>
              <a:gd name="T55" fmla="*/ 2147483647 h 379"/>
              <a:gd name="T56" fmla="*/ 2147483647 w 751"/>
              <a:gd name="T57" fmla="*/ 2147483647 h 379"/>
              <a:gd name="T58" fmla="*/ 2147483647 w 751"/>
              <a:gd name="T59" fmla="*/ 2147483647 h 379"/>
              <a:gd name="T60" fmla="*/ 2147483647 w 751"/>
              <a:gd name="T61" fmla="*/ 2147483647 h 379"/>
              <a:gd name="T62" fmla="*/ 2147483647 w 751"/>
              <a:gd name="T63" fmla="*/ 2147483647 h 379"/>
              <a:gd name="T64" fmla="*/ 0 w 751"/>
              <a:gd name="T65" fmla="*/ 2147483647 h 379"/>
              <a:gd name="T66" fmla="*/ 2147483647 w 751"/>
              <a:gd name="T67" fmla="*/ 2147483647 h 379"/>
              <a:gd name="T68" fmla="*/ 2147483647 w 751"/>
              <a:gd name="T69" fmla="*/ 2147483647 h 379"/>
              <a:gd name="T70" fmla="*/ 2147483647 w 751"/>
              <a:gd name="T71" fmla="*/ 2147483647 h 379"/>
              <a:gd name="T72" fmla="*/ 2147483647 w 751"/>
              <a:gd name="T73" fmla="*/ 2147483647 h 379"/>
              <a:gd name="T74" fmla="*/ 2147483647 w 751"/>
              <a:gd name="T75" fmla="*/ 2147483647 h 379"/>
              <a:gd name="T76" fmla="*/ 2147483647 w 751"/>
              <a:gd name="T77" fmla="*/ 2147483647 h 379"/>
              <a:gd name="T78" fmla="*/ 2147483647 w 751"/>
              <a:gd name="T79" fmla="*/ 2147483647 h 379"/>
              <a:gd name="T80" fmla="*/ 2147483647 w 751"/>
              <a:gd name="T81" fmla="*/ 2147483647 h 379"/>
              <a:gd name="T82" fmla="*/ 2147483647 w 751"/>
              <a:gd name="T83" fmla="*/ 2147483647 h 379"/>
              <a:gd name="T84" fmla="*/ 2147483647 w 751"/>
              <a:gd name="T85" fmla="*/ 0 h 379"/>
              <a:gd name="T86" fmla="*/ 2147483647 w 751"/>
              <a:gd name="T87" fmla="*/ 2147483647 h 379"/>
              <a:gd name="T88" fmla="*/ 2147483647 w 751"/>
              <a:gd name="T89" fmla="*/ 2147483647 h 379"/>
              <a:gd name="T90" fmla="*/ 2147483647 w 751"/>
              <a:gd name="T91" fmla="*/ 2147483647 h 379"/>
              <a:gd name="T92" fmla="*/ 2147483647 w 751"/>
              <a:gd name="T93" fmla="*/ 2147483647 h 379"/>
              <a:gd name="T94" fmla="*/ 2147483647 w 751"/>
              <a:gd name="T95" fmla="*/ 2147483647 h 379"/>
              <a:gd name="T96" fmla="*/ 2147483647 w 751"/>
              <a:gd name="T97" fmla="*/ 2147483647 h 379"/>
              <a:gd name="T98" fmla="*/ 2147483647 w 751"/>
              <a:gd name="T99" fmla="*/ 2147483647 h 379"/>
              <a:gd name="T100" fmla="*/ 2147483647 w 751"/>
              <a:gd name="T101" fmla="*/ 2147483647 h 379"/>
              <a:gd name="T102" fmla="*/ 2147483647 w 751"/>
              <a:gd name="T103" fmla="*/ 2147483647 h 379"/>
              <a:gd name="T104" fmla="*/ 2147483647 w 751"/>
              <a:gd name="T105" fmla="*/ 2147483647 h 379"/>
              <a:gd name="T106" fmla="*/ 2147483647 w 751"/>
              <a:gd name="T107" fmla="*/ 2147483647 h 379"/>
              <a:gd name="T108" fmla="*/ 2147483647 w 751"/>
              <a:gd name="T109" fmla="*/ 2147483647 h 379"/>
              <a:gd name="T110" fmla="*/ 2147483647 w 751"/>
              <a:gd name="T111" fmla="*/ 2147483647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516" name="Freeform 257"/>
          <p:cNvSpPr>
            <a:spLocks/>
          </p:cNvSpPr>
          <p:nvPr/>
        </p:nvSpPr>
        <p:spPr bwMode="auto">
          <a:xfrm flipH="1">
            <a:off x="1273175" y="4194175"/>
            <a:ext cx="41275" cy="12700"/>
          </a:xfrm>
          <a:custGeom>
            <a:avLst/>
            <a:gdLst>
              <a:gd name="T0" fmla="*/ 0 w 179"/>
              <a:gd name="T1" fmla="*/ 0 h 43"/>
              <a:gd name="T2" fmla="*/ 2147483647 w 179"/>
              <a:gd name="T3" fmla="*/ 2147483647 h 43"/>
              <a:gd name="T4" fmla="*/ 2147483647 w 179"/>
              <a:gd name="T5" fmla="*/ 2147483647 h 43"/>
              <a:gd name="T6" fmla="*/ 2147483647 w 179"/>
              <a:gd name="T7" fmla="*/ 2147483647 h 43"/>
              <a:gd name="T8" fmla="*/ 2147483647 w 179"/>
              <a:gd name="T9" fmla="*/ 2147483647 h 43"/>
              <a:gd name="T10" fmla="*/ 2147483647 w 179"/>
              <a:gd name="T11" fmla="*/ 2147483647 h 43"/>
              <a:gd name="T12" fmla="*/ 2147483647 w 179"/>
              <a:gd name="T13" fmla="*/ 2147483647 h 43"/>
              <a:gd name="T14" fmla="*/ 2147483647 w 179"/>
              <a:gd name="T15" fmla="*/ 2147483647 h 43"/>
              <a:gd name="T16" fmla="*/ 2147483647 w 179"/>
              <a:gd name="T17" fmla="*/ 2147483647 h 43"/>
              <a:gd name="T18" fmla="*/ 2147483647 w 179"/>
              <a:gd name="T19" fmla="*/ 2147483647 h 43"/>
              <a:gd name="T20" fmla="*/ 2147483647 w 179"/>
              <a:gd name="T21" fmla="*/ 2147483647 h 43"/>
              <a:gd name="T22" fmla="*/ 2147483647 w 179"/>
              <a:gd name="T23" fmla="*/ 2147483647 h 43"/>
              <a:gd name="T24" fmla="*/ 2147483647 w 179"/>
              <a:gd name="T25" fmla="*/ 2147483647 h 43"/>
              <a:gd name="T26" fmla="*/ 2147483647 w 179"/>
              <a:gd name="T27" fmla="*/ 2147483647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7" name="Freeform 258"/>
          <p:cNvSpPr>
            <a:spLocks/>
          </p:cNvSpPr>
          <p:nvPr/>
        </p:nvSpPr>
        <p:spPr bwMode="auto">
          <a:xfrm flipH="1">
            <a:off x="1325563" y="4203700"/>
            <a:ext cx="4762" cy="7938"/>
          </a:xfrm>
          <a:custGeom>
            <a:avLst/>
            <a:gdLst>
              <a:gd name="T0" fmla="*/ 2147483647 w 20"/>
              <a:gd name="T1" fmla="*/ 0 h 24"/>
              <a:gd name="T2" fmla="*/ 2147483647 w 20"/>
              <a:gd name="T3" fmla="*/ 2147483647 h 24"/>
              <a:gd name="T4" fmla="*/ 2147483647 w 20"/>
              <a:gd name="T5" fmla="*/ 2147483647 h 24"/>
              <a:gd name="T6" fmla="*/ 0 w 20"/>
              <a:gd name="T7" fmla="*/ 2147483647 h 24"/>
              <a:gd name="T8" fmla="*/ 2147483647 w 20"/>
              <a:gd name="T9" fmla="*/ 2147483647 h 24"/>
              <a:gd name="T10" fmla="*/ 2147483647 w 20"/>
              <a:gd name="T11" fmla="*/ 2147483647 h 24"/>
              <a:gd name="T12" fmla="*/ 2147483647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8" name="Freeform 259"/>
          <p:cNvSpPr>
            <a:spLocks/>
          </p:cNvSpPr>
          <p:nvPr/>
        </p:nvSpPr>
        <p:spPr bwMode="auto">
          <a:xfrm flipH="1">
            <a:off x="1349375" y="4162425"/>
            <a:ext cx="25400" cy="12700"/>
          </a:xfrm>
          <a:custGeom>
            <a:avLst/>
            <a:gdLst>
              <a:gd name="T0" fmla="*/ 0 w 104"/>
              <a:gd name="T1" fmla="*/ 2147483647 h 48"/>
              <a:gd name="T2" fmla="*/ 2147483647 w 104"/>
              <a:gd name="T3" fmla="*/ 2147483647 h 48"/>
              <a:gd name="T4" fmla="*/ 2147483647 w 104"/>
              <a:gd name="T5" fmla="*/ 2147483647 h 48"/>
              <a:gd name="T6" fmla="*/ 2147483647 w 104"/>
              <a:gd name="T7" fmla="*/ 2147483647 h 48"/>
              <a:gd name="T8" fmla="*/ 2147483647 w 104"/>
              <a:gd name="T9" fmla="*/ 2147483647 h 48"/>
              <a:gd name="T10" fmla="*/ 2147483647 w 104"/>
              <a:gd name="T11" fmla="*/ 2147483647 h 48"/>
              <a:gd name="T12" fmla="*/ 2147483647 w 104"/>
              <a:gd name="T13" fmla="*/ 2147483647 h 48"/>
              <a:gd name="T14" fmla="*/ 2147483647 w 104"/>
              <a:gd name="T15" fmla="*/ 2147483647 h 48"/>
              <a:gd name="T16" fmla="*/ 2147483647 w 104"/>
              <a:gd name="T17" fmla="*/ 0 h 48"/>
              <a:gd name="T18" fmla="*/ 2147483647 w 104"/>
              <a:gd name="T19" fmla="*/ 2147483647 h 48"/>
              <a:gd name="T20" fmla="*/ 2147483647 w 104"/>
              <a:gd name="T21" fmla="*/ 2147483647 h 48"/>
              <a:gd name="T22" fmla="*/ 2147483647 w 104"/>
              <a:gd name="T23" fmla="*/ 2147483647 h 48"/>
              <a:gd name="T24" fmla="*/ 0 w 104"/>
              <a:gd name="T25" fmla="*/ 21474836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19" name="Freeform 260"/>
          <p:cNvSpPr>
            <a:spLocks/>
          </p:cNvSpPr>
          <p:nvPr/>
        </p:nvSpPr>
        <p:spPr bwMode="auto">
          <a:xfrm flipH="1">
            <a:off x="1300163" y="4157663"/>
            <a:ext cx="36512" cy="9525"/>
          </a:xfrm>
          <a:custGeom>
            <a:avLst/>
            <a:gdLst>
              <a:gd name="T0" fmla="*/ 0 w 166"/>
              <a:gd name="T1" fmla="*/ 2147483647 h 42"/>
              <a:gd name="T2" fmla="*/ 2147483647 w 166"/>
              <a:gd name="T3" fmla="*/ 2147483647 h 42"/>
              <a:gd name="T4" fmla="*/ 2147483647 w 166"/>
              <a:gd name="T5" fmla="*/ 0 h 42"/>
              <a:gd name="T6" fmla="*/ 2147483647 w 166"/>
              <a:gd name="T7" fmla="*/ 0 h 42"/>
              <a:gd name="T8" fmla="*/ 2147483647 w 166"/>
              <a:gd name="T9" fmla="*/ 2147483647 h 42"/>
              <a:gd name="T10" fmla="*/ 2147483647 w 166"/>
              <a:gd name="T11" fmla="*/ 2147483647 h 42"/>
              <a:gd name="T12" fmla="*/ 2147483647 w 166"/>
              <a:gd name="T13" fmla="*/ 2147483647 h 42"/>
              <a:gd name="T14" fmla="*/ 2147483647 w 166"/>
              <a:gd name="T15" fmla="*/ 2147483647 h 42"/>
              <a:gd name="T16" fmla="*/ 2147483647 w 166"/>
              <a:gd name="T17" fmla="*/ 2147483647 h 42"/>
              <a:gd name="T18" fmla="*/ 2147483647 w 166"/>
              <a:gd name="T19" fmla="*/ 2147483647 h 42"/>
              <a:gd name="T20" fmla="*/ 2147483647 w 166"/>
              <a:gd name="T21" fmla="*/ 2147483647 h 42"/>
              <a:gd name="T22" fmla="*/ 2147483647 w 166"/>
              <a:gd name="T23" fmla="*/ 2147483647 h 42"/>
              <a:gd name="T24" fmla="*/ 2147483647 w 166"/>
              <a:gd name="T25" fmla="*/ 2147483647 h 42"/>
              <a:gd name="T26" fmla="*/ 2147483647 w 166"/>
              <a:gd name="T27" fmla="*/ 2147483647 h 42"/>
              <a:gd name="T28" fmla="*/ 2147483647 w 166"/>
              <a:gd name="T29" fmla="*/ 2147483647 h 42"/>
              <a:gd name="T30" fmla="*/ 0 w 166"/>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0" name="Freeform 261"/>
          <p:cNvSpPr>
            <a:spLocks/>
          </p:cNvSpPr>
          <p:nvPr/>
        </p:nvSpPr>
        <p:spPr bwMode="auto">
          <a:xfrm flipH="1">
            <a:off x="1360488" y="4170363"/>
            <a:ext cx="6350" cy="7937"/>
          </a:xfrm>
          <a:custGeom>
            <a:avLst/>
            <a:gdLst>
              <a:gd name="T0" fmla="*/ 2147483647 w 33"/>
              <a:gd name="T1" fmla="*/ 0 h 30"/>
              <a:gd name="T2" fmla="*/ 2147483647 w 33"/>
              <a:gd name="T3" fmla="*/ 2147483647 h 30"/>
              <a:gd name="T4" fmla="*/ 2147483647 w 33"/>
              <a:gd name="T5" fmla="*/ 2147483647 h 30"/>
              <a:gd name="T6" fmla="*/ 0 w 33"/>
              <a:gd name="T7" fmla="*/ 2147483647 h 30"/>
              <a:gd name="T8" fmla="*/ 2147483647 w 33"/>
              <a:gd name="T9" fmla="*/ 2147483647 h 30"/>
              <a:gd name="T10" fmla="*/ 2147483647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1" name="Freeform 262"/>
          <p:cNvSpPr>
            <a:spLocks/>
          </p:cNvSpPr>
          <p:nvPr/>
        </p:nvSpPr>
        <p:spPr bwMode="auto">
          <a:xfrm flipH="1">
            <a:off x="1366838" y="4162425"/>
            <a:ext cx="9525" cy="7938"/>
          </a:xfrm>
          <a:custGeom>
            <a:avLst/>
            <a:gdLst>
              <a:gd name="T0" fmla="*/ 2147483647 w 33"/>
              <a:gd name="T1" fmla="*/ 2147483647 h 28"/>
              <a:gd name="T2" fmla="*/ 2147483647 w 33"/>
              <a:gd name="T3" fmla="*/ 0 h 28"/>
              <a:gd name="T4" fmla="*/ 2147483647 w 33"/>
              <a:gd name="T5" fmla="*/ 2147483647 h 28"/>
              <a:gd name="T6" fmla="*/ 0 w 33"/>
              <a:gd name="T7" fmla="*/ 2147483647 h 28"/>
              <a:gd name="T8" fmla="*/ 2147483647 w 33"/>
              <a:gd name="T9" fmla="*/ 2147483647 h 28"/>
              <a:gd name="T10" fmla="*/ 2147483647 w 33"/>
              <a:gd name="T11" fmla="*/ 2147483647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2" name="Freeform 263"/>
          <p:cNvSpPr>
            <a:spLocks/>
          </p:cNvSpPr>
          <p:nvPr/>
        </p:nvSpPr>
        <p:spPr bwMode="auto">
          <a:xfrm flipH="1">
            <a:off x="1270000" y="4171950"/>
            <a:ext cx="9525" cy="12700"/>
          </a:xfrm>
          <a:custGeom>
            <a:avLst/>
            <a:gdLst>
              <a:gd name="T0" fmla="*/ 0 w 37"/>
              <a:gd name="T1" fmla="*/ 0 h 42"/>
              <a:gd name="T2" fmla="*/ 2147483647 w 37"/>
              <a:gd name="T3" fmla="*/ 2147483647 h 42"/>
              <a:gd name="T4" fmla="*/ 2147483647 w 37"/>
              <a:gd name="T5" fmla="*/ 2147483647 h 42"/>
              <a:gd name="T6" fmla="*/ 2147483647 w 37"/>
              <a:gd name="T7" fmla="*/ 2147483647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3" name="Freeform 264"/>
          <p:cNvSpPr>
            <a:spLocks/>
          </p:cNvSpPr>
          <p:nvPr/>
        </p:nvSpPr>
        <p:spPr bwMode="auto">
          <a:xfrm flipH="1">
            <a:off x="1236663" y="4224338"/>
            <a:ext cx="12700" cy="11112"/>
          </a:xfrm>
          <a:custGeom>
            <a:avLst/>
            <a:gdLst>
              <a:gd name="T0" fmla="*/ 2147483647 w 50"/>
              <a:gd name="T1" fmla="*/ 0 h 39"/>
              <a:gd name="T2" fmla="*/ 2147483647 w 50"/>
              <a:gd name="T3" fmla="*/ 2147483647 h 39"/>
              <a:gd name="T4" fmla="*/ 0 w 50"/>
              <a:gd name="T5" fmla="*/ 2147483647 h 39"/>
              <a:gd name="T6" fmla="*/ 2147483647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4" name="Freeform 265"/>
          <p:cNvSpPr>
            <a:spLocks/>
          </p:cNvSpPr>
          <p:nvPr/>
        </p:nvSpPr>
        <p:spPr bwMode="auto">
          <a:xfrm flipH="1">
            <a:off x="1177925" y="4203700"/>
            <a:ext cx="55563" cy="74613"/>
          </a:xfrm>
          <a:custGeom>
            <a:avLst/>
            <a:gdLst>
              <a:gd name="T0" fmla="*/ 2147483647 w 219"/>
              <a:gd name="T1" fmla="*/ 2147483647 h 267"/>
              <a:gd name="T2" fmla="*/ 2147483647 w 219"/>
              <a:gd name="T3" fmla="*/ 2147483647 h 267"/>
              <a:gd name="T4" fmla="*/ 2147483647 w 219"/>
              <a:gd name="T5" fmla="*/ 2147483647 h 267"/>
              <a:gd name="T6" fmla="*/ 2147483647 w 219"/>
              <a:gd name="T7" fmla="*/ 2147483647 h 267"/>
              <a:gd name="T8" fmla="*/ 2147483647 w 219"/>
              <a:gd name="T9" fmla="*/ 2147483647 h 267"/>
              <a:gd name="T10" fmla="*/ 0 w 219"/>
              <a:gd name="T11" fmla="*/ 2147483647 h 267"/>
              <a:gd name="T12" fmla="*/ 2147483647 w 219"/>
              <a:gd name="T13" fmla="*/ 2147483647 h 267"/>
              <a:gd name="T14" fmla="*/ 2147483647 w 219"/>
              <a:gd name="T15" fmla="*/ 0 h 267"/>
              <a:gd name="T16" fmla="*/ 2147483647 w 219"/>
              <a:gd name="T17" fmla="*/ 2147483647 h 267"/>
              <a:gd name="T18" fmla="*/ 2147483647 w 219"/>
              <a:gd name="T19" fmla="*/ 2147483647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525" name="Freeform 266"/>
          <p:cNvSpPr>
            <a:spLocks/>
          </p:cNvSpPr>
          <p:nvPr/>
        </p:nvSpPr>
        <p:spPr bwMode="auto">
          <a:xfrm flipH="1">
            <a:off x="1187450" y="4211638"/>
            <a:ext cx="39688" cy="60325"/>
          </a:xfrm>
          <a:custGeom>
            <a:avLst/>
            <a:gdLst>
              <a:gd name="T0" fmla="*/ 2147483647 w 175"/>
              <a:gd name="T1" fmla="*/ 2147483647 h 220"/>
              <a:gd name="T2" fmla="*/ 2147483647 w 175"/>
              <a:gd name="T3" fmla="*/ 2147483647 h 220"/>
              <a:gd name="T4" fmla="*/ 2147483647 w 175"/>
              <a:gd name="T5" fmla="*/ 2147483647 h 220"/>
              <a:gd name="T6" fmla="*/ 2147483647 w 175"/>
              <a:gd name="T7" fmla="*/ 2147483647 h 220"/>
              <a:gd name="T8" fmla="*/ 0 w 175"/>
              <a:gd name="T9" fmla="*/ 2147483647 h 220"/>
              <a:gd name="T10" fmla="*/ 2147483647 w 175"/>
              <a:gd name="T11" fmla="*/ 2147483647 h 220"/>
              <a:gd name="T12" fmla="*/ 2147483647 w 175"/>
              <a:gd name="T13" fmla="*/ 0 h 220"/>
              <a:gd name="T14" fmla="*/ 2147483647 w 175"/>
              <a:gd name="T15" fmla="*/ 2147483647 h 220"/>
              <a:gd name="T16" fmla="*/ 2147483647 w 175"/>
              <a:gd name="T17" fmla="*/ 2147483647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6" name="Freeform 267"/>
          <p:cNvSpPr>
            <a:spLocks/>
          </p:cNvSpPr>
          <p:nvPr/>
        </p:nvSpPr>
        <p:spPr bwMode="auto">
          <a:xfrm flipH="1">
            <a:off x="1011238" y="3798888"/>
            <a:ext cx="176212" cy="225425"/>
          </a:xfrm>
          <a:custGeom>
            <a:avLst/>
            <a:gdLst>
              <a:gd name="T0" fmla="*/ 2147483647 w 741"/>
              <a:gd name="T1" fmla="*/ 2147483647 h 807"/>
              <a:gd name="T2" fmla="*/ 2147483647 w 741"/>
              <a:gd name="T3" fmla="*/ 2147483647 h 807"/>
              <a:gd name="T4" fmla="*/ 2147483647 w 741"/>
              <a:gd name="T5" fmla="*/ 2147483647 h 807"/>
              <a:gd name="T6" fmla="*/ 2147483647 w 741"/>
              <a:gd name="T7" fmla="*/ 2147483647 h 807"/>
              <a:gd name="T8" fmla="*/ 2147483647 w 741"/>
              <a:gd name="T9" fmla="*/ 2147483647 h 807"/>
              <a:gd name="T10" fmla="*/ 2147483647 w 741"/>
              <a:gd name="T11" fmla="*/ 2147483647 h 807"/>
              <a:gd name="T12" fmla="*/ 2147483647 w 741"/>
              <a:gd name="T13" fmla="*/ 2147483647 h 807"/>
              <a:gd name="T14" fmla="*/ 2147483647 w 741"/>
              <a:gd name="T15" fmla="*/ 2147483647 h 807"/>
              <a:gd name="T16" fmla="*/ 2147483647 w 741"/>
              <a:gd name="T17" fmla="*/ 2147483647 h 807"/>
              <a:gd name="T18" fmla="*/ 0 w 741"/>
              <a:gd name="T19" fmla="*/ 2147483647 h 807"/>
              <a:gd name="T20" fmla="*/ 0 w 741"/>
              <a:gd name="T21" fmla="*/ 2147483647 h 807"/>
              <a:gd name="T22" fmla="*/ 2147483647 w 741"/>
              <a:gd name="T23" fmla="*/ 2147483647 h 807"/>
              <a:gd name="T24" fmla="*/ 2147483647 w 741"/>
              <a:gd name="T25" fmla="*/ 2147483647 h 807"/>
              <a:gd name="T26" fmla="*/ 2147483647 w 741"/>
              <a:gd name="T27" fmla="*/ 2147483647 h 807"/>
              <a:gd name="T28" fmla="*/ 2147483647 w 741"/>
              <a:gd name="T29" fmla="*/ 2147483647 h 807"/>
              <a:gd name="T30" fmla="*/ 2147483647 w 741"/>
              <a:gd name="T31" fmla="*/ 2147483647 h 807"/>
              <a:gd name="T32" fmla="*/ 2147483647 w 741"/>
              <a:gd name="T33" fmla="*/ 2147483647 h 807"/>
              <a:gd name="T34" fmla="*/ 2147483647 w 741"/>
              <a:gd name="T35" fmla="*/ 2147483647 h 807"/>
              <a:gd name="T36" fmla="*/ 2147483647 w 741"/>
              <a:gd name="T37" fmla="*/ 2147483647 h 807"/>
              <a:gd name="T38" fmla="*/ 2147483647 w 741"/>
              <a:gd name="T39" fmla="*/ 2147483647 h 807"/>
              <a:gd name="T40" fmla="*/ 2147483647 w 741"/>
              <a:gd name="T41" fmla="*/ 2147483647 h 807"/>
              <a:gd name="T42" fmla="*/ 2147483647 w 741"/>
              <a:gd name="T43" fmla="*/ 2147483647 h 807"/>
              <a:gd name="T44" fmla="*/ 2147483647 w 741"/>
              <a:gd name="T45" fmla="*/ 2147483647 h 807"/>
              <a:gd name="T46" fmla="*/ 2147483647 w 741"/>
              <a:gd name="T47" fmla="*/ 2147483647 h 807"/>
              <a:gd name="T48" fmla="*/ 2147483647 w 741"/>
              <a:gd name="T49" fmla="*/ 2147483647 h 807"/>
              <a:gd name="T50" fmla="*/ 2147483647 w 741"/>
              <a:gd name="T51" fmla="*/ 2147483647 h 807"/>
              <a:gd name="T52" fmla="*/ 2147483647 w 741"/>
              <a:gd name="T53" fmla="*/ 2147483647 h 807"/>
              <a:gd name="T54" fmla="*/ 2147483647 w 741"/>
              <a:gd name="T55" fmla="*/ 2147483647 h 807"/>
              <a:gd name="T56" fmla="*/ 2147483647 w 741"/>
              <a:gd name="T57" fmla="*/ 2147483647 h 807"/>
              <a:gd name="T58" fmla="*/ 2147483647 w 741"/>
              <a:gd name="T59" fmla="*/ 2147483647 h 807"/>
              <a:gd name="T60" fmla="*/ 2147483647 w 741"/>
              <a:gd name="T61" fmla="*/ 2147483647 h 807"/>
              <a:gd name="T62" fmla="*/ 2147483647 w 741"/>
              <a:gd name="T63" fmla="*/ 2147483647 h 807"/>
              <a:gd name="T64" fmla="*/ 2147483647 w 741"/>
              <a:gd name="T65" fmla="*/ 2147483647 h 807"/>
              <a:gd name="T66" fmla="*/ 2147483647 w 741"/>
              <a:gd name="T67" fmla="*/ 0 h 807"/>
              <a:gd name="T68" fmla="*/ 2147483647 w 741"/>
              <a:gd name="T69" fmla="*/ 2147483647 h 807"/>
              <a:gd name="T70" fmla="*/ 2147483647 w 741"/>
              <a:gd name="T71" fmla="*/ 2147483647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527" name="Freeform 268"/>
          <p:cNvSpPr>
            <a:spLocks/>
          </p:cNvSpPr>
          <p:nvPr/>
        </p:nvSpPr>
        <p:spPr bwMode="auto">
          <a:xfrm flipH="1">
            <a:off x="1168400" y="3935413"/>
            <a:ext cx="7938" cy="3175"/>
          </a:xfrm>
          <a:custGeom>
            <a:avLst/>
            <a:gdLst>
              <a:gd name="T0" fmla="*/ 0 w 42"/>
              <a:gd name="T1" fmla="*/ 2147483647 h 9"/>
              <a:gd name="T2" fmla="*/ 2147483647 w 42"/>
              <a:gd name="T3" fmla="*/ 2147483647 h 9"/>
              <a:gd name="T4" fmla="*/ 2147483647 w 42"/>
              <a:gd name="T5" fmla="*/ 2147483647 h 9"/>
              <a:gd name="T6" fmla="*/ 2147483647 w 42"/>
              <a:gd name="T7" fmla="*/ 2147483647 h 9"/>
              <a:gd name="T8" fmla="*/ 2147483647 w 42"/>
              <a:gd name="T9" fmla="*/ 2147483647 h 9"/>
              <a:gd name="T10" fmla="*/ 2147483647 w 42"/>
              <a:gd name="T11" fmla="*/ 0 h 9"/>
              <a:gd name="T12" fmla="*/ 0 w 42"/>
              <a:gd name="T13" fmla="*/ 2147483647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8" name="Freeform 269"/>
          <p:cNvSpPr>
            <a:spLocks/>
          </p:cNvSpPr>
          <p:nvPr/>
        </p:nvSpPr>
        <p:spPr bwMode="auto">
          <a:xfrm flipH="1">
            <a:off x="1163638" y="3927475"/>
            <a:ext cx="4762" cy="7938"/>
          </a:xfrm>
          <a:custGeom>
            <a:avLst/>
            <a:gdLst>
              <a:gd name="T0" fmla="*/ 0 w 17"/>
              <a:gd name="T1" fmla="*/ 0 h 31"/>
              <a:gd name="T2" fmla="*/ 2147483647 w 17"/>
              <a:gd name="T3" fmla="*/ 2147483647 h 31"/>
              <a:gd name="T4" fmla="*/ 2147483647 w 17"/>
              <a:gd name="T5" fmla="*/ 2147483647 h 31"/>
              <a:gd name="T6" fmla="*/ 2147483647 w 17"/>
              <a:gd name="T7" fmla="*/ 2147483647 h 31"/>
              <a:gd name="T8" fmla="*/ 2147483647 w 17"/>
              <a:gd name="T9" fmla="*/ 2147483647 h 31"/>
              <a:gd name="T10" fmla="*/ 2147483647 w 17"/>
              <a:gd name="T11" fmla="*/ 2147483647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29" name="Freeform 270"/>
          <p:cNvSpPr>
            <a:spLocks/>
          </p:cNvSpPr>
          <p:nvPr/>
        </p:nvSpPr>
        <p:spPr bwMode="auto">
          <a:xfrm flipH="1">
            <a:off x="1155700" y="3898900"/>
            <a:ext cx="6350" cy="14288"/>
          </a:xfrm>
          <a:custGeom>
            <a:avLst/>
            <a:gdLst>
              <a:gd name="T0" fmla="*/ 2147483647 w 19"/>
              <a:gd name="T1" fmla="*/ 0 h 60"/>
              <a:gd name="T2" fmla="*/ 2147483647 w 19"/>
              <a:gd name="T3" fmla="*/ 2147483647 h 60"/>
              <a:gd name="T4" fmla="*/ 0 w 19"/>
              <a:gd name="T5" fmla="*/ 2147483647 h 60"/>
              <a:gd name="T6" fmla="*/ 2147483647 w 19"/>
              <a:gd name="T7" fmla="*/ 2147483647 h 60"/>
              <a:gd name="T8" fmla="*/ 2147483647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0" name="Freeform 271"/>
          <p:cNvSpPr>
            <a:spLocks/>
          </p:cNvSpPr>
          <p:nvPr/>
        </p:nvSpPr>
        <p:spPr bwMode="auto">
          <a:xfrm flipH="1">
            <a:off x="1139825" y="3879850"/>
            <a:ext cx="17463" cy="15875"/>
          </a:xfrm>
          <a:custGeom>
            <a:avLst/>
            <a:gdLst>
              <a:gd name="T0" fmla="*/ 0 w 80"/>
              <a:gd name="T1" fmla="*/ 0 h 51"/>
              <a:gd name="T2" fmla="*/ 2147483647 w 80"/>
              <a:gd name="T3" fmla="*/ 2147483647 h 51"/>
              <a:gd name="T4" fmla="*/ 2147483647 w 80"/>
              <a:gd name="T5" fmla="*/ 2147483647 h 51"/>
              <a:gd name="T6" fmla="*/ 2147483647 w 80"/>
              <a:gd name="T7" fmla="*/ 2147483647 h 51"/>
              <a:gd name="T8" fmla="*/ 2147483647 w 80"/>
              <a:gd name="T9" fmla="*/ 2147483647 h 51"/>
              <a:gd name="T10" fmla="*/ 2147483647 w 80"/>
              <a:gd name="T11" fmla="*/ 2147483647 h 51"/>
              <a:gd name="T12" fmla="*/ 2147483647 w 80"/>
              <a:gd name="T13" fmla="*/ 2147483647 h 51"/>
              <a:gd name="T14" fmla="*/ 2147483647 w 80"/>
              <a:gd name="T15" fmla="*/ 2147483647 h 51"/>
              <a:gd name="T16" fmla="*/ 2147483647 w 80"/>
              <a:gd name="T17" fmla="*/ 2147483647 h 51"/>
              <a:gd name="T18" fmla="*/ 2147483647 w 80"/>
              <a:gd name="T19" fmla="*/ 2147483647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1" name="Freeform 272"/>
          <p:cNvSpPr>
            <a:spLocks/>
          </p:cNvSpPr>
          <p:nvPr/>
        </p:nvSpPr>
        <p:spPr bwMode="auto">
          <a:xfrm flipH="1">
            <a:off x="1130300" y="3862388"/>
            <a:ext cx="33338" cy="12700"/>
          </a:xfrm>
          <a:custGeom>
            <a:avLst/>
            <a:gdLst>
              <a:gd name="T0" fmla="*/ 0 w 135"/>
              <a:gd name="T1" fmla="*/ 2147483647 h 48"/>
              <a:gd name="T2" fmla="*/ 2147483647 w 135"/>
              <a:gd name="T3" fmla="*/ 2147483647 h 48"/>
              <a:gd name="T4" fmla="*/ 2147483647 w 135"/>
              <a:gd name="T5" fmla="*/ 2147483647 h 48"/>
              <a:gd name="T6" fmla="*/ 2147483647 w 135"/>
              <a:gd name="T7" fmla="*/ 2147483647 h 48"/>
              <a:gd name="T8" fmla="*/ 2147483647 w 135"/>
              <a:gd name="T9" fmla="*/ 2147483647 h 48"/>
              <a:gd name="T10" fmla="*/ 2147483647 w 135"/>
              <a:gd name="T11" fmla="*/ 2147483647 h 48"/>
              <a:gd name="T12" fmla="*/ 2147483647 w 135"/>
              <a:gd name="T13" fmla="*/ 2147483647 h 48"/>
              <a:gd name="T14" fmla="*/ 2147483647 w 135"/>
              <a:gd name="T15" fmla="*/ 2147483647 h 48"/>
              <a:gd name="T16" fmla="*/ 2147483647 w 135"/>
              <a:gd name="T17" fmla="*/ 2147483647 h 48"/>
              <a:gd name="T18" fmla="*/ 2147483647 w 135"/>
              <a:gd name="T19" fmla="*/ 0 h 48"/>
              <a:gd name="T20" fmla="*/ 2147483647 w 135"/>
              <a:gd name="T21" fmla="*/ 2147483647 h 48"/>
              <a:gd name="T22" fmla="*/ 2147483647 w 135"/>
              <a:gd name="T23" fmla="*/ 2147483647 h 48"/>
              <a:gd name="T24" fmla="*/ 2147483647 w 135"/>
              <a:gd name="T25" fmla="*/ 2147483647 h 48"/>
              <a:gd name="T26" fmla="*/ 2147483647 w 135"/>
              <a:gd name="T27" fmla="*/ 2147483647 h 48"/>
              <a:gd name="T28" fmla="*/ 0 w 135"/>
              <a:gd name="T29" fmla="*/ 2147483647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2" name="Freeform 273"/>
          <p:cNvSpPr>
            <a:spLocks/>
          </p:cNvSpPr>
          <p:nvPr/>
        </p:nvSpPr>
        <p:spPr bwMode="auto">
          <a:xfrm flipH="1">
            <a:off x="1071563" y="3878263"/>
            <a:ext cx="19050" cy="44450"/>
          </a:xfrm>
          <a:custGeom>
            <a:avLst/>
            <a:gdLst>
              <a:gd name="T0" fmla="*/ 0 w 78"/>
              <a:gd name="T1" fmla="*/ 2147483647 h 159"/>
              <a:gd name="T2" fmla="*/ 2147483647 w 78"/>
              <a:gd name="T3" fmla="*/ 2147483647 h 159"/>
              <a:gd name="T4" fmla="*/ 2147483647 w 78"/>
              <a:gd name="T5" fmla="*/ 2147483647 h 159"/>
              <a:gd name="T6" fmla="*/ 2147483647 w 78"/>
              <a:gd name="T7" fmla="*/ 2147483647 h 159"/>
              <a:gd name="T8" fmla="*/ 2147483647 w 78"/>
              <a:gd name="T9" fmla="*/ 2147483647 h 159"/>
              <a:gd name="T10" fmla="*/ 2147483647 w 78"/>
              <a:gd name="T11" fmla="*/ 2147483647 h 159"/>
              <a:gd name="T12" fmla="*/ 2147483647 w 78"/>
              <a:gd name="T13" fmla="*/ 2147483647 h 159"/>
              <a:gd name="T14" fmla="*/ 2147483647 w 78"/>
              <a:gd name="T15" fmla="*/ 2147483647 h 159"/>
              <a:gd name="T16" fmla="*/ 2147483647 w 78"/>
              <a:gd name="T17" fmla="*/ 2147483647 h 159"/>
              <a:gd name="T18" fmla="*/ 2147483647 w 78"/>
              <a:gd name="T19" fmla="*/ 2147483647 h 159"/>
              <a:gd name="T20" fmla="*/ 2147483647 w 78"/>
              <a:gd name="T21" fmla="*/ 2147483647 h 159"/>
              <a:gd name="T22" fmla="*/ 2147483647 w 78"/>
              <a:gd name="T23" fmla="*/ 2147483647 h 159"/>
              <a:gd name="T24" fmla="*/ 2147483647 w 78"/>
              <a:gd name="T25" fmla="*/ 2147483647 h 159"/>
              <a:gd name="T26" fmla="*/ 2147483647 w 78"/>
              <a:gd name="T27" fmla="*/ 2147483647 h 159"/>
              <a:gd name="T28" fmla="*/ 2147483647 w 78"/>
              <a:gd name="T29" fmla="*/ 2147483647 h 159"/>
              <a:gd name="T30" fmla="*/ 2147483647 w 78"/>
              <a:gd name="T31" fmla="*/ 2147483647 h 159"/>
              <a:gd name="T32" fmla="*/ 2147483647 w 78"/>
              <a:gd name="T33" fmla="*/ 2147483647 h 159"/>
              <a:gd name="T34" fmla="*/ 2147483647 w 78"/>
              <a:gd name="T35" fmla="*/ 2147483647 h 159"/>
              <a:gd name="T36" fmla="*/ 2147483647 w 78"/>
              <a:gd name="T37" fmla="*/ 2147483647 h 159"/>
              <a:gd name="T38" fmla="*/ 2147483647 w 78"/>
              <a:gd name="T39" fmla="*/ 2147483647 h 159"/>
              <a:gd name="T40" fmla="*/ 2147483647 w 78"/>
              <a:gd name="T41" fmla="*/ 0 h 159"/>
              <a:gd name="T42" fmla="*/ 2147483647 w 78"/>
              <a:gd name="T43" fmla="*/ 2147483647 h 159"/>
              <a:gd name="T44" fmla="*/ 0 w 78"/>
              <a:gd name="T45" fmla="*/ 2147483647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3" name="Freeform 274"/>
          <p:cNvSpPr>
            <a:spLocks/>
          </p:cNvSpPr>
          <p:nvPr/>
        </p:nvSpPr>
        <p:spPr bwMode="auto">
          <a:xfrm flipH="1">
            <a:off x="1065213" y="3871913"/>
            <a:ext cx="30162" cy="60325"/>
          </a:xfrm>
          <a:custGeom>
            <a:avLst/>
            <a:gdLst>
              <a:gd name="T0" fmla="*/ 0 w 129"/>
              <a:gd name="T1" fmla="*/ 2147483647 h 215"/>
              <a:gd name="T2" fmla="*/ 2147483647 w 129"/>
              <a:gd name="T3" fmla="*/ 2147483647 h 215"/>
              <a:gd name="T4" fmla="*/ 2147483647 w 129"/>
              <a:gd name="T5" fmla="*/ 2147483647 h 215"/>
              <a:gd name="T6" fmla="*/ 2147483647 w 129"/>
              <a:gd name="T7" fmla="*/ 2147483647 h 215"/>
              <a:gd name="T8" fmla="*/ 2147483647 w 129"/>
              <a:gd name="T9" fmla="*/ 2147483647 h 215"/>
              <a:gd name="T10" fmla="*/ 2147483647 w 129"/>
              <a:gd name="T11" fmla="*/ 2147483647 h 215"/>
              <a:gd name="T12" fmla="*/ 2147483647 w 129"/>
              <a:gd name="T13" fmla="*/ 2147483647 h 215"/>
              <a:gd name="T14" fmla="*/ 2147483647 w 129"/>
              <a:gd name="T15" fmla="*/ 2147483647 h 215"/>
              <a:gd name="T16" fmla="*/ 2147483647 w 129"/>
              <a:gd name="T17" fmla="*/ 2147483647 h 215"/>
              <a:gd name="T18" fmla="*/ 2147483647 w 129"/>
              <a:gd name="T19" fmla="*/ 2147483647 h 215"/>
              <a:gd name="T20" fmla="*/ 2147483647 w 129"/>
              <a:gd name="T21" fmla="*/ 2147483647 h 215"/>
              <a:gd name="T22" fmla="*/ 2147483647 w 129"/>
              <a:gd name="T23" fmla="*/ 2147483647 h 215"/>
              <a:gd name="T24" fmla="*/ 2147483647 w 129"/>
              <a:gd name="T25" fmla="*/ 2147483647 h 215"/>
              <a:gd name="T26" fmla="*/ 2147483647 w 129"/>
              <a:gd name="T27" fmla="*/ 2147483647 h 215"/>
              <a:gd name="T28" fmla="*/ 2147483647 w 129"/>
              <a:gd name="T29" fmla="*/ 2147483647 h 215"/>
              <a:gd name="T30" fmla="*/ 2147483647 w 129"/>
              <a:gd name="T31" fmla="*/ 2147483647 h 215"/>
              <a:gd name="T32" fmla="*/ 2147483647 w 129"/>
              <a:gd name="T33" fmla="*/ 2147483647 h 215"/>
              <a:gd name="T34" fmla="*/ 2147483647 w 129"/>
              <a:gd name="T35" fmla="*/ 2147483647 h 215"/>
              <a:gd name="T36" fmla="*/ 2147483647 w 129"/>
              <a:gd name="T37" fmla="*/ 2147483647 h 215"/>
              <a:gd name="T38" fmla="*/ 2147483647 w 129"/>
              <a:gd name="T39" fmla="*/ 2147483647 h 215"/>
              <a:gd name="T40" fmla="*/ 2147483647 w 129"/>
              <a:gd name="T41" fmla="*/ 2147483647 h 215"/>
              <a:gd name="T42" fmla="*/ 2147483647 w 129"/>
              <a:gd name="T43" fmla="*/ 2147483647 h 215"/>
              <a:gd name="T44" fmla="*/ 2147483647 w 129"/>
              <a:gd name="T45" fmla="*/ 2147483647 h 215"/>
              <a:gd name="T46" fmla="*/ 2147483647 w 129"/>
              <a:gd name="T47" fmla="*/ 0 h 215"/>
              <a:gd name="T48" fmla="*/ 2147483647 w 129"/>
              <a:gd name="T49" fmla="*/ 2147483647 h 215"/>
              <a:gd name="T50" fmla="*/ 2147483647 w 129"/>
              <a:gd name="T51" fmla="*/ 2147483647 h 215"/>
              <a:gd name="T52" fmla="*/ 0 w 129"/>
              <a:gd name="T53" fmla="*/ 2147483647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4" name="Freeform 275"/>
          <p:cNvSpPr>
            <a:spLocks/>
          </p:cNvSpPr>
          <p:nvPr/>
        </p:nvSpPr>
        <p:spPr bwMode="auto">
          <a:xfrm flipH="1">
            <a:off x="1084263" y="3938588"/>
            <a:ext cx="26987" cy="46037"/>
          </a:xfrm>
          <a:custGeom>
            <a:avLst/>
            <a:gdLst>
              <a:gd name="T0" fmla="*/ 2147483647 w 118"/>
              <a:gd name="T1" fmla="*/ 0 h 179"/>
              <a:gd name="T2" fmla="*/ 2147483647 w 118"/>
              <a:gd name="T3" fmla="*/ 2147483647 h 179"/>
              <a:gd name="T4" fmla="*/ 2147483647 w 118"/>
              <a:gd name="T5" fmla="*/ 2147483647 h 179"/>
              <a:gd name="T6" fmla="*/ 2147483647 w 118"/>
              <a:gd name="T7" fmla="*/ 2147483647 h 179"/>
              <a:gd name="T8" fmla="*/ 2147483647 w 118"/>
              <a:gd name="T9" fmla="*/ 2147483647 h 179"/>
              <a:gd name="T10" fmla="*/ 0 w 118"/>
              <a:gd name="T11" fmla="*/ 2147483647 h 179"/>
              <a:gd name="T12" fmla="*/ 2147483647 w 118"/>
              <a:gd name="T13" fmla="*/ 2147483647 h 179"/>
              <a:gd name="T14" fmla="*/ 2147483647 w 118"/>
              <a:gd name="T15" fmla="*/ 2147483647 h 179"/>
              <a:gd name="T16" fmla="*/ 2147483647 w 118"/>
              <a:gd name="T17" fmla="*/ 2147483647 h 179"/>
              <a:gd name="T18" fmla="*/ 2147483647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5" name="Freeform 276"/>
          <p:cNvSpPr>
            <a:spLocks/>
          </p:cNvSpPr>
          <p:nvPr/>
        </p:nvSpPr>
        <p:spPr bwMode="auto">
          <a:xfrm flipH="1">
            <a:off x="1000125" y="3767138"/>
            <a:ext cx="157163" cy="185737"/>
          </a:xfrm>
          <a:custGeom>
            <a:avLst/>
            <a:gdLst>
              <a:gd name="T0" fmla="*/ 2147483647 w 671"/>
              <a:gd name="T1" fmla="*/ 2147483647 h 670"/>
              <a:gd name="T2" fmla="*/ 2147483647 w 671"/>
              <a:gd name="T3" fmla="*/ 2147483647 h 670"/>
              <a:gd name="T4" fmla="*/ 2147483647 w 671"/>
              <a:gd name="T5" fmla="*/ 2147483647 h 670"/>
              <a:gd name="T6" fmla="*/ 2147483647 w 671"/>
              <a:gd name="T7" fmla="*/ 2147483647 h 670"/>
              <a:gd name="T8" fmla="*/ 2147483647 w 671"/>
              <a:gd name="T9" fmla="*/ 2147483647 h 670"/>
              <a:gd name="T10" fmla="*/ 2147483647 w 671"/>
              <a:gd name="T11" fmla="*/ 2147483647 h 670"/>
              <a:gd name="T12" fmla="*/ 2147483647 w 671"/>
              <a:gd name="T13" fmla="*/ 2147483647 h 670"/>
              <a:gd name="T14" fmla="*/ 2147483647 w 671"/>
              <a:gd name="T15" fmla="*/ 2147483647 h 670"/>
              <a:gd name="T16" fmla="*/ 2147483647 w 671"/>
              <a:gd name="T17" fmla="*/ 2147483647 h 670"/>
              <a:gd name="T18" fmla="*/ 2147483647 w 671"/>
              <a:gd name="T19" fmla="*/ 2147483647 h 670"/>
              <a:gd name="T20" fmla="*/ 2147483647 w 671"/>
              <a:gd name="T21" fmla="*/ 2147483647 h 670"/>
              <a:gd name="T22" fmla="*/ 2147483647 w 671"/>
              <a:gd name="T23" fmla="*/ 2147483647 h 670"/>
              <a:gd name="T24" fmla="*/ 2147483647 w 671"/>
              <a:gd name="T25" fmla="*/ 2147483647 h 670"/>
              <a:gd name="T26" fmla="*/ 2147483647 w 671"/>
              <a:gd name="T27" fmla="*/ 2147483647 h 670"/>
              <a:gd name="T28" fmla="*/ 2147483647 w 671"/>
              <a:gd name="T29" fmla="*/ 2147483647 h 670"/>
              <a:gd name="T30" fmla="*/ 2147483647 w 671"/>
              <a:gd name="T31" fmla="*/ 2147483647 h 670"/>
              <a:gd name="T32" fmla="*/ 2147483647 w 671"/>
              <a:gd name="T33" fmla="*/ 2147483647 h 670"/>
              <a:gd name="T34" fmla="*/ 2147483647 w 671"/>
              <a:gd name="T35" fmla="*/ 2147483647 h 670"/>
              <a:gd name="T36" fmla="*/ 2147483647 w 671"/>
              <a:gd name="T37" fmla="*/ 2147483647 h 670"/>
              <a:gd name="T38" fmla="*/ 2147483647 w 671"/>
              <a:gd name="T39" fmla="*/ 2147483647 h 670"/>
              <a:gd name="T40" fmla="*/ 2147483647 w 671"/>
              <a:gd name="T41" fmla="*/ 2147483647 h 670"/>
              <a:gd name="T42" fmla="*/ 2147483647 w 671"/>
              <a:gd name="T43" fmla="*/ 2147483647 h 670"/>
              <a:gd name="T44" fmla="*/ 2147483647 w 671"/>
              <a:gd name="T45" fmla="*/ 2147483647 h 670"/>
              <a:gd name="T46" fmla="*/ 2147483647 w 671"/>
              <a:gd name="T47" fmla="*/ 2147483647 h 670"/>
              <a:gd name="T48" fmla="*/ 2147483647 w 671"/>
              <a:gd name="T49" fmla="*/ 2147483647 h 670"/>
              <a:gd name="T50" fmla="*/ 2147483647 w 671"/>
              <a:gd name="T51" fmla="*/ 2147483647 h 670"/>
              <a:gd name="T52" fmla="*/ 2147483647 w 671"/>
              <a:gd name="T53" fmla="*/ 2147483647 h 670"/>
              <a:gd name="T54" fmla="*/ 2147483647 w 671"/>
              <a:gd name="T55" fmla="*/ 2147483647 h 670"/>
              <a:gd name="T56" fmla="*/ 2147483647 w 671"/>
              <a:gd name="T57" fmla="*/ 2147483647 h 670"/>
              <a:gd name="T58" fmla="*/ 2147483647 w 671"/>
              <a:gd name="T59" fmla="*/ 2147483647 h 670"/>
              <a:gd name="T60" fmla="*/ 2147483647 w 671"/>
              <a:gd name="T61" fmla="*/ 0 h 670"/>
              <a:gd name="T62" fmla="*/ 2147483647 w 671"/>
              <a:gd name="T63" fmla="*/ 2147483647 h 670"/>
              <a:gd name="T64" fmla="*/ 2147483647 w 671"/>
              <a:gd name="T65" fmla="*/ 2147483647 h 670"/>
              <a:gd name="T66" fmla="*/ 2147483647 w 671"/>
              <a:gd name="T67" fmla="*/ 2147483647 h 670"/>
              <a:gd name="T68" fmla="*/ 2147483647 w 671"/>
              <a:gd name="T69" fmla="*/ 2147483647 h 670"/>
              <a:gd name="T70" fmla="*/ 0 w 671"/>
              <a:gd name="T71" fmla="*/ 2147483647 h 670"/>
              <a:gd name="T72" fmla="*/ 2147483647 w 671"/>
              <a:gd name="T73" fmla="*/ 2147483647 h 670"/>
              <a:gd name="T74" fmla="*/ 2147483647 w 671"/>
              <a:gd name="T75" fmla="*/ 2147483647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6" name="Freeform 277"/>
          <p:cNvSpPr>
            <a:spLocks/>
          </p:cNvSpPr>
          <p:nvPr/>
        </p:nvSpPr>
        <p:spPr bwMode="auto">
          <a:xfrm flipH="1">
            <a:off x="1003300" y="3770313"/>
            <a:ext cx="150813" cy="177800"/>
          </a:xfrm>
          <a:custGeom>
            <a:avLst/>
            <a:gdLst>
              <a:gd name="T0" fmla="*/ 2147483647 w 636"/>
              <a:gd name="T1" fmla="*/ 2147483647 h 643"/>
              <a:gd name="T2" fmla="*/ 2147483647 w 636"/>
              <a:gd name="T3" fmla="*/ 2147483647 h 643"/>
              <a:gd name="T4" fmla="*/ 2147483647 w 636"/>
              <a:gd name="T5" fmla="*/ 2147483647 h 643"/>
              <a:gd name="T6" fmla="*/ 2147483647 w 636"/>
              <a:gd name="T7" fmla="*/ 2147483647 h 643"/>
              <a:gd name="T8" fmla="*/ 2147483647 w 636"/>
              <a:gd name="T9" fmla="*/ 2147483647 h 643"/>
              <a:gd name="T10" fmla="*/ 2147483647 w 636"/>
              <a:gd name="T11" fmla="*/ 2147483647 h 643"/>
              <a:gd name="T12" fmla="*/ 2147483647 w 636"/>
              <a:gd name="T13" fmla="*/ 2147483647 h 643"/>
              <a:gd name="T14" fmla="*/ 2147483647 w 636"/>
              <a:gd name="T15" fmla="*/ 2147483647 h 643"/>
              <a:gd name="T16" fmla="*/ 2147483647 w 636"/>
              <a:gd name="T17" fmla="*/ 2147483647 h 643"/>
              <a:gd name="T18" fmla="*/ 2147483647 w 636"/>
              <a:gd name="T19" fmla="*/ 2147483647 h 643"/>
              <a:gd name="T20" fmla="*/ 2147483647 w 636"/>
              <a:gd name="T21" fmla="*/ 2147483647 h 643"/>
              <a:gd name="T22" fmla="*/ 2147483647 w 636"/>
              <a:gd name="T23" fmla="*/ 2147483647 h 643"/>
              <a:gd name="T24" fmla="*/ 2147483647 w 636"/>
              <a:gd name="T25" fmla="*/ 2147483647 h 643"/>
              <a:gd name="T26" fmla="*/ 2147483647 w 636"/>
              <a:gd name="T27" fmla="*/ 2147483647 h 643"/>
              <a:gd name="T28" fmla="*/ 2147483647 w 636"/>
              <a:gd name="T29" fmla="*/ 2147483647 h 643"/>
              <a:gd name="T30" fmla="*/ 2147483647 w 636"/>
              <a:gd name="T31" fmla="*/ 2147483647 h 643"/>
              <a:gd name="T32" fmla="*/ 2147483647 w 636"/>
              <a:gd name="T33" fmla="*/ 2147483647 h 643"/>
              <a:gd name="T34" fmla="*/ 2147483647 w 636"/>
              <a:gd name="T35" fmla="*/ 2147483647 h 643"/>
              <a:gd name="T36" fmla="*/ 2147483647 w 636"/>
              <a:gd name="T37" fmla="*/ 2147483647 h 643"/>
              <a:gd name="T38" fmla="*/ 2147483647 w 636"/>
              <a:gd name="T39" fmla="*/ 2147483647 h 643"/>
              <a:gd name="T40" fmla="*/ 2147483647 w 636"/>
              <a:gd name="T41" fmla="*/ 2147483647 h 643"/>
              <a:gd name="T42" fmla="*/ 2147483647 w 636"/>
              <a:gd name="T43" fmla="*/ 2147483647 h 643"/>
              <a:gd name="T44" fmla="*/ 2147483647 w 636"/>
              <a:gd name="T45" fmla="*/ 2147483647 h 643"/>
              <a:gd name="T46" fmla="*/ 2147483647 w 636"/>
              <a:gd name="T47" fmla="*/ 2147483647 h 643"/>
              <a:gd name="T48" fmla="*/ 2147483647 w 636"/>
              <a:gd name="T49" fmla="*/ 2147483647 h 643"/>
              <a:gd name="T50" fmla="*/ 2147483647 w 636"/>
              <a:gd name="T51" fmla="*/ 2147483647 h 643"/>
              <a:gd name="T52" fmla="*/ 2147483647 w 636"/>
              <a:gd name="T53" fmla="*/ 2147483647 h 643"/>
              <a:gd name="T54" fmla="*/ 2147483647 w 636"/>
              <a:gd name="T55" fmla="*/ 2147483647 h 643"/>
              <a:gd name="T56" fmla="*/ 2147483647 w 636"/>
              <a:gd name="T57" fmla="*/ 2147483647 h 643"/>
              <a:gd name="T58" fmla="*/ 2147483647 w 636"/>
              <a:gd name="T59" fmla="*/ 2147483647 h 643"/>
              <a:gd name="T60" fmla="*/ 2147483647 w 636"/>
              <a:gd name="T61" fmla="*/ 2147483647 h 643"/>
              <a:gd name="T62" fmla="*/ 2147483647 w 636"/>
              <a:gd name="T63" fmla="*/ 2147483647 h 643"/>
              <a:gd name="T64" fmla="*/ 2147483647 w 636"/>
              <a:gd name="T65" fmla="*/ 2147483647 h 643"/>
              <a:gd name="T66" fmla="*/ 2147483647 w 636"/>
              <a:gd name="T67" fmla="*/ 2147483647 h 643"/>
              <a:gd name="T68" fmla="*/ 2147483647 w 636"/>
              <a:gd name="T69" fmla="*/ 2147483647 h 643"/>
              <a:gd name="T70" fmla="*/ 2147483647 w 636"/>
              <a:gd name="T71" fmla="*/ 2147483647 h 643"/>
              <a:gd name="T72" fmla="*/ 2147483647 w 636"/>
              <a:gd name="T73" fmla="*/ 2147483647 h 643"/>
              <a:gd name="T74" fmla="*/ 2147483647 w 636"/>
              <a:gd name="T75" fmla="*/ 2147483647 h 643"/>
              <a:gd name="T76" fmla="*/ 2147483647 w 636"/>
              <a:gd name="T77" fmla="*/ 2147483647 h 643"/>
              <a:gd name="T78" fmla="*/ 2147483647 w 636"/>
              <a:gd name="T79" fmla="*/ 2147483647 h 643"/>
              <a:gd name="T80" fmla="*/ 2147483647 w 636"/>
              <a:gd name="T81" fmla="*/ 2147483647 h 643"/>
              <a:gd name="T82" fmla="*/ 2147483647 w 636"/>
              <a:gd name="T83" fmla="*/ 2147483647 h 643"/>
              <a:gd name="T84" fmla="*/ 2147483647 w 636"/>
              <a:gd name="T85" fmla="*/ 2147483647 h 643"/>
              <a:gd name="T86" fmla="*/ 2147483647 w 636"/>
              <a:gd name="T87" fmla="*/ 2147483647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7" name="Freeform 278"/>
          <p:cNvSpPr>
            <a:spLocks/>
          </p:cNvSpPr>
          <p:nvPr/>
        </p:nvSpPr>
        <p:spPr bwMode="auto">
          <a:xfrm flipH="1">
            <a:off x="1306513" y="4221163"/>
            <a:ext cx="160337" cy="117475"/>
          </a:xfrm>
          <a:custGeom>
            <a:avLst/>
            <a:gdLst>
              <a:gd name="T0" fmla="*/ 2147483647 w 698"/>
              <a:gd name="T1" fmla="*/ 2147483647 h 425"/>
              <a:gd name="T2" fmla="*/ 2147483647 w 698"/>
              <a:gd name="T3" fmla="*/ 2147483647 h 425"/>
              <a:gd name="T4" fmla="*/ 2147483647 w 698"/>
              <a:gd name="T5" fmla="*/ 2147483647 h 425"/>
              <a:gd name="T6" fmla="*/ 2147483647 w 698"/>
              <a:gd name="T7" fmla="*/ 2147483647 h 425"/>
              <a:gd name="T8" fmla="*/ 2147483647 w 698"/>
              <a:gd name="T9" fmla="*/ 2147483647 h 425"/>
              <a:gd name="T10" fmla="*/ 2147483647 w 698"/>
              <a:gd name="T11" fmla="*/ 2147483647 h 425"/>
              <a:gd name="T12" fmla="*/ 2147483647 w 698"/>
              <a:gd name="T13" fmla="*/ 2147483647 h 425"/>
              <a:gd name="T14" fmla="*/ 2147483647 w 698"/>
              <a:gd name="T15" fmla="*/ 2147483647 h 425"/>
              <a:gd name="T16" fmla="*/ 2147483647 w 698"/>
              <a:gd name="T17" fmla="*/ 2147483647 h 425"/>
              <a:gd name="T18" fmla="*/ 2147483647 w 698"/>
              <a:gd name="T19" fmla="*/ 2147483647 h 425"/>
              <a:gd name="T20" fmla="*/ 2147483647 w 698"/>
              <a:gd name="T21" fmla="*/ 2147483647 h 425"/>
              <a:gd name="T22" fmla="*/ 2147483647 w 698"/>
              <a:gd name="T23" fmla="*/ 0 h 425"/>
              <a:gd name="T24" fmla="*/ 2147483647 w 698"/>
              <a:gd name="T25" fmla="*/ 2147483647 h 425"/>
              <a:gd name="T26" fmla="*/ 2147483647 w 698"/>
              <a:gd name="T27" fmla="*/ 2147483647 h 425"/>
              <a:gd name="T28" fmla="*/ 2147483647 w 698"/>
              <a:gd name="T29" fmla="*/ 2147483647 h 425"/>
              <a:gd name="T30" fmla="*/ 2147483647 w 698"/>
              <a:gd name="T31" fmla="*/ 2147483647 h 425"/>
              <a:gd name="T32" fmla="*/ 2147483647 w 698"/>
              <a:gd name="T33" fmla="*/ 2147483647 h 425"/>
              <a:gd name="T34" fmla="*/ 2147483647 w 698"/>
              <a:gd name="T35" fmla="*/ 2147483647 h 425"/>
              <a:gd name="T36" fmla="*/ 2147483647 w 698"/>
              <a:gd name="T37" fmla="*/ 2147483647 h 425"/>
              <a:gd name="T38" fmla="*/ 2147483647 w 698"/>
              <a:gd name="T39" fmla="*/ 2147483647 h 425"/>
              <a:gd name="T40" fmla="*/ 0 w 698"/>
              <a:gd name="T41" fmla="*/ 2147483647 h 425"/>
              <a:gd name="T42" fmla="*/ 0 w 698"/>
              <a:gd name="T43" fmla="*/ 2147483647 h 425"/>
              <a:gd name="T44" fmla="*/ 2147483647 w 698"/>
              <a:gd name="T45" fmla="*/ 2147483647 h 425"/>
              <a:gd name="T46" fmla="*/ 2147483647 w 698"/>
              <a:gd name="T47" fmla="*/ 2147483647 h 425"/>
              <a:gd name="T48" fmla="*/ 2147483647 w 698"/>
              <a:gd name="T49" fmla="*/ 2147483647 h 425"/>
              <a:gd name="T50" fmla="*/ 2147483647 w 698"/>
              <a:gd name="T51" fmla="*/ 2147483647 h 425"/>
              <a:gd name="T52" fmla="*/ 2147483647 w 698"/>
              <a:gd name="T53" fmla="*/ 2147483647 h 425"/>
              <a:gd name="T54" fmla="*/ 2147483647 w 698"/>
              <a:gd name="T55" fmla="*/ 2147483647 h 425"/>
              <a:gd name="T56" fmla="*/ 2147483647 w 698"/>
              <a:gd name="T57" fmla="*/ 2147483647 h 425"/>
              <a:gd name="T58" fmla="*/ 2147483647 w 698"/>
              <a:gd name="T59" fmla="*/ 2147483647 h 425"/>
              <a:gd name="T60" fmla="*/ 2147483647 w 698"/>
              <a:gd name="T61" fmla="*/ 2147483647 h 425"/>
              <a:gd name="T62" fmla="*/ 2147483647 w 698"/>
              <a:gd name="T63" fmla="*/ 2147483647 h 425"/>
              <a:gd name="T64" fmla="*/ 2147483647 w 698"/>
              <a:gd name="T65" fmla="*/ 2147483647 h 425"/>
              <a:gd name="T66" fmla="*/ 2147483647 w 698"/>
              <a:gd name="T67" fmla="*/ 2147483647 h 425"/>
              <a:gd name="T68" fmla="*/ 2147483647 w 698"/>
              <a:gd name="T69" fmla="*/ 2147483647 h 425"/>
              <a:gd name="T70" fmla="*/ 2147483647 w 698"/>
              <a:gd name="T71" fmla="*/ 2147483647 h 425"/>
              <a:gd name="T72" fmla="*/ 2147483647 w 698"/>
              <a:gd name="T73" fmla="*/ 2147483647 h 425"/>
              <a:gd name="T74" fmla="*/ 2147483647 w 698"/>
              <a:gd name="T75" fmla="*/ 2147483647 h 425"/>
              <a:gd name="T76" fmla="*/ 2147483647 w 698"/>
              <a:gd name="T77" fmla="*/ 2147483647 h 425"/>
              <a:gd name="T78" fmla="*/ 2147483647 w 698"/>
              <a:gd name="T79" fmla="*/ 2147483647 h 425"/>
              <a:gd name="T80" fmla="*/ 2147483647 w 698"/>
              <a:gd name="T81" fmla="*/ 2147483647 h 425"/>
              <a:gd name="T82" fmla="*/ 2147483647 w 698"/>
              <a:gd name="T83" fmla="*/ 2147483647 h 425"/>
              <a:gd name="T84" fmla="*/ 2147483647 w 698"/>
              <a:gd name="T85" fmla="*/ 2147483647 h 425"/>
              <a:gd name="T86" fmla="*/ 2147483647 w 698"/>
              <a:gd name="T87" fmla="*/ 2147483647 h 425"/>
              <a:gd name="T88" fmla="*/ 2147483647 w 698"/>
              <a:gd name="T89" fmla="*/ 2147483647 h 425"/>
              <a:gd name="T90" fmla="*/ 2147483647 w 698"/>
              <a:gd name="T91" fmla="*/ 2147483647 h 425"/>
              <a:gd name="T92" fmla="*/ 2147483647 w 698"/>
              <a:gd name="T93" fmla="*/ 2147483647 h 425"/>
              <a:gd name="T94" fmla="*/ 2147483647 w 698"/>
              <a:gd name="T95" fmla="*/ 2147483647 h 425"/>
              <a:gd name="T96" fmla="*/ 2147483647 w 698"/>
              <a:gd name="T97" fmla="*/ 2147483647 h 425"/>
              <a:gd name="T98" fmla="*/ 2147483647 w 698"/>
              <a:gd name="T99" fmla="*/ 2147483647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538" name="Freeform 279"/>
          <p:cNvSpPr>
            <a:spLocks/>
          </p:cNvSpPr>
          <p:nvPr/>
        </p:nvSpPr>
        <p:spPr bwMode="auto">
          <a:xfrm flipH="1">
            <a:off x="1408113" y="4240213"/>
            <a:ext cx="52387" cy="12700"/>
          </a:xfrm>
          <a:custGeom>
            <a:avLst/>
            <a:gdLst>
              <a:gd name="T0" fmla="*/ 0 w 223"/>
              <a:gd name="T1" fmla="*/ 2147483647 h 52"/>
              <a:gd name="T2" fmla="*/ 2147483647 w 223"/>
              <a:gd name="T3" fmla="*/ 2147483647 h 52"/>
              <a:gd name="T4" fmla="*/ 2147483647 w 223"/>
              <a:gd name="T5" fmla="*/ 2147483647 h 52"/>
              <a:gd name="T6" fmla="*/ 2147483647 w 223"/>
              <a:gd name="T7" fmla="*/ 2147483647 h 52"/>
              <a:gd name="T8" fmla="*/ 2147483647 w 223"/>
              <a:gd name="T9" fmla="*/ 2147483647 h 52"/>
              <a:gd name="T10" fmla="*/ 2147483647 w 223"/>
              <a:gd name="T11" fmla="*/ 2147483647 h 52"/>
              <a:gd name="T12" fmla="*/ 2147483647 w 223"/>
              <a:gd name="T13" fmla="*/ 2147483647 h 52"/>
              <a:gd name="T14" fmla="*/ 2147483647 w 223"/>
              <a:gd name="T15" fmla="*/ 2147483647 h 52"/>
              <a:gd name="T16" fmla="*/ 2147483647 w 223"/>
              <a:gd name="T17" fmla="*/ 0 h 52"/>
              <a:gd name="T18" fmla="*/ 2147483647 w 223"/>
              <a:gd name="T19" fmla="*/ 2147483647 h 52"/>
              <a:gd name="T20" fmla="*/ 2147483647 w 223"/>
              <a:gd name="T21" fmla="*/ 2147483647 h 52"/>
              <a:gd name="T22" fmla="*/ 2147483647 w 223"/>
              <a:gd name="T23" fmla="*/ 2147483647 h 52"/>
              <a:gd name="T24" fmla="*/ 0 w 223"/>
              <a:gd name="T25" fmla="*/ 2147483647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39" name="Freeform 280"/>
          <p:cNvSpPr>
            <a:spLocks/>
          </p:cNvSpPr>
          <p:nvPr/>
        </p:nvSpPr>
        <p:spPr bwMode="auto">
          <a:xfrm flipH="1">
            <a:off x="1387475" y="4224338"/>
            <a:ext cx="46038" cy="11112"/>
          </a:xfrm>
          <a:custGeom>
            <a:avLst/>
            <a:gdLst>
              <a:gd name="T0" fmla="*/ 2147483647 w 188"/>
              <a:gd name="T1" fmla="*/ 0 h 36"/>
              <a:gd name="T2" fmla="*/ 2147483647 w 188"/>
              <a:gd name="T3" fmla="*/ 2147483647 h 36"/>
              <a:gd name="T4" fmla="*/ 0 w 188"/>
              <a:gd name="T5" fmla="*/ 2147483647 h 36"/>
              <a:gd name="T6" fmla="*/ 2147483647 w 188"/>
              <a:gd name="T7" fmla="*/ 2147483647 h 36"/>
              <a:gd name="T8" fmla="*/ 2147483647 w 188"/>
              <a:gd name="T9" fmla="*/ 2147483647 h 36"/>
              <a:gd name="T10" fmla="*/ 2147483647 w 188"/>
              <a:gd name="T11" fmla="*/ 2147483647 h 36"/>
              <a:gd name="T12" fmla="*/ 2147483647 w 188"/>
              <a:gd name="T13" fmla="*/ 2147483647 h 36"/>
              <a:gd name="T14" fmla="*/ 2147483647 w 188"/>
              <a:gd name="T15" fmla="*/ 2147483647 h 36"/>
              <a:gd name="T16" fmla="*/ 2147483647 w 188"/>
              <a:gd name="T17" fmla="*/ 2147483647 h 36"/>
              <a:gd name="T18" fmla="*/ 2147483647 w 188"/>
              <a:gd name="T19" fmla="*/ 2147483647 h 36"/>
              <a:gd name="T20" fmla="*/ 2147483647 w 188"/>
              <a:gd name="T21" fmla="*/ 2147483647 h 36"/>
              <a:gd name="T22" fmla="*/ 2147483647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0" name="Freeform 281"/>
          <p:cNvSpPr>
            <a:spLocks/>
          </p:cNvSpPr>
          <p:nvPr/>
        </p:nvSpPr>
        <p:spPr bwMode="auto">
          <a:xfrm flipH="1">
            <a:off x="1406525" y="4260850"/>
            <a:ext cx="19050" cy="6350"/>
          </a:xfrm>
          <a:custGeom>
            <a:avLst/>
            <a:gdLst>
              <a:gd name="T0" fmla="*/ 0 w 76"/>
              <a:gd name="T1" fmla="*/ 2147483647 h 17"/>
              <a:gd name="T2" fmla="*/ 2147483647 w 76"/>
              <a:gd name="T3" fmla="*/ 2147483647 h 17"/>
              <a:gd name="T4" fmla="*/ 2147483647 w 76"/>
              <a:gd name="T5" fmla="*/ 2147483647 h 17"/>
              <a:gd name="T6" fmla="*/ 2147483647 w 76"/>
              <a:gd name="T7" fmla="*/ 2147483647 h 17"/>
              <a:gd name="T8" fmla="*/ 2147483647 w 76"/>
              <a:gd name="T9" fmla="*/ 0 h 17"/>
              <a:gd name="T10" fmla="*/ 2147483647 w 76"/>
              <a:gd name="T11" fmla="*/ 2147483647 h 17"/>
              <a:gd name="T12" fmla="*/ 0 w 76"/>
              <a:gd name="T13" fmla="*/ 2147483647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1" name="Freeform 282"/>
          <p:cNvSpPr>
            <a:spLocks/>
          </p:cNvSpPr>
          <p:nvPr/>
        </p:nvSpPr>
        <p:spPr bwMode="auto">
          <a:xfrm flipH="1">
            <a:off x="1458913" y="4256088"/>
            <a:ext cx="3175" cy="11112"/>
          </a:xfrm>
          <a:custGeom>
            <a:avLst/>
            <a:gdLst>
              <a:gd name="T0" fmla="*/ 2147483647 w 19"/>
              <a:gd name="T1" fmla="*/ 0 h 32"/>
              <a:gd name="T2" fmla="*/ 2147483647 w 19"/>
              <a:gd name="T3" fmla="*/ 2147483647 h 32"/>
              <a:gd name="T4" fmla="*/ 2147483647 w 19"/>
              <a:gd name="T5" fmla="*/ 2147483647 h 32"/>
              <a:gd name="T6" fmla="*/ 0 w 19"/>
              <a:gd name="T7" fmla="*/ 2147483647 h 32"/>
              <a:gd name="T8" fmla="*/ 2147483647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2" name="Freeform 283"/>
          <p:cNvSpPr>
            <a:spLocks/>
          </p:cNvSpPr>
          <p:nvPr/>
        </p:nvSpPr>
        <p:spPr bwMode="auto">
          <a:xfrm flipH="1">
            <a:off x="1381125" y="4246563"/>
            <a:ext cx="11113" cy="12700"/>
          </a:xfrm>
          <a:custGeom>
            <a:avLst/>
            <a:gdLst>
              <a:gd name="T0" fmla="*/ 0 w 35"/>
              <a:gd name="T1" fmla="*/ 0 h 43"/>
              <a:gd name="T2" fmla="*/ 2147483647 w 35"/>
              <a:gd name="T3" fmla="*/ 2147483647 h 43"/>
              <a:gd name="T4" fmla="*/ 2147483647 w 35"/>
              <a:gd name="T5" fmla="*/ 2147483647 h 43"/>
              <a:gd name="T6" fmla="*/ 2147483647 w 35"/>
              <a:gd name="T7" fmla="*/ 2147483647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3" name="Freeform 284"/>
          <p:cNvSpPr>
            <a:spLocks/>
          </p:cNvSpPr>
          <p:nvPr/>
        </p:nvSpPr>
        <p:spPr bwMode="auto">
          <a:xfrm flipH="1">
            <a:off x="1349375" y="4246563"/>
            <a:ext cx="25400" cy="34925"/>
          </a:xfrm>
          <a:custGeom>
            <a:avLst/>
            <a:gdLst>
              <a:gd name="T0" fmla="*/ 0 w 114"/>
              <a:gd name="T1" fmla="*/ 0 h 114"/>
              <a:gd name="T2" fmla="*/ 2147483647 w 114"/>
              <a:gd name="T3" fmla="*/ 2147483647 h 114"/>
              <a:gd name="T4" fmla="*/ 2147483647 w 114"/>
              <a:gd name="T5" fmla="*/ 2147483647 h 114"/>
              <a:gd name="T6" fmla="*/ 2147483647 w 114"/>
              <a:gd name="T7" fmla="*/ 2147483647 h 114"/>
              <a:gd name="T8" fmla="*/ 2147483647 w 114"/>
              <a:gd name="T9" fmla="*/ 2147483647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4" name="Freeform 285"/>
          <p:cNvSpPr>
            <a:spLocks/>
          </p:cNvSpPr>
          <p:nvPr/>
        </p:nvSpPr>
        <p:spPr bwMode="auto">
          <a:xfrm flipH="1">
            <a:off x="1335088" y="4292600"/>
            <a:ext cx="6350" cy="20638"/>
          </a:xfrm>
          <a:custGeom>
            <a:avLst/>
            <a:gdLst>
              <a:gd name="T0" fmla="*/ 2147483647 w 27"/>
              <a:gd name="T1" fmla="*/ 0 h 82"/>
              <a:gd name="T2" fmla="*/ 2147483647 w 27"/>
              <a:gd name="T3" fmla="*/ 2147483647 h 82"/>
              <a:gd name="T4" fmla="*/ 2147483647 w 27"/>
              <a:gd name="T5" fmla="*/ 2147483647 h 82"/>
              <a:gd name="T6" fmla="*/ 2147483647 w 27"/>
              <a:gd name="T7" fmla="*/ 2147483647 h 82"/>
              <a:gd name="T8" fmla="*/ 0 w 27"/>
              <a:gd name="T9" fmla="*/ 2147483647 h 82"/>
              <a:gd name="T10" fmla="*/ 2147483647 w 27"/>
              <a:gd name="T11" fmla="*/ 2147483647 h 82"/>
              <a:gd name="T12" fmla="*/ 2147483647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5" name="Freeform 286"/>
          <p:cNvSpPr>
            <a:spLocks/>
          </p:cNvSpPr>
          <p:nvPr/>
        </p:nvSpPr>
        <p:spPr bwMode="auto">
          <a:xfrm flipH="1">
            <a:off x="1398588" y="4268788"/>
            <a:ext cx="1587" cy="9525"/>
          </a:xfrm>
          <a:custGeom>
            <a:avLst/>
            <a:gdLst>
              <a:gd name="T0" fmla="*/ 2147483647 w 15"/>
              <a:gd name="T1" fmla="*/ 0 h 30"/>
              <a:gd name="T2" fmla="*/ 2147483647 w 15"/>
              <a:gd name="T3" fmla="*/ 2147483647 h 30"/>
              <a:gd name="T4" fmla="*/ 0 w 15"/>
              <a:gd name="T5" fmla="*/ 2147483647 h 30"/>
              <a:gd name="T6" fmla="*/ 2147483647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6" name="Freeform 287"/>
          <p:cNvSpPr>
            <a:spLocks/>
          </p:cNvSpPr>
          <p:nvPr/>
        </p:nvSpPr>
        <p:spPr bwMode="auto">
          <a:xfrm flipH="1">
            <a:off x="1157288" y="3960813"/>
            <a:ext cx="12700" cy="7937"/>
          </a:xfrm>
          <a:custGeom>
            <a:avLst/>
            <a:gdLst>
              <a:gd name="T0" fmla="*/ 0 w 51"/>
              <a:gd name="T1" fmla="*/ 0 h 36"/>
              <a:gd name="T2" fmla="*/ 2147483647 w 51"/>
              <a:gd name="T3" fmla="*/ 2147483647 h 36"/>
              <a:gd name="T4" fmla="*/ 2147483647 w 51"/>
              <a:gd name="T5" fmla="*/ 2147483647 h 36"/>
              <a:gd name="T6" fmla="*/ 2147483647 w 51"/>
              <a:gd name="T7" fmla="*/ 2147483647 h 36"/>
              <a:gd name="T8" fmla="*/ 2147483647 w 51"/>
              <a:gd name="T9" fmla="*/ 2147483647 h 36"/>
              <a:gd name="T10" fmla="*/ 2147483647 w 51"/>
              <a:gd name="T11" fmla="*/ 2147483647 h 36"/>
              <a:gd name="T12" fmla="*/ 2147483647 w 51"/>
              <a:gd name="T13" fmla="*/ 2147483647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7" name="Freeform 288"/>
          <p:cNvSpPr>
            <a:spLocks/>
          </p:cNvSpPr>
          <p:nvPr/>
        </p:nvSpPr>
        <p:spPr bwMode="auto">
          <a:xfrm flipH="1">
            <a:off x="1163638" y="3976688"/>
            <a:ext cx="1587" cy="7937"/>
          </a:xfrm>
          <a:custGeom>
            <a:avLst/>
            <a:gdLst>
              <a:gd name="T0" fmla="*/ 0 w 14"/>
              <a:gd name="T1" fmla="*/ 0 h 24"/>
              <a:gd name="T2" fmla="*/ 2147483647 w 14"/>
              <a:gd name="T3" fmla="*/ 0 h 24"/>
              <a:gd name="T4" fmla="*/ 2147483647 w 14"/>
              <a:gd name="T5" fmla="*/ 2147483647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48" name="Freeform 289"/>
          <p:cNvSpPr>
            <a:spLocks/>
          </p:cNvSpPr>
          <p:nvPr/>
        </p:nvSpPr>
        <p:spPr bwMode="auto">
          <a:xfrm flipH="1">
            <a:off x="1116013" y="4027488"/>
            <a:ext cx="98425" cy="300037"/>
          </a:xfrm>
          <a:custGeom>
            <a:avLst/>
            <a:gdLst>
              <a:gd name="T0" fmla="*/ 2147483647 w 431"/>
              <a:gd name="T1" fmla="*/ 0 h 1076"/>
              <a:gd name="T2" fmla="*/ 2147483647 w 431"/>
              <a:gd name="T3" fmla="*/ 2147483647 h 1076"/>
              <a:gd name="T4" fmla="*/ 2147483647 w 431"/>
              <a:gd name="T5" fmla="*/ 2147483647 h 1076"/>
              <a:gd name="T6" fmla="*/ 2147483647 w 431"/>
              <a:gd name="T7" fmla="*/ 2147483647 h 1076"/>
              <a:gd name="T8" fmla="*/ 2147483647 w 431"/>
              <a:gd name="T9" fmla="*/ 2147483647 h 1076"/>
              <a:gd name="T10" fmla="*/ 2147483647 w 431"/>
              <a:gd name="T11" fmla="*/ 2147483647 h 1076"/>
              <a:gd name="T12" fmla="*/ 0 w 431"/>
              <a:gd name="T13" fmla="*/ 2147483647 h 1076"/>
              <a:gd name="T14" fmla="*/ 2147483647 w 431"/>
              <a:gd name="T15" fmla="*/ 2147483647 h 1076"/>
              <a:gd name="T16" fmla="*/ 2147483647 w 431"/>
              <a:gd name="T17" fmla="*/ 2147483647 h 1076"/>
              <a:gd name="T18" fmla="*/ 2147483647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11549" name="Freeform 290"/>
          <p:cNvSpPr>
            <a:spLocks/>
          </p:cNvSpPr>
          <p:nvPr/>
        </p:nvSpPr>
        <p:spPr bwMode="auto">
          <a:xfrm flipH="1">
            <a:off x="954088" y="3968750"/>
            <a:ext cx="376237" cy="500063"/>
          </a:xfrm>
          <a:custGeom>
            <a:avLst/>
            <a:gdLst>
              <a:gd name="T0" fmla="*/ 2147483647 w 1606"/>
              <a:gd name="T1" fmla="*/ 2147483647 h 1792"/>
              <a:gd name="T2" fmla="*/ 2147483647 w 1606"/>
              <a:gd name="T3" fmla="*/ 0 h 1792"/>
              <a:gd name="T4" fmla="*/ 2147483647 w 1606"/>
              <a:gd name="T5" fmla="*/ 2147483647 h 1792"/>
              <a:gd name="T6" fmla="*/ 2147483647 w 1606"/>
              <a:gd name="T7" fmla="*/ 2147483647 h 1792"/>
              <a:gd name="T8" fmla="*/ 2147483647 w 1606"/>
              <a:gd name="T9" fmla="*/ 2147483647 h 1792"/>
              <a:gd name="T10" fmla="*/ 2147483647 w 1606"/>
              <a:gd name="T11" fmla="*/ 2147483647 h 1792"/>
              <a:gd name="T12" fmla="*/ 2147483647 w 1606"/>
              <a:gd name="T13" fmla="*/ 2147483647 h 1792"/>
              <a:gd name="T14" fmla="*/ 2147483647 w 1606"/>
              <a:gd name="T15" fmla="*/ 2147483647 h 1792"/>
              <a:gd name="T16" fmla="*/ 2147483647 w 1606"/>
              <a:gd name="T17" fmla="*/ 2147483647 h 1792"/>
              <a:gd name="T18" fmla="*/ 2147483647 w 1606"/>
              <a:gd name="T19" fmla="*/ 2147483647 h 1792"/>
              <a:gd name="T20" fmla="*/ 2147483647 w 1606"/>
              <a:gd name="T21" fmla="*/ 2147483647 h 1792"/>
              <a:gd name="T22" fmla="*/ 2147483647 w 1606"/>
              <a:gd name="T23" fmla="*/ 2147483647 h 1792"/>
              <a:gd name="T24" fmla="*/ 2147483647 w 1606"/>
              <a:gd name="T25" fmla="*/ 2147483647 h 1792"/>
              <a:gd name="T26" fmla="*/ 2147483647 w 1606"/>
              <a:gd name="T27" fmla="*/ 2147483647 h 1792"/>
              <a:gd name="T28" fmla="*/ 0 w 1606"/>
              <a:gd name="T29" fmla="*/ 2147483647 h 1792"/>
              <a:gd name="T30" fmla="*/ 2147483647 w 1606"/>
              <a:gd name="T31" fmla="*/ 2147483647 h 1792"/>
              <a:gd name="T32" fmla="*/ 2147483647 w 1606"/>
              <a:gd name="T33" fmla="*/ 2147483647 h 1792"/>
              <a:gd name="T34" fmla="*/ 2147483647 w 1606"/>
              <a:gd name="T35" fmla="*/ 2147483647 h 1792"/>
              <a:gd name="T36" fmla="*/ 2147483647 w 1606"/>
              <a:gd name="T37" fmla="*/ 2147483647 h 1792"/>
              <a:gd name="T38" fmla="*/ 2147483647 w 1606"/>
              <a:gd name="T39" fmla="*/ 2147483647 h 1792"/>
              <a:gd name="T40" fmla="*/ 2147483647 w 1606"/>
              <a:gd name="T41" fmla="*/ 2147483647 h 1792"/>
              <a:gd name="T42" fmla="*/ 2147483647 w 1606"/>
              <a:gd name="T43" fmla="*/ 2147483647 h 1792"/>
              <a:gd name="T44" fmla="*/ 2147483647 w 1606"/>
              <a:gd name="T45" fmla="*/ 2147483647 h 1792"/>
              <a:gd name="T46" fmla="*/ 2147483647 w 1606"/>
              <a:gd name="T47" fmla="*/ 2147483647 h 1792"/>
              <a:gd name="T48" fmla="*/ 2147483647 w 1606"/>
              <a:gd name="T49" fmla="*/ 2147483647 h 1792"/>
              <a:gd name="T50" fmla="*/ 2147483647 w 1606"/>
              <a:gd name="T51" fmla="*/ 2147483647 h 1792"/>
              <a:gd name="T52" fmla="*/ 2147483647 w 1606"/>
              <a:gd name="T53" fmla="*/ 2147483647 h 1792"/>
              <a:gd name="T54" fmla="*/ 2147483647 w 1606"/>
              <a:gd name="T55" fmla="*/ 2147483647 h 1792"/>
              <a:gd name="T56" fmla="*/ 2147483647 w 1606"/>
              <a:gd name="T57" fmla="*/ 2147483647 h 1792"/>
              <a:gd name="T58" fmla="*/ 2147483647 w 1606"/>
              <a:gd name="T59" fmla="*/ 2147483647 h 1792"/>
              <a:gd name="T60" fmla="*/ 2147483647 w 1606"/>
              <a:gd name="T61" fmla="*/ 2147483647 h 1792"/>
              <a:gd name="T62" fmla="*/ 2147483647 w 1606"/>
              <a:gd name="T63" fmla="*/ 2147483647 h 1792"/>
              <a:gd name="T64" fmla="*/ 2147483647 w 1606"/>
              <a:gd name="T65" fmla="*/ 2147483647 h 1792"/>
              <a:gd name="T66" fmla="*/ 2147483647 w 1606"/>
              <a:gd name="T67" fmla="*/ 2147483647 h 1792"/>
              <a:gd name="T68" fmla="*/ 2147483647 w 1606"/>
              <a:gd name="T69" fmla="*/ 2147483647 h 1792"/>
              <a:gd name="T70" fmla="*/ 2147483647 w 1606"/>
              <a:gd name="T71" fmla="*/ 2147483647 h 1792"/>
              <a:gd name="T72" fmla="*/ 2147483647 w 1606"/>
              <a:gd name="T73" fmla="*/ 2147483647 h 1792"/>
              <a:gd name="T74" fmla="*/ 2147483647 w 1606"/>
              <a:gd name="T75" fmla="*/ 2147483647 h 1792"/>
              <a:gd name="T76" fmla="*/ 2147483647 w 1606"/>
              <a:gd name="T77" fmla="*/ 2147483647 h 1792"/>
              <a:gd name="T78" fmla="*/ 2147483647 w 1606"/>
              <a:gd name="T79" fmla="*/ 2147483647 h 1792"/>
              <a:gd name="T80" fmla="*/ 2147483647 w 1606"/>
              <a:gd name="T81" fmla="*/ 2147483647 h 1792"/>
              <a:gd name="T82" fmla="*/ 2147483647 w 1606"/>
              <a:gd name="T83" fmla="*/ 2147483647 h 1792"/>
              <a:gd name="T84" fmla="*/ 2147483647 w 1606"/>
              <a:gd name="T85" fmla="*/ 2147483647 h 1792"/>
              <a:gd name="T86" fmla="*/ 2147483647 w 1606"/>
              <a:gd name="T87" fmla="*/ 2147483647 h 1792"/>
              <a:gd name="T88" fmla="*/ 2147483647 w 1606"/>
              <a:gd name="T89" fmla="*/ 2147483647 h 1792"/>
              <a:gd name="T90" fmla="*/ 2147483647 w 1606"/>
              <a:gd name="T91" fmla="*/ 2147483647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550" name="Freeform 291"/>
          <p:cNvSpPr>
            <a:spLocks/>
          </p:cNvSpPr>
          <p:nvPr/>
        </p:nvSpPr>
        <p:spPr bwMode="auto">
          <a:xfrm flipH="1">
            <a:off x="960438" y="4000500"/>
            <a:ext cx="236537" cy="461963"/>
          </a:xfrm>
          <a:custGeom>
            <a:avLst/>
            <a:gdLst>
              <a:gd name="T0" fmla="*/ 2147483647 w 1014"/>
              <a:gd name="T1" fmla="*/ 2147483647 h 1671"/>
              <a:gd name="T2" fmla="*/ 2147483647 w 1014"/>
              <a:gd name="T3" fmla="*/ 2147483647 h 1671"/>
              <a:gd name="T4" fmla="*/ 2147483647 w 1014"/>
              <a:gd name="T5" fmla="*/ 2147483647 h 1671"/>
              <a:gd name="T6" fmla="*/ 2147483647 w 1014"/>
              <a:gd name="T7" fmla="*/ 2147483647 h 1671"/>
              <a:gd name="T8" fmla="*/ 2147483647 w 1014"/>
              <a:gd name="T9" fmla="*/ 2147483647 h 1671"/>
              <a:gd name="T10" fmla="*/ 2147483647 w 1014"/>
              <a:gd name="T11" fmla="*/ 2147483647 h 1671"/>
              <a:gd name="T12" fmla="*/ 2147483647 w 1014"/>
              <a:gd name="T13" fmla="*/ 2147483647 h 1671"/>
              <a:gd name="T14" fmla="*/ 2147483647 w 1014"/>
              <a:gd name="T15" fmla="*/ 2147483647 h 1671"/>
              <a:gd name="T16" fmla="*/ 2147483647 w 1014"/>
              <a:gd name="T17" fmla="*/ 2147483647 h 1671"/>
              <a:gd name="T18" fmla="*/ 2147483647 w 1014"/>
              <a:gd name="T19" fmla="*/ 2147483647 h 1671"/>
              <a:gd name="T20" fmla="*/ 2147483647 w 1014"/>
              <a:gd name="T21" fmla="*/ 2147483647 h 1671"/>
              <a:gd name="T22" fmla="*/ 2147483647 w 1014"/>
              <a:gd name="T23" fmla="*/ 2147483647 h 1671"/>
              <a:gd name="T24" fmla="*/ 2147483647 w 1014"/>
              <a:gd name="T25" fmla="*/ 2147483647 h 1671"/>
              <a:gd name="T26" fmla="*/ 2147483647 w 1014"/>
              <a:gd name="T27" fmla="*/ 2147483647 h 1671"/>
              <a:gd name="T28" fmla="*/ 2147483647 w 1014"/>
              <a:gd name="T29" fmla="*/ 2147483647 h 1671"/>
              <a:gd name="T30" fmla="*/ 2147483647 w 1014"/>
              <a:gd name="T31" fmla="*/ 2147483647 h 1671"/>
              <a:gd name="T32" fmla="*/ 2147483647 w 1014"/>
              <a:gd name="T33" fmla="*/ 2147483647 h 1671"/>
              <a:gd name="T34" fmla="*/ 2147483647 w 1014"/>
              <a:gd name="T35" fmla="*/ 2147483647 h 1671"/>
              <a:gd name="T36" fmla="*/ 2147483647 w 1014"/>
              <a:gd name="T37" fmla="*/ 0 h 1671"/>
              <a:gd name="T38" fmla="*/ 2147483647 w 1014"/>
              <a:gd name="T39" fmla="*/ 2147483647 h 1671"/>
              <a:gd name="T40" fmla="*/ 2147483647 w 1014"/>
              <a:gd name="T41" fmla="*/ 2147483647 h 1671"/>
              <a:gd name="T42" fmla="*/ 2147483647 w 1014"/>
              <a:gd name="T43" fmla="*/ 2147483647 h 1671"/>
              <a:gd name="T44" fmla="*/ 2147483647 w 1014"/>
              <a:gd name="T45" fmla="*/ 2147483647 h 1671"/>
              <a:gd name="T46" fmla="*/ 2147483647 w 1014"/>
              <a:gd name="T47" fmla="*/ 2147483647 h 1671"/>
              <a:gd name="T48" fmla="*/ 2147483647 w 1014"/>
              <a:gd name="T49" fmla="*/ 2147483647 h 1671"/>
              <a:gd name="T50" fmla="*/ 2147483647 w 1014"/>
              <a:gd name="T51" fmla="*/ 2147483647 h 1671"/>
              <a:gd name="T52" fmla="*/ 2147483647 w 1014"/>
              <a:gd name="T53" fmla="*/ 2147483647 h 1671"/>
              <a:gd name="T54" fmla="*/ 2147483647 w 1014"/>
              <a:gd name="T55" fmla="*/ 2147483647 h 1671"/>
              <a:gd name="T56" fmla="*/ 2147483647 w 1014"/>
              <a:gd name="T57" fmla="*/ 2147483647 h 1671"/>
              <a:gd name="T58" fmla="*/ 2147483647 w 1014"/>
              <a:gd name="T59" fmla="*/ 2147483647 h 1671"/>
              <a:gd name="T60" fmla="*/ 2147483647 w 1014"/>
              <a:gd name="T61" fmla="*/ 2147483647 h 1671"/>
              <a:gd name="T62" fmla="*/ 2147483647 w 1014"/>
              <a:gd name="T63" fmla="*/ 2147483647 h 1671"/>
              <a:gd name="T64" fmla="*/ 2147483647 w 1014"/>
              <a:gd name="T65" fmla="*/ 2147483647 h 1671"/>
              <a:gd name="T66" fmla="*/ 2147483647 w 1014"/>
              <a:gd name="T67" fmla="*/ 2147483647 h 1671"/>
              <a:gd name="T68" fmla="*/ 2147483647 w 1014"/>
              <a:gd name="T69" fmla="*/ 2147483647 h 1671"/>
              <a:gd name="T70" fmla="*/ 2147483647 w 1014"/>
              <a:gd name="T71" fmla="*/ 2147483647 h 1671"/>
              <a:gd name="T72" fmla="*/ 2147483647 w 1014"/>
              <a:gd name="T73" fmla="*/ 2147483647 h 1671"/>
              <a:gd name="T74" fmla="*/ 2147483647 w 1014"/>
              <a:gd name="T75" fmla="*/ 2147483647 h 1671"/>
              <a:gd name="T76" fmla="*/ 0 w 1014"/>
              <a:gd name="T77" fmla="*/ 2147483647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1" name="Freeform 292"/>
          <p:cNvSpPr>
            <a:spLocks/>
          </p:cNvSpPr>
          <p:nvPr/>
        </p:nvSpPr>
        <p:spPr bwMode="auto">
          <a:xfrm flipH="1">
            <a:off x="977900" y="4230688"/>
            <a:ext cx="71438" cy="214312"/>
          </a:xfrm>
          <a:custGeom>
            <a:avLst/>
            <a:gdLst>
              <a:gd name="T0" fmla="*/ 0 w 295"/>
              <a:gd name="T1" fmla="*/ 2147483647 h 774"/>
              <a:gd name="T2" fmla="*/ 2147483647 w 295"/>
              <a:gd name="T3" fmla="*/ 2147483647 h 774"/>
              <a:gd name="T4" fmla="*/ 2147483647 w 295"/>
              <a:gd name="T5" fmla="*/ 2147483647 h 774"/>
              <a:gd name="T6" fmla="*/ 2147483647 w 295"/>
              <a:gd name="T7" fmla="*/ 2147483647 h 774"/>
              <a:gd name="T8" fmla="*/ 2147483647 w 295"/>
              <a:gd name="T9" fmla="*/ 2147483647 h 774"/>
              <a:gd name="T10" fmla="*/ 2147483647 w 295"/>
              <a:gd name="T11" fmla="*/ 2147483647 h 774"/>
              <a:gd name="T12" fmla="*/ 2147483647 w 295"/>
              <a:gd name="T13" fmla="*/ 2147483647 h 774"/>
              <a:gd name="T14" fmla="*/ 2147483647 w 295"/>
              <a:gd name="T15" fmla="*/ 2147483647 h 774"/>
              <a:gd name="T16" fmla="*/ 2147483647 w 295"/>
              <a:gd name="T17" fmla="*/ 0 h 774"/>
              <a:gd name="T18" fmla="*/ 2147483647 w 295"/>
              <a:gd name="T19" fmla="*/ 2147483647 h 774"/>
              <a:gd name="T20" fmla="*/ 2147483647 w 295"/>
              <a:gd name="T21" fmla="*/ 2147483647 h 774"/>
              <a:gd name="T22" fmla="*/ 2147483647 w 295"/>
              <a:gd name="T23" fmla="*/ 2147483647 h 774"/>
              <a:gd name="T24" fmla="*/ 2147483647 w 295"/>
              <a:gd name="T25" fmla="*/ 2147483647 h 774"/>
              <a:gd name="T26" fmla="*/ 0 w 295"/>
              <a:gd name="T27" fmla="*/ 2147483647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2" name="Freeform 293"/>
          <p:cNvSpPr>
            <a:spLocks/>
          </p:cNvSpPr>
          <p:nvPr/>
        </p:nvSpPr>
        <p:spPr bwMode="auto">
          <a:xfrm flipH="1">
            <a:off x="1049338" y="4057650"/>
            <a:ext cx="273050" cy="322263"/>
          </a:xfrm>
          <a:custGeom>
            <a:avLst/>
            <a:gdLst>
              <a:gd name="T0" fmla="*/ 2147483647 w 1172"/>
              <a:gd name="T1" fmla="*/ 2147483647 h 1162"/>
              <a:gd name="T2" fmla="*/ 2147483647 w 1172"/>
              <a:gd name="T3" fmla="*/ 2147483647 h 1162"/>
              <a:gd name="T4" fmla="*/ 2147483647 w 1172"/>
              <a:gd name="T5" fmla="*/ 2147483647 h 1162"/>
              <a:gd name="T6" fmla="*/ 2147483647 w 1172"/>
              <a:gd name="T7" fmla="*/ 2147483647 h 1162"/>
              <a:gd name="T8" fmla="*/ 2147483647 w 1172"/>
              <a:gd name="T9" fmla="*/ 2147483647 h 1162"/>
              <a:gd name="T10" fmla="*/ 2147483647 w 1172"/>
              <a:gd name="T11" fmla="*/ 2147483647 h 1162"/>
              <a:gd name="T12" fmla="*/ 2147483647 w 1172"/>
              <a:gd name="T13" fmla="*/ 2147483647 h 1162"/>
              <a:gd name="T14" fmla="*/ 2147483647 w 1172"/>
              <a:gd name="T15" fmla="*/ 2147483647 h 1162"/>
              <a:gd name="T16" fmla="*/ 2147483647 w 1172"/>
              <a:gd name="T17" fmla="*/ 2147483647 h 1162"/>
              <a:gd name="T18" fmla="*/ 2147483647 w 1172"/>
              <a:gd name="T19" fmla="*/ 2147483647 h 1162"/>
              <a:gd name="T20" fmla="*/ 2147483647 w 1172"/>
              <a:gd name="T21" fmla="*/ 2147483647 h 1162"/>
              <a:gd name="T22" fmla="*/ 0 w 1172"/>
              <a:gd name="T23" fmla="*/ 2147483647 h 1162"/>
              <a:gd name="T24" fmla="*/ 2147483647 w 1172"/>
              <a:gd name="T25" fmla="*/ 2147483647 h 1162"/>
              <a:gd name="T26" fmla="*/ 2147483647 w 1172"/>
              <a:gd name="T27" fmla="*/ 2147483647 h 1162"/>
              <a:gd name="T28" fmla="*/ 2147483647 w 1172"/>
              <a:gd name="T29" fmla="*/ 2147483647 h 1162"/>
              <a:gd name="T30" fmla="*/ 2147483647 w 1172"/>
              <a:gd name="T31" fmla="*/ 2147483647 h 1162"/>
              <a:gd name="T32" fmla="*/ 2147483647 w 1172"/>
              <a:gd name="T33" fmla="*/ 2147483647 h 1162"/>
              <a:gd name="T34" fmla="*/ 2147483647 w 1172"/>
              <a:gd name="T35" fmla="*/ 2147483647 h 1162"/>
              <a:gd name="T36" fmla="*/ 2147483647 w 1172"/>
              <a:gd name="T37" fmla="*/ 2147483647 h 1162"/>
              <a:gd name="T38" fmla="*/ 2147483647 w 1172"/>
              <a:gd name="T39" fmla="*/ 2147483647 h 1162"/>
              <a:gd name="T40" fmla="*/ 2147483647 w 1172"/>
              <a:gd name="T41" fmla="*/ 2147483647 h 1162"/>
              <a:gd name="T42" fmla="*/ 2147483647 w 1172"/>
              <a:gd name="T43" fmla="*/ 2147483647 h 1162"/>
              <a:gd name="T44" fmla="*/ 2147483647 w 1172"/>
              <a:gd name="T45" fmla="*/ 2147483647 h 1162"/>
              <a:gd name="T46" fmla="*/ 2147483647 w 1172"/>
              <a:gd name="T47" fmla="*/ 2147483647 h 1162"/>
              <a:gd name="T48" fmla="*/ 2147483647 w 1172"/>
              <a:gd name="T49" fmla="*/ 2147483647 h 1162"/>
              <a:gd name="T50" fmla="*/ 2147483647 w 1172"/>
              <a:gd name="T51" fmla="*/ 2147483647 h 1162"/>
              <a:gd name="T52" fmla="*/ 2147483647 w 1172"/>
              <a:gd name="T53" fmla="*/ 2147483647 h 1162"/>
              <a:gd name="T54" fmla="*/ 2147483647 w 1172"/>
              <a:gd name="T55" fmla="*/ 2147483647 h 1162"/>
              <a:gd name="T56" fmla="*/ 2147483647 w 1172"/>
              <a:gd name="T57" fmla="*/ 2147483647 h 1162"/>
              <a:gd name="T58" fmla="*/ 2147483647 w 1172"/>
              <a:gd name="T59" fmla="*/ 2147483647 h 1162"/>
              <a:gd name="T60" fmla="*/ 2147483647 w 1172"/>
              <a:gd name="T61" fmla="*/ 2147483647 h 1162"/>
              <a:gd name="T62" fmla="*/ 2147483647 w 1172"/>
              <a:gd name="T63" fmla="*/ 2147483647 h 1162"/>
              <a:gd name="T64" fmla="*/ 2147483647 w 1172"/>
              <a:gd name="T65" fmla="*/ 2147483647 h 1162"/>
              <a:gd name="T66" fmla="*/ 2147483647 w 1172"/>
              <a:gd name="T67" fmla="*/ 2147483647 h 1162"/>
              <a:gd name="T68" fmla="*/ 2147483647 w 1172"/>
              <a:gd name="T69" fmla="*/ 2147483647 h 1162"/>
              <a:gd name="T70" fmla="*/ 2147483647 w 1172"/>
              <a:gd name="T71" fmla="*/ 2147483647 h 1162"/>
              <a:gd name="T72" fmla="*/ 2147483647 w 1172"/>
              <a:gd name="T73" fmla="*/ 2147483647 h 1162"/>
              <a:gd name="T74" fmla="*/ 2147483647 w 1172"/>
              <a:gd name="T75" fmla="*/ 2147483647 h 1162"/>
              <a:gd name="T76" fmla="*/ 2147483647 w 1172"/>
              <a:gd name="T77" fmla="*/ 2147483647 h 1162"/>
              <a:gd name="T78" fmla="*/ 2147483647 w 1172"/>
              <a:gd name="T79" fmla="*/ 2147483647 h 1162"/>
              <a:gd name="T80" fmla="*/ 2147483647 w 1172"/>
              <a:gd name="T81" fmla="*/ 2147483647 h 1162"/>
              <a:gd name="T82" fmla="*/ 2147483647 w 1172"/>
              <a:gd name="T83" fmla="*/ 2147483647 h 1162"/>
              <a:gd name="T84" fmla="*/ 2147483647 w 1172"/>
              <a:gd name="T85" fmla="*/ 2147483647 h 1162"/>
              <a:gd name="T86" fmla="*/ 2147483647 w 1172"/>
              <a:gd name="T87" fmla="*/ 2147483647 h 1162"/>
              <a:gd name="T88" fmla="*/ 2147483647 w 1172"/>
              <a:gd name="T89" fmla="*/ 2147483647 h 1162"/>
              <a:gd name="T90" fmla="*/ 2147483647 w 1172"/>
              <a:gd name="T91" fmla="*/ 2147483647 h 1162"/>
              <a:gd name="T92" fmla="*/ 2147483647 w 1172"/>
              <a:gd name="T93" fmla="*/ 2147483647 h 1162"/>
              <a:gd name="T94" fmla="*/ 2147483647 w 1172"/>
              <a:gd name="T95" fmla="*/ 2147483647 h 1162"/>
              <a:gd name="T96" fmla="*/ 2147483647 w 1172"/>
              <a:gd name="T97" fmla="*/ 2147483647 h 1162"/>
              <a:gd name="T98" fmla="*/ 2147483647 w 1172"/>
              <a:gd name="T99" fmla="*/ 2147483647 h 1162"/>
              <a:gd name="T100" fmla="*/ 2147483647 w 1172"/>
              <a:gd name="T101" fmla="*/ 2147483647 h 1162"/>
              <a:gd name="T102" fmla="*/ 2147483647 w 1172"/>
              <a:gd name="T103" fmla="*/ 2147483647 h 1162"/>
              <a:gd name="T104" fmla="*/ 2147483647 w 1172"/>
              <a:gd name="T105" fmla="*/ 2147483647 h 1162"/>
              <a:gd name="T106" fmla="*/ 2147483647 w 1172"/>
              <a:gd name="T107" fmla="*/ 2147483647 h 1162"/>
              <a:gd name="T108" fmla="*/ 2147483647 w 1172"/>
              <a:gd name="T109" fmla="*/ 2147483647 h 1162"/>
              <a:gd name="T110" fmla="*/ 2147483647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3" name="Freeform 294"/>
          <p:cNvSpPr>
            <a:spLocks/>
          </p:cNvSpPr>
          <p:nvPr/>
        </p:nvSpPr>
        <p:spPr bwMode="auto">
          <a:xfrm flipH="1">
            <a:off x="1068388" y="4178300"/>
            <a:ext cx="68262" cy="71438"/>
          </a:xfrm>
          <a:custGeom>
            <a:avLst/>
            <a:gdLst>
              <a:gd name="T0" fmla="*/ 0 w 295"/>
              <a:gd name="T1" fmla="*/ 0 h 263"/>
              <a:gd name="T2" fmla="*/ 0 w 295"/>
              <a:gd name="T3" fmla="*/ 2147483647 h 263"/>
              <a:gd name="T4" fmla="*/ 2147483647 w 295"/>
              <a:gd name="T5" fmla="*/ 2147483647 h 263"/>
              <a:gd name="T6" fmla="*/ 2147483647 w 295"/>
              <a:gd name="T7" fmla="*/ 2147483647 h 263"/>
              <a:gd name="T8" fmla="*/ 2147483647 w 295"/>
              <a:gd name="T9" fmla="*/ 2147483647 h 263"/>
              <a:gd name="T10" fmla="*/ 2147483647 w 295"/>
              <a:gd name="T11" fmla="*/ 2147483647 h 263"/>
              <a:gd name="T12" fmla="*/ 2147483647 w 295"/>
              <a:gd name="T13" fmla="*/ 2147483647 h 263"/>
              <a:gd name="T14" fmla="*/ 2147483647 w 295"/>
              <a:gd name="T15" fmla="*/ 2147483647 h 263"/>
              <a:gd name="T16" fmla="*/ 2147483647 w 295"/>
              <a:gd name="T17" fmla="*/ 2147483647 h 263"/>
              <a:gd name="T18" fmla="*/ 2147483647 w 295"/>
              <a:gd name="T19" fmla="*/ 2147483647 h 263"/>
              <a:gd name="T20" fmla="*/ 2147483647 w 295"/>
              <a:gd name="T21" fmla="*/ 2147483647 h 263"/>
              <a:gd name="T22" fmla="*/ 2147483647 w 295"/>
              <a:gd name="T23" fmla="*/ 2147483647 h 263"/>
              <a:gd name="T24" fmla="*/ 2147483647 w 295"/>
              <a:gd name="T25" fmla="*/ 2147483647 h 263"/>
              <a:gd name="T26" fmla="*/ 2147483647 w 295"/>
              <a:gd name="T27" fmla="*/ 2147483647 h 263"/>
              <a:gd name="T28" fmla="*/ 2147483647 w 295"/>
              <a:gd name="T29" fmla="*/ 2147483647 h 263"/>
              <a:gd name="T30" fmla="*/ 2147483647 w 295"/>
              <a:gd name="T31" fmla="*/ 2147483647 h 263"/>
              <a:gd name="T32" fmla="*/ 2147483647 w 295"/>
              <a:gd name="T33" fmla="*/ 2147483647 h 263"/>
              <a:gd name="T34" fmla="*/ 2147483647 w 295"/>
              <a:gd name="T35" fmla="*/ 2147483647 h 263"/>
              <a:gd name="T36" fmla="*/ 2147483647 w 295"/>
              <a:gd name="T37" fmla="*/ 2147483647 h 263"/>
              <a:gd name="T38" fmla="*/ 2147483647 w 295"/>
              <a:gd name="T39" fmla="*/ 2147483647 h 263"/>
              <a:gd name="T40" fmla="*/ 2147483647 w 295"/>
              <a:gd name="T41" fmla="*/ 2147483647 h 263"/>
              <a:gd name="T42" fmla="*/ 2147483647 w 295"/>
              <a:gd name="T43" fmla="*/ 2147483647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4" name="Freeform 295"/>
          <p:cNvSpPr>
            <a:spLocks/>
          </p:cNvSpPr>
          <p:nvPr/>
        </p:nvSpPr>
        <p:spPr bwMode="auto">
          <a:xfrm flipH="1">
            <a:off x="1069975" y="4117975"/>
            <a:ext cx="61913" cy="93663"/>
          </a:xfrm>
          <a:custGeom>
            <a:avLst/>
            <a:gdLst>
              <a:gd name="T0" fmla="*/ 2147483647 w 270"/>
              <a:gd name="T1" fmla="*/ 0 h 345"/>
              <a:gd name="T2" fmla="*/ 2147483647 w 270"/>
              <a:gd name="T3" fmla="*/ 2147483647 h 345"/>
              <a:gd name="T4" fmla="*/ 0 w 270"/>
              <a:gd name="T5" fmla="*/ 2147483647 h 345"/>
              <a:gd name="T6" fmla="*/ 2147483647 w 270"/>
              <a:gd name="T7" fmla="*/ 2147483647 h 345"/>
              <a:gd name="T8" fmla="*/ 2147483647 w 270"/>
              <a:gd name="T9" fmla="*/ 2147483647 h 345"/>
              <a:gd name="T10" fmla="*/ 2147483647 w 270"/>
              <a:gd name="T11" fmla="*/ 2147483647 h 345"/>
              <a:gd name="T12" fmla="*/ 2147483647 w 270"/>
              <a:gd name="T13" fmla="*/ 2147483647 h 345"/>
              <a:gd name="T14" fmla="*/ 2147483647 w 270"/>
              <a:gd name="T15" fmla="*/ 2147483647 h 345"/>
              <a:gd name="T16" fmla="*/ 2147483647 w 270"/>
              <a:gd name="T17" fmla="*/ 2147483647 h 345"/>
              <a:gd name="T18" fmla="*/ 2147483647 w 270"/>
              <a:gd name="T19" fmla="*/ 2147483647 h 345"/>
              <a:gd name="T20" fmla="*/ 2147483647 w 270"/>
              <a:gd name="T21" fmla="*/ 2147483647 h 345"/>
              <a:gd name="T22" fmla="*/ 2147483647 w 270"/>
              <a:gd name="T23" fmla="*/ 2147483647 h 345"/>
              <a:gd name="T24" fmla="*/ 2147483647 w 270"/>
              <a:gd name="T25" fmla="*/ 2147483647 h 345"/>
              <a:gd name="T26" fmla="*/ 2147483647 w 270"/>
              <a:gd name="T27" fmla="*/ 2147483647 h 345"/>
              <a:gd name="T28" fmla="*/ 2147483647 w 270"/>
              <a:gd name="T29" fmla="*/ 2147483647 h 345"/>
              <a:gd name="T30" fmla="*/ 2147483647 w 270"/>
              <a:gd name="T31" fmla="*/ 2147483647 h 345"/>
              <a:gd name="T32" fmla="*/ 2147483647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5" name="Freeform 296"/>
          <p:cNvSpPr>
            <a:spLocks/>
          </p:cNvSpPr>
          <p:nvPr/>
        </p:nvSpPr>
        <p:spPr bwMode="auto">
          <a:xfrm flipH="1">
            <a:off x="1077913" y="4024313"/>
            <a:ext cx="66675" cy="55562"/>
          </a:xfrm>
          <a:custGeom>
            <a:avLst/>
            <a:gdLst>
              <a:gd name="T0" fmla="*/ 0 w 287"/>
              <a:gd name="T1" fmla="*/ 2147483647 h 199"/>
              <a:gd name="T2" fmla="*/ 2147483647 w 287"/>
              <a:gd name="T3" fmla="*/ 2147483647 h 199"/>
              <a:gd name="T4" fmla="*/ 2147483647 w 287"/>
              <a:gd name="T5" fmla="*/ 2147483647 h 199"/>
              <a:gd name="T6" fmla="*/ 2147483647 w 287"/>
              <a:gd name="T7" fmla="*/ 2147483647 h 199"/>
              <a:gd name="T8" fmla="*/ 2147483647 w 287"/>
              <a:gd name="T9" fmla="*/ 0 h 199"/>
              <a:gd name="T10" fmla="*/ 2147483647 w 287"/>
              <a:gd name="T11" fmla="*/ 2147483647 h 199"/>
              <a:gd name="T12" fmla="*/ 2147483647 w 287"/>
              <a:gd name="T13" fmla="*/ 2147483647 h 199"/>
              <a:gd name="T14" fmla="*/ 2147483647 w 287"/>
              <a:gd name="T15" fmla="*/ 2147483647 h 199"/>
              <a:gd name="T16" fmla="*/ 2147483647 w 287"/>
              <a:gd name="T17" fmla="*/ 2147483647 h 199"/>
              <a:gd name="T18" fmla="*/ 0 w 287"/>
              <a:gd name="T19" fmla="*/ 2147483647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6" name="Freeform 297"/>
          <p:cNvSpPr>
            <a:spLocks/>
          </p:cNvSpPr>
          <p:nvPr/>
        </p:nvSpPr>
        <p:spPr bwMode="auto">
          <a:xfrm flipH="1">
            <a:off x="1157288" y="4124325"/>
            <a:ext cx="38100" cy="142875"/>
          </a:xfrm>
          <a:custGeom>
            <a:avLst/>
            <a:gdLst>
              <a:gd name="T0" fmla="*/ 0 w 162"/>
              <a:gd name="T1" fmla="*/ 2147483647 h 514"/>
              <a:gd name="T2" fmla="*/ 2147483647 w 162"/>
              <a:gd name="T3" fmla="*/ 2147483647 h 514"/>
              <a:gd name="T4" fmla="*/ 2147483647 w 162"/>
              <a:gd name="T5" fmla="*/ 2147483647 h 514"/>
              <a:gd name="T6" fmla="*/ 2147483647 w 162"/>
              <a:gd name="T7" fmla="*/ 2147483647 h 514"/>
              <a:gd name="T8" fmla="*/ 2147483647 w 162"/>
              <a:gd name="T9" fmla="*/ 2147483647 h 514"/>
              <a:gd name="T10" fmla="*/ 2147483647 w 162"/>
              <a:gd name="T11" fmla="*/ 2147483647 h 514"/>
              <a:gd name="T12" fmla="*/ 2147483647 w 162"/>
              <a:gd name="T13" fmla="*/ 2147483647 h 514"/>
              <a:gd name="T14" fmla="*/ 2147483647 w 162"/>
              <a:gd name="T15" fmla="*/ 2147483647 h 514"/>
              <a:gd name="T16" fmla="*/ 2147483647 w 162"/>
              <a:gd name="T17" fmla="*/ 2147483647 h 514"/>
              <a:gd name="T18" fmla="*/ 2147483647 w 162"/>
              <a:gd name="T19" fmla="*/ 2147483647 h 514"/>
              <a:gd name="T20" fmla="*/ 2147483647 w 162"/>
              <a:gd name="T21" fmla="*/ 2147483647 h 514"/>
              <a:gd name="T22" fmla="*/ 2147483647 w 162"/>
              <a:gd name="T23" fmla="*/ 2147483647 h 514"/>
              <a:gd name="T24" fmla="*/ 2147483647 w 162"/>
              <a:gd name="T25" fmla="*/ 2147483647 h 514"/>
              <a:gd name="T26" fmla="*/ 2147483647 w 162"/>
              <a:gd name="T27" fmla="*/ 2147483647 h 514"/>
              <a:gd name="T28" fmla="*/ 2147483647 w 162"/>
              <a:gd name="T29" fmla="*/ 0 h 514"/>
              <a:gd name="T30" fmla="*/ 2147483647 w 162"/>
              <a:gd name="T31" fmla="*/ 2147483647 h 514"/>
              <a:gd name="T32" fmla="*/ 2147483647 w 162"/>
              <a:gd name="T33" fmla="*/ 2147483647 h 514"/>
              <a:gd name="T34" fmla="*/ 2147483647 w 162"/>
              <a:gd name="T35" fmla="*/ 2147483647 h 514"/>
              <a:gd name="T36" fmla="*/ 0 w 162"/>
              <a:gd name="T37" fmla="*/ 2147483647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7" name="Freeform 298"/>
          <p:cNvSpPr>
            <a:spLocks/>
          </p:cNvSpPr>
          <p:nvPr/>
        </p:nvSpPr>
        <p:spPr bwMode="auto">
          <a:xfrm flipH="1">
            <a:off x="1071563" y="4278313"/>
            <a:ext cx="68262" cy="26987"/>
          </a:xfrm>
          <a:custGeom>
            <a:avLst/>
            <a:gdLst>
              <a:gd name="T0" fmla="*/ 2147483647 w 289"/>
              <a:gd name="T1" fmla="*/ 2147483647 h 97"/>
              <a:gd name="T2" fmla="*/ 2147483647 w 289"/>
              <a:gd name="T3" fmla="*/ 2147483647 h 97"/>
              <a:gd name="T4" fmla="*/ 2147483647 w 289"/>
              <a:gd name="T5" fmla="*/ 2147483647 h 97"/>
              <a:gd name="T6" fmla="*/ 2147483647 w 289"/>
              <a:gd name="T7" fmla="*/ 0 h 97"/>
              <a:gd name="T8" fmla="*/ 0 w 289"/>
              <a:gd name="T9" fmla="*/ 2147483647 h 97"/>
              <a:gd name="T10" fmla="*/ 2147483647 w 289"/>
              <a:gd name="T11" fmla="*/ 2147483647 h 97"/>
              <a:gd name="T12" fmla="*/ 2147483647 w 289"/>
              <a:gd name="T13" fmla="*/ 2147483647 h 97"/>
              <a:gd name="T14" fmla="*/ 2147483647 w 289"/>
              <a:gd name="T15" fmla="*/ 2147483647 h 97"/>
              <a:gd name="T16" fmla="*/ 2147483647 w 289"/>
              <a:gd name="T17" fmla="*/ 2147483647 h 97"/>
              <a:gd name="T18" fmla="*/ 2147483647 w 289"/>
              <a:gd name="T19" fmla="*/ 2147483647 h 97"/>
              <a:gd name="T20" fmla="*/ 2147483647 w 289"/>
              <a:gd name="T21" fmla="*/ 2147483647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8" name="Freeform 299"/>
          <p:cNvSpPr>
            <a:spLocks/>
          </p:cNvSpPr>
          <p:nvPr/>
        </p:nvSpPr>
        <p:spPr bwMode="auto">
          <a:xfrm flipH="1">
            <a:off x="1154113" y="4291013"/>
            <a:ext cx="41275" cy="60325"/>
          </a:xfrm>
          <a:custGeom>
            <a:avLst/>
            <a:gdLst>
              <a:gd name="T0" fmla="*/ 2147483647 w 176"/>
              <a:gd name="T1" fmla="*/ 2147483647 h 216"/>
              <a:gd name="T2" fmla="*/ 2147483647 w 176"/>
              <a:gd name="T3" fmla="*/ 2147483647 h 216"/>
              <a:gd name="T4" fmla="*/ 2147483647 w 176"/>
              <a:gd name="T5" fmla="*/ 0 h 216"/>
              <a:gd name="T6" fmla="*/ 2147483647 w 176"/>
              <a:gd name="T7" fmla="*/ 2147483647 h 216"/>
              <a:gd name="T8" fmla="*/ 0 w 176"/>
              <a:gd name="T9" fmla="*/ 2147483647 h 216"/>
              <a:gd name="T10" fmla="*/ 2147483647 w 176"/>
              <a:gd name="T11" fmla="*/ 2147483647 h 216"/>
              <a:gd name="T12" fmla="*/ 2147483647 w 176"/>
              <a:gd name="T13" fmla="*/ 2147483647 h 216"/>
              <a:gd name="T14" fmla="*/ 2147483647 w 176"/>
              <a:gd name="T15" fmla="*/ 2147483647 h 216"/>
              <a:gd name="T16" fmla="*/ 2147483647 w 176"/>
              <a:gd name="T17" fmla="*/ 2147483647 h 216"/>
              <a:gd name="T18" fmla="*/ 2147483647 w 176"/>
              <a:gd name="T19" fmla="*/ 2147483647 h 216"/>
              <a:gd name="T20" fmla="*/ 2147483647 w 176"/>
              <a:gd name="T21" fmla="*/ 2147483647 h 216"/>
              <a:gd name="T22" fmla="*/ 2147483647 w 176"/>
              <a:gd name="T23" fmla="*/ 2147483647 h 216"/>
              <a:gd name="T24" fmla="*/ 2147483647 w 176"/>
              <a:gd name="T25" fmla="*/ 2147483647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59" name="Freeform 300"/>
          <p:cNvSpPr>
            <a:spLocks/>
          </p:cNvSpPr>
          <p:nvPr/>
        </p:nvSpPr>
        <p:spPr bwMode="auto">
          <a:xfrm flipH="1">
            <a:off x="1030288" y="3973513"/>
            <a:ext cx="98425" cy="77787"/>
          </a:xfrm>
          <a:custGeom>
            <a:avLst/>
            <a:gdLst>
              <a:gd name="T0" fmla="*/ 0 w 418"/>
              <a:gd name="T1" fmla="*/ 2147483647 h 260"/>
              <a:gd name="T2" fmla="*/ 2147483647 w 418"/>
              <a:gd name="T3" fmla="*/ 2147483647 h 260"/>
              <a:gd name="T4" fmla="*/ 2147483647 w 418"/>
              <a:gd name="T5" fmla="*/ 2147483647 h 260"/>
              <a:gd name="T6" fmla="*/ 2147483647 w 418"/>
              <a:gd name="T7" fmla="*/ 2147483647 h 260"/>
              <a:gd name="T8" fmla="*/ 2147483647 w 418"/>
              <a:gd name="T9" fmla="*/ 2147483647 h 260"/>
              <a:gd name="T10" fmla="*/ 2147483647 w 418"/>
              <a:gd name="T11" fmla="*/ 0 h 260"/>
              <a:gd name="T12" fmla="*/ 2147483647 w 418"/>
              <a:gd name="T13" fmla="*/ 2147483647 h 260"/>
              <a:gd name="T14" fmla="*/ 2147483647 w 418"/>
              <a:gd name="T15" fmla="*/ 2147483647 h 260"/>
              <a:gd name="T16" fmla="*/ 2147483647 w 418"/>
              <a:gd name="T17" fmla="*/ 2147483647 h 260"/>
              <a:gd name="T18" fmla="*/ 2147483647 w 418"/>
              <a:gd name="T19" fmla="*/ 2147483647 h 260"/>
              <a:gd name="T20" fmla="*/ 2147483647 w 418"/>
              <a:gd name="T21" fmla="*/ 2147483647 h 260"/>
              <a:gd name="T22" fmla="*/ 0 w 418"/>
              <a:gd name="T23" fmla="*/ 2147483647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60" name="Freeform 301"/>
          <p:cNvSpPr>
            <a:spLocks/>
          </p:cNvSpPr>
          <p:nvPr/>
        </p:nvSpPr>
        <p:spPr bwMode="auto">
          <a:xfrm flipH="1">
            <a:off x="919163" y="4311650"/>
            <a:ext cx="203200" cy="323850"/>
          </a:xfrm>
          <a:custGeom>
            <a:avLst/>
            <a:gdLst>
              <a:gd name="T0" fmla="*/ 2147483647 w 863"/>
              <a:gd name="T1" fmla="*/ 2147483647 h 1164"/>
              <a:gd name="T2" fmla="*/ 2147483647 w 863"/>
              <a:gd name="T3" fmla="*/ 2147483647 h 1164"/>
              <a:gd name="T4" fmla="*/ 2147483647 w 863"/>
              <a:gd name="T5" fmla="*/ 2147483647 h 1164"/>
              <a:gd name="T6" fmla="*/ 2147483647 w 863"/>
              <a:gd name="T7" fmla="*/ 2147483647 h 1164"/>
              <a:gd name="T8" fmla="*/ 2147483647 w 863"/>
              <a:gd name="T9" fmla="*/ 2147483647 h 1164"/>
              <a:gd name="T10" fmla="*/ 2147483647 w 863"/>
              <a:gd name="T11" fmla="*/ 2147483647 h 1164"/>
              <a:gd name="T12" fmla="*/ 2147483647 w 863"/>
              <a:gd name="T13" fmla="*/ 0 h 1164"/>
              <a:gd name="T14" fmla="*/ 2147483647 w 863"/>
              <a:gd name="T15" fmla="*/ 2147483647 h 1164"/>
              <a:gd name="T16" fmla="*/ 2147483647 w 863"/>
              <a:gd name="T17" fmla="*/ 2147483647 h 1164"/>
              <a:gd name="T18" fmla="*/ 2147483647 w 863"/>
              <a:gd name="T19" fmla="*/ 2147483647 h 1164"/>
              <a:gd name="T20" fmla="*/ 2147483647 w 863"/>
              <a:gd name="T21" fmla="*/ 2147483647 h 1164"/>
              <a:gd name="T22" fmla="*/ 2147483647 w 863"/>
              <a:gd name="T23" fmla="*/ 2147483647 h 1164"/>
              <a:gd name="T24" fmla="*/ 2147483647 w 863"/>
              <a:gd name="T25" fmla="*/ 2147483647 h 1164"/>
              <a:gd name="T26" fmla="*/ 2147483647 w 863"/>
              <a:gd name="T27" fmla="*/ 2147483647 h 1164"/>
              <a:gd name="T28" fmla="*/ 2147483647 w 863"/>
              <a:gd name="T29" fmla="*/ 2147483647 h 1164"/>
              <a:gd name="T30" fmla="*/ 0 w 863"/>
              <a:gd name="T31" fmla="*/ 2147483647 h 1164"/>
              <a:gd name="T32" fmla="*/ 2147483647 w 863"/>
              <a:gd name="T33" fmla="*/ 2147483647 h 1164"/>
              <a:gd name="T34" fmla="*/ 2147483647 w 863"/>
              <a:gd name="T35" fmla="*/ 2147483647 h 1164"/>
              <a:gd name="T36" fmla="*/ 2147483647 w 863"/>
              <a:gd name="T37" fmla="*/ 2147483647 h 1164"/>
              <a:gd name="T38" fmla="*/ 2147483647 w 863"/>
              <a:gd name="T39" fmla="*/ 2147483647 h 1164"/>
              <a:gd name="T40" fmla="*/ 2147483647 w 863"/>
              <a:gd name="T41" fmla="*/ 2147483647 h 1164"/>
              <a:gd name="T42" fmla="*/ 2147483647 w 863"/>
              <a:gd name="T43" fmla="*/ 2147483647 h 1164"/>
              <a:gd name="T44" fmla="*/ 2147483647 w 863"/>
              <a:gd name="T45" fmla="*/ 2147483647 h 1164"/>
              <a:gd name="T46" fmla="*/ 2147483647 w 863"/>
              <a:gd name="T47" fmla="*/ 2147483647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561" name="Freeform 302"/>
          <p:cNvSpPr>
            <a:spLocks/>
          </p:cNvSpPr>
          <p:nvPr/>
        </p:nvSpPr>
        <p:spPr bwMode="auto">
          <a:xfrm flipH="1">
            <a:off x="923925" y="4329113"/>
            <a:ext cx="174625" cy="293687"/>
          </a:xfrm>
          <a:custGeom>
            <a:avLst/>
            <a:gdLst>
              <a:gd name="T0" fmla="*/ 2147483647 w 743"/>
              <a:gd name="T1" fmla="*/ 2147483647 h 1068"/>
              <a:gd name="T2" fmla="*/ 2147483647 w 743"/>
              <a:gd name="T3" fmla="*/ 2147483647 h 1068"/>
              <a:gd name="T4" fmla="*/ 2147483647 w 743"/>
              <a:gd name="T5" fmla="*/ 2147483647 h 1068"/>
              <a:gd name="T6" fmla="*/ 2147483647 w 743"/>
              <a:gd name="T7" fmla="*/ 2147483647 h 1068"/>
              <a:gd name="T8" fmla="*/ 2147483647 w 743"/>
              <a:gd name="T9" fmla="*/ 2147483647 h 1068"/>
              <a:gd name="T10" fmla="*/ 2147483647 w 743"/>
              <a:gd name="T11" fmla="*/ 0 h 1068"/>
              <a:gd name="T12" fmla="*/ 2147483647 w 743"/>
              <a:gd name="T13" fmla="*/ 2147483647 h 1068"/>
              <a:gd name="T14" fmla="*/ 2147483647 w 743"/>
              <a:gd name="T15" fmla="*/ 2147483647 h 1068"/>
              <a:gd name="T16" fmla="*/ 2147483647 w 743"/>
              <a:gd name="T17" fmla="*/ 2147483647 h 1068"/>
              <a:gd name="T18" fmla="*/ 2147483647 w 743"/>
              <a:gd name="T19" fmla="*/ 2147483647 h 1068"/>
              <a:gd name="T20" fmla="*/ 2147483647 w 743"/>
              <a:gd name="T21" fmla="*/ 2147483647 h 1068"/>
              <a:gd name="T22" fmla="*/ 2147483647 w 743"/>
              <a:gd name="T23" fmla="*/ 2147483647 h 1068"/>
              <a:gd name="T24" fmla="*/ 2147483647 w 743"/>
              <a:gd name="T25" fmla="*/ 2147483647 h 1068"/>
              <a:gd name="T26" fmla="*/ 2147483647 w 743"/>
              <a:gd name="T27" fmla="*/ 2147483647 h 1068"/>
              <a:gd name="T28" fmla="*/ 2147483647 w 743"/>
              <a:gd name="T29" fmla="*/ 2147483647 h 1068"/>
              <a:gd name="T30" fmla="*/ 0 w 743"/>
              <a:gd name="T31" fmla="*/ 2147483647 h 1068"/>
              <a:gd name="T32" fmla="*/ 2147483647 w 743"/>
              <a:gd name="T33" fmla="*/ 2147483647 h 1068"/>
              <a:gd name="T34" fmla="*/ 2147483647 w 743"/>
              <a:gd name="T35" fmla="*/ 2147483647 h 1068"/>
              <a:gd name="T36" fmla="*/ 2147483647 w 743"/>
              <a:gd name="T37" fmla="*/ 2147483647 h 1068"/>
              <a:gd name="T38" fmla="*/ 2147483647 w 743"/>
              <a:gd name="T39" fmla="*/ 2147483647 h 1068"/>
              <a:gd name="T40" fmla="*/ 2147483647 w 743"/>
              <a:gd name="T41" fmla="*/ 2147483647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62" name="Text Box 303"/>
          <p:cNvSpPr txBox="1">
            <a:spLocks noChangeArrowheads="1"/>
          </p:cNvSpPr>
          <p:nvPr/>
        </p:nvSpPr>
        <p:spPr bwMode="auto">
          <a:xfrm>
            <a:off x="6318250" y="2366963"/>
            <a:ext cx="1403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tx2"/>
                </a:solidFill>
                <a:ea typeface="黑体" pitchFamily="49" charset="-122"/>
              </a:rPr>
              <a:t>因特网</a:t>
            </a:r>
          </a:p>
        </p:txBody>
      </p:sp>
      <p:sp>
        <p:nvSpPr>
          <p:cNvPr id="11563" name="Line 304"/>
          <p:cNvSpPr>
            <a:spLocks noChangeShapeType="1"/>
          </p:cNvSpPr>
          <p:nvPr/>
        </p:nvSpPr>
        <p:spPr bwMode="auto">
          <a:xfrm flipV="1">
            <a:off x="2519363" y="2673350"/>
            <a:ext cx="0" cy="219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64" name="Line 305"/>
          <p:cNvSpPr>
            <a:spLocks noChangeShapeType="1"/>
          </p:cNvSpPr>
          <p:nvPr/>
        </p:nvSpPr>
        <p:spPr bwMode="auto">
          <a:xfrm flipH="1">
            <a:off x="2625725" y="3000375"/>
            <a:ext cx="1047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65" name="Oval 307"/>
          <p:cNvSpPr>
            <a:spLocks noChangeArrowheads="1"/>
          </p:cNvSpPr>
          <p:nvPr/>
        </p:nvSpPr>
        <p:spPr bwMode="auto">
          <a:xfrm>
            <a:off x="2520950" y="2238375"/>
            <a:ext cx="1893888" cy="9810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66" name="Text Box 308"/>
          <p:cNvSpPr txBox="1">
            <a:spLocks noChangeArrowheads="1"/>
          </p:cNvSpPr>
          <p:nvPr/>
        </p:nvSpPr>
        <p:spPr bwMode="auto">
          <a:xfrm>
            <a:off x="3052763" y="2492375"/>
            <a:ext cx="987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solidFill>
                  <a:schemeClr val="tx2"/>
                </a:solidFill>
                <a:ea typeface="黑体" pitchFamily="49" charset="-122"/>
              </a:rPr>
              <a:t>ISP</a:t>
            </a:r>
            <a:r>
              <a:rPr lang="en-US" altLang="zh-CN" sz="3200" baseline="-25000">
                <a:solidFill>
                  <a:schemeClr val="tx2"/>
                </a:solidFill>
                <a:ea typeface="黑体" pitchFamily="49" charset="-122"/>
              </a:rPr>
              <a:t>1</a:t>
            </a:r>
          </a:p>
        </p:txBody>
      </p:sp>
      <p:sp>
        <p:nvSpPr>
          <p:cNvPr id="11567" name="Oval 310"/>
          <p:cNvSpPr>
            <a:spLocks noChangeArrowheads="1"/>
          </p:cNvSpPr>
          <p:nvPr/>
        </p:nvSpPr>
        <p:spPr bwMode="auto">
          <a:xfrm>
            <a:off x="3671888" y="3757613"/>
            <a:ext cx="1893887" cy="98266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68" name="Text Box 311"/>
          <p:cNvSpPr txBox="1">
            <a:spLocks noChangeArrowheads="1"/>
          </p:cNvSpPr>
          <p:nvPr/>
        </p:nvSpPr>
        <p:spPr bwMode="auto">
          <a:xfrm>
            <a:off x="4205288" y="4013200"/>
            <a:ext cx="987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solidFill>
                  <a:schemeClr val="tx2"/>
                </a:solidFill>
                <a:ea typeface="黑体" pitchFamily="49" charset="-122"/>
              </a:rPr>
              <a:t>ISP</a:t>
            </a:r>
            <a:r>
              <a:rPr lang="en-US" altLang="zh-CN" sz="3200" baseline="-25000">
                <a:solidFill>
                  <a:schemeClr val="tx2"/>
                </a:solidFill>
                <a:ea typeface="黑体" pitchFamily="49" charset="-122"/>
              </a:rPr>
              <a:t>2</a:t>
            </a:r>
          </a:p>
        </p:txBody>
      </p:sp>
      <p:grpSp>
        <p:nvGrpSpPr>
          <p:cNvPr id="11569" name="Group 411"/>
          <p:cNvGrpSpPr>
            <a:grpSpLocks/>
          </p:cNvGrpSpPr>
          <p:nvPr/>
        </p:nvGrpSpPr>
        <p:grpSpPr bwMode="auto">
          <a:xfrm>
            <a:off x="2098675" y="4094163"/>
            <a:ext cx="928688" cy="919162"/>
            <a:chOff x="992" y="2426"/>
            <a:chExt cx="540" cy="641"/>
          </a:xfrm>
        </p:grpSpPr>
        <p:sp>
          <p:nvSpPr>
            <p:cNvPr id="11573" name="Freeform 313"/>
            <p:cNvSpPr>
              <a:spLocks/>
            </p:cNvSpPr>
            <p:nvPr/>
          </p:nvSpPr>
          <p:spPr bwMode="auto">
            <a:xfrm flipH="1">
              <a:off x="1251" y="2660"/>
              <a:ext cx="161" cy="143"/>
            </a:xfrm>
            <a:custGeom>
              <a:avLst/>
              <a:gdLst>
                <a:gd name="T0" fmla="*/ 0 w 1188"/>
                <a:gd name="T1" fmla="*/ 0 h 738"/>
                <a:gd name="T2" fmla="*/ 0 w 1188"/>
                <a:gd name="T3" fmla="*/ 0 h 738"/>
                <a:gd name="T4" fmla="*/ 0 w 1188"/>
                <a:gd name="T5" fmla="*/ 0 h 738"/>
                <a:gd name="T6" fmla="*/ 0 w 1188"/>
                <a:gd name="T7" fmla="*/ 0 h 738"/>
                <a:gd name="T8" fmla="*/ 0 w 1188"/>
                <a:gd name="T9" fmla="*/ 0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8" h="738">
                  <a:moveTo>
                    <a:pt x="0" y="225"/>
                  </a:moveTo>
                  <a:lnTo>
                    <a:pt x="0" y="738"/>
                  </a:lnTo>
                  <a:lnTo>
                    <a:pt x="1188" y="360"/>
                  </a:lnTo>
                  <a:lnTo>
                    <a:pt x="1188" y="0"/>
                  </a:lnTo>
                  <a:lnTo>
                    <a:pt x="0" y="225"/>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574" name="Freeform 314"/>
            <p:cNvSpPr>
              <a:spLocks/>
            </p:cNvSpPr>
            <p:nvPr/>
          </p:nvSpPr>
          <p:spPr bwMode="auto">
            <a:xfrm flipH="1">
              <a:off x="1412" y="2694"/>
              <a:ext cx="120" cy="109"/>
            </a:xfrm>
            <a:custGeom>
              <a:avLst/>
              <a:gdLst>
                <a:gd name="T0" fmla="*/ 0 w 882"/>
                <a:gd name="T1" fmla="*/ 0 h 563"/>
                <a:gd name="T2" fmla="*/ 0 w 882"/>
                <a:gd name="T3" fmla="*/ 0 h 563"/>
                <a:gd name="T4" fmla="*/ 0 w 882"/>
                <a:gd name="T5" fmla="*/ 0 h 563"/>
                <a:gd name="T6" fmla="*/ 0 w 882"/>
                <a:gd name="T7" fmla="*/ 0 h 563"/>
                <a:gd name="T8" fmla="*/ 0 w 882"/>
                <a:gd name="T9" fmla="*/ 0 h 5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2" h="563">
                  <a:moveTo>
                    <a:pt x="882" y="50"/>
                  </a:moveTo>
                  <a:lnTo>
                    <a:pt x="882" y="563"/>
                  </a:lnTo>
                  <a:lnTo>
                    <a:pt x="0" y="436"/>
                  </a:lnTo>
                  <a:lnTo>
                    <a:pt x="0" y="0"/>
                  </a:lnTo>
                  <a:lnTo>
                    <a:pt x="882" y="5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575" name="Freeform 315"/>
            <p:cNvSpPr>
              <a:spLocks/>
            </p:cNvSpPr>
            <p:nvPr/>
          </p:nvSpPr>
          <p:spPr bwMode="auto">
            <a:xfrm flipH="1">
              <a:off x="1251" y="2660"/>
              <a:ext cx="281" cy="44"/>
            </a:xfrm>
            <a:custGeom>
              <a:avLst/>
              <a:gdLst>
                <a:gd name="T0" fmla="*/ 0 w 2070"/>
                <a:gd name="T1" fmla="*/ 0 h 225"/>
                <a:gd name="T2" fmla="*/ 0 w 2070"/>
                <a:gd name="T3" fmla="*/ 0 h 225"/>
                <a:gd name="T4" fmla="*/ 0 w 2070"/>
                <a:gd name="T5" fmla="*/ 0 h 225"/>
                <a:gd name="T6" fmla="*/ 0 w 2070"/>
                <a:gd name="T7" fmla="*/ 0 h 225"/>
                <a:gd name="T8" fmla="*/ 0 w 2070"/>
                <a:gd name="T9" fmla="*/ 0 h 2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70" h="225">
                  <a:moveTo>
                    <a:pt x="0" y="175"/>
                  </a:moveTo>
                  <a:lnTo>
                    <a:pt x="892" y="225"/>
                  </a:lnTo>
                  <a:lnTo>
                    <a:pt x="2070" y="0"/>
                  </a:lnTo>
                  <a:lnTo>
                    <a:pt x="1202" y="0"/>
                  </a:lnTo>
                  <a:lnTo>
                    <a:pt x="0" y="175"/>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576" name="Freeform 316"/>
            <p:cNvSpPr>
              <a:spLocks/>
            </p:cNvSpPr>
            <p:nvPr/>
          </p:nvSpPr>
          <p:spPr bwMode="auto">
            <a:xfrm flipH="1">
              <a:off x="1338" y="2648"/>
              <a:ext cx="102" cy="40"/>
            </a:xfrm>
            <a:custGeom>
              <a:avLst/>
              <a:gdLst>
                <a:gd name="T0" fmla="*/ 0 w 751"/>
                <a:gd name="T1" fmla="*/ 0 h 210"/>
                <a:gd name="T2" fmla="*/ 0 w 751"/>
                <a:gd name="T3" fmla="*/ 0 h 210"/>
                <a:gd name="T4" fmla="*/ 0 w 751"/>
                <a:gd name="T5" fmla="*/ 0 h 210"/>
                <a:gd name="T6" fmla="*/ 0 w 751"/>
                <a:gd name="T7" fmla="*/ 0 h 210"/>
                <a:gd name="T8" fmla="*/ 0 w 751"/>
                <a:gd name="T9" fmla="*/ 0 h 210"/>
                <a:gd name="T10" fmla="*/ 0 w 751"/>
                <a:gd name="T11" fmla="*/ 0 h 21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51" h="210">
                  <a:moveTo>
                    <a:pt x="0" y="120"/>
                  </a:moveTo>
                  <a:lnTo>
                    <a:pt x="0" y="188"/>
                  </a:lnTo>
                  <a:lnTo>
                    <a:pt x="351" y="210"/>
                  </a:lnTo>
                  <a:lnTo>
                    <a:pt x="751" y="135"/>
                  </a:lnTo>
                  <a:lnTo>
                    <a:pt x="751" y="0"/>
                  </a:lnTo>
                  <a:lnTo>
                    <a:pt x="0" y="12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577" name="Freeform 317"/>
            <p:cNvSpPr>
              <a:spLocks/>
            </p:cNvSpPr>
            <p:nvPr/>
          </p:nvSpPr>
          <p:spPr bwMode="auto">
            <a:xfrm flipH="1">
              <a:off x="1282" y="2475"/>
              <a:ext cx="131" cy="198"/>
            </a:xfrm>
            <a:custGeom>
              <a:avLst/>
              <a:gdLst>
                <a:gd name="T0" fmla="*/ 0 w 960"/>
                <a:gd name="T1" fmla="*/ 0 h 1031"/>
                <a:gd name="T2" fmla="*/ 0 w 960"/>
                <a:gd name="T3" fmla="*/ 0 h 1031"/>
                <a:gd name="T4" fmla="*/ 0 w 960"/>
                <a:gd name="T5" fmla="*/ 0 h 1031"/>
                <a:gd name="T6" fmla="*/ 0 w 960"/>
                <a:gd name="T7" fmla="*/ 0 h 1031"/>
                <a:gd name="T8" fmla="*/ 0 w 960"/>
                <a:gd name="T9" fmla="*/ 0 h 10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1031">
                  <a:moveTo>
                    <a:pt x="135" y="1031"/>
                  </a:moveTo>
                  <a:lnTo>
                    <a:pt x="0" y="33"/>
                  </a:lnTo>
                  <a:lnTo>
                    <a:pt x="827" y="0"/>
                  </a:lnTo>
                  <a:lnTo>
                    <a:pt x="960" y="889"/>
                  </a:lnTo>
                  <a:lnTo>
                    <a:pt x="135" y="1031"/>
                  </a:lnTo>
                  <a:close/>
                </a:path>
              </a:pathLst>
            </a:custGeom>
            <a:solidFill>
              <a:srgbClr val="A0A0A0"/>
            </a:solidFill>
            <a:ln w="1588">
              <a:solidFill>
                <a:srgbClr val="000000"/>
              </a:solidFill>
              <a:prstDash val="solid"/>
              <a:round/>
              <a:headEnd/>
              <a:tailEnd/>
            </a:ln>
          </p:spPr>
          <p:txBody>
            <a:bodyPr/>
            <a:lstStyle/>
            <a:p>
              <a:endParaRPr lang="zh-CN" altLang="en-US"/>
            </a:p>
          </p:txBody>
        </p:sp>
        <p:sp>
          <p:nvSpPr>
            <p:cNvPr id="11578" name="Freeform 318"/>
            <p:cNvSpPr>
              <a:spLocks/>
            </p:cNvSpPr>
            <p:nvPr/>
          </p:nvSpPr>
          <p:spPr bwMode="auto">
            <a:xfrm flipH="1">
              <a:off x="1396" y="2480"/>
              <a:ext cx="114" cy="198"/>
            </a:xfrm>
            <a:custGeom>
              <a:avLst/>
              <a:gdLst>
                <a:gd name="T0" fmla="*/ 0 w 850"/>
                <a:gd name="T1" fmla="*/ 0 h 1026"/>
                <a:gd name="T2" fmla="*/ 0 w 850"/>
                <a:gd name="T3" fmla="*/ 0 h 1026"/>
                <a:gd name="T4" fmla="*/ 0 w 850"/>
                <a:gd name="T5" fmla="*/ 0 h 1026"/>
                <a:gd name="T6" fmla="*/ 0 w 850"/>
                <a:gd name="T7" fmla="*/ 0 h 1026"/>
                <a:gd name="T8" fmla="*/ 0 w 850"/>
                <a:gd name="T9" fmla="*/ 0 h 10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 h="1026">
                  <a:moveTo>
                    <a:pt x="715" y="0"/>
                  </a:moveTo>
                  <a:lnTo>
                    <a:pt x="0" y="228"/>
                  </a:lnTo>
                  <a:lnTo>
                    <a:pt x="102" y="1026"/>
                  </a:lnTo>
                  <a:lnTo>
                    <a:pt x="850" y="1000"/>
                  </a:lnTo>
                  <a:lnTo>
                    <a:pt x="715" y="0"/>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579" name="Freeform 319"/>
            <p:cNvSpPr>
              <a:spLocks/>
            </p:cNvSpPr>
            <p:nvPr/>
          </p:nvSpPr>
          <p:spPr bwMode="auto">
            <a:xfrm flipH="1">
              <a:off x="1297" y="2495"/>
              <a:ext cx="95" cy="148"/>
            </a:xfrm>
            <a:custGeom>
              <a:avLst/>
              <a:gdLst>
                <a:gd name="T0" fmla="*/ 0 w 689"/>
                <a:gd name="T1" fmla="*/ 0 h 778"/>
                <a:gd name="T2" fmla="*/ 0 w 689"/>
                <a:gd name="T3" fmla="*/ 0 h 778"/>
                <a:gd name="T4" fmla="*/ 0 w 689"/>
                <a:gd name="T5" fmla="*/ 0 h 778"/>
                <a:gd name="T6" fmla="*/ 0 w 689"/>
                <a:gd name="T7" fmla="*/ 0 h 778"/>
                <a:gd name="T8" fmla="*/ 0 w 689"/>
                <a:gd name="T9" fmla="*/ 0 h 7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9" h="778">
                  <a:moveTo>
                    <a:pt x="0" y="36"/>
                  </a:moveTo>
                  <a:lnTo>
                    <a:pt x="98" y="778"/>
                  </a:lnTo>
                  <a:lnTo>
                    <a:pt x="689" y="689"/>
                  </a:lnTo>
                  <a:lnTo>
                    <a:pt x="587" y="0"/>
                  </a:lnTo>
                  <a:lnTo>
                    <a:pt x="0" y="36"/>
                  </a:lnTo>
                  <a:close/>
                </a:path>
              </a:pathLst>
            </a:custGeom>
            <a:solidFill>
              <a:srgbClr val="00C0C0"/>
            </a:solidFill>
            <a:ln w="1588">
              <a:solidFill>
                <a:srgbClr val="000000"/>
              </a:solidFill>
              <a:prstDash val="solid"/>
              <a:round/>
              <a:headEnd/>
              <a:tailEnd/>
            </a:ln>
          </p:spPr>
          <p:txBody>
            <a:bodyPr/>
            <a:lstStyle/>
            <a:p>
              <a:endParaRPr lang="zh-CN" altLang="en-US"/>
            </a:p>
          </p:txBody>
        </p:sp>
        <p:sp>
          <p:nvSpPr>
            <p:cNvPr id="11580" name="Freeform 320"/>
            <p:cNvSpPr>
              <a:spLocks/>
            </p:cNvSpPr>
            <p:nvPr/>
          </p:nvSpPr>
          <p:spPr bwMode="auto">
            <a:xfrm flipH="1">
              <a:off x="1262" y="2675"/>
              <a:ext cx="92" cy="93"/>
            </a:xfrm>
            <a:custGeom>
              <a:avLst/>
              <a:gdLst>
                <a:gd name="T0" fmla="*/ 0 w 674"/>
                <a:gd name="T1" fmla="*/ 0 h 482"/>
                <a:gd name="T2" fmla="*/ 0 w 674"/>
                <a:gd name="T3" fmla="*/ 0 h 482"/>
                <a:gd name="T4" fmla="*/ 0 w 674"/>
                <a:gd name="T5" fmla="*/ 0 h 482"/>
                <a:gd name="T6" fmla="*/ 0 w 674"/>
                <a:gd name="T7" fmla="*/ 0 h 482"/>
                <a:gd name="T8" fmla="*/ 0 w 674"/>
                <a:gd name="T9" fmla="*/ 0 h 4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4" h="482">
                  <a:moveTo>
                    <a:pt x="674" y="0"/>
                  </a:moveTo>
                  <a:lnTo>
                    <a:pt x="0" y="143"/>
                  </a:lnTo>
                  <a:lnTo>
                    <a:pt x="0" y="482"/>
                  </a:lnTo>
                  <a:lnTo>
                    <a:pt x="674" y="271"/>
                  </a:lnTo>
                  <a:lnTo>
                    <a:pt x="674" y="0"/>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581" name="Line 321"/>
            <p:cNvSpPr>
              <a:spLocks noChangeShapeType="1"/>
            </p:cNvSpPr>
            <p:nvPr/>
          </p:nvSpPr>
          <p:spPr bwMode="auto">
            <a:xfrm flipH="1" flipV="1">
              <a:off x="1269" y="2699"/>
              <a:ext cx="24" cy="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82" name="Line 322"/>
            <p:cNvSpPr>
              <a:spLocks noChangeShapeType="1"/>
            </p:cNvSpPr>
            <p:nvPr/>
          </p:nvSpPr>
          <p:spPr bwMode="auto">
            <a:xfrm>
              <a:off x="1307" y="2709"/>
              <a:ext cx="31" cy="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83" name="Line 323"/>
            <p:cNvSpPr>
              <a:spLocks noChangeShapeType="1"/>
            </p:cNvSpPr>
            <p:nvPr/>
          </p:nvSpPr>
          <p:spPr bwMode="auto">
            <a:xfrm flipH="1">
              <a:off x="1300" y="2687"/>
              <a:ext cx="0" cy="6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84" name="Line 324"/>
            <p:cNvSpPr>
              <a:spLocks noChangeShapeType="1"/>
            </p:cNvSpPr>
            <p:nvPr/>
          </p:nvSpPr>
          <p:spPr bwMode="auto">
            <a:xfrm flipH="1">
              <a:off x="1343" y="2700"/>
              <a:ext cx="1" cy="6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85" name="Line 325"/>
            <p:cNvSpPr>
              <a:spLocks noChangeShapeType="1"/>
            </p:cNvSpPr>
            <p:nvPr/>
          </p:nvSpPr>
          <p:spPr bwMode="auto">
            <a:xfrm>
              <a:off x="1261" y="2699"/>
              <a:ext cx="83" cy="30"/>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86" name="Line 326"/>
            <p:cNvSpPr>
              <a:spLocks noChangeShapeType="1"/>
            </p:cNvSpPr>
            <p:nvPr/>
          </p:nvSpPr>
          <p:spPr bwMode="auto">
            <a:xfrm flipH="1" flipV="1">
              <a:off x="1261" y="2690"/>
              <a:ext cx="83" cy="27"/>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87" name="Freeform 327"/>
            <p:cNvSpPr>
              <a:spLocks/>
            </p:cNvSpPr>
            <p:nvPr/>
          </p:nvSpPr>
          <p:spPr bwMode="auto">
            <a:xfrm flipH="1">
              <a:off x="1363" y="2764"/>
              <a:ext cx="10" cy="37"/>
            </a:xfrm>
            <a:custGeom>
              <a:avLst/>
              <a:gdLst>
                <a:gd name="T0" fmla="*/ 0 w 75"/>
                <a:gd name="T1" fmla="*/ 0 h 194"/>
                <a:gd name="T2" fmla="*/ 0 w 75"/>
                <a:gd name="T3" fmla="*/ 0 h 194"/>
                <a:gd name="T4" fmla="*/ 0 w 75"/>
                <a:gd name="T5" fmla="*/ 0 h 194"/>
                <a:gd name="T6" fmla="*/ 0 w 75"/>
                <a:gd name="T7" fmla="*/ 0 h 194"/>
                <a:gd name="T8" fmla="*/ 0 w 75"/>
                <a:gd name="T9" fmla="*/ 0 h 1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94">
                  <a:moveTo>
                    <a:pt x="23" y="0"/>
                  </a:moveTo>
                  <a:lnTo>
                    <a:pt x="0" y="183"/>
                  </a:lnTo>
                  <a:lnTo>
                    <a:pt x="55" y="194"/>
                  </a:lnTo>
                  <a:lnTo>
                    <a:pt x="75" y="8"/>
                  </a:lnTo>
                  <a:lnTo>
                    <a:pt x="23"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588" name="Freeform 328"/>
            <p:cNvSpPr>
              <a:spLocks/>
            </p:cNvSpPr>
            <p:nvPr/>
          </p:nvSpPr>
          <p:spPr bwMode="auto">
            <a:xfrm flipH="1">
              <a:off x="1338" y="2769"/>
              <a:ext cx="28" cy="32"/>
            </a:xfrm>
            <a:custGeom>
              <a:avLst/>
              <a:gdLst>
                <a:gd name="T0" fmla="*/ 0 w 206"/>
                <a:gd name="T1" fmla="*/ 0 h 168"/>
                <a:gd name="T2" fmla="*/ 0 w 206"/>
                <a:gd name="T3" fmla="*/ 0 h 168"/>
                <a:gd name="T4" fmla="*/ 0 w 206"/>
                <a:gd name="T5" fmla="*/ 0 h 168"/>
                <a:gd name="T6" fmla="*/ 0 w 206"/>
                <a:gd name="T7" fmla="*/ 0 h 168"/>
                <a:gd name="T8" fmla="*/ 0 w 206"/>
                <a:gd name="T9" fmla="*/ 0 h 168"/>
                <a:gd name="T10" fmla="*/ 0 w 206"/>
                <a:gd name="T11" fmla="*/ 0 h 168"/>
                <a:gd name="T12" fmla="*/ 0 w 206"/>
                <a:gd name="T13" fmla="*/ 0 h 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6" h="168">
                  <a:moveTo>
                    <a:pt x="17" y="5"/>
                  </a:moveTo>
                  <a:lnTo>
                    <a:pt x="0" y="168"/>
                  </a:lnTo>
                  <a:lnTo>
                    <a:pt x="206" y="84"/>
                  </a:lnTo>
                  <a:lnTo>
                    <a:pt x="126" y="58"/>
                  </a:lnTo>
                  <a:lnTo>
                    <a:pt x="52" y="97"/>
                  </a:lnTo>
                  <a:lnTo>
                    <a:pt x="75" y="0"/>
                  </a:lnTo>
                  <a:lnTo>
                    <a:pt x="17" y="5"/>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589" name="Freeform 329"/>
            <p:cNvSpPr>
              <a:spLocks/>
            </p:cNvSpPr>
            <p:nvPr/>
          </p:nvSpPr>
          <p:spPr bwMode="auto">
            <a:xfrm flipH="1">
              <a:off x="1169" y="2677"/>
              <a:ext cx="215" cy="141"/>
            </a:xfrm>
            <a:custGeom>
              <a:avLst/>
              <a:gdLst>
                <a:gd name="T0" fmla="*/ 0 w 1583"/>
                <a:gd name="T1" fmla="*/ 0 h 729"/>
                <a:gd name="T2" fmla="*/ 0 w 1583"/>
                <a:gd name="T3" fmla="*/ 0 h 729"/>
                <a:gd name="T4" fmla="*/ 0 w 1583"/>
                <a:gd name="T5" fmla="*/ 0 h 729"/>
                <a:gd name="T6" fmla="*/ 0 w 1583"/>
                <a:gd name="T7" fmla="*/ 0 h 729"/>
                <a:gd name="T8" fmla="*/ 0 w 1583"/>
                <a:gd name="T9" fmla="*/ 0 h 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83" h="729">
                  <a:moveTo>
                    <a:pt x="0" y="309"/>
                  </a:moveTo>
                  <a:lnTo>
                    <a:pt x="759" y="729"/>
                  </a:lnTo>
                  <a:lnTo>
                    <a:pt x="1583" y="318"/>
                  </a:lnTo>
                  <a:lnTo>
                    <a:pt x="951" y="0"/>
                  </a:lnTo>
                  <a:lnTo>
                    <a:pt x="0" y="309"/>
                  </a:lnTo>
                  <a:close/>
                </a:path>
              </a:pathLst>
            </a:custGeom>
            <a:solidFill>
              <a:srgbClr val="808080"/>
            </a:solidFill>
            <a:ln w="1588">
              <a:solidFill>
                <a:srgbClr val="000000"/>
              </a:solidFill>
              <a:prstDash val="solid"/>
              <a:round/>
              <a:headEnd/>
              <a:tailEnd/>
            </a:ln>
          </p:spPr>
          <p:txBody>
            <a:bodyPr/>
            <a:lstStyle/>
            <a:p>
              <a:endParaRPr lang="zh-CN" altLang="en-US"/>
            </a:p>
          </p:txBody>
        </p:sp>
        <p:sp>
          <p:nvSpPr>
            <p:cNvPr id="11590" name="Freeform 330"/>
            <p:cNvSpPr>
              <a:spLocks/>
            </p:cNvSpPr>
            <p:nvPr/>
          </p:nvSpPr>
          <p:spPr bwMode="auto">
            <a:xfrm flipH="1">
              <a:off x="1280" y="2736"/>
              <a:ext cx="108" cy="101"/>
            </a:xfrm>
            <a:custGeom>
              <a:avLst/>
              <a:gdLst>
                <a:gd name="T0" fmla="*/ 0 w 792"/>
                <a:gd name="T1" fmla="*/ 0 h 516"/>
                <a:gd name="T2" fmla="*/ 0 w 792"/>
                <a:gd name="T3" fmla="*/ 0 h 516"/>
                <a:gd name="T4" fmla="*/ 0 w 792"/>
                <a:gd name="T5" fmla="*/ 0 h 516"/>
                <a:gd name="T6" fmla="*/ 0 w 792"/>
                <a:gd name="T7" fmla="*/ 0 h 516"/>
                <a:gd name="T8" fmla="*/ 0 w 792"/>
                <a:gd name="T9" fmla="*/ 0 h 5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92" h="516">
                  <a:moveTo>
                    <a:pt x="28" y="0"/>
                  </a:moveTo>
                  <a:lnTo>
                    <a:pt x="792" y="426"/>
                  </a:lnTo>
                  <a:lnTo>
                    <a:pt x="770" y="516"/>
                  </a:lnTo>
                  <a:lnTo>
                    <a:pt x="0" y="82"/>
                  </a:lnTo>
                  <a:lnTo>
                    <a:pt x="28" y="0"/>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591" name="Freeform 331"/>
            <p:cNvSpPr>
              <a:spLocks/>
            </p:cNvSpPr>
            <p:nvPr/>
          </p:nvSpPr>
          <p:spPr bwMode="auto">
            <a:xfrm flipH="1">
              <a:off x="1168" y="2739"/>
              <a:ext cx="114" cy="98"/>
            </a:xfrm>
            <a:custGeom>
              <a:avLst/>
              <a:gdLst>
                <a:gd name="T0" fmla="*/ 0 w 846"/>
                <a:gd name="T1" fmla="*/ 0 h 507"/>
                <a:gd name="T2" fmla="*/ 0 w 846"/>
                <a:gd name="T3" fmla="*/ 0 h 507"/>
                <a:gd name="T4" fmla="*/ 0 w 846"/>
                <a:gd name="T5" fmla="*/ 0 h 507"/>
                <a:gd name="T6" fmla="*/ 0 w 846"/>
                <a:gd name="T7" fmla="*/ 0 h 507"/>
                <a:gd name="T8" fmla="*/ 0 w 846"/>
                <a:gd name="T9" fmla="*/ 0 h 5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6" h="507">
                  <a:moveTo>
                    <a:pt x="0" y="507"/>
                  </a:moveTo>
                  <a:lnTo>
                    <a:pt x="25" y="411"/>
                  </a:lnTo>
                  <a:lnTo>
                    <a:pt x="846" y="0"/>
                  </a:lnTo>
                  <a:lnTo>
                    <a:pt x="817" y="76"/>
                  </a:lnTo>
                  <a:lnTo>
                    <a:pt x="0" y="507"/>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592" name="Freeform 332"/>
            <p:cNvSpPr>
              <a:spLocks/>
            </p:cNvSpPr>
            <p:nvPr/>
          </p:nvSpPr>
          <p:spPr bwMode="auto">
            <a:xfrm flipH="1">
              <a:off x="1255" y="2742"/>
              <a:ext cx="87" cy="64"/>
            </a:xfrm>
            <a:custGeom>
              <a:avLst/>
              <a:gdLst>
                <a:gd name="T0" fmla="*/ 0 w 637"/>
                <a:gd name="T1" fmla="*/ 0 h 321"/>
                <a:gd name="T2" fmla="*/ 0 w 637"/>
                <a:gd name="T3" fmla="*/ 0 h 321"/>
                <a:gd name="T4" fmla="*/ 0 w 637"/>
                <a:gd name="T5" fmla="*/ 0 h 321"/>
                <a:gd name="T6" fmla="*/ 0 w 637"/>
                <a:gd name="T7" fmla="*/ 0 h 321"/>
                <a:gd name="T8" fmla="*/ 0 w 637"/>
                <a:gd name="T9" fmla="*/ 0 h 3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7" h="321">
                  <a:moveTo>
                    <a:pt x="0" y="83"/>
                  </a:moveTo>
                  <a:lnTo>
                    <a:pt x="220" y="0"/>
                  </a:lnTo>
                  <a:lnTo>
                    <a:pt x="637" y="224"/>
                  </a:lnTo>
                  <a:lnTo>
                    <a:pt x="425" y="321"/>
                  </a:lnTo>
                  <a:lnTo>
                    <a:pt x="0" y="8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93" name="Freeform 333"/>
            <p:cNvSpPr>
              <a:spLocks/>
            </p:cNvSpPr>
            <p:nvPr/>
          </p:nvSpPr>
          <p:spPr bwMode="auto">
            <a:xfrm flipH="1">
              <a:off x="1178" y="2700"/>
              <a:ext cx="129" cy="84"/>
            </a:xfrm>
            <a:custGeom>
              <a:avLst/>
              <a:gdLst>
                <a:gd name="T0" fmla="*/ 0 w 938"/>
                <a:gd name="T1" fmla="*/ 0 h 434"/>
                <a:gd name="T2" fmla="*/ 0 w 938"/>
                <a:gd name="T3" fmla="*/ 0 h 434"/>
                <a:gd name="T4" fmla="*/ 0 w 938"/>
                <a:gd name="T5" fmla="*/ 0 h 434"/>
                <a:gd name="T6" fmla="*/ 0 w 938"/>
                <a:gd name="T7" fmla="*/ 0 h 434"/>
                <a:gd name="T8" fmla="*/ 0 w 938"/>
                <a:gd name="T9" fmla="*/ 0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8" h="434">
                  <a:moveTo>
                    <a:pt x="0" y="210"/>
                  </a:moveTo>
                  <a:lnTo>
                    <a:pt x="410" y="434"/>
                  </a:lnTo>
                  <a:lnTo>
                    <a:pt x="938" y="186"/>
                  </a:lnTo>
                  <a:lnTo>
                    <a:pt x="554" y="0"/>
                  </a:lnTo>
                  <a:lnTo>
                    <a:pt x="0" y="21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94" name="Freeform 334"/>
            <p:cNvSpPr>
              <a:spLocks/>
            </p:cNvSpPr>
            <p:nvPr/>
          </p:nvSpPr>
          <p:spPr bwMode="auto">
            <a:xfrm flipH="1">
              <a:off x="1232" y="2682"/>
              <a:ext cx="141" cy="75"/>
            </a:xfrm>
            <a:custGeom>
              <a:avLst/>
              <a:gdLst>
                <a:gd name="T0" fmla="*/ 0 w 1034"/>
                <a:gd name="T1" fmla="*/ 0 h 395"/>
                <a:gd name="T2" fmla="*/ 0 w 1034"/>
                <a:gd name="T3" fmla="*/ 0 h 395"/>
                <a:gd name="T4" fmla="*/ 0 w 1034"/>
                <a:gd name="T5" fmla="*/ 0 h 395"/>
                <a:gd name="T6" fmla="*/ 0 w 1034"/>
                <a:gd name="T7" fmla="*/ 0 h 395"/>
                <a:gd name="T8" fmla="*/ 0 w 1034"/>
                <a:gd name="T9" fmla="*/ 0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4" h="395">
                  <a:moveTo>
                    <a:pt x="216" y="395"/>
                  </a:moveTo>
                  <a:lnTo>
                    <a:pt x="0" y="285"/>
                  </a:lnTo>
                  <a:lnTo>
                    <a:pt x="867" y="0"/>
                  </a:lnTo>
                  <a:lnTo>
                    <a:pt x="1034" y="82"/>
                  </a:lnTo>
                  <a:lnTo>
                    <a:pt x="216" y="395"/>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95" name="Line 335"/>
            <p:cNvSpPr>
              <a:spLocks noChangeShapeType="1"/>
            </p:cNvSpPr>
            <p:nvPr/>
          </p:nvSpPr>
          <p:spPr bwMode="auto">
            <a:xfrm flipH="1" flipV="1">
              <a:off x="1249" y="2685"/>
              <a:ext cx="120" cy="59"/>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96" name="Line 336"/>
            <p:cNvSpPr>
              <a:spLocks noChangeShapeType="1"/>
            </p:cNvSpPr>
            <p:nvPr/>
          </p:nvSpPr>
          <p:spPr bwMode="auto">
            <a:xfrm flipH="1" flipV="1">
              <a:off x="1242" y="2688"/>
              <a:ext cx="117" cy="6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97" name="Line 337"/>
            <p:cNvSpPr>
              <a:spLocks noChangeShapeType="1"/>
            </p:cNvSpPr>
            <p:nvPr/>
          </p:nvSpPr>
          <p:spPr bwMode="auto">
            <a:xfrm flipH="1" flipV="1">
              <a:off x="1236" y="2694"/>
              <a:ext cx="115" cy="6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98" name="Line 338"/>
            <p:cNvSpPr>
              <a:spLocks noChangeShapeType="1"/>
            </p:cNvSpPr>
            <p:nvPr/>
          </p:nvSpPr>
          <p:spPr bwMode="auto">
            <a:xfrm flipH="1" flipV="1">
              <a:off x="1222" y="2704"/>
              <a:ext cx="113" cy="6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99" name="Line 339"/>
            <p:cNvSpPr>
              <a:spLocks noChangeShapeType="1"/>
            </p:cNvSpPr>
            <p:nvPr/>
          </p:nvSpPr>
          <p:spPr bwMode="auto">
            <a:xfrm flipH="1" flipV="1">
              <a:off x="1213" y="2710"/>
              <a:ext cx="112" cy="66"/>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0" name="Line 340"/>
            <p:cNvSpPr>
              <a:spLocks noChangeShapeType="1"/>
            </p:cNvSpPr>
            <p:nvPr/>
          </p:nvSpPr>
          <p:spPr bwMode="auto">
            <a:xfrm flipH="1" flipV="1">
              <a:off x="1212" y="2720"/>
              <a:ext cx="101" cy="61"/>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1" name="Line 341"/>
            <p:cNvSpPr>
              <a:spLocks noChangeShapeType="1"/>
            </p:cNvSpPr>
            <p:nvPr/>
          </p:nvSpPr>
          <p:spPr bwMode="auto">
            <a:xfrm flipH="1" flipV="1">
              <a:off x="1205" y="2725"/>
              <a:ext cx="98" cy="63"/>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2" name="Line 342"/>
            <p:cNvSpPr>
              <a:spLocks noChangeShapeType="1"/>
            </p:cNvSpPr>
            <p:nvPr/>
          </p:nvSpPr>
          <p:spPr bwMode="auto">
            <a:xfrm flipH="1" flipV="1">
              <a:off x="1196" y="2734"/>
              <a:ext cx="93" cy="6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3" name="Line 343"/>
            <p:cNvSpPr>
              <a:spLocks noChangeShapeType="1"/>
            </p:cNvSpPr>
            <p:nvPr/>
          </p:nvSpPr>
          <p:spPr bwMode="auto">
            <a:xfrm flipH="1">
              <a:off x="1273" y="2754"/>
              <a:ext cx="58" cy="4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4" name="Line 344"/>
            <p:cNvSpPr>
              <a:spLocks noChangeShapeType="1"/>
            </p:cNvSpPr>
            <p:nvPr/>
          </p:nvSpPr>
          <p:spPr bwMode="auto">
            <a:xfrm flipH="1">
              <a:off x="1262" y="2749"/>
              <a:ext cx="57" cy="44"/>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5" name="Line 345"/>
            <p:cNvSpPr>
              <a:spLocks noChangeShapeType="1"/>
            </p:cNvSpPr>
            <p:nvPr/>
          </p:nvSpPr>
          <p:spPr bwMode="auto">
            <a:xfrm flipH="1">
              <a:off x="1238" y="2734"/>
              <a:ext cx="56" cy="4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6" name="Line 346"/>
            <p:cNvSpPr>
              <a:spLocks noChangeShapeType="1"/>
            </p:cNvSpPr>
            <p:nvPr/>
          </p:nvSpPr>
          <p:spPr bwMode="auto">
            <a:xfrm flipH="1">
              <a:off x="1226" y="2727"/>
              <a:ext cx="55" cy="4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7" name="Line 347"/>
            <p:cNvSpPr>
              <a:spLocks noChangeShapeType="1"/>
            </p:cNvSpPr>
            <p:nvPr/>
          </p:nvSpPr>
          <p:spPr bwMode="auto">
            <a:xfrm flipH="1">
              <a:off x="1213" y="2720"/>
              <a:ext cx="54" cy="4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8" name="Line 348"/>
            <p:cNvSpPr>
              <a:spLocks noChangeShapeType="1"/>
            </p:cNvSpPr>
            <p:nvPr/>
          </p:nvSpPr>
          <p:spPr bwMode="auto">
            <a:xfrm flipH="1">
              <a:off x="1203" y="2714"/>
              <a:ext cx="52" cy="4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09" name="Line 349"/>
            <p:cNvSpPr>
              <a:spLocks noChangeShapeType="1"/>
            </p:cNvSpPr>
            <p:nvPr/>
          </p:nvSpPr>
          <p:spPr bwMode="auto">
            <a:xfrm flipH="1">
              <a:off x="1192" y="2707"/>
              <a:ext cx="52" cy="39"/>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10" name="Line 350"/>
            <p:cNvSpPr>
              <a:spLocks noChangeShapeType="1"/>
            </p:cNvSpPr>
            <p:nvPr/>
          </p:nvSpPr>
          <p:spPr bwMode="auto">
            <a:xfrm flipH="1">
              <a:off x="1327" y="2727"/>
              <a:ext cx="28" cy="22"/>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11" name="Line 351"/>
            <p:cNvSpPr>
              <a:spLocks noChangeShapeType="1"/>
            </p:cNvSpPr>
            <p:nvPr/>
          </p:nvSpPr>
          <p:spPr bwMode="auto">
            <a:xfrm flipH="1">
              <a:off x="1311" y="2720"/>
              <a:ext cx="27" cy="19"/>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12" name="Line 352"/>
            <p:cNvSpPr>
              <a:spLocks noChangeShapeType="1"/>
            </p:cNvSpPr>
            <p:nvPr/>
          </p:nvSpPr>
          <p:spPr bwMode="auto">
            <a:xfrm flipH="1">
              <a:off x="1294" y="2712"/>
              <a:ext cx="27" cy="20"/>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13" name="Line 353"/>
            <p:cNvSpPr>
              <a:spLocks noChangeShapeType="1"/>
            </p:cNvSpPr>
            <p:nvPr/>
          </p:nvSpPr>
          <p:spPr bwMode="auto">
            <a:xfrm flipH="1">
              <a:off x="1278" y="2705"/>
              <a:ext cx="26"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14" name="Line 354"/>
            <p:cNvSpPr>
              <a:spLocks noChangeShapeType="1"/>
            </p:cNvSpPr>
            <p:nvPr/>
          </p:nvSpPr>
          <p:spPr bwMode="auto">
            <a:xfrm flipH="1">
              <a:off x="1263" y="2697"/>
              <a:ext cx="25" cy="18"/>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15" name="Line 355"/>
            <p:cNvSpPr>
              <a:spLocks noChangeShapeType="1"/>
            </p:cNvSpPr>
            <p:nvPr/>
          </p:nvSpPr>
          <p:spPr bwMode="auto">
            <a:xfrm flipH="1">
              <a:off x="1246" y="2688"/>
              <a:ext cx="23" cy="17"/>
            </a:xfrm>
            <a:prstGeom prst="line">
              <a:avLst/>
            </a:prstGeom>
            <a:noFill/>
            <a:ln w="4763">
              <a:solidFill>
                <a:srgbClr val="808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16" name="Freeform 356"/>
            <p:cNvSpPr>
              <a:spLocks/>
            </p:cNvSpPr>
            <p:nvPr/>
          </p:nvSpPr>
          <p:spPr bwMode="auto">
            <a:xfrm flipH="1">
              <a:off x="1026" y="2887"/>
              <a:ext cx="283" cy="180"/>
            </a:xfrm>
            <a:custGeom>
              <a:avLst/>
              <a:gdLst>
                <a:gd name="T0" fmla="*/ 0 w 2091"/>
                <a:gd name="T1" fmla="*/ 0 h 931"/>
                <a:gd name="T2" fmla="*/ 0 w 2091"/>
                <a:gd name="T3" fmla="*/ 0 h 931"/>
                <a:gd name="T4" fmla="*/ 0 w 2091"/>
                <a:gd name="T5" fmla="*/ 0 h 931"/>
                <a:gd name="T6" fmla="*/ 0 w 2091"/>
                <a:gd name="T7" fmla="*/ 0 h 931"/>
                <a:gd name="T8" fmla="*/ 0 w 2091"/>
                <a:gd name="T9" fmla="*/ 0 h 931"/>
                <a:gd name="T10" fmla="*/ 0 w 2091"/>
                <a:gd name="T11" fmla="*/ 0 h 931"/>
                <a:gd name="T12" fmla="*/ 0 w 2091"/>
                <a:gd name="T13" fmla="*/ 0 h 931"/>
                <a:gd name="T14" fmla="*/ 0 w 2091"/>
                <a:gd name="T15" fmla="*/ 0 h 931"/>
                <a:gd name="T16" fmla="*/ 0 w 2091"/>
                <a:gd name="T17" fmla="*/ 0 h 931"/>
                <a:gd name="T18" fmla="*/ 0 w 2091"/>
                <a:gd name="T19" fmla="*/ 0 h 931"/>
                <a:gd name="T20" fmla="*/ 0 w 2091"/>
                <a:gd name="T21" fmla="*/ 0 h 931"/>
                <a:gd name="T22" fmla="*/ 0 w 2091"/>
                <a:gd name="T23" fmla="*/ 0 h 931"/>
                <a:gd name="T24" fmla="*/ 0 w 2091"/>
                <a:gd name="T25" fmla="*/ 0 h 931"/>
                <a:gd name="T26" fmla="*/ 0 w 2091"/>
                <a:gd name="T27" fmla="*/ 0 h 931"/>
                <a:gd name="T28" fmla="*/ 0 w 2091"/>
                <a:gd name="T29" fmla="*/ 0 h 931"/>
                <a:gd name="T30" fmla="*/ 0 w 2091"/>
                <a:gd name="T31" fmla="*/ 0 h 931"/>
                <a:gd name="T32" fmla="*/ 0 w 2091"/>
                <a:gd name="T33" fmla="*/ 0 h 931"/>
                <a:gd name="T34" fmla="*/ 0 w 2091"/>
                <a:gd name="T35" fmla="*/ 0 h 931"/>
                <a:gd name="T36" fmla="*/ 0 w 2091"/>
                <a:gd name="T37" fmla="*/ 0 h 931"/>
                <a:gd name="T38" fmla="*/ 0 w 2091"/>
                <a:gd name="T39" fmla="*/ 0 h 931"/>
                <a:gd name="T40" fmla="*/ 0 w 2091"/>
                <a:gd name="T41" fmla="*/ 0 h 931"/>
                <a:gd name="T42" fmla="*/ 0 w 2091"/>
                <a:gd name="T43" fmla="*/ 0 h 931"/>
                <a:gd name="T44" fmla="*/ 0 w 2091"/>
                <a:gd name="T45" fmla="*/ 0 h 931"/>
                <a:gd name="T46" fmla="*/ 0 w 2091"/>
                <a:gd name="T47" fmla="*/ 0 h 931"/>
                <a:gd name="T48" fmla="*/ 0 w 2091"/>
                <a:gd name="T49" fmla="*/ 0 h 931"/>
                <a:gd name="T50" fmla="*/ 0 w 2091"/>
                <a:gd name="T51" fmla="*/ 0 h 931"/>
                <a:gd name="T52" fmla="*/ 0 w 2091"/>
                <a:gd name="T53" fmla="*/ 0 h 931"/>
                <a:gd name="T54" fmla="*/ 0 w 2091"/>
                <a:gd name="T55" fmla="*/ 0 h 931"/>
                <a:gd name="T56" fmla="*/ 0 w 2091"/>
                <a:gd name="T57" fmla="*/ 0 h 931"/>
                <a:gd name="T58" fmla="*/ 0 w 2091"/>
                <a:gd name="T59" fmla="*/ 0 h 931"/>
                <a:gd name="T60" fmla="*/ 0 w 2091"/>
                <a:gd name="T61" fmla="*/ 0 h 931"/>
                <a:gd name="T62" fmla="*/ 0 w 2091"/>
                <a:gd name="T63" fmla="*/ 0 h 931"/>
                <a:gd name="T64" fmla="*/ 0 w 2091"/>
                <a:gd name="T65" fmla="*/ 0 h 931"/>
                <a:gd name="T66" fmla="*/ 0 w 2091"/>
                <a:gd name="T67" fmla="*/ 0 h 931"/>
                <a:gd name="T68" fmla="*/ 0 w 2091"/>
                <a:gd name="T69" fmla="*/ 0 h 931"/>
                <a:gd name="T70" fmla="*/ 0 w 2091"/>
                <a:gd name="T71" fmla="*/ 0 h 931"/>
                <a:gd name="T72" fmla="*/ 0 w 2091"/>
                <a:gd name="T73" fmla="*/ 0 h 931"/>
                <a:gd name="T74" fmla="*/ 0 w 2091"/>
                <a:gd name="T75" fmla="*/ 0 h 931"/>
                <a:gd name="T76" fmla="*/ 0 w 2091"/>
                <a:gd name="T77" fmla="*/ 0 h 931"/>
                <a:gd name="T78" fmla="*/ 0 w 2091"/>
                <a:gd name="T79" fmla="*/ 0 h 931"/>
                <a:gd name="T80" fmla="*/ 0 w 2091"/>
                <a:gd name="T81" fmla="*/ 0 h 931"/>
                <a:gd name="T82" fmla="*/ 0 w 2091"/>
                <a:gd name="T83" fmla="*/ 0 h 931"/>
                <a:gd name="T84" fmla="*/ 0 w 2091"/>
                <a:gd name="T85" fmla="*/ 0 h 931"/>
                <a:gd name="T86" fmla="*/ 0 w 2091"/>
                <a:gd name="T87" fmla="*/ 0 h 931"/>
                <a:gd name="T88" fmla="*/ 0 w 2091"/>
                <a:gd name="T89" fmla="*/ 0 h 93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91" h="931">
                  <a:moveTo>
                    <a:pt x="182" y="927"/>
                  </a:moveTo>
                  <a:lnTo>
                    <a:pt x="5" y="905"/>
                  </a:lnTo>
                  <a:lnTo>
                    <a:pt x="0" y="695"/>
                  </a:lnTo>
                  <a:lnTo>
                    <a:pt x="9" y="537"/>
                  </a:lnTo>
                  <a:lnTo>
                    <a:pt x="100" y="442"/>
                  </a:lnTo>
                  <a:lnTo>
                    <a:pt x="210" y="387"/>
                  </a:lnTo>
                  <a:lnTo>
                    <a:pt x="460" y="296"/>
                  </a:lnTo>
                  <a:lnTo>
                    <a:pt x="828" y="207"/>
                  </a:lnTo>
                  <a:lnTo>
                    <a:pt x="900" y="201"/>
                  </a:lnTo>
                  <a:lnTo>
                    <a:pt x="948" y="207"/>
                  </a:lnTo>
                  <a:lnTo>
                    <a:pt x="960" y="188"/>
                  </a:lnTo>
                  <a:lnTo>
                    <a:pt x="980" y="169"/>
                  </a:lnTo>
                  <a:lnTo>
                    <a:pt x="1003" y="173"/>
                  </a:lnTo>
                  <a:lnTo>
                    <a:pt x="1035" y="176"/>
                  </a:lnTo>
                  <a:lnTo>
                    <a:pt x="1049" y="138"/>
                  </a:lnTo>
                  <a:lnTo>
                    <a:pt x="1077" y="118"/>
                  </a:lnTo>
                  <a:lnTo>
                    <a:pt x="1106" y="112"/>
                  </a:lnTo>
                  <a:lnTo>
                    <a:pt x="1144" y="112"/>
                  </a:lnTo>
                  <a:lnTo>
                    <a:pt x="1138" y="82"/>
                  </a:lnTo>
                  <a:lnTo>
                    <a:pt x="1182" y="0"/>
                  </a:lnTo>
                  <a:lnTo>
                    <a:pt x="2040" y="22"/>
                  </a:lnTo>
                  <a:lnTo>
                    <a:pt x="2037" y="110"/>
                  </a:lnTo>
                  <a:lnTo>
                    <a:pt x="2053" y="188"/>
                  </a:lnTo>
                  <a:lnTo>
                    <a:pt x="2065" y="244"/>
                  </a:lnTo>
                  <a:lnTo>
                    <a:pt x="2080" y="314"/>
                  </a:lnTo>
                  <a:lnTo>
                    <a:pt x="2091" y="427"/>
                  </a:lnTo>
                  <a:lnTo>
                    <a:pt x="2077" y="494"/>
                  </a:lnTo>
                  <a:lnTo>
                    <a:pt x="2053" y="557"/>
                  </a:lnTo>
                  <a:lnTo>
                    <a:pt x="2023" y="610"/>
                  </a:lnTo>
                  <a:lnTo>
                    <a:pt x="1983" y="629"/>
                  </a:lnTo>
                  <a:lnTo>
                    <a:pt x="1921" y="648"/>
                  </a:lnTo>
                  <a:lnTo>
                    <a:pt x="1838" y="673"/>
                  </a:lnTo>
                  <a:lnTo>
                    <a:pt x="1801" y="717"/>
                  </a:lnTo>
                  <a:lnTo>
                    <a:pt x="1757" y="754"/>
                  </a:lnTo>
                  <a:lnTo>
                    <a:pt x="1686" y="786"/>
                  </a:lnTo>
                  <a:lnTo>
                    <a:pt x="1605" y="812"/>
                  </a:lnTo>
                  <a:lnTo>
                    <a:pt x="1475" y="827"/>
                  </a:lnTo>
                  <a:lnTo>
                    <a:pt x="1364" y="827"/>
                  </a:lnTo>
                  <a:lnTo>
                    <a:pt x="1279" y="818"/>
                  </a:lnTo>
                  <a:lnTo>
                    <a:pt x="1202" y="812"/>
                  </a:lnTo>
                  <a:lnTo>
                    <a:pt x="1144" y="843"/>
                  </a:lnTo>
                  <a:lnTo>
                    <a:pt x="1031" y="837"/>
                  </a:lnTo>
                  <a:lnTo>
                    <a:pt x="582" y="901"/>
                  </a:lnTo>
                  <a:lnTo>
                    <a:pt x="386" y="931"/>
                  </a:lnTo>
                  <a:lnTo>
                    <a:pt x="182" y="927"/>
                  </a:lnTo>
                  <a:close/>
                </a:path>
              </a:pathLst>
            </a:custGeom>
            <a:solidFill>
              <a:srgbClr val="606060"/>
            </a:solidFill>
            <a:ln w="1588">
              <a:solidFill>
                <a:srgbClr val="000000"/>
              </a:solidFill>
              <a:prstDash val="solid"/>
              <a:round/>
              <a:headEnd/>
              <a:tailEnd/>
            </a:ln>
          </p:spPr>
          <p:txBody>
            <a:bodyPr/>
            <a:lstStyle/>
            <a:p>
              <a:endParaRPr lang="zh-CN" altLang="en-US"/>
            </a:p>
          </p:txBody>
        </p:sp>
        <p:sp>
          <p:nvSpPr>
            <p:cNvPr id="11617" name="Freeform 357"/>
            <p:cNvSpPr>
              <a:spLocks/>
            </p:cNvSpPr>
            <p:nvPr/>
          </p:nvSpPr>
          <p:spPr bwMode="auto">
            <a:xfrm flipH="1">
              <a:off x="1028" y="2904"/>
              <a:ext cx="280" cy="160"/>
            </a:xfrm>
            <a:custGeom>
              <a:avLst/>
              <a:gdLst>
                <a:gd name="T0" fmla="*/ 0 w 2049"/>
                <a:gd name="T1" fmla="*/ 0 h 829"/>
                <a:gd name="T2" fmla="*/ 0 w 2049"/>
                <a:gd name="T3" fmla="*/ 0 h 829"/>
                <a:gd name="T4" fmla="*/ 0 w 2049"/>
                <a:gd name="T5" fmla="*/ 0 h 829"/>
                <a:gd name="T6" fmla="*/ 0 w 2049"/>
                <a:gd name="T7" fmla="*/ 0 h 829"/>
                <a:gd name="T8" fmla="*/ 0 w 2049"/>
                <a:gd name="T9" fmla="*/ 0 h 829"/>
                <a:gd name="T10" fmla="*/ 0 w 2049"/>
                <a:gd name="T11" fmla="*/ 0 h 829"/>
                <a:gd name="T12" fmla="*/ 0 w 2049"/>
                <a:gd name="T13" fmla="*/ 0 h 829"/>
                <a:gd name="T14" fmla="*/ 0 w 2049"/>
                <a:gd name="T15" fmla="*/ 0 h 829"/>
                <a:gd name="T16" fmla="*/ 0 w 2049"/>
                <a:gd name="T17" fmla="*/ 0 h 829"/>
                <a:gd name="T18" fmla="*/ 0 w 2049"/>
                <a:gd name="T19" fmla="*/ 0 h 829"/>
                <a:gd name="T20" fmla="*/ 0 w 2049"/>
                <a:gd name="T21" fmla="*/ 0 h 829"/>
                <a:gd name="T22" fmla="*/ 0 w 2049"/>
                <a:gd name="T23" fmla="*/ 0 h 829"/>
                <a:gd name="T24" fmla="*/ 0 w 2049"/>
                <a:gd name="T25" fmla="*/ 0 h 829"/>
                <a:gd name="T26" fmla="*/ 0 w 2049"/>
                <a:gd name="T27" fmla="*/ 0 h 829"/>
                <a:gd name="T28" fmla="*/ 0 w 2049"/>
                <a:gd name="T29" fmla="*/ 0 h 829"/>
                <a:gd name="T30" fmla="*/ 0 w 2049"/>
                <a:gd name="T31" fmla="*/ 0 h 829"/>
                <a:gd name="T32" fmla="*/ 0 w 2049"/>
                <a:gd name="T33" fmla="*/ 0 h 829"/>
                <a:gd name="T34" fmla="*/ 0 w 2049"/>
                <a:gd name="T35" fmla="*/ 0 h 829"/>
                <a:gd name="T36" fmla="*/ 0 w 2049"/>
                <a:gd name="T37" fmla="*/ 0 h 829"/>
                <a:gd name="T38" fmla="*/ 0 w 2049"/>
                <a:gd name="T39" fmla="*/ 0 h 829"/>
                <a:gd name="T40" fmla="*/ 0 w 2049"/>
                <a:gd name="T41" fmla="*/ 0 h 829"/>
                <a:gd name="T42" fmla="*/ 0 w 2049"/>
                <a:gd name="T43" fmla="*/ 0 h 829"/>
                <a:gd name="T44" fmla="*/ 0 w 2049"/>
                <a:gd name="T45" fmla="*/ 0 h 829"/>
                <a:gd name="T46" fmla="*/ 0 w 2049"/>
                <a:gd name="T47" fmla="*/ 0 h 829"/>
                <a:gd name="T48" fmla="*/ 0 w 2049"/>
                <a:gd name="T49" fmla="*/ 0 h 829"/>
                <a:gd name="T50" fmla="*/ 0 w 2049"/>
                <a:gd name="T51" fmla="*/ 0 h 829"/>
                <a:gd name="T52" fmla="*/ 0 w 2049"/>
                <a:gd name="T53" fmla="*/ 0 h 829"/>
                <a:gd name="T54" fmla="*/ 0 w 2049"/>
                <a:gd name="T55" fmla="*/ 0 h 829"/>
                <a:gd name="T56" fmla="*/ 0 w 2049"/>
                <a:gd name="T57" fmla="*/ 0 h 829"/>
                <a:gd name="T58" fmla="*/ 0 w 2049"/>
                <a:gd name="T59" fmla="*/ 0 h 829"/>
                <a:gd name="T60" fmla="*/ 0 w 2049"/>
                <a:gd name="T61" fmla="*/ 0 h 829"/>
                <a:gd name="T62" fmla="*/ 0 w 2049"/>
                <a:gd name="T63" fmla="*/ 0 h 829"/>
                <a:gd name="T64" fmla="*/ 0 w 2049"/>
                <a:gd name="T65" fmla="*/ 0 h 829"/>
                <a:gd name="T66" fmla="*/ 0 w 2049"/>
                <a:gd name="T67" fmla="*/ 0 h 829"/>
                <a:gd name="T68" fmla="*/ 0 w 2049"/>
                <a:gd name="T69" fmla="*/ 0 h 829"/>
                <a:gd name="T70" fmla="*/ 0 w 2049"/>
                <a:gd name="T71" fmla="*/ 0 h 829"/>
                <a:gd name="T72" fmla="*/ 0 w 2049"/>
                <a:gd name="T73" fmla="*/ 0 h 829"/>
                <a:gd name="T74" fmla="*/ 0 w 2049"/>
                <a:gd name="T75" fmla="*/ 0 h 829"/>
                <a:gd name="T76" fmla="*/ 0 w 2049"/>
                <a:gd name="T77" fmla="*/ 0 h 829"/>
                <a:gd name="T78" fmla="*/ 0 w 2049"/>
                <a:gd name="T79" fmla="*/ 0 h 829"/>
                <a:gd name="T80" fmla="*/ 0 w 2049"/>
                <a:gd name="T81" fmla="*/ 0 h 829"/>
                <a:gd name="T82" fmla="*/ 0 w 2049"/>
                <a:gd name="T83" fmla="*/ 0 h 829"/>
                <a:gd name="T84" fmla="*/ 0 w 2049"/>
                <a:gd name="T85" fmla="*/ 0 h 82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049" h="829">
                  <a:moveTo>
                    <a:pt x="1982" y="31"/>
                  </a:moveTo>
                  <a:lnTo>
                    <a:pt x="1986" y="90"/>
                  </a:lnTo>
                  <a:lnTo>
                    <a:pt x="2010" y="67"/>
                  </a:lnTo>
                  <a:lnTo>
                    <a:pt x="2037" y="199"/>
                  </a:lnTo>
                  <a:lnTo>
                    <a:pt x="2049" y="353"/>
                  </a:lnTo>
                  <a:lnTo>
                    <a:pt x="1995" y="512"/>
                  </a:lnTo>
                  <a:lnTo>
                    <a:pt x="1868" y="549"/>
                  </a:lnTo>
                  <a:lnTo>
                    <a:pt x="1882" y="512"/>
                  </a:lnTo>
                  <a:lnTo>
                    <a:pt x="1814" y="567"/>
                  </a:lnTo>
                  <a:lnTo>
                    <a:pt x="1754" y="624"/>
                  </a:lnTo>
                  <a:lnTo>
                    <a:pt x="1622" y="688"/>
                  </a:lnTo>
                  <a:lnTo>
                    <a:pt x="1460" y="701"/>
                  </a:lnTo>
                  <a:lnTo>
                    <a:pt x="1264" y="710"/>
                  </a:lnTo>
                  <a:lnTo>
                    <a:pt x="1181" y="701"/>
                  </a:lnTo>
                  <a:lnTo>
                    <a:pt x="1255" y="669"/>
                  </a:lnTo>
                  <a:lnTo>
                    <a:pt x="1287" y="589"/>
                  </a:lnTo>
                  <a:lnTo>
                    <a:pt x="1228" y="656"/>
                  </a:lnTo>
                  <a:lnTo>
                    <a:pt x="1155" y="697"/>
                  </a:lnTo>
                  <a:lnTo>
                    <a:pt x="1086" y="733"/>
                  </a:lnTo>
                  <a:lnTo>
                    <a:pt x="1017" y="724"/>
                  </a:lnTo>
                  <a:lnTo>
                    <a:pt x="1063" y="692"/>
                  </a:lnTo>
                  <a:lnTo>
                    <a:pt x="1109" y="652"/>
                  </a:lnTo>
                  <a:lnTo>
                    <a:pt x="1036" y="678"/>
                  </a:lnTo>
                  <a:lnTo>
                    <a:pt x="963" y="733"/>
                  </a:lnTo>
                  <a:lnTo>
                    <a:pt x="726" y="761"/>
                  </a:lnTo>
                  <a:lnTo>
                    <a:pt x="491" y="797"/>
                  </a:lnTo>
                  <a:lnTo>
                    <a:pt x="409" y="793"/>
                  </a:lnTo>
                  <a:lnTo>
                    <a:pt x="495" y="742"/>
                  </a:lnTo>
                  <a:lnTo>
                    <a:pt x="581" y="724"/>
                  </a:lnTo>
                  <a:lnTo>
                    <a:pt x="486" y="720"/>
                  </a:lnTo>
                  <a:lnTo>
                    <a:pt x="414" y="752"/>
                  </a:lnTo>
                  <a:lnTo>
                    <a:pt x="319" y="815"/>
                  </a:lnTo>
                  <a:lnTo>
                    <a:pt x="386" y="720"/>
                  </a:lnTo>
                  <a:lnTo>
                    <a:pt x="473" y="669"/>
                  </a:lnTo>
                  <a:lnTo>
                    <a:pt x="359" y="692"/>
                  </a:lnTo>
                  <a:lnTo>
                    <a:pt x="300" y="765"/>
                  </a:lnTo>
                  <a:lnTo>
                    <a:pt x="287" y="829"/>
                  </a:lnTo>
                  <a:lnTo>
                    <a:pt x="214" y="742"/>
                  </a:lnTo>
                  <a:lnTo>
                    <a:pt x="140" y="701"/>
                  </a:lnTo>
                  <a:lnTo>
                    <a:pt x="182" y="746"/>
                  </a:lnTo>
                  <a:lnTo>
                    <a:pt x="241" y="829"/>
                  </a:lnTo>
                  <a:lnTo>
                    <a:pt x="59" y="793"/>
                  </a:lnTo>
                  <a:lnTo>
                    <a:pt x="23" y="778"/>
                  </a:lnTo>
                  <a:lnTo>
                    <a:pt x="0" y="674"/>
                  </a:lnTo>
                  <a:lnTo>
                    <a:pt x="13" y="530"/>
                  </a:lnTo>
                  <a:lnTo>
                    <a:pt x="40" y="435"/>
                  </a:lnTo>
                  <a:lnTo>
                    <a:pt x="155" y="362"/>
                  </a:lnTo>
                  <a:lnTo>
                    <a:pt x="296" y="298"/>
                  </a:lnTo>
                  <a:lnTo>
                    <a:pt x="572" y="207"/>
                  </a:lnTo>
                  <a:lnTo>
                    <a:pt x="795" y="145"/>
                  </a:lnTo>
                  <a:lnTo>
                    <a:pt x="917" y="135"/>
                  </a:lnTo>
                  <a:lnTo>
                    <a:pt x="968" y="207"/>
                  </a:lnTo>
                  <a:lnTo>
                    <a:pt x="1123" y="285"/>
                  </a:lnTo>
                  <a:lnTo>
                    <a:pt x="1040" y="217"/>
                  </a:lnTo>
                  <a:lnTo>
                    <a:pt x="977" y="182"/>
                  </a:lnTo>
                  <a:lnTo>
                    <a:pt x="953" y="131"/>
                  </a:lnTo>
                  <a:lnTo>
                    <a:pt x="963" y="108"/>
                  </a:lnTo>
                  <a:lnTo>
                    <a:pt x="1008" y="108"/>
                  </a:lnTo>
                  <a:lnTo>
                    <a:pt x="1036" y="135"/>
                  </a:lnTo>
                  <a:lnTo>
                    <a:pt x="1063" y="163"/>
                  </a:lnTo>
                  <a:lnTo>
                    <a:pt x="1132" y="190"/>
                  </a:lnTo>
                  <a:lnTo>
                    <a:pt x="1068" y="135"/>
                  </a:lnTo>
                  <a:lnTo>
                    <a:pt x="1040" y="95"/>
                  </a:lnTo>
                  <a:lnTo>
                    <a:pt x="1059" y="67"/>
                  </a:lnTo>
                  <a:lnTo>
                    <a:pt x="1113" y="50"/>
                  </a:lnTo>
                  <a:lnTo>
                    <a:pt x="1186" y="113"/>
                  </a:lnTo>
                  <a:lnTo>
                    <a:pt x="1255" y="154"/>
                  </a:lnTo>
                  <a:lnTo>
                    <a:pt x="1173" y="63"/>
                  </a:lnTo>
                  <a:lnTo>
                    <a:pt x="1145" y="27"/>
                  </a:lnTo>
                  <a:lnTo>
                    <a:pt x="1145" y="0"/>
                  </a:lnTo>
                  <a:lnTo>
                    <a:pt x="1213" y="10"/>
                  </a:lnTo>
                  <a:lnTo>
                    <a:pt x="1277" y="54"/>
                  </a:lnTo>
                  <a:lnTo>
                    <a:pt x="1319" y="86"/>
                  </a:lnTo>
                  <a:lnTo>
                    <a:pt x="1514" y="104"/>
                  </a:lnTo>
                  <a:lnTo>
                    <a:pt x="1508" y="54"/>
                  </a:lnTo>
                  <a:lnTo>
                    <a:pt x="1567" y="35"/>
                  </a:lnTo>
                  <a:lnTo>
                    <a:pt x="1567" y="99"/>
                  </a:lnTo>
                  <a:lnTo>
                    <a:pt x="1626" y="113"/>
                  </a:lnTo>
                  <a:lnTo>
                    <a:pt x="1754" y="131"/>
                  </a:lnTo>
                  <a:lnTo>
                    <a:pt x="1745" y="63"/>
                  </a:lnTo>
                  <a:lnTo>
                    <a:pt x="1790" y="63"/>
                  </a:lnTo>
                  <a:lnTo>
                    <a:pt x="1795" y="131"/>
                  </a:lnTo>
                  <a:lnTo>
                    <a:pt x="1868" y="127"/>
                  </a:lnTo>
                  <a:lnTo>
                    <a:pt x="1946" y="108"/>
                  </a:lnTo>
                  <a:lnTo>
                    <a:pt x="1950" y="54"/>
                  </a:lnTo>
                  <a:lnTo>
                    <a:pt x="1982"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18" name="Freeform 358"/>
            <p:cNvSpPr>
              <a:spLocks/>
            </p:cNvSpPr>
            <p:nvPr/>
          </p:nvSpPr>
          <p:spPr bwMode="auto">
            <a:xfrm flipH="1">
              <a:off x="1068" y="2961"/>
              <a:ext cx="39" cy="10"/>
            </a:xfrm>
            <a:custGeom>
              <a:avLst/>
              <a:gdLst>
                <a:gd name="T0" fmla="*/ 0 w 280"/>
                <a:gd name="T1" fmla="*/ 0 h 48"/>
                <a:gd name="T2" fmla="*/ 0 w 280"/>
                <a:gd name="T3" fmla="*/ 0 h 48"/>
                <a:gd name="T4" fmla="*/ 0 w 280"/>
                <a:gd name="T5" fmla="*/ 0 h 48"/>
                <a:gd name="T6" fmla="*/ 0 w 280"/>
                <a:gd name="T7" fmla="*/ 0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0" h="48">
                  <a:moveTo>
                    <a:pt x="280" y="0"/>
                  </a:moveTo>
                  <a:lnTo>
                    <a:pt x="149" y="48"/>
                  </a:lnTo>
                  <a:lnTo>
                    <a:pt x="0" y="35"/>
                  </a:lnTo>
                  <a:lnTo>
                    <a:pt x="28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19" name="Freeform 359"/>
            <p:cNvSpPr>
              <a:spLocks/>
            </p:cNvSpPr>
            <p:nvPr/>
          </p:nvSpPr>
          <p:spPr bwMode="auto">
            <a:xfrm flipH="1">
              <a:off x="1030" y="2946"/>
              <a:ext cx="23" cy="12"/>
            </a:xfrm>
            <a:custGeom>
              <a:avLst/>
              <a:gdLst>
                <a:gd name="T0" fmla="*/ 0 w 170"/>
                <a:gd name="T1" fmla="*/ 0 h 57"/>
                <a:gd name="T2" fmla="*/ 0 w 170"/>
                <a:gd name="T3" fmla="*/ 0 h 57"/>
                <a:gd name="T4" fmla="*/ 0 w 170"/>
                <a:gd name="T5" fmla="*/ 0 h 57"/>
                <a:gd name="T6" fmla="*/ 0 w 170"/>
                <a:gd name="T7" fmla="*/ 0 h 57"/>
                <a:gd name="T8" fmla="*/ 0 w 170"/>
                <a:gd name="T9" fmla="*/ 0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0" h="57">
                  <a:moveTo>
                    <a:pt x="170" y="0"/>
                  </a:moveTo>
                  <a:lnTo>
                    <a:pt x="125" y="35"/>
                  </a:lnTo>
                  <a:lnTo>
                    <a:pt x="0" y="53"/>
                  </a:lnTo>
                  <a:lnTo>
                    <a:pt x="130" y="57"/>
                  </a:lnTo>
                  <a:lnTo>
                    <a:pt x="17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0" name="Freeform 360"/>
            <p:cNvSpPr>
              <a:spLocks/>
            </p:cNvSpPr>
            <p:nvPr/>
          </p:nvSpPr>
          <p:spPr bwMode="auto">
            <a:xfrm flipH="1">
              <a:off x="1127" y="2937"/>
              <a:ext cx="36" cy="29"/>
            </a:xfrm>
            <a:custGeom>
              <a:avLst/>
              <a:gdLst>
                <a:gd name="T0" fmla="*/ 0 w 263"/>
                <a:gd name="T1" fmla="*/ 0 h 143"/>
                <a:gd name="T2" fmla="*/ 0 w 263"/>
                <a:gd name="T3" fmla="*/ 0 h 143"/>
                <a:gd name="T4" fmla="*/ 0 w 263"/>
                <a:gd name="T5" fmla="*/ 0 h 143"/>
                <a:gd name="T6" fmla="*/ 0 w 263"/>
                <a:gd name="T7" fmla="*/ 0 h 143"/>
                <a:gd name="T8" fmla="*/ 0 w 263"/>
                <a:gd name="T9" fmla="*/ 0 h 143"/>
                <a:gd name="T10" fmla="*/ 0 w 263"/>
                <a:gd name="T11" fmla="*/ 0 h 143"/>
                <a:gd name="T12" fmla="*/ 0 w 263"/>
                <a:gd name="T13" fmla="*/ 0 h 143"/>
                <a:gd name="T14" fmla="*/ 0 w 263"/>
                <a:gd name="T15" fmla="*/ 0 h 143"/>
                <a:gd name="T16" fmla="*/ 0 w 263"/>
                <a:gd name="T17" fmla="*/ 0 h 1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3" h="143">
                  <a:moveTo>
                    <a:pt x="263" y="0"/>
                  </a:moveTo>
                  <a:lnTo>
                    <a:pt x="145" y="13"/>
                  </a:lnTo>
                  <a:lnTo>
                    <a:pt x="122" y="31"/>
                  </a:lnTo>
                  <a:lnTo>
                    <a:pt x="122" y="76"/>
                  </a:lnTo>
                  <a:lnTo>
                    <a:pt x="113" y="124"/>
                  </a:lnTo>
                  <a:lnTo>
                    <a:pt x="0" y="143"/>
                  </a:lnTo>
                  <a:lnTo>
                    <a:pt x="136" y="138"/>
                  </a:lnTo>
                  <a:lnTo>
                    <a:pt x="159" y="48"/>
                  </a:lnTo>
                  <a:lnTo>
                    <a:pt x="26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1" name="Freeform 361"/>
            <p:cNvSpPr>
              <a:spLocks/>
            </p:cNvSpPr>
            <p:nvPr/>
          </p:nvSpPr>
          <p:spPr bwMode="auto">
            <a:xfrm flipH="1">
              <a:off x="1163" y="3001"/>
              <a:ext cx="117" cy="41"/>
            </a:xfrm>
            <a:custGeom>
              <a:avLst/>
              <a:gdLst>
                <a:gd name="T0" fmla="*/ 0 w 853"/>
                <a:gd name="T1" fmla="*/ 0 h 212"/>
                <a:gd name="T2" fmla="*/ 0 w 853"/>
                <a:gd name="T3" fmla="*/ 0 h 212"/>
                <a:gd name="T4" fmla="*/ 0 w 853"/>
                <a:gd name="T5" fmla="*/ 0 h 212"/>
                <a:gd name="T6" fmla="*/ 0 w 853"/>
                <a:gd name="T7" fmla="*/ 0 h 212"/>
                <a:gd name="T8" fmla="*/ 0 w 853"/>
                <a:gd name="T9" fmla="*/ 0 h 212"/>
                <a:gd name="T10" fmla="*/ 0 w 853"/>
                <a:gd name="T11" fmla="*/ 0 h 212"/>
                <a:gd name="T12" fmla="*/ 0 w 853"/>
                <a:gd name="T13" fmla="*/ 0 h 212"/>
                <a:gd name="T14" fmla="*/ 0 w 853"/>
                <a:gd name="T15" fmla="*/ 0 h 212"/>
                <a:gd name="T16" fmla="*/ 0 w 853"/>
                <a:gd name="T17" fmla="*/ 0 h 212"/>
                <a:gd name="T18" fmla="*/ 0 w 853"/>
                <a:gd name="T19" fmla="*/ 0 h 212"/>
                <a:gd name="T20" fmla="*/ 0 w 853"/>
                <a:gd name="T21" fmla="*/ 0 h 212"/>
                <a:gd name="T22" fmla="*/ 0 w 853"/>
                <a:gd name="T23" fmla="*/ 0 h 212"/>
                <a:gd name="T24" fmla="*/ 0 w 853"/>
                <a:gd name="T25" fmla="*/ 0 h 212"/>
                <a:gd name="T26" fmla="*/ 0 w 853"/>
                <a:gd name="T27" fmla="*/ 0 h 2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3" h="212">
                  <a:moveTo>
                    <a:pt x="853" y="0"/>
                  </a:moveTo>
                  <a:lnTo>
                    <a:pt x="636" y="10"/>
                  </a:lnTo>
                  <a:lnTo>
                    <a:pt x="413" y="63"/>
                  </a:lnTo>
                  <a:lnTo>
                    <a:pt x="249" y="71"/>
                  </a:lnTo>
                  <a:lnTo>
                    <a:pt x="114" y="99"/>
                  </a:lnTo>
                  <a:lnTo>
                    <a:pt x="64" y="170"/>
                  </a:lnTo>
                  <a:lnTo>
                    <a:pt x="0" y="212"/>
                  </a:lnTo>
                  <a:lnTo>
                    <a:pt x="64" y="198"/>
                  </a:lnTo>
                  <a:lnTo>
                    <a:pt x="123" y="117"/>
                  </a:lnTo>
                  <a:lnTo>
                    <a:pt x="304" y="81"/>
                  </a:lnTo>
                  <a:lnTo>
                    <a:pt x="413" y="81"/>
                  </a:lnTo>
                  <a:lnTo>
                    <a:pt x="500" y="63"/>
                  </a:lnTo>
                  <a:lnTo>
                    <a:pt x="649" y="23"/>
                  </a:lnTo>
                  <a:lnTo>
                    <a:pt x="85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2" name="Freeform 362"/>
            <p:cNvSpPr>
              <a:spLocks/>
            </p:cNvSpPr>
            <p:nvPr/>
          </p:nvSpPr>
          <p:spPr bwMode="auto">
            <a:xfrm flipH="1">
              <a:off x="1159" y="2690"/>
              <a:ext cx="102" cy="74"/>
            </a:xfrm>
            <a:custGeom>
              <a:avLst/>
              <a:gdLst>
                <a:gd name="T0" fmla="*/ 0 w 751"/>
                <a:gd name="T1" fmla="*/ 0 h 379"/>
                <a:gd name="T2" fmla="*/ 0 w 751"/>
                <a:gd name="T3" fmla="*/ 0 h 379"/>
                <a:gd name="T4" fmla="*/ 0 w 751"/>
                <a:gd name="T5" fmla="*/ 0 h 379"/>
                <a:gd name="T6" fmla="*/ 0 w 751"/>
                <a:gd name="T7" fmla="*/ 0 h 379"/>
                <a:gd name="T8" fmla="*/ 0 w 751"/>
                <a:gd name="T9" fmla="*/ 0 h 379"/>
                <a:gd name="T10" fmla="*/ 0 w 751"/>
                <a:gd name="T11" fmla="*/ 0 h 379"/>
                <a:gd name="T12" fmla="*/ 0 w 751"/>
                <a:gd name="T13" fmla="*/ 0 h 379"/>
                <a:gd name="T14" fmla="*/ 0 w 751"/>
                <a:gd name="T15" fmla="*/ 0 h 379"/>
                <a:gd name="T16" fmla="*/ 0 w 751"/>
                <a:gd name="T17" fmla="*/ 0 h 379"/>
                <a:gd name="T18" fmla="*/ 0 w 751"/>
                <a:gd name="T19" fmla="*/ 0 h 379"/>
                <a:gd name="T20" fmla="*/ 0 w 751"/>
                <a:gd name="T21" fmla="*/ 0 h 379"/>
                <a:gd name="T22" fmla="*/ 0 w 751"/>
                <a:gd name="T23" fmla="*/ 0 h 379"/>
                <a:gd name="T24" fmla="*/ 0 w 751"/>
                <a:gd name="T25" fmla="*/ 0 h 379"/>
                <a:gd name="T26" fmla="*/ 0 w 751"/>
                <a:gd name="T27" fmla="*/ 0 h 379"/>
                <a:gd name="T28" fmla="*/ 0 w 751"/>
                <a:gd name="T29" fmla="*/ 0 h 379"/>
                <a:gd name="T30" fmla="*/ 0 w 751"/>
                <a:gd name="T31" fmla="*/ 0 h 379"/>
                <a:gd name="T32" fmla="*/ 0 w 751"/>
                <a:gd name="T33" fmla="*/ 0 h 379"/>
                <a:gd name="T34" fmla="*/ 0 w 751"/>
                <a:gd name="T35" fmla="*/ 0 h 379"/>
                <a:gd name="T36" fmla="*/ 0 w 751"/>
                <a:gd name="T37" fmla="*/ 0 h 379"/>
                <a:gd name="T38" fmla="*/ 0 w 751"/>
                <a:gd name="T39" fmla="*/ 0 h 379"/>
                <a:gd name="T40" fmla="*/ 0 w 751"/>
                <a:gd name="T41" fmla="*/ 0 h 379"/>
                <a:gd name="T42" fmla="*/ 0 w 751"/>
                <a:gd name="T43" fmla="*/ 0 h 379"/>
                <a:gd name="T44" fmla="*/ 0 w 751"/>
                <a:gd name="T45" fmla="*/ 0 h 379"/>
                <a:gd name="T46" fmla="*/ 0 w 751"/>
                <a:gd name="T47" fmla="*/ 0 h 379"/>
                <a:gd name="T48" fmla="*/ 0 w 751"/>
                <a:gd name="T49" fmla="*/ 0 h 379"/>
                <a:gd name="T50" fmla="*/ 0 w 751"/>
                <a:gd name="T51" fmla="*/ 0 h 379"/>
                <a:gd name="T52" fmla="*/ 0 w 751"/>
                <a:gd name="T53" fmla="*/ 0 h 379"/>
                <a:gd name="T54" fmla="*/ 0 w 751"/>
                <a:gd name="T55" fmla="*/ 0 h 379"/>
                <a:gd name="T56" fmla="*/ 0 w 751"/>
                <a:gd name="T57" fmla="*/ 0 h 379"/>
                <a:gd name="T58" fmla="*/ 0 w 751"/>
                <a:gd name="T59" fmla="*/ 0 h 379"/>
                <a:gd name="T60" fmla="*/ 0 w 751"/>
                <a:gd name="T61" fmla="*/ 0 h 379"/>
                <a:gd name="T62" fmla="*/ 0 w 751"/>
                <a:gd name="T63" fmla="*/ 0 h 379"/>
                <a:gd name="T64" fmla="*/ 0 w 751"/>
                <a:gd name="T65" fmla="*/ 0 h 379"/>
                <a:gd name="T66" fmla="*/ 0 w 751"/>
                <a:gd name="T67" fmla="*/ 0 h 379"/>
                <a:gd name="T68" fmla="*/ 0 w 751"/>
                <a:gd name="T69" fmla="*/ 0 h 379"/>
                <a:gd name="T70" fmla="*/ 0 w 751"/>
                <a:gd name="T71" fmla="*/ 0 h 379"/>
                <a:gd name="T72" fmla="*/ 0 w 751"/>
                <a:gd name="T73" fmla="*/ 0 h 379"/>
                <a:gd name="T74" fmla="*/ 0 w 751"/>
                <a:gd name="T75" fmla="*/ 0 h 379"/>
                <a:gd name="T76" fmla="*/ 0 w 751"/>
                <a:gd name="T77" fmla="*/ 0 h 379"/>
                <a:gd name="T78" fmla="*/ 0 w 751"/>
                <a:gd name="T79" fmla="*/ 0 h 379"/>
                <a:gd name="T80" fmla="*/ 0 w 751"/>
                <a:gd name="T81" fmla="*/ 0 h 379"/>
                <a:gd name="T82" fmla="*/ 0 w 751"/>
                <a:gd name="T83" fmla="*/ 0 h 379"/>
                <a:gd name="T84" fmla="*/ 0 w 751"/>
                <a:gd name="T85" fmla="*/ 0 h 379"/>
                <a:gd name="T86" fmla="*/ 0 w 751"/>
                <a:gd name="T87" fmla="*/ 0 h 379"/>
                <a:gd name="T88" fmla="*/ 0 w 751"/>
                <a:gd name="T89" fmla="*/ 0 h 379"/>
                <a:gd name="T90" fmla="*/ 0 w 751"/>
                <a:gd name="T91" fmla="*/ 0 h 379"/>
                <a:gd name="T92" fmla="*/ 0 w 751"/>
                <a:gd name="T93" fmla="*/ 0 h 379"/>
                <a:gd name="T94" fmla="*/ 0 w 751"/>
                <a:gd name="T95" fmla="*/ 0 h 379"/>
                <a:gd name="T96" fmla="*/ 0 w 751"/>
                <a:gd name="T97" fmla="*/ 0 h 379"/>
                <a:gd name="T98" fmla="*/ 0 w 751"/>
                <a:gd name="T99" fmla="*/ 0 h 379"/>
                <a:gd name="T100" fmla="*/ 0 w 751"/>
                <a:gd name="T101" fmla="*/ 0 h 379"/>
                <a:gd name="T102" fmla="*/ 0 w 751"/>
                <a:gd name="T103" fmla="*/ 0 h 379"/>
                <a:gd name="T104" fmla="*/ 0 w 751"/>
                <a:gd name="T105" fmla="*/ 0 h 379"/>
                <a:gd name="T106" fmla="*/ 0 w 751"/>
                <a:gd name="T107" fmla="*/ 0 h 379"/>
                <a:gd name="T108" fmla="*/ 0 w 751"/>
                <a:gd name="T109" fmla="*/ 0 h 379"/>
                <a:gd name="T110" fmla="*/ 0 w 751"/>
                <a:gd name="T111" fmla="*/ 0 h 37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51" h="379">
                  <a:moveTo>
                    <a:pt x="679" y="379"/>
                  </a:moveTo>
                  <a:lnTo>
                    <a:pt x="639" y="370"/>
                  </a:lnTo>
                  <a:lnTo>
                    <a:pt x="600" y="352"/>
                  </a:lnTo>
                  <a:lnTo>
                    <a:pt x="564" y="344"/>
                  </a:lnTo>
                  <a:lnTo>
                    <a:pt x="502" y="353"/>
                  </a:lnTo>
                  <a:lnTo>
                    <a:pt x="457" y="352"/>
                  </a:lnTo>
                  <a:lnTo>
                    <a:pt x="425" y="341"/>
                  </a:lnTo>
                  <a:lnTo>
                    <a:pt x="399" y="332"/>
                  </a:lnTo>
                  <a:lnTo>
                    <a:pt x="373" y="320"/>
                  </a:lnTo>
                  <a:lnTo>
                    <a:pt x="346" y="295"/>
                  </a:lnTo>
                  <a:lnTo>
                    <a:pt x="324" y="273"/>
                  </a:lnTo>
                  <a:lnTo>
                    <a:pt x="288" y="246"/>
                  </a:lnTo>
                  <a:lnTo>
                    <a:pt x="238" y="254"/>
                  </a:lnTo>
                  <a:lnTo>
                    <a:pt x="208" y="256"/>
                  </a:lnTo>
                  <a:lnTo>
                    <a:pt x="190" y="251"/>
                  </a:lnTo>
                  <a:lnTo>
                    <a:pt x="182" y="243"/>
                  </a:lnTo>
                  <a:lnTo>
                    <a:pt x="176" y="228"/>
                  </a:lnTo>
                  <a:lnTo>
                    <a:pt x="180" y="215"/>
                  </a:lnTo>
                  <a:lnTo>
                    <a:pt x="190" y="200"/>
                  </a:lnTo>
                  <a:lnTo>
                    <a:pt x="208" y="193"/>
                  </a:lnTo>
                  <a:lnTo>
                    <a:pt x="248" y="188"/>
                  </a:lnTo>
                  <a:lnTo>
                    <a:pt x="296" y="171"/>
                  </a:lnTo>
                  <a:lnTo>
                    <a:pt x="256" y="140"/>
                  </a:lnTo>
                  <a:lnTo>
                    <a:pt x="209" y="121"/>
                  </a:lnTo>
                  <a:lnTo>
                    <a:pt x="168" y="124"/>
                  </a:lnTo>
                  <a:lnTo>
                    <a:pt x="121" y="121"/>
                  </a:lnTo>
                  <a:lnTo>
                    <a:pt x="93" y="131"/>
                  </a:lnTo>
                  <a:lnTo>
                    <a:pt x="54" y="132"/>
                  </a:lnTo>
                  <a:lnTo>
                    <a:pt x="42" y="121"/>
                  </a:lnTo>
                  <a:lnTo>
                    <a:pt x="39" y="105"/>
                  </a:lnTo>
                  <a:lnTo>
                    <a:pt x="18" y="106"/>
                  </a:lnTo>
                  <a:lnTo>
                    <a:pt x="6" y="103"/>
                  </a:lnTo>
                  <a:lnTo>
                    <a:pt x="0" y="87"/>
                  </a:lnTo>
                  <a:lnTo>
                    <a:pt x="4" y="74"/>
                  </a:lnTo>
                  <a:lnTo>
                    <a:pt x="15" y="68"/>
                  </a:lnTo>
                  <a:lnTo>
                    <a:pt x="36" y="56"/>
                  </a:lnTo>
                  <a:lnTo>
                    <a:pt x="52" y="44"/>
                  </a:lnTo>
                  <a:lnTo>
                    <a:pt x="71" y="34"/>
                  </a:lnTo>
                  <a:lnTo>
                    <a:pt x="93" y="27"/>
                  </a:lnTo>
                  <a:lnTo>
                    <a:pt x="112" y="27"/>
                  </a:lnTo>
                  <a:lnTo>
                    <a:pt x="203" y="9"/>
                  </a:lnTo>
                  <a:lnTo>
                    <a:pt x="222" y="4"/>
                  </a:lnTo>
                  <a:lnTo>
                    <a:pt x="244" y="0"/>
                  </a:lnTo>
                  <a:lnTo>
                    <a:pt x="267" y="4"/>
                  </a:lnTo>
                  <a:lnTo>
                    <a:pt x="295" y="13"/>
                  </a:lnTo>
                  <a:lnTo>
                    <a:pt x="373" y="56"/>
                  </a:lnTo>
                  <a:lnTo>
                    <a:pt x="410" y="64"/>
                  </a:lnTo>
                  <a:lnTo>
                    <a:pt x="443" y="71"/>
                  </a:lnTo>
                  <a:lnTo>
                    <a:pt x="469" y="87"/>
                  </a:lnTo>
                  <a:lnTo>
                    <a:pt x="484" y="108"/>
                  </a:lnTo>
                  <a:lnTo>
                    <a:pt x="549" y="153"/>
                  </a:lnTo>
                  <a:lnTo>
                    <a:pt x="578" y="174"/>
                  </a:lnTo>
                  <a:lnTo>
                    <a:pt x="617" y="215"/>
                  </a:lnTo>
                  <a:lnTo>
                    <a:pt x="641" y="227"/>
                  </a:lnTo>
                  <a:lnTo>
                    <a:pt x="751" y="232"/>
                  </a:lnTo>
                  <a:lnTo>
                    <a:pt x="679" y="379"/>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623" name="Freeform 363"/>
            <p:cNvSpPr>
              <a:spLocks/>
            </p:cNvSpPr>
            <p:nvPr/>
          </p:nvSpPr>
          <p:spPr bwMode="auto">
            <a:xfrm flipH="1">
              <a:off x="1197" y="2724"/>
              <a:ext cx="25" cy="8"/>
            </a:xfrm>
            <a:custGeom>
              <a:avLst/>
              <a:gdLst>
                <a:gd name="T0" fmla="*/ 0 w 179"/>
                <a:gd name="T1" fmla="*/ 0 h 43"/>
                <a:gd name="T2" fmla="*/ 0 w 179"/>
                <a:gd name="T3" fmla="*/ 0 h 43"/>
                <a:gd name="T4" fmla="*/ 0 w 179"/>
                <a:gd name="T5" fmla="*/ 0 h 43"/>
                <a:gd name="T6" fmla="*/ 0 w 179"/>
                <a:gd name="T7" fmla="*/ 0 h 43"/>
                <a:gd name="T8" fmla="*/ 0 w 179"/>
                <a:gd name="T9" fmla="*/ 0 h 43"/>
                <a:gd name="T10" fmla="*/ 0 w 179"/>
                <a:gd name="T11" fmla="*/ 0 h 43"/>
                <a:gd name="T12" fmla="*/ 0 w 179"/>
                <a:gd name="T13" fmla="*/ 0 h 43"/>
                <a:gd name="T14" fmla="*/ 0 w 179"/>
                <a:gd name="T15" fmla="*/ 0 h 43"/>
                <a:gd name="T16" fmla="*/ 0 w 179"/>
                <a:gd name="T17" fmla="*/ 0 h 43"/>
                <a:gd name="T18" fmla="*/ 0 w 179"/>
                <a:gd name="T19" fmla="*/ 0 h 43"/>
                <a:gd name="T20" fmla="*/ 0 w 179"/>
                <a:gd name="T21" fmla="*/ 0 h 43"/>
                <a:gd name="T22" fmla="*/ 0 w 179"/>
                <a:gd name="T23" fmla="*/ 0 h 43"/>
                <a:gd name="T24" fmla="*/ 0 w 179"/>
                <a:gd name="T25" fmla="*/ 0 h 43"/>
                <a:gd name="T26" fmla="*/ 0 w 179"/>
                <a:gd name="T27" fmla="*/ 0 h 43"/>
                <a:gd name="T28" fmla="*/ 0 w 179"/>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9" h="43">
                  <a:moveTo>
                    <a:pt x="0" y="0"/>
                  </a:moveTo>
                  <a:lnTo>
                    <a:pt x="6" y="11"/>
                  </a:lnTo>
                  <a:lnTo>
                    <a:pt x="38" y="10"/>
                  </a:lnTo>
                  <a:lnTo>
                    <a:pt x="50" y="16"/>
                  </a:lnTo>
                  <a:lnTo>
                    <a:pt x="76" y="29"/>
                  </a:lnTo>
                  <a:lnTo>
                    <a:pt x="112" y="37"/>
                  </a:lnTo>
                  <a:lnTo>
                    <a:pt x="150" y="38"/>
                  </a:lnTo>
                  <a:lnTo>
                    <a:pt x="179" y="43"/>
                  </a:lnTo>
                  <a:lnTo>
                    <a:pt x="155" y="34"/>
                  </a:lnTo>
                  <a:lnTo>
                    <a:pt x="125" y="29"/>
                  </a:lnTo>
                  <a:lnTo>
                    <a:pt x="105" y="29"/>
                  </a:lnTo>
                  <a:lnTo>
                    <a:pt x="76" y="21"/>
                  </a:lnTo>
                  <a:lnTo>
                    <a:pt x="53" y="8"/>
                  </a:lnTo>
                  <a:lnTo>
                    <a:pt x="43" y="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4" name="Freeform 364"/>
            <p:cNvSpPr>
              <a:spLocks/>
            </p:cNvSpPr>
            <p:nvPr/>
          </p:nvSpPr>
          <p:spPr bwMode="auto">
            <a:xfrm flipH="1">
              <a:off x="1228" y="2731"/>
              <a:ext cx="3" cy="5"/>
            </a:xfrm>
            <a:custGeom>
              <a:avLst/>
              <a:gdLst>
                <a:gd name="T0" fmla="*/ 0 w 20"/>
                <a:gd name="T1" fmla="*/ 0 h 24"/>
                <a:gd name="T2" fmla="*/ 0 w 20"/>
                <a:gd name="T3" fmla="*/ 0 h 24"/>
                <a:gd name="T4" fmla="*/ 0 w 20"/>
                <a:gd name="T5" fmla="*/ 0 h 24"/>
                <a:gd name="T6" fmla="*/ 0 w 20"/>
                <a:gd name="T7" fmla="*/ 0 h 24"/>
                <a:gd name="T8" fmla="*/ 0 w 20"/>
                <a:gd name="T9" fmla="*/ 0 h 24"/>
                <a:gd name="T10" fmla="*/ 0 w 20"/>
                <a:gd name="T11" fmla="*/ 0 h 24"/>
                <a:gd name="T12" fmla="*/ 0 w 20"/>
                <a:gd name="T13" fmla="*/ 0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 h="24">
                  <a:moveTo>
                    <a:pt x="4" y="0"/>
                  </a:moveTo>
                  <a:lnTo>
                    <a:pt x="12" y="6"/>
                  </a:lnTo>
                  <a:lnTo>
                    <a:pt x="9" y="15"/>
                  </a:lnTo>
                  <a:lnTo>
                    <a:pt x="0" y="24"/>
                  </a:lnTo>
                  <a:lnTo>
                    <a:pt x="17" y="18"/>
                  </a:lnTo>
                  <a:lnTo>
                    <a:pt x="20" y="8"/>
                  </a:lnTo>
                  <a:lnTo>
                    <a:pt x="4"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5" name="Freeform 365"/>
            <p:cNvSpPr>
              <a:spLocks/>
            </p:cNvSpPr>
            <p:nvPr/>
          </p:nvSpPr>
          <p:spPr bwMode="auto">
            <a:xfrm flipH="1">
              <a:off x="1242" y="2702"/>
              <a:ext cx="15" cy="8"/>
            </a:xfrm>
            <a:custGeom>
              <a:avLst/>
              <a:gdLst>
                <a:gd name="T0" fmla="*/ 0 w 104"/>
                <a:gd name="T1" fmla="*/ 0 h 48"/>
                <a:gd name="T2" fmla="*/ 0 w 104"/>
                <a:gd name="T3" fmla="*/ 0 h 48"/>
                <a:gd name="T4" fmla="*/ 0 w 104"/>
                <a:gd name="T5" fmla="*/ 0 h 48"/>
                <a:gd name="T6" fmla="*/ 0 w 104"/>
                <a:gd name="T7" fmla="*/ 0 h 48"/>
                <a:gd name="T8" fmla="*/ 0 w 104"/>
                <a:gd name="T9" fmla="*/ 0 h 48"/>
                <a:gd name="T10" fmla="*/ 0 w 104"/>
                <a:gd name="T11" fmla="*/ 0 h 48"/>
                <a:gd name="T12" fmla="*/ 0 w 104"/>
                <a:gd name="T13" fmla="*/ 0 h 48"/>
                <a:gd name="T14" fmla="*/ 0 w 104"/>
                <a:gd name="T15" fmla="*/ 0 h 48"/>
                <a:gd name="T16" fmla="*/ 0 w 104"/>
                <a:gd name="T17" fmla="*/ 0 h 48"/>
                <a:gd name="T18" fmla="*/ 0 w 104"/>
                <a:gd name="T19" fmla="*/ 0 h 48"/>
                <a:gd name="T20" fmla="*/ 0 w 104"/>
                <a:gd name="T21" fmla="*/ 0 h 48"/>
                <a:gd name="T22" fmla="*/ 0 w 104"/>
                <a:gd name="T23" fmla="*/ 0 h 48"/>
                <a:gd name="T24" fmla="*/ 0 w 104"/>
                <a:gd name="T25" fmla="*/ 0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4" h="48">
                  <a:moveTo>
                    <a:pt x="0" y="45"/>
                  </a:moveTo>
                  <a:lnTo>
                    <a:pt x="11" y="48"/>
                  </a:lnTo>
                  <a:lnTo>
                    <a:pt x="25" y="33"/>
                  </a:lnTo>
                  <a:lnTo>
                    <a:pt x="46" y="25"/>
                  </a:lnTo>
                  <a:lnTo>
                    <a:pt x="56" y="14"/>
                  </a:lnTo>
                  <a:lnTo>
                    <a:pt x="66" y="9"/>
                  </a:lnTo>
                  <a:lnTo>
                    <a:pt x="89" y="4"/>
                  </a:lnTo>
                  <a:lnTo>
                    <a:pt x="104" y="1"/>
                  </a:lnTo>
                  <a:lnTo>
                    <a:pt x="84" y="0"/>
                  </a:lnTo>
                  <a:lnTo>
                    <a:pt x="58" y="4"/>
                  </a:lnTo>
                  <a:lnTo>
                    <a:pt x="49" y="12"/>
                  </a:lnTo>
                  <a:lnTo>
                    <a:pt x="37" y="20"/>
                  </a:lnTo>
                  <a:lnTo>
                    <a:pt x="0" y="4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6" name="Freeform 366"/>
            <p:cNvSpPr>
              <a:spLocks/>
            </p:cNvSpPr>
            <p:nvPr/>
          </p:nvSpPr>
          <p:spPr bwMode="auto">
            <a:xfrm flipH="1">
              <a:off x="1213" y="2699"/>
              <a:ext cx="22" cy="6"/>
            </a:xfrm>
            <a:custGeom>
              <a:avLst/>
              <a:gdLst>
                <a:gd name="T0" fmla="*/ 0 w 166"/>
                <a:gd name="T1" fmla="*/ 0 h 42"/>
                <a:gd name="T2" fmla="*/ 0 w 166"/>
                <a:gd name="T3" fmla="*/ 0 h 42"/>
                <a:gd name="T4" fmla="*/ 0 w 166"/>
                <a:gd name="T5" fmla="*/ 0 h 42"/>
                <a:gd name="T6" fmla="*/ 0 w 166"/>
                <a:gd name="T7" fmla="*/ 0 h 42"/>
                <a:gd name="T8" fmla="*/ 0 w 166"/>
                <a:gd name="T9" fmla="*/ 0 h 42"/>
                <a:gd name="T10" fmla="*/ 0 w 166"/>
                <a:gd name="T11" fmla="*/ 0 h 42"/>
                <a:gd name="T12" fmla="*/ 0 w 166"/>
                <a:gd name="T13" fmla="*/ 0 h 42"/>
                <a:gd name="T14" fmla="*/ 0 w 166"/>
                <a:gd name="T15" fmla="*/ 0 h 42"/>
                <a:gd name="T16" fmla="*/ 0 w 166"/>
                <a:gd name="T17" fmla="*/ 0 h 42"/>
                <a:gd name="T18" fmla="*/ 0 w 166"/>
                <a:gd name="T19" fmla="*/ 0 h 42"/>
                <a:gd name="T20" fmla="*/ 0 w 166"/>
                <a:gd name="T21" fmla="*/ 0 h 42"/>
                <a:gd name="T22" fmla="*/ 0 w 166"/>
                <a:gd name="T23" fmla="*/ 0 h 42"/>
                <a:gd name="T24" fmla="*/ 0 w 166"/>
                <a:gd name="T25" fmla="*/ 0 h 42"/>
                <a:gd name="T26" fmla="*/ 0 w 166"/>
                <a:gd name="T27" fmla="*/ 0 h 42"/>
                <a:gd name="T28" fmla="*/ 0 w 166"/>
                <a:gd name="T29" fmla="*/ 0 h 42"/>
                <a:gd name="T30" fmla="*/ 0 w 166"/>
                <a:gd name="T31" fmla="*/ 0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66" h="42">
                  <a:moveTo>
                    <a:pt x="0" y="10"/>
                  </a:moveTo>
                  <a:lnTo>
                    <a:pt x="35" y="6"/>
                  </a:lnTo>
                  <a:lnTo>
                    <a:pt x="55" y="0"/>
                  </a:lnTo>
                  <a:lnTo>
                    <a:pt x="63" y="0"/>
                  </a:lnTo>
                  <a:lnTo>
                    <a:pt x="85" y="5"/>
                  </a:lnTo>
                  <a:lnTo>
                    <a:pt x="94" y="14"/>
                  </a:lnTo>
                  <a:lnTo>
                    <a:pt x="111" y="23"/>
                  </a:lnTo>
                  <a:lnTo>
                    <a:pt x="143" y="36"/>
                  </a:lnTo>
                  <a:lnTo>
                    <a:pt x="166" y="36"/>
                  </a:lnTo>
                  <a:lnTo>
                    <a:pt x="142" y="42"/>
                  </a:lnTo>
                  <a:lnTo>
                    <a:pt x="126" y="39"/>
                  </a:lnTo>
                  <a:lnTo>
                    <a:pt x="91" y="22"/>
                  </a:lnTo>
                  <a:lnTo>
                    <a:pt x="79" y="10"/>
                  </a:lnTo>
                  <a:lnTo>
                    <a:pt x="55" y="8"/>
                  </a:lnTo>
                  <a:lnTo>
                    <a:pt x="35" y="1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7" name="Freeform 367"/>
            <p:cNvSpPr>
              <a:spLocks/>
            </p:cNvSpPr>
            <p:nvPr/>
          </p:nvSpPr>
          <p:spPr bwMode="auto">
            <a:xfrm flipH="1">
              <a:off x="1249" y="2707"/>
              <a:ext cx="4" cy="5"/>
            </a:xfrm>
            <a:custGeom>
              <a:avLst/>
              <a:gdLst>
                <a:gd name="T0" fmla="*/ 0 w 33"/>
                <a:gd name="T1" fmla="*/ 0 h 30"/>
                <a:gd name="T2" fmla="*/ 0 w 33"/>
                <a:gd name="T3" fmla="*/ 0 h 30"/>
                <a:gd name="T4" fmla="*/ 0 w 33"/>
                <a:gd name="T5" fmla="*/ 0 h 30"/>
                <a:gd name="T6" fmla="*/ 0 w 33"/>
                <a:gd name="T7" fmla="*/ 0 h 30"/>
                <a:gd name="T8" fmla="*/ 0 w 33"/>
                <a:gd name="T9" fmla="*/ 0 h 30"/>
                <a:gd name="T10" fmla="*/ 0 w 33"/>
                <a:gd name="T11" fmla="*/ 0 h 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30">
                  <a:moveTo>
                    <a:pt x="25" y="0"/>
                  </a:moveTo>
                  <a:lnTo>
                    <a:pt x="33" y="11"/>
                  </a:lnTo>
                  <a:lnTo>
                    <a:pt x="23" y="24"/>
                  </a:lnTo>
                  <a:lnTo>
                    <a:pt x="0" y="30"/>
                  </a:lnTo>
                  <a:lnTo>
                    <a:pt x="25" y="15"/>
                  </a:lnTo>
                  <a:lnTo>
                    <a:pt x="2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8" name="Freeform 368"/>
            <p:cNvSpPr>
              <a:spLocks/>
            </p:cNvSpPr>
            <p:nvPr/>
          </p:nvSpPr>
          <p:spPr bwMode="auto">
            <a:xfrm flipH="1">
              <a:off x="1253" y="2702"/>
              <a:ext cx="5" cy="5"/>
            </a:xfrm>
            <a:custGeom>
              <a:avLst/>
              <a:gdLst>
                <a:gd name="T0" fmla="*/ 0 w 33"/>
                <a:gd name="T1" fmla="*/ 0 h 28"/>
                <a:gd name="T2" fmla="*/ 0 w 33"/>
                <a:gd name="T3" fmla="*/ 0 h 28"/>
                <a:gd name="T4" fmla="*/ 0 w 33"/>
                <a:gd name="T5" fmla="*/ 0 h 28"/>
                <a:gd name="T6" fmla="*/ 0 w 33"/>
                <a:gd name="T7" fmla="*/ 0 h 28"/>
                <a:gd name="T8" fmla="*/ 0 w 33"/>
                <a:gd name="T9" fmla="*/ 0 h 28"/>
                <a:gd name="T10" fmla="*/ 0 w 33"/>
                <a:gd name="T11" fmla="*/ 0 h 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28">
                  <a:moveTo>
                    <a:pt x="33" y="16"/>
                  </a:moveTo>
                  <a:lnTo>
                    <a:pt x="25" y="0"/>
                  </a:lnTo>
                  <a:lnTo>
                    <a:pt x="24" y="13"/>
                  </a:lnTo>
                  <a:lnTo>
                    <a:pt x="0" y="26"/>
                  </a:lnTo>
                  <a:lnTo>
                    <a:pt x="3" y="28"/>
                  </a:lnTo>
                  <a:lnTo>
                    <a:pt x="33" y="1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29" name="Freeform 369"/>
            <p:cNvSpPr>
              <a:spLocks/>
            </p:cNvSpPr>
            <p:nvPr/>
          </p:nvSpPr>
          <p:spPr bwMode="auto">
            <a:xfrm flipH="1">
              <a:off x="1196" y="2709"/>
              <a:ext cx="5" cy="8"/>
            </a:xfrm>
            <a:custGeom>
              <a:avLst/>
              <a:gdLst>
                <a:gd name="T0" fmla="*/ 0 w 37"/>
                <a:gd name="T1" fmla="*/ 0 h 42"/>
                <a:gd name="T2" fmla="*/ 0 w 37"/>
                <a:gd name="T3" fmla="*/ 0 h 42"/>
                <a:gd name="T4" fmla="*/ 0 w 37"/>
                <a:gd name="T5" fmla="*/ 0 h 42"/>
                <a:gd name="T6" fmla="*/ 0 w 37"/>
                <a:gd name="T7" fmla="*/ 0 h 42"/>
                <a:gd name="T8" fmla="*/ 0 w 37"/>
                <a:gd name="T9" fmla="*/ 0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42">
                  <a:moveTo>
                    <a:pt x="0" y="0"/>
                  </a:moveTo>
                  <a:lnTo>
                    <a:pt x="8" y="21"/>
                  </a:lnTo>
                  <a:lnTo>
                    <a:pt x="23" y="39"/>
                  </a:lnTo>
                  <a:lnTo>
                    <a:pt x="37"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0" name="Freeform 370"/>
            <p:cNvSpPr>
              <a:spLocks/>
            </p:cNvSpPr>
            <p:nvPr/>
          </p:nvSpPr>
          <p:spPr bwMode="auto">
            <a:xfrm flipH="1">
              <a:off x="1177" y="2746"/>
              <a:ext cx="7" cy="6"/>
            </a:xfrm>
            <a:custGeom>
              <a:avLst/>
              <a:gdLst>
                <a:gd name="T0" fmla="*/ 0 w 50"/>
                <a:gd name="T1" fmla="*/ 0 h 39"/>
                <a:gd name="T2" fmla="*/ 0 w 50"/>
                <a:gd name="T3" fmla="*/ 0 h 39"/>
                <a:gd name="T4" fmla="*/ 0 w 50"/>
                <a:gd name="T5" fmla="*/ 0 h 39"/>
                <a:gd name="T6" fmla="*/ 0 w 50"/>
                <a:gd name="T7" fmla="*/ 0 h 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39">
                  <a:moveTo>
                    <a:pt x="50" y="0"/>
                  </a:moveTo>
                  <a:lnTo>
                    <a:pt x="17" y="14"/>
                  </a:lnTo>
                  <a:lnTo>
                    <a:pt x="0" y="39"/>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1" name="Freeform 371"/>
            <p:cNvSpPr>
              <a:spLocks/>
            </p:cNvSpPr>
            <p:nvPr/>
          </p:nvSpPr>
          <p:spPr bwMode="auto">
            <a:xfrm flipH="1">
              <a:off x="1143" y="2731"/>
              <a:ext cx="31" cy="52"/>
            </a:xfrm>
            <a:custGeom>
              <a:avLst/>
              <a:gdLst>
                <a:gd name="T0" fmla="*/ 0 w 219"/>
                <a:gd name="T1" fmla="*/ 0 h 267"/>
                <a:gd name="T2" fmla="*/ 0 w 219"/>
                <a:gd name="T3" fmla="*/ 0 h 267"/>
                <a:gd name="T4" fmla="*/ 0 w 219"/>
                <a:gd name="T5" fmla="*/ 0 h 267"/>
                <a:gd name="T6" fmla="*/ 0 w 219"/>
                <a:gd name="T7" fmla="*/ 0 h 267"/>
                <a:gd name="T8" fmla="*/ 0 w 219"/>
                <a:gd name="T9" fmla="*/ 0 h 267"/>
                <a:gd name="T10" fmla="*/ 0 w 219"/>
                <a:gd name="T11" fmla="*/ 0 h 267"/>
                <a:gd name="T12" fmla="*/ 0 w 219"/>
                <a:gd name="T13" fmla="*/ 0 h 267"/>
                <a:gd name="T14" fmla="*/ 0 w 219"/>
                <a:gd name="T15" fmla="*/ 0 h 267"/>
                <a:gd name="T16" fmla="*/ 0 w 219"/>
                <a:gd name="T17" fmla="*/ 0 h 267"/>
                <a:gd name="T18" fmla="*/ 0 w 219"/>
                <a:gd name="T19" fmla="*/ 0 h 2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67">
                  <a:moveTo>
                    <a:pt x="77" y="17"/>
                  </a:moveTo>
                  <a:lnTo>
                    <a:pt x="42" y="55"/>
                  </a:lnTo>
                  <a:lnTo>
                    <a:pt x="26" y="87"/>
                  </a:lnTo>
                  <a:lnTo>
                    <a:pt x="11" y="138"/>
                  </a:lnTo>
                  <a:lnTo>
                    <a:pt x="11" y="167"/>
                  </a:lnTo>
                  <a:lnTo>
                    <a:pt x="0" y="210"/>
                  </a:lnTo>
                  <a:lnTo>
                    <a:pt x="178" y="267"/>
                  </a:lnTo>
                  <a:lnTo>
                    <a:pt x="219" y="0"/>
                  </a:lnTo>
                  <a:lnTo>
                    <a:pt x="146" y="17"/>
                  </a:lnTo>
                  <a:lnTo>
                    <a:pt x="77" y="17"/>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632" name="Freeform 372"/>
            <p:cNvSpPr>
              <a:spLocks/>
            </p:cNvSpPr>
            <p:nvPr/>
          </p:nvSpPr>
          <p:spPr bwMode="auto">
            <a:xfrm flipH="1">
              <a:off x="1147" y="2736"/>
              <a:ext cx="23" cy="42"/>
            </a:xfrm>
            <a:custGeom>
              <a:avLst/>
              <a:gdLst>
                <a:gd name="T0" fmla="*/ 0 w 175"/>
                <a:gd name="T1" fmla="*/ 0 h 220"/>
                <a:gd name="T2" fmla="*/ 0 w 175"/>
                <a:gd name="T3" fmla="*/ 0 h 220"/>
                <a:gd name="T4" fmla="*/ 0 w 175"/>
                <a:gd name="T5" fmla="*/ 0 h 220"/>
                <a:gd name="T6" fmla="*/ 0 w 175"/>
                <a:gd name="T7" fmla="*/ 0 h 220"/>
                <a:gd name="T8" fmla="*/ 0 w 175"/>
                <a:gd name="T9" fmla="*/ 0 h 220"/>
                <a:gd name="T10" fmla="*/ 0 w 175"/>
                <a:gd name="T11" fmla="*/ 0 h 220"/>
                <a:gd name="T12" fmla="*/ 0 w 175"/>
                <a:gd name="T13" fmla="*/ 0 h 220"/>
                <a:gd name="T14" fmla="*/ 0 w 175"/>
                <a:gd name="T15" fmla="*/ 0 h 220"/>
                <a:gd name="T16" fmla="*/ 0 w 175"/>
                <a:gd name="T17" fmla="*/ 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20">
                  <a:moveTo>
                    <a:pt x="69" y="7"/>
                  </a:moveTo>
                  <a:lnTo>
                    <a:pt x="38" y="42"/>
                  </a:lnTo>
                  <a:lnTo>
                    <a:pt x="12" y="92"/>
                  </a:lnTo>
                  <a:lnTo>
                    <a:pt x="6" y="128"/>
                  </a:lnTo>
                  <a:lnTo>
                    <a:pt x="0" y="171"/>
                  </a:lnTo>
                  <a:lnTo>
                    <a:pt x="140" y="220"/>
                  </a:lnTo>
                  <a:lnTo>
                    <a:pt x="175" y="0"/>
                  </a:lnTo>
                  <a:lnTo>
                    <a:pt x="122" y="10"/>
                  </a:lnTo>
                  <a:lnTo>
                    <a:pt x="69" y="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3" name="Freeform 373"/>
            <p:cNvSpPr>
              <a:spLocks/>
            </p:cNvSpPr>
            <p:nvPr/>
          </p:nvSpPr>
          <p:spPr bwMode="auto">
            <a:xfrm flipH="1">
              <a:off x="1046" y="2448"/>
              <a:ext cx="101" cy="156"/>
            </a:xfrm>
            <a:custGeom>
              <a:avLst/>
              <a:gdLst>
                <a:gd name="T0" fmla="*/ 0 w 741"/>
                <a:gd name="T1" fmla="*/ 0 h 807"/>
                <a:gd name="T2" fmla="*/ 0 w 741"/>
                <a:gd name="T3" fmla="*/ 0 h 807"/>
                <a:gd name="T4" fmla="*/ 0 w 741"/>
                <a:gd name="T5" fmla="*/ 0 h 807"/>
                <a:gd name="T6" fmla="*/ 0 w 741"/>
                <a:gd name="T7" fmla="*/ 0 h 807"/>
                <a:gd name="T8" fmla="*/ 0 w 741"/>
                <a:gd name="T9" fmla="*/ 0 h 807"/>
                <a:gd name="T10" fmla="*/ 0 w 741"/>
                <a:gd name="T11" fmla="*/ 0 h 807"/>
                <a:gd name="T12" fmla="*/ 0 w 741"/>
                <a:gd name="T13" fmla="*/ 0 h 807"/>
                <a:gd name="T14" fmla="*/ 0 w 741"/>
                <a:gd name="T15" fmla="*/ 0 h 807"/>
                <a:gd name="T16" fmla="*/ 0 w 741"/>
                <a:gd name="T17" fmla="*/ 0 h 807"/>
                <a:gd name="T18" fmla="*/ 0 w 741"/>
                <a:gd name="T19" fmla="*/ 0 h 807"/>
                <a:gd name="T20" fmla="*/ 0 w 741"/>
                <a:gd name="T21" fmla="*/ 0 h 807"/>
                <a:gd name="T22" fmla="*/ 0 w 741"/>
                <a:gd name="T23" fmla="*/ 0 h 807"/>
                <a:gd name="T24" fmla="*/ 0 w 741"/>
                <a:gd name="T25" fmla="*/ 0 h 807"/>
                <a:gd name="T26" fmla="*/ 0 w 741"/>
                <a:gd name="T27" fmla="*/ 0 h 807"/>
                <a:gd name="T28" fmla="*/ 0 w 741"/>
                <a:gd name="T29" fmla="*/ 0 h 807"/>
                <a:gd name="T30" fmla="*/ 0 w 741"/>
                <a:gd name="T31" fmla="*/ 0 h 807"/>
                <a:gd name="T32" fmla="*/ 0 w 741"/>
                <a:gd name="T33" fmla="*/ 0 h 807"/>
                <a:gd name="T34" fmla="*/ 0 w 741"/>
                <a:gd name="T35" fmla="*/ 0 h 807"/>
                <a:gd name="T36" fmla="*/ 0 w 741"/>
                <a:gd name="T37" fmla="*/ 0 h 807"/>
                <a:gd name="T38" fmla="*/ 0 w 741"/>
                <a:gd name="T39" fmla="*/ 0 h 807"/>
                <a:gd name="T40" fmla="*/ 0 w 741"/>
                <a:gd name="T41" fmla="*/ 0 h 807"/>
                <a:gd name="T42" fmla="*/ 0 w 741"/>
                <a:gd name="T43" fmla="*/ 0 h 807"/>
                <a:gd name="T44" fmla="*/ 0 w 741"/>
                <a:gd name="T45" fmla="*/ 0 h 807"/>
                <a:gd name="T46" fmla="*/ 0 w 741"/>
                <a:gd name="T47" fmla="*/ 0 h 807"/>
                <a:gd name="T48" fmla="*/ 0 w 741"/>
                <a:gd name="T49" fmla="*/ 0 h 807"/>
                <a:gd name="T50" fmla="*/ 0 w 741"/>
                <a:gd name="T51" fmla="*/ 0 h 807"/>
                <a:gd name="T52" fmla="*/ 0 w 741"/>
                <a:gd name="T53" fmla="*/ 0 h 807"/>
                <a:gd name="T54" fmla="*/ 0 w 741"/>
                <a:gd name="T55" fmla="*/ 0 h 807"/>
                <a:gd name="T56" fmla="*/ 0 w 741"/>
                <a:gd name="T57" fmla="*/ 0 h 807"/>
                <a:gd name="T58" fmla="*/ 0 w 741"/>
                <a:gd name="T59" fmla="*/ 0 h 807"/>
                <a:gd name="T60" fmla="*/ 0 w 741"/>
                <a:gd name="T61" fmla="*/ 0 h 807"/>
                <a:gd name="T62" fmla="*/ 0 w 741"/>
                <a:gd name="T63" fmla="*/ 0 h 807"/>
                <a:gd name="T64" fmla="*/ 0 w 741"/>
                <a:gd name="T65" fmla="*/ 0 h 807"/>
                <a:gd name="T66" fmla="*/ 0 w 741"/>
                <a:gd name="T67" fmla="*/ 0 h 807"/>
                <a:gd name="T68" fmla="*/ 0 w 741"/>
                <a:gd name="T69" fmla="*/ 0 h 807"/>
                <a:gd name="T70" fmla="*/ 0 w 741"/>
                <a:gd name="T71" fmla="*/ 0 h 8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41" h="807">
                  <a:moveTo>
                    <a:pt x="243" y="26"/>
                  </a:moveTo>
                  <a:lnTo>
                    <a:pt x="179" y="74"/>
                  </a:lnTo>
                  <a:lnTo>
                    <a:pt x="144" y="131"/>
                  </a:lnTo>
                  <a:lnTo>
                    <a:pt x="112" y="192"/>
                  </a:lnTo>
                  <a:lnTo>
                    <a:pt x="92" y="224"/>
                  </a:lnTo>
                  <a:lnTo>
                    <a:pt x="92" y="259"/>
                  </a:lnTo>
                  <a:lnTo>
                    <a:pt x="109" y="300"/>
                  </a:lnTo>
                  <a:lnTo>
                    <a:pt x="77" y="332"/>
                  </a:lnTo>
                  <a:lnTo>
                    <a:pt x="26" y="420"/>
                  </a:lnTo>
                  <a:lnTo>
                    <a:pt x="0" y="467"/>
                  </a:lnTo>
                  <a:lnTo>
                    <a:pt x="0" y="482"/>
                  </a:lnTo>
                  <a:lnTo>
                    <a:pt x="6" y="498"/>
                  </a:lnTo>
                  <a:lnTo>
                    <a:pt x="28" y="503"/>
                  </a:lnTo>
                  <a:lnTo>
                    <a:pt x="60" y="504"/>
                  </a:lnTo>
                  <a:lnTo>
                    <a:pt x="79" y="511"/>
                  </a:lnTo>
                  <a:lnTo>
                    <a:pt x="77" y="546"/>
                  </a:lnTo>
                  <a:lnTo>
                    <a:pt x="67" y="587"/>
                  </a:lnTo>
                  <a:lnTo>
                    <a:pt x="86" y="609"/>
                  </a:lnTo>
                  <a:lnTo>
                    <a:pt x="80" y="639"/>
                  </a:lnTo>
                  <a:lnTo>
                    <a:pt x="95" y="659"/>
                  </a:lnTo>
                  <a:lnTo>
                    <a:pt x="110" y="713"/>
                  </a:lnTo>
                  <a:lnTo>
                    <a:pt x="133" y="728"/>
                  </a:lnTo>
                  <a:lnTo>
                    <a:pt x="167" y="728"/>
                  </a:lnTo>
                  <a:lnTo>
                    <a:pt x="217" y="721"/>
                  </a:lnTo>
                  <a:lnTo>
                    <a:pt x="269" y="713"/>
                  </a:lnTo>
                  <a:lnTo>
                    <a:pt x="263" y="807"/>
                  </a:lnTo>
                  <a:lnTo>
                    <a:pt x="658" y="681"/>
                  </a:lnTo>
                  <a:lnTo>
                    <a:pt x="626" y="606"/>
                  </a:lnTo>
                  <a:lnTo>
                    <a:pt x="634" y="549"/>
                  </a:lnTo>
                  <a:lnTo>
                    <a:pt x="741" y="441"/>
                  </a:lnTo>
                  <a:lnTo>
                    <a:pt x="741" y="155"/>
                  </a:lnTo>
                  <a:lnTo>
                    <a:pt x="668" y="77"/>
                  </a:lnTo>
                  <a:lnTo>
                    <a:pt x="577" y="35"/>
                  </a:lnTo>
                  <a:lnTo>
                    <a:pt x="481" y="0"/>
                  </a:lnTo>
                  <a:lnTo>
                    <a:pt x="355" y="18"/>
                  </a:lnTo>
                  <a:lnTo>
                    <a:pt x="243" y="26"/>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634" name="Freeform 374"/>
            <p:cNvSpPr>
              <a:spLocks/>
            </p:cNvSpPr>
            <p:nvPr/>
          </p:nvSpPr>
          <p:spPr bwMode="auto">
            <a:xfrm flipH="1">
              <a:off x="1136" y="2542"/>
              <a:ext cx="6" cy="2"/>
            </a:xfrm>
            <a:custGeom>
              <a:avLst/>
              <a:gdLst>
                <a:gd name="T0" fmla="*/ 0 w 42"/>
                <a:gd name="T1" fmla="*/ 0 h 9"/>
                <a:gd name="T2" fmla="*/ 0 w 42"/>
                <a:gd name="T3" fmla="*/ 0 h 9"/>
                <a:gd name="T4" fmla="*/ 0 w 42"/>
                <a:gd name="T5" fmla="*/ 0 h 9"/>
                <a:gd name="T6" fmla="*/ 0 w 42"/>
                <a:gd name="T7" fmla="*/ 0 h 9"/>
                <a:gd name="T8" fmla="*/ 0 w 42"/>
                <a:gd name="T9" fmla="*/ 0 h 9"/>
                <a:gd name="T10" fmla="*/ 0 w 42"/>
                <a:gd name="T11" fmla="*/ 0 h 9"/>
                <a:gd name="T12" fmla="*/ 0 w 42"/>
                <a:gd name="T13" fmla="*/ 0 h 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 h="9">
                  <a:moveTo>
                    <a:pt x="0" y="3"/>
                  </a:moveTo>
                  <a:lnTo>
                    <a:pt x="9" y="8"/>
                  </a:lnTo>
                  <a:lnTo>
                    <a:pt x="30" y="6"/>
                  </a:lnTo>
                  <a:lnTo>
                    <a:pt x="39" y="9"/>
                  </a:lnTo>
                  <a:lnTo>
                    <a:pt x="42" y="2"/>
                  </a:lnTo>
                  <a:lnTo>
                    <a:pt x="29" y="0"/>
                  </a:lnTo>
                  <a:lnTo>
                    <a:pt x="0" y="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5" name="Freeform 375"/>
            <p:cNvSpPr>
              <a:spLocks/>
            </p:cNvSpPr>
            <p:nvPr/>
          </p:nvSpPr>
          <p:spPr bwMode="auto">
            <a:xfrm flipH="1">
              <a:off x="1134" y="2537"/>
              <a:ext cx="2" cy="5"/>
            </a:xfrm>
            <a:custGeom>
              <a:avLst/>
              <a:gdLst>
                <a:gd name="T0" fmla="*/ 0 w 17"/>
                <a:gd name="T1" fmla="*/ 0 h 31"/>
                <a:gd name="T2" fmla="*/ 0 w 17"/>
                <a:gd name="T3" fmla="*/ 0 h 31"/>
                <a:gd name="T4" fmla="*/ 0 w 17"/>
                <a:gd name="T5" fmla="*/ 0 h 31"/>
                <a:gd name="T6" fmla="*/ 0 w 17"/>
                <a:gd name="T7" fmla="*/ 0 h 31"/>
                <a:gd name="T8" fmla="*/ 0 w 17"/>
                <a:gd name="T9" fmla="*/ 0 h 31"/>
                <a:gd name="T10" fmla="*/ 0 w 17"/>
                <a:gd name="T11" fmla="*/ 0 h 31"/>
                <a:gd name="T12" fmla="*/ 0 w 17"/>
                <a:gd name="T13" fmla="*/ 0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31">
                  <a:moveTo>
                    <a:pt x="0" y="0"/>
                  </a:moveTo>
                  <a:lnTo>
                    <a:pt x="11" y="7"/>
                  </a:lnTo>
                  <a:lnTo>
                    <a:pt x="11" y="16"/>
                  </a:lnTo>
                  <a:lnTo>
                    <a:pt x="13" y="31"/>
                  </a:lnTo>
                  <a:lnTo>
                    <a:pt x="17" y="12"/>
                  </a:lnTo>
                  <a:lnTo>
                    <a:pt x="17" y="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6" name="Freeform 376"/>
            <p:cNvSpPr>
              <a:spLocks/>
            </p:cNvSpPr>
            <p:nvPr/>
          </p:nvSpPr>
          <p:spPr bwMode="auto">
            <a:xfrm flipH="1">
              <a:off x="1130" y="2517"/>
              <a:ext cx="2" cy="12"/>
            </a:xfrm>
            <a:custGeom>
              <a:avLst/>
              <a:gdLst>
                <a:gd name="T0" fmla="*/ 0 w 19"/>
                <a:gd name="T1" fmla="*/ 0 h 60"/>
                <a:gd name="T2" fmla="*/ 0 w 19"/>
                <a:gd name="T3" fmla="*/ 0 h 60"/>
                <a:gd name="T4" fmla="*/ 0 w 19"/>
                <a:gd name="T5" fmla="*/ 0 h 60"/>
                <a:gd name="T6" fmla="*/ 0 w 19"/>
                <a:gd name="T7" fmla="*/ 0 h 60"/>
                <a:gd name="T8" fmla="*/ 0 w 19"/>
                <a:gd name="T9" fmla="*/ 0 h 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60">
                  <a:moveTo>
                    <a:pt x="19" y="0"/>
                  </a:moveTo>
                  <a:lnTo>
                    <a:pt x="5" y="34"/>
                  </a:lnTo>
                  <a:lnTo>
                    <a:pt x="0" y="60"/>
                  </a:lnTo>
                  <a:lnTo>
                    <a:pt x="9" y="43"/>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7" name="Freeform 377"/>
            <p:cNvSpPr>
              <a:spLocks/>
            </p:cNvSpPr>
            <p:nvPr/>
          </p:nvSpPr>
          <p:spPr bwMode="auto">
            <a:xfrm flipH="1">
              <a:off x="1120" y="2505"/>
              <a:ext cx="11" cy="10"/>
            </a:xfrm>
            <a:custGeom>
              <a:avLst/>
              <a:gdLst>
                <a:gd name="T0" fmla="*/ 0 w 80"/>
                <a:gd name="T1" fmla="*/ 0 h 51"/>
                <a:gd name="T2" fmla="*/ 0 w 80"/>
                <a:gd name="T3" fmla="*/ 0 h 51"/>
                <a:gd name="T4" fmla="*/ 0 w 80"/>
                <a:gd name="T5" fmla="*/ 0 h 51"/>
                <a:gd name="T6" fmla="*/ 0 w 80"/>
                <a:gd name="T7" fmla="*/ 0 h 51"/>
                <a:gd name="T8" fmla="*/ 0 w 80"/>
                <a:gd name="T9" fmla="*/ 0 h 51"/>
                <a:gd name="T10" fmla="*/ 0 w 80"/>
                <a:gd name="T11" fmla="*/ 0 h 51"/>
                <a:gd name="T12" fmla="*/ 0 w 80"/>
                <a:gd name="T13" fmla="*/ 0 h 51"/>
                <a:gd name="T14" fmla="*/ 0 w 80"/>
                <a:gd name="T15" fmla="*/ 0 h 51"/>
                <a:gd name="T16" fmla="*/ 0 w 80"/>
                <a:gd name="T17" fmla="*/ 0 h 51"/>
                <a:gd name="T18" fmla="*/ 0 w 80"/>
                <a:gd name="T19" fmla="*/ 0 h 51"/>
                <a:gd name="T20" fmla="*/ 0 w 80"/>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 h="51">
                  <a:moveTo>
                    <a:pt x="0" y="0"/>
                  </a:moveTo>
                  <a:lnTo>
                    <a:pt x="17" y="28"/>
                  </a:lnTo>
                  <a:lnTo>
                    <a:pt x="13" y="35"/>
                  </a:lnTo>
                  <a:lnTo>
                    <a:pt x="13" y="40"/>
                  </a:lnTo>
                  <a:lnTo>
                    <a:pt x="9" y="51"/>
                  </a:lnTo>
                  <a:lnTo>
                    <a:pt x="20" y="34"/>
                  </a:lnTo>
                  <a:lnTo>
                    <a:pt x="35" y="34"/>
                  </a:lnTo>
                  <a:lnTo>
                    <a:pt x="52" y="28"/>
                  </a:lnTo>
                  <a:lnTo>
                    <a:pt x="80" y="26"/>
                  </a:lnTo>
                  <a:lnTo>
                    <a:pt x="52" y="9"/>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8" name="Freeform 378"/>
            <p:cNvSpPr>
              <a:spLocks/>
            </p:cNvSpPr>
            <p:nvPr/>
          </p:nvSpPr>
          <p:spPr bwMode="auto">
            <a:xfrm flipH="1">
              <a:off x="1115" y="2492"/>
              <a:ext cx="19" cy="8"/>
            </a:xfrm>
            <a:custGeom>
              <a:avLst/>
              <a:gdLst>
                <a:gd name="T0" fmla="*/ 0 w 135"/>
                <a:gd name="T1" fmla="*/ 0 h 48"/>
                <a:gd name="T2" fmla="*/ 0 w 135"/>
                <a:gd name="T3" fmla="*/ 0 h 48"/>
                <a:gd name="T4" fmla="*/ 0 w 135"/>
                <a:gd name="T5" fmla="*/ 0 h 48"/>
                <a:gd name="T6" fmla="*/ 0 w 135"/>
                <a:gd name="T7" fmla="*/ 0 h 48"/>
                <a:gd name="T8" fmla="*/ 0 w 135"/>
                <a:gd name="T9" fmla="*/ 0 h 48"/>
                <a:gd name="T10" fmla="*/ 0 w 135"/>
                <a:gd name="T11" fmla="*/ 0 h 48"/>
                <a:gd name="T12" fmla="*/ 0 w 135"/>
                <a:gd name="T13" fmla="*/ 0 h 48"/>
                <a:gd name="T14" fmla="*/ 0 w 135"/>
                <a:gd name="T15" fmla="*/ 0 h 48"/>
                <a:gd name="T16" fmla="*/ 0 w 135"/>
                <a:gd name="T17" fmla="*/ 0 h 48"/>
                <a:gd name="T18" fmla="*/ 0 w 135"/>
                <a:gd name="T19" fmla="*/ 0 h 48"/>
                <a:gd name="T20" fmla="*/ 0 w 135"/>
                <a:gd name="T21" fmla="*/ 0 h 48"/>
                <a:gd name="T22" fmla="*/ 0 w 135"/>
                <a:gd name="T23" fmla="*/ 0 h 48"/>
                <a:gd name="T24" fmla="*/ 0 w 135"/>
                <a:gd name="T25" fmla="*/ 0 h 48"/>
                <a:gd name="T26" fmla="*/ 0 w 135"/>
                <a:gd name="T27" fmla="*/ 0 h 48"/>
                <a:gd name="T28" fmla="*/ 0 w 135"/>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5" h="48">
                  <a:moveTo>
                    <a:pt x="0" y="25"/>
                  </a:moveTo>
                  <a:lnTo>
                    <a:pt x="6" y="42"/>
                  </a:lnTo>
                  <a:lnTo>
                    <a:pt x="20" y="48"/>
                  </a:lnTo>
                  <a:lnTo>
                    <a:pt x="42" y="34"/>
                  </a:lnTo>
                  <a:lnTo>
                    <a:pt x="69" y="25"/>
                  </a:lnTo>
                  <a:lnTo>
                    <a:pt x="113" y="24"/>
                  </a:lnTo>
                  <a:lnTo>
                    <a:pt x="135" y="27"/>
                  </a:lnTo>
                  <a:lnTo>
                    <a:pt x="101" y="12"/>
                  </a:lnTo>
                  <a:lnTo>
                    <a:pt x="77" y="6"/>
                  </a:lnTo>
                  <a:lnTo>
                    <a:pt x="80" y="0"/>
                  </a:lnTo>
                  <a:lnTo>
                    <a:pt x="57" y="9"/>
                  </a:lnTo>
                  <a:lnTo>
                    <a:pt x="59" y="3"/>
                  </a:lnTo>
                  <a:lnTo>
                    <a:pt x="40" y="12"/>
                  </a:lnTo>
                  <a:lnTo>
                    <a:pt x="23" y="12"/>
                  </a:lnTo>
                  <a:lnTo>
                    <a:pt x="0" y="2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39" name="Freeform 379"/>
            <p:cNvSpPr>
              <a:spLocks/>
            </p:cNvSpPr>
            <p:nvPr/>
          </p:nvSpPr>
          <p:spPr bwMode="auto">
            <a:xfrm flipH="1">
              <a:off x="1081" y="2503"/>
              <a:ext cx="11" cy="31"/>
            </a:xfrm>
            <a:custGeom>
              <a:avLst/>
              <a:gdLst>
                <a:gd name="T0" fmla="*/ 0 w 78"/>
                <a:gd name="T1" fmla="*/ 0 h 159"/>
                <a:gd name="T2" fmla="*/ 0 w 78"/>
                <a:gd name="T3" fmla="*/ 0 h 159"/>
                <a:gd name="T4" fmla="*/ 0 w 78"/>
                <a:gd name="T5" fmla="*/ 0 h 159"/>
                <a:gd name="T6" fmla="*/ 0 w 78"/>
                <a:gd name="T7" fmla="*/ 0 h 159"/>
                <a:gd name="T8" fmla="*/ 0 w 78"/>
                <a:gd name="T9" fmla="*/ 0 h 159"/>
                <a:gd name="T10" fmla="*/ 0 w 78"/>
                <a:gd name="T11" fmla="*/ 0 h 159"/>
                <a:gd name="T12" fmla="*/ 0 w 78"/>
                <a:gd name="T13" fmla="*/ 0 h 159"/>
                <a:gd name="T14" fmla="*/ 0 w 78"/>
                <a:gd name="T15" fmla="*/ 0 h 159"/>
                <a:gd name="T16" fmla="*/ 0 w 78"/>
                <a:gd name="T17" fmla="*/ 0 h 159"/>
                <a:gd name="T18" fmla="*/ 0 w 78"/>
                <a:gd name="T19" fmla="*/ 0 h 159"/>
                <a:gd name="T20" fmla="*/ 0 w 78"/>
                <a:gd name="T21" fmla="*/ 0 h 159"/>
                <a:gd name="T22" fmla="*/ 0 w 78"/>
                <a:gd name="T23" fmla="*/ 0 h 159"/>
                <a:gd name="T24" fmla="*/ 0 w 78"/>
                <a:gd name="T25" fmla="*/ 0 h 159"/>
                <a:gd name="T26" fmla="*/ 0 w 78"/>
                <a:gd name="T27" fmla="*/ 0 h 159"/>
                <a:gd name="T28" fmla="*/ 0 w 78"/>
                <a:gd name="T29" fmla="*/ 0 h 159"/>
                <a:gd name="T30" fmla="*/ 0 w 78"/>
                <a:gd name="T31" fmla="*/ 0 h 159"/>
                <a:gd name="T32" fmla="*/ 0 w 78"/>
                <a:gd name="T33" fmla="*/ 0 h 159"/>
                <a:gd name="T34" fmla="*/ 0 w 78"/>
                <a:gd name="T35" fmla="*/ 0 h 159"/>
                <a:gd name="T36" fmla="*/ 0 w 78"/>
                <a:gd name="T37" fmla="*/ 0 h 159"/>
                <a:gd name="T38" fmla="*/ 0 w 78"/>
                <a:gd name="T39" fmla="*/ 0 h 159"/>
                <a:gd name="T40" fmla="*/ 0 w 78"/>
                <a:gd name="T41" fmla="*/ 0 h 159"/>
                <a:gd name="T42" fmla="*/ 0 w 78"/>
                <a:gd name="T43" fmla="*/ 0 h 159"/>
                <a:gd name="T44" fmla="*/ 0 w 78"/>
                <a:gd name="T45" fmla="*/ 0 h 15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78" h="159">
                  <a:moveTo>
                    <a:pt x="0" y="30"/>
                  </a:moveTo>
                  <a:lnTo>
                    <a:pt x="24" y="10"/>
                  </a:lnTo>
                  <a:lnTo>
                    <a:pt x="52" y="15"/>
                  </a:lnTo>
                  <a:lnTo>
                    <a:pt x="68" y="41"/>
                  </a:lnTo>
                  <a:lnTo>
                    <a:pt x="71" y="77"/>
                  </a:lnTo>
                  <a:lnTo>
                    <a:pt x="68" y="105"/>
                  </a:lnTo>
                  <a:lnTo>
                    <a:pt x="59" y="128"/>
                  </a:lnTo>
                  <a:lnTo>
                    <a:pt x="44" y="93"/>
                  </a:lnTo>
                  <a:lnTo>
                    <a:pt x="31" y="73"/>
                  </a:lnTo>
                  <a:lnTo>
                    <a:pt x="5" y="60"/>
                  </a:lnTo>
                  <a:lnTo>
                    <a:pt x="25" y="89"/>
                  </a:lnTo>
                  <a:lnTo>
                    <a:pt x="47" y="111"/>
                  </a:lnTo>
                  <a:lnTo>
                    <a:pt x="49" y="134"/>
                  </a:lnTo>
                  <a:lnTo>
                    <a:pt x="40" y="156"/>
                  </a:lnTo>
                  <a:lnTo>
                    <a:pt x="28" y="159"/>
                  </a:lnTo>
                  <a:lnTo>
                    <a:pt x="61" y="151"/>
                  </a:lnTo>
                  <a:lnTo>
                    <a:pt x="77" y="117"/>
                  </a:lnTo>
                  <a:lnTo>
                    <a:pt x="78" y="73"/>
                  </a:lnTo>
                  <a:lnTo>
                    <a:pt x="77" y="33"/>
                  </a:lnTo>
                  <a:lnTo>
                    <a:pt x="59" y="7"/>
                  </a:lnTo>
                  <a:lnTo>
                    <a:pt x="34" y="0"/>
                  </a:lnTo>
                  <a:lnTo>
                    <a:pt x="10" y="4"/>
                  </a:lnTo>
                  <a:lnTo>
                    <a:pt x="0" y="3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0" name="Freeform 380"/>
            <p:cNvSpPr>
              <a:spLocks/>
            </p:cNvSpPr>
            <p:nvPr/>
          </p:nvSpPr>
          <p:spPr bwMode="auto">
            <a:xfrm flipH="1">
              <a:off x="1077" y="2498"/>
              <a:ext cx="18" cy="42"/>
            </a:xfrm>
            <a:custGeom>
              <a:avLst/>
              <a:gdLst>
                <a:gd name="T0" fmla="*/ 0 w 129"/>
                <a:gd name="T1" fmla="*/ 0 h 215"/>
                <a:gd name="T2" fmla="*/ 0 w 129"/>
                <a:gd name="T3" fmla="*/ 0 h 215"/>
                <a:gd name="T4" fmla="*/ 0 w 129"/>
                <a:gd name="T5" fmla="*/ 0 h 215"/>
                <a:gd name="T6" fmla="*/ 0 w 129"/>
                <a:gd name="T7" fmla="*/ 0 h 215"/>
                <a:gd name="T8" fmla="*/ 0 w 129"/>
                <a:gd name="T9" fmla="*/ 0 h 215"/>
                <a:gd name="T10" fmla="*/ 0 w 129"/>
                <a:gd name="T11" fmla="*/ 0 h 215"/>
                <a:gd name="T12" fmla="*/ 0 w 129"/>
                <a:gd name="T13" fmla="*/ 0 h 215"/>
                <a:gd name="T14" fmla="*/ 0 w 129"/>
                <a:gd name="T15" fmla="*/ 0 h 215"/>
                <a:gd name="T16" fmla="*/ 0 w 129"/>
                <a:gd name="T17" fmla="*/ 0 h 215"/>
                <a:gd name="T18" fmla="*/ 0 w 129"/>
                <a:gd name="T19" fmla="*/ 0 h 215"/>
                <a:gd name="T20" fmla="*/ 0 w 129"/>
                <a:gd name="T21" fmla="*/ 0 h 215"/>
                <a:gd name="T22" fmla="*/ 0 w 129"/>
                <a:gd name="T23" fmla="*/ 0 h 215"/>
                <a:gd name="T24" fmla="*/ 0 w 129"/>
                <a:gd name="T25" fmla="*/ 0 h 215"/>
                <a:gd name="T26" fmla="*/ 0 w 129"/>
                <a:gd name="T27" fmla="*/ 0 h 215"/>
                <a:gd name="T28" fmla="*/ 0 w 129"/>
                <a:gd name="T29" fmla="*/ 0 h 215"/>
                <a:gd name="T30" fmla="*/ 0 w 129"/>
                <a:gd name="T31" fmla="*/ 0 h 215"/>
                <a:gd name="T32" fmla="*/ 0 w 129"/>
                <a:gd name="T33" fmla="*/ 0 h 215"/>
                <a:gd name="T34" fmla="*/ 0 w 129"/>
                <a:gd name="T35" fmla="*/ 0 h 215"/>
                <a:gd name="T36" fmla="*/ 0 w 129"/>
                <a:gd name="T37" fmla="*/ 0 h 215"/>
                <a:gd name="T38" fmla="*/ 0 w 129"/>
                <a:gd name="T39" fmla="*/ 0 h 215"/>
                <a:gd name="T40" fmla="*/ 0 w 129"/>
                <a:gd name="T41" fmla="*/ 0 h 215"/>
                <a:gd name="T42" fmla="*/ 0 w 129"/>
                <a:gd name="T43" fmla="*/ 0 h 215"/>
                <a:gd name="T44" fmla="*/ 0 w 129"/>
                <a:gd name="T45" fmla="*/ 0 h 215"/>
                <a:gd name="T46" fmla="*/ 0 w 129"/>
                <a:gd name="T47" fmla="*/ 0 h 215"/>
                <a:gd name="T48" fmla="*/ 0 w 129"/>
                <a:gd name="T49" fmla="*/ 0 h 215"/>
                <a:gd name="T50" fmla="*/ 0 w 129"/>
                <a:gd name="T51" fmla="*/ 0 h 215"/>
                <a:gd name="T52" fmla="*/ 0 w 129"/>
                <a:gd name="T53" fmla="*/ 0 h 2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215">
                  <a:moveTo>
                    <a:pt x="0" y="53"/>
                  </a:moveTo>
                  <a:lnTo>
                    <a:pt x="20" y="19"/>
                  </a:lnTo>
                  <a:lnTo>
                    <a:pt x="54" y="9"/>
                  </a:lnTo>
                  <a:lnTo>
                    <a:pt x="95" y="16"/>
                  </a:lnTo>
                  <a:lnTo>
                    <a:pt x="109" y="35"/>
                  </a:lnTo>
                  <a:lnTo>
                    <a:pt x="120" y="67"/>
                  </a:lnTo>
                  <a:lnTo>
                    <a:pt x="120" y="93"/>
                  </a:lnTo>
                  <a:lnTo>
                    <a:pt x="114" y="111"/>
                  </a:lnTo>
                  <a:lnTo>
                    <a:pt x="114" y="137"/>
                  </a:lnTo>
                  <a:lnTo>
                    <a:pt x="107" y="168"/>
                  </a:lnTo>
                  <a:lnTo>
                    <a:pt x="80" y="198"/>
                  </a:lnTo>
                  <a:lnTo>
                    <a:pt x="63" y="198"/>
                  </a:lnTo>
                  <a:lnTo>
                    <a:pt x="40" y="198"/>
                  </a:lnTo>
                  <a:lnTo>
                    <a:pt x="40" y="203"/>
                  </a:lnTo>
                  <a:lnTo>
                    <a:pt x="57" y="215"/>
                  </a:lnTo>
                  <a:lnTo>
                    <a:pt x="76" y="211"/>
                  </a:lnTo>
                  <a:lnTo>
                    <a:pt x="101" y="201"/>
                  </a:lnTo>
                  <a:lnTo>
                    <a:pt x="121" y="171"/>
                  </a:lnTo>
                  <a:lnTo>
                    <a:pt x="123" y="121"/>
                  </a:lnTo>
                  <a:lnTo>
                    <a:pt x="129" y="87"/>
                  </a:lnTo>
                  <a:lnTo>
                    <a:pt x="129" y="58"/>
                  </a:lnTo>
                  <a:lnTo>
                    <a:pt x="117" y="32"/>
                  </a:lnTo>
                  <a:lnTo>
                    <a:pt x="103" y="9"/>
                  </a:lnTo>
                  <a:lnTo>
                    <a:pt x="69" y="0"/>
                  </a:lnTo>
                  <a:lnTo>
                    <a:pt x="20" y="6"/>
                  </a:lnTo>
                  <a:lnTo>
                    <a:pt x="3" y="19"/>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1" name="Freeform 381"/>
            <p:cNvSpPr>
              <a:spLocks/>
            </p:cNvSpPr>
            <p:nvPr/>
          </p:nvSpPr>
          <p:spPr bwMode="auto">
            <a:xfrm flipH="1">
              <a:off x="1088" y="2544"/>
              <a:ext cx="16" cy="33"/>
            </a:xfrm>
            <a:custGeom>
              <a:avLst/>
              <a:gdLst>
                <a:gd name="T0" fmla="*/ 0 w 118"/>
                <a:gd name="T1" fmla="*/ 0 h 179"/>
                <a:gd name="T2" fmla="*/ 0 w 118"/>
                <a:gd name="T3" fmla="*/ 0 h 179"/>
                <a:gd name="T4" fmla="*/ 0 w 118"/>
                <a:gd name="T5" fmla="*/ 0 h 179"/>
                <a:gd name="T6" fmla="*/ 0 w 118"/>
                <a:gd name="T7" fmla="*/ 0 h 179"/>
                <a:gd name="T8" fmla="*/ 0 w 118"/>
                <a:gd name="T9" fmla="*/ 0 h 179"/>
                <a:gd name="T10" fmla="*/ 0 w 118"/>
                <a:gd name="T11" fmla="*/ 0 h 179"/>
                <a:gd name="T12" fmla="*/ 0 w 118"/>
                <a:gd name="T13" fmla="*/ 0 h 179"/>
                <a:gd name="T14" fmla="*/ 0 w 118"/>
                <a:gd name="T15" fmla="*/ 0 h 179"/>
                <a:gd name="T16" fmla="*/ 0 w 118"/>
                <a:gd name="T17" fmla="*/ 0 h 179"/>
                <a:gd name="T18" fmla="*/ 0 w 11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 h="179">
                  <a:moveTo>
                    <a:pt x="118" y="0"/>
                  </a:moveTo>
                  <a:lnTo>
                    <a:pt x="102" y="39"/>
                  </a:lnTo>
                  <a:lnTo>
                    <a:pt x="77" y="80"/>
                  </a:lnTo>
                  <a:lnTo>
                    <a:pt x="52" y="116"/>
                  </a:lnTo>
                  <a:lnTo>
                    <a:pt x="17" y="164"/>
                  </a:lnTo>
                  <a:lnTo>
                    <a:pt x="0" y="179"/>
                  </a:lnTo>
                  <a:lnTo>
                    <a:pt x="39" y="159"/>
                  </a:lnTo>
                  <a:lnTo>
                    <a:pt x="70" y="115"/>
                  </a:lnTo>
                  <a:lnTo>
                    <a:pt x="99" y="67"/>
                  </a:lnTo>
                  <a:lnTo>
                    <a:pt x="11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2" name="Freeform 382"/>
            <p:cNvSpPr>
              <a:spLocks/>
            </p:cNvSpPr>
            <p:nvPr/>
          </p:nvSpPr>
          <p:spPr bwMode="auto">
            <a:xfrm flipH="1">
              <a:off x="1039" y="2426"/>
              <a:ext cx="92" cy="130"/>
            </a:xfrm>
            <a:custGeom>
              <a:avLst/>
              <a:gdLst>
                <a:gd name="T0" fmla="*/ 0 w 671"/>
                <a:gd name="T1" fmla="*/ 0 h 670"/>
                <a:gd name="T2" fmla="*/ 0 w 671"/>
                <a:gd name="T3" fmla="*/ 0 h 670"/>
                <a:gd name="T4" fmla="*/ 0 w 671"/>
                <a:gd name="T5" fmla="*/ 0 h 670"/>
                <a:gd name="T6" fmla="*/ 0 w 671"/>
                <a:gd name="T7" fmla="*/ 0 h 670"/>
                <a:gd name="T8" fmla="*/ 0 w 671"/>
                <a:gd name="T9" fmla="*/ 0 h 670"/>
                <a:gd name="T10" fmla="*/ 0 w 671"/>
                <a:gd name="T11" fmla="*/ 0 h 670"/>
                <a:gd name="T12" fmla="*/ 0 w 671"/>
                <a:gd name="T13" fmla="*/ 0 h 670"/>
                <a:gd name="T14" fmla="*/ 0 w 671"/>
                <a:gd name="T15" fmla="*/ 0 h 670"/>
                <a:gd name="T16" fmla="*/ 0 w 671"/>
                <a:gd name="T17" fmla="*/ 0 h 670"/>
                <a:gd name="T18" fmla="*/ 0 w 671"/>
                <a:gd name="T19" fmla="*/ 0 h 670"/>
                <a:gd name="T20" fmla="*/ 0 w 671"/>
                <a:gd name="T21" fmla="*/ 0 h 670"/>
                <a:gd name="T22" fmla="*/ 0 w 671"/>
                <a:gd name="T23" fmla="*/ 0 h 670"/>
                <a:gd name="T24" fmla="*/ 0 w 671"/>
                <a:gd name="T25" fmla="*/ 0 h 670"/>
                <a:gd name="T26" fmla="*/ 0 w 671"/>
                <a:gd name="T27" fmla="*/ 0 h 670"/>
                <a:gd name="T28" fmla="*/ 0 w 671"/>
                <a:gd name="T29" fmla="*/ 0 h 670"/>
                <a:gd name="T30" fmla="*/ 0 w 671"/>
                <a:gd name="T31" fmla="*/ 0 h 670"/>
                <a:gd name="T32" fmla="*/ 0 w 671"/>
                <a:gd name="T33" fmla="*/ 0 h 670"/>
                <a:gd name="T34" fmla="*/ 0 w 671"/>
                <a:gd name="T35" fmla="*/ 0 h 670"/>
                <a:gd name="T36" fmla="*/ 0 w 671"/>
                <a:gd name="T37" fmla="*/ 0 h 670"/>
                <a:gd name="T38" fmla="*/ 0 w 671"/>
                <a:gd name="T39" fmla="*/ 0 h 670"/>
                <a:gd name="T40" fmla="*/ 0 w 671"/>
                <a:gd name="T41" fmla="*/ 0 h 670"/>
                <a:gd name="T42" fmla="*/ 0 w 671"/>
                <a:gd name="T43" fmla="*/ 0 h 670"/>
                <a:gd name="T44" fmla="*/ 0 w 671"/>
                <a:gd name="T45" fmla="*/ 0 h 670"/>
                <a:gd name="T46" fmla="*/ 0 w 671"/>
                <a:gd name="T47" fmla="*/ 0 h 670"/>
                <a:gd name="T48" fmla="*/ 0 w 671"/>
                <a:gd name="T49" fmla="*/ 0 h 670"/>
                <a:gd name="T50" fmla="*/ 0 w 671"/>
                <a:gd name="T51" fmla="*/ 0 h 670"/>
                <a:gd name="T52" fmla="*/ 0 w 671"/>
                <a:gd name="T53" fmla="*/ 0 h 670"/>
                <a:gd name="T54" fmla="*/ 0 w 671"/>
                <a:gd name="T55" fmla="*/ 0 h 670"/>
                <a:gd name="T56" fmla="*/ 0 w 671"/>
                <a:gd name="T57" fmla="*/ 0 h 670"/>
                <a:gd name="T58" fmla="*/ 0 w 671"/>
                <a:gd name="T59" fmla="*/ 0 h 670"/>
                <a:gd name="T60" fmla="*/ 0 w 671"/>
                <a:gd name="T61" fmla="*/ 0 h 670"/>
                <a:gd name="T62" fmla="*/ 0 w 671"/>
                <a:gd name="T63" fmla="*/ 0 h 670"/>
                <a:gd name="T64" fmla="*/ 0 w 671"/>
                <a:gd name="T65" fmla="*/ 0 h 670"/>
                <a:gd name="T66" fmla="*/ 0 w 671"/>
                <a:gd name="T67" fmla="*/ 0 h 670"/>
                <a:gd name="T68" fmla="*/ 0 w 671"/>
                <a:gd name="T69" fmla="*/ 0 h 670"/>
                <a:gd name="T70" fmla="*/ 0 w 671"/>
                <a:gd name="T71" fmla="*/ 0 h 670"/>
                <a:gd name="T72" fmla="*/ 0 w 671"/>
                <a:gd name="T73" fmla="*/ 0 h 670"/>
                <a:gd name="T74" fmla="*/ 0 w 671"/>
                <a:gd name="T75" fmla="*/ 0 h 67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71" h="670">
                  <a:moveTo>
                    <a:pt x="54" y="193"/>
                  </a:moveTo>
                  <a:lnTo>
                    <a:pt x="155" y="177"/>
                  </a:lnTo>
                  <a:lnTo>
                    <a:pt x="223" y="187"/>
                  </a:lnTo>
                  <a:lnTo>
                    <a:pt x="264" y="234"/>
                  </a:lnTo>
                  <a:lnTo>
                    <a:pt x="238" y="290"/>
                  </a:lnTo>
                  <a:lnTo>
                    <a:pt x="206" y="311"/>
                  </a:lnTo>
                  <a:lnTo>
                    <a:pt x="197" y="366"/>
                  </a:lnTo>
                  <a:lnTo>
                    <a:pt x="217" y="401"/>
                  </a:lnTo>
                  <a:lnTo>
                    <a:pt x="200" y="453"/>
                  </a:lnTo>
                  <a:lnTo>
                    <a:pt x="242" y="453"/>
                  </a:lnTo>
                  <a:lnTo>
                    <a:pt x="254" y="394"/>
                  </a:lnTo>
                  <a:lnTo>
                    <a:pt x="280" y="366"/>
                  </a:lnTo>
                  <a:lnTo>
                    <a:pt x="329" y="366"/>
                  </a:lnTo>
                  <a:lnTo>
                    <a:pt x="378" y="378"/>
                  </a:lnTo>
                  <a:lnTo>
                    <a:pt x="393" y="419"/>
                  </a:lnTo>
                  <a:lnTo>
                    <a:pt x="399" y="475"/>
                  </a:lnTo>
                  <a:lnTo>
                    <a:pt x="393" y="516"/>
                  </a:lnTo>
                  <a:lnTo>
                    <a:pt x="393" y="547"/>
                  </a:lnTo>
                  <a:lnTo>
                    <a:pt x="396" y="581"/>
                  </a:lnTo>
                  <a:lnTo>
                    <a:pt x="428" y="613"/>
                  </a:lnTo>
                  <a:lnTo>
                    <a:pt x="451" y="632"/>
                  </a:lnTo>
                  <a:lnTo>
                    <a:pt x="510" y="670"/>
                  </a:lnTo>
                  <a:lnTo>
                    <a:pt x="620" y="558"/>
                  </a:lnTo>
                  <a:lnTo>
                    <a:pt x="652" y="466"/>
                  </a:lnTo>
                  <a:lnTo>
                    <a:pt x="665" y="318"/>
                  </a:lnTo>
                  <a:lnTo>
                    <a:pt x="671" y="215"/>
                  </a:lnTo>
                  <a:lnTo>
                    <a:pt x="658" y="114"/>
                  </a:lnTo>
                  <a:lnTo>
                    <a:pt x="629" y="59"/>
                  </a:lnTo>
                  <a:lnTo>
                    <a:pt x="562" y="21"/>
                  </a:lnTo>
                  <a:lnTo>
                    <a:pt x="502" y="8"/>
                  </a:lnTo>
                  <a:lnTo>
                    <a:pt x="384" y="0"/>
                  </a:lnTo>
                  <a:lnTo>
                    <a:pt x="270" y="5"/>
                  </a:lnTo>
                  <a:lnTo>
                    <a:pt x="129" y="30"/>
                  </a:lnTo>
                  <a:lnTo>
                    <a:pt x="64" y="62"/>
                  </a:lnTo>
                  <a:lnTo>
                    <a:pt x="32" y="94"/>
                  </a:lnTo>
                  <a:lnTo>
                    <a:pt x="0" y="140"/>
                  </a:lnTo>
                  <a:lnTo>
                    <a:pt x="6" y="166"/>
                  </a:lnTo>
                  <a:lnTo>
                    <a:pt x="54" y="19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3" name="Freeform 383"/>
            <p:cNvSpPr>
              <a:spLocks/>
            </p:cNvSpPr>
            <p:nvPr/>
          </p:nvSpPr>
          <p:spPr bwMode="auto">
            <a:xfrm flipH="1">
              <a:off x="1041" y="2428"/>
              <a:ext cx="87" cy="124"/>
            </a:xfrm>
            <a:custGeom>
              <a:avLst/>
              <a:gdLst>
                <a:gd name="T0" fmla="*/ 0 w 636"/>
                <a:gd name="T1" fmla="*/ 0 h 643"/>
                <a:gd name="T2" fmla="*/ 0 w 636"/>
                <a:gd name="T3" fmla="*/ 0 h 643"/>
                <a:gd name="T4" fmla="*/ 0 w 636"/>
                <a:gd name="T5" fmla="*/ 0 h 643"/>
                <a:gd name="T6" fmla="*/ 0 w 636"/>
                <a:gd name="T7" fmla="*/ 0 h 643"/>
                <a:gd name="T8" fmla="*/ 0 w 636"/>
                <a:gd name="T9" fmla="*/ 0 h 643"/>
                <a:gd name="T10" fmla="*/ 0 w 636"/>
                <a:gd name="T11" fmla="*/ 0 h 643"/>
                <a:gd name="T12" fmla="*/ 0 w 636"/>
                <a:gd name="T13" fmla="*/ 0 h 643"/>
                <a:gd name="T14" fmla="*/ 0 w 636"/>
                <a:gd name="T15" fmla="*/ 0 h 643"/>
                <a:gd name="T16" fmla="*/ 0 w 636"/>
                <a:gd name="T17" fmla="*/ 0 h 643"/>
                <a:gd name="T18" fmla="*/ 0 w 636"/>
                <a:gd name="T19" fmla="*/ 0 h 643"/>
                <a:gd name="T20" fmla="*/ 0 w 636"/>
                <a:gd name="T21" fmla="*/ 0 h 643"/>
                <a:gd name="T22" fmla="*/ 0 w 636"/>
                <a:gd name="T23" fmla="*/ 0 h 643"/>
                <a:gd name="T24" fmla="*/ 0 w 636"/>
                <a:gd name="T25" fmla="*/ 0 h 643"/>
                <a:gd name="T26" fmla="*/ 0 w 636"/>
                <a:gd name="T27" fmla="*/ 0 h 643"/>
                <a:gd name="T28" fmla="*/ 0 w 636"/>
                <a:gd name="T29" fmla="*/ 0 h 643"/>
                <a:gd name="T30" fmla="*/ 0 w 636"/>
                <a:gd name="T31" fmla="*/ 0 h 643"/>
                <a:gd name="T32" fmla="*/ 0 w 636"/>
                <a:gd name="T33" fmla="*/ 0 h 643"/>
                <a:gd name="T34" fmla="*/ 0 w 636"/>
                <a:gd name="T35" fmla="*/ 0 h 643"/>
                <a:gd name="T36" fmla="*/ 0 w 636"/>
                <a:gd name="T37" fmla="*/ 0 h 643"/>
                <a:gd name="T38" fmla="*/ 0 w 636"/>
                <a:gd name="T39" fmla="*/ 0 h 643"/>
                <a:gd name="T40" fmla="*/ 0 w 636"/>
                <a:gd name="T41" fmla="*/ 0 h 643"/>
                <a:gd name="T42" fmla="*/ 0 w 636"/>
                <a:gd name="T43" fmla="*/ 0 h 643"/>
                <a:gd name="T44" fmla="*/ 0 w 636"/>
                <a:gd name="T45" fmla="*/ 0 h 643"/>
                <a:gd name="T46" fmla="*/ 0 w 636"/>
                <a:gd name="T47" fmla="*/ 0 h 643"/>
                <a:gd name="T48" fmla="*/ 0 w 636"/>
                <a:gd name="T49" fmla="*/ 0 h 643"/>
                <a:gd name="T50" fmla="*/ 0 w 636"/>
                <a:gd name="T51" fmla="*/ 0 h 643"/>
                <a:gd name="T52" fmla="*/ 0 w 636"/>
                <a:gd name="T53" fmla="*/ 0 h 643"/>
                <a:gd name="T54" fmla="*/ 0 w 636"/>
                <a:gd name="T55" fmla="*/ 0 h 643"/>
                <a:gd name="T56" fmla="*/ 0 w 636"/>
                <a:gd name="T57" fmla="*/ 0 h 643"/>
                <a:gd name="T58" fmla="*/ 0 w 636"/>
                <a:gd name="T59" fmla="*/ 0 h 643"/>
                <a:gd name="T60" fmla="*/ 0 w 636"/>
                <a:gd name="T61" fmla="*/ 0 h 643"/>
                <a:gd name="T62" fmla="*/ 0 w 636"/>
                <a:gd name="T63" fmla="*/ 0 h 643"/>
                <a:gd name="T64" fmla="*/ 0 w 636"/>
                <a:gd name="T65" fmla="*/ 0 h 643"/>
                <a:gd name="T66" fmla="*/ 0 w 636"/>
                <a:gd name="T67" fmla="*/ 0 h 643"/>
                <a:gd name="T68" fmla="*/ 0 w 636"/>
                <a:gd name="T69" fmla="*/ 0 h 643"/>
                <a:gd name="T70" fmla="*/ 0 w 636"/>
                <a:gd name="T71" fmla="*/ 0 h 643"/>
                <a:gd name="T72" fmla="*/ 0 w 636"/>
                <a:gd name="T73" fmla="*/ 0 h 643"/>
                <a:gd name="T74" fmla="*/ 0 w 636"/>
                <a:gd name="T75" fmla="*/ 0 h 643"/>
                <a:gd name="T76" fmla="*/ 0 w 636"/>
                <a:gd name="T77" fmla="*/ 0 h 643"/>
                <a:gd name="T78" fmla="*/ 0 w 636"/>
                <a:gd name="T79" fmla="*/ 0 h 643"/>
                <a:gd name="T80" fmla="*/ 0 w 636"/>
                <a:gd name="T81" fmla="*/ 0 h 643"/>
                <a:gd name="T82" fmla="*/ 0 w 636"/>
                <a:gd name="T83" fmla="*/ 0 h 643"/>
                <a:gd name="T84" fmla="*/ 0 w 636"/>
                <a:gd name="T85" fmla="*/ 0 h 643"/>
                <a:gd name="T86" fmla="*/ 0 w 636"/>
                <a:gd name="T87" fmla="*/ 0 h 64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6" h="643">
                  <a:moveTo>
                    <a:pt x="104" y="41"/>
                  </a:moveTo>
                  <a:lnTo>
                    <a:pt x="51" y="63"/>
                  </a:lnTo>
                  <a:lnTo>
                    <a:pt x="25" y="98"/>
                  </a:lnTo>
                  <a:lnTo>
                    <a:pt x="10" y="121"/>
                  </a:lnTo>
                  <a:lnTo>
                    <a:pt x="0" y="138"/>
                  </a:lnTo>
                  <a:lnTo>
                    <a:pt x="13" y="152"/>
                  </a:lnTo>
                  <a:lnTo>
                    <a:pt x="41" y="169"/>
                  </a:lnTo>
                  <a:lnTo>
                    <a:pt x="110" y="158"/>
                  </a:lnTo>
                  <a:lnTo>
                    <a:pt x="160" y="158"/>
                  </a:lnTo>
                  <a:lnTo>
                    <a:pt x="194" y="141"/>
                  </a:lnTo>
                  <a:lnTo>
                    <a:pt x="245" y="129"/>
                  </a:lnTo>
                  <a:lnTo>
                    <a:pt x="290" y="126"/>
                  </a:lnTo>
                  <a:lnTo>
                    <a:pt x="342" y="129"/>
                  </a:lnTo>
                  <a:lnTo>
                    <a:pt x="267" y="138"/>
                  </a:lnTo>
                  <a:lnTo>
                    <a:pt x="229" y="148"/>
                  </a:lnTo>
                  <a:lnTo>
                    <a:pt x="201" y="158"/>
                  </a:lnTo>
                  <a:lnTo>
                    <a:pt x="194" y="161"/>
                  </a:lnTo>
                  <a:lnTo>
                    <a:pt x="213" y="169"/>
                  </a:lnTo>
                  <a:lnTo>
                    <a:pt x="229" y="185"/>
                  </a:lnTo>
                  <a:lnTo>
                    <a:pt x="255" y="169"/>
                  </a:lnTo>
                  <a:lnTo>
                    <a:pt x="277" y="163"/>
                  </a:lnTo>
                  <a:lnTo>
                    <a:pt x="325" y="155"/>
                  </a:lnTo>
                  <a:lnTo>
                    <a:pt x="339" y="155"/>
                  </a:lnTo>
                  <a:lnTo>
                    <a:pt x="293" y="172"/>
                  </a:lnTo>
                  <a:lnTo>
                    <a:pt x="258" y="188"/>
                  </a:lnTo>
                  <a:lnTo>
                    <a:pt x="239" y="201"/>
                  </a:lnTo>
                  <a:lnTo>
                    <a:pt x="255" y="217"/>
                  </a:lnTo>
                  <a:lnTo>
                    <a:pt x="293" y="204"/>
                  </a:lnTo>
                  <a:lnTo>
                    <a:pt x="325" y="198"/>
                  </a:lnTo>
                  <a:lnTo>
                    <a:pt x="267" y="226"/>
                  </a:lnTo>
                  <a:lnTo>
                    <a:pt x="248" y="239"/>
                  </a:lnTo>
                  <a:lnTo>
                    <a:pt x="242" y="266"/>
                  </a:lnTo>
                  <a:lnTo>
                    <a:pt x="232" y="280"/>
                  </a:lnTo>
                  <a:lnTo>
                    <a:pt x="267" y="263"/>
                  </a:lnTo>
                  <a:lnTo>
                    <a:pt x="298" y="257"/>
                  </a:lnTo>
                  <a:lnTo>
                    <a:pt x="348" y="255"/>
                  </a:lnTo>
                  <a:lnTo>
                    <a:pt x="272" y="276"/>
                  </a:lnTo>
                  <a:lnTo>
                    <a:pt x="226" y="294"/>
                  </a:lnTo>
                  <a:lnTo>
                    <a:pt x="194" y="310"/>
                  </a:lnTo>
                  <a:lnTo>
                    <a:pt x="191" y="335"/>
                  </a:lnTo>
                  <a:lnTo>
                    <a:pt x="229" y="317"/>
                  </a:lnTo>
                  <a:lnTo>
                    <a:pt x="280" y="300"/>
                  </a:lnTo>
                  <a:lnTo>
                    <a:pt x="304" y="300"/>
                  </a:lnTo>
                  <a:lnTo>
                    <a:pt x="248" y="320"/>
                  </a:lnTo>
                  <a:lnTo>
                    <a:pt x="204" y="338"/>
                  </a:lnTo>
                  <a:lnTo>
                    <a:pt x="187" y="355"/>
                  </a:lnTo>
                  <a:lnTo>
                    <a:pt x="194" y="370"/>
                  </a:lnTo>
                  <a:lnTo>
                    <a:pt x="229" y="358"/>
                  </a:lnTo>
                  <a:lnTo>
                    <a:pt x="261" y="344"/>
                  </a:lnTo>
                  <a:lnTo>
                    <a:pt x="327" y="341"/>
                  </a:lnTo>
                  <a:lnTo>
                    <a:pt x="354" y="344"/>
                  </a:lnTo>
                  <a:lnTo>
                    <a:pt x="415" y="348"/>
                  </a:lnTo>
                  <a:lnTo>
                    <a:pt x="488" y="338"/>
                  </a:lnTo>
                  <a:lnTo>
                    <a:pt x="444" y="355"/>
                  </a:lnTo>
                  <a:lnTo>
                    <a:pt x="368" y="367"/>
                  </a:lnTo>
                  <a:lnTo>
                    <a:pt x="384" y="393"/>
                  </a:lnTo>
                  <a:lnTo>
                    <a:pt x="438" y="379"/>
                  </a:lnTo>
                  <a:lnTo>
                    <a:pt x="491" y="361"/>
                  </a:lnTo>
                  <a:lnTo>
                    <a:pt x="525" y="344"/>
                  </a:lnTo>
                  <a:lnTo>
                    <a:pt x="460" y="393"/>
                  </a:lnTo>
                  <a:lnTo>
                    <a:pt x="419" y="405"/>
                  </a:lnTo>
                  <a:lnTo>
                    <a:pt x="384" y="417"/>
                  </a:lnTo>
                  <a:lnTo>
                    <a:pt x="387" y="442"/>
                  </a:lnTo>
                  <a:lnTo>
                    <a:pt x="438" y="434"/>
                  </a:lnTo>
                  <a:lnTo>
                    <a:pt x="478" y="423"/>
                  </a:lnTo>
                  <a:lnTo>
                    <a:pt x="454" y="440"/>
                  </a:lnTo>
                  <a:lnTo>
                    <a:pt x="409" y="452"/>
                  </a:lnTo>
                  <a:lnTo>
                    <a:pt x="387" y="455"/>
                  </a:lnTo>
                  <a:lnTo>
                    <a:pt x="387" y="511"/>
                  </a:lnTo>
                  <a:lnTo>
                    <a:pt x="435" y="492"/>
                  </a:lnTo>
                  <a:lnTo>
                    <a:pt x="473" y="477"/>
                  </a:lnTo>
                  <a:lnTo>
                    <a:pt x="432" y="508"/>
                  </a:lnTo>
                  <a:lnTo>
                    <a:pt x="380" y="530"/>
                  </a:lnTo>
                  <a:lnTo>
                    <a:pt x="384" y="556"/>
                  </a:lnTo>
                  <a:lnTo>
                    <a:pt x="412" y="586"/>
                  </a:lnTo>
                  <a:lnTo>
                    <a:pt x="438" y="553"/>
                  </a:lnTo>
                  <a:lnTo>
                    <a:pt x="473" y="511"/>
                  </a:lnTo>
                  <a:lnTo>
                    <a:pt x="496" y="471"/>
                  </a:lnTo>
                  <a:lnTo>
                    <a:pt x="473" y="533"/>
                  </a:lnTo>
                  <a:lnTo>
                    <a:pt x="454" y="556"/>
                  </a:lnTo>
                  <a:lnTo>
                    <a:pt x="419" y="599"/>
                  </a:lnTo>
                  <a:lnTo>
                    <a:pt x="444" y="628"/>
                  </a:lnTo>
                  <a:lnTo>
                    <a:pt x="485" y="594"/>
                  </a:lnTo>
                  <a:lnTo>
                    <a:pt x="514" y="553"/>
                  </a:lnTo>
                  <a:lnTo>
                    <a:pt x="540" y="508"/>
                  </a:lnTo>
                  <a:lnTo>
                    <a:pt x="517" y="573"/>
                  </a:lnTo>
                  <a:lnTo>
                    <a:pt x="491" y="602"/>
                  </a:lnTo>
                  <a:lnTo>
                    <a:pt x="465" y="631"/>
                  </a:lnTo>
                  <a:lnTo>
                    <a:pt x="488" y="643"/>
                  </a:lnTo>
                  <a:lnTo>
                    <a:pt x="540" y="599"/>
                  </a:lnTo>
                  <a:lnTo>
                    <a:pt x="589" y="530"/>
                  </a:lnTo>
                  <a:lnTo>
                    <a:pt x="607" y="477"/>
                  </a:lnTo>
                  <a:lnTo>
                    <a:pt x="620" y="386"/>
                  </a:lnTo>
                  <a:lnTo>
                    <a:pt x="627" y="317"/>
                  </a:lnTo>
                  <a:lnTo>
                    <a:pt x="636" y="239"/>
                  </a:lnTo>
                  <a:lnTo>
                    <a:pt x="582" y="255"/>
                  </a:lnTo>
                  <a:lnTo>
                    <a:pt x="522" y="276"/>
                  </a:lnTo>
                  <a:lnTo>
                    <a:pt x="432" y="297"/>
                  </a:lnTo>
                  <a:lnTo>
                    <a:pt x="514" y="266"/>
                  </a:lnTo>
                  <a:lnTo>
                    <a:pt x="543" y="249"/>
                  </a:lnTo>
                  <a:lnTo>
                    <a:pt x="601" y="229"/>
                  </a:lnTo>
                  <a:lnTo>
                    <a:pt x="630" y="223"/>
                  </a:lnTo>
                  <a:lnTo>
                    <a:pt x="630" y="182"/>
                  </a:lnTo>
                  <a:lnTo>
                    <a:pt x="623" y="129"/>
                  </a:lnTo>
                  <a:lnTo>
                    <a:pt x="551" y="141"/>
                  </a:lnTo>
                  <a:lnTo>
                    <a:pt x="505" y="155"/>
                  </a:lnTo>
                  <a:lnTo>
                    <a:pt x="447" y="182"/>
                  </a:lnTo>
                  <a:lnTo>
                    <a:pt x="499" y="141"/>
                  </a:lnTo>
                  <a:lnTo>
                    <a:pt x="560" y="124"/>
                  </a:lnTo>
                  <a:lnTo>
                    <a:pt x="620" y="109"/>
                  </a:lnTo>
                  <a:lnTo>
                    <a:pt x="607" y="69"/>
                  </a:lnTo>
                  <a:lnTo>
                    <a:pt x="589" y="45"/>
                  </a:lnTo>
                  <a:lnTo>
                    <a:pt x="534" y="28"/>
                  </a:lnTo>
                  <a:lnTo>
                    <a:pt x="482" y="41"/>
                  </a:lnTo>
                  <a:lnTo>
                    <a:pt x="432" y="76"/>
                  </a:lnTo>
                  <a:lnTo>
                    <a:pt x="465" y="35"/>
                  </a:lnTo>
                  <a:lnTo>
                    <a:pt x="517" y="16"/>
                  </a:lnTo>
                  <a:lnTo>
                    <a:pt x="460" y="6"/>
                  </a:lnTo>
                  <a:lnTo>
                    <a:pt x="419" y="3"/>
                  </a:lnTo>
                  <a:lnTo>
                    <a:pt x="359" y="13"/>
                  </a:lnTo>
                  <a:lnTo>
                    <a:pt x="318" y="38"/>
                  </a:lnTo>
                  <a:lnTo>
                    <a:pt x="255" y="51"/>
                  </a:lnTo>
                  <a:lnTo>
                    <a:pt x="298" y="32"/>
                  </a:lnTo>
                  <a:lnTo>
                    <a:pt x="330" y="13"/>
                  </a:lnTo>
                  <a:lnTo>
                    <a:pt x="348" y="0"/>
                  </a:lnTo>
                  <a:lnTo>
                    <a:pt x="287" y="3"/>
                  </a:lnTo>
                  <a:lnTo>
                    <a:pt x="232" y="6"/>
                  </a:lnTo>
                  <a:lnTo>
                    <a:pt x="198" y="22"/>
                  </a:lnTo>
                  <a:lnTo>
                    <a:pt x="163" y="54"/>
                  </a:lnTo>
                  <a:lnTo>
                    <a:pt x="136" y="95"/>
                  </a:lnTo>
                  <a:lnTo>
                    <a:pt x="151" y="48"/>
                  </a:lnTo>
                  <a:lnTo>
                    <a:pt x="184" y="16"/>
                  </a:lnTo>
                  <a:lnTo>
                    <a:pt x="104"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4" name="Freeform 384"/>
            <p:cNvSpPr>
              <a:spLocks/>
            </p:cNvSpPr>
            <p:nvPr/>
          </p:nvSpPr>
          <p:spPr bwMode="auto">
            <a:xfrm flipH="1">
              <a:off x="1216" y="2742"/>
              <a:ext cx="95" cy="83"/>
            </a:xfrm>
            <a:custGeom>
              <a:avLst/>
              <a:gdLst>
                <a:gd name="T0" fmla="*/ 0 w 698"/>
                <a:gd name="T1" fmla="*/ 0 h 425"/>
                <a:gd name="T2" fmla="*/ 0 w 698"/>
                <a:gd name="T3" fmla="*/ 0 h 425"/>
                <a:gd name="T4" fmla="*/ 0 w 698"/>
                <a:gd name="T5" fmla="*/ 0 h 425"/>
                <a:gd name="T6" fmla="*/ 0 w 698"/>
                <a:gd name="T7" fmla="*/ 0 h 425"/>
                <a:gd name="T8" fmla="*/ 0 w 698"/>
                <a:gd name="T9" fmla="*/ 0 h 425"/>
                <a:gd name="T10" fmla="*/ 0 w 698"/>
                <a:gd name="T11" fmla="*/ 0 h 425"/>
                <a:gd name="T12" fmla="*/ 0 w 698"/>
                <a:gd name="T13" fmla="*/ 0 h 425"/>
                <a:gd name="T14" fmla="*/ 0 w 698"/>
                <a:gd name="T15" fmla="*/ 0 h 425"/>
                <a:gd name="T16" fmla="*/ 0 w 698"/>
                <a:gd name="T17" fmla="*/ 0 h 425"/>
                <a:gd name="T18" fmla="*/ 0 w 698"/>
                <a:gd name="T19" fmla="*/ 0 h 425"/>
                <a:gd name="T20" fmla="*/ 0 w 698"/>
                <a:gd name="T21" fmla="*/ 0 h 425"/>
                <a:gd name="T22" fmla="*/ 0 w 698"/>
                <a:gd name="T23" fmla="*/ 0 h 425"/>
                <a:gd name="T24" fmla="*/ 0 w 698"/>
                <a:gd name="T25" fmla="*/ 0 h 425"/>
                <a:gd name="T26" fmla="*/ 0 w 698"/>
                <a:gd name="T27" fmla="*/ 0 h 425"/>
                <a:gd name="T28" fmla="*/ 0 w 698"/>
                <a:gd name="T29" fmla="*/ 0 h 425"/>
                <a:gd name="T30" fmla="*/ 0 w 698"/>
                <a:gd name="T31" fmla="*/ 0 h 425"/>
                <a:gd name="T32" fmla="*/ 0 w 698"/>
                <a:gd name="T33" fmla="*/ 0 h 425"/>
                <a:gd name="T34" fmla="*/ 0 w 698"/>
                <a:gd name="T35" fmla="*/ 0 h 425"/>
                <a:gd name="T36" fmla="*/ 0 w 698"/>
                <a:gd name="T37" fmla="*/ 0 h 425"/>
                <a:gd name="T38" fmla="*/ 0 w 698"/>
                <a:gd name="T39" fmla="*/ 0 h 425"/>
                <a:gd name="T40" fmla="*/ 0 w 698"/>
                <a:gd name="T41" fmla="*/ 0 h 425"/>
                <a:gd name="T42" fmla="*/ 0 w 698"/>
                <a:gd name="T43" fmla="*/ 0 h 425"/>
                <a:gd name="T44" fmla="*/ 0 w 698"/>
                <a:gd name="T45" fmla="*/ 0 h 425"/>
                <a:gd name="T46" fmla="*/ 0 w 698"/>
                <a:gd name="T47" fmla="*/ 0 h 425"/>
                <a:gd name="T48" fmla="*/ 0 w 698"/>
                <a:gd name="T49" fmla="*/ 0 h 425"/>
                <a:gd name="T50" fmla="*/ 0 w 698"/>
                <a:gd name="T51" fmla="*/ 0 h 425"/>
                <a:gd name="T52" fmla="*/ 0 w 698"/>
                <a:gd name="T53" fmla="*/ 0 h 425"/>
                <a:gd name="T54" fmla="*/ 0 w 698"/>
                <a:gd name="T55" fmla="*/ 0 h 425"/>
                <a:gd name="T56" fmla="*/ 0 w 698"/>
                <a:gd name="T57" fmla="*/ 0 h 425"/>
                <a:gd name="T58" fmla="*/ 0 w 698"/>
                <a:gd name="T59" fmla="*/ 0 h 425"/>
                <a:gd name="T60" fmla="*/ 0 w 698"/>
                <a:gd name="T61" fmla="*/ 0 h 425"/>
                <a:gd name="T62" fmla="*/ 0 w 698"/>
                <a:gd name="T63" fmla="*/ 0 h 425"/>
                <a:gd name="T64" fmla="*/ 0 w 698"/>
                <a:gd name="T65" fmla="*/ 0 h 425"/>
                <a:gd name="T66" fmla="*/ 0 w 698"/>
                <a:gd name="T67" fmla="*/ 0 h 425"/>
                <a:gd name="T68" fmla="*/ 0 w 698"/>
                <a:gd name="T69" fmla="*/ 0 h 425"/>
                <a:gd name="T70" fmla="*/ 0 w 698"/>
                <a:gd name="T71" fmla="*/ 0 h 425"/>
                <a:gd name="T72" fmla="*/ 0 w 698"/>
                <a:gd name="T73" fmla="*/ 0 h 425"/>
                <a:gd name="T74" fmla="*/ 0 w 698"/>
                <a:gd name="T75" fmla="*/ 0 h 425"/>
                <a:gd name="T76" fmla="*/ 0 w 698"/>
                <a:gd name="T77" fmla="*/ 0 h 425"/>
                <a:gd name="T78" fmla="*/ 0 w 698"/>
                <a:gd name="T79" fmla="*/ 0 h 425"/>
                <a:gd name="T80" fmla="*/ 0 w 698"/>
                <a:gd name="T81" fmla="*/ 0 h 425"/>
                <a:gd name="T82" fmla="*/ 0 w 698"/>
                <a:gd name="T83" fmla="*/ 0 h 425"/>
                <a:gd name="T84" fmla="*/ 0 w 698"/>
                <a:gd name="T85" fmla="*/ 0 h 425"/>
                <a:gd name="T86" fmla="*/ 0 w 698"/>
                <a:gd name="T87" fmla="*/ 0 h 425"/>
                <a:gd name="T88" fmla="*/ 0 w 698"/>
                <a:gd name="T89" fmla="*/ 0 h 425"/>
                <a:gd name="T90" fmla="*/ 0 w 698"/>
                <a:gd name="T91" fmla="*/ 0 h 425"/>
                <a:gd name="T92" fmla="*/ 0 w 698"/>
                <a:gd name="T93" fmla="*/ 0 h 425"/>
                <a:gd name="T94" fmla="*/ 0 w 698"/>
                <a:gd name="T95" fmla="*/ 0 h 425"/>
                <a:gd name="T96" fmla="*/ 0 w 698"/>
                <a:gd name="T97" fmla="*/ 0 h 425"/>
                <a:gd name="T98" fmla="*/ 0 w 698"/>
                <a:gd name="T99" fmla="*/ 0 h 4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98" h="425">
                  <a:moveTo>
                    <a:pt x="698" y="253"/>
                  </a:moveTo>
                  <a:lnTo>
                    <a:pt x="611" y="233"/>
                  </a:lnTo>
                  <a:lnTo>
                    <a:pt x="579" y="227"/>
                  </a:lnTo>
                  <a:lnTo>
                    <a:pt x="558" y="210"/>
                  </a:lnTo>
                  <a:lnTo>
                    <a:pt x="538" y="182"/>
                  </a:lnTo>
                  <a:lnTo>
                    <a:pt x="496" y="143"/>
                  </a:lnTo>
                  <a:lnTo>
                    <a:pt x="420" y="79"/>
                  </a:lnTo>
                  <a:lnTo>
                    <a:pt x="407" y="58"/>
                  </a:lnTo>
                  <a:lnTo>
                    <a:pt x="387" y="38"/>
                  </a:lnTo>
                  <a:lnTo>
                    <a:pt x="347" y="32"/>
                  </a:lnTo>
                  <a:lnTo>
                    <a:pt x="225" y="11"/>
                  </a:lnTo>
                  <a:lnTo>
                    <a:pt x="192" y="0"/>
                  </a:lnTo>
                  <a:lnTo>
                    <a:pt x="162" y="14"/>
                  </a:lnTo>
                  <a:lnTo>
                    <a:pt x="147" y="27"/>
                  </a:lnTo>
                  <a:lnTo>
                    <a:pt x="75" y="52"/>
                  </a:lnTo>
                  <a:lnTo>
                    <a:pt x="48" y="62"/>
                  </a:lnTo>
                  <a:lnTo>
                    <a:pt x="37" y="73"/>
                  </a:lnTo>
                  <a:lnTo>
                    <a:pt x="24" y="114"/>
                  </a:lnTo>
                  <a:lnTo>
                    <a:pt x="16" y="133"/>
                  </a:lnTo>
                  <a:lnTo>
                    <a:pt x="9" y="146"/>
                  </a:lnTo>
                  <a:lnTo>
                    <a:pt x="0" y="165"/>
                  </a:lnTo>
                  <a:lnTo>
                    <a:pt x="0" y="181"/>
                  </a:lnTo>
                  <a:lnTo>
                    <a:pt x="15" y="191"/>
                  </a:lnTo>
                  <a:lnTo>
                    <a:pt x="43" y="190"/>
                  </a:lnTo>
                  <a:lnTo>
                    <a:pt x="89" y="168"/>
                  </a:lnTo>
                  <a:lnTo>
                    <a:pt x="147" y="158"/>
                  </a:lnTo>
                  <a:lnTo>
                    <a:pt x="198" y="165"/>
                  </a:lnTo>
                  <a:lnTo>
                    <a:pt x="144" y="179"/>
                  </a:lnTo>
                  <a:lnTo>
                    <a:pt x="105" y="191"/>
                  </a:lnTo>
                  <a:lnTo>
                    <a:pt x="61" y="210"/>
                  </a:lnTo>
                  <a:lnTo>
                    <a:pt x="51" y="224"/>
                  </a:lnTo>
                  <a:lnTo>
                    <a:pt x="51" y="242"/>
                  </a:lnTo>
                  <a:lnTo>
                    <a:pt x="67" y="253"/>
                  </a:lnTo>
                  <a:lnTo>
                    <a:pt x="87" y="250"/>
                  </a:lnTo>
                  <a:lnTo>
                    <a:pt x="150" y="233"/>
                  </a:lnTo>
                  <a:lnTo>
                    <a:pt x="205" y="230"/>
                  </a:lnTo>
                  <a:lnTo>
                    <a:pt x="249" y="233"/>
                  </a:lnTo>
                  <a:lnTo>
                    <a:pt x="273" y="250"/>
                  </a:lnTo>
                  <a:lnTo>
                    <a:pt x="301" y="279"/>
                  </a:lnTo>
                  <a:lnTo>
                    <a:pt x="323" y="310"/>
                  </a:lnTo>
                  <a:lnTo>
                    <a:pt x="346" y="342"/>
                  </a:lnTo>
                  <a:lnTo>
                    <a:pt x="364" y="366"/>
                  </a:lnTo>
                  <a:lnTo>
                    <a:pt x="397" y="389"/>
                  </a:lnTo>
                  <a:lnTo>
                    <a:pt x="429" y="396"/>
                  </a:lnTo>
                  <a:lnTo>
                    <a:pt x="464" y="399"/>
                  </a:lnTo>
                  <a:lnTo>
                    <a:pt x="507" y="396"/>
                  </a:lnTo>
                  <a:lnTo>
                    <a:pt x="539" y="393"/>
                  </a:lnTo>
                  <a:lnTo>
                    <a:pt x="582" y="404"/>
                  </a:lnTo>
                  <a:lnTo>
                    <a:pt x="698" y="425"/>
                  </a:lnTo>
                  <a:lnTo>
                    <a:pt x="698" y="253"/>
                  </a:lnTo>
                  <a:close/>
                </a:path>
              </a:pathLst>
            </a:custGeom>
            <a:solidFill>
              <a:srgbClr val="FFC080"/>
            </a:solidFill>
            <a:ln w="1588">
              <a:solidFill>
                <a:srgbClr val="402000"/>
              </a:solidFill>
              <a:prstDash val="solid"/>
              <a:round/>
              <a:headEnd/>
              <a:tailEnd/>
            </a:ln>
          </p:spPr>
          <p:txBody>
            <a:bodyPr/>
            <a:lstStyle/>
            <a:p>
              <a:endParaRPr lang="zh-CN" altLang="en-US"/>
            </a:p>
          </p:txBody>
        </p:sp>
        <p:sp>
          <p:nvSpPr>
            <p:cNvPr id="11645" name="Freeform 385"/>
            <p:cNvSpPr>
              <a:spLocks/>
            </p:cNvSpPr>
            <p:nvPr/>
          </p:nvSpPr>
          <p:spPr bwMode="auto">
            <a:xfrm flipH="1">
              <a:off x="1277" y="2756"/>
              <a:ext cx="30" cy="10"/>
            </a:xfrm>
            <a:custGeom>
              <a:avLst/>
              <a:gdLst>
                <a:gd name="T0" fmla="*/ 0 w 223"/>
                <a:gd name="T1" fmla="*/ 0 h 52"/>
                <a:gd name="T2" fmla="*/ 0 w 223"/>
                <a:gd name="T3" fmla="*/ 0 h 52"/>
                <a:gd name="T4" fmla="*/ 0 w 223"/>
                <a:gd name="T5" fmla="*/ 0 h 52"/>
                <a:gd name="T6" fmla="*/ 0 w 223"/>
                <a:gd name="T7" fmla="*/ 0 h 52"/>
                <a:gd name="T8" fmla="*/ 0 w 223"/>
                <a:gd name="T9" fmla="*/ 0 h 52"/>
                <a:gd name="T10" fmla="*/ 0 w 223"/>
                <a:gd name="T11" fmla="*/ 0 h 52"/>
                <a:gd name="T12" fmla="*/ 0 w 223"/>
                <a:gd name="T13" fmla="*/ 0 h 52"/>
                <a:gd name="T14" fmla="*/ 0 w 223"/>
                <a:gd name="T15" fmla="*/ 0 h 52"/>
                <a:gd name="T16" fmla="*/ 0 w 223"/>
                <a:gd name="T17" fmla="*/ 0 h 52"/>
                <a:gd name="T18" fmla="*/ 0 w 223"/>
                <a:gd name="T19" fmla="*/ 0 h 52"/>
                <a:gd name="T20" fmla="*/ 0 w 223"/>
                <a:gd name="T21" fmla="*/ 0 h 52"/>
                <a:gd name="T22" fmla="*/ 0 w 223"/>
                <a:gd name="T23" fmla="*/ 0 h 52"/>
                <a:gd name="T24" fmla="*/ 0 w 223"/>
                <a:gd name="T25" fmla="*/ 0 h 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3" h="52">
                  <a:moveTo>
                    <a:pt x="0" y="52"/>
                  </a:moveTo>
                  <a:lnTo>
                    <a:pt x="38" y="36"/>
                  </a:lnTo>
                  <a:lnTo>
                    <a:pt x="69" y="30"/>
                  </a:lnTo>
                  <a:lnTo>
                    <a:pt x="107" y="18"/>
                  </a:lnTo>
                  <a:lnTo>
                    <a:pt x="139" y="11"/>
                  </a:lnTo>
                  <a:lnTo>
                    <a:pt x="189" y="15"/>
                  </a:lnTo>
                  <a:lnTo>
                    <a:pt x="223" y="18"/>
                  </a:lnTo>
                  <a:lnTo>
                    <a:pt x="171" y="8"/>
                  </a:lnTo>
                  <a:lnTo>
                    <a:pt x="127" y="0"/>
                  </a:lnTo>
                  <a:lnTo>
                    <a:pt x="69" y="24"/>
                  </a:lnTo>
                  <a:lnTo>
                    <a:pt x="38" y="28"/>
                  </a:lnTo>
                  <a:lnTo>
                    <a:pt x="3" y="45"/>
                  </a:lnTo>
                  <a:lnTo>
                    <a:pt x="0" y="5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6" name="Freeform 386"/>
            <p:cNvSpPr>
              <a:spLocks/>
            </p:cNvSpPr>
            <p:nvPr/>
          </p:nvSpPr>
          <p:spPr bwMode="auto">
            <a:xfrm flipH="1">
              <a:off x="1265" y="2746"/>
              <a:ext cx="25" cy="6"/>
            </a:xfrm>
            <a:custGeom>
              <a:avLst/>
              <a:gdLst>
                <a:gd name="T0" fmla="*/ 0 w 188"/>
                <a:gd name="T1" fmla="*/ 0 h 36"/>
                <a:gd name="T2" fmla="*/ 0 w 188"/>
                <a:gd name="T3" fmla="*/ 0 h 36"/>
                <a:gd name="T4" fmla="*/ 0 w 188"/>
                <a:gd name="T5" fmla="*/ 0 h 36"/>
                <a:gd name="T6" fmla="*/ 0 w 188"/>
                <a:gd name="T7" fmla="*/ 0 h 36"/>
                <a:gd name="T8" fmla="*/ 0 w 188"/>
                <a:gd name="T9" fmla="*/ 0 h 36"/>
                <a:gd name="T10" fmla="*/ 0 w 188"/>
                <a:gd name="T11" fmla="*/ 0 h 36"/>
                <a:gd name="T12" fmla="*/ 0 w 188"/>
                <a:gd name="T13" fmla="*/ 0 h 36"/>
                <a:gd name="T14" fmla="*/ 0 w 188"/>
                <a:gd name="T15" fmla="*/ 0 h 36"/>
                <a:gd name="T16" fmla="*/ 0 w 188"/>
                <a:gd name="T17" fmla="*/ 0 h 36"/>
                <a:gd name="T18" fmla="*/ 0 w 188"/>
                <a:gd name="T19" fmla="*/ 0 h 36"/>
                <a:gd name="T20" fmla="*/ 0 w 188"/>
                <a:gd name="T21" fmla="*/ 0 h 36"/>
                <a:gd name="T22" fmla="*/ 0 w 188"/>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8" h="36">
                  <a:moveTo>
                    <a:pt x="51" y="0"/>
                  </a:moveTo>
                  <a:lnTo>
                    <a:pt x="29" y="1"/>
                  </a:lnTo>
                  <a:lnTo>
                    <a:pt x="0" y="11"/>
                  </a:lnTo>
                  <a:lnTo>
                    <a:pt x="19" y="9"/>
                  </a:lnTo>
                  <a:lnTo>
                    <a:pt x="48" y="4"/>
                  </a:lnTo>
                  <a:lnTo>
                    <a:pt x="109" y="20"/>
                  </a:lnTo>
                  <a:lnTo>
                    <a:pt x="143" y="30"/>
                  </a:lnTo>
                  <a:lnTo>
                    <a:pt x="181" y="36"/>
                  </a:lnTo>
                  <a:lnTo>
                    <a:pt x="188" y="30"/>
                  </a:lnTo>
                  <a:lnTo>
                    <a:pt x="146" y="22"/>
                  </a:lnTo>
                  <a:lnTo>
                    <a:pt x="97" y="11"/>
                  </a:lnTo>
                  <a:lnTo>
                    <a:pt x="5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7" name="Freeform 387"/>
            <p:cNvSpPr>
              <a:spLocks/>
            </p:cNvSpPr>
            <p:nvPr/>
          </p:nvSpPr>
          <p:spPr bwMode="auto">
            <a:xfrm flipH="1">
              <a:off x="1276" y="2771"/>
              <a:ext cx="10" cy="3"/>
            </a:xfrm>
            <a:custGeom>
              <a:avLst/>
              <a:gdLst>
                <a:gd name="T0" fmla="*/ 0 w 76"/>
                <a:gd name="T1" fmla="*/ 0 h 17"/>
                <a:gd name="T2" fmla="*/ 0 w 76"/>
                <a:gd name="T3" fmla="*/ 0 h 17"/>
                <a:gd name="T4" fmla="*/ 0 w 76"/>
                <a:gd name="T5" fmla="*/ 0 h 17"/>
                <a:gd name="T6" fmla="*/ 0 w 76"/>
                <a:gd name="T7" fmla="*/ 0 h 17"/>
                <a:gd name="T8" fmla="*/ 0 w 76"/>
                <a:gd name="T9" fmla="*/ 0 h 17"/>
                <a:gd name="T10" fmla="*/ 0 w 76"/>
                <a:gd name="T11" fmla="*/ 0 h 17"/>
                <a:gd name="T12" fmla="*/ 0 w 76"/>
                <a:gd name="T13" fmla="*/ 0 h 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6" h="17">
                  <a:moveTo>
                    <a:pt x="0" y="8"/>
                  </a:moveTo>
                  <a:lnTo>
                    <a:pt x="8" y="17"/>
                  </a:lnTo>
                  <a:lnTo>
                    <a:pt x="36" y="12"/>
                  </a:lnTo>
                  <a:lnTo>
                    <a:pt x="67" y="12"/>
                  </a:lnTo>
                  <a:lnTo>
                    <a:pt x="76" y="0"/>
                  </a:lnTo>
                  <a:lnTo>
                    <a:pt x="55" y="4"/>
                  </a:lnTo>
                  <a:lnTo>
                    <a:pt x="0" y="8"/>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8" name="Freeform 388"/>
            <p:cNvSpPr>
              <a:spLocks/>
            </p:cNvSpPr>
            <p:nvPr/>
          </p:nvSpPr>
          <p:spPr bwMode="auto">
            <a:xfrm flipH="1">
              <a:off x="1305" y="2768"/>
              <a:ext cx="3" cy="6"/>
            </a:xfrm>
            <a:custGeom>
              <a:avLst/>
              <a:gdLst>
                <a:gd name="T0" fmla="*/ 0 w 19"/>
                <a:gd name="T1" fmla="*/ 0 h 32"/>
                <a:gd name="T2" fmla="*/ 0 w 19"/>
                <a:gd name="T3" fmla="*/ 0 h 32"/>
                <a:gd name="T4" fmla="*/ 0 w 19"/>
                <a:gd name="T5" fmla="*/ 0 h 32"/>
                <a:gd name="T6" fmla="*/ 0 w 19"/>
                <a:gd name="T7" fmla="*/ 0 h 32"/>
                <a:gd name="T8" fmla="*/ 0 w 19"/>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2">
                  <a:moveTo>
                    <a:pt x="19" y="0"/>
                  </a:moveTo>
                  <a:lnTo>
                    <a:pt x="19" y="9"/>
                  </a:lnTo>
                  <a:lnTo>
                    <a:pt x="14" y="24"/>
                  </a:lnTo>
                  <a:lnTo>
                    <a:pt x="0" y="32"/>
                  </a:lnTo>
                  <a:lnTo>
                    <a:pt x="19"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49" name="Freeform 389"/>
            <p:cNvSpPr>
              <a:spLocks/>
            </p:cNvSpPr>
            <p:nvPr/>
          </p:nvSpPr>
          <p:spPr bwMode="auto">
            <a:xfrm flipH="1">
              <a:off x="1261" y="2761"/>
              <a:ext cx="5" cy="8"/>
            </a:xfrm>
            <a:custGeom>
              <a:avLst/>
              <a:gdLst>
                <a:gd name="T0" fmla="*/ 0 w 35"/>
                <a:gd name="T1" fmla="*/ 0 h 43"/>
                <a:gd name="T2" fmla="*/ 0 w 35"/>
                <a:gd name="T3" fmla="*/ 0 h 43"/>
                <a:gd name="T4" fmla="*/ 0 w 35"/>
                <a:gd name="T5" fmla="*/ 0 h 43"/>
                <a:gd name="T6" fmla="*/ 0 w 35"/>
                <a:gd name="T7" fmla="*/ 0 h 43"/>
                <a:gd name="T8" fmla="*/ 0 w 35"/>
                <a:gd name="T9" fmla="*/ 0 h 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43">
                  <a:moveTo>
                    <a:pt x="0" y="0"/>
                  </a:moveTo>
                  <a:lnTo>
                    <a:pt x="7" y="14"/>
                  </a:lnTo>
                  <a:lnTo>
                    <a:pt x="7" y="24"/>
                  </a:lnTo>
                  <a:lnTo>
                    <a:pt x="35" y="4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0" name="Freeform 390"/>
            <p:cNvSpPr>
              <a:spLocks/>
            </p:cNvSpPr>
            <p:nvPr/>
          </p:nvSpPr>
          <p:spPr bwMode="auto">
            <a:xfrm flipH="1">
              <a:off x="1242" y="2761"/>
              <a:ext cx="15" cy="23"/>
            </a:xfrm>
            <a:custGeom>
              <a:avLst/>
              <a:gdLst>
                <a:gd name="T0" fmla="*/ 0 w 114"/>
                <a:gd name="T1" fmla="*/ 0 h 114"/>
                <a:gd name="T2" fmla="*/ 0 w 114"/>
                <a:gd name="T3" fmla="*/ 0 h 114"/>
                <a:gd name="T4" fmla="*/ 0 w 114"/>
                <a:gd name="T5" fmla="*/ 0 h 114"/>
                <a:gd name="T6" fmla="*/ 0 w 114"/>
                <a:gd name="T7" fmla="*/ 0 h 114"/>
                <a:gd name="T8" fmla="*/ 0 w 114"/>
                <a:gd name="T9" fmla="*/ 0 h 114"/>
                <a:gd name="T10" fmla="*/ 0 w 114"/>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4" h="114">
                  <a:moveTo>
                    <a:pt x="0" y="0"/>
                  </a:moveTo>
                  <a:lnTo>
                    <a:pt x="21" y="35"/>
                  </a:lnTo>
                  <a:lnTo>
                    <a:pt x="43" y="63"/>
                  </a:lnTo>
                  <a:lnTo>
                    <a:pt x="114" y="114"/>
                  </a:lnTo>
                  <a:lnTo>
                    <a:pt x="47" y="53"/>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1" name="Freeform 391"/>
            <p:cNvSpPr>
              <a:spLocks/>
            </p:cNvSpPr>
            <p:nvPr/>
          </p:nvSpPr>
          <p:spPr bwMode="auto">
            <a:xfrm flipH="1">
              <a:off x="1234" y="2793"/>
              <a:ext cx="4" cy="15"/>
            </a:xfrm>
            <a:custGeom>
              <a:avLst/>
              <a:gdLst>
                <a:gd name="T0" fmla="*/ 0 w 27"/>
                <a:gd name="T1" fmla="*/ 0 h 82"/>
                <a:gd name="T2" fmla="*/ 0 w 27"/>
                <a:gd name="T3" fmla="*/ 0 h 82"/>
                <a:gd name="T4" fmla="*/ 0 w 27"/>
                <a:gd name="T5" fmla="*/ 0 h 82"/>
                <a:gd name="T6" fmla="*/ 0 w 27"/>
                <a:gd name="T7" fmla="*/ 0 h 82"/>
                <a:gd name="T8" fmla="*/ 0 w 27"/>
                <a:gd name="T9" fmla="*/ 0 h 82"/>
                <a:gd name="T10" fmla="*/ 0 w 27"/>
                <a:gd name="T11" fmla="*/ 0 h 82"/>
                <a:gd name="T12" fmla="*/ 0 w 27"/>
                <a:gd name="T13" fmla="*/ 0 h 8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82">
                  <a:moveTo>
                    <a:pt x="27" y="0"/>
                  </a:moveTo>
                  <a:lnTo>
                    <a:pt x="9" y="29"/>
                  </a:lnTo>
                  <a:lnTo>
                    <a:pt x="4" y="57"/>
                  </a:lnTo>
                  <a:lnTo>
                    <a:pt x="3" y="82"/>
                  </a:lnTo>
                  <a:lnTo>
                    <a:pt x="0" y="47"/>
                  </a:lnTo>
                  <a:lnTo>
                    <a:pt x="3" y="21"/>
                  </a:lnTo>
                  <a:lnTo>
                    <a:pt x="27"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2" name="Freeform 392"/>
            <p:cNvSpPr>
              <a:spLocks/>
            </p:cNvSpPr>
            <p:nvPr/>
          </p:nvSpPr>
          <p:spPr bwMode="auto">
            <a:xfrm flipH="1">
              <a:off x="1270" y="2776"/>
              <a:ext cx="1" cy="7"/>
            </a:xfrm>
            <a:custGeom>
              <a:avLst/>
              <a:gdLst>
                <a:gd name="T0" fmla="*/ 0 w 15"/>
                <a:gd name="T1" fmla="*/ 0 h 30"/>
                <a:gd name="T2" fmla="*/ 0 w 15"/>
                <a:gd name="T3" fmla="*/ 0 h 30"/>
                <a:gd name="T4" fmla="*/ 0 w 15"/>
                <a:gd name="T5" fmla="*/ 0 h 30"/>
                <a:gd name="T6" fmla="*/ 0 w 15"/>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30">
                  <a:moveTo>
                    <a:pt x="11" y="0"/>
                  </a:moveTo>
                  <a:lnTo>
                    <a:pt x="15" y="12"/>
                  </a:lnTo>
                  <a:lnTo>
                    <a:pt x="0" y="30"/>
                  </a:lnTo>
                  <a:lnTo>
                    <a:pt x="1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3" name="Freeform 393"/>
            <p:cNvSpPr>
              <a:spLocks/>
            </p:cNvSpPr>
            <p:nvPr/>
          </p:nvSpPr>
          <p:spPr bwMode="auto">
            <a:xfrm flipH="1">
              <a:off x="1131" y="2561"/>
              <a:ext cx="7" cy="6"/>
            </a:xfrm>
            <a:custGeom>
              <a:avLst/>
              <a:gdLst>
                <a:gd name="T0" fmla="*/ 0 w 51"/>
                <a:gd name="T1" fmla="*/ 0 h 36"/>
                <a:gd name="T2" fmla="*/ 0 w 51"/>
                <a:gd name="T3" fmla="*/ 0 h 36"/>
                <a:gd name="T4" fmla="*/ 0 w 51"/>
                <a:gd name="T5" fmla="*/ 0 h 36"/>
                <a:gd name="T6" fmla="*/ 0 w 51"/>
                <a:gd name="T7" fmla="*/ 0 h 36"/>
                <a:gd name="T8" fmla="*/ 0 w 51"/>
                <a:gd name="T9" fmla="*/ 0 h 36"/>
                <a:gd name="T10" fmla="*/ 0 w 51"/>
                <a:gd name="T11" fmla="*/ 0 h 36"/>
                <a:gd name="T12" fmla="*/ 0 w 51"/>
                <a:gd name="T13" fmla="*/ 0 h 36"/>
                <a:gd name="T14" fmla="*/ 0 w 51"/>
                <a:gd name="T15" fmla="*/ 0 h 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 h="36">
                  <a:moveTo>
                    <a:pt x="0" y="0"/>
                  </a:moveTo>
                  <a:lnTo>
                    <a:pt x="14" y="10"/>
                  </a:lnTo>
                  <a:lnTo>
                    <a:pt x="29" y="15"/>
                  </a:lnTo>
                  <a:lnTo>
                    <a:pt x="43" y="23"/>
                  </a:lnTo>
                  <a:lnTo>
                    <a:pt x="51" y="36"/>
                  </a:lnTo>
                  <a:lnTo>
                    <a:pt x="39" y="32"/>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4" name="Freeform 394"/>
            <p:cNvSpPr>
              <a:spLocks/>
            </p:cNvSpPr>
            <p:nvPr/>
          </p:nvSpPr>
          <p:spPr bwMode="auto">
            <a:xfrm flipH="1">
              <a:off x="1134" y="2572"/>
              <a:ext cx="1" cy="5"/>
            </a:xfrm>
            <a:custGeom>
              <a:avLst/>
              <a:gdLst>
                <a:gd name="T0" fmla="*/ 0 w 14"/>
                <a:gd name="T1" fmla="*/ 0 h 24"/>
                <a:gd name="T2" fmla="*/ 0 w 14"/>
                <a:gd name="T3" fmla="*/ 0 h 24"/>
                <a:gd name="T4" fmla="*/ 0 w 14"/>
                <a:gd name="T5" fmla="*/ 0 h 24"/>
                <a:gd name="T6" fmla="*/ 0 w 14"/>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4">
                  <a:moveTo>
                    <a:pt x="0" y="0"/>
                  </a:moveTo>
                  <a:lnTo>
                    <a:pt x="14" y="0"/>
                  </a:lnTo>
                  <a:lnTo>
                    <a:pt x="14" y="2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5" name="Freeform 395"/>
            <p:cNvSpPr>
              <a:spLocks/>
            </p:cNvSpPr>
            <p:nvPr/>
          </p:nvSpPr>
          <p:spPr bwMode="auto">
            <a:xfrm flipH="1">
              <a:off x="1107" y="2608"/>
              <a:ext cx="56" cy="208"/>
            </a:xfrm>
            <a:custGeom>
              <a:avLst/>
              <a:gdLst>
                <a:gd name="T0" fmla="*/ 0 w 431"/>
                <a:gd name="T1" fmla="*/ 0 h 1076"/>
                <a:gd name="T2" fmla="*/ 0 w 431"/>
                <a:gd name="T3" fmla="*/ 0 h 1076"/>
                <a:gd name="T4" fmla="*/ 0 w 431"/>
                <a:gd name="T5" fmla="*/ 0 h 1076"/>
                <a:gd name="T6" fmla="*/ 0 w 431"/>
                <a:gd name="T7" fmla="*/ 0 h 1076"/>
                <a:gd name="T8" fmla="*/ 0 w 431"/>
                <a:gd name="T9" fmla="*/ 0 h 1076"/>
                <a:gd name="T10" fmla="*/ 0 w 431"/>
                <a:gd name="T11" fmla="*/ 0 h 1076"/>
                <a:gd name="T12" fmla="*/ 0 w 431"/>
                <a:gd name="T13" fmla="*/ 0 h 1076"/>
                <a:gd name="T14" fmla="*/ 0 w 431"/>
                <a:gd name="T15" fmla="*/ 0 h 1076"/>
                <a:gd name="T16" fmla="*/ 0 w 431"/>
                <a:gd name="T17" fmla="*/ 0 h 1076"/>
                <a:gd name="T18" fmla="*/ 0 w 431"/>
                <a:gd name="T19" fmla="*/ 0 h 107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1" h="1076">
                  <a:moveTo>
                    <a:pt x="369" y="0"/>
                  </a:moveTo>
                  <a:lnTo>
                    <a:pt x="328" y="44"/>
                  </a:lnTo>
                  <a:lnTo>
                    <a:pt x="317" y="108"/>
                  </a:lnTo>
                  <a:lnTo>
                    <a:pt x="254" y="170"/>
                  </a:lnTo>
                  <a:lnTo>
                    <a:pt x="126" y="461"/>
                  </a:lnTo>
                  <a:lnTo>
                    <a:pt x="57" y="724"/>
                  </a:lnTo>
                  <a:lnTo>
                    <a:pt x="0" y="1076"/>
                  </a:lnTo>
                  <a:lnTo>
                    <a:pt x="178" y="919"/>
                  </a:lnTo>
                  <a:lnTo>
                    <a:pt x="431" y="140"/>
                  </a:lnTo>
                  <a:lnTo>
                    <a:pt x="369" y="0"/>
                  </a:lnTo>
                  <a:close/>
                </a:path>
              </a:pathLst>
            </a:custGeom>
            <a:solidFill>
              <a:srgbClr val="400000"/>
            </a:solidFill>
            <a:ln w="1588">
              <a:solidFill>
                <a:srgbClr val="000000"/>
              </a:solidFill>
              <a:prstDash val="solid"/>
              <a:round/>
              <a:headEnd/>
              <a:tailEnd/>
            </a:ln>
          </p:spPr>
          <p:txBody>
            <a:bodyPr/>
            <a:lstStyle/>
            <a:p>
              <a:endParaRPr lang="zh-CN" altLang="en-US"/>
            </a:p>
          </p:txBody>
        </p:sp>
        <p:sp>
          <p:nvSpPr>
            <p:cNvPr id="11656" name="Freeform 396"/>
            <p:cNvSpPr>
              <a:spLocks/>
            </p:cNvSpPr>
            <p:nvPr/>
          </p:nvSpPr>
          <p:spPr bwMode="auto">
            <a:xfrm flipH="1">
              <a:off x="1012" y="2567"/>
              <a:ext cx="219" cy="349"/>
            </a:xfrm>
            <a:custGeom>
              <a:avLst/>
              <a:gdLst>
                <a:gd name="T0" fmla="*/ 0 w 1606"/>
                <a:gd name="T1" fmla="*/ 0 h 1792"/>
                <a:gd name="T2" fmla="*/ 0 w 1606"/>
                <a:gd name="T3" fmla="*/ 0 h 1792"/>
                <a:gd name="T4" fmla="*/ 0 w 1606"/>
                <a:gd name="T5" fmla="*/ 0 h 1792"/>
                <a:gd name="T6" fmla="*/ 0 w 1606"/>
                <a:gd name="T7" fmla="*/ 0 h 1792"/>
                <a:gd name="T8" fmla="*/ 0 w 1606"/>
                <a:gd name="T9" fmla="*/ 0 h 1792"/>
                <a:gd name="T10" fmla="*/ 0 w 1606"/>
                <a:gd name="T11" fmla="*/ 0 h 1792"/>
                <a:gd name="T12" fmla="*/ 0 w 1606"/>
                <a:gd name="T13" fmla="*/ 0 h 1792"/>
                <a:gd name="T14" fmla="*/ 0 w 1606"/>
                <a:gd name="T15" fmla="*/ 0 h 1792"/>
                <a:gd name="T16" fmla="*/ 0 w 1606"/>
                <a:gd name="T17" fmla="*/ 0 h 1792"/>
                <a:gd name="T18" fmla="*/ 0 w 1606"/>
                <a:gd name="T19" fmla="*/ 0 h 1792"/>
                <a:gd name="T20" fmla="*/ 0 w 1606"/>
                <a:gd name="T21" fmla="*/ 0 h 1792"/>
                <a:gd name="T22" fmla="*/ 0 w 1606"/>
                <a:gd name="T23" fmla="*/ 0 h 1792"/>
                <a:gd name="T24" fmla="*/ 0 w 1606"/>
                <a:gd name="T25" fmla="*/ 0 h 1792"/>
                <a:gd name="T26" fmla="*/ 0 w 1606"/>
                <a:gd name="T27" fmla="*/ 0 h 1792"/>
                <a:gd name="T28" fmla="*/ 0 w 1606"/>
                <a:gd name="T29" fmla="*/ 0 h 1792"/>
                <a:gd name="T30" fmla="*/ 0 w 1606"/>
                <a:gd name="T31" fmla="*/ 0 h 1792"/>
                <a:gd name="T32" fmla="*/ 0 w 1606"/>
                <a:gd name="T33" fmla="*/ 0 h 1792"/>
                <a:gd name="T34" fmla="*/ 0 w 1606"/>
                <a:gd name="T35" fmla="*/ 0 h 1792"/>
                <a:gd name="T36" fmla="*/ 0 w 1606"/>
                <a:gd name="T37" fmla="*/ 0 h 1792"/>
                <a:gd name="T38" fmla="*/ 0 w 1606"/>
                <a:gd name="T39" fmla="*/ 0 h 1792"/>
                <a:gd name="T40" fmla="*/ 0 w 1606"/>
                <a:gd name="T41" fmla="*/ 0 h 1792"/>
                <a:gd name="T42" fmla="*/ 0 w 1606"/>
                <a:gd name="T43" fmla="*/ 0 h 1792"/>
                <a:gd name="T44" fmla="*/ 0 w 1606"/>
                <a:gd name="T45" fmla="*/ 0 h 1792"/>
                <a:gd name="T46" fmla="*/ 0 w 1606"/>
                <a:gd name="T47" fmla="*/ 1 h 1792"/>
                <a:gd name="T48" fmla="*/ 0 w 1606"/>
                <a:gd name="T49" fmla="*/ 1 h 1792"/>
                <a:gd name="T50" fmla="*/ 0 w 1606"/>
                <a:gd name="T51" fmla="*/ 1 h 1792"/>
                <a:gd name="T52" fmla="*/ 0 w 1606"/>
                <a:gd name="T53" fmla="*/ 1 h 1792"/>
                <a:gd name="T54" fmla="*/ 0 w 1606"/>
                <a:gd name="T55" fmla="*/ 1 h 1792"/>
                <a:gd name="T56" fmla="*/ 0 w 1606"/>
                <a:gd name="T57" fmla="*/ 1 h 1792"/>
                <a:gd name="T58" fmla="*/ 0 w 1606"/>
                <a:gd name="T59" fmla="*/ 1 h 1792"/>
                <a:gd name="T60" fmla="*/ 0 w 1606"/>
                <a:gd name="T61" fmla="*/ 1 h 1792"/>
                <a:gd name="T62" fmla="*/ 0 w 1606"/>
                <a:gd name="T63" fmla="*/ 1 h 1792"/>
                <a:gd name="T64" fmla="*/ 0 w 1606"/>
                <a:gd name="T65" fmla="*/ 1 h 1792"/>
                <a:gd name="T66" fmla="*/ 0 w 1606"/>
                <a:gd name="T67" fmla="*/ 0 h 1792"/>
                <a:gd name="T68" fmla="*/ 0 w 1606"/>
                <a:gd name="T69" fmla="*/ 0 h 1792"/>
                <a:gd name="T70" fmla="*/ 0 w 1606"/>
                <a:gd name="T71" fmla="*/ 0 h 1792"/>
                <a:gd name="T72" fmla="*/ 0 w 1606"/>
                <a:gd name="T73" fmla="*/ 0 h 1792"/>
                <a:gd name="T74" fmla="*/ 0 w 1606"/>
                <a:gd name="T75" fmla="*/ 0 h 1792"/>
                <a:gd name="T76" fmla="*/ 0 w 1606"/>
                <a:gd name="T77" fmla="*/ 0 h 1792"/>
                <a:gd name="T78" fmla="*/ 0 w 1606"/>
                <a:gd name="T79" fmla="*/ 0 h 1792"/>
                <a:gd name="T80" fmla="*/ 0 w 1606"/>
                <a:gd name="T81" fmla="*/ 0 h 1792"/>
                <a:gd name="T82" fmla="*/ 0 w 1606"/>
                <a:gd name="T83" fmla="*/ 0 h 1792"/>
                <a:gd name="T84" fmla="*/ 0 w 1606"/>
                <a:gd name="T85" fmla="*/ 0 h 1792"/>
                <a:gd name="T86" fmla="*/ 0 w 1606"/>
                <a:gd name="T87" fmla="*/ 0 h 1792"/>
                <a:gd name="T88" fmla="*/ 0 w 1606"/>
                <a:gd name="T89" fmla="*/ 0 h 1792"/>
                <a:gd name="T90" fmla="*/ 0 w 1606"/>
                <a:gd name="T91" fmla="*/ 0 h 179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606" h="1792">
                  <a:moveTo>
                    <a:pt x="1309" y="94"/>
                  </a:moveTo>
                  <a:lnTo>
                    <a:pt x="1258" y="0"/>
                  </a:lnTo>
                  <a:lnTo>
                    <a:pt x="867" y="163"/>
                  </a:lnTo>
                  <a:lnTo>
                    <a:pt x="850" y="288"/>
                  </a:lnTo>
                  <a:lnTo>
                    <a:pt x="818" y="332"/>
                  </a:lnTo>
                  <a:lnTo>
                    <a:pt x="773" y="382"/>
                  </a:lnTo>
                  <a:lnTo>
                    <a:pt x="747" y="472"/>
                  </a:lnTo>
                  <a:lnTo>
                    <a:pt x="660" y="678"/>
                  </a:lnTo>
                  <a:lnTo>
                    <a:pt x="590" y="924"/>
                  </a:lnTo>
                  <a:lnTo>
                    <a:pt x="558" y="1088"/>
                  </a:lnTo>
                  <a:lnTo>
                    <a:pt x="243" y="1094"/>
                  </a:lnTo>
                  <a:lnTo>
                    <a:pt x="192" y="1125"/>
                  </a:lnTo>
                  <a:lnTo>
                    <a:pt x="47" y="1125"/>
                  </a:lnTo>
                  <a:lnTo>
                    <a:pt x="7" y="1189"/>
                  </a:lnTo>
                  <a:lnTo>
                    <a:pt x="0" y="1264"/>
                  </a:lnTo>
                  <a:lnTo>
                    <a:pt x="15" y="1332"/>
                  </a:lnTo>
                  <a:lnTo>
                    <a:pt x="148" y="1358"/>
                  </a:lnTo>
                  <a:lnTo>
                    <a:pt x="211" y="1452"/>
                  </a:lnTo>
                  <a:lnTo>
                    <a:pt x="337" y="1484"/>
                  </a:lnTo>
                  <a:lnTo>
                    <a:pt x="430" y="1484"/>
                  </a:lnTo>
                  <a:lnTo>
                    <a:pt x="538" y="1503"/>
                  </a:lnTo>
                  <a:lnTo>
                    <a:pt x="544" y="1548"/>
                  </a:lnTo>
                  <a:lnTo>
                    <a:pt x="538" y="1642"/>
                  </a:lnTo>
                  <a:lnTo>
                    <a:pt x="550" y="1705"/>
                  </a:lnTo>
                  <a:lnTo>
                    <a:pt x="608" y="1712"/>
                  </a:lnTo>
                  <a:lnTo>
                    <a:pt x="677" y="1724"/>
                  </a:lnTo>
                  <a:lnTo>
                    <a:pt x="747" y="1786"/>
                  </a:lnTo>
                  <a:lnTo>
                    <a:pt x="830" y="1786"/>
                  </a:lnTo>
                  <a:lnTo>
                    <a:pt x="905" y="1779"/>
                  </a:lnTo>
                  <a:lnTo>
                    <a:pt x="1019" y="1744"/>
                  </a:lnTo>
                  <a:lnTo>
                    <a:pt x="1145" y="1756"/>
                  </a:lnTo>
                  <a:lnTo>
                    <a:pt x="1273" y="1792"/>
                  </a:lnTo>
                  <a:lnTo>
                    <a:pt x="1392" y="1766"/>
                  </a:lnTo>
                  <a:lnTo>
                    <a:pt x="1473" y="1674"/>
                  </a:lnTo>
                  <a:lnTo>
                    <a:pt x="1467" y="1571"/>
                  </a:lnTo>
                  <a:lnTo>
                    <a:pt x="1497" y="1446"/>
                  </a:lnTo>
                  <a:lnTo>
                    <a:pt x="1516" y="1282"/>
                  </a:lnTo>
                  <a:lnTo>
                    <a:pt x="1554" y="1131"/>
                  </a:lnTo>
                  <a:lnTo>
                    <a:pt x="1606" y="906"/>
                  </a:lnTo>
                  <a:lnTo>
                    <a:pt x="1598" y="678"/>
                  </a:lnTo>
                  <a:lnTo>
                    <a:pt x="1598" y="478"/>
                  </a:lnTo>
                  <a:lnTo>
                    <a:pt x="1586" y="338"/>
                  </a:lnTo>
                  <a:lnTo>
                    <a:pt x="1554" y="276"/>
                  </a:lnTo>
                  <a:lnTo>
                    <a:pt x="1484" y="225"/>
                  </a:lnTo>
                  <a:lnTo>
                    <a:pt x="1403" y="142"/>
                  </a:lnTo>
                  <a:lnTo>
                    <a:pt x="1309" y="94"/>
                  </a:lnTo>
                  <a:close/>
                </a:path>
              </a:pathLst>
            </a:custGeom>
            <a:solidFill>
              <a:srgbClr val="C0C0C0"/>
            </a:solidFill>
            <a:ln w="1588">
              <a:solidFill>
                <a:srgbClr val="000000"/>
              </a:solidFill>
              <a:prstDash val="solid"/>
              <a:round/>
              <a:headEnd/>
              <a:tailEnd/>
            </a:ln>
          </p:spPr>
          <p:txBody>
            <a:bodyPr/>
            <a:lstStyle/>
            <a:p>
              <a:endParaRPr lang="zh-CN" altLang="en-US"/>
            </a:p>
          </p:txBody>
        </p:sp>
        <p:sp>
          <p:nvSpPr>
            <p:cNvPr id="11657" name="Freeform 397"/>
            <p:cNvSpPr>
              <a:spLocks/>
            </p:cNvSpPr>
            <p:nvPr/>
          </p:nvSpPr>
          <p:spPr bwMode="auto">
            <a:xfrm flipH="1">
              <a:off x="1016" y="2589"/>
              <a:ext cx="138" cy="323"/>
            </a:xfrm>
            <a:custGeom>
              <a:avLst/>
              <a:gdLst>
                <a:gd name="T0" fmla="*/ 0 w 1014"/>
                <a:gd name="T1" fmla="*/ 0 h 1671"/>
                <a:gd name="T2" fmla="*/ 0 w 1014"/>
                <a:gd name="T3" fmla="*/ 0 h 1671"/>
                <a:gd name="T4" fmla="*/ 0 w 1014"/>
                <a:gd name="T5" fmla="*/ 0 h 1671"/>
                <a:gd name="T6" fmla="*/ 0 w 1014"/>
                <a:gd name="T7" fmla="*/ 0 h 1671"/>
                <a:gd name="T8" fmla="*/ 0 w 1014"/>
                <a:gd name="T9" fmla="*/ 0 h 1671"/>
                <a:gd name="T10" fmla="*/ 0 w 1014"/>
                <a:gd name="T11" fmla="*/ 0 h 1671"/>
                <a:gd name="T12" fmla="*/ 0 w 1014"/>
                <a:gd name="T13" fmla="*/ 0 h 1671"/>
                <a:gd name="T14" fmla="*/ 0 w 1014"/>
                <a:gd name="T15" fmla="*/ 0 h 1671"/>
                <a:gd name="T16" fmla="*/ 0 w 1014"/>
                <a:gd name="T17" fmla="*/ 0 h 1671"/>
                <a:gd name="T18" fmla="*/ 0 w 1014"/>
                <a:gd name="T19" fmla="*/ 0 h 1671"/>
                <a:gd name="T20" fmla="*/ 0 w 1014"/>
                <a:gd name="T21" fmla="*/ 0 h 1671"/>
                <a:gd name="T22" fmla="*/ 0 w 1014"/>
                <a:gd name="T23" fmla="*/ 0 h 1671"/>
                <a:gd name="T24" fmla="*/ 0 w 1014"/>
                <a:gd name="T25" fmla="*/ 0 h 1671"/>
                <a:gd name="T26" fmla="*/ 0 w 1014"/>
                <a:gd name="T27" fmla="*/ 0 h 1671"/>
                <a:gd name="T28" fmla="*/ 0 w 1014"/>
                <a:gd name="T29" fmla="*/ 0 h 1671"/>
                <a:gd name="T30" fmla="*/ 0 w 1014"/>
                <a:gd name="T31" fmla="*/ 0 h 1671"/>
                <a:gd name="T32" fmla="*/ 0 w 1014"/>
                <a:gd name="T33" fmla="*/ 0 h 1671"/>
                <a:gd name="T34" fmla="*/ 0 w 1014"/>
                <a:gd name="T35" fmla="*/ 0 h 1671"/>
                <a:gd name="T36" fmla="*/ 0 w 1014"/>
                <a:gd name="T37" fmla="*/ 0 h 1671"/>
                <a:gd name="T38" fmla="*/ 0 w 1014"/>
                <a:gd name="T39" fmla="*/ 0 h 1671"/>
                <a:gd name="T40" fmla="*/ 0 w 1014"/>
                <a:gd name="T41" fmla="*/ 0 h 1671"/>
                <a:gd name="T42" fmla="*/ 0 w 1014"/>
                <a:gd name="T43" fmla="*/ 0 h 1671"/>
                <a:gd name="T44" fmla="*/ 0 w 1014"/>
                <a:gd name="T45" fmla="*/ 0 h 1671"/>
                <a:gd name="T46" fmla="*/ 0 w 1014"/>
                <a:gd name="T47" fmla="*/ 0 h 1671"/>
                <a:gd name="T48" fmla="*/ 0 w 1014"/>
                <a:gd name="T49" fmla="*/ 0 h 1671"/>
                <a:gd name="T50" fmla="*/ 0 w 1014"/>
                <a:gd name="T51" fmla="*/ 0 h 1671"/>
                <a:gd name="T52" fmla="*/ 0 w 1014"/>
                <a:gd name="T53" fmla="*/ 0 h 1671"/>
                <a:gd name="T54" fmla="*/ 0 w 1014"/>
                <a:gd name="T55" fmla="*/ 0 h 1671"/>
                <a:gd name="T56" fmla="*/ 0 w 1014"/>
                <a:gd name="T57" fmla="*/ 0 h 1671"/>
                <a:gd name="T58" fmla="*/ 0 w 1014"/>
                <a:gd name="T59" fmla="*/ 0 h 1671"/>
                <a:gd name="T60" fmla="*/ 0 w 1014"/>
                <a:gd name="T61" fmla="*/ 0 h 1671"/>
                <a:gd name="T62" fmla="*/ 0 w 1014"/>
                <a:gd name="T63" fmla="*/ 0 h 1671"/>
                <a:gd name="T64" fmla="*/ 0 w 1014"/>
                <a:gd name="T65" fmla="*/ 0 h 1671"/>
                <a:gd name="T66" fmla="*/ 0 w 1014"/>
                <a:gd name="T67" fmla="*/ 0 h 1671"/>
                <a:gd name="T68" fmla="*/ 0 w 1014"/>
                <a:gd name="T69" fmla="*/ 0 h 1671"/>
                <a:gd name="T70" fmla="*/ 0 w 1014"/>
                <a:gd name="T71" fmla="*/ 0 h 1671"/>
                <a:gd name="T72" fmla="*/ 0 w 1014"/>
                <a:gd name="T73" fmla="*/ 0 h 1671"/>
                <a:gd name="T74" fmla="*/ 0 w 1014"/>
                <a:gd name="T75" fmla="*/ 0 h 1671"/>
                <a:gd name="T76" fmla="*/ 0 w 1014"/>
                <a:gd name="T77" fmla="*/ 0 h 167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014" h="1671">
                  <a:moveTo>
                    <a:pt x="0" y="1402"/>
                  </a:moveTo>
                  <a:lnTo>
                    <a:pt x="132" y="1382"/>
                  </a:lnTo>
                  <a:lnTo>
                    <a:pt x="245" y="1376"/>
                  </a:lnTo>
                  <a:lnTo>
                    <a:pt x="370" y="1363"/>
                  </a:lnTo>
                  <a:lnTo>
                    <a:pt x="509" y="1344"/>
                  </a:lnTo>
                  <a:lnTo>
                    <a:pt x="573" y="1301"/>
                  </a:lnTo>
                  <a:lnTo>
                    <a:pt x="744" y="1088"/>
                  </a:lnTo>
                  <a:lnTo>
                    <a:pt x="656" y="1149"/>
                  </a:lnTo>
                  <a:lnTo>
                    <a:pt x="598" y="1201"/>
                  </a:lnTo>
                  <a:lnTo>
                    <a:pt x="630" y="1050"/>
                  </a:lnTo>
                  <a:lnTo>
                    <a:pt x="693" y="992"/>
                  </a:lnTo>
                  <a:lnTo>
                    <a:pt x="787" y="837"/>
                  </a:lnTo>
                  <a:lnTo>
                    <a:pt x="699" y="911"/>
                  </a:lnTo>
                  <a:lnTo>
                    <a:pt x="642" y="931"/>
                  </a:lnTo>
                  <a:lnTo>
                    <a:pt x="656" y="823"/>
                  </a:lnTo>
                  <a:lnTo>
                    <a:pt x="718" y="741"/>
                  </a:lnTo>
                  <a:lnTo>
                    <a:pt x="781" y="679"/>
                  </a:lnTo>
                  <a:lnTo>
                    <a:pt x="845" y="497"/>
                  </a:lnTo>
                  <a:lnTo>
                    <a:pt x="724" y="647"/>
                  </a:lnTo>
                  <a:lnTo>
                    <a:pt x="656" y="703"/>
                  </a:lnTo>
                  <a:lnTo>
                    <a:pt x="648" y="471"/>
                  </a:lnTo>
                  <a:lnTo>
                    <a:pt x="630" y="378"/>
                  </a:lnTo>
                  <a:lnTo>
                    <a:pt x="592" y="334"/>
                  </a:lnTo>
                  <a:lnTo>
                    <a:pt x="535" y="264"/>
                  </a:lnTo>
                  <a:lnTo>
                    <a:pt x="445" y="232"/>
                  </a:lnTo>
                  <a:lnTo>
                    <a:pt x="402" y="214"/>
                  </a:lnTo>
                  <a:lnTo>
                    <a:pt x="528" y="94"/>
                  </a:lnTo>
                  <a:lnTo>
                    <a:pt x="661" y="126"/>
                  </a:lnTo>
                  <a:lnTo>
                    <a:pt x="750" y="176"/>
                  </a:lnTo>
                  <a:lnTo>
                    <a:pt x="781" y="226"/>
                  </a:lnTo>
                  <a:lnTo>
                    <a:pt x="756" y="150"/>
                  </a:lnTo>
                  <a:lnTo>
                    <a:pt x="705" y="126"/>
                  </a:lnTo>
                  <a:lnTo>
                    <a:pt x="624" y="94"/>
                  </a:lnTo>
                  <a:lnTo>
                    <a:pt x="560" y="82"/>
                  </a:lnTo>
                  <a:lnTo>
                    <a:pt x="598" y="62"/>
                  </a:lnTo>
                  <a:lnTo>
                    <a:pt x="661" y="44"/>
                  </a:lnTo>
                  <a:lnTo>
                    <a:pt x="718" y="25"/>
                  </a:lnTo>
                  <a:lnTo>
                    <a:pt x="750" y="0"/>
                  </a:lnTo>
                  <a:lnTo>
                    <a:pt x="825" y="50"/>
                  </a:lnTo>
                  <a:lnTo>
                    <a:pt x="868" y="94"/>
                  </a:lnTo>
                  <a:lnTo>
                    <a:pt x="913" y="150"/>
                  </a:lnTo>
                  <a:lnTo>
                    <a:pt x="976" y="182"/>
                  </a:lnTo>
                  <a:lnTo>
                    <a:pt x="988" y="240"/>
                  </a:lnTo>
                  <a:lnTo>
                    <a:pt x="1014" y="334"/>
                  </a:lnTo>
                  <a:lnTo>
                    <a:pt x="1014" y="478"/>
                  </a:lnTo>
                  <a:lnTo>
                    <a:pt x="1008" y="628"/>
                  </a:lnTo>
                  <a:lnTo>
                    <a:pt x="1002" y="799"/>
                  </a:lnTo>
                  <a:lnTo>
                    <a:pt x="970" y="975"/>
                  </a:lnTo>
                  <a:lnTo>
                    <a:pt x="931" y="1157"/>
                  </a:lnTo>
                  <a:lnTo>
                    <a:pt x="913" y="1314"/>
                  </a:lnTo>
                  <a:lnTo>
                    <a:pt x="882" y="1426"/>
                  </a:lnTo>
                  <a:lnTo>
                    <a:pt x="888" y="1527"/>
                  </a:lnTo>
                  <a:lnTo>
                    <a:pt x="875" y="1584"/>
                  </a:lnTo>
                  <a:lnTo>
                    <a:pt x="830" y="1627"/>
                  </a:lnTo>
                  <a:lnTo>
                    <a:pt x="775" y="1664"/>
                  </a:lnTo>
                  <a:lnTo>
                    <a:pt x="699" y="1671"/>
                  </a:lnTo>
                  <a:lnTo>
                    <a:pt x="661" y="1652"/>
                  </a:lnTo>
                  <a:lnTo>
                    <a:pt x="612" y="1648"/>
                  </a:lnTo>
                  <a:lnTo>
                    <a:pt x="490" y="1622"/>
                  </a:lnTo>
                  <a:lnTo>
                    <a:pt x="541" y="1559"/>
                  </a:lnTo>
                  <a:lnTo>
                    <a:pt x="598" y="1470"/>
                  </a:lnTo>
                  <a:lnTo>
                    <a:pt x="516" y="1534"/>
                  </a:lnTo>
                  <a:lnTo>
                    <a:pt x="452" y="1590"/>
                  </a:lnTo>
                  <a:lnTo>
                    <a:pt x="407" y="1622"/>
                  </a:lnTo>
                  <a:lnTo>
                    <a:pt x="345" y="1652"/>
                  </a:lnTo>
                  <a:lnTo>
                    <a:pt x="276" y="1652"/>
                  </a:lnTo>
                  <a:lnTo>
                    <a:pt x="208" y="1652"/>
                  </a:lnTo>
                  <a:lnTo>
                    <a:pt x="170" y="1636"/>
                  </a:lnTo>
                  <a:lnTo>
                    <a:pt x="151" y="1616"/>
                  </a:lnTo>
                  <a:lnTo>
                    <a:pt x="240" y="1565"/>
                  </a:lnTo>
                  <a:lnTo>
                    <a:pt x="327" y="1484"/>
                  </a:lnTo>
                  <a:lnTo>
                    <a:pt x="352" y="1446"/>
                  </a:lnTo>
                  <a:lnTo>
                    <a:pt x="282" y="1463"/>
                  </a:lnTo>
                  <a:lnTo>
                    <a:pt x="176" y="1546"/>
                  </a:lnTo>
                  <a:lnTo>
                    <a:pt x="132" y="1584"/>
                  </a:lnTo>
                  <a:lnTo>
                    <a:pt x="32" y="1590"/>
                  </a:lnTo>
                  <a:lnTo>
                    <a:pt x="0" y="1572"/>
                  </a:lnTo>
                  <a:lnTo>
                    <a:pt x="0" y="1527"/>
                  </a:lnTo>
                  <a:lnTo>
                    <a:pt x="0" y="1402"/>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8" name="Freeform 398"/>
            <p:cNvSpPr>
              <a:spLocks/>
            </p:cNvSpPr>
            <p:nvPr/>
          </p:nvSpPr>
          <p:spPr bwMode="auto">
            <a:xfrm flipH="1">
              <a:off x="1026" y="2749"/>
              <a:ext cx="42" cy="150"/>
            </a:xfrm>
            <a:custGeom>
              <a:avLst/>
              <a:gdLst>
                <a:gd name="T0" fmla="*/ 0 w 295"/>
                <a:gd name="T1" fmla="*/ 0 h 774"/>
                <a:gd name="T2" fmla="*/ 0 w 295"/>
                <a:gd name="T3" fmla="*/ 0 h 774"/>
                <a:gd name="T4" fmla="*/ 0 w 295"/>
                <a:gd name="T5" fmla="*/ 0 h 774"/>
                <a:gd name="T6" fmla="*/ 0 w 295"/>
                <a:gd name="T7" fmla="*/ 0 h 774"/>
                <a:gd name="T8" fmla="*/ 0 w 295"/>
                <a:gd name="T9" fmla="*/ 0 h 774"/>
                <a:gd name="T10" fmla="*/ 0 w 295"/>
                <a:gd name="T11" fmla="*/ 0 h 774"/>
                <a:gd name="T12" fmla="*/ 0 w 295"/>
                <a:gd name="T13" fmla="*/ 0 h 774"/>
                <a:gd name="T14" fmla="*/ 0 w 295"/>
                <a:gd name="T15" fmla="*/ 0 h 774"/>
                <a:gd name="T16" fmla="*/ 0 w 295"/>
                <a:gd name="T17" fmla="*/ 0 h 774"/>
                <a:gd name="T18" fmla="*/ 0 w 295"/>
                <a:gd name="T19" fmla="*/ 0 h 774"/>
                <a:gd name="T20" fmla="*/ 0 w 295"/>
                <a:gd name="T21" fmla="*/ 0 h 774"/>
                <a:gd name="T22" fmla="*/ 0 w 295"/>
                <a:gd name="T23" fmla="*/ 0 h 774"/>
                <a:gd name="T24" fmla="*/ 0 w 295"/>
                <a:gd name="T25" fmla="*/ 0 h 774"/>
                <a:gd name="T26" fmla="*/ 0 w 295"/>
                <a:gd name="T27" fmla="*/ 0 h 77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5" h="774">
                  <a:moveTo>
                    <a:pt x="0" y="774"/>
                  </a:moveTo>
                  <a:lnTo>
                    <a:pt x="51" y="748"/>
                  </a:lnTo>
                  <a:lnTo>
                    <a:pt x="107" y="686"/>
                  </a:lnTo>
                  <a:lnTo>
                    <a:pt x="156" y="573"/>
                  </a:lnTo>
                  <a:lnTo>
                    <a:pt x="183" y="477"/>
                  </a:lnTo>
                  <a:lnTo>
                    <a:pt x="220" y="371"/>
                  </a:lnTo>
                  <a:lnTo>
                    <a:pt x="239" y="270"/>
                  </a:lnTo>
                  <a:lnTo>
                    <a:pt x="270" y="114"/>
                  </a:lnTo>
                  <a:lnTo>
                    <a:pt x="295" y="0"/>
                  </a:lnTo>
                  <a:lnTo>
                    <a:pt x="232" y="226"/>
                  </a:lnTo>
                  <a:lnTo>
                    <a:pt x="183" y="402"/>
                  </a:lnTo>
                  <a:lnTo>
                    <a:pt x="126" y="521"/>
                  </a:lnTo>
                  <a:lnTo>
                    <a:pt x="38" y="648"/>
                  </a:lnTo>
                  <a:lnTo>
                    <a:pt x="0" y="77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59" name="Freeform 399"/>
            <p:cNvSpPr>
              <a:spLocks/>
            </p:cNvSpPr>
            <p:nvPr/>
          </p:nvSpPr>
          <p:spPr bwMode="auto">
            <a:xfrm flipH="1">
              <a:off x="1068" y="2628"/>
              <a:ext cx="159" cy="225"/>
            </a:xfrm>
            <a:custGeom>
              <a:avLst/>
              <a:gdLst>
                <a:gd name="T0" fmla="*/ 0 w 1172"/>
                <a:gd name="T1" fmla="*/ 0 h 1162"/>
                <a:gd name="T2" fmla="*/ 0 w 1172"/>
                <a:gd name="T3" fmla="*/ 0 h 1162"/>
                <a:gd name="T4" fmla="*/ 0 w 1172"/>
                <a:gd name="T5" fmla="*/ 0 h 1162"/>
                <a:gd name="T6" fmla="*/ 0 w 1172"/>
                <a:gd name="T7" fmla="*/ 0 h 1162"/>
                <a:gd name="T8" fmla="*/ 0 w 1172"/>
                <a:gd name="T9" fmla="*/ 0 h 1162"/>
                <a:gd name="T10" fmla="*/ 0 w 1172"/>
                <a:gd name="T11" fmla="*/ 0 h 1162"/>
                <a:gd name="T12" fmla="*/ 0 w 1172"/>
                <a:gd name="T13" fmla="*/ 0 h 1162"/>
                <a:gd name="T14" fmla="*/ 0 w 1172"/>
                <a:gd name="T15" fmla="*/ 0 h 1162"/>
                <a:gd name="T16" fmla="*/ 0 w 1172"/>
                <a:gd name="T17" fmla="*/ 0 h 1162"/>
                <a:gd name="T18" fmla="*/ 0 w 1172"/>
                <a:gd name="T19" fmla="*/ 0 h 1162"/>
                <a:gd name="T20" fmla="*/ 0 w 1172"/>
                <a:gd name="T21" fmla="*/ 0 h 1162"/>
                <a:gd name="T22" fmla="*/ 0 w 1172"/>
                <a:gd name="T23" fmla="*/ 0 h 1162"/>
                <a:gd name="T24" fmla="*/ 0 w 1172"/>
                <a:gd name="T25" fmla="*/ 0 h 1162"/>
                <a:gd name="T26" fmla="*/ 0 w 1172"/>
                <a:gd name="T27" fmla="*/ 0 h 1162"/>
                <a:gd name="T28" fmla="*/ 0 w 1172"/>
                <a:gd name="T29" fmla="*/ 0 h 1162"/>
                <a:gd name="T30" fmla="*/ 0 w 1172"/>
                <a:gd name="T31" fmla="*/ 0 h 1162"/>
                <a:gd name="T32" fmla="*/ 0 w 1172"/>
                <a:gd name="T33" fmla="*/ 0 h 1162"/>
                <a:gd name="T34" fmla="*/ 0 w 1172"/>
                <a:gd name="T35" fmla="*/ 0 h 1162"/>
                <a:gd name="T36" fmla="*/ 0 w 1172"/>
                <a:gd name="T37" fmla="*/ 0 h 1162"/>
                <a:gd name="T38" fmla="*/ 0 w 1172"/>
                <a:gd name="T39" fmla="*/ 0 h 1162"/>
                <a:gd name="T40" fmla="*/ 0 w 1172"/>
                <a:gd name="T41" fmla="*/ 0 h 1162"/>
                <a:gd name="T42" fmla="*/ 0 w 1172"/>
                <a:gd name="T43" fmla="*/ 0 h 1162"/>
                <a:gd name="T44" fmla="*/ 0 w 1172"/>
                <a:gd name="T45" fmla="*/ 0 h 1162"/>
                <a:gd name="T46" fmla="*/ 0 w 1172"/>
                <a:gd name="T47" fmla="*/ 0 h 1162"/>
                <a:gd name="T48" fmla="*/ 0 w 1172"/>
                <a:gd name="T49" fmla="*/ 0 h 1162"/>
                <a:gd name="T50" fmla="*/ 0 w 1172"/>
                <a:gd name="T51" fmla="*/ 0 h 1162"/>
                <a:gd name="T52" fmla="*/ 0 w 1172"/>
                <a:gd name="T53" fmla="*/ 0 h 1162"/>
                <a:gd name="T54" fmla="*/ 0 w 1172"/>
                <a:gd name="T55" fmla="*/ 0 h 1162"/>
                <a:gd name="T56" fmla="*/ 0 w 1172"/>
                <a:gd name="T57" fmla="*/ 0 h 1162"/>
                <a:gd name="T58" fmla="*/ 0 w 1172"/>
                <a:gd name="T59" fmla="*/ 0 h 1162"/>
                <a:gd name="T60" fmla="*/ 0 w 1172"/>
                <a:gd name="T61" fmla="*/ 0 h 1162"/>
                <a:gd name="T62" fmla="*/ 0 w 1172"/>
                <a:gd name="T63" fmla="*/ 0 h 1162"/>
                <a:gd name="T64" fmla="*/ 0 w 1172"/>
                <a:gd name="T65" fmla="*/ 0 h 1162"/>
                <a:gd name="T66" fmla="*/ 0 w 1172"/>
                <a:gd name="T67" fmla="*/ 0 h 1162"/>
                <a:gd name="T68" fmla="*/ 0 w 1172"/>
                <a:gd name="T69" fmla="*/ 0 h 1162"/>
                <a:gd name="T70" fmla="*/ 0 w 1172"/>
                <a:gd name="T71" fmla="*/ 0 h 1162"/>
                <a:gd name="T72" fmla="*/ 0 w 1172"/>
                <a:gd name="T73" fmla="*/ 0 h 1162"/>
                <a:gd name="T74" fmla="*/ 0 w 1172"/>
                <a:gd name="T75" fmla="*/ 0 h 1162"/>
                <a:gd name="T76" fmla="*/ 0 w 1172"/>
                <a:gd name="T77" fmla="*/ 0 h 1162"/>
                <a:gd name="T78" fmla="*/ 0 w 1172"/>
                <a:gd name="T79" fmla="*/ 0 h 1162"/>
                <a:gd name="T80" fmla="*/ 0 w 1172"/>
                <a:gd name="T81" fmla="*/ 0 h 1162"/>
                <a:gd name="T82" fmla="*/ 0 w 1172"/>
                <a:gd name="T83" fmla="*/ 0 h 1162"/>
                <a:gd name="T84" fmla="*/ 0 w 1172"/>
                <a:gd name="T85" fmla="*/ 0 h 1162"/>
                <a:gd name="T86" fmla="*/ 0 w 1172"/>
                <a:gd name="T87" fmla="*/ 0 h 1162"/>
                <a:gd name="T88" fmla="*/ 0 w 1172"/>
                <a:gd name="T89" fmla="*/ 0 h 1162"/>
                <a:gd name="T90" fmla="*/ 0 w 1172"/>
                <a:gd name="T91" fmla="*/ 0 h 1162"/>
                <a:gd name="T92" fmla="*/ 0 w 1172"/>
                <a:gd name="T93" fmla="*/ 0 h 1162"/>
                <a:gd name="T94" fmla="*/ 0 w 1172"/>
                <a:gd name="T95" fmla="*/ 0 h 1162"/>
                <a:gd name="T96" fmla="*/ 0 w 1172"/>
                <a:gd name="T97" fmla="*/ 0 h 1162"/>
                <a:gd name="T98" fmla="*/ 0 w 1172"/>
                <a:gd name="T99" fmla="*/ 0 h 1162"/>
                <a:gd name="T100" fmla="*/ 0 w 1172"/>
                <a:gd name="T101" fmla="*/ 0 h 1162"/>
                <a:gd name="T102" fmla="*/ 0 w 1172"/>
                <a:gd name="T103" fmla="*/ 0 h 1162"/>
                <a:gd name="T104" fmla="*/ 0 w 1172"/>
                <a:gd name="T105" fmla="*/ 0 h 1162"/>
                <a:gd name="T106" fmla="*/ 0 w 1172"/>
                <a:gd name="T107" fmla="*/ 0 h 1162"/>
                <a:gd name="T108" fmla="*/ 0 w 1172"/>
                <a:gd name="T109" fmla="*/ 0 h 1162"/>
                <a:gd name="T110" fmla="*/ 0 w 1172"/>
                <a:gd name="T111" fmla="*/ 0 h 1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72" h="1162">
                  <a:moveTo>
                    <a:pt x="959" y="0"/>
                  </a:moveTo>
                  <a:lnTo>
                    <a:pt x="820" y="43"/>
                  </a:lnTo>
                  <a:lnTo>
                    <a:pt x="756" y="100"/>
                  </a:lnTo>
                  <a:lnTo>
                    <a:pt x="719" y="213"/>
                  </a:lnTo>
                  <a:lnTo>
                    <a:pt x="719" y="321"/>
                  </a:lnTo>
                  <a:lnTo>
                    <a:pt x="739" y="381"/>
                  </a:lnTo>
                  <a:lnTo>
                    <a:pt x="727" y="489"/>
                  </a:lnTo>
                  <a:lnTo>
                    <a:pt x="727" y="571"/>
                  </a:lnTo>
                  <a:lnTo>
                    <a:pt x="745" y="591"/>
                  </a:lnTo>
                  <a:lnTo>
                    <a:pt x="727" y="621"/>
                  </a:lnTo>
                  <a:lnTo>
                    <a:pt x="713" y="652"/>
                  </a:lnTo>
                  <a:lnTo>
                    <a:pt x="739" y="684"/>
                  </a:lnTo>
                  <a:lnTo>
                    <a:pt x="739" y="716"/>
                  </a:lnTo>
                  <a:lnTo>
                    <a:pt x="688" y="729"/>
                  </a:lnTo>
                  <a:lnTo>
                    <a:pt x="695" y="761"/>
                  </a:lnTo>
                  <a:lnTo>
                    <a:pt x="644" y="779"/>
                  </a:lnTo>
                  <a:lnTo>
                    <a:pt x="599" y="767"/>
                  </a:lnTo>
                  <a:lnTo>
                    <a:pt x="569" y="779"/>
                  </a:lnTo>
                  <a:lnTo>
                    <a:pt x="428" y="799"/>
                  </a:lnTo>
                  <a:lnTo>
                    <a:pt x="304" y="793"/>
                  </a:lnTo>
                  <a:lnTo>
                    <a:pt x="222" y="799"/>
                  </a:lnTo>
                  <a:lnTo>
                    <a:pt x="170" y="831"/>
                  </a:lnTo>
                  <a:lnTo>
                    <a:pt x="45" y="831"/>
                  </a:lnTo>
                  <a:lnTo>
                    <a:pt x="0" y="873"/>
                  </a:lnTo>
                  <a:lnTo>
                    <a:pt x="0" y="923"/>
                  </a:lnTo>
                  <a:lnTo>
                    <a:pt x="6" y="1004"/>
                  </a:lnTo>
                  <a:lnTo>
                    <a:pt x="109" y="1030"/>
                  </a:lnTo>
                  <a:lnTo>
                    <a:pt x="109" y="978"/>
                  </a:lnTo>
                  <a:lnTo>
                    <a:pt x="115" y="935"/>
                  </a:lnTo>
                  <a:lnTo>
                    <a:pt x="133" y="916"/>
                  </a:lnTo>
                  <a:lnTo>
                    <a:pt x="141" y="966"/>
                  </a:lnTo>
                  <a:lnTo>
                    <a:pt x="147" y="1030"/>
                  </a:lnTo>
                  <a:lnTo>
                    <a:pt x="170" y="1068"/>
                  </a:lnTo>
                  <a:lnTo>
                    <a:pt x="215" y="1118"/>
                  </a:lnTo>
                  <a:lnTo>
                    <a:pt x="321" y="1142"/>
                  </a:lnTo>
                  <a:lnTo>
                    <a:pt x="403" y="1155"/>
                  </a:lnTo>
                  <a:lnTo>
                    <a:pt x="499" y="1162"/>
                  </a:lnTo>
                  <a:lnTo>
                    <a:pt x="379" y="1093"/>
                  </a:lnTo>
                  <a:lnTo>
                    <a:pt x="297" y="1030"/>
                  </a:lnTo>
                  <a:lnTo>
                    <a:pt x="279" y="978"/>
                  </a:lnTo>
                  <a:lnTo>
                    <a:pt x="291" y="935"/>
                  </a:lnTo>
                  <a:lnTo>
                    <a:pt x="358" y="929"/>
                  </a:lnTo>
                  <a:lnTo>
                    <a:pt x="385" y="978"/>
                  </a:lnTo>
                  <a:lnTo>
                    <a:pt x="403" y="1036"/>
                  </a:lnTo>
                  <a:lnTo>
                    <a:pt x="467" y="1098"/>
                  </a:lnTo>
                  <a:lnTo>
                    <a:pt x="537" y="1149"/>
                  </a:lnTo>
                  <a:lnTo>
                    <a:pt x="607" y="1155"/>
                  </a:lnTo>
                  <a:lnTo>
                    <a:pt x="713" y="1149"/>
                  </a:lnTo>
                  <a:lnTo>
                    <a:pt x="599" y="1061"/>
                  </a:lnTo>
                  <a:lnTo>
                    <a:pt x="517" y="1016"/>
                  </a:lnTo>
                  <a:lnTo>
                    <a:pt x="454" y="966"/>
                  </a:lnTo>
                  <a:lnTo>
                    <a:pt x="435" y="929"/>
                  </a:lnTo>
                  <a:lnTo>
                    <a:pt x="441" y="891"/>
                  </a:lnTo>
                  <a:lnTo>
                    <a:pt x="479" y="885"/>
                  </a:lnTo>
                  <a:lnTo>
                    <a:pt x="523" y="923"/>
                  </a:lnTo>
                  <a:lnTo>
                    <a:pt x="549" y="972"/>
                  </a:lnTo>
                  <a:lnTo>
                    <a:pt x="607" y="1036"/>
                  </a:lnTo>
                  <a:lnTo>
                    <a:pt x="675" y="1068"/>
                  </a:lnTo>
                  <a:lnTo>
                    <a:pt x="727" y="1098"/>
                  </a:lnTo>
                  <a:lnTo>
                    <a:pt x="782" y="1123"/>
                  </a:lnTo>
                  <a:lnTo>
                    <a:pt x="846" y="1136"/>
                  </a:lnTo>
                  <a:lnTo>
                    <a:pt x="921" y="1136"/>
                  </a:lnTo>
                  <a:lnTo>
                    <a:pt x="994" y="1122"/>
                  </a:lnTo>
                  <a:lnTo>
                    <a:pt x="833" y="1068"/>
                  </a:lnTo>
                  <a:lnTo>
                    <a:pt x="771" y="1036"/>
                  </a:lnTo>
                  <a:lnTo>
                    <a:pt x="727" y="978"/>
                  </a:lnTo>
                  <a:lnTo>
                    <a:pt x="719" y="929"/>
                  </a:lnTo>
                  <a:lnTo>
                    <a:pt x="756" y="929"/>
                  </a:lnTo>
                  <a:lnTo>
                    <a:pt x="777" y="972"/>
                  </a:lnTo>
                  <a:lnTo>
                    <a:pt x="808" y="1010"/>
                  </a:lnTo>
                  <a:lnTo>
                    <a:pt x="859" y="1049"/>
                  </a:lnTo>
                  <a:lnTo>
                    <a:pt x="914" y="1087"/>
                  </a:lnTo>
                  <a:lnTo>
                    <a:pt x="989" y="1119"/>
                  </a:lnTo>
                  <a:lnTo>
                    <a:pt x="1046" y="1098"/>
                  </a:lnTo>
                  <a:lnTo>
                    <a:pt x="1072" y="1068"/>
                  </a:lnTo>
                  <a:lnTo>
                    <a:pt x="1117" y="991"/>
                  </a:lnTo>
                  <a:lnTo>
                    <a:pt x="1034" y="972"/>
                  </a:lnTo>
                  <a:lnTo>
                    <a:pt x="878" y="954"/>
                  </a:lnTo>
                  <a:lnTo>
                    <a:pt x="782" y="910"/>
                  </a:lnTo>
                  <a:lnTo>
                    <a:pt x="733" y="868"/>
                  </a:lnTo>
                  <a:lnTo>
                    <a:pt x="713" y="816"/>
                  </a:lnTo>
                  <a:lnTo>
                    <a:pt x="707" y="793"/>
                  </a:lnTo>
                  <a:lnTo>
                    <a:pt x="733" y="793"/>
                  </a:lnTo>
                  <a:lnTo>
                    <a:pt x="765" y="831"/>
                  </a:lnTo>
                  <a:lnTo>
                    <a:pt x="814" y="897"/>
                  </a:lnTo>
                  <a:lnTo>
                    <a:pt x="927" y="935"/>
                  </a:lnTo>
                  <a:lnTo>
                    <a:pt x="1034" y="968"/>
                  </a:lnTo>
                  <a:lnTo>
                    <a:pt x="1117" y="991"/>
                  </a:lnTo>
                  <a:lnTo>
                    <a:pt x="1149" y="861"/>
                  </a:lnTo>
                  <a:lnTo>
                    <a:pt x="1155" y="767"/>
                  </a:lnTo>
                  <a:lnTo>
                    <a:pt x="1155" y="683"/>
                  </a:lnTo>
                  <a:lnTo>
                    <a:pt x="1046" y="741"/>
                  </a:lnTo>
                  <a:lnTo>
                    <a:pt x="921" y="767"/>
                  </a:lnTo>
                  <a:lnTo>
                    <a:pt x="820" y="761"/>
                  </a:lnTo>
                  <a:lnTo>
                    <a:pt x="795" y="748"/>
                  </a:lnTo>
                  <a:lnTo>
                    <a:pt x="782" y="716"/>
                  </a:lnTo>
                  <a:lnTo>
                    <a:pt x="840" y="716"/>
                  </a:lnTo>
                  <a:lnTo>
                    <a:pt x="901" y="735"/>
                  </a:lnTo>
                  <a:lnTo>
                    <a:pt x="1049" y="741"/>
                  </a:lnTo>
                  <a:lnTo>
                    <a:pt x="1155" y="684"/>
                  </a:lnTo>
                  <a:lnTo>
                    <a:pt x="1161" y="565"/>
                  </a:lnTo>
                  <a:lnTo>
                    <a:pt x="1167" y="483"/>
                  </a:lnTo>
                  <a:lnTo>
                    <a:pt x="1172" y="401"/>
                  </a:lnTo>
                  <a:lnTo>
                    <a:pt x="1161" y="264"/>
                  </a:lnTo>
                  <a:lnTo>
                    <a:pt x="1129" y="213"/>
                  </a:lnTo>
                  <a:lnTo>
                    <a:pt x="1034" y="152"/>
                  </a:lnTo>
                  <a:lnTo>
                    <a:pt x="1065" y="158"/>
                  </a:lnTo>
                  <a:lnTo>
                    <a:pt x="1161" y="201"/>
                  </a:lnTo>
                  <a:lnTo>
                    <a:pt x="1123" y="113"/>
                  </a:lnTo>
                  <a:lnTo>
                    <a:pt x="1091" y="68"/>
                  </a:lnTo>
                  <a:lnTo>
                    <a:pt x="1065" y="38"/>
                  </a:lnTo>
                  <a:lnTo>
                    <a:pt x="959"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0" name="Freeform 400"/>
            <p:cNvSpPr>
              <a:spLocks/>
            </p:cNvSpPr>
            <p:nvPr/>
          </p:nvSpPr>
          <p:spPr bwMode="auto">
            <a:xfrm flipH="1">
              <a:off x="1078" y="2712"/>
              <a:ext cx="41" cy="50"/>
            </a:xfrm>
            <a:custGeom>
              <a:avLst/>
              <a:gdLst>
                <a:gd name="T0" fmla="*/ 0 w 295"/>
                <a:gd name="T1" fmla="*/ 0 h 263"/>
                <a:gd name="T2" fmla="*/ 0 w 295"/>
                <a:gd name="T3" fmla="*/ 0 h 263"/>
                <a:gd name="T4" fmla="*/ 0 w 295"/>
                <a:gd name="T5" fmla="*/ 0 h 263"/>
                <a:gd name="T6" fmla="*/ 0 w 295"/>
                <a:gd name="T7" fmla="*/ 0 h 263"/>
                <a:gd name="T8" fmla="*/ 0 w 295"/>
                <a:gd name="T9" fmla="*/ 0 h 263"/>
                <a:gd name="T10" fmla="*/ 0 w 295"/>
                <a:gd name="T11" fmla="*/ 0 h 263"/>
                <a:gd name="T12" fmla="*/ 0 w 295"/>
                <a:gd name="T13" fmla="*/ 0 h 263"/>
                <a:gd name="T14" fmla="*/ 0 w 295"/>
                <a:gd name="T15" fmla="*/ 0 h 263"/>
                <a:gd name="T16" fmla="*/ 0 w 295"/>
                <a:gd name="T17" fmla="*/ 0 h 263"/>
                <a:gd name="T18" fmla="*/ 0 w 295"/>
                <a:gd name="T19" fmla="*/ 0 h 263"/>
                <a:gd name="T20" fmla="*/ 0 w 295"/>
                <a:gd name="T21" fmla="*/ 0 h 263"/>
                <a:gd name="T22" fmla="*/ 0 w 295"/>
                <a:gd name="T23" fmla="*/ 0 h 263"/>
                <a:gd name="T24" fmla="*/ 0 w 295"/>
                <a:gd name="T25" fmla="*/ 0 h 263"/>
                <a:gd name="T26" fmla="*/ 0 w 295"/>
                <a:gd name="T27" fmla="*/ 0 h 263"/>
                <a:gd name="T28" fmla="*/ 0 w 295"/>
                <a:gd name="T29" fmla="*/ 0 h 263"/>
                <a:gd name="T30" fmla="*/ 0 w 295"/>
                <a:gd name="T31" fmla="*/ 0 h 263"/>
                <a:gd name="T32" fmla="*/ 0 w 295"/>
                <a:gd name="T33" fmla="*/ 0 h 263"/>
                <a:gd name="T34" fmla="*/ 0 w 295"/>
                <a:gd name="T35" fmla="*/ 0 h 263"/>
                <a:gd name="T36" fmla="*/ 0 w 295"/>
                <a:gd name="T37" fmla="*/ 0 h 263"/>
                <a:gd name="T38" fmla="*/ 0 w 295"/>
                <a:gd name="T39" fmla="*/ 0 h 263"/>
                <a:gd name="T40" fmla="*/ 0 w 295"/>
                <a:gd name="T41" fmla="*/ 0 h 263"/>
                <a:gd name="T42" fmla="*/ 0 w 295"/>
                <a:gd name="T43" fmla="*/ 0 h 263"/>
                <a:gd name="T44" fmla="*/ 0 w 295"/>
                <a:gd name="T45" fmla="*/ 0 h 2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95" h="263">
                  <a:moveTo>
                    <a:pt x="0" y="0"/>
                  </a:moveTo>
                  <a:lnTo>
                    <a:pt x="0" y="21"/>
                  </a:lnTo>
                  <a:lnTo>
                    <a:pt x="38" y="71"/>
                  </a:lnTo>
                  <a:lnTo>
                    <a:pt x="75" y="99"/>
                  </a:lnTo>
                  <a:lnTo>
                    <a:pt x="152" y="158"/>
                  </a:lnTo>
                  <a:lnTo>
                    <a:pt x="184" y="182"/>
                  </a:lnTo>
                  <a:lnTo>
                    <a:pt x="260" y="239"/>
                  </a:lnTo>
                  <a:lnTo>
                    <a:pt x="178" y="213"/>
                  </a:lnTo>
                  <a:lnTo>
                    <a:pt x="97" y="188"/>
                  </a:lnTo>
                  <a:lnTo>
                    <a:pt x="16" y="182"/>
                  </a:lnTo>
                  <a:lnTo>
                    <a:pt x="22" y="207"/>
                  </a:lnTo>
                  <a:lnTo>
                    <a:pt x="152" y="231"/>
                  </a:lnTo>
                  <a:lnTo>
                    <a:pt x="222" y="257"/>
                  </a:lnTo>
                  <a:lnTo>
                    <a:pt x="260" y="263"/>
                  </a:lnTo>
                  <a:lnTo>
                    <a:pt x="292" y="252"/>
                  </a:lnTo>
                  <a:lnTo>
                    <a:pt x="295" y="222"/>
                  </a:lnTo>
                  <a:lnTo>
                    <a:pt x="269" y="199"/>
                  </a:lnTo>
                  <a:lnTo>
                    <a:pt x="232" y="162"/>
                  </a:lnTo>
                  <a:lnTo>
                    <a:pt x="188" y="112"/>
                  </a:lnTo>
                  <a:lnTo>
                    <a:pt x="144" y="56"/>
                  </a:lnTo>
                  <a:lnTo>
                    <a:pt x="91" y="17"/>
                  </a:lnTo>
                  <a:lnTo>
                    <a:pt x="35" y="3"/>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1" name="Freeform 401"/>
            <p:cNvSpPr>
              <a:spLocks/>
            </p:cNvSpPr>
            <p:nvPr/>
          </p:nvSpPr>
          <p:spPr bwMode="auto">
            <a:xfrm flipH="1">
              <a:off x="1080" y="2670"/>
              <a:ext cx="36" cy="66"/>
            </a:xfrm>
            <a:custGeom>
              <a:avLst/>
              <a:gdLst>
                <a:gd name="T0" fmla="*/ 0 w 270"/>
                <a:gd name="T1" fmla="*/ 0 h 345"/>
                <a:gd name="T2" fmla="*/ 0 w 270"/>
                <a:gd name="T3" fmla="*/ 0 h 345"/>
                <a:gd name="T4" fmla="*/ 0 w 270"/>
                <a:gd name="T5" fmla="*/ 0 h 345"/>
                <a:gd name="T6" fmla="*/ 0 w 270"/>
                <a:gd name="T7" fmla="*/ 0 h 345"/>
                <a:gd name="T8" fmla="*/ 0 w 270"/>
                <a:gd name="T9" fmla="*/ 0 h 345"/>
                <a:gd name="T10" fmla="*/ 0 w 270"/>
                <a:gd name="T11" fmla="*/ 0 h 345"/>
                <a:gd name="T12" fmla="*/ 0 w 270"/>
                <a:gd name="T13" fmla="*/ 0 h 345"/>
                <a:gd name="T14" fmla="*/ 0 w 270"/>
                <a:gd name="T15" fmla="*/ 0 h 345"/>
                <a:gd name="T16" fmla="*/ 0 w 270"/>
                <a:gd name="T17" fmla="*/ 0 h 345"/>
                <a:gd name="T18" fmla="*/ 0 w 270"/>
                <a:gd name="T19" fmla="*/ 0 h 345"/>
                <a:gd name="T20" fmla="*/ 0 w 270"/>
                <a:gd name="T21" fmla="*/ 0 h 345"/>
                <a:gd name="T22" fmla="*/ 0 w 270"/>
                <a:gd name="T23" fmla="*/ 0 h 345"/>
                <a:gd name="T24" fmla="*/ 0 w 270"/>
                <a:gd name="T25" fmla="*/ 0 h 345"/>
                <a:gd name="T26" fmla="*/ 0 w 270"/>
                <a:gd name="T27" fmla="*/ 0 h 345"/>
                <a:gd name="T28" fmla="*/ 0 w 270"/>
                <a:gd name="T29" fmla="*/ 0 h 345"/>
                <a:gd name="T30" fmla="*/ 0 w 270"/>
                <a:gd name="T31" fmla="*/ 0 h 345"/>
                <a:gd name="T32" fmla="*/ 0 w 270"/>
                <a:gd name="T33" fmla="*/ 0 h 3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0" h="345">
                  <a:moveTo>
                    <a:pt x="51" y="0"/>
                  </a:moveTo>
                  <a:lnTo>
                    <a:pt x="13" y="7"/>
                  </a:lnTo>
                  <a:lnTo>
                    <a:pt x="0" y="39"/>
                  </a:lnTo>
                  <a:lnTo>
                    <a:pt x="3" y="65"/>
                  </a:lnTo>
                  <a:lnTo>
                    <a:pt x="26" y="101"/>
                  </a:lnTo>
                  <a:lnTo>
                    <a:pt x="57" y="112"/>
                  </a:lnTo>
                  <a:lnTo>
                    <a:pt x="116" y="149"/>
                  </a:lnTo>
                  <a:lnTo>
                    <a:pt x="172" y="195"/>
                  </a:lnTo>
                  <a:lnTo>
                    <a:pt x="212" y="259"/>
                  </a:lnTo>
                  <a:lnTo>
                    <a:pt x="257" y="325"/>
                  </a:lnTo>
                  <a:lnTo>
                    <a:pt x="270" y="345"/>
                  </a:lnTo>
                  <a:lnTo>
                    <a:pt x="257" y="267"/>
                  </a:lnTo>
                  <a:lnTo>
                    <a:pt x="247" y="198"/>
                  </a:lnTo>
                  <a:lnTo>
                    <a:pt x="225" y="140"/>
                  </a:lnTo>
                  <a:lnTo>
                    <a:pt x="188" y="86"/>
                  </a:lnTo>
                  <a:lnTo>
                    <a:pt x="90" y="10"/>
                  </a:lnTo>
                  <a:lnTo>
                    <a:pt x="51"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2" name="Freeform 402"/>
            <p:cNvSpPr>
              <a:spLocks/>
            </p:cNvSpPr>
            <p:nvPr/>
          </p:nvSpPr>
          <p:spPr bwMode="auto">
            <a:xfrm flipH="1">
              <a:off x="1084" y="2604"/>
              <a:ext cx="39" cy="39"/>
            </a:xfrm>
            <a:custGeom>
              <a:avLst/>
              <a:gdLst>
                <a:gd name="T0" fmla="*/ 0 w 287"/>
                <a:gd name="T1" fmla="*/ 0 h 199"/>
                <a:gd name="T2" fmla="*/ 0 w 287"/>
                <a:gd name="T3" fmla="*/ 0 h 199"/>
                <a:gd name="T4" fmla="*/ 0 w 287"/>
                <a:gd name="T5" fmla="*/ 0 h 199"/>
                <a:gd name="T6" fmla="*/ 0 w 287"/>
                <a:gd name="T7" fmla="*/ 0 h 199"/>
                <a:gd name="T8" fmla="*/ 0 w 287"/>
                <a:gd name="T9" fmla="*/ 0 h 199"/>
                <a:gd name="T10" fmla="*/ 0 w 287"/>
                <a:gd name="T11" fmla="*/ 0 h 199"/>
                <a:gd name="T12" fmla="*/ 0 w 287"/>
                <a:gd name="T13" fmla="*/ 0 h 199"/>
                <a:gd name="T14" fmla="*/ 0 w 287"/>
                <a:gd name="T15" fmla="*/ 0 h 199"/>
                <a:gd name="T16" fmla="*/ 0 w 287"/>
                <a:gd name="T17" fmla="*/ 0 h 199"/>
                <a:gd name="T18" fmla="*/ 0 w 287"/>
                <a:gd name="T19" fmla="*/ 0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87" h="199">
                  <a:moveTo>
                    <a:pt x="0" y="199"/>
                  </a:moveTo>
                  <a:lnTo>
                    <a:pt x="49" y="156"/>
                  </a:lnTo>
                  <a:lnTo>
                    <a:pt x="130" y="125"/>
                  </a:lnTo>
                  <a:lnTo>
                    <a:pt x="185" y="111"/>
                  </a:lnTo>
                  <a:lnTo>
                    <a:pt x="287" y="0"/>
                  </a:lnTo>
                  <a:lnTo>
                    <a:pt x="211" y="44"/>
                  </a:lnTo>
                  <a:lnTo>
                    <a:pt x="142" y="74"/>
                  </a:lnTo>
                  <a:lnTo>
                    <a:pt x="93" y="99"/>
                  </a:lnTo>
                  <a:lnTo>
                    <a:pt x="68" y="125"/>
                  </a:lnTo>
                  <a:lnTo>
                    <a:pt x="0" y="199"/>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3" name="Freeform 403"/>
            <p:cNvSpPr>
              <a:spLocks/>
            </p:cNvSpPr>
            <p:nvPr/>
          </p:nvSpPr>
          <p:spPr bwMode="auto">
            <a:xfrm flipH="1">
              <a:off x="1131" y="2675"/>
              <a:ext cx="22" cy="99"/>
            </a:xfrm>
            <a:custGeom>
              <a:avLst/>
              <a:gdLst>
                <a:gd name="T0" fmla="*/ 0 w 162"/>
                <a:gd name="T1" fmla="*/ 0 h 514"/>
                <a:gd name="T2" fmla="*/ 0 w 162"/>
                <a:gd name="T3" fmla="*/ 0 h 514"/>
                <a:gd name="T4" fmla="*/ 0 w 162"/>
                <a:gd name="T5" fmla="*/ 0 h 514"/>
                <a:gd name="T6" fmla="*/ 0 w 162"/>
                <a:gd name="T7" fmla="*/ 0 h 514"/>
                <a:gd name="T8" fmla="*/ 0 w 162"/>
                <a:gd name="T9" fmla="*/ 0 h 514"/>
                <a:gd name="T10" fmla="*/ 0 w 162"/>
                <a:gd name="T11" fmla="*/ 0 h 514"/>
                <a:gd name="T12" fmla="*/ 0 w 162"/>
                <a:gd name="T13" fmla="*/ 0 h 514"/>
                <a:gd name="T14" fmla="*/ 0 w 162"/>
                <a:gd name="T15" fmla="*/ 0 h 514"/>
                <a:gd name="T16" fmla="*/ 0 w 162"/>
                <a:gd name="T17" fmla="*/ 0 h 514"/>
                <a:gd name="T18" fmla="*/ 0 w 162"/>
                <a:gd name="T19" fmla="*/ 0 h 514"/>
                <a:gd name="T20" fmla="*/ 0 w 162"/>
                <a:gd name="T21" fmla="*/ 0 h 514"/>
                <a:gd name="T22" fmla="*/ 0 w 162"/>
                <a:gd name="T23" fmla="*/ 0 h 514"/>
                <a:gd name="T24" fmla="*/ 0 w 162"/>
                <a:gd name="T25" fmla="*/ 0 h 514"/>
                <a:gd name="T26" fmla="*/ 0 w 162"/>
                <a:gd name="T27" fmla="*/ 0 h 514"/>
                <a:gd name="T28" fmla="*/ 0 w 162"/>
                <a:gd name="T29" fmla="*/ 0 h 514"/>
                <a:gd name="T30" fmla="*/ 0 w 162"/>
                <a:gd name="T31" fmla="*/ 0 h 514"/>
                <a:gd name="T32" fmla="*/ 0 w 162"/>
                <a:gd name="T33" fmla="*/ 0 h 514"/>
                <a:gd name="T34" fmla="*/ 0 w 162"/>
                <a:gd name="T35" fmla="*/ 0 h 514"/>
                <a:gd name="T36" fmla="*/ 0 w 162"/>
                <a:gd name="T37" fmla="*/ 0 h 5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62" h="514">
                  <a:moveTo>
                    <a:pt x="0" y="514"/>
                  </a:moveTo>
                  <a:lnTo>
                    <a:pt x="81" y="514"/>
                  </a:lnTo>
                  <a:lnTo>
                    <a:pt x="106" y="508"/>
                  </a:lnTo>
                  <a:lnTo>
                    <a:pt x="106" y="489"/>
                  </a:lnTo>
                  <a:lnTo>
                    <a:pt x="124" y="470"/>
                  </a:lnTo>
                  <a:lnTo>
                    <a:pt x="150" y="451"/>
                  </a:lnTo>
                  <a:lnTo>
                    <a:pt x="137" y="433"/>
                  </a:lnTo>
                  <a:lnTo>
                    <a:pt x="137" y="407"/>
                  </a:lnTo>
                  <a:lnTo>
                    <a:pt x="156" y="376"/>
                  </a:lnTo>
                  <a:lnTo>
                    <a:pt x="156" y="344"/>
                  </a:lnTo>
                  <a:lnTo>
                    <a:pt x="144" y="306"/>
                  </a:lnTo>
                  <a:lnTo>
                    <a:pt x="144" y="224"/>
                  </a:lnTo>
                  <a:lnTo>
                    <a:pt x="162" y="150"/>
                  </a:lnTo>
                  <a:lnTo>
                    <a:pt x="156" y="94"/>
                  </a:lnTo>
                  <a:lnTo>
                    <a:pt x="156" y="0"/>
                  </a:lnTo>
                  <a:lnTo>
                    <a:pt x="106" y="142"/>
                  </a:lnTo>
                  <a:lnTo>
                    <a:pt x="62" y="275"/>
                  </a:lnTo>
                  <a:lnTo>
                    <a:pt x="32" y="419"/>
                  </a:lnTo>
                  <a:lnTo>
                    <a:pt x="0" y="514"/>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4" name="Freeform 404"/>
            <p:cNvSpPr>
              <a:spLocks/>
            </p:cNvSpPr>
            <p:nvPr/>
          </p:nvSpPr>
          <p:spPr bwMode="auto">
            <a:xfrm flipH="1">
              <a:off x="1081" y="2783"/>
              <a:ext cx="39" cy="18"/>
            </a:xfrm>
            <a:custGeom>
              <a:avLst/>
              <a:gdLst>
                <a:gd name="T0" fmla="*/ 0 w 289"/>
                <a:gd name="T1" fmla="*/ 0 h 97"/>
                <a:gd name="T2" fmla="*/ 0 w 289"/>
                <a:gd name="T3" fmla="*/ 0 h 97"/>
                <a:gd name="T4" fmla="*/ 0 w 289"/>
                <a:gd name="T5" fmla="*/ 0 h 97"/>
                <a:gd name="T6" fmla="*/ 0 w 289"/>
                <a:gd name="T7" fmla="*/ 0 h 97"/>
                <a:gd name="T8" fmla="*/ 0 w 289"/>
                <a:gd name="T9" fmla="*/ 0 h 97"/>
                <a:gd name="T10" fmla="*/ 0 w 289"/>
                <a:gd name="T11" fmla="*/ 0 h 97"/>
                <a:gd name="T12" fmla="*/ 0 w 289"/>
                <a:gd name="T13" fmla="*/ 0 h 97"/>
                <a:gd name="T14" fmla="*/ 0 w 289"/>
                <a:gd name="T15" fmla="*/ 0 h 97"/>
                <a:gd name="T16" fmla="*/ 0 w 289"/>
                <a:gd name="T17" fmla="*/ 0 h 97"/>
                <a:gd name="T18" fmla="*/ 0 w 289"/>
                <a:gd name="T19" fmla="*/ 0 h 97"/>
                <a:gd name="T20" fmla="*/ 0 w 289"/>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9" h="97">
                  <a:moveTo>
                    <a:pt x="232" y="47"/>
                  </a:moveTo>
                  <a:lnTo>
                    <a:pt x="168" y="19"/>
                  </a:lnTo>
                  <a:lnTo>
                    <a:pt x="110" y="4"/>
                  </a:lnTo>
                  <a:lnTo>
                    <a:pt x="32" y="0"/>
                  </a:lnTo>
                  <a:lnTo>
                    <a:pt x="0" y="6"/>
                  </a:lnTo>
                  <a:lnTo>
                    <a:pt x="15" y="37"/>
                  </a:lnTo>
                  <a:lnTo>
                    <a:pt x="45" y="61"/>
                  </a:lnTo>
                  <a:lnTo>
                    <a:pt x="113" y="79"/>
                  </a:lnTo>
                  <a:lnTo>
                    <a:pt x="219" y="97"/>
                  </a:lnTo>
                  <a:lnTo>
                    <a:pt x="289" y="91"/>
                  </a:lnTo>
                  <a:lnTo>
                    <a:pt x="232" y="4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5" name="Freeform 405"/>
            <p:cNvSpPr>
              <a:spLocks/>
            </p:cNvSpPr>
            <p:nvPr/>
          </p:nvSpPr>
          <p:spPr bwMode="auto">
            <a:xfrm flipH="1">
              <a:off x="1128" y="2791"/>
              <a:ext cx="25" cy="42"/>
            </a:xfrm>
            <a:custGeom>
              <a:avLst/>
              <a:gdLst>
                <a:gd name="T0" fmla="*/ 0 w 176"/>
                <a:gd name="T1" fmla="*/ 0 h 216"/>
                <a:gd name="T2" fmla="*/ 0 w 176"/>
                <a:gd name="T3" fmla="*/ 0 h 216"/>
                <a:gd name="T4" fmla="*/ 0 w 176"/>
                <a:gd name="T5" fmla="*/ 0 h 216"/>
                <a:gd name="T6" fmla="*/ 0 w 176"/>
                <a:gd name="T7" fmla="*/ 0 h 216"/>
                <a:gd name="T8" fmla="*/ 0 w 176"/>
                <a:gd name="T9" fmla="*/ 0 h 216"/>
                <a:gd name="T10" fmla="*/ 0 w 176"/>
                <a:gd name="T11" fmla="*/ 0 h 216"/>
                <a:gd name="T12" fmla="*/ 0 w 176"/>
                <a:gd name="T13" fmla="*/ 0 h 216"/>
                <a:gd name="T14" fmla="*/ 0 w 176"/>
                <a:gd name="T15" fmla="*/ 0 h 216"/>
                <a:gd name="T16" fmla="*/ 0 w 176"/>
                <a:gd name="T17" fmla="*/ 0 h 216"/>
                <a:gd name="T18" fmla="*/ 0 w 176"/>
                <a:gd name="T19" fmla="*/ 0 h 216"/>
                <a:gd name="T20" fmla="*/ 0 w 176"/>
                <a:gd name="T21" fmla="*/ 0 h 216"/>
                <a:gd name="T22" fmla="*/ 0 w 176"/>
                <a:gd name="T23" fmla="*/ 0 h 216"/>
                <a:gd name="T24" fmla="*/ 0 w 176"/>
                <a:gd name="T25" fmla="*/ 0 h 2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216">
                  <a:moveTo>
                    <a:pt x="81" y="59"/>
                  </a:moveTo>
                  <a:lnTo>
                    <a:pt x="59" y="14"/>
                  </a:lnTo>
                  <a:lnTo>
                    <a:pt x="26" y="0"/>
                  </a:lnTo>
                  <a:lnTo>
                    <a:pt x="3" y="11"/>
                  </a:lnTo>
                  <a:lnTo>
                    <a:pt x="0" y="35"/>
                  </a:lnTo>
                  <a:lnTo>
                    <a:pt x="15" y="76"/>
                  </a:lnTo>
                  <a:lnTo>
                    <a:pt x="40" y="115"/>
                  </a:lnTo>
                  <a:lnTo>
                    <a:pt x="71" y="150"/>
                  </a:lnTo>
                  <a:lnTo>
                    <a:pt x="113" y="185"/>
                  </a:lnTo>
                  <a:lnTo>
                    <a:pt x="176" y="216"/>
                  </a:lnTo>
                  <a:lnTo>
                    <a:pt x="119" y="153"/>
                  </a:lnTo>
                  <a:lnTo>
                    <a:pt x="100" y="108"/>
                  </a:lnTo>
                  <a:lnTo>
                    <a:pt x="81" y="59"/>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6" name="Freeform 406"/>
            <p:cNvSpPr>
              <a:spLocks/>
            </p:cNvSpPr>
            <p:nvPr/>
          </p:nvSpPr>
          <p:spPr bwMode="auto">
            <a:xfrm flipH="1">
              <a:off x="1057" y="2571"/>
              <a:ext cx="57" cy="52"/>
            </a:xfrm>
            <a:custGeom>
              <a:avLst/>
              <a:gdLst>
                <a:gd name="T0" fmla="*/ 0 w 418"/>
                <a:gd name="T1" fmla="*/ 0 h 260"/>
                <a:gd name="T2" fmla="*/ 0 w 418"/>
                <a:gd name="T3" fmla="*/ 0 h 260"/>
                <a:gd name="T4" fmla="*/ 0 w 418"/>
                <a:gd name="T5" fmla="*/ 0 h 260"/>
                <a:gd name="T6" fmla="*/ 0 w 418"/>
                <a:gd name="T7" fmla="*/ 0 h 260"/>
                <a:gd name="T8" fmla="*/ 0 w 418"/>
                <a:gd name="T9" fmla="*/ 0 h 260"/>
                <a:gd name="T10" fmla="*/ 0 w 418"/>
                <a:gd name="T11" fmla="*/ 0 h 260"/>
                <a:gd name="T12" fmla="*/ 0 w 418"/>
                <a:gd name="T13" fmla="*/ 0 h 260"/>
                <a:gd name="T14" fmla="*/ 0 w 418"/>
                <a:gd name="T15" fmla="*/ 0 h 260"/>
                <a:gd name="T16" fmla="*/ 0 w 418"/>
                <a:gd name="T17" fmla="*/ 0 h 260"/>
                <a:gd name="T18" fmla="*/ 0 w 418"/>
                <a:gd name="T19" fmla="*/ 0 h 260"/>
                <a:gd name="T20" fmla="*/ 0 w 418"/>
                <a:gd name="T21" fmla="*/ 0 h 260"/>
                <a:gd name="T22" fmla="*/ 0 w 418"/>
                <a:gd name="T23" fmla="*/ 0 h 2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8" h="260">
                  <a:moveTo>
                    <a:pt x="0" y="260"/>
                  </a:moveTo>
                  <a:lnTo>
                    <a:pt x="13" y="153"/>
                  </a:lnTo>
                  <a:lnTo>
                    <a:pt x="101" y="116"/>
                  </a:lnTo>
                  <a:lnTo>
                    <a:pt x="220" y="69"/>
                  </a:lnTo>
                  <a:lnTo>
                    <a:pt x="304" y="35"/>
                  </a:lnTo>
                  <a:lnTo>
                    <a:pt x="386" y="0"/>
                  </a:lnTo>
                  <a:lnTo>
                    <a:pt x="418" y="76"/>
                  </a:lnTo>
                  <a:lnTo>
                    <a:pt x="341" y="119"/>
                  </a:lnTo>
                  <a:lnTo>
                    <a:pt x="252" y="150"/>
                  </a:lnTo>
                  <a:lnTo>
                    <a:pt x="182" y="170"/>
                  </a:lnTo>
                  <a:lnTo>
                    <a:pt x="98" y="216"/>
                  </a:lnTo>
                  <a:lnTo>
                    <a:pt x="0" y="26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67" name="Freeform 407"/>
            <p:cNvSpPr>
              <a:spLocks/>
            </p:cNvSpPr>
            <p:nvPr/>
          </p:nvSpPr>
          <p:spPr bwMode="auto">
            <a:xfrm flipH="1">
              <a:off x="992" y="2806"/>
              <a:ext cx="117" cy="226"/>
            </a:xfrm>
            <a:custGeom>
              <a:avLst/>
              <a:gdLst>
                <a:gd name="T0" fmla="*/ 0 w 863"/>
                <a:gd name="T1" fmla="*/ 0 h 1164"/>
                <a:gd name="T2" fmla="*/ 0 w 863"/>
                <a:gd name="T3" fmla="*/ 0 h 1164"/>
                <a:gd name="T4" fmla="*/ 0 w 863"/>
                <a:gd name="T5" fmla="*/ 0 h 1164"/>
                <a:gd name="T6" fmla="*/ 0 w 863"/>
                <a:gd name="T7" fmla="*/ 0 h 1164"/>
                <a:gd name="T8" fmla="*/ 0 w 863"/>
                <a:gd name="T9" fmla="*/ 0 h 1164"/>
                <a:gd name="T10" fmla="*/ 0 w 863"/>
                <a:gd name="T11" fmla="*/ 0 h 1164"/>
                <a:gd name="T12" fmla="*/ 0 w 863"/>
                <a:gd name="T13" fmla="*/ 0 h 1164"/>
                <a:gd name="T14" fmla="*/ 0 w 863"/>
                <a:gd name="T15" fmla="*/ 0 h 1164"/>
                <a:gd name="T16" fmla="*/ 0 w 863"/>
                <a:gd name="T17" fmla="*/ 0 h 1164"/>
                <a:gd name="T18" fmla="*/ 0 w 863"/>
                <a:gd name="T19" fmla="*/ 0 h 1164"/>
                <a:gd name="T20" fmla="*/ 0 w 863"/>
                <a:gd name="T21" fmla="*/ 0 h 1164"/>
                <a:gd name="T22" fmla="*/ 0 w 863"/>
                <a:gd name="T23" fmla="*/ 0 h 1164"/>
                <a:gd name="T24" fmla="*/ 0 w 863"/>
                <a:gd name="T25" fmla="*/ 0 h 1164"/>
                <a:gd name="T26" fmla="*/ 0 w 863"/>
                <a:gd name="T27" fmla="*/ 0 h 1164"/>
                <a:gd name="T28" fmla="*/ 0 w 863"/>
                <a:gd name="T29" fmla="*/ 0 h 1164"/>
                <a:gd name="T30" fmla="*/ 0 w 863"/>
                <a:gd name="T31" fmla="*/ 0 h 1164"/>
                <a:gd name="T32" fmla="*/ 0 w 863"/>
                <a:gd name="T33" fmla="*/ 0 h 1164"/>
                <a:gd name="T34" fmla="*/ 0 w 863"/>
                <a:gd name="T35" fmla="*/ 0 h 1164"/>
                <a:gd name="T36" fmla="*/ 0 w 863"/>
                <a:gd name="T37" fmla="*/ 0 h 1164"/>
                <a:gd name="T38" fmla="*/ 0 w 863"/>
                <a:gd name="T39" fmla="*/ 0 h 1164"/>
                <a:gd name="T40" fmla="*/ 0 w 863"/>
                <a:gd name="T41" fmla="*/ 0 h 1164"/>
                <a:gd name="T42" fmla="*/ 0 w 863"/>
                <a:gd name="T43" fmla="*/ 0 h 1164"/>
                <a:gd name="T44" fmla="*/ 0 w 863"/>
                <a:gd name="T45" fmla="*/ 0 h 1164"/>
                <a:gd name="T46" fmla="*/ 0 w 863"/>
                <a:gd name="T47" fmla="*/ 0 h 11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63" h="1164">
                  <a:moveTo>
                    <a:pt x="385" y="172"/>
                  </a:moveTo>
                  <a:lnTo>
                    <a:pt x="543" y="158"/>
                  </a:lnTo>
                  <a:lnTo>
                    <a:pt x="637" y="133"/>
                  </a:lnTo>
                  <a:lnTo>
                    <a:pt x="667" y="90"/>
                  </a:lnTo>
                  <a:lnTo>
                    <a:pt x="667" y="52"/>
                  </a:lnTo>
                  <a:lnTo>
                    <a:pt x="694" y="20"/>
                  </a:lnTo>
                  <a:lnTo>
                    <a:pt x="782" y="0"/>
                  </a:lnTo>
                  <a:lnTo>
                    <a:pt x="863" y="7"/>
                  </a:lnTo>
                  <a:lnTo>
                    <a:pt x="763" y="907"/>
                  </a:lnTo>
                  <a:lnTo>
                    <a:pt x="694" y="990"/>
                  </a:lnTo>
                  <a:lnTo>
                    <a:pt x="605" y="1071"/>
                  </a:lnTo>
                  <a:lnTo>
                    <a:pt x="481" y="1134"/>
                  </a:lnTo>
                  <a:lnTo>
                    <a:pt x="334" y="1153"/>
                  </a:lnTo>
                  <a:lnTo>
                    <a:pt x="138" y="1164"/>
                  </a:lnTo>
                  <a:lnTo>
                    <a:pt x="25" y="1147"/>
                  </a:lnTo>
                  <a:lnTo>
                    <a:pt x="0" y="1083"/>
                  </a:lnTo>
                  <a:lnTo>
                    <a:pt x="13" y="1001"/>
                  </a:lnTo>
                  <a:lnTo>
                    <a:pt x="95" y="750"/>
                  </a:lnTo>
                  <a:lnTo>
                    <a:pt x="163" y="499"/>
                  </a:lnTo>
                  <a:lnTo>
                    <a:pt x="195" y="310"/>
                  </a:lnTo>
                  <a:lnTo>
                    <a:pt x="195" y="259"/>
                  </a:lnTo>
                  <a:lnTo>
                    <a:pt x="239" y="190"/>
                  </a:lnTo>
                  <a:lnTo>
                    <a:pt x="291" y="172"/>
                  </a:lnTo>
                  <a:lnTo>
                    <a:pt x="385" y="172"/>
                  </a:lnTo>
                  <a:close/>
                </a:path>
              </a:pathLst>
            </a:custGeom>
            <a:solidFill>
              <a:srgbClr val="404040"/>
            </a:solidFill>
            <a:ln w="1588">
              <a:solidFill>
                <a:srgbClr val="000000"/>
              </a:solidFill>
              <a:prstDash val="solid"/>
              <a:round/>
              <a:headEnd/>
              <a:tailEnd/>
            </a:ln>
          </p:spPr>
          <p:txBody>
            <a:bodyPr/>
            <a:lstStyle/>
            <a:p>
              <a:endParaRPr lang="zh-CN" altLang="en-US"/>
            </a:p>
          </p:txBody>
        </p:sp>
        <p:sp>
          <p:nvSpPr>
            <p:cNvPr id="11668" name="Freeform 408"/>
            <p:cNvSpPr>
              <a:spLocks/>
            </p:cNvSpPr>
            <p:nvPr/>
          </p:nvSpPr>
          <p:spPr bwMode="auto">
            <a:xfrm flipH="1">
              <a:off x="995" y="2818"/>
              <a:ext cx="101" cy="205"/>
            </a:xfrm>
            <a:custGeom>
              <a:avLst/>
              <a:gdLst>
                <a:gd name="T0" fmla="*/ 0 w 743"/>
                <a:gd name="T1" fmla="*/ 0 h 1068"/>
                <a:gd name="T2" fmla="*/ 0 w 743"/>
                <a:gd name="T3" fmla="*/ 0 h 1068"/>
                <a:gd name="T4" fmla="*/ 0 w 743"/>
                <a:gd name="T5" fmla="*/ 0 h 1068"/>
                <a:gd name="T6" fmla="*/ 0 w 743"/>
                <a:gd name="T7" fmla="*/ 0 h 1068"/>
                <a:gd name="T8" fmla="*/ 0 w 743"/>
                <a:gd name="T9" fmla="*/ 0 h 1068"/>
                <a:gd name="T10" fmla="*/ 0 w 743"/>
                <a:gd name="T11" fmla="*/ 0 h 1068"/>
                <a:gd name="T12" fmla="*/ 0 w 743"/>
                <a:gd name="T13" fmla="*/ 0 h 1068"/>
                <a:gd name="T14" fmla="*/ 0 w 743"/>
                <a:gd name="T15" fmla="*/ 0 h 1068"/>
                <a:gd name="T16" fmla="*/ 0 w 743"/>
                <a:gd name="T17" fmla="*/ 0 h 1068"/>
                <a:gd name="T18" fmla="*/ 0 w 743"/>
                <a:gd name="T19" fmla="*/ 0 h 1068"/>
                <a:gd name="T20" fmla="*/ 0 w 743"/>
                <a:gd name="T21" fmla="*/ 0 h 1068"/>
                <a:gd name="T22" fmla="*/ 0 w 743"/>
                <a:gd name="T23" fmla="*/ 0 h 1068"/>
                <a:gd name="T24" fmla="*/ 0 w 743"/>
                <a:gd name="T25" fmla="*/ 0 h 1068"/>
                <a:gd name="T26" fmla="*/ 0 w 743"/>
                <a:gd name="T27" fmla="*/ 0 h 1068"/>
                <a:gd name="T28" fmla="*/ 0 w 743"/>
                <a:gd name="T29" fmla="*/ 0 h 1068"/>
                <a:gd name="T30" fmla="*/ 0 w 743"/>
                <a:gd name="T31" fmla="*/ 0 h 1068"/>
                <a:gd name="T32" fmla="*/ 0 w 743"/>
                <a:gd name="T33" fmla="*/ 0 h 1068"/>
                <a:gd name="T34" fmla="*/ 0 w 743"/>
                <a:gd name="T35" fmla="*/ 0 h 1068"/>
                <a:gd name="T36" fmla="*/ 0 w 743"/>
                <a:gd name="T37" fmla="*/ 0 h 1068"/>
                <a:gd name="T38" fmla="*/ 0 w 743"/>
                <a:gd name="T39" fmla="*/ 0 h 1068"/>
                <a:gd name="T40" fmla="*/ 0 w 743"/>
                <a:gd name="T41" fmla="*/ 0 h 10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3" h="1068">
                  <a:moveTo>
                    <a:pt x="257" y="214"/>
                  </a:moveTo>
                  <a:lnTo>
                    <a:pt x="397" y="207"/>
                  </a:lnTo>
                  <a:lnTo>
                    <a:pt x="542" y="182"/>
                  </a:lnTo>
                  <a:lnTo>
                    <a:pt x="628" y="138"/>
                  </a:lnTo>
                  <a:lnTo>
                    <a:pt x="679" y="100"/>
                  </a:lnTo>
                  <a:lnTo>
                    <a:pt x="743" y="0"/>
                  </a:lnTo>
                  <a:lnTo>
                    <a:pt x="648" y="822"/>
                  </a:lnTo>
                  <a:lnTo>
                    <a:pt x="585" y="898"/>
                  </a:lnTo>
                  <a:lnTo>
                    <a:pt x="516" y="967"/>
                  </a:lnTo>
                  <a:lnTo>
                    <a:pt x="428" y="1016"/>
                  </a:lnTo>
                  <a:lnTo>
                    <a:pt x="353" y="1042"/>
                  </a:lnTo>
                  <a:lnTo>
                    <a:pt x="257" y="1055"/>
                  </a:lnTo>
                  <a:lnTo>
                    <a:pt x="170" y="1068"/>
                  </a:lnTo>
                  <a:lnTo>
                    <a:pt x="69" y="1068"/>
                  </a:lnTo>
                  <a:lnTo>
                    <a:pt x="24" y="1055"/>
                  </a:lnTo>
                  <a:lnTo>
                    <a:pt x="0" y="1016"/>
                  </a:lnTo>
                  <a:lnTo>
                    <a:pt x="11" y="956"/>
                  </a:lnTo>
                  <a:lnTo>
                    <a:pt x="75" y="809"/>
                  </a:lnTo>
                  <a:lnTo>
                    <a:pt x="184" y="321"/>
                  </a:lnTo>
                  <a:lnTo>
                    <a:pt x="201" y="252"/>
                  </a:lnTo>
                  <a:lnTo>
                    <a:pt x="257" y="214"/>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570" name="Text Box 409"/>
          <p:cNvSpPr txBox="1">
            <a:spLocks noChangeArrowheads="1"/>
          </p:cNvSpPr>
          <p:nvPr/>
        </p:nvSpPr>
        <p:spPr bwMode="auto">
          <a:xfrm>
            <a:off x="2446338" y="1162050"/>
            <a:ext cx="22161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sz="3200">
                <a:solidFill>
                  <a:schemeClr val="tx2"/>
                </a:solidFill>
                <a:ea typeface="黑体" pitchFamily="49" charset="-122"/>
              </a:rPr>
              <a:t>因特网</a:t>
            </a:r>
          </a:p>
          <a:p>
            <a:pPr algn="ctr" eaLnBrk="1" hangingPunct="1"/>
            <a:r>
              <a:rPr lang="zh-CN" altLang="en-US" sz="3200">
                <a:solidFill>
                  <a:schemeClr val="tx2"/>
                </a:solidFill>
                <a:ea typeface="黑体" pitchFamily="49" charset="-122"/>
              </a:rPr>
              <a:t>服务提供者</a:t>
            </a:r>
          </a:p>
        </p:txBody>
      </p:sp>
      <p:sp>
        <p:nvSpPr>
          <p:cNvPr id="11571" name="Rectangle 414"/>
          <p:cNvSpPr>
            <a:spLocks noGrp="1" noChangeArrowheads="1"/>
          </p:cNvSpPr>
          <p:nvPr>
            <p:ph type="title"/>
          </p:nvPr>
        </p:nvSpPr>
        <p:spPr>
          <a:xfrm>
            <a:off x="1150938" y="44450"/>
            <a:ext cx="6445250" cy="839788"/>
          </a:xfrm>
        </p:spPr>
        <p:txBody>
          <a:bodyPr/>
          <a:lstStyle/>
          <a:p>
            <a:pPr algn="ctr" eaLnBrk="1" hangingPunct="1"/>
            <a:r>
              <a:rPr lang="zh-CN" altLang="en-US" smtClean="0"/>
              <a:t>用户通过 </a:t>
            </a:r>
            <a:r>
              <a:rPr lang="en-US" altLang="zh-CN" smtClean="0"/>
              <a:t>ISP </a:t>
            </a:r>
            <a:r>
              <a:rPr lang="zh-CN" altLang="en-US" smtClean="0"/>
              <a:t>上网</a:t>
            </a:r>
          </a:p>
        </p:txBody>
      </p:sp>
      <p:sp>
        <p:nvSpPr>
          <p:cNvPr id="11572" name="Text Box 415"/>
          <p:cNvSpPr txBox="1">
            <a:spLocks noChangeArrowheads="1"/>
          </p:cNvSpPr>
          <p:nvPr/>
        </p:nvSpPr>
        <p:spPr bwMode="auto">
          <a:xfrm>
            <a:off x="241300" y="5157788"/>
            <a:ext cx="184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zh-CN" sz="3200">
              <a:solidFill>
                <a:schemeClr val="tx2"/>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万维网 </a:t>
            </a:r>
            <a:r>
              <a:rPr lang="zh-CN" altLang="en-US" b="1" smtClean="0"/>
              <a:t>与因特网的区别</a:t>
            </a:r>
          </a:p>
        </p:txBody>
      </p:sp>
      <p:sp>
        <p:nvSpPr>
          <p:cNvPr id="12291" name="Rectangle 3"/>
          <p:cNvSpPr>
            <a:spLocks noGrp="1" noChangeArrowheads="1"/>
          </p:cNvSpPr>
          <p:nvPr>
            <p:ph type="body" idx="1"/>
          </p:nvPr>
        </p:nvSpPr>
        <p:spPr>
          <a:xfrm>
            <a:off x="1042988" y="1773238"/>
            <a:ext cx="7772400" cy="4608512"/>
          </a:xfrm>
        </p:spPr>
        <p:txBody>
          <a:bodyPr/>
          <a:lstStyle/>
          <a:p>
            <a:pPr eaLnBrk="1" hangingPunct="1">
              <a:lnSpc>
                <a:spcPct val="90000"/>
              </a:lnSpc>
            </a:pPr>
            <a:r>
              <a:rPr lang="zh-CN" altLang="en-US" smtClean="0"/>
              <a:t>万维网（亦作“</a:t>
            </a:r>
            <a:r>
              <a:rPr lang="en-US" altLang="zh-CN" smtClean="0"/>
              <a:t>WWW”</a:t>
            </a:r>
            <a:r>
              <a:rPr lang="zh-CN" altLang="en-US" smtClean="0"/>
              <a:t>、“</a:t>
            </a:r>
            <a:r>
              <a:rPr lang="en-US" altLang="zh-CN" smtClean="0"/>
              <a:t>3W”</a:t>
            </a:r>
            <a:r>
              <a:rPr lang="zh-CN" altLang="en-US" smtClean="0"/>
              <a:t>，英文“</a:t>
            </a:r>
            <a:r>
              <a:rPr lang="en-US" altLang="zh-CN" smtClean="0">
                <a:hlinkClick r:id="rId3"/>
              </a:rPr>
              <a:t>Web</a:t>
            </a:r>
            <a:r>
              <a:rPr lang="en-US" altLang="zh-CN" smtClean="0"/>
              <a:t>”</a:t>
            </a:r>
            <a:r>
              <a:rPr lang="zh-CN" altLang="en-US" smtClean="0"/>
              <a:t>或“</a:t>
            </a:r>
            <a:r>
              <a:rPr lang="en-US" altLang="zh-CN" smtClean="0"/>
              <a:t>World Wide Web”</a:t>
            </a:r>
            <a:r>
              <a:rPr lang="zh-CN" altLang="en-US" smtClean="0"/>
              <a:t>），是一个资料空间。在这个空间中资源由一个统一资源标识符（</a:t>
            </a:r>
            <a:r>
              <a:rPr lang="en-US" altLang="zh-CN" smtClean="0">
                <a:hlinkClick r:id="rId4"/>
              </a:rPr>
              <a:t>URL</a:t>
            </a:r>
            <a:r>
              <a:rPr lang="zh-CN" altLang="en-US" smtClean="0"/>
              <a:t>）标识。这些资源通过</a:t>
            </a:r>
            <a:r>
              <a:rPr lang="zh-CN" altLang="en-US" smtClean="0">
                <a:hlinkClick r:id="rId5"/>
              </a:rPr>
              <a:t>超文本传输协议</a:t>
            </a:r>
            <a:r>
              <a:rPr lang="en-US" altLang="zh-CN" smtClean="0"/>
              <a:t>(Hypertext Transfer Protocol)</a:t>
            </a:r>
            <a:r>
              <a:rPr lang="zh-CN" altLang="en-US" smtClean="0"/>
              <a:t>传送给使用者，而后者通过网络浏览器来获得资源。　</a:t>
            </a:r>
          </a:p>
          <a:p>
            <a:pPr eaLnBrk="1" hangingPunct="1">
              <a:lnSpc>
                <a:spcPct val="90000"/>
              </a:lnSpc>
            </a:pPr>
            <a:r>
              <a:rPr lang="zh-CN" altLang="en-US" smtClean="0"/>
              <a:t>万维网常被当成因特网的同义词，不过其实万维网是靠着因特网运行的一项服务。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50938" y="692150"/>
            <a:ext cx="6950075" cy="984250"/>
          </a:xfrm>
        </p:spPr>
        <p:txBody>
          <a:bodyPr/>
          <a:lstStyle/>
          <a:p>
            <a:pPr algn="ctr" eaLnBrk="1" hangingPunct="1"/>
            <a:r>
              <a:rPr lang="en-US" altLang="zh-CN" smtClean="0"/>
              <a:t>1.3  </a:t>
            </a:r>
            <a:r>
              <a:rPr lang="zh-CN" altLang="en-US" smtClean="0"/>
              <a:t>因特网的组成 </a:t>
            </a:r>
          </a:p>
        </p:txBody>
      </p:sp>
      <p:sp>
        <p:nvSpPr>
          <p:cNvPr id="13315" name="Rectangle 3"/>
          <p:cNvSpPr>
            <a:spLocks noGrp="1" noChangeArrowheads="1"/>
          </p:cNvSpPr>
          <p:nvPr>
            <p:ph type="body" idx="1"/>
          </p:nvPr>
        </p:nvSpPr>
        <p:spPr>
          <a:xfrm>
            <a:off x="1042988" y="1773238"/>
            <a:ext cx="7772400" cy="4751387"/>
          </a:xfrm>
        </p:spPr>
        <p:txBody>
          <a:bodyPr/>
          <a:lstStyle/>
          <a:p>
            <a:pPr eaLnBrk="1" hangingPunct="1">
              <a:buFont typeface="Wingdings" pitchFamily="2" charset="2"/>
              <a:buNone/>
            </a:pPr>
            <a:r>
              <a:rPr lang="zh-CN" altLang="en-US" smtClean="0"/>
              <a:t>从因特网的工作方式上看，可以划分为以下的两大块：</a:t>
            </a:r>
          </a:p>
          <a:p>
            <a:pPr eaLnBrk="1" hangingPunct="1">
              <a:buFont typeface="Wingdings" pitchFamily="2" charset="2"/>
              <a:buNone/>
            </a:pPr>
            <a:r>
              <a:rPr lang="en-US" altLang="zh-CN" smtClean="0"/>
              <a:t>(1) </a:t>
            </a:r>
            <a:r>
              <a:rPr lang="zh-CN" altLang="en-US" smtClean="0">
                <a:solidFill>
                  <a:srgbClr val="CC0000"/>
                </a:solidFill>
              </a:rPr>
              <a:t>边缘部分</a:t>
            </a:r>
            <a:r>
              <a:rPr lang="zh-CN" altLang="en-US" smtClean="0"/>
              <a:t>  由所有连接在因特网上的主机组成。这部分是用户直接使用的，用来进行通信（传送数据、音频或视频）和资源共享。</a:t>
            </a:r>
          </a:p>
          <a:p>
            <a:pPr eaLnBrk="1" hangingPunct="1">
              <a:buFont typeface="Wingdings" pitchFamily="2" charset="2"/>
              <a:buNone/>
            </a:pPr>
            <a:r>
              <a:rPr lang="en-US" altLang="zh-CN" smtClean="0"/>
              <a:t>(2) </a:t>
            </a:r>
            <a:r>
              <a:rPr lang="zh-CN" altLang="en-US" smtClean="0">
                <a:solidFill>
                  <a:srgbClr val="CC0000"/>
                </a:solidFill>
              </a:rPr>
              <a:t>核心部分</a:t>
            </a:r>
            <a:r>
              <a:rPr lang="zh-CN" altLang="en-US" smtClean="0"/>
              <a:t>  由大量网络和连接这些网络的路由器组成。这部分是为边缘部分提供服务的（提供连通性和交换）。</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Oval 4"/>
          <p:cNvSpPr>
            <a:spLocks noChangeArrowheads="1"/>
          </p:cNvSpPr>
          <p:nvPr/>
        </p:nvSpPr>
        <p:spPr bwMode="auto">
          <a:xfrm>
            <a:off x="217488" y="1773238"/>
            <a:ext cx="8675687" cy="4248150"/>
          </a:xfrm>
          <a:prstGeom prst="ellipse">
            <a:avLst/>
          </a:prstGeom>
          <a:solidFill>
            <a:srgbClr val="99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 name="Oval 5"/>
          <p:cNvSpPr>
            <a:spLocks noChangeArrowheads="1"/>
          </p:cNvSpPr>
          <p:nvPr/>
        </p:nvSpPr>
        <p:spPr bwMode="auto">
          <a:xfrm>
            <a:off x="1865313" y="2762250"/>
            <a:ext cx="5381625" cy="2270125"/>
          </a:xfrm>
          <a:prstGeom prst="ellipse">
            <a:avLst/>
          </a:prstGeom>
          <a:solidFill>
            <a:schemeClr val="bg1"/>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434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738" y="2662238"/>
            <a:ext cx="46831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9288" y="3348038"/>
            <a:ext cx="495300"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4342" name="Group 8"/>
          <p:cNvGrpSpPr>
            <a:grpSpLocks/>
          </p:cNvGrpSpPr>
          <p:nvPr/>
        </p:nvGrpSpPr>
        <p:grpSpPr bwMode="auto">
          <a:xfrm rot="-448665">
            <a:off x="2144713" y="3692525"/>
            <a:ext cx="722312" cy="487363"/>
            <a:chOff x="2949" y="196"/>
            <a:chExt cx="941" cy="598"/>
          </a:xfrm>
        </p:grpSpPr>
        <p:sp>
          <p:nvSpPr>
            <p:cNvPr id="14407" name="Oval 9"/>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8" name="Oval 10"/>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9" name="Oval 11"/>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0" name="Oval 12"/>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1" name="Oval 13"/>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2" name="Oval 14"/>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3" name="Oval 15"/>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4" name="Oval 16"/>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5"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16"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17"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43" name="Group 20"/>
          <p:cNvGrpSpPr>
            <a:grpSpLocks/>
          </p:cNvGrpSpPr>
          <p:nvPr/>
        </p:nvGrpSpPr>
        <p:grpSpPr bwMode="auto">
          <a:xfrm rot="-448665">
            <a:off x="6403975" y="3530600"/>
            <a:ext cx="723900" cy="487363"/>
            <a:chOff x="2949" y="196"/>
            <a:chExt cx="941" cy="598"/>
          </a:xfrm>
        </p:grpSpPr>
        <p:sp>
          <p:nvSpPr>
            <p:cNvPr id="14396" name="Oval 21"/>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7" name="Oval 22"/>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8" name="Oval 23"/>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9" name="Oval 24"/>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0" name="Oval 25"/>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1" name="Oval 26"/>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2" name="Oval 27"/>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3" name="Oval 28"/>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4" name="Freeform 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05" name="Freeform 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406" name="Freeform 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44" name="Group 32"/>
          <p:cNvGrpSpPr>
            <a:grpSpLocks/>
          </p:cNvGrpSpPr>
          <p:nvPr/>
        </p:nvGrpSpPr>
        <p:grpSpPr bwMode="auto">
          <a:xfrm rot="-448665">
            <a:off x="3511550" y="4340225"/>
            <a:ext cx="723900" cy="487363"/>
            <a:chOff x="2949" y="196"/>
            <a:chExt cx="941" cy="598"/>
          </a:xfrm>
        </p:grpSpPr>
        <p:sp>
          <p:nvSpPr>
            <p:cNvPr id="14385" name="Oval 33"/>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6" name="Oval 34"/>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7" name="Oval 35"/>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8" name="Oval 36"/>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9" name="Oval 37"/>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0" name="Oval 38"/>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1" name="Oval 39"/>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2" name="Oval 40"/>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3" name="Freeform 4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94" name="Freeform 4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95" name="Freeform 4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45" name="Group 44"/>
          <p:cNvGrpSpPr>
            <a:grpSpLocks/>
          </p:cNvGrpSpPr>
          <p:nvPr/>
        </p:nvGrpSpPr>
        <p:grpSpPr bwMode="auto">
          <a:xfrm rot="-448665">
            <a:off x="5359400" y="4340225"/>
            <a:ext cx="722313" cy="487363"/>
            <a:chOff x="2949" y="196"/>
            <a:chExt cx="941" cy="598"/>
          </a:xfrm>
        </p:grpSpPr>
        <p:sp>
          <p:nvSpPr>
            <p:cNvPr id="14374" name="Oval 45"/>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5" name="Oval 46"/>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6" name="Oval 47"/>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7" name="Oval 48"/>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8" name="Oval 49"/>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9" name="Oval 50"/>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0" name="Oval 51"/>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1" name="Oval 52"/>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82" name="Freeform 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3" name="Freeform 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84" name="Freeform 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46" name="Group 56"/>
          <p:cNvGrpSpPr>
            <a:grpSpLocks/>
          </p:cNvGrpSpPr>
          <p:nvPr/>
        </p:nvGrpSpPr>
        <p:grpSpPr bwMode="auto">
          <a:xfrm rot="-448665">
            <a:off x="4314825" y="3046413"/>
            <a:ext cx="722313" cy="485775"/>
            <a:chOff x="2949" y="196"/>
            <a:chExt cx="941" cy="598"/>
          </a:xfrm>
        </p:grpSpPr>
        <p:sp>
          <p:nvSpPr>
            <p:cNvPr id="14363" name="Oval 57"/>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4" name="Oval 58"/>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5" name="Oval 59"/>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6" name="Oval 60"/>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7" name="Oval 61"/>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8" name="Oval 62"/>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9" name="Oval 63"/>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0" name="Oval 64"/>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71"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2"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73"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4347" name="Picture 6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4950" y="4179888"/>
            <a:ext cx="493713"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4348" name="Picture 6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4388" y="4502150"/>
            <a:ext cx="493712"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4349" name="Picture 7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013" y="4154488"/>
            <a:ext cx="493712"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4350" name="Picture 7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3184525"/>
            <a:ext cx="49371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4351" name="Picture 7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5613" y="4745038"/>
            <a:ext cx="46672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52" name="Picture 7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7638" y="3632200"/>
            <a:ext cx="468312"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53" name="Picture 7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313" y="2481263"/>
            <a:ext cx="468312"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54"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8438" y="5251450"/>
            <a:ext cx="46672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55" name="Picture 7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413" y="4664075"/>
            <a:ext cx="46831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56" name="Picture 7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50" y="3471863"/>
            <a:ext cx="46672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57" name="Text Box 78"/>
          <p:cNvSpPr txBox="1">
            <a:spLocks noChangeArrowheads="1"/>
          </p:cNvSpPr>
          <p:nvPr/>
        </p:nvSpPr>
        <p:spPr bwMode="auto">
          <a:xfrm>
            <a:off x="3492500" y="3692525"/>
            <a:ext cx="262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ea typeface="黑体" pitchFamily="49" charset="-122"/>
              </a:rPr>
              <a:t>因特网的核心部分</a:t>
            </a:r>
          </a:p>
        </p:txBody>
      </p:sp>
      <p:sp>
        <p:nvSpPr>
          <p:cNvPr id="14358" name="Text Box 79"/>
          <p:cNvSpPr txBox="1">
            <a:spLocks noChangeArrowheads="1"/>
          </p:cNvSpPr>
          <p:nvPr/>
        </p:nvSpPr>
        <p:spPr bwMode="auto">
          <a:xfrm>
            <a:off x="3276600" y="2052638"/>
            <a:ext cx="2632075" cy="46831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ea typeface="黑体" pitchFamily="49" charset="-122"/>
              </a:rPr>
              <a:t>因特网的边缘部分</a:t>
            </a:r>
          </a:p>
        </p:txBody>
      </p:sp>
      <p:sp>
        <p:nvSpPr>
          <p:cNvPr id="14359" name="Text Box 80"/>
          <p:cNvSpPr txBox="1">
            <a:spLocks noChangeArrowheads="1"/>
          </p:cNvSpPr>
          <p:nvPr/>
        </p:nvSpPr>
        <p:spPr bwMode="auto">
          <a:xfrm>
            <a:off x="1903413" y="2455863"/>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ea typeface="黑体" pitchFamily="49" charset="-122"/>
              </a:rPr>
              <a:t>主机</a:t>
            </a:r>
          </a:p>
        </p:txBody>
      </p:sp>
      <p:sp>
        <p:nvSpPr>
          <p:cNvPr id="14360" name="Text Box 81"/>
          <p:cNvSpPr txBox="1">
            <a:spLocks noChangeArrowheads="1"/>
          </p:cNvSpPr>
          <p:nvPr/>
        </p:nvSpPr>
        <p:spPr bwMode="auto">
          <a:xfrm>
            <a:off x="2144713" y="32131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ea typeface="黑体" pitchFamily="49" charset="-122"/>
              </a:rPr>
              <a:t>网络</a:t>
            </a:r>
          </a:p>
        </p:txBody>
      </p:sp>
      <p:sp>
        <p:nvSpPr>
          <p:cNvPr id="14361" name="Text Box 82"/>
          <p:cNvSpPr txBox="1">
            <a:spLocks noChangeArrowheads="1"/>
          </p:cNvSpPr>
          <p:nvPr/>
        </p:nvSpPr>
        <p:spPr bwMode="auto">
          <a:xfrm>
            <a:off x="2949575" y="2860675"/>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ea typeface="黑体" pitchFamily="49" charset="-122"/>
              </a:rPr>
              <a:t>路由器</a:t>
            </a:r>
          </a:p>
        </p:txBody>
      </p:sp>
      <p:sp>
        <p:nvSpPr>
          <p:cNvPr id="14362" name="Text Box 84"/>
          <p:cNvSpPr txBox="1">
            <a:spLocks noChangeArrowheads="1"/>
          </p:cNvSpPr>
          <p:nvPr/>
        </p:nvSpPr>
        <p:spPr bwMode="auto">
          <a:xfrm>
            <a:off x="1403350" y="457200"/>
            <a:ext cx="612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600">
                <a:solidFill>
                  <a:srgbClr val="333399"/>
                </a:solidFill>
                <a:ea typeface="黑体" pitchFamily="49" charset="-122"/>
              </a:rPr>
              <a:t>因特网的边缘部分与核心部分</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150938" y="214313"/>
            <a:ext cx="7021512" cy="1462087"/>
          </a:xfrm>
        </p:spPr>
        <p:txBody>
          <a:bodyPr/>
          <a:lstStyle/>
          <a:p>
            <a:pPr algn="ctr" eaLnBrk="1" hangingPunct="1"/>
            <a:r>
              <a:rPr lang="en-US" altLang="zh-CN" smtClean="0"/>
              <a:t>1.3.1  </a:t>
            </a:r>
            <a:r>
              <a:rPr lang="zh-CN" altLang="en-US" smtClean="0"/>
              <a:t>因特网的边缘部分</a:t>
            </a:r>
          </a:p>
        </p:txBody>
      </p:sp>
      <p:sp>
        <p:nvSpPr>
          <p:cNvPr id="15363" name="Rectangle 3"/>
          <p:cNvSpPr>
            <a:spLocks noGrp="1" noChangeArrowheads="1"/>
          </p:cNvSpPr>
          <p:nvPr>
            <p:ph type="body" idx="1"/>
          </p:nvPr>
        </p:nvSpPr>
        <p:spPr>
          <a:xfrm>
            <a:off x="1042988" y="1773238"/>
            <a:ext cx="7772400" cy="4679950"/>
          </a:xfrm>
        </p:spPr>
        <p:txBody>
          <a:bodyPr/>
          <a:lstStyle/>
          <a:p>
            <a:pPr eaLnBrk="1" hangingPunct="1"/>
            <a:r>
              <a:rPr lang="zh-CN" altLang="en-US" smtClean="0"/>
              <a:t>处在因特网边缘的部分就是连接在因特网上的所有的主机。这些主机又称为</a:t>
            </a:r>
            <a:r>
              <a:rPr lang="zh-CN" altLang="en-US" smtClean="0">
                <a:solidFill>
                  <a:srgbClr val="CC0000"/>
                </a:solidFill>
              </a:rPr>
              <a:t>端系统</a:t>
            </a:r>
            <a:r>
              <a:rPr lang="en-US" altLang="zh-CN" smtClean="0"/>
              <a:t>(end system)</a:t>
            </a:r>
            <a:r>
              <a:rPr lang="zh-CN" altLang="en-US" smtClean="0"/>
              <a:t>。</a:t>
            </a:r>
          </a:p>
          <a:p>
            <a:pPr eaLnBrk="1" hangingPunct="1"/>
            <a:r>
              <a:rPr lang="zh-CN" altLang="en-US" smtClean="0"/>
              <a:t> “主机 </a:t>
            </a:r>
            <a:r>
              <a:rPr lang="en-US" altLang="zh-CN" smtClean="0"/>
              <a:t>A </a:t>
            </a:r>
            <a:r>
              <a:rPr lang="zh-CN" altLang="en-US" smtClean="0"/>
              <a:t>和主机 </a:t>
            </a:r>
            <a:r>
              <a:rPr lang="en-US" altLang="zh-CN" smtClean="0"/>
              <a:t>B </a:t>
            </a:r>
            <a:r>
              <a:rPr lang="zh-CN" altLang="en-US" smtClean="0"/>
              <a:t>进行通信”，实际上是指 “主机 </a:t>
            </a:r>
            <a:r>
              <a:rPr lang="en-US" altLang="zh-CN" b="1" smtClean="0"/>
              <a:t>A </a:t>
            </a:r>
            <a:r>
              <a:rPr lang="zh-CN" altLang="en-US" smtClean="0"/>
              <a:t>的某个进程和主机 </a:t>
            </a:r>
            <a:r>
              <a:rPr lang="en-US" altLang="zh-CN" smtClean="0"/>
              <a:t>B </a:t>
            </a:r>
            <a:r>
              <a:rPr lang="zh-CN" altLang="en-US" smtClean="0"/>
              <a:t>上的另一个进程进行通信”。或简称为“计算机之间通信”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50938" y="692150"/>
            <a:ext cx="6373812" cy="984250"/>
          </a:xfrm>
        </p:spPr>
        <p:txBody>
          <a:bodyPr/>
          <a:lstStyle/>
          <a:p>
            <a:pPr algn="ctr" eaLnBrk="1" hangingPunct="1"/>
            <a:r>
              <a:rPr lang="zh-CN" altLang="en-US" smtClean="0"/>
              <a:t>两种通信方式</a:t>
            </a:r>
          </a:p>
        </p:txBody>
      </p:sp>
      <p:sp>
        <p:nvSpPr>
          <p:cNvPr id="16387" name="Rectangle 3"/>
          <p:cNvSpPr>
            <a:spLocks noGrp="1" noChangeArrowheads="1"/>
          </p:cNvSpPr>
          <p:nvPr>
            <p:ph type="body" idx="1"/>
          </p:nvPr>
        </p:nvSpPr>
        <p:spPr/>
        <p:txBody>
          <a:bodyPr/>
          <a:lstStyle/>
          <a:p>
            <a:pPr eaLnBrk="1" hangingPunct="1">
              <a:buFont typeface="Wingdings" pitchFamily="2" charset="2"/>
              <a:buNone/>
            </a:pPr>
            <a:r>
              <a:rPr lang="zh-CN" altLang="en-US" smtClean="0"/>
              <a:t>在网络边缘的端系统中运行的程序之间的通信方式通常可划分为两大类：</a:t>
            </a:r>
          </a:p>
          <a:p>
            <a:pPr eaLnBrk="1" hangingPunct="1"/>
            <a:r>
              <a:rPr lang="zh-CN" altLang="en-US" smtClean="0">
                <a:solidFill>
                  <a:srgbClr val="CC0000"/>
                </a:solidFill>
              </a:rPr>
              <a:t>客户服务器方式</a:t>
            </a:r>
            <a:r>
              <a:rPr lang="zh-CN" altLang="en-US" smtClean="0"/>
              <a:t>（</a:t>
            </a:r>
            <a:r>
              <a:rPr lang="en-US" altLang="zh-CN" smtClean="0"/>
              <a:t>C/S </a:t>
            </a:r>
            <a:r>
              <a:rPr lang="zh-CN" altLang="en-US" smtClean="0"/>
              <a:t>方式）</a:t>
            </a:r>
          </a:p>
          <a:p>
            <a:pPr eaLnBrk="1" hangingPunct="1">
              <a:buFont typeface="Wingdings" pitchFamily="2" charset="2"/>
              <a:buNone/>
            </a:pPr>
            <a:r>
              <a:rPr lang="zh-CN" altLang="en-US" smtClean="0"/>
              <a:t>   即</a:t>
            </a:r>
            <a:r>
              <a:rPr lang="en-US" altLang="zh-CN" smtClean="0"/>
              <a:t>Client/Server</a:t>
            </a:r>
            <a:r>
              <a:rPr lang="zh-CN" altLang="en-US" smtClean="0"/>
              <a:t>方式 </a:t>
            </a:r>
          </a:p>
          <a:p>
            <a:pPr eaLnBrk="1" hangingPunct="1"/>
            <a:r>
              <a:rPr lang="zh-CN" altLang="en-US" smtClean="0">
                <a:solidFill>
                  <a:srgbClr val="CC0000"/>
                </a:solidFill>
              </a:rPr>
              <a:t>对等方式</a:t>
            </a:r>
            <a:r>
              <a:rPr lang="zh-CN" altLang="en-US" smtClean="0"/>
              <a:t>（</a:t>
            </a:r>
            <a:r>
              <a:rPr lang="en-US" altLang="zh-CN" smtClean="0"/>
              <a:t>P2P </a:t>
            </a:r>
            <a:r>
              <a:rPr lang="zh-CN" altLang="en-US" smtClean="0"/>
              <a:t>方式）</a:t>
            </a:r>
          </a:p>
          <a:p>
            <a:pPr eaLnBrk="1" hangingPunct="1">
              <a:buFont typeface="Wingdings" pitchFamily="2" charset="2"/>
              <a:buNone/>
            </a:pPr>
            <a:r>
              <a:rPr lang="zh-CN" altLang="en-US" smtClean="0"/>
              <a:t>   即 </a:t>
            </a:r>
            <a:r>
              <a:rPr lang="en-US" altLang="zh-CN" smtClean="0"/>
              <a:t>Peer-to-Peer</a:t>
            </a:r>
            <a:r>
              <a:rPr lang="zh-CN" altLang="en-US" smtClean="0"/>
              <a:t>方式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Oval 4"/>
          <p:cNvSpPr>
            <a:spLocks noChangeArrowheads="1"/>
          </p:cNvSpPr>
          <p:nvPr/>
        </p:nvSpPr>
        <p:spPr bwMode="auto">
          <a:xfrm>
            <a:off x="611188" y="193675"/>
            <a:ext cx="7015162" cy="5184775"/>
          </a:xfrm>
          <a:prstGeom prst="ellipse">
            <a:avLst/>
          </a:prstGeom>
          <a:solidFill>
            <a:srgbClr val="FFCCCC"/>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1" name="Line 5"/>
          <p:cNvSpPr>
            <a:spLocks noChangeShapeType="1"/>
          </p:cNvSpPr>
          <p:nvPr/>
        </p:nvSpPr>
        <p:spPr bwMode="auto">
          <a:xfrm flipV="1">
            <a:off x="2106613" y="3417888"/>
            <a:ext cx="787400" cy="4667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2" name="Line 6"/>
          <p:cNvSpPr>
            <a:spLocks noChangeShapeType="1"/>
          </p:cNvSpPr>
          <p:nvPr/>
        </p:nvSpPr>
        <p:spPr bwMode="auto">
          <a:xfrm flipH="1" flipV="1">
            <a:off x="1731963" y="2360613"/>
            <a:ext cx="850900" cy="2206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3" name="Line 7"/>
          <p:cNvSpPr>
            <a:spLocks noChangeShapeType="1"/>
          </p:cNvSpPr>
          <p:nvPr/>
        </p:nvSpPr>
        <p:spPr bwMode="auto">
          <a:xfrm flipH="1">
            <a:off x="5667375" y="2913063"/>
            <a:ext cx="10112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Line 8"/>
          <p:cNvSpPr>
            <a:spLocks noChangeShapeType="1"/>
          </p:cNvSpPr>
          <p:nvPr/>
        </p:nvSpPr>
        <p:spPr bwMode="auto">
          <a:xfrm flipH="1">
            <a:off x="4921250" y="1258888"/>
            <a:ext cx="746125" cy="11017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5" name="Line 9"/>
          <p:cNvSpPr>
            <a:spLocks noChangeShapeType="1"/>
          </p:cNvSpPr>
          <p:nvPr/>
        </p:nvSpPr>
        <p:spPr bwMode="auto">
          <a:xfrm flipH="1" flipV="1">
            <a:off x="4816475" y="3795713"/>
            <a:ext cx="561975" cy="7000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6" name="Line 10"/>
          <p:cNvSpPr>
            <a:spLocks noChangeShapeType="1"/>
          </p:cNvSpPr>
          <p:nvPr/>
        </p:nvSpPr>
        <p:spPr bwMode="auto">
          <a:xfrm>
            <a:off x="2900363" y="1368425"/>
            <a:ext cx="476250" cy="80486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7" name="Line 11"/>
          <p:cNvSpPr>
            <a:spLocks noChangeShapeType="1"/>
          </p:cNvSpPr>
          <p:nvPr/>
        </p:nvSpPr>
        <p:spPr bwMode="auto">
          <a:xfrm flipV="1">
            <a:off x="3219450" y="3686175"/>
            <a:ext cx="212725" cy="809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7418" name="Picture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0338" y="815975"/>
            <a:ext cx="64452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9" name="Picture 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2863" y="815975"/>
            <a:ext cx="64452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20" name="Picture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3975" y="4348163"/>
            <a:ext cx="64452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21" name="Picture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0363" y="4348163"/>
            <a:ext cx="644525"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22" name="Text Box 16"/>
          <p:cNvSpPr txBox="1">
            <a:spLocks noChangeArrowheads="1"/>
          </p:cNvSpPr>
          <p:nvPr/>
        </p:nvSpPr>
        <p:spPr bwMode="auto">
          <a:xfrm>
            <a:off x="220663" y="39688"/>
            <a:ext cx="89535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folHlink"/>
                </a:solidFill>
                <a:latin typeface="黑体" pitchFamily="49" charset="-122"/>
                <a:ea typeface="黑体" pitchFamily="49" charset="-122"/>
              </a:rPr>
              <a:t>运行</a:t>
            </a:r>
          </a:p>
          <a:p>
            <a:pPr eaLnBrk="1" hangingPunct="1"/>
            <a:r>
              <a:rPr kumimoji="1" lang="zh-CN" altLang="en-US" sz="2800">
                <a:solidFill>
                  <a:schemeClr val="folHlink"/>
                </a:solidFill>
                <a:latin typeface="黑体" pitchFamily="49" charset="-122"/>
                <a:ea typeface="黑体" pitchFamily="49" charset="-122"/>
              </a:rPr>
              <a:t>客户</a:t>
            </a:r>
          </a:p>
          <a:p>
            <a:pPr eaLnBrk="1" hangingPunct="1"/>
            <a:r>
              <a:rPr kumimoji="1" lang="zh-CN" altLang="en-US" sz="2800">
                <a:solidFill>
                  <a:schemeClr val="folHlink"/>
                </a:solidFill>
                <a:latin typeface="黑体" pitchFamily="49" charset="-122"/>
                <a:ea typeface="黑体" pitchFamily="49" charset="-122"/>
              </a:rPr>
              <a:t>程序</a:t>
            </a:r>
          </a:p>
        </p:txBody>
      </p:sp>
      <p:pic>
        <p:nvPicPr>
          <p:cNvPr id="17423" name="Picture 1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8563" y="1698625"/>
            <a:ext cx="64452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7424" name="Group 18"/>
          <p:cNvGrpSpPr>
            <a:grpSpLocks/>
          </p:cNvGrpSpPr>
          <p:nvPr/>
        </p:nvGrpSpPr>
        <p:grpSpPr bwMode="auto">
          <a:xfrm>
            <a:off x="2157413" y="1368425"/>
            <a:ext cx="4048125" cy="3046413"/>
            <a:chOff x="1680" y="240"/>
            <a:chExt cx="2529" cy="1270"/>
          </a:xfrm>
        </p:grpSpPr>
        <p:sp>
          <p:nvSpPr>
            <p:cNvPr id="17443" name="Oval 19"/>
            <p:cNvSpPr>
              <a:spLocks noChangeArrowheads="1"/>
            </p:cNvSpPr>
            <p:nvPr/>
          </p:nvSpPr>
          <p:spPr bwMode="auto">
            <a:xfrm>
              <a:off x="2554" y="240"/>
              <a:ext cx="1088"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4" name="Oval 20"/>
            <p:cNvSpPr>
              <a:spLocks noChangeArrowheads="1"/>
            </p:cNvSpPr>
            <p:nvPr/>
          </p:nvSpPr>
          <p:spPr bwMode="auto">
            <a:xfrm>
              <a:off x="1941" y="381"/>
              <a:ext cx="827"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5" name="Oval 21"/>
            <p:cNvSpPr>
              <a:spLocks noChangeArrowheads="1"/>
            </p:cNvSpPr>
            <p:nvPr/>
          </p:nvSpPr>
          <p:spPr bwMode="auto">
            <a:xfrm>
              <a:off x="1680" y="702"/>
              <a:ext cx="552" cy="411"/>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6" name="Oval 22"/>
            <p:cNvSpPr>
              <a:spLocks noChangeArrowheads="1"/>
            </p:cNvSpPr>
            <p:nvPr/>
          </p:nvSpPr>
          <p:spPr bwMode="auto">
            <a:xfrm>
              <a:off x="1849" y="894"/>
              <a:ext cx="842" cy="450"/>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7" name="Oval 23"/>
            <p:cNvSpPr>
              <a:spLocks noChangeArrowheads="1"/>
            </p:cNvSpPr>
            <p:nvPr/>
          </p:nvSpPr>
          <p:spPr bwMode="auto">
            <a:xfrm>
              <a:off x="2462" y="971"/>
              <a:ext cx="1272" cy="539"/>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8" name="Oval 24"/>
            <p:cNvSpPr>
              <a:spLocks noChangeArrowheads="1"/>
            </p:cNvSpPr>
            <p:nvPr/>
          </p:nvSpPr>
          <p:spPr bwMode="auto">
            <a:xfrm>
              <a:off x="3289" y="394"/>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49" name="Oval 25"/>
            <p:cNvSpPr>
              <a:spLocks noChangeArrowheads="1"/>
            </p:cNvSpPr>
            <p:nvPr/>
          </p:nvSpPr>
          <p:spPr bwMode="auto">
            <a:xfrm>
              <a:off x="3412" y="663"/>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50" name="Oval 26"/>
            <p:cNvSpPr>
              <a:spLocks noChangeArrowheads="1"/>
            </p:cNvSpPr>
            <p:nvPr/>
          </p:nvSpPr>
          <p:spPr bwMode="auto">
            <a:xfrm>
              <a:off x="3335" y="753"/>
              <a:ext cx="797" cy="66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51" name="Oval 27"/>
            <p:cNvSpPr>
              <a:spLocks noChangeArrowheads="1"/>
            </p:cNvSpPr>
            <p:nvPr/>
          </p:nvSpPr>
          <p:spPr bwMode="auto">
            <a:xfrm>
              <a:off x="2140" y="548"/>
              <a:ext cx="1640" cy="667"/>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7425" name="Text Box 28"/>
          <p:cNvSpPr txBox="1">
            <a:spLocks noChangeArrowheads="1"/>
          </p:cNvSpPr>
          <p:nvPr/>
        </p:nvSpPr>
        <p:spPr bwMode="auto">
          <a:xfrm>
            <a:off x="3432175" y="327025"/>
            <a:ext cx="1616075" cy="530225"/>
          </a:xfrm>
          <a:prstGeom prst="rect">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folHlink"/>
                </a:solidFill>
                <a:latin typeface="黑体" pitchFamily="49" charset="-122"/>
                <a:ea typeface="黑体" pitchFamily="49" charset="-122"/>
              </a:rPr>
              <a:t>网络边缘</a:t>
            </a:r>
          </a:p>
        </p:txBody>
      </p:sp>
      <p:sp>
        <p:nvSpPr>
          <p:cNvPr id="17426" name="Text Box 29"/>
          <p:cNvSpPr txBox="1">
            <a:spLocks noChangeArrowheads="1"/>
          </p:cNvSpPr>
          <p:nvPr/>
        </p:nvSpPr>
        <p:spPr bwMode="auto">
          <a:xfrm>
            <a:off x="3538538" y="3263900"/>
            <a:ext cx="1614487" cy="530225"/>
          </a:xfrm>
          <a:prstGeom prst="rect">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folHlink"/>
                </a:solidFill>
                <a:latin typeface="黑体" pitchFamily="49" charset="-122"/>
                <a:ea typeface="黑体" pitchFamily="49" charset="-122"/>
              </a:rPr>
              <a:t>网络核心</a:t>
            </a:r>
          </a:p>
        </p:txBody>
      </p:sp>
      <p:graphicFrame>
        <p:nvGraphicFramePr>
          <p:cNvPr id="17427" name="Object 30">
            <a:hlinkClick r:id="" action="ppaction://ole?verb=0"/>
          </p:cNvPr>
          <p:cNvGraphicFramePr>
            <a:graphicFrameLocks/>
          </p:cNvGraphicFramePr>
          <p:nvPr/>
        </p:nvGraphicFramePr>
        <p:xfrm>
          <a:off x="6515100" y="2362200"/>
          <a:ext cx="749300" cy="1049338"/>
        </p:xfrm>
        <a:graphic>
          <a:graphicData uri="http://schemas.openxmlformats.org/presentationml/2006/ole">
            <mc:AlternateContent xmlns:mc="http://schemas.openxmlformats.org/markup-compatibility/2006">
              <mc:Choice xmlns:v="urn:schemas-microsoft-com:vml" Requires="v">
                <p:oleObj spid="_x0000_s17452" name="Microsoft ClipArt Gallery" r:id="rId5" imgW="2735263" imgH="3825875" progId="MS_ClipArt_Gallery">
                  <p:embed/>
                </p:oleObj>
              </mc:Choice>
              <mc:Fallback>
                <p:oleObj name="Microsoft ClipArt Gallery" r:id="rId5" imgW="2735263" imgH="3825875" progId="MS_ClipArt_Gallery">
                  <p:embed/>
                  <p:pic>
                    <p:nvPicPr>
                      <p:cNvPr id="0" name="Object 3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5100" y="2362200"/>
                        <a:ext cx="7493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28" name="Text Box 31"/>
          <p:cNvSpPr txBox="1">
            <a:spLocks noChangeArrowheads="1"/>
          </p:cNvSpPr>
          <p:nvPr/>
        </p:nvSpPr>
        <p:spPr bwMode="auto">
          <a:xfrm>
            <a:off x="7893050" y="482600"/>
            <a:ext cx="125095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chemeClr val="folHlink"/>
                </a:solidFill>
                <a:latin typeface="黑体" pitchFamily="49" charset="-122"/>
                <a:ea typeface="黑体" pitchFamily="49" charset="-122"/>
              </a:rPr>
              <a:t>运行</a:t>
            </a:r>
          </a:p>
          <a:p>
            <a:pPr algn="ctr" eaLnBrk="1" hangingPunct="1"/>
            <a:r>
              <a:rPr kumimoji="1" lang="zh-CN" altLang="en-US" sz="2800">
                <a:solidFill>
                  <a:schemeClr val="folHlink"/>
                </a:solidFill>
                <a:latin typeface="黑体" pitchFamily="49" charset="-122"/>
                <a:ea typeface="黑体" pitchFamily="49" charset="-122"/>
              </a:rPr>
              <a:t>服务器</a:t>
            </a:r>
          </a:p>
          <a:p>
            <a:pPr algn="ctr" eaLnBrk="1" hangingPunct="1"/>
            <a:r>
              <a:rPr kumimoji="1" lang="zh-CN" altLang="en-US" sz="2800">
                <a:solidFill>
                  <a:schemeClr val="folHlink"/>
                </a:solidFill>
                <a:latin typeface="黑体" pitchFamily="49" charset="-122"/>
                <a:ea typeface="黑体" pitchFamily="49" charset="-122"/>
              </a:rPr>
              <a:t>程序</a:t>
            </a:r>
          </a:p>
        </p:txBody>
      </p:sp>
      <p:sp>
        <p:nvSpPr>
          <p:cNvPr id="17429" name="Line 33"/>
          <p:cNvSpPr>
            <a:spLocks noChangeShapeType="1"/>
          </p:cNvSpPr>
          <p:nvPr/>
        </p:nvSpPr>
        <p:spPr bwMode="auto">
          <a:xfrm>
            <a:off x="827088" y="1412875"/>
            <a:ext cx="576262"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0" name="Line 34"/>
          <p:cNvSpPr>
            <a:spLocks noChangeShapeType="1"/>
          </p:cNvSpPr>
          <p:nvPr/>
        </p:nvSpPr>
        <p:spPr bwMode="auto">
          <a:xfrm flipH="1">
            <a:off x="7258050" y="1633538"/>
            <a:ext cx="914400" cy="1169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1" name="Text Box 35"/>
          <p:cNvSpPr txBox="1">
            <a:spLocks noChangeArrowheads="1"/>
          </p:cNvSpPr>
          <p:nvPr/>
        </p:nvSpPr>
        <p:spPr bwMode="auto">
          <a:xfrm>
            <a:off x="1412875" y="1246188"/>
            <a:ext cx="420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ea typeface="黑体" pitchFamily="49" charset="-122"/>
              </a:rPr>
              <a:t>A</a:t>
            </a:r>
          </a:p>
        </p:txBody>
      </p:sp>
      <p:sp>
        <p:nvSpPr>
          <p:cNvPr id="17432" name="Text Box 36"/>
          <p:cNvSpPr txBox="1">
            <a:spLocks noChangeArrowheads="1"/>
          </p:cNvSpPr>
          <p:nvPr/>
        </p:nvSpPr>
        <p:spPr bwMode="auto">
          <a:xfrm>
            <a:off x="6619875" y="1906588"/>
            <a:ext cx="420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ea typeface="黑体" pitchFamily="49" charset="-122"/>
              </a:rPr>
              <a:t>B</a:t>
            </a:r>
          </a:p>
        </p:txBody>
      </p:sp>
      <p:pic>
        <p:nvPicPr>
          <p:cNvPr id="17433" name="Picture 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4013" y="3686175"/>
            <a:ext cx="644525"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4108" name="Group 44"/>
          <p:cNvGrpSpPr>
            <a:grpSpLocks/>
          </p:cNvGrpSpPr>
          <p:nvPr/>
        </p:nvGrpSpPr>
        <p:grpSpPr bwMode="auto">
          <a:xfrm>
            <a:off x="1836738" y="1620838"/>
            <a:ext cx="4678362" cy="850900"/>
            <a:chOff x="1157" y="1199"/>
            <a:chExt cx="2947" cy="536"/>
          </a:xfrm>
        </p:grpSpPr>
        <p:sp>
          <p:nvSpPr>
            <p:cNvPr id="17441" name="Freeform 32"/>
            <p:cNvSpPr>
              <a:spLocks/>
            </p:cNvSpPr>
            <p:nvPr/>
          </p:nvSpPr>
          <p:spPr bwMode="auto">
            <a:xfrm>
              <a:off x="1157" y="1319"/>
              <a:ext cx="2947" cy="416"/>
            </a:xfrm>
            <a:custGeom>
              <a:avLst/>
              <a:gdLst>
                <a:gd name="T0" fmla="*/ 0 w 2112"/>
                <a:gd name="T1" fmla="*/ 0 h 192"/>
                <a:gd name="T2" fmla="*/ 11173 w 2112"/>
                <a:gd name="T3" fmla="*/ 9163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2" name="Text Box 39"/>
            <p:cNvSpPr txBox="1">
              <a:spLocks noChangeArrowheads="1"/>
            </p:cNvSpPr>
            <p:nvPr/>
          </p:nvSpPr>
          <p:spPr bwMode="auto">
            <a:xfrm rot="455053">
              <a:off x="2095" y="1199"/>
              <a:ext cx="1348"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latin typeface="黑体" pitchFamily="49" charset="-122"/>
                  <a:ea typeface="黑体" pitchFamily="49" charset="-122"/>
                </a:rPr>
                <a:t>① </a:t>
              </a:r>
              <a:r>
                <a:rPr kumimoji="1" lang="zh-CN" altLang="en-US" sz="2800">
                  <a:solidFill>
                    <a:schemeClr val="folHlink"/>
                  </a:solidFill>
                  <a:latin typeface="黑体" pitchFamily="49" charset="-122"/>
                  <a:ea typeface="黑体" pitchFamily="49" charset="-122"/>
                </a:rPr>
                <a:t>请求服务</a:t>
              </a:r>
            </a:p>
          </p:txBody>
        </p:sp>
      </p:grpSp>
      <p:grpSp>
        <p:nvGrpSpPr>
          <p:cNvPr id="344109" name="Group 45"/>
          <p:cNvGrpSpPr>
            <a:grpSpLocks/>
          </p:cNvGrpSpPr>
          <p:nvPr/>
        </p:nvGrpSpPr>
        <p:grpSpPr bwMode="auto">
          <a:xfrm>
            <a:off x="1731963" y="2030413"/>
            <a:ext cx="4678362" cy="828675"/>
            <a:chOff x="1091" y="1457"/>
            <a:chExt cx="2947" cy="522"/>
          </a:xfrm>
        </p:grpSpPr>
        <p:sp>
          <p:nvSpPr>
            <p:cNvPr id="17439" name="Freeform 38"/>
            <p:cNvSpPr>
              <a:spLocks/>
            </p:cNvSpPr>
            <p:nvPr/>
          </p:nvSpPr>
          <p:spPr bwMode="auto">
            <a:xfrm rot="10800000">
              <a:off x="1091" y="1457"/>
              <a:ext cx="2947" cy="416"/>
            </a:xfrm>
            <a:custGeom>
              <a:avLst/>
              <a:gdLst>
                <a:gd name="T0" fmla="*/ 0 w 2112"/>
                <a:gd name="T1" fmla="*/ 0 h 192"/>
                <a:gd name="T2" fmla="*/ 11173 w 2112"/>
                <a:gd name="T3" fmla="*/ 9163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57150" cap="flat" cmpd="sng">
              <a:solidFill>
                <a:schemeClr val="tx2">
                  <a:alpha val="56078"/>
                </a:scheme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40" name="Text Box 40"/>
            <p:cNvSpPr txBox="1">
              <a:spLocks noChangeArrowheads="1"/>
            </p:cNvSpPr>
            <p:nvPr/>
          </p:nvSpPr>
          <p:spPr bwMode="auto">
            <a:xfrm rot="499003">
              <a:off x="1975" y="1652"/>
              <a:ext cx="134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latin typeface="黑体" pitchFamily="49" charset="-122"/>
                  <a:ea typeface="黑体" pitchFamily="49" charset="-122"/>
                </a:rPr>
                <a:t>② </a:t>
              </a:r>
              <a:r>
                <a:rPr kumimoji="1" lang="zh-CN" altLang="en-US" sz="2800">
                  <a:solidFill>
                    <a:schemeClr val="folHlink"/>
                  </a:solidFill>
                  <a:latin typeface="黑体" pitchFamily="49" charset="-122"/>
                  <a:ea typeface="黑体" pitchFamily="49" charset="-122"/>
                </a:rPr>
                <a:t>得到服务</a:t>
              </a:r>
            </a:p>
          </p:txBody>
        </p:sp>
      </p:grpSp>
      <p:sp>
        <p:nvSpPr>
          <p:cNvPr id="17436" name="Text Box 41"/>
          <p:cNvSpPr txBox="1">
            <a:spLocks noChangeArrowheads="1"/>
          </p:cNvSpPr>
          <p:nvPr/>
        </p:nvSpPr>
        <p:spPr bwMode="auto">
          <a:xfrm>
            <a:off x="1093788" y="2351088"/>
            <a:ext cx="8953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folHlink"/>
                </a:solidFill>
                <a:latin typeface="黑体" pitchFamily="49" charset="-122"/>
                <a:ea typeface="黑体" pitchFamily="49" charset="-122"/>
              </a:rPr>
              <a:t>客户</a:t>
            </a:r>
          </a:p>
        </p:txBody>
      </p:sp>
      <p:sp>
        <p:nvSpPr>
          <p:cNvPr id="17437" name="Text Box 42"/>
          <p:cNvSpPr txBox="1">
            <a:spLocks noChangeArrowheads="1"/>
          </p:cNvSpPr>
          <p:nvPr/>
        </p:nvSpPr>
        <p:spPr bwMode="auto">
          <a:xfrm>
            <a:off x="6302375" y="3348038"/>
            <a:ext cx="1250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folHlink"/>
                </a:solidFill>
                <a:latin typeface="黑体" pitchFamily="49" charset="-122"/>
                <a:ea typeface="黑体" pitchFamily="49" charset="-122"/>
              </a:rPr>
              <a:t>服务器</a:t>
            </a:r>
          </a:p>
        </p:txBody>
      </p:sp>
      <p:sp>
        <p:nvSpPr>
          <p:cNvPr id="17438" name="Text Box 46"/>
          <p:cNvSpPr txBox="1">
            <a:spLocks noChangeArrowheads="1"/>
          </p:cNvSpPr>
          <p:nvPr/>
        </p:nvSpPr>
        <p:spPr bwMode="auto">
          <a:xfrm>
            <a:off x="1639888" y="5435600"/>
            <a:ext cx="64611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rgbClr val="333399"/>
                </a:solidFill>
                <a:ea typeface="黑体" pitchFamily="49" charset="-122"/>
              </a:rPr>
              <a:t>客户 </a:t>
            </a:r>
            <a:r>
              <a:rPr lang="en-US" altLang="zh-CN" sz="3200">
                <a:solidFill>
                  <a:srgbClr val="333399"/>
                </a:solidFill>
                <a:ea typeface="黑体" pitchFamily="49" charset="-122"/>
              </a:rPr>
              <a:t>A </a:t>
            </a:r>
            <a:r>
              <a:rPr lang="zh-CN" altLang="en-US" sz="3200">
                <a:solidFill>
                  <a:srgbClr val="333399"/>
                </a:solidFill>
                <a:ea typeface="黑体" pitchFamily="49" charset="-122"/>
              </a:rPr>
              <a:t>向服务器 </a:t>
            </a:r>
            <a:r>
              <a:rPr lang="en-US" altLang="zh-CN" sz="3200">
                <a:solidFill>
                  <a:srgbClr val="333399"/>
                </a:solidFill>
                <a:ea typeface="黑体" pitchFamily="49" charset="-122"/>
              </a:rPr>
              <a:t>B </a:t>
            </a:r>
            <a:r>
              <a:rPr lang="zh-CN" altLang="en-US" sz="3200">
                <a:solidFill>
                  <a:srgbClr val="333399"/>
                </a:solidFill>
                <a:ea typeface="黑体" pitchFamily="49" charset="-122"/>
              </a:rPr>
              <a:t>发出请求服务，</a:t>
            </a:r>
          </a:p>
          <a:p>
            <a:pPr eaLnBrk="1" hangingPunct="1"/>
            <a:r>
              <a:rPr lang="zh-CN" altLang="en-US" sz="3200">
                <a:solidFill>
                  <a:srgbClr val="333399"/>
                </a:solidFill>
                <a:ea typeface="黑体" pitchFamily="49" charset="-122"/>
              </a:rPr>
              <a:t>而服务器 </a:t>
            </a:r>
            <a:r>
              <a:rPr lang="en-US" altLang="zh-CN" sz="3200">
                <a:solidFill>
                  <a:srgbClr val="333399"/>
                </a:solidFill>
                <a:ea typeface="黑体" pitchFamily="49" charset="-122"/>
              </a:rPr>
              <a:t>B </a:t>
            </a:r>
            <a:r>
              <a:rPr lang="zh-CN" altLang="en-US" sz="3200">
                <a:solidFill>
                  <a:srgbClr val="333399"/>
                </a:solidFill>
                <a:ea typeface="黑体" pitchFamily="49" charset="-122"/>
              </a:rPr>
              <a:t>向客户 </a:t>
            </a:r>
            <a:r>
              <a:rPr lang="en-US" altLang="zh-CN" sz="3200">
                <a:solidFill>
                  <a:srgbClr val="333399"/>
                </a:solidFill>
                <a:ea typeface="黑体" pitchFamily="49" charset="-122"/>
              </a:rPr>
              <a:t>A </a:t>
            </a:r>
            <a:r>
              <a:rPr lang="zh-CN" altLang="en-US" sz="3200">
                <a:solidFill>
                  <a:srgbClr val="333399"/>
                </a:solidFill>
                <a:ea typeface="黑体" pitchFamily="49" charset="-122"/>
              </a:rPr>
              <a:t>提供服务。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4108"/>
                                        </p:tgtEl>
                                        <p:attrNameLst>
                                          <p:attrName>style.visibility</p:attrName>
                                        </p:attrNameLst>
                                      </p:cBhvr>
                                      <p:to>
                                        <p:strVal val="visible"/>
                                      </p:to>
                                    </p:set>
                                    <p:animEffect transition="in" filter="wipe(left)">
                                      <p:cBhvr>
                                        <p:cTn id="7" dur="2000"/>
                                        <p:tgtEl>
                                          <p:spTgt spid="344108"/>
                                        </p:tgtEl>
                                      </p:cBhvr>
                                    </p:animEffect>
                                  </p:childTnLst>
                                </p:cTn>
                              </p:par>
                            </p:childTnLst>
                          </p:cTn>
                        </p:par>
                        <p:par>
                          <p:cTn id="8" fill="hold" nodeType="afterGroup">
                            <p:stCondLst>
                              <p:cond delay="2000"/>
                            </p:stCondLst>
                            <p:childTnLst>
                              <p:par>
                                <p:cTn id="9" presetID="22" presetClass="entr" presetSubtype="2" fill="hold" nodeType="afterEffect">
                                  <p:stCondLst>
                                    <p:cond delay="500"/>
                                  </p:stCondLst>
                                  <p:childTnLst>
                                    <p:set>
                                      <p:cBhvr>
                                        <p:cTn id="10" dur="1" fill="hold">
                                          <p:stCondLst>
                                            <p:cond delay="0"/>
                                          </p:stCondLst>
                                        </p:cTn>
                                        <p:tgtEl>
                                          <p:spTgt spid="344109"/>
                                        </p:tgtEl>
                                        <p:attrNameLst>
                                          <p:attrName>style.visibility</p:attrName>
                                        </p:attrNameLst>
                                      </p:cBhvr>
                                      <p:to>
                                        <p:strVal val="visible"/>
                                      </p:to>
                                    </p:set>
                                    <p:animEffect transition="in" filter="wipe(right)">
                                      <p:cBhvr>
                                        <p:cTn id="11" dur="2000"/>
                                        <p:tgtEl>
                                          <p:spTgt spid="3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a:xfrm>
            <a:off x="900113" y="765175"/>
            <a:ext cx="7915275" cy="5122863"/>
          </a:xfrm>
        </p:spPr>
        <p:txBody>
          <a:bodyPr/>
          <a:lstStyle/>
          <a:p>
            <a:pPr>
              <a:lnSpc>
                <a:spcPct val="80000"/>
              </a:lnSpc>
            </a:pPr>
            <a:r>
              <a:rPr lang="zh-CN" altLang="en-US" sz="2400" smtClean="0"/>
              <a:t>在</a:t>
            </a:r>
            <a:r>
              <a:rPr lang="en-US" altLang="zh-CN" sz="2400" smtClean="0"/>
              <a:t>QQ</a:t>
            </a:r>
            <a:r>
              <a:rPr lang="zh-CN" altLang="en-US" sz="2400" smtClean="0"/>
              <a:t>出现之前，人们上网聊天大多通过</a:t>
            </a:r>
            <a:r>
              <a:rPr lang="zh-CN" altLang="en-US" sz="2400" smtClean="0">
                <a:hlinkClick r:id="rId2"/>
              </a:rPr>
              <a:t>聊天室</a:t>
            </a:r>
            <a:r>
              <a:rPr lang="zh-CN" altLang="en-US" sz="2400" smtClean="0"/>
              <a:t>，信息的传递方式是：用户</a:t>
            </a:r>
            <a:r>
              <a:rPr lang="en-US" altLang="zh-CN" sz="2400" smtClean="0"/>
              <a:t>A</a:t>
            </a:r>
            <a:r>
              <a:rPr lang="zh-CN" altLang="en-US" sz="2400" smtClean="0"/>
              <a:t>－聊天室</a:t>
            </a:r>
            <a:r>
              <a:rPr lang="zh-CN" altLang="en-US" sz="2400" smtClean="0">
                <a:hlinkClick r:id="rId3"/>
              </a:rPr>
              <a:t>服务器</a:t>
            </a:r>
            <a:r>
              <a:rPr lang="zh-CN" altLang="en-US" sz="2400" smtClean="0"/>
              <a:t>－用户</a:t>
            </a:r>
            <a:r>
              <a:rPr lang="en-US" altLang="zh-CN" sz="2400" smtClean="0"/>
              <a:t>B</a:t>
            </a:r>
            <a:r>
              <a:rPr lang="zh-CN" altLang="en-US" sz="2400" smtClean="0"/>
              <a:t>。这种被称为“</a:t>
            </a:r>
            <a:r>
              <a:rPr lang="zh-CN" altLang="en-US" sz="2400" smtClean="0">
                <a:hlinkClick r:id="rId4"/>
              </a:rPr>
              <a:t>客户端</a:t>
            </a:r>
            <a:r>
              <a:rPr lang="en-US" altLang="zh-CN" sz="2400" smtClean="0"/>
              <a:t>/</a:t>
            </a:r>
            <a:r>
              <a:rPr lang="zh-CN" altLang="en-US" sz="2400" smtClean="0">
                <a:hlinkClick r:id="rId3"/>
              </a:rPr>
              <a:t>服务器</a:t>
            </a:r>
            <a:r>
              <a:rPr lang="zh-CN" altLang="en-US" sz="2400" smtClean="0"/>
              <a:t>”模式（</a:t>
            </a:r>
            <a:r>
              <a:rPr lang="en-US" altLang="zh-CN" sz="2400" smtClean="0">
                <a:hlinkClick r:id="rId5"/>
              </a:rPr>
              <a:t>Client/Server</a:t>
            </a:r>
            <a:r>
              <a:rPr lang="zh-CN" altLang="en-US" sz="2400" smtClean="0"/>
              <a:t>，简称</a:t>
            </a:r>
            <a:r>
              <a:rPr lang="en-US" altLang="zh-CN" sz="2400" smtClean="0"/>
              <a:t>C/S</a:t>
            </a:r>
            <a:r>
              <a:rPr lang="zh-CN" altLang="en-US" sz="2400" smtClean="0"/>
              <a:t>。在基于</a:t>
            </a:r>
            <a:r>
              <a:rPr lang="en-US" altLang="zh-CN" sz="2400" smtClean="0">
                <a:hlinkClick r:id="rId6"/>
              </a:rPr>
              <a:t>HTTP</a:t>
            </a:r>
            <a:r>
              <a:rPr lang="zh-CN" altLang="en-US" sz="2400" smtClean="0">
                <a:hlinkClick r:id="rId6"/>
              </a:rPr>
              <a:t>协议</a:t>
            </a:r>
            <a:r>
              <a:rPr lang="zh-CN" altLang="en-US" sz="2400" smtClean="0"/>
              <a:t>的基础上，又被命名为“</a:t>
            </a:r>
            <a:r>
              <a:rPr lang="zh-CN" altLang="en-US" sz="2400" smtClean="0">
                <a:hlinkClick r:id="rId7"/>
              </a:rPr>
              <a:t>浏览器</a:t>
            </a:r>
            <a:r>
              <a:rPr lang="en-US" altLang="zh-CN" sz="2400" smtClean="0"/>
              <a:t>/</a:t>
            </a:r>
            <a:r>
              <a:rPr lang="zh-CN" altLang="en-US" sz="2400" smtClean="0">
                <a:hlinkClick r:id="rId3"/>
              </a:rPr>
              <a:t>服务器</a:t>
            </a:r>
            <a:r>
              <a:rPr lang="zh-CN" altLang="en-US" sz="2400" smtClean="0"/>
              <a:t>”模式，</a:t>
            </a:r>
            <a:r>
              <a:rPr lang="en-US" altLang="zh-CN" sz="2400" smtClean="0"/>
              <a:t>Brower/Server</a:t>
            </a:r>
            <a:r>
              <a:rPr lang="zh-CN" altLang="en-US" sz="2400" smtClean="0"/>
              <a:t>，简称</a:t>
            </a:r>
            <a:r>
              <a:rPr lang="en-US" altLang="zh-CN" sz="2400" smtClean="0"/>
              <a:t>B/S</a:t>
            </a:r>
            <a:r>
              <a:rPr lang="zh-CN" altLang="en-US" sz="2400" smtClean="0"/>
              <a:t>）。这些都不是</a:t>
            </a:r>
            <a:r>
              <a:rPr lang="en-US" altLang="zh-CN" sz="2400" smtClean="0"/>
              <a:t>P2P</a:t>
            </a:r>
            <a:r>
              <a:rPr lang="zh-CN" altLang="en-US" sz="2400" smtClean="0"/>
              <a:t>的方式。</a:t>
            </a:r>
          </a:p>
          <a:p>
            <a:pPr>
              <a:lnSpc>
                <a:spcPct val="80000"/>
              </a:lnSpc>
            </a:pPr>
            <a:r>
              <a:rPr lang="zh-CN" altLang="en-US" sz="2400" smtClean="0"/>
              <a:t>在</a:t>
            </a:r>
            <a:r>
              <a:rPr lang="en-US" altLang="zh-CN" sz="2400" smtClean="0">
                <a:hlinkClick r:id="rId8"/>
              </a:rPr>
              <a:t>QQ</a:t>
            </a:r>
            <a:r>
              <a:rPr lang="zh-CN" altLang="en-US" sz="2400" smtClean="0"/>
              <a:t>时代，用户与</a:t>
            </a:r>
            <a:r>
              <a:rPr lang="zh-CN" altLang="en-US" sz="2400" smtClean="0">
                <a:hlinkClick r:id="rId3"/>
              </a:rPr>
              <a:t>服务器</a:t>
            </a:r>
            <a:r>
              <a:rPr lang="zh-CN" altLang="en-US" sz="2400" smtClean="0"/>
              <a:t>的交互是用来完成登陆、维持在线状态等等。用户之间的信息传递不需要</a:t>
            </a:r>
            <a:r>
              <a:rPr lang="zh-CN" altLang="en-US" sz="2400" smtClean="0">
                <a:hlinkClick r:id="rId3"/>
              </a:rPr>
              <a:t>服务器</a:t>
            </a:r>
            <a:r>
              <a:rPr lang="zh-CN" altLang="en-US" sz="2400" smtClean="0"/>
              <a:t>参与，信息传递方式为：用户</a:t>
            </a:r>
            <a:r>
              <a:rPr lang="en-US" altLang="zh-CN" sz="2400" smtClean="0"/>
              <a:t>A</a:t>
            </a:r>
            <a:r>
              <a:rPr lang="zh-CN" altLang="en-US" sz="2400" smtClean="0"/>
              <a:t>－用户</a:t>
            </a:r>
            <a:r>
              <a:rPr lang="en-US" altLang="zh-CN" sz="2400" smtClean="0"/>
              <a:t>B</a:t>
            </a:r>
            <a:r>
              <a:rPr lang="zh-CN" altLang="en-US" sz="2400" smtClean="0"/>
              <a:t>。这就是典型的</a:t>
            </a:r>
            <a:r>
              <a:rPr lang="en-US" altLang="zh-CN" sz="2400" smtClean="0"/>
              <a:t>P2P</a:t>
            </a:r>
            <a:r>
              <a:rPr lang="zh-CN" altLang="en-US" sz="2400" smtClean="0"/>
              <a:t>应用。</a:t>
            </a:r>
          </a:p>
          <a:p>
            <a:pPr>
              <a:lnSpc>
                <a:spcPct val="80000"/>
              </a:lnSpc>
            </a:pPr>
            <a:r>
              <a:rPr lang="zh-CN" altLang="en-US" sz="2400" smtClean="0"/>
              <a:t>不过，当信息的接收方不在线时，信息会通过</a:t>
            </a:r>
            <a:r>
              <a:rPr lang="zh-CN" altLang="en-US" sz="2400" smtClean="0">
                <a:hlinkClick r:id="rId3"/>
              </a:rPr>
              <a:t>服务器</a:t>
            </a:r>
            <a:r>
              <a:rPr lang="zh-CN" altLang="en-US" sz="2400" smtClean="0"/>
              <a:t>中转，这就又变成了上面提到的</a:t>
            </a:r>
            <a:r>
              <a:rPr lang="en-US" altLang="zh-CN" sz="2400" smtClean="0"/>
              <a:t>C/S</a:t>
            </a:r>
            <a:r>
              <a:rPr lang="zh-CN" altLang="en-US" sz="2400" smtClean="0"/>
              <a:t>模式。</a:t>
            </a:r>
          </a:p>
          <a:p>
            <a:pPr>
              <a:lnSpc>
                <a:spcPct val="80000"/>
              </a:lnSpc>
            </a:pPr>
            <a:r>
              <a:rPr lang="zh-CN" altLang="en-US" sz="2400" smtClean="0"/>
              <a:t>网络上许多服务可以归入</a:t>
            </a:r>
            <a:r>
              <a:rPr lang="en-US" altLang="zh-CN" sz="2400" smtClean="0"/>
              <a:t>P2P</a:t>
            </a:r>
            <a:r>
              <a:rPr lang="zh-CN" altLang="en-US" sz="2400" smtClean="0"/>
              <a:t>的行列。即时讯息系统譬如</a:t>
            </a:r>
            <a:r>
              <a:rPr lang="en-US" altLang="zh-CN" sz="2400" smtClean="0"/>
              <a:t>ICQ</a:t>
            </a:r>
            <a:r>
              <a:rPr lang="zh-CN" altLang="en-US" sz="2400" smtClean="0"/>
              <a:t>、</a:t>
            </a:r>
            <a:r>
              <a:rPr lang="en-US" altLang="zh-CN" sz="2400" smtClean="0"/>
              <a:t>Anychat</a:t>
            </a:r>
            <a:r>
              <a:rPr lang="zh-CN" altLang="en-US" sz="2400" smtClean="0"/>
              <a:t>、</a:t>
            </a:r>
            <a:r>
              <a:rPr lang="en-US" altLang="zh-CN" sz="2400" smtClean="0"/>
              <a:t>Yahoo Pager</a:t>
            </a:r>
            <a:r>
              <a:rPr lang="zh-CN" altLang="en-US" sz="2400" smtClean="0"/>
              <a:t>、微软的</a:t>
            </a:r>
            <a:r>
              <a:rPr lang="en-US" altLang="zh-CN" sz="2400" smtClean="0"/>
              <a:t>MSN Messenger</a:t>
            </a:r>
            <a:r>
              <a:rPr lang="zh-CN" altLang="en-US" sz="2400" smtClean="0"/>
              <a:t>以及国内的腾讯</a:t>
            </a:r>
            <a:r>
              <a:rPr lang="en-US" altLang="zh-CN" sz="2400" smtClean="0"/>
              <a:t>QQ</a:t>
            </a:r>
            <a:r>
              <a:rPr lang="zh-CN" altLang="en-US" sz="2400" smtClean="0"/>
              <a:t>是最流行的</a:t>
            </a:r>
            <a:r>
              <a:rPr lang="en-US" altLang="zh-CN" sz="2400" smtClean="0"/>
              <a:t>P2P</a:t>
            </a:r>
            <a:r>
              <a:rPr lang="zh-CN" altLang="en-US" sz="2400" smtClean="0"/>
              <a:t>应用</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150938" y="214313"/>
            <a:ext cx="6445250" cy="1462087"/>
          </a:xfrm>
        </p:spPr>
        <p:txBody>
          <a:bodyPr/>
          <a:lstStyle/>
          <a:p>
            <a:pPr marL="838200" indent="-838200" algn="ctr" eaLnBrk="1" hangingPunct="1"/>
            <a:r>
              <a:rPr lang="en-US" altLang="zh-CN" smtClean="0"/>
              <a:t>1.  </a:t>
            </a:r>
            <a:r>
              <a:rPr lang="zh-CN" altLang="en-US" smtClean="0"/>
              <a:t>客户服务器方式</a:t>
            </a:r>
          </a:p>
        </p:txBody>
      </p:sp>
      <p:sp>
        <p:nvSpPr>
          <p:cNvPr id="19459" name="Rectangle 3"/>
          <p:cNvSpPr>
            <a:spLocks noGrp="1" noChangeArrowheads="1"/>
          </p:cNvSpPr>
          <p:nvPr>
            <p:ph type="body" idx="1"/>
          </p:nvPr>
        </p:nvSpPr>
        <p:spPr/>
        <p:txBody>
          <a:bodyPr/>
          <a:lstStyle/>
          <a:p>
            <a:pPr eaLnBrk="1" hangingPunct="1"/>
            <a:r>
              <a:rPr lang="zh-CN" altLang="en-US" smtClean="0">
                <a:solidFill>
                  <a:srgbClr val="CC0000"/>
                </a:solidFill>
              </a:rPr>
              <a:t>客户</a:t>
            </a:r>
            <a:r>
              <a:rPr lang="en-US" altLang="zh-CN" smtClean="0"/>
              <a:t>(client)</a:t>
            </a:r>
            <a:r>
              <a:rPr lang="zh-CN" altLang="en-US" smtClean="0"/>
              <a:t>和</a:t>
            </a:r>
            <a:r>
              <a:rPr lang="zh-CN" altLang="en-US" smtClean="0">
                <a:solidFill>
                  <a:srgbClr val="CC0000"/>
                </a:solidFill>
              </a:rPr>
              <a:t>服务器</a:t>
            </a:r>
            <a:r>
              <a:rPr lang="en-US" altLang="zh-CN" smtClean="0"/>
              <a:t>(server)</a:t>
            </a:r>
            <a:r>
              <a:rPr lang="zh-CN" altLang="en-US" smtClean="0"/>
              <a:t>都是指通信中所涉及的两个应用进程。</a:t>
            </a:r>
          </a:p>
          <a:p>
            <a:pPr eaLnBrk="1" hangingPunct="1"/>
            <a:r>
              <a:rPr lang="zh-CN" altLang="en-US" smtClean="0"/>
              <a:t>客户服务器方式所描述的是进程之间服务和被服务的关系。</a:t>
            </a:r>
          </a:p>
          <a:p>
            <a:pPr eaLnBrk="1" hangingPunct="1"/>
            <a:r>
              <a:rPr lang="zh-CN" altLang="en-US" smtClean="0"/>
              <a:t>客户是</a:t>
            </a:r>
            <a:r>
              <a:rPr lang="zh-CN" altLang="en-US" smtClean="0">
                <a:solidFill>
                  <a:schemeClr val="hlink"/>
                </a:solidFill>
              </a:rPr>
              <a:t>服务的请求方</a:t>
            </a:r>
            <a:r>
              <a:rPr lang="zh-CN" altLang="en-US" smtClean="0"/>
              <a:t>，服务器是</a:t>
            </a:r>
            <a:r>
              <a:rPr lang="zh-CN" altLang="en-US" smtClean="0">
                <a:solidFill>
                  <a:schemeClr val="hlink"/>
                </a:solidFill>
              </a:rPr>
              <a:t>服务的提供方</a:t>
            </a:r>
            <a:r>
              <a:rPr lang="zh-CN" altLang="en-US" smtClean="0"/>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114425" y="214313"/>
            <a:ext cx="7778750" cy="1462087"/>
          </a:xfrm>
        </p:spPr>
        <p:txBody>
          <a:bodyPr/>
          <a:lstStyle/>
          <a:p>
            <a:pPr algn="ctr" eaLnBrk="1" hangingPunct="1"/>
            <a:r>
              <a:rPr lang="zh-CN" altLang="en-US" smtClean="0"/>
              <a:t>客户软件的特点 </a:t>
            </a:r>
          </a:p>
        </p:txBody>
      </p:sp>
      <p:sp>
        <p:nvSpPr>
          <p:cNvPr id="338947" name="Rectangle 3"/>
          <p:cNvSpPr>
            <a:spLocks noGrp="1" noChangeArrowheads="1"/>
          </p:cNvSpPr>
          <p:nvPr>
            <p:ph type="body" idx="1"/>
          </p:nvPr>
        </p:nvSpPr>
        <p:spPr>
          <a:xfrm>
            <a:off x="900113" y="1989138"/>
            <a:ext cx="7921625" cy="3898900"/>
          </a:xfrm>
        </p:spPr>
        <p:txBody>
          <a:bodyPr/>
          <a:lstStyle/>
          <a:p>
            <a:pPr eaLnBrk="1" hangingPunct="1"/>
            <a:r>
              <a:rPr lang="zh-CN" altLang="en-US" smtClean="0"/>
              <a:t>被用户调用后运行，在打算通信时主动向远地服务器发起通信（请求服务）。因此，客户程序必须知道服务器程序的地址。</a:t>
            </a:r>
          </a:p>
          <a:p>
            <a:pPr eaLnBrk="1" hangingPunct="1"/>
            <a:r>
              <a:rPr lang="zh-CN" altLang="en-US" smtClean="0"/>
              <a:t>不需要特殊的硬件和很复杂的操作系统。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14425" y="214313"/>
            <a:ext cx="7778750" cy="1462087"/>
          </a:xfrm>
        </p:spPr>
        <p:txBody>
          <a:bodyPr/>
          <a:lstStyle/>
          <a:p>
            <a:pPr algn="ctr" eaLnBrk="1" hangingPunct="1"/>
            <a:r>
              <a:rPr lang="zh-CN" altLang="en-US" smtClean="0"/>
              <a:t>服务器软件的特点 </a:t>
            </a:r>
          </a:p>
        </p:txBody>
      </p:sp>
      <p:sp>
        <p:nvSpPr>
          <p:cNvPr id="340995" name="Rectangle 3"/>
          <p:cNvSpPr>
            <a:spLocks noGrp="1" noChangeArrowheads="1"/>
          </p:cNvSpPr>
          <p:nvPr>
            <p:ph type="body" idx="1"/>
          </p:nvPr>
        </p:nvSpPr>
        <p:spPr>
          <a:xfrm>
            <a:off x="971550" y="1978025"/>
            <a:ext cx="7777163" cy="4546600"/>
          </a:xfrm>
        </p:spPr>
        <p:txBody>
          <a:bodyPr/>
          <a:lstStyle/>
          <a:p>
            <a:pPr eaLnBrk="1" hangingPunct="1"/>
            <a:r>
              <a:rPr lang="zh-CN" altLang="en-US" smtClean="0"/>
              <a:t>一种专门用来提供某种服务的程序，可同时处理多个远地或本地客户的请求。</a:t>
            </a:r>
          </a:p>
          <a:p>
            <a:pPr eaLnBrk="1" hangingPunct="1"/>
            <a:r>
              <a:rPr lang="zh-CN" altLang="en-US" smtClean="0"/>
              <a:t>系统启动后即自动调用并</a:t>
            </a:r>
            <a:r>
              <a:rPr lang="zh-CN" altLang="en-US" smtClean="0">
                <a:solidFill>
                  <a:srgbClr val="CC0000"/>
                </a:solidFill>
              </a:rPr>
              <a:t>一直不断地运行着</a:t>
            </a:r>
            <a:r>
              <a:rPr lang="zh-CN" altLang="en-US" smtClean="0"/>
              <a:t>，</a:t>
            </a:r>
            <a:r>
              <a:rPr lang="zh-CN" altLang="en-US" smtClean="0">
                <a:solidFill>
                  <a:srgbClr val="CC0000"/>
                </a:solidFill>
              </a:rPr>
              <a:t>被动地等待</a:t>
            </a:r>
            <a:r>
              <a:rPr lang="zh-CN" altLang="en-US" smtClean="0"/>
              <a:t>并接受来自各地的客户的通信请求。因此，服务器程序不需要知道客户程序的地址。</a:t>
            </a:r>
          </a:p>
          <a:p>
            <a:pPr eaLnBrk="1" hangingPunct="1"/>
            <a:r>
              <a:rPr lang="zh-CN" altLang="en-US" smtClean="0"/>
              <a:t>一般需要强大的硬件和高级的操作系统支持。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0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150938" y="214313"/>
            <a:ext cx="6805612" cy="1462087"/>
          </a:xfrm>
        </p:spPr>
        <p:txBody>
          <a:bodyPr/>
          <a:lstStyle/>
          <a:p>
            <a:pPr algn="ctr" eaLnBrk="1" hangingPunct="1"/>
            <a:r>
              <a:rPr lang="en-US" altLang="zh-CN" smtClean="0"/>
              <a:t>2. </a:t>
            </a:r>
            <a:r>
              <a:rPr lang="zh-CN" altLang="en-US" smtClean="0"/>
              <a:t>对等连接方式 </a:t>
            </a:r>
          </a:p>
        </p:txBody>
      </p:sp>
      <p:sp>
        <p:nvSpPr>
          <p:cNvPr id="22531" name="Rectangle 3"/>
          <p:cNvSpPr>
            <a:spLocks noGrp="1" noChangeArrowheads="1"/>
          </p:cNvSpPr>
          <p:nvPr>
            <p:ph type="body" idx="1"/>
          </p:nvPr>
        </p:nvSpPr>
        <p:spPr/>
        <p:txBody>
          <a:bodyPr/>
          <a:lstStyle/>
          <a:p>
            <a:pPr eaLnBrk="1" hangingPunct="1">
              <a:lnSpc>
                <a:spcPct val="90000"/>
              </a:lnSpc>
            </a:pPr>
            <a:r>
              <a:rPr lang="zh-CN" altLang="en-US" smtClean="0">
                <a:solidFill>
                  <a:srgbClr val="CC0000"/>
                </a:solidFill>
              </a:rPr>
              <a:t>对等连接</a:t>
            </a:r>
            <a:r>
              <a:rPr lang="en-US" altLang="zh-CN" smtClean="0"/>
              <a:t>(peer-to-peer</a:t>
            </a:r>
            <a:r>
              <a:rPr lang="zh-CN" altLang="en-US" smtClean="0"/>
              <a:t>，简写为 </a:t>
            </a:r>
            <a:r>
              <a:rPr lang="en-US" altLang="zh-CN" smtClean="0">
                <a:solidFill>
                  <a:srgbClr val="CC0000"/>
                </a:solidFill>
              </a:rPr>
              <a:t>P2P</a:t>
            </a:r>
            <a:r>
              <a:rPr lang="en-US" altLang="zh-CN" smtClean="0"/>
              <a:t>)</a:t>
            </a:r>
            <a:r>
              <a:rPr lang="zh-CN" altLang="en-US" smtClean="0"/>
              <a:t>是指两个主机在通信时并不区分哪一个是服务请求方还是服务提供方。</a:t>
            </a:r>
          </a:p>
          <a:p>
            <a:pPr eaLnBrk="1" hangingPunct="1">
              <a:lnSpc>
                <a:spcPct val="90000"/>
              </a:lnSpc>
            </a:pPr>
            <a:r>
              <a:rPr lang="zh-CN" altLang="en-US" smtClean="0"/>
              <a:t>只要两个主机都运行了对等连接软件（</a:t>
            </a:r>
            <a:r>
              <a:rPr lang="en-US" altLang="zh-CN" smtClean="0"/>
              <a:t>P2P </a:t>
            </a:r>
            <a:r>
              <a:rPr lang="zh-CN" altLang="en-US" smtClean="0"/>
              <a:t>软件），它们就可以进行</a:t>
            </a:r>
            <a:r>
              <a:rPr lang="zh-CN" altLang="en-US" smtClean="0">
                <a:solidFill>
                  <a:srgbClr val="CC0000"/>
                </a:solidFill>
              </a:rPr>
              <a:t>平等的、对等连接通信</a:t>
            </a:r>
            <a:r>
              <a:rPr lang="zh-CN" altLang="en-US" smtClean="0"/>
              <a:t>。</a:t>
            </a:r>
          </a:p>
          <a:p>
            <a:pPr eaLnBrk="1" hangingPunct="1">
              <a:lnSpc>
                <a:spcPct val="90000"/>
              </a:lnSpc>
            </a:pPr>
            <a:r>
              <a:rPr lang="zh-CN" altLang="en-US" smtClean="0"/>
              <a:t>双方都可以下载对方已经存储在硬盘中的共享文档。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对等连接方式的特点</a:t>
            </a:r>
          </a:p>
        </p:txBody>
      </p:sp>
      <p:sp>
        <p:nvSpPr>
          <p:cNvPr id="23555" name="Rectangle 3"/>
          <p:cNvSpPr>
            <a:spLocks noGrp="1" noChangeArrowheads="1"/>
          </p:cNvSpPr>
          <p:nvPr>
            <p:ph type="body" idx="1"/>
          </p:nvPr>
        </p:nvSpPr>
        <p:spPr/>
        <p:txBody>
          <a:bodyPr/>
          <a:lstStyle/>
          <a:p>
            <a:pPr eaLnBrk="1" hangingPunct="1"/>
            <a:r>
              <a:rPr lang="zh-CN" altLang="en-US" smtClean="0"/>
              <a:t>对等连接方式从本质上看仍然是使用客户服务器方式，只是对等连接中的每一个主机既是客户又同时是服务器。</a:t>
            </a:r>
          </a:p>
          <a:p>
            <a:pPr eaLnBrk="1" hangingPunct="1"/>
            <a:r>
              <a:rPr lang="zh-CN" altLang="en-US" smtClean="0"/>
              <a:t>例如主机 </a:t>
            </a:r>
            <a:r>
              <a:rPr lang="en-US" altLang="zh-CN" smtClean="0"/>
              <a:t>C </a:t>
            </a:r>
            <a:r>
              <a:rPr lang="zh-CN" altLang="en-US" smtClean="0"/>
              <a:t>请求 </a:t>
            </a:r>
            <a:r>
              <a:rPr lang="en-US" altLang="zh-CN" smtClean="0"/>
              <a:t>D </a:t>
            </a:r>
            <a:r>
              <a:rPr lang="zh-CN" altLang="en-US" smtClean="0"/>
              <a:t>的服务时，</a:t>
            </a:r>
            <a:r>
              <a:rPr lang="en-US" altLang="zh-CN" smtClean="0"/>
              <a:t>C </a:t>
            </a:r>
            <a:r>
              <a:rPr lang="zh-CN" altLang="en-US" smtClean="0"/>
              <a:t>是客户，</a:t>
            </a:r>
            <a:r>
              <a:rPr lang="en-US" altLang="zh-CN" smtClean="0"/>
              <a:t>D </a:t>
            </a:r>
            <a:r>
              <a:rPr lang="zh-CN" altLang="en-US" smtClean="0"/>
              <a:t>是服务器。但如果 </a:t>
            </a:r>
            <a:r>
              <a:rPr lang="en-US" altLang="zh-CN" smtClean="0"/>
              <a:t>C </a:t>
            </a:r>
            <a:r>
              <a:rPr lang="zh-CN" altLang="en-US" smtClean="0"/>
              <a:t>又同时向 </a:t>
            </a:r>
            <a:r>
              <a:rPr lang="en-US" altLang="zh-CN" smtClean="0"/>
              <a:t>F</a:t>
            </a:r>
            <a:r>
              <a:rPr lang="zh-CN" altLang="en-US" smtClean="0"/>
              <a:t>提供服务，那么 </a:t>
            </a:r>
            <a:r>
              <a:rPr lang="en-US" altLang="zh-CN" smtClean="0"/>
              <a:t>C </a:t>
            </a:r>
            <a:r>
              <a:rPr lang="zh-CN" altLang="en-US" smtClean="0"/>
              <a:t>又同时起着服务器的作用。</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Oval 4"/>
          <p:cNvSpPr>
            <a:spLocks noChangeArrowheads="1"/>
          </p:cNvSpPr>
          <p:nvPr/>
        </p:nvSpPr>
        <p:spPr bwMode="auto">
          <a:xfrm>
            <a:off x="1279525" y="334963"/>
            <a:ext cx="6115050" cy="4246562"/>
          </a:xfrm>
          <a:prstGeom prst="ellipse">
            <a:avLst/>
          </a:prstGeom>
          <a:solidFill>
            <a:srgbClr val="FF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9" name="Line 5"/>
          <p:cNvSpPr>
            <a:spLocks noChangeShapeType="1"/>
          </p:cNvSpPr>
          <p:nvPr/>
        </p:nvSpPr>
        <p:spPr bwMode="auto">
          <a:xfrm flipV="1">
            <a:off x="2625725" y="2916238"/>
            <a:ext cx="687388" cy="382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0" name="Line 6"/>
          <p:cNvSpPr>
            <a:spLocks noChangeShapeType="1"/>
          </p:cNvSpPr>
          <p:nvPr/>
        </p:nvSpPr>
        <p:spPr bwMode="auto">
          <a:xfrm flipH="1" flipV="1">
            <a:off x="2298700" y="2049463"/>
            <a:ext cx="741363" cy="182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1" name="Line 7"/>
          <p:cNvSpPr>
            <a:spLocks noChangeShapeType="1"/>
          </p:cNvSpPr>
          <p:nvPr/>
        </p:nvSpPr>
        <p:spPr bwMode="auto">
          <a:xfrm flipH="1">
            <a:off x="5729288" y="2501900"/>
            <a:ext cx="8826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2" name="Line 8"/>
          <p:cNvSpPr>
            <a:spLocks noChangeShapeType="1"/>
          </p:cNvSpPr>
          <p:nvPr/>
        </p:nvSpPr>
        <p:spPr bwMode="auto">
          <a:xfrm flipH="1">
            <a:off x="4986338" y="1147763"/>
            <a:ext cx="649287" cy="901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 name="Line 9"/>
          <p:cNvSpPr>
            <a:spLocks noChangeShapeType="1"/>
          </p:cNvSpPr>
          <p:nvPr/>
        </p:nvSpPr>
        <p:spPr bwMode="auto">
          <a:xfrm flipH="1" flipV="1">
            <a:off x="4987925" y="3225800"/>
            <a:ext cx="490538" cy="5730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 name="Line 10"/>
          <p:cNvSpPr>
            <a:spLocks noChangeShapeType="1"/>
          </p:cNvSpPr>
          <p:nvPr/>
        </p:nvSpPr>
        <p:spPr bwMode="auto">
          <a:xfrm>
            <a:off x="3317875" y="1238250"/>
            <a:ext cx="415925" cy="6588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5" name="Line 11"/>
          <p:cNvSpPr>
            <a:spLocks noChangeShapeType="1"/>
          </p:cNvSpPr>
          <p:nvPr/>
        </p:nvSpPr>
        <p:spPr bwMode="auto">
          <a:xfrm flipV="1">
            <a:off x="3595688" y="3135313"/>
            <a:ext cx="187325" cy="6635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4586" name="Picture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813" y="785813"/>
            <a:ext cx="56197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7" name="Picture 1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063" y="785813"/>
            <a:ext cx="56197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8" name="Picture 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65738" y="3676650"/>
            <a:ext cx="5619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9" name="Picture 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7875" y="3676650"/>
            <a:ext cx="5619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90" name="Picture 1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508125"/>
            <a:ext cx="5619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591" name="Group 17"/>
          <p:cNvGrpSpPr>
            <a:grpSpLocks/>
          </p:cNvGrpSpPr>
          <p:nvPr/>
        </p:nvGrpSpPr>
        <p:grpSpPr bwMode="auto">
          <a:xfrm>
            <a:off x="2670175" y="1238250"/>
            <a:ext cx="3529013" cy="2495550"/>
            <a:chOff x="1680" y="240"/>
            <a:chExt cx="2529" cy="1270"/>
          </a:xfrm>
        </p:grpSpPr>
        <p:sp>
          <p:nvSpPr>
            <p:cNvPr id="24612" name="Oval 18"/>
            <p:cNvSpPr>
              <a:spLocks noChangeArrowheads="1"/>
            </p:cNvSpPr>
            <p:nvPr/>
          </p:nvSpPr>
          <p:spPr bwMode="auto">
            <a:xfrm>
              <a:off x="2554" y="240"/>
              <a:ext cx="1088"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13" name="Oval 19"/>
            <p:cNvSpPr>
              <a:spLocks noChangeArrowheads="1"/>
            </p:cNvSpPr>
            <p:nvPr/>
          </p:nvSpPr>
          <p:spPr bwMode="auto">
            <a:xfrm>
              <a:off x="1941" y="381"/>
              <a:ext cx="827" cy="513"/>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14" name="Oval 20"/>
            <p:cNvSpPr>
              <a:spLocks noChangeArrowheads="1"/>
            </p:cNvSpPr>
            <p:nvPr/>
          </p:nvSpPr>
          <p:spPr bwMode="auto">
            <a:xfrm>
              <a:off x="1680" y="702"/>
              <a:ext cx="552" cy="411"/>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15" name="Oval 21"/>
            <p:cNvSpPr>
              <a:spLocks noChangeArrowheads="1"/>
            </p:cNvSpPr>
            <p:nvPr/>
          </p:nvSpPr>
          <p:spPr bwMode="auto">
            <a:xfrm>
              <a:off x="1849" y="894"/>
              <a:ext cx="842" cy="450"/>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16" name="Oval 22"/>
            <p:cNvSpPr>
              <a:spLocks noChangeArrowheads="1"/>
            </p:cNvSpPr>
            <p:nvPr/>
          </p:nvSpPr>
          <p:spPr bwMode="auto">
            <a:xfrm>
              <a:off x="2462" y="971"/>
              <a:ext cx="1272" cy="539"/>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17" name="Oval 23"/>
            <p:cNvSpPr>
              <a:spLocks noChangeArrowheads="1"/>
            </p:cNvSpPr>
            <p:nvPr/>
          </p:nvSpPr>
          <p:spPr bwMode="auto">
            <a:xfrm>
              <a:off x="3289" y="394"/>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18" name="Oval 24"/>
            <p:cNvSpPr>
              <a:spLocks noChangeArrowheads="1"/>
            </p:cNvSpPr>
            <p:nvPr/>
          </p:nvSpPr>
          <p:spPr bwMode="auto">
            <a:xfrm>
              <a:off x="3412" y="663"/>
              <a:ext cx="797" cy="39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19" name="Oval 25"/>
            <p:cNvSpPr>
              <a:spLocks noChangeArrowheads="1"/>
            </p:cNvSpPr>
            <p:nvPr/>
          </p:nvSpPr>
          <p:spPr bwMode="auto">
            <a:xfrm>
              <a:off x="3335" y="753"/>
              <a:ext cx="797" cy="668"/>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620" name="Oval 26"/>
            <p:cNvSpPr>
              <a:spLocks noChangeArrowheads="1"/>
            </p:cNvSpPr>
            <p:nvPr/>
          </p:nvSpPr>
          <p:spPr bwMode="auto">
            <a:xfrm>
              <a:off x="2140" y="548"/>
              <a:ext cx="1640" cy="667"/>
            </a:xfrm>
            <a:prstGeom prst="ellipse">
              <a:avLst/>
            </a:prstGeom>
            <a:solidFill>
              <a:srgbClr val="DDDDDD"/>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4592" name="Text Box 27"/>
          <p:cNvSpPr txBox="1">
            <a:spLocks noChangeArrowheads="1"/>
          </p:cNvSpPr>
          <p:nvPr/>
        </p:nvSpPr>
        <p:spPr bwMode="auto">
          <a:xfrm>
            <a:off x="3635375" y="523875"/>
            <a:ext cx="1616075" cy="528638"/>
          </a:xfrm>
          <a:prstGeom prst="rect">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folHlink"/>
                </a:solidFill>
                <a:ea typeface="黑体" pitchFamily="49" charset="-122"/>
              </a:rPr>
              <a:t>网络边缘</a:t>
            </a:r>
          </a:p>
        </p:txBody>
      </p:sp>
      <p:sp>
        <p:nvSpPr>
          <p:cNvPr id="24593" name="Text Box 28"/>
          <p:cNvSpPr txBox="1">
            <a:spLocks noChangeArrowheads="1"/>
          </p:cNvSpPr>
          <p:nvPr/>
        </p:nvSpPr>
        <p:spPr bwMode="auto">
          <a:xfrm>
            <a:off x="3635375" y="2684463"/>
            <a:ext cx="1616075" cy="528637"/>
          </a:xfrm>
          <a:prstGeom prst="rect">
            <a:avLst/>
          </a:prstGeom>
          <a:solidFill>
            <a:schemeClr val="bg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folHlink"/>
                </a:solidFill>
                <a:ea typeface="黑体" pitchFamily="49" charset="-122"/>
              </a:rPr>
              <a:t>网络核心</a:t>
            </a:r>
          </a:p>
        </p:txBody>
      </p:sp>
      <p:graphicFrame>
        <p:nvGraphicFramePr>
          <p:cNvPr id="24594" name="Object 29">
            <a:hlinkClick r:id="" action="ppaction://ole?verb=0"/>
          </p:cNvPr>
          <p:cNvGraphicFramePr>
            <a:graphicFrameLocks/>
          </p:cNvGraphicFramePr>
          <p:nvPr/>
        </p:nvGraphicFramePr>
        <p:xfrm>
          <a:off x="6469063" y="2052638"/>
          <a:ext cx="654050" cy="857250"/>
        </p:xfrm>
        <a:graphic>
          <a:graphicData uri="http://schemas.openxmlformats.org/presentationml/2006/ole">
            <mc:AlternateContent xmlns:mc="http://schemas.openxmlformats.org/markup-compatibility/2006">
              <mc:Choice xmlns:v="urn:schemas-microsoft-com:vml" Requires="v">
                <p:oleObj spid="_x0000_s24621" name="Microsoft ClipArt Gallery" r:id="rId5" imgW="2735263" imgH="3825875" progId="MS_ClipArt_Gallery">
                  <p:embed/>
                </p:oleObj>
              </mc:Choice>
              <mc:Fallback>
                <p:oleObj name="Microsoft ClipArt Gallery" r:id="rId5" imgW="2735263" imgH="3825875" progId="MS_ClipArt_Gallery">
                  <p:embed/>
                  <p:pic>
                    <p:nvPicPr>
                      <p:cNvPr id="0" name="Object 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9063" y="2052638"/>
                        <a:ext cx="65405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595" name="Text Box 30"/>
          <p:cNvSpPr txBox="1">
            <a:spLocks noChangeArrowheads="1"/>
          </p:cNvSpPr>
          <p:nvPr/>
        </p:nvSpPr>
        <p:spPr bwMode="auto">
          <a:xfrm>
            <a:off x="6723063" y="179388"/>
            <a:ext cx="16652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chemeClr val="folHlink"/>
                </a:solidFill>
                <a:ea typeface="黑体" pitchFamily="49" charset="-122"/>
              </a:rPr>
              <a:t>运行</a:t>
            </a:r>
          </a:p>
          <a:p>
            <a:pPr algn="ctr" eaLnBrk="1" hangingPunct="1"/>
            <a:r>
              <a:rPr kumimoji="1" lang="en-US" altLang="zh-CN" sz="2800">
                <a:solidFill>
                  <a:schemeClr val="folHlink"/>
                </a:solidFill>
                <a:ea typeface="黑体" pitchFamily="49" charset="-122"/>
              </a:rPr>
              <a:t>P2P </a:t>
            </a:r>
            <a:r>
              <a:rPr kumimoji="1" lang="zh-CN" altLang="en-US" sz="2800">
                <a:solidFill>
                  <a:schemeClr val="folHlink"/>
                </a:solidFill>
                <a:ea typeface="黑体" pitchFamily="49" charset="-122"/>
              </a:rPr>
              <a:t>程序</a:t>
            </a:r>
          </a:p>
        </p:txBody>
      </p:sp>
      <p:sp>
        <p:nvSpPr>
          <p:cNvPr id="24596" name="Text Box 31"/>
          <p:cNvSpPr txBox="1">
            <a:spLocks noChangeArrowheads="1"/>
          </p:cNvSpPr>
          <p:nvPr/>
        </p:nvSpPr>
        <p:spPr bwMode="auto">
          <a:xfrm>
            <a:off x="7227888" y="3506788"/>
            <a:ext cx="16652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chemeClr val="folHlink"/>
                </a:solidFill>
                <a:ea typeface="黑体" pitchFamily="49" charset="-122"/>
              </a:rPr>
              <a:t>运行</a:t>
            </a:r>
          </a:p>
          <a:p>
            <a:pPr algn="ctr" eaLnBrk="1" hangingPunct="1"/>
            <a:r>
              <a:rPr kumimoji="1" lang="en-US" altLang="zh-CN" sz="2800">
                <a:solidFill>
                  <a:schemeClr val="folHlink"/>
                </a:solidFill>
                <a:ea typeface="黑体" pitchFamily="49" charset="-122"/>
              </a:rPr>
              <a:t>P2P </a:t>
            </a:r>
            <a:r>
              <a:rPr kumimoji="1" lang="zh-CN" altLang="en-US" sz="2800">
                <a:solidFill>
                  <a:schemeClr val="folHlink"/>
                </a:solidFill>
                <a:ea typeface="黑体" pitchFamily="49" charset="-122"/>
              </a:rPr>
              <a:t>程序</a:t>
            </a:r>
          </a:p>
        </p:txBody>
      </p:sp>
      <p:sp>
        <p:nvSpPr>
          <p:cNvPr id="348192" name="Line 32"/>
          <p:cNvSpPr>
            <a:spLocks noChangeShapeType="1"/>
          </p:cNvSpPr>
          <p:nvPr/>
        </p:nvSpPr>
        <p:spPr bwMode="auto">
          <a:xfrm flipH="1">
            <a:off x="5541963" y="966788"/>
            <a:ext cx="93662" cy="2981325"/>
          </a:xfrm>
          <a:prstGeom prst="line">
            <a:avLst/>
          </a:prstGeom>
          <a:noFill/>
          <a:ln w="76200">
            <a:solidFill>
              <a:schemeClr val="folHlink">
                <a:alpha val="56078"/>
              </a:schemeClr>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8" name="Line 33"/>
          <p:cNvSpPr>
            <a:spLocks noChangeShapeType="1"/>
          </p:cNvSpPr>
          <p:nvPr/>
        </p:nvSpPr>
        <p:spPr bwMode="auto">
          <a:xfrm flipH="1">
            <a:off x="5819775" y="695325"/>
            <a:ext cx="835025" cy="271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599" name="Line 34"/>
          <p:cNvSpPr>
            <a:spLocks noChangeShapeType="1"/>
          </p:cNvSpPr>
          <p:nvPr/>
        </p:nvSpPr>
        <p:spPr bwMode="auto">
          <a:xfrm flipH="1" flipV="1">
            <a:off x="5727700" y="3859213"/>
            <a:ext cx="1868488" cy="74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00" name="Text Box 35"/>
          <p:cNvSpPr txBox="1">
            <a:spLocks noChangeArrowheads="1"/>
          </p:cNvSpPr>
          <p:nvPr/>
        </p:nvSpPr>
        <p:spPr bwMode="auto">
          <a:xfrm>
            <a:off x="4983163" y="3527425"/>
            <a:ext cx="441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ea typeface="黑体" pitchFamily="49" charset="-122"/>
              </a:rPr>
              <a:t>D</a:t>
            </a:r>
          </a:p>
        </p:txBody>
      </p:sp>
      <p:sp>
        <p:nvSpPr>
          <p:cNvPr id="24601" name="Text Box 36"/>
          <p:cNvSpPr txBox="1">
            <a:spLocks noChangeArrowheads="1"/>
          </p:cNvSpPr>
          <p:nvPr/>
        </p:nvSpPr>
        <p:spPr bwMode="auto">
          <a:xfrm>
            <a:off x="5357813" y="303213"/>
            <a:ext cx="4413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ea typeface="黑体" pitchFamily="49" charset="-122"/>
              </a:rPr>
              <a:t>C</a:t>
            </a:r>
          </a:p>
        </p:txBody>
      </p:sp>
      <p:pic>
        <p:nvPicPr>
          <p:cNvPr id="24602" name="Picture 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5038" y="3135313"/>
            <a:ext cx="561975"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198" name="Line 38"/>
          <p:cNvSpPr>
            <a:spLocks noChangeShapeType="1"/>
          </p:cNvSpPr>
          <p:nvPr/>
        </p:nvSpPr>
        <p:spPr bwMode="auto">
          <a:xfrm flipH="1">
            <a:off x="2482850" y="966788"/>
            <a:ext cx="835025" cy="2439987"/>
          </a:xfrm>
          <a:prstGeom prst="line">
            <a:avLst/>
          </a:prstGeom>
          <a:noFill/>
          <a:ln w="76200">
            <a:solidFill>
              <a:schemeClr val="folHlink">
                <a:alpha val="56078"/>
              </a:schemeClr>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04" name="Text Box 39"/>
          <p:cNvSpPr txBox="1">
            <a:spLocks noChangeArrowheads="1"/>
          </p:cNvSpPr>
          <p:nvPr/>
        </p:nvSpPr>
        <p:spPr bwMode="auto">
          <a:xfrm>
            <a:off x="3106738" y="273050"/>
            <a:ext cx="4206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ea typeface="黑体" pitchFamily="49" charset="-122"/>
              </a:rPr>
              <a:t>E</a:t>
            </a:r>
          </a:p>
        </p:txBody>
      </p:sp>
      <p:sp>
        <p:nvSpPr>
          <p:cNvPr id="24605" name="Text Box 40"/>
          <p:cNvSpPr txBox="1">
            <a:spLocks noChangeArrowheads="1"/>
          </p:cNvSpPr>
          <p:nvPr/>
        </p:nvSpPr>
        <p:spPr bwMode="auto">
          <a:xfrm>
            <a:off x="1873250" y="2894013"/>
            <a:ext cx="4016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folHlink"/>
                </a:solidFill>
                <a:ea typeface="黑体" pitchFamily="49" charset="-122"/>
              </a:rPr>
              <a:t>F</a:t>
            </a:r>
          </a:p>
        </p:txBody>
      </p:sp>
      <p:sp>
        <p:nvSpPr>
          <p:cNvPr id="24606" name="Text Box 41"/>
          <p:cNvSpPr txBox="1">
            <a:spLocks noChangeArrowheads="1"/>
          </p:cNvSpPr>
          <p:nvPr/>
        </p:nvSpPr>
        <p:spPr bwMode="auto">
          <a:xfrm>
            <a:off x="179388" y="252413"/>
            <a:ext cx="16652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chemeClr val="folHlink"/>
                </a:solidFill>
                <a:ea typeface="黑体" pitchFamily="49" charset="-122"/>
              </a:rPr>
              <a:t>运行</a:t>
            </a:r>
          </a:p>
          <a:p>
            <a:pPr algn="ctr" eaLnBrk="1" hangingPunct="1"/>
            <a:r>
              <a:rPr kumimoji="1" lang="en-US" altLang="zh-CN" sz="2800">
                <a:solidFill>
                  <a:schemeClr val="folHlink"/>
                </a:solidFill>
                <a:ea typeface="黑体" pitchFamily="49" charset="-122"/>
              </a:rPr>
              <a:t>P2P </a:t>
            </a:r>
            <a:r>
              <a:rPr kumimoji="1" lang="zh-CN" altLang="en-US" sz="2800">
                <a:solidFill>
                  <a:schemeClr val="folHlink"/>
                </a:solidFill>
                <a:ea typeface="黑体" pitchFamily="49" charset="-122"/>
              </a:rPr>
              <a:t>程序</a:t>
            </a:r>
          </a:p>
        </p:txBody>
      </p:sp>
      <p:sp>
        <p:nvSpPr>
          <p:cNvPr id="24607" name="Text Box 42"/>
          <p:cNvSpPr txBox="1">
            <a:spLocks noChangeArrowheads="1"/>
          </p:cNvSpPr>
          <p:nvPr/>
        </p:nvSpPr>
        <p:spPr bwMode="auto">
          <a:xfrm>
            <a:off x="385763" y="3562350"/>
            <a:ext cx="16652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chemeClr val="folHlink"/>
                </a:solidFill>
                <a:ea typeface="黑体" pitchFamily="49" charset="-122"/>
              </a:rPr>
              <a:t>运行</a:t>
            </a:r>
          </a:p>
          <a:p>
            <a:pPr algn="ctr" eaLnBrk="1" hangingPunct="1"/>
            <a:r>
              <a:rPr kumimoji="1" lang="en-US" altLang="zh-CN" sz="2800">
                <a:solidFill>
                  <a:schemeClr val="folHlink"/>
                </a:solidFill>
                <a:ea typeface="黑体" pitchFamily="49" charset="-122"/>
              </a:rPr>
              <a:t>P2P </a:t>
            </a:r>
            <a:r>
              <a:rPr kumimoji="1" lang="zh-CN" altLang="en-US" sz="2800">
                <a:solidFill>
                  <a:schemeClr val="folHlink"/>
                </a:solidFill>
                <a:ea typeface="黑体" pitchFamily="49" charset="-122"/>
              </a:rPr>
              <a:t>程序</a:t>
            </a:r>
          </a:p>
        </p:txBody>
      </p:sp>
      <p:sp>
        <p:nvSpPr>
          <p:cNvPr id="24608" name="Line 43"/>
          <p:cNvSpPr>
            <a:spLocks noChangeShapeType="1"/>
          </p:cNvSpPr>
          <p:nvPr/>
        </p:nvSpPr>
        <p:spPr bwMode="auto">
          <a:xfrm>
            <a:off x="1403350" y="692150"/>
            <a:ext cx="1728788" cy="2746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09" name="Line 44"/>
          <p:cNvSpPr>
            <a:spLocks noChangeShapeType="1"/>
          </p:cNvSpPr>
          <p:nvPr/>
        </p:nvSpPr>
        <p:spPr bwMode="auto">
          <a:xfrm flipV="1">
            <a:off x="1743075" y="3676650"/>
            <a:ext cx="555625" cy="182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05" name="Line 45"/>
          <p:cNvSpPr>
            <a:spLocks noChangeShapeType="1"/>
          </p:cNvSpPr>
          <p:nvPr/>
        </p:nvSpPr>
        <p:spPr bwMode="auto">
          <a:xfrm flipH="1">
            <a:off x="2760663" y="966788"/>
            <a:ext cx="2781300" cy="2528887"/>
          </a:xfrm>
          <a:prstGeom prst="line">
            <a:avLst/>
          </a:prstGeom>
          <a:noFill/>
          <a:ln w="76200">
            <a:solidFill>
              <a:schemeClr val="folHlink">
                <a:alpha val="56078"/>
              </a:schemeClr>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4611" name="Picture 47" descr="F@0W}7AC7%[724L)K~K0[`U"/>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313" y="5949950"/>
            <a:ext cx="3238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92"/>
                                        </p:tgtEl>
                                        <p:attrNameLst>
                                          <p:attrName>style.visibility</p:attrName>
                                        </p:attrNameLst>
                                      </p:cBhvr>
                                      <p:to>
                                        <p:strVal val="visible"/>
                                      </p:to>
                                    </p:set>
                                    <p:animEffect transition="in" filter="wipe(up)">
                                      <p:cBhvr>
                                        <p:cTn id="7" dur="1000"/>
                                        <p:tgtEl>
                                          <p:spTgt spid="348192"/>
                                        </p:tgtEl>
                                      </p:cBhvr>
                                    </p:animEffect>
                                  </p:childTnLst>
                                </p:cTn>
                              </p:par>
                            </p:childTnLst>
                          </p:cTn>
                        </p:par>
                        <p:par>
                          <p:cTn id="8" fill="hold" nodeType="afterGroup">
                            <p:stCondLst>
                              <p:cond delay="1000"/>
                            </p:stCondLst>
                            <p:childTnLst>
                              <p:par>
                                <p:cTn id="9" presetID="22" presetClass="entr" presetSubtype="1" fill="hold" grpId="0" nodeType="afterEffect">
                                  <p:stCondLst>
                                    <p:cond delay="500"/>
                                  </p:stCondLst>
                                  <p:childTnLst>
                                    <p:set>
                                      <p:cBhvr>
                                        <p:cTn id="10" dur="1" fill="hold">
                                          <p:stCondLst>
                                            <p:cond delay="0"/>
                                          </p:stCondLst>
                                        </p:cTn>
                                        <p:tgtEl>
                                          <p:spTgt spid="348205"/>
                                        </p:tgtEl>
                                        <p:attrNameLst>
                                          <p:attrName>style.visibility</p:attrName>
                                        </p:attrNameLst>
                                      </p:cBhvr>
                                      <p:to>
                                        <p:strVal val="visible"/>
                                      </p:to>
                                    </p:set>
                                    <p:animEffect transition="in" filter="wipe(up)">
                                      <p:cBhvr>
                                        <p:cTn id="11" dur="1000"/>
                                        <p:tgtEl>
                                          <p:spTgt spid="348205"/>
                                        </p:tgtEl>
                                      </p:cBhvr>
                                    </p:animEffect>
                                  </p:childTnLst>
                                </p:cTn>
                              </p:par>
                            </p:childTnLst>
                          </p:cTn>
                        </p:par>
                        <p:par>
                          <p:cTn id="12" fill="hold" nodeType="afterGroup">
                            <p:stCondLst>
                              <p:cond delay="2500"/>
                            </p:stCondLst>
                            <p:childTnLst>
                              <p:par>
                                <p:cTn id="13" presetID="22" presetClass="entr" presetSubtype="4" fill="hold" grpId="0" nodeType="afterEffect">
                                  <p:stCondLst>
                                    <p:cond delay="500"/>
                                  </p:stCondLst>
                                  <p:childTnLst>
                                    <p:set>
                                      <p:cBhvr>
                                        <p:cTn id="14" dur="1" fill="hold">
                                          <p:stCondLst>
                                            <p:cond delay="0"/>
                                          </p:stCondLst>
                                        </p:cTn>
                                        <p:tgtEl>
                                          <p:spTgt spid="348198"/>
                                        </p:tgtEl>
                                        <p:attrNameLst>
                                          <p:attrName>style.visibility</p:attrName>
                                        </p:attrNameLst>
                                      </p:cBhvr>
                                      <p:to>
                                        <p:strVal val="visible"/>
                                      </p:to>
                                    </p:set>
                                    <p:animEffect transition="in" filter="wipe(down)">
                                      <p:cBhvr>
                                        <p:cTn id="15" dur="1000"/>
                                        <p:tgtEl>
                                          <p:spTgt spid="34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2" grpId="0" animBg="1"/>
      <p:bldP spid="348198" grpId="0" animBg="1"/>
      <p:bldP spid="34820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mtClean="0"/>
              <a:t>1.3.2  </a:t>
            </a:r>
            <a:r>
              <a:rPr lang="zh-CN" altLang="en-US" smtClean="0"/>
              <a:t>因特网的核心部分</a:t>
            </a:r>
          </a:p>
        </p:txBody>
      </p:sp>
      <p:sp>
        <p:nvSpPr>
          <p:cNvPr id="25603" name="Rectangle 3"/>
          <p:cNvSpPr>
            <a:spLocks noGrp="1" noChangeArrowheads="1"/>
          </p:cNvSpPr>
          <p:nvPr>
            <p:ph type="body" idx="1"/>
          </p:nvPr>
        </p:nvSpPr>
        <p:spPr>
          <a:xfrm>
            <a:off x="755650" y="1773238"/>
            <a:ext cx="8059738" cy="5084762"/>
          </a:xfrm>
        </p:spPr>
        <p:txBody>
          <a:bodyPr/>
          <a:lstStyle/>
          <a:p>
            <a:pPr eaLnBrk="1" hangingPunct="1">
              <a:lnSpc>
                <a:spcPct val="90000"/>
              </a:lnSpc>
            </a:pPr>
            <a:r>
              <a:rPr lang="zh-CN" altLang="en-US" smtClean="0"/>
              <a:t>网络核心部分是因特网中最复杂的部分。</a:t>
            </a:r>
          </a:p>
          <a:p>
            <a:pPr eaLnBrk="1" hangingPunct="1">
              <a:lnSpc>
                <a:spcPct val="90000"/>
              </a:lnSpc>
            </a:pPr>
            <a:r>
              <a:rPr lang="zh-CN" altLang="en-US" smtClean="0"/>
              <a:t>网络中的核心部分要向网络边缘中的大量主机提供连通性，使边缘部分中的任何一个主机都能够向其他主机通信（即传送或接收各种形式的数据）。</a:t>
            </a:r>
          </a:p>
          <a:p>
            <a:pPr eaLnBrk="1" hangingPunct="1">
              <a:lnSpc>
                <a:spcPct val="90000"/>
              </a:lnSpc>
            </a:pPr>
            <a:r>
              <a:rPr lang="zh-CN" altLang="en-US" smtClean="0"/>
              <a:t>在网络核心部分起特殊作用的是</a:t>
            </a:r>
            <a:r>
              <a:rPr lang="zh-CN" altLang="en-US" smtClean="0">
                <a:solidFill>
                  <a:srgbClr val="CC0000"/>
                </a:solidFill>
              </a:rPr>
              <a:t>路由器</a:t>
            </a:r>
            <a:r>
              <a:rPr lang="en-US" altLang="zh-CN" smtClean="0"/>
              <a:t>(router)</a:t>
            </a:r>
            <a:r>
              <a:rPr lang="zh-CN" altLang="en-US" smtClean="0"/>
              <a:t>。</a:t>
            </a:r>
          </a:p>
          <a:p>
            <a:pPr eaLnBrk="1" hangingPunct="1">
              <a:lnSpc>
                <a:spcPct val="90000"/>
              </a:lnSpc>
            </a:pPr>
            <a:r>
              <a:rPr lang="zh-CN" altLang="en-US" smtClean="0"/>
              <a:t>路由器是实现</a:t>
            </a:r>
            <a:r>
              <a:rPr lang="zh-CN" altLang="en-US" smtClean="0">
                <a:solidFill>
                  <a:srgbClr val="CC0000"/>
                </a:solidFill>
              </a:rPr>
              <a:t>分组交换</a:t>
            </a:r>
            <a:r>
              <a:rPr lang="en-US" altLang="zh-CN" smtClean="0"/>
              <a:t>(packet switching)</a:t>
            </a:r>
            <a:r>
              <a:rPr lang="zh-CN" altLang="en-US" smtClean="0"/>
              <a:t>的关键构件，其任务是转发收到的分组，这是网络核心部分最重要的功能。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ctr" eaLnBrk="1" hangingPunct="1"/>
            <a:r>
              <a:rPr lang="en-US" altLang="zh-CN" smtClean="0"/>
              <a:t>1. </a:t>
            </a:r>
            <a:r>
              <a:rPr lang="zh-CN" altLang="en-US" smtClean="0"/>
              <a:t>电路交换的主要特点</a:t>
            </a:r>
          </a:p>
        </p:txBody>
      </p:sp>
      <p:sp>
        <p:nvSpPr>
          <p:cNvPr id="26627" name="Rectangle 3"/>
          <p:cNvSpPr>
            <a:spLocks noGrp="1" noChangeArrowheads="1"/>
          </p:cNvSpPr>
          <p:nvPr>
            <p:ph type="body" idx="1"/>
          </p:nvPr>
        </p:nvSpPr>
        <p:spPr>
          <a:xfrm>
            <a:off x="1042988" y="2017713"/>
            <a:ext cx="7772400" cy="1339850"/>
          </a:xfrm>
        </p:spPr>
        <p:txBody>
          <a:bodyPr/>
          <a:lstStyle/>
          <a:p>
            <a:pPr eaLnBrk="1" hangingPunct="1"/>
            <a:r>
              <a:rPr lang="zh-CN" altLang="en-US" smtClean="0"/>
              <a:t>两部电话机只需要用一对电线就能够互相连接起来。 </a:t>
            </a:r>
          </a:p>
        </p:txBody>
      </p:sp>
      <p:sp>
        <p:nvSpPr>
          <p:cNvPr id="26628" name="Text Box 4"/>
          <p:cNvSpPr txBox="1">
            <a:spLocks noChangeArrowheads="1"/>
          </p:cNvSpPr>
          <p:nvPr/>
        </p:nvSpPr>
        <p:spPr bwMode="auto">
          <a:xfrm>
            <a:off x="5603875" y="3590925"/>
            <a:ext cx="862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000">
                <a:latin typeface="Times New Roman" pitchFamily="18" charset="0"/>
                <a:sym typeface="Wingdings" pitchFamily="2" charset="2"/>
              </a:rPr>
              <a:t></a:t>
            </a:r>
            <a:r>
              <a:rPr kumimoji="1" lang="en-US" altLang="zh-CN" sz="4000">
                <a:latin typeface="Times New Roman" pitchFamily="18" charset="0"/>
              </a:rPr>
              <a:t> </a:t>
            </a:r>
          </a:p>
        </p:txBody>
      </p:sp>
      <p:sp>
        <p:nvSpPr>
          <p:cNvPr id="26629" name="Text Box 5"/>
          <p:cNvSpPr txBox="1">
            <a:spLocks noChangeArrowheads="1"/>
          </p:cNvSpPr>
          <p:nvPr/>
        </p:nvSpPr>
        <p:spPr bwMode="auto">
          <a:xfrm>
            <a:off x="3132138" y="3590925"/>
            <a:ext cx="8620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000">
                <a:latin typeface="Times New Roman" pitchFamily="18" charset="0"/>
                <a:sym typeface="Wingdings" pitchFamily="2" charset="2"/>
              </a:rPr>
              <a:t></a:t>
            </a:r>
            <a:r>
              <a:rPr kumimoji="1" lang="en-US" altLang="zh-CN" sz="4000">
                <a:latin typeface="Times New Roman" pitchFamily="18" charset="0"/>
              </a:rPr>
              <a:t> </a:t>
            </a:r>
          </a:p>
        </p:txBody>
      </p:sp>
      <p:sp>
        <p:nvSpPr>
          <p:cNvPr id="26630" name="Line 6"/>
          <p:cNvSpPr>
            <a:spLocks noChangeShapeType="1"/>
          </p:cNvSpPr>
          <p:nvPr/>
        </p:nvSpPr>
        <p:spPr bwMode="auto">
          <a:xfrm flipV="1">
            <a:off x="3436938" y="4041775"/>
            <a:ext cx="2454275" cy="15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ctr" eaLnBrk="1" hangingPunct="1"/>
            <a:r>
              <a:rPr lang="zh-CN" altLang="en-US" smtClean="0"/>
              <a:t>更多的电话机互相连通</a:t>
            </a:r>
          </a:p>
        </p:txBody>
      </p:sp>
      <p:sp>
        <p:nvSpPr>
          <p:cNvPr id="34819" name="Rectangle 3"/>
          <p:cNvSpPr>
            <a:spLocks noGrp="1" noChangeArrowheads="1"/>
          </p:cNvSpPr>
          <p:nvPr>
            <p:ph type="body" idx="1"/>
          </p:nvPr>
        </p:nvSpPr>
        <p:spPr>
          <a:xfrm>
            <a:off x="539750" y="2017713"/>
            <a:ext cx="8604250" cy="4840287"/>
          </a:xfrm>
        </p:spPr>
        <p:txBody>
          <a:bodyPr/>
          <a:lstStyle/>
          <a:p>
            <a:pPr eaLnBrk="1" hangingPunct="1"/>
            <a:r>
              <a:rPr lang="en-US" altLang="zh-CN" sz="2800" smtClean="0"/>
              <a:t>5 </a:t>
            </a:r>
            <a:r>
              <a:rPr lang="zh-CN" altLang="en-US" sz="2800" smtClean="0"/>
              <a:t>部电话机两两相连，需 </a:t>
            </a:r>
            <a:r>
              <a:rPr lang="en-US" altLang="zh-CN" sz="2800" smtClean="0"/>
              <a:t>10 </a:t>
            </a:r>
            <a:r>
              <a:rPr lang="zh-CN" altLang="en-US" sz="2800" smtClean="0"/>
              <a:t>对电线。</a:t>
            </a:r>
          </a:p>
          <a:p>
            <a:pPr eaLnBrk="1" hangingPunct="1"/>
            <a:endParaRPr lang="zh-CN" altLang="en-US" sz="2800" smtClean="0"/>
          </a:p>
          <a:p>
            <a:pPr eaLnBrk="1" hangingPunct="1"/>
            <a:endParaRPr lang="zh-CN" altLang="en-US" sz="2800" smtClean="0"/>
          </a:p>
          <a:p>
            <a:pPr eaLnBrk="1" hangingPunct="1"/>
            <a:endParaRPr lang="zh-CN" altLang="en-US" sz="2800" smtClean="0"/>
          </a:p>
          <a:p>
            <a:pPr eaLnBrk="1" hangingPunct="1"/>
            <a:endParaRPr lang="zh-CN" altLang="en-US" sz="2800" smtClean="0"/>
          </a:p>
          <a:p>
            <a:pPr eaLnBrk="1" hangingPunct="1"/>
            <a:endParaRPr lang="zh-CN" altLang="en-US" sz="2800" smtClean="0"/>
          </a:p>
          <a:p>
            <a:pPr eaLnBrk="1" hangingPunct="1">
              <a:spcBef>
                <a:spcPct val="0"/>
              </a:spcBef>
            </a:pPr>
            <a:r>
              <a:rPr lang="en-US" altLang="zh-CN" sz="2800" i="1" smtClean="0"/>
              <a:t>N </a:t>
            </a:r>
            <a:r>
              <a:rPr lang="zh-CN" altLang="en-US" sz="2800" smtClean="0"/>
              <a:t>部电话机两两相连，需 </a:t>
            </a:r>
            <a:r>
              <a:rPr lang="en-US" altLang="zh-CN" sz="2800" i="1" smtClean="0"/>
              <a:t>N</a:t>
            </a:r>
            <a:r>
              <a:rPr lang="en-US" altLang="zh-CN" sz="2800" smtClean="0"/>
              <a:t>(</a:t>
            </a:r>
            <a:r>
              <a:rPr lang="en-US" altLang="zh-CN" sz="2800" i="1" smtClean="0"/>
              <a:t>N</a:t>
            </a:r>
            <a:r>
              <a:rPr lang="en-US" altLang="zh-CN" sz="2800" smtClean="0"/>
              <a:t> – 1)/2 </a:t>
            </a:r>
            <a:r>
              <a:rPr lang="zh-CN" altLang="en-US" sz="2800" smtClean="0"/>
              <a:t>对电线。</a:t>
            </a:r>
          </a:p>
          <a:p>
            <a:pPr eaLnBrk="1" hangingPunct="1"/>
            <a:r>
              <a:rPr lang="zh-CN" altLang="en-US" sz="2800" smtClean="0"/>
              <a:t>当电话机的数量很大时，这种连接方法需要的电线对的数量与电话机数的平方成正比。</a:t>
            </a:r>
          </a:p>
        </p:txBody>
      </p:sp>
      <p:grpSp>
        <p:nvGrpSpPr>
          <p:cNvPr id="34836" name="Group 20"/>
          <p:cNvGrpSpPr>
            <a:grpSpLocks/>
          </p:cNvGrpSpPr>
          <p:nvPr/>
        </p:nvGrpSpPr>
        <p:grpSpPr bwMode="auto">
          <a:xfrm>
            <a:off x="2895600" y="2492375"/>
            <a:ext cx="3968750" cy="2411413"/>
            <a:chOff x="1824" y="1570"/>
            <a:chExt cx="2500" cy="1519"/>
          </a:xfrm>
        </p:grpSpPr>
        <p:sp>
          <p:nvSpPr>
            <p:cNvPr id="27663" name="Text Box 4"/>
            <p:cNvSpPr txBox="1">
              <a:spLocks noChangeArrowheads="1"/>
            </p:cNvSpPr>
            <p:nvPr/>
          </p:nvSpPr>
          <p:spPr bwMode="auto">
            <a:xfrm>
              <a:off x="2792" y="1570"/>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7664" name="Text Box 5"/>
            <p:cNvSpPr txBox="1">
              <a:spLocks noChangeArrowheads="1"/>
            </p:cNvSpPr>
            <p:nvPr/>
          </p:nvSpPr>
          <p:spPr bwMode="auto">
            <a:xfrm>
              <a:off x="1824" y="2058"/>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7665" name="Text Box 6"/>
            <p:cNvSpPr txBox="1">
              <a:spLocks noChangeArrowheads="1"/>
            </p:cNvSpPr>
            <p:nvPr/>
          </p:nvSpPr>
          <p:spPr bwMode="auto">
            <a:xfrm>
              <a:off x="2405" y="2685"/>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7666" name="Text Box 7"/>
            <p:cNvSpPr txBox="1">
              <a:spLocks noChangeArrowheads="1"/>
            </p:cNvSpPr>
            <p:nvPr/>
          </p:nvSpPr>
          <p:spPr bwMode="auto">
            <a:xfrm>
              <a:off x="3824" y="2058"/>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7667" name="Text Box 8"/>
            <p:cNvSpPr txBox="1">
              <a:spLocks noChangeArrowheads="1"/>
            </p:cNvSpPr>
            <p:nvPr/>
          </p:nvSpPr>
          <p:spPr bwMode="auto">
            <a:xfrm>
              <a:off x="3244" y="2685"/>
              <a:ext cx="500"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grpSp>
      <p:sp>
        <p:nvSpPr>
          <p:cNvPr id="34825" name="Line 9"/>
          <p:cNvSpPr>
            <a:spLocks noChangeShapeType="1"/>
          </p:cNvSpPr>
          <p:nvPr/>
        </p:nvSpPr>
        <p:spPr bwMode="auto">
          <a:xfrm flipV="1">
            <a:off x="3373438" y="2895600"/>
            <a:ext cx="1384300" cy="7334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6" name="Line 10"/>
          <p:cNvSpPr>
            <a:spLocks noChangeShapeType="1"/>
          </p:cNvSpPr>
          <p:nvPr/>
        </p:nvSpPr>
        <p:spPr bwMode="auto">
          <a:xfrm>
            <a:off x="4895850" y="2933700"/>
            <a:ext cx="1536700" cy="7731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7" name="Line 11"/>
          <p:cNvSpPr>
            <a:spLocks noChangeShapeType="1"/>
          </p:cNvSpPr>
          <p:nvPr/>
        </p:nvSpPr>
        <p:spPr bwMode="auto">
          <a:xfrm>
            <a:off x="3232150" y="3678238"/>
            <a:ext cx="857250" cy="954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8" name="Line 12"/>
          <p:cNvSpPr>
            <a:spLocks noChangeShapeType="1"/>
          </p:cNvSpPr>
          <p:nvPr/>
        </p:nvSpPr>
        <p:spPr bwMode="auto">
          <a:xfrm flipV="1">
            <a:off x="4203700" y="4702175"/>
            <a:ext cx="125412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9" name="Line 13"/>
          <p:cNvSpPr>
            <a:spLocks noChangeShapeType="1"/>
          </p:cNvSpPr>
          <p:nvPr/>
        </p:nvSpPr>
        <p:spPr bwMode="auto">
          <a:xfrm flipV="1">
            <a:off x="5540375" y="3673475"/>
            <a:ext cx="895350" cy="9398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0" name="Line 14"/>
          <p:cNvSpPr>
            <a:spLocks noChangeShapeType="1"/>
          </p:cNvSpPr>
          <p:nvPr/>
        </p:nvSpPr>
        <p:spPr bwMode="auto">
          <a:xfrm>
            <a:off x="4810125" y="2932113"/>
            <a:ext cx="627063" cy="17700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1" name="Line 15"/>
          <p:cNvSpPr>
            <a:spLocks noChangeShapeType="1"/>
          </p:cNvSpPr>
          <p:nvPr/>
        </p:nvSpPr>
        <p:spPr bwMode="auto">
          <a:xfrm flipH="1">
            <a:off x="4187825" y="2949575"/>
            <a:ext cx="487363" cy="17414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2" name="Line 16"/>
          <p:cNvSpPr>
            <a:spLocks noChangeShapeType="1"/>
          </p:cNvSpPr>
          <p:nvPr/>
        </p:nvSpPr>
        <p:spPr bwMode="auto">
          <a:xfrm>
            <a:off x="3400425" y="3670300"/>
            <a:ext cx="2982913"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3" name="Line 17"/>
          <p:cNvSpPr>
            <a:spLocks noChangeShapeType="1"/>
          </p:cNvSpPr>
          <p:nvPr/>
        </p:nvSpPr>
        <p:spPr bwMode="auto">
          <a:xfrm>
            <a:off x="3233738" y="3673475"/>
            <a:ext cx="2203450" cy="10096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4" name="Line 18"/>
          <p:cNvSpPr>
            <a:spLocks noChangeShapeType="1"/>
          </p:cNvSpPr>
          <p:nvPr/>
        </p:nvSpPr>
        <p:spPr bwMode="auto">
          <a:xfrm flipV="1">
            <a:off x="4235450" y="3721100"/>
            <a:ext cx="2125663" cy="9667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836"/>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grpId="0" nodeType="afterEffect">
                                  <p:stCondLst>
                                    <p:cond delay="300"/>
                                  </p:stCondLst>
                                  <p:childTnLst>
                                    <p:set>
                                      <p:cBhvr>
                                        <p:cTn id="13" dur="1" fill="hold">
                                          <p:stCondLst>
                                            <p:cond delay="0"/>
                                          </p:stCondLst>
                                        </p:cTn>
                                        <p:tgtEl>
                                          <p:spTgt spid="34825"/>
                                        </p:tgtEl>
                                        <p:attrNameLst>
                                          <p:attrName>style.visibility</p:attrName>
                                        </p:attrNameLst>
                                      </p:cBhvr>
                                      <p:to>
                                        <p:strVal val="visible"/>
                                      </p:to>
                                    </p:set>
                                  </p:childTnLst>
                                </p:cTn>
                              </p:par>
                            </p:childTnLst>
                          </p:cTn>
                        </p:par>
                        <p:par>
                          <p:cTn id="14" fill="hold" nodeType="afterGroup">
                            <p:stCondLst>
                              <p:cond delay="300"/>
                            </p:stCondLst>
                            <p:childTnLst>
                              <p:par>
                                <p:cTn id="15" presetID="1" presetClass="entr" presetSubtype="0" fill="hold" grpId="0" nodeType="afterEffect">
                                  <p:stCondLst>
                                    <p:cond delay="300"/>
                                  </p:stCondLst>
                                  <p:childTnLst>
                                    <p:set>
                                      <p:cBhvr>
                                        <p:cTn id="16" dur="1" fill="hold">
                                          <p:stCondLst>
                                            <p:cond delay="0"/>
                                          </p:stCondLst>
                                        </p:cTn>
                                        <p:tgtEl>
                                          <p:spTgt spid="34832"/>
                                        </p:tgtEl>
                                        <p:attrNameLst>
                                          <p:attrName>style.visibility</p:attrName>
                                        </p:attrNameLst>
                                      </p:cBhvr>
                                      <p:to>
                                        <p:strVal val="visible"/>
                                      </p:to>
                                    </p:set>
                                  </p:childTnLst>
                                </p:cTn>
                              </p:par>
                            </p:childTnLst>
                          </p:cTn>
                        </p:par>
                        <p:par>
                          <p:cTn id="17" fill="hold" nodeType="afterGroup">
                            <p:stCondLst>
                              <p:cond delay="600"/>
                            </p:stCondLst>
                            <p:childTnLst>
                              <p:par>
                                <p:cTn id="18" presetID="1" presetClass="entr" presetSubtype="0" fill="hold" grpId="0" nodeType="afterEffect">
                                  <p:stCondLst>
                                    <p:cond delay="300"/>
                                  </p:stCondLst>
                                  <p:childTnLst>
                                    <p:set>
                                      <p:cBhvr>
                                        <p:cTn id="19" dur="1" fill="hold">
                                          <p:stCondLst>
                                            <p:cond delay="0"/>
                                          </p:stCondLst>
                                        </p:cTn>
                                        <p:tgtEl>
                                          <p:spTgt spid="34833"/>
                                        </p:tgtEl>
                                        <p:attrNameLst>
                                          <p:attrName>style.visibility</p:attrName>
                                        </p:attrNameLst>
                                      </p:cBhvr>
                                      <p:to>
                                        <p:strVal val="visible"/>
                                      </p:to>
                                    </p:set>
                                  </p:childTnLst>
                                </p:cTn>
                              </p:par>
                            </p:childTnLst>
                          </p:cTn>
                        </p:par>
                        <p:par>
                          <p:cTn id="20" fill="hold" nodeType="afterGroup">
                            <p:stCondLst>
                              <p:cond delay="900"/>
                            </p:stCondLst>
                            <p:childTnLst>
                              <p:par>
                                <p:cTn id="21" presetID="1" presetClass="entr" presetSubtype="0" fill="hold" grpId="0" nodeType="afterEffect">
                                  <p:stCondLst>
                                    <p:cond delay="300"/>
                                  </p:stCondLst>
                                  <p:childTnLst>
                                    <p:set>
                                      <p:cBhvr>
                                        <p:cTn id="22" dur="1" fill="hold">
                                          <p:stCondLst>
                                            <p:cond delay="0"/>
                                          </p:stCondLst>
                                        </p:cTn>
                                        <p:tgtEl>
                                          <p:spTgt spid="34827"/>
                                        </p:tgtEl>
                                        <p:attrNameLst>
                                          <p:attrName>style.visibility</p:attrName>
                                        </p:attrNameLst>
                                      </p:cBhvr>
                                      <p:to>
                                        <p:strVal val="visible"/>
                                      </p:to>
                                    </p:set>
                                  </p:childTnLst>
                                </p:cTn>
                              </p:par>
                            </p:childTnLst>
                          </p:cTn>
                        </p:par>
                        <p:par>
                          <p:cTn id="23" fill="hold" nodeType="afterGroup">
                            <p:stCondLst>
                              <p:cond delay="1200"/>
                            </p:stCondLst>
                            <p:childTnLst>
                              <p:par>
                                <p:cTn id="24" presetID="1" presetClass="entr" presetSubtype="0" fill="hold" grpId="0" nodeType="afterEffect">
                                  <p:stCondLst>
                                    <p:cond delay="300"/>
                                  </p:stCondLst>
                                  <p:childTnLst>
                                    <p:set>
                                      <p:cBhvr>
                                        <p:cTn id="25" dur="1" fill="hold">
                                          <p:stCondLst>
                                            <p:cond delay="0"/>
                                          </p:stCondLst>
                                        </p:cTn>
                                        <p:tgtEl>
                                          <p:spTgt spid="34831"/>
                                        </p:tgtEl>
                                        <p:attrNameLst>
                                          <p:attrName>style.visibility</p:attrName>
                                        </p:attrNameLst>
                                      </p:cBhvr>
                                      <p:to>
                                        <p:strVal val="visible"/>
                                      </p:to>
                                    </p:set>
                                  </p:childTnLst>
                                </p:cTn>
                              </p:par>
                            </p:childTnLst>
                          </p:cTn>
                        </p:par>
                        <p:par>
                          <p:cTn id="26" fill="hold" nodeType="afterGroup">
                            <p:stCondLst>
                              <p:cond delay="1500"/>
                            </p:stCondLst>
                            <p:childTnLst>
                              <p:par>
                                <p:cTn id="27" presetID="1" presetClass="entr" presetSubtype="0" fill="hold" grpId="0" nodeType="afterEffect">
                                  <p:stCondLst>
                                    <p:cond delay="300"/>
                                  </p:stCondLst>
                                  <p:childTnLst>
                                    <p:set>
                                      <p:cBhvr>
                                        <p:cTn id="28" dur="1" fill="hold">
                                          <p:stCondLst>
                                            <p:cond delay="0"/>
                                          </p:stCondLst>
                                        </p:cTn>
                                        <p:tgtEl>
                                          <p:spTgt spid="34830"/>
                                        </p:tgtEl>
                                        <p:attrNameLst>
                                          <p:attrName>style.visibility</p:attrName>
                                        </p:attrNameLst>
                                      </p:cBhvr>
                                      <p:to>
                                        <p:strVal val="visible"/>
                                      </p:to>
                                    </p:set>
                                  </p:childTnLst>
                                </p:cTn>
                              </p:par>
                            </p:childTnLst>
                          </p:cTn>
                        </p:par>
                        <p:par>
                          <p:cTn id="29" fill="hold" nodeType="afterGroup">
                            <p:stCondLst>
                              <p:cond delay="1800"/>
                            </p:stCondLst>
                            <p:childTnLst>
                              <p:par>
                                <p:cTn id="30" presetID="1" presetClass="entr" presetSubtype="0" fill="hold" grpId="0" nodeType="afterEffect">
                                  <p:stCondLst>
                                    <p:cond delay="300"/>
                                  </p:stCondLst>
                                  <p:childTnLst>
                                    <p:set>
                                      <p:cBhvr>
                                        <p:cTn id="31" dur="1" fill="hold">
                                          <p:stCondLst>
                                            <p:cond delay="0"/>
                                          </p:stCondLst>
                                        </p:cTn>
                                        <p:tgtEl>
                                          <p:spTgt spid="34826"/>
                                        </p:tgtEl>
                                        <p:attrNameLst>
                                          <p:attrName>style.visibility</p:attrName>
                                        </p:attrNameLst>
                                      </p:cBhvr>
                                      <p:to>
                                        <p:strVal val="visible"/>
                                      </p:to>
                                    </p:set>
                                  </p:childTnLst>
                                </p:cTn>
                              </p:par>
                            </p:childTnLst>
                          </p:cTn>
                        </p:par>
                        <p:par>
                          <p:cTn id="32" fill="hold" nodeType="afterGroup">
                            <p:stCondLst>
                              <p:cond delay="2100"/>
                            </p:stCondLst>
                            <p:childTnLst>
                              <p:par>
                                <p:cTn id="33" presetID="1" presetClass="entr" presetSubtype="0" fill="hold" grpId="0" nodeType="afterEffect">
                                  <p:stCondLst>
                                    <p:cond delay="300"/>
                                  </p:stCondLst>
                                  <p:childTnLst>
                                    <p:set>
                                      <p:cBhvr>
                                        <p:cTn id="34" dur="1" fill="hold">
                                          <p:stCondLst>
                                            <p:cond delay="0"/>
                                          </p:stCondLst>
                                        </p:cTn>
                                        <p:tgtEl>
                                          <p:spTgt spid="34834"/>
                                        </p:tgtEl>
                                        <p:attrNameLst>
                                          <p:attrName>style.visibility</p:attrName>
                                        </p:attrNameLst>
                                      </p:cBhvr>
                                      <p:to>
                                        <p:strVal val="visible"/>
                                      </p:to>
                                    </p:set>
                                  </p:childTnLst>
                                </p:cTn>
                              </p:par>
                            </p:childTnLst>
                          </p:cTn>
                        </p:par>
                        <p:par>
                          <p:cTn id="35" fill="hold" nodeType="afterGroup">
                            <p:stCondLst>
                              <p:cond delay="2400"/>
                            </p:stCondLst>
                            <p:childTnLst>
                              <p:par>
                                <p:cTn id="36" presetID="1" presetClass="entr" presetSubtype="0" fill="hold" grpId="0" nodeType="afterEffect">
                                  <p:stCondLst>
                                    <p:cond delay="300"/>
                                  </p:stCondLst>
                                  <p:childTnLst>
                                    <p:set>
                                      <p:cBhvr>
                                        <p:cTn id="37" dur="1" fill="hold">
                                          <p:stCondLst>
                                            <p:cond delay="0"/>
                                          </p:stCondLst>
                                        </p:cTn>
                                        <p:tgtEl>
                                          <p:spTgt spid="34828"/>
                                        </p:tgtEl>
                                        <p:attrNameLst>
                                          <p:attrName>style.visibility</p:attrName>
                                        </p:attrNameLst>
                                      </p:cBhvr>
                                      <p:to>
                                        <p:strVal val="visible"/>
                                      </p:to>
                                    </p:set>
                                  </p:childTnLst>
                                </p:cTn>
                              </p:par>
                            </p:childTnLst>
                          </p:cTn>
                        </p:par>
                        <p:par>
                          <p:cTn id="38" fill="hold" nodeType="afterGroup">
                            <p:stCondLst>
                              <p:cond delay="2700"/>
                            </p:stCondLst>
                            <p:childTnLst>
                              <p:par>
                                <p:cTn id="39" presetID="1" presetClass="entr" presetSubtype="0" fill="hold" grpId="0" nodeType="afterEffect">
                                  <p:stCondLst>
                                    <p:cond delay="300"/>
                                  </p:stCondLst>
                                  <p:childTnLst>
                                    <p:set>
                                      <p:cBhvr>
                                        <p:cTn id="40" dur="1" fill="hold">
                                          <p:stCondLst>
                                            <p:cond delay="0"/>
                                          </p:stCondLst>
                                        </p:cTn>
                                        <p:tgtEl>
                                          <p:spTgt spid="3482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4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34825" grpId="0" animBg="1"/>
      <p:bldP spid="34826" grpId="0" animBg="1"/>
      <p:bldP spid="34827" grpId="0" animBg="1"/>
      <p:bldP spid="34828" grpId="0" animBg="1"/>
      <p:bldP spid="34829" grpId="0" animBg="1"/>
      <p:bldP spid="34830" grpId="0" animBg="1"/>
      <p:bldP spid="34831" grpId="0" animBg="1"/>
      <p:bldP spid="34832" grpId="0" animBg="1"/>
      <p:bldP spid="34833" grpId="0" animBg="1"/>
      <p:bldP spid="3483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hangingPunct="1"/>
            <a:r>
              <a:rPr lang="zh-CN" altLang="en-US" smtClean="0"/>
              <a:t>使用交换机</a:t>
            </a:r>
          </a:p>
        </p:txBody>
      </p:sp>
      <p:sp>
        <p:nvSpPr>
          <p:cNvPr id="28675" name="Rectangle 3"/>
          <p:cNvSpPr>
            <a:spLocks noGrp="1" noChangeArrowheads="1"/>
          </p:cNvSpPr>
          <p:nvPr>
            <p:ph type="body" idx="1"/>
          </p:nvPr>
        </p:nvSpPr>
        <p:spPr>
          <a:xfrm>
            <a:off x="1042988" y="1978025"/>
            <a:ext cx="7772400" cy="4114800"/>
          </a:xfrm>
        </p:spPr>
        <p:txBody>
          <a:bodyPr/>
          <a:lstStyle/>
          <a:p>
            <a:pPr eaLnBrk="1" hangingPunct="1"/>
            <a:r>
              <a:rPr lang="zh-CN" altLang="en-US" smtClean="0"/>
              <a:t>当电话机的数量增多时，就要使用交换机来完成全网的交换任务。 </a:t>
            </a:r>
          </a:p>
        </p:txBody>
      </p:sp>
      <p:sp>
        <p:nvSpPr>
          <p:cNvPr id="28676" name="Text Box 19"/>
          <p:cNvSpPr txBox="1">
            <a:spLocks noChangeArrowheads="1"/>
          </p:cNvSpPr>
          <p:nvPr/>
        </p:nvSpPr>
        <p:spPr bwMode="auto">
          <a:xfrm rot="1458061">
            <a:off x="5221288" y="3213100"/>
            <a:ext cx="7921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800" b="1">
                <a:solidFill>
                  <a:srgbClr val="333399"/>
                </a:solidFill>
                <a:latin typeface="Times New Roman" pitchFamily="18" charset="0"/>
              </a:rPr>
              <a:t>…</a:t>
            </a:r>
          </a:p>
        </p:txBody>
      </p:sp>
      <p:sp>
        <p:nvSpPr>
          <p:cNvPr id="35844" name="Line 4"/>
          <p:cNvSpPr>
            <a:spLocks noChangeShapeType="1"/>
          </p:cNvSpPr>
          <p:nvPr/>
        </p:nvSpPr>
        <p:spPr bwMode="auto">
          <a:xfrm flipH="1" flipV="1">
            <a:off x="4787900" y="4868863"/>
            <a:ext cx="1265238" cy="4937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 name="Line 5"/>
          <p:cNvSpPr>
            <a:spLocks noChangeShapeType="1"/>
          </p:cNvSpPr>
          <p:nvPr/>
        </p:nvSpPr>
        <p:spPr bwMode="auto">
          <a:xfrm flipV="1">
            <a:off x="4427538" y="4868863"/>
            <a:ext cx="73025" cy="10064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 name="Line 6"/>
          <p:cNvSpPr>
            <a:spLocks noChangeShapeType="1"/>
          </p:cNvSpPr>
          <p:nvPr/>
        </p:nvSpPr>
        <p:spPr bwMode="auto">
          <a:xfrm flipV="1">
            <a:off x="2700338" y="4868863"/>
            <a:ext cx="1584325" cy="2603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7" name="Line 7"/>
          <p:cNvSpPr>
            <a:spLocks noChangeShapeType="1"/>
          </p:cNvSpPr>
          <p:nvPr/>
        </p:nvSpPr>
        <p:spPr bwMode="auto">
          <a:xfrm>
            <a:off x="3563938" y="3573463"/>
            <a:ext cx="615950" cy="9080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1" name="Text Box 8"/>
          <p:cNvSpPr txBox="1">
            <a:spLocks noChangeArrowheads="1"/>
          </p:cNvSpPr>
          <p:nvPr/>
        </p:nvSpPr>
        <p:spPr bwMode="auto">
          <a:xfrm>
            <a:off x="4246563" y="3086100"/>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82" name="Text Box 9"/>
          <p:cNvSpPr txBox="1">
            <a:spLocks noChangeArrowheads="1"/>
          </p:cNvSpPr>
          <p:nvPr/>
        </p:nvSpPr>
        <p:spPr bwMode="auto">
          <a:xfrm>
            <a:off x="2381250" y="3789363"/>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83" name="Text Box 10"/>
          <p:cNvSpPr txBox="1">
            <a:spLocks noChangeArrowheads="1"/>
          </p:cNvSpPr>
          <p:nvPr/>
        </p:nvSpPr>
        <p:spPr bwMode="auto">
          <a:xfrm>
            <a:off x="3044825" y="5372100"/>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84" name="Text Box 11"/>
          <p:cNvSpPr txBox="1">
            <a:spLocks noChangeArrowheads="1"/>
          </p:cNvSpPr>
          <p:nvPr/>
        </p:nvSpPr>
        <p:spPr bwMode="auto">
          <a:xfrm>
            <a:off x="6018213" y="4068763"/>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85" name="Text Box 12"/>
          <p:cNvSpPr txBox="1">
            <a:spLocks noChangeArrowheads="1"/>
          </p:cNvSpPr>
          <p:nvPr/>
        </p:nvSpPr>
        <p:spPr bwMode="auto">
          <a:xfrm>
            <a:off x="5003800" y="5308600"/>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35853" name="Line 13"/>
          <p:cNvSpPr>
            <a:spLocks noChangeShapeType="1"/>
          </p:cNvSpPr>
          <p:nvPr/>
        </p:nvSpPr>
        <p:spPr bwMode="auto">
          <a:xfrm flipH="1" flipV="1">
            <a:off x="4572000" y="3429000"/>
            <a:ext cx="12700" cy="1155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4" name="Line 14"/>
          <p:cNvSpPr>
            <a:spLocks noChangeShapeType="1"/>
          </p:cNvSpPr>
          <p:nvPr/>
        </p:nvSpPr>
        <p:spPr bwMode="auto">
          <a:xfrm flipV="1">
            <a:off x="4932363" y="4437063"/>
            <a:ext cx="1425575" cy="2571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5" name="Line 15"/>
          <p:cNvSpPr>
            <a:spLocks noChangeShapeType="1"/>
          </p:cNvSpPr>
          <p:nvPr/>
        </p:nvSpPr>
        <p:spPr bwMode="auto">
          <a:xfrm>
            <a:off x="2771775" y="4221163"/>
            <a:ext cx="1466850" cy="4619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6" name="Line 16"/>
          <p:cNvSpPr>
            <a:spLocks noChangeShapeType="1"/>
          </p:cNvSpPr>
          <p:nvPr/>
        </p:nvSpPr>
        <p:spPr bwMode="auto">
          <a:xfrm flipV="1">
            <a:off x="3419475" y="4941888"/>
            <a:ext cx="936625" cy="863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7" name="Line 17"/>
          <p:cNvSpPr>
            <a:spLocks noChangeShapeType="1"/>
          </p:cNvSpPr>
          <p:nvPr/>
        </p:nvSpPr>
        <p:spPr bwMode="auto">
          <a:xfrm flipH="1" flipV="1">
            <a:off x="4500563" y="4724400"/>
            <a:ext cx="850900" cy="9350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1" name="Text Box 20"/>
          <p:cNvSpPr txBox="1">
            <a:spLocks noChangeArrowheads="1"/>
          </p:cNvSpPr>
          <p:nvPr/>
        </p:nvSpPr>
        <p:spPr bwMode="auto">
          <a:xfrm>
            <a:off x="2268538" y="4708525"/>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92" name="Text Box 21"/>
          <p:cNvSpPr txBox="1">
            <a:spLocks noChangeArrowheads="1"/>
          </p:cNvSpPr>
          <p:nvPr/>
        </p:nvSpPr>
        <p:spPr bwMode="auto">
          <a:xfrm>
            <a:off x="3249613" y="3227388"/>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93" name="Text Box 22"/>
          <p:cNvSpPr txBox="1">
            <a:spLocks noChangeArrowheads="1"/>
          </p:cNvSpPr>
          <p:nvPr/>
        </p:nvSpPr>
        <p:spPr bwMode="auto">
          <a:xfrm>
            <a:off x="4057650" y="5497513"/>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94" name="Text Box 23"/>
          <p:cNvSpPr txBox="1">
            <a:spLocks noChangeArrowheads="1"/>
          </p:cNvSpPr>
          <p:nvPr/>
        </p:nvSpPr>
        <p:spPr bwMode="auto">
          <a:xfrm>
            <a:off x="5686425" y="4973638"/>
            <a:ext cx="793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8695" name="AutoShape 18"/>
          <p:cNvSpPr>
            <a:spLocks noChangeArrowheads="1"/>
          </p:cNvSpPr>
          <p:nvPr/>
        </p:nvSpPr>
        <p:spPr bwMode="auto">
          <a:xfrm>
            <a:off x="4033838" y="4292600"/>
            <a:ext cx="1185862" cy="730250"/>
          </a:xfrm>
          <a:prstGeom prst="cube">
            <a:avLst>
              <a:gd name="adj" fmla="val 25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solidFill>
                <a:srgbClr val="333399"/>
              </a:solidFill>
              <a:latin typeface="Times New Roman" pitchFamily="18" charset="0"/>
            </a:endParaRPr>
          </a:p>
        </p:txBody>
      </p:sp>
      <p:sp>
        <p:nvSpPr>
          <p:cNvPr id="28696" name="Text Box 24"/>
          <p:cNvSpPr txBox="1">
            <a:spLocks noChangeArrowheads="1"/>
          </p:cNvSpPr>
          <p:nvPr/>
        </p:nvSpPr>
        <p:spPr bwMode="auto">
          <a:xfrm>
            <a:off x="4021138" y="4486275"/>
            <a:ext cx="1098550" cy="4572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交换机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300"/>
                                  </p:stCondLst>
                                  <p:childTnLst>
                                    <p:set>
                                      <p:cBhvr>
                                        <p:cTn id="6" dur="1" fill="hold">
                                          <p:stCondLst>
                                            <p:cond delay="0"/>
                                          </p:stCondLst>
                                        </p:cTn>
                                        <p:tgtEl>
                                          <p:spTgt spid="35853"/>
                                        </p:tgtEl>
                                        <p:attrNameLst>
                                          <p:attrName>style.visibility</p:attrName>
                                        </p:attrNameLst>
                                      </p:cBhvr>
                                      <p:to>
                                        <p:strVal val="visible"/>
                                      </p:to>
                                    </p:set>
                                  </p:childTnLst>
                                </p:cTn>
                              </p:par>
                            </p:childTnLst>
                          </p:cTn>
                        </p:par>
                        <p:par>
                          <p:cTn id="7" fill="hold" nodeType="afterGroup">
                            <p:stCondLst>
                              <p:cond delay="300"/>
                            </p:stCondLst>
                            <p:childTnLst>
                              <p:par>
                                <p:cTn id="8" presetID="1" presetClass="entr" presetSubtype="0" fill="hold" grpId="0" nodeType="afterEffect">
                                  <p:stCondLst>
                                    <p:cond delay="300"/>
                                  </p:stCondLst>
                                  <p:childTnLst>
                                    <p:set>
                                      <p:cBhvr>
                                        <p:cTn id="9" dur="1" fill="hold">
                                          <p:stCondLst>
                                            <p:cond delay="0"/>
                                          </p:stCondLst>
                                        </p:cTn>
                                        <p:tgtEl>
                                          <p:spTgt spid="35847"/>
                                        </p:tgtEl>
                                        <p:attrNameLst>
                                          <p:attrName>style.visibility</p:attrName>
                                        </p:attrNameLst>
                                      </p:cBhvr>
                                      <p:to>
                                        <p:strVal val="visible"/>
                                      </p:to>
                                    </p:set>
                                  </p:childTnLst>
                                </p:cTn>
                              </p:par>
                            </p:childTnLst>
                          </p:cTn>
                        </p:par>
                        <p:par>
                          <p:cTn id="10" fill="hold" nodeType="afterGroup">
                            <p:stCondLst>
                              <p:cond delay="600"/>
                            </p:stCondLst>
                            <p:childTnLst>
                              <p:par>
                                <p:cTn id="11" presetID="1" presetClass="entr" presetSubtype="0" fill="hold" grpId="0" nodeType="afterEffect">
                                  <p:stCondLst>
                                    <p:cond delay="300"/>
                                  </p:stCondLst>
                                  <p:childTnLst>
                                    <p:set>
                                      <p:cBhvr>
                                        <p:cTn id="12" dur="1" fill="hold">
                                          <p:stCondLst>
                                            <p:cond delay="0"/>
                                          </p:stCondLst>
                                        </p:cTn>
                                        <p:tgtEl>
                                          <p:spTgt spid="35855"/>
                                        </p:tgtEl>
                                        <p:attrNameLst>
                                          <p:attrName>style.visibility</p:attrName>
                                        </p:attrNameLst>
                                      </p:cBhvr>
                                      <p:to>
                                        <p:strVal val="visible"/>
                                      </p:to>
                                    </p:set>
                                  </p:childTnLst>
                                </p:cTn>
                              </p:par>
                            </p:childTnLst>
                          </p:cTn>
                        </p:par>
                        <p:par>
                          <p:cTn id="13" fill="hold" nodeType="afterGroup">
                            <p:stCondLst>
                              <p:cond delay="900"/>
                            </p:stCondLst>
                            <p:childTnLst>
                              <p:par>
                                <p:cTn id="14" presetID="1" presetClass="entr" presetSubtype="0" fill="hold" grpId="0" nodeType="afterEffect">
                                  <p:stCondLst>
                                    <p:cond delay="300"/>
                                  </p:stCondLst>
                                  <p:childTnLst>
                                    <p:set>
                                      <p:cBhvr>
                                        <p:cTn id="15" dur="1" fill="hold">
                                          <p:stCondLst>
                                            <p:cond delay="0"/>
                                          </p:stCondLst>
                                        </p:cTn>
                                        <p:tgtEl>
                                          <p:spTgt spid="35846"/>
                                        </p:tgtEl>
                                        <p:attrNameLst>
                                          <p:attrName>style.visibility</p:attrName>
                                        </p:attrNameLst>
                                      </p:cBhvr>
                                      <p:to>
                                        <p:strVal val="visible"/>
                                      </p:to>
                                    </p:set>
                                  </p:childTnLst>
                                </p:cTn>
                              </p:par>
                            </p:childTnLst>
                          </p:cTn>
                        </p:par>
                        <p:par>
                          <p:cTn id="16" fill="hold" nodeType="afterGroup">
                            <p:stCondLst>
                              <p:cond delay="1200"/>
                            </p:stCondLst>
                            <p:childTnLst>
                              <p:par>
                                <p:cTn id="17" presetID="1" presetClass="entr" presetSubtype="0" fill="hold" grpId="0" nodeType="afterEffect">
                                  <p:stCondLst>
                                    <p:cond delay="300"/>
                                  </p:stCondLst>
                                  <p:childTnLst>
                                    <p:set>
                                      <p:cBhvr>
                                        <p:cTn id="18" dur="1" fill="hold">
                                          <p:stCondLst>
                                            <p:cond delay="0"/>
                                          </p:stCondLst>
                                        </p:cTn>
                                        <p:tgtEl>
                                          <p:spTgt spid="35856"/>
                                        </p:tgtEl>
                                        <p:attrNameLst>
                                          <p:attrName>style.visibility</p:attrName>
                                        </p:attrNameLst>
                                      </p:cBhvr>
                                      <p:to>
                                        <p:strVal val="visible"/>
                                      </p:to>
                                    </p:set>
                                  </p:childTnLst>
                                </p:cTn>
                              </p:par>
                            </p:childTnLst>
                          </p:cTn>
                        </p:par>
                        <p:par>
                          <p:cTn id="19" fill="hold" nodeType="afterGroup">
                            <p:stCondLst>
                              <p:cond delay="1500"/>
                            </p:stCondLst>
                            <p:childTnLst>
                              <p:par>
                                <p:cTn id="20" presetID="1" presetClass="entr" presetSubtype="0" fill="hold" grpId="0" nodeType="afterEffect">
                                  <p:stCondLst>
                                    <p:cond delay="300"/>
                                  </p:stCondLst>
                                  <p:childTnLst>
                                    <p:set>
                                      <p:cBhvr>
                                        <p:cTn id="21" dur="1" fill="hold">
                                          <p:stCondLst>
                                            <p:cond delay="0"/>
                                          </p:stCondLst>
                                        </p:cTn>
                                        <p:tgtEl>
                                          <p:spTgt spid="35845"/>
                                        </p:tgtEl>
                                        <p:attrNameLst>
                                          <p:attrName>style.visibility</p:attrName>
                                        </p:attrNameLst>
                                      </p:cBhvr>
                                      <p:to>
                                        <p:strVal val="visible"/>
                                      </p:to>
                                    </p:set>
                                  </p:childTnLst>
                                </p:cTn>
                              </p:par>
                            </p:childTnLst>
                          </p:cTn>
                        </p:par>
                        <p:par>
                          <p:cTn id="22" fill="hold" nodeType="afterGroup">
                            <p:stCondLst>
                              <p:cond delay="1800"/>
                            </p:stCondLst>
                            <p:childTnLst>
                              <p:par>
                                <p:cTn id="23" presetID="1" presetClass="entr" presetSubtype="0" fill="hold" grpId="0" nodeType="afterEffect">
                                  <p:stCondLst>
                                    <p:cond delay="300"/>
                                  </p:stCondLst>
                                  <p:childTnLst>
                                    <p:set>
                                      <p:cBhvr>
                                        <p:cTn id="24" dur="1" fill="hold">
                                          <p:stCondLst>
                                            <p:cond delay="0"/>
                                          </p:stCondLst>
                                        </p:cTn>
                                        <p:tgtEl>
                                          <p:spTgt spid="35857"/>
                                        </p:tgtEl>
                                        <p:attrNameLst>
                                          <p:attrName>style.visibility</p:attrName>
                                        </p:attrNameLst>
                                      </p:cBhvr>
                                      <p:to>
                                        <p:strVal val="visible"/>
                                      </p:to>
                                    </p:set>
                                  </p:childTnLst>
                                </p:cTn>
                              </p:par>
                            </p:childTnLst>
                          </p:cTn>
                        </p:par>
                        <p:par>
                          <p:cTn id="25" fill="hold" nodeType="afterGroup">
                            <p:stCondLst>
                              <p:cond delay="2100"/>
                            </p:stCondLst>
                            <p:childTnLst>
                              <p:par>
                                <p:cTn id="26" presetID="1" presetClass="entr" presetSubtype="0" fill="hold" grpId="0" nodeType="afterEffect">
                                  <p:stCondLst>
                                    <p:cond delay="300"/>
                                  </p:stCondLst>
                                  <p:childTnLst>
                                    <p:set>
                                      <p:cBhvr>
                                        <p:cTn id="27" dur="1" fill="hold">
                                          <p:stCondLst>
                                            <p:cond delay="0"/>
                                          </p:stCondLst>
                                        </p:cTn>
                                        <p:tgtEl>
                                          <p:spTgt spid="35844"/>
                                        </p:tgtEl>
                                        <p:attrNameLst>
                                          <p:attrName>style.visibility</p:attrName>
                                        </p:attrNameLst>
                                      </p:cBhvr>
                                      <p:to>
                                        <p:strVal val="visible"/>
                                      </p:to>
                                    </p:set>
                                  </p:childTnLst>
                                </p:cTn>
                              </p:par>
                            </p:childTnLst>
                          </p:cTn>
                        </p:par>
                        <p:par>
                          <p:cTn id="28" fill="hold" nodeType="afterGroup">
                            <p:stCondLst>
                              <p:cond delay="2400"/>
                            </p:stCondLst>
                            <p:childTnLst>
                              <p:par>
                                <p:cTn id="29" presetID="1" presetClass="entr" presetSubtype="0" fill="hold" grpId="0" nodeType="afterEffect">
                                  <p:stCondLst>
                                    <p:cond delay="300"/>
                                  </p:stCondLst>
                                  <p:childTnLst>
                                    <p:set>
                                      <p:cBhvr>
                                        <p:cTn id="30" dur="1" fill="hold">
                                          <p:stCondLst>
                                            <p:cond delay="0"/>
                                          </p:stCondLst>
                                        </p:cTn>
                                        <p:tgtEl>
                                          <p:spTgt spid="358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p:bldP spid="35845" grpId="0" animBg="1"/>
      <p:bldP spid="35846" grpId="0" animBg="1"/>
      <p:bldP spid="35847" grpId="0" animBg="1"/>
      <p:bldP spid="35853" grpId="0" animBg="1"/>
      <p:bldP spid="35854" grpId="0" animBg="1"/>
      <p:bldP spid="35855" grpId="0" animBg="1"/>
      <p:bldP spid="35856" grpId="0" animBg="1"/>
      <p:bldP spid="3585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algn="ctr" eaLnBrk="1" hangingPunct="1"/>
            <a:r>
              <a:rPr lang="zh-CN" altLang="en-US" smtClean="0"/>
              <a:t>电路交换的特点</a:t>
            </a:r>
            <a:r>
              <a:rPr lang="en-US" altLang="zh-CN" smtClean="0"/>
              <a:t>\P11</a:t>
            </a:r>
          </a:p>
        </p:txBody>
      </p:sp>
      <p:sp>
        <p:nvSpPr>
          <p:cNvPr id="41987" name="Rectangle 3"/>
          <p:cNvSpPr>
            <a:spLocks noGrp="1" noChangeArrowheads="1"/>
          </p:cNvSpPr>
          <p:nvPr>
            <p:ph type="body" idx="1"/>
          </p:nvPr>
        </p:nvSpPr>
        <p:spPr/>
        <p:txBody>
          <a:bodyPr/>
          <a:lstStyle/>
          <a:p>
            <a:pPr eaLnBrk="1" hangingPunct="1">
              <a:lnSpc>
                <a:spcPct val="90000"/>
              </a:lnSpc>
            </a:pPr>
            <a:r>
              <a:rPr lang="zh-CN" altLang="en-US" smtClean="0"/>
              <a:t>电路交换必定是面向连接的。 </a:t>
            </a:r>
          </a:p>
          <a:p>
            <a:pPr eaLnBrk="1" hangingPunct="1">
              <a:lnSpc>
                <a:spcPct val="90000"/>
              </a:lnSpc>
            </a:pPr>
            <a:r>
              <a:rPr lang="zh-CN" altLang="en-US" smtClean="0"/>
              <a:t>电路交换的三个阶段：</a:t>
            </a:r>
          </a:p>
          <a:p>
            <a:pPr lvl="1" eaLnBrk="1" hangingPunct="1">
              <a:lnSpc>
                <a:spcPct val="90000"/>
              </a:lnSpc>
            </a:pPr>
            <a:r>
              <a:rPr lang="zh-CN" altLang="en-US" smtClean="0">
                <a:solidFill>
                  <a:srgbClr val="333399"/>
                </a:solidFill>
                <a:ea typeface="黑体" pitchFamily="49" charset="-122"/>
              </a:rPr>
              <a:t>建立连接</a:t>
            </a:r>
          </a:p>
          <a:p>
            <a:pPr lvl="1" eaLnBrk="1" hangingPunct="1">
              <a:lnSpc>
                <a:spcPct val="90000"/>
              </a:lnSpc>
            </a:pPr>
            <a:r>
              <a:rPr lang="zh-CN" altLang="en-US" smtClean="0">
                <a:solidFill>
                  <a:srgbClr val="333399"/>
                </a:solidFill>
                <a:ea typeface="黑体" pitchFamily="49" charset="-122"/>
              </a:rPr>
              <a:t>通信</a:t>
            </a:r>
          </a:p>
          <a:p>
            <a:pPr lvl="1" eaLnBrk="1" hangingPunct="1">
              <a:lnSpc>
                <a:spcPct val="90000"/>
              </a:lnSpc>
            </a:pPr>
            <a:r>
              <a:rPr lang="zh-CN" altLang="en-US" smtClean="0">
                <a:solidFill>
                  <a:srgbClr val="333399"/>
                </a:solidFill>
                <a:ea typeface="黑体" pitchFamily="49" charset="-122"/>
              </a:rPr>
              <a:t>释放连接</a:t>
            </a:r>
          </a:p>
          <a:p>
            <a:pPr lvl="1" eaLnBrk="1" hangingPunct="1">
              <a:lnSpc>
                <a:spcPct val="90000"/>
              </a:lnSpc>
              <a:buFont typeface="Wingdings" pitchFamily="2" charset="2"/>
              <a:buNone/>
            </a:pPr>
            <a:endParaRPr lang="zh-CN" altLang="en-US" smtClean="0">
              <a:solidFill>
                <a:srgbClr val="333399"/>
              </a:solidFill>
              <a:ea typeface="黑体" pitchFamily="49" charset="-122"/>
            </a:endParaRPr>
          </a:p>
          <a:p>
            <a:pPr lvl="1" eaLnBrk="1" hangingPunct="1">
              <a:lnSpc>
                <a:spcPct val="90000"/>
              </a:lnSpc>
              <a:buFont typeface="Wingdings" pitchFamily="2" charset="2"/>
              <a:buNone/>
            </a:pPr>
            <a:r>
              <a:rPr lang="zh-CN" altLang="en-US" smtClean="0">
                <a:solidFill>
                  <a:srgbClr val="333399"/>
                </a:solidFill>
                <a:ea typeface="黑体" pitchFamily="49" charset="-122"/>
              </a:rPr>
              <a:t>通话时完全占用电路，传输效率低，不适合计算机突发数据传输。</a:t>
            </a:r>
          </a:p>
          <a:p>
            <a:pPr lvl="1" eaLnBrk="1" hangingPunct="1">
              <a:lnSpc>
                <a:spcPct val="90000"/>
              </a:lnSpc>
            </a:pPr>
            <a:endParaRPr lang="en-US" altLang="zh-CN" smtClean="0">
              <a:solidFill>
                <a:srgbClr val="333399"/>
              </a:solidFill>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lgn="ctr" eaLnBrk="1" hangingPunct="1"/>
            <a:r>
              <a:rPr lang="zh-CN" altLang="en-US" smtClean="0"/>
              <a:t>电路交换举例</a:t>
            </a:r>
          </a:p>
        </p:txBody>
      </p:sp>
      <p:sp>
        <p:nvSpPr>
          <p:cNvPr id="43011" name="Rectangle 3"/>
          <p:cNvSpPr>
            <a:spLocks noGrp="1" noChangeArrowheads="1"/>
          </p:cNvSpPr>
          <p:nvPr>
            <p:ph type="body" idx="1"/>
          </p:nvPr>
        </p:nvSpPr>
        <p:spPr/>
        <p:txBody>
          <a:bodyPr/>
          <a:lstStyle/>
          <a:p>
            <a:pPr eaLnBrk="1" hangingPunct="1"/>
            <a:r>
              <a:rPr lang="en-US" altLang="zh-CN" smtClean="0"/>
              <a:t>A </a:t>
            </a:r>
            <a:r>
              <a:rPr lang="zh-CN" altLang="en-US" smtClean="0"/>
              <a:t>和 </a:t>
            </a:r>
            <a:r>
              <a:rPr lang="en-US" altLang="zh-CN" smtClean="0"/>
              <a:t>B </a:t>
            </a:r>
            <a:r>
              <a:rPr lang="zh-CN" altLang="en-US" smtClean="0"/>
              <a:t>通话经过四个交换机</a:t>
            </a:r>
          </a:p>
          <a:p>
            <a:pPr eaLnBrk="1" hangingPunct="1"/>
            <a:r>
              <a:rPr lang="zh-CN" altLang="en-US" smtClean="0"/>
              <a:t>通话在 </a:t>
            </a:r>
            <a:r>
              <a:rPr lang="en-US" altLang="zh-CN" smtClean="0"/>
              <a:t>A </a:t>
            </a:r>
            <a:r>
              <a:rPr lang="zh-CN" altLang="en-US" smtClean="0"/>
              <a:t>到 </a:t>
            </a:r>
            <a:r>
              <a:rPr lang="en-US" altLang="zh-CN" smtClean="0"/>
              <a:t>B </a:t>
            </a:r>
            <a:r>
              <a:rPr lang="zh-CN" altLang="en-US" smtClean="0"/>
              <a:t>的连接上进行</a:t>
            </a:r>
          </a:p>
        </p:txBody>
      </p:sp>
      <p:sp>
        <p:nvSpPr>
          <p:cNvPr id="30724" name="Freeform 4"/>
          <p:cNvSpPr>
            <a:spLocks/>
          </p:cNvSpPr>
          <p:nvPr/>
        </p:nvSpPr>
        <p:spPr bwMode="auto">
          <a:xfrm>
            <a:off x="1593850" y="4960938"/>
            <a:ext cx="212725" cy="325437"/>
          </a:xfrm>
          <a:custGeom>
            <a:avLst/>
            <a:gdLst>
              <a:gd name="T0" fmla="*/ 2147483647 w 136"/>
              <a:gd name="T1" fmla="*/ 0 h 210"/>
              <a:gd name="T2" fmla="*/ 2147483647 w 136"/>
              <a:gd name="T3" fmla="*/ 2147483647 h 210"/>
              <a:gd name="T4" fmla="*/ 2147483647 w 136"/>
              <a:gd name="T5" fmla="*/ 2147483647 h 210"/>
              <a:gd name="T6" fmla="*/ 2147483647 w 136"/>
              <a:gd name="T7" fmla="*/ 2147483647 h 210"/>
              <a:gd name="T8" fmla="*/ 2147483647 w 136"/>
              <a:gd name="T9" fmla="*/ 2147483647 h 210"/>
              <a:gd name="T10" fmla="*/ 2147483647 w 136"/>
              <a:gd name="T11" fmla="*/ 2147483647 h 210"/>
              <a:gd name="T12" fmla="*/ 2147483647 w 136"/>
              <a:gd name="T13" fmla="*/ 2147483647 h 210"/>
              <a:gd name="T14" fmla="*/ 0 w 136"/>
              <a:gd name="T15" fmla="*/ 2147483647 h 2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6" h="210">
                <a:moveTo>
                  <a:pt x="9" y="0"/>
                </a:moveTo>
                <a:cubicBezTo>
                  <a:pt x="17" y="1"/>
                  <a:pt x="42" y="2"/>
                  <a:pt x="57" y="6"/>
                </a:cubicBezTo>
                <a:cubicBezTo>
                  <a:pt x="72" y="10"/>
                  <a:pt x="87" y="18"/>
                  <a:pt x="99" y="27"/>
                </a:cubicBezTo>
                <a:cubicBezTo>
                  <a:pt x="111" y="36"/>
                  <a:pt x="124" y="49"/>
                  <a:pt x="129" y="63"/>
                </a:cubicBezTo>
                <a:cubicBezTo>
                  <a:pt x="134" y="77"/>
                  <a:pt x="136" y="97"/>
                  <a:pt x="132" y="114"/>
                </a:cubicBezTo>
                <a:cubicBezTo>
                  <a:pt x="128" y="131"/>
                  <a:pt x="115" y="154"/>
                  <a:pt x="102" y="168"/>
                </a:cubicBezTo>
                <a:cubicBezTo>
                  <a:pt x="89" y="182"/>
                  <a:pt x="68" y="191"/>
                  <a:pt x="51" y="198"/>
                </a:cubicBezTo>
                <a:cubicBezTo>
                  <a:pt x="34" y="205"/>
                  <a:pt x="11" y="208"/>
                  <a:pt x="0" y="21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5" name="Line 5"/>
          <p:cNvSpPr>
            <a:spLocks noChangeShapeType="1"/>
          </p:cNvSpPr>
          <p:nvPr/>
        </p:nvSpPr>
        <p:spPr bwMode="auto">
          <a:xfrm flipV="1">
            <a:off x="873125" y="5286375"/>
            <a:ext cx="711200" cy="488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6" name="Line 6"/>
          <p:cNvSpPr>
            <a:spLocks noChangeShapeType="1"/>
          </p:cNvSpPr>
          <p:nvPr/>
        </p:nvSpPr>
        <p:spPr bwMode="auto">
          <a:xfrm flipV="1">
            <a:off x="877888" y="4964113"/>
            <a:ext cx="711200" cy="13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7" name="Line 7"/>
          <p:cNvSpPr>
            <a:spLocks noChangeShapeType="1"/>
          </p:cNvSpPr>
          <p:nvPr/>
        </p:nvSpPr>
        <p:spPr bwMode="auto">
          <a:xfrm flipV="1">
            <a:off x="7473950" y="4570413"/>
            <a:ext cx="9271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8" name="Line 8"/>
          <p:cNvSpPr>
            <a:spLocks noChangeShapeType="1"/>
          </p:cNvSpPr>
          <p:nvPr/>
        </p:nvSpPr>
        <p:spPr bwMode="auto">
          <a:xfrm>
            <a:off x="731838" y="4456113"/>
            <a:ext cx="847725" cy="169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9" name="Freeform 9"/>
          <p:cNvSpPr>
            <a:spLocks/>
          </p:cNvSpPr>
          <p:nvPr/>
        </p:nvSpPr>
        <p:spPr bwMode="auto">
          <a:xfrm>
            <a:off x="1565275" y="3894138"/>
            <a:ext cx="5930900" cy="1524000"/>
          </a:xfrm>
          <a:custGeom>
            <a:avLst/>
            <a:gdLst>
              <a:gd name="T0" fmla="*/ 0 w 3776"/>
              <a:gd name="T1" fmla="*/ 2147483647 h 981"/>
              <a:gd name="T2" fmla="*/ 2147483647 w 3776"/>
              <a:gd name="T3" fmla="*/ 2147483647 h 981"/>
              <a:gd name="T4" fmla="*/ 2147483647 w 3776"/>
              <a:gd name="T5" fmla="*/ 2147483647 h 981"/>
              <a:gd name="T6" fmla="*/ 2147483647 w 3776"/>
              <a:gd name="T7" fmla="*/ 0 h 981"/>
              <a:gd name="T8" fmla="*/ 2147483647 w 3776"/>
              <a:gd name="T9" fmla="*/ 2147483647 h 981"/>
              <a:gd name="T10" fmla="*/ 2147483647 w 3776"/>
              <a:gd name="T11" fmla="*/ 2147483647 h 981"/>
              <a:gd name="T12" fmla="*/ 2147483647 w 3776"/>
              <a:gd name="T13" fmla="*/ 2147483647 h 981"/>
              <a:gd name="T14" fmla="*/ 2147483647 w 3776"/>
              <a:gd name="T15" fmla="*/ 2147483647 h 981"/>
              <a:gd name="T16" fmla="*/ 2147483647 w 3776"/>
              <a:gd name="T17" fmla="*/ 2147483647 h 981"/>
              <a:gd name="T18" fmla="*/ 2147483647 w 3776"/>
              <a:gd name="T19" fmla="*/ 2147483647 h 9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76" h="981">
                <a:moveTo>
                  <a:pt x="0" y="462"/>
                </a:moveTo>
                <a:lnTo>
                  <a:pt x="3" y="463"/>
                </a:lnTo>
                <a:lnTo>
                  <a:pt x="558" y="690"/>
                </a:lnTo>
                <a:lnTo>
                  <a:pt x="1167" y="0"/>
                </a:lnTo>
                <a:lnTo>
                  <a:pt x="1712" y="209"/>
                </a:lnTo>
                <a:lnTo>
                  <a:pt x="2167" y="754"/>
                </a:lnTo>
                <a:lnTo>
                  <a:pt x="2712" y="981"/>
                </a:lnTo>
                <a:lnTo>
                  <a:pt x="3230" y="500"/>
                </a:lnTo>
                <a:lnTo>
                  <a:pt x="3776" y="618"/>
                </a:lnTo>
                <a:lnTo>
                  <a:pt x="3766" y="608"/>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0" name="Rectangle 10"/>
          <p:cNvSpPr>
            <a:spLocks noChangeArrowheads="1"/>
          </p:cNvSpPr>
          <p:nvPr/>
        </p:nvSpPr>
        <p:spPr bwMode="auto">
          <a:xfrm>
            <a:off x="1627188" y="4438650"/>
            <a:ext cx="754062" cy="10429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1" name="Oval 11"/>
          <p:cNvSpPr>
            <a:spLocks noChangeArrowheads="1"/>
          </p:cNvSpPr>
          <p:nvPr/>
        </p:nvSpPr>
        <p:spPr bwMode="auto">
          <a:xfrm>
            <a:off x="1533525" y="45688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2" name="Oval 12"/>
          <p:cNvSpPr>
            <a:spLocks noChangeArrowheads="1"/>
          </p:cNvSpPr>
          <p:nvPr/>
        </p:nvSpPr>
        <p:spPr bwMode="auto">
          <a:xfrm>
            <a:off x="1533525" y="4737100"/>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3" name="Oval 13"/>
          <p:cNvSpPr>
            <a:spLocks noChangeArrowheads="1"/>
          </p:cNvSpPr>
          <p:nvPr/>
        </p:nvSpPr>
        <p:spPr bwMode="auto">
          <a:xfrm>
            <a:off x="1533525" y="491331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4" name="Oval 14"/>
          <p:cNvSpPr>
            <a:spLocks noChangeArrowheads="1"/>
          </p:cNvSpPr>
          <p:nvPr/>
        </p:nvSpPr>
        <p:spPr bwMode="auto">
          <a:xfrm>
            <a:off x="1533525" y="5070475"/>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5" name="Oval 15"/>
          <p:cNvSpPr>
            <a:spLocks noChangeArrowheads="1"/>
          </p:cNvSpPr>
          <p:nvPr/>
        </p:nvSpPr>
        <p:spPr bwMode="auto">
          <a:xfrm>
            <a:off x="1533525" y="5238750"/>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6" name="Oval 16"/>
          <p:cNvSpPr>
            <a:spLocks noChangeArrowheads="1"/>
          </p:cNvSpPr>
          <p:nvPr/>
        </p:nvSpPr>
        <p:spPr bwMode="auto">
          <a:xfrm>
            <a:off x="2381250" y="45688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7" name="Oval 17"/>
          <p:cNvSpPr>
            <a:spLocks noChangeArrowheads="1"/>
          </p:cNvSpPr>
          <p:nvPr/>
        </p:nvSpPr>
        <p:spPr bwMode="auto">
          <a:xfrm>
            <a:off x="2381250" y="4737100"/>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8" name="Oval 18"/>
          <p:cNvSpPr>
            <a:spLocks noChangeArrowheads="1"/>
          </p:cNvSpPr>
          <p:nvPr/>
        </p:nvSpPr>
        <p:spPr bwMode="auto">
          <a:xfrm>
            <a:off x="2381250" y="491331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9" name="Oval 19"/>
          <p:cNvSpPr>
            <a:spLocks noChangeArrowheads="1"/>
          </p:cNvSpPr>
          <p:nvPr/>
        </p:nvSpPr>
        <p:spPr bwMode="auto">
          <a:xfrm>
            <a:off x="2381250" y="5070475"/>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0" name="Oval 20"/>
          <p:cNvSpPr>
            <a:spLocks noChangeArrowheads="1"/>
          </p:cNvSpPr>
          <p:nvPr/>
        </p:nvSpPr>
        <p:spPr bwMode="auto">
          <a:xfrm>
            <a:off x="2381250" y="5238750"/>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1" name="Rectangle 21"/>
          <p:cNvSpPr>
            <a:spLocks noChangeArrowheads="1"/>
          </p:cNvSpPr>
          <p:nvPr/>
        </p:nvSpPr>
        <p:spPr bwMode="auto">
          <a:xfrm>
            <a:off x="3436938" y="3541713"/>
            <a:ext cx="752475" cy="10445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2" name="Oval 22"/>
          <p:cNvSpPr>
            <a:spLocks noChangeArrowheads="1"/>
          </p:cNvSpPr>
          <p:nvPr/>
        </p:nvSpPr>
        <p:spPr bwMode="auto">
          <a:xfrm>
            <a:off x="3341688" y="367347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3" name="Oval 23"/>
          <p:cNvSpPr>
            <a:spLocks noChangeArrowheads="1"/>
          </p:cNvSpPr>
          <p:nvPr/>
        </p:nvSpPr>
        <p:spPr bwMode="auto">
          <a:xfrm>
            <a:off x="3341688" y="38417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4" name="Oval 24"/>
          <p:cNvSpPr>
            <a:spLocks noChangeArrowheads="1"/>
          </p:cNvSpPr>
          <p:nvPr/>
        </p:nvSpPr>
        <p:spPr bwMode="auto">
          <a:xfrm>
            <a:off x="3341688" y="40195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5" name="Oval 25"/>
          <p:cNvSpPr>
            <a:spLocks noChangeArrowheads="1"/>
          </p:cNvSpPr>
          <p:nvPr/>
        </p:nvSpPr>
        <p:spPr bwMode="auto">
          <a:xfrm>
            <a:off x="3341688" y="41767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6" name="Oval 26"/>
          <p:cNvSpPr>
            <a:spLocks noChangeArrowheads="1"/>
          </p:cNvSpPr>
          <p:nvPr/>
        </p:nvSpPr>
        <p:spPr bwMode="auto">
          <a:xfrm>
            <a:off x="3341688" y="43449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7" name="Oval 27"/>
          <p:cNvSpPr>
            <a:spLocks noChangeArrowheads="1"/>
          </p:cNvSpPr>
          <p:nvPr/>
        </p:nvSpPr>
        <p:spPr bwMode="auto">
          <a:xfrm>
            <a:off x="4189413" y="367347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8" name="Oval 28"/>
          <p:cNvSpPr>
            <a:spLocks noChangeArrowheads="1"/>
          </p:cNvSpPr>
          <p:nvPr/>
        </p:nvSpPr>
        <p:spPr bwMode="auto">
          <a:xfrm>
            <a:off x="4189413" y="38417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9" name="Oval 29"/>
          <p:cNvSpPr>
            <a:spLocks noChangeArrowheads="1"/>
          </p:cNvSpPr>
          <p:nvPr/>
        </p:nvSpPr>
        <p:spPr bwMode="auto">
          <a:xfrm>
            <a:off x="4189413" y="40195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0" name="Oval 30"/>
          <p:cNvSpPr>
            <a:spLocks noChangeArrowheads="1"/>
          </p:cNvSpPr>
          <p:nvPr/>
        </p:nvSpPr>
        <p:spPr bwMode="auto">
          <a:xfrm>
            <a:off x="4189413" y="41767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1" name="Oval 31"/>
          <p:cNvSpPr>
            <a:spLocks noChangeArrowheads="1"/>
          </p:cNvSpPr>
          <p:nvPr/>
        </p:nvSpPr>
        <p:spPr bwMode="auto">
          <a:xfrm>
            <a:off x="4189413" y="43449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2" name="Rectangle 32"/>
          <p:cNvSpPr>
            <a:spLocks noChangeArrowheads="1"/>
          </p:cNvSpPr>
          <p:nvPr/>
        </p:nvSpPr>
        <p:spPr bwMode="auto">
          <a:xfrm>
            <a:off x="5019675" y="4886325"/>
            <a:ext cx="754063" cy="10429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3" name="Oval 33"/>
          <p:cNvSpPr>
            <a:spLocks noChangeArrowheads="1"/>
          </p:cNvSpPr>
          <p:nvPr/>
        </p:nvSpPr>
        <p:spPr bwMode="auto">
          <a:xfrm>
            <a:off x="4924425" y="50165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4" name="Oval 34"/>
          <p:cNvSpPr>
            <a:spLocks noChangeArrowheads="1"/>
          </p:cNvSpPr>
          <p:nvPr/>
        </p:nvSpPr>
        <p:spPr bwMode="auto">
          <a:xfrm>
            <a:off x="4924425" y="51831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5" name="Oval 35"/>
          <p:cNvSpPr>
            <a:spLocks noChangeArrowheads="1"/>
          </p:cNvSpPr>
          <p:nvPr/>
        </p:nvSpPr>
        <p:spPr bwMode="auto">
          <a:xfrm>
            <a:off x="4924425" y="53609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6" name="Oval 36"/>
          <p:cNvSpPr>
            <a:spLocks noChangeArrowheads="1"/>
          </p:cNvSpPr>
          <p:nvPr/>
        </p:nvSpPr>
        <p:spPr bwMode="auto">
          <a:xfrm>
            <a:off x="4924425" y="5518150"/>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7" name="Oval 37"/>
          <p:cNvSpPr>
            <a:spLocks noChangeArrowheads="1"/>
          </p:cNvSpPr>
          <p:nvPr/>
        </p:nvSpPr>
        <p:spPr bwMode="auto">
          <a:xfrm>
            <a:off x="4924425" y="5686425"/>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8" name="Oval 38"/>
          <p:cNvSpPr>
            <a:spLocks noChangeArrowheads="1"/>
          </p:cNvSpPr>
          <p:nvPr/>
        </p:nvSpPr>
        <p:spPr bwMode="auto">
          <a:xfrm>
            <a:off x="5773738" y="501650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9" name="Oval 39"/>
          <p:cNvSpPr>
            <a:spLocks noChangeArrowheads="1"/>
          </p:cNvSpPr>
          <p:nvPr/>
        </p:nvSpPr>
        <p:spPr bwMode="auto">
          <a:xfrm>
            <a:off x="5773738" y="5183188"/>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0" name="Oval 40"/>
          <p:cNvSpPr>
            <a:spLocks noChangeArrowheads="1"/>
          </p:cNvSpPr>
          <p:nvPr/>
        </p:nvSpPr>
        <p:spPr bwMode="auto">
          <a:xfrm>
            <a:off x="5773738" y="536098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1" name="Oval 41"/>
          <p:cNvSpPr>
            <a:spLocks noChangeArrowheads="1"/>
          </p:cNvSpPr>
          <p:nvPr/>
        </p:nvSpPr>
        <p:spPr bwMode="auto">
          <a:xfrm>
            <a:off x="5773738" y="5518150"/>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2" name="Oval 42"/>
          <p:cNvSpPr>
            <a:spLocks noChangeArrowheads="1"/>
          </p:cNvSpPr>
          <p:nvPr/>
        </p:nvSpPr>
        <p:spPr bwMode="auto">
          <a:xfrm>
            <a:off x="5773738" y="5686425"/>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3" name="Text Box 43"/>
          <p:cNvSpPr txBox="1">
            <a:spLocks noChangeArrowheads="1"/>
          </p:cNvSpPr>
          <p:nvPr/>
        </p:nvSpPr>
        <p:spPr bwMode="auto">
          <a:xfrm>
            <a:off x="325438" y="39893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0764" name="Text Box 44"/>
          <p:cNvSpPr txBox="1">
            <a:spLocks noChangeArrowheads="1"/>
          </p:cNvSpPr>
          <p:nvPr/>
        </p:nvSpPr>
        <p:spPr bwMode="auto">
          <a:xfrm>
            <a:off x="8169275" y="4065588"/>
            <a:ext cx="7889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0765" name="Rectangle 45"/>
          <p:cNvSpPr>
            <a:spLocks noChangeArrowheads="1"/>
          </p:cNvSpPr>
          <p:nvPr/>
        </p:nvSpPr>
        <p:spPr bwMode="auto">
          <a:xfrm>
            <a:off x="6678613" y="3989388"/>
            <a:ext cx="754062" cy="10445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6" name="Oval 46"/>
          <p:cNvSpPr>
            <a:spLocks noChangeArrowheads="1"/>
          </p:cNvSpPr>
          <p:nvPr/>
        </p:nvSpPr>
        <p:spPr bwMode="auto">
          <a:xfrm>
            <a:off x="6583363" y="41211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7" name="Oval 47"/>
          <p:cNvSpPr>
            <a:spLocks noChangeArrowheads="1"/>
          </p:cNvSpPr>
          <p:nvPr/>
        </p:nvSpPr>
        <p:spPr bwMode="auto">
          <a:xfrm>
            <a:off x="6583363" y="428942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8" name="Oval 48"/>
          <p:cNvSpPr>
            <a:spLocks noChangeArrowheads="1"/>
          </p:cNvSpPr>
          <p:nvPr/>
        </p:nvSpPr>
        <p:spPr bwMode="auto">
          <a:xfrm>
            <a:off x="6583363" y="446722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9" name="Oval 49"/>
          <p:cNvSpPr>
            <a:spLocks noChangeArrowheads="1"/>
          </p:cNvSpPr>
          <p:nvPr/>
        </p:nvSpPr>
        <p:spPr bwMode="auto">
          <a:xfrm>
            <a:off x="6583363" y="46243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0" name="Oval 50"/>
          <p:cNvSpPr>
            <a:spLocks noChangeArrowheads="1"/>
          </p:cNvSpPr>
          <p:nvPr/>
        </p:nvSpPr>
        <p:spPr bwMode="auto">
          <a:xfrm>
            <a:off x="6583363" y="479266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1" name="Oval 51"/>
          <p:cNvSpPr>
            <a:spLocks noChangeArrowheads="1"/>
          </p:cNvSpPr>
          <p:nvPr/>
        </p:nvSpPr>
        <p:spPr bwMode="auto">
          <a:xfrm>
            <a:off x="7432675" y="4121150"/>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2" name="Oval 52"/>
          <p:cNvSpPr>
            <a:spLocks noChangeArrowheads="1"/>
          </p:cNvSpPr>
          <p:nvPr/>
        </p:nvSpPr>
        <p:spPr bwMode="auto">
          <a:xfrm>
            <a:off x="7432675" y="4289425"/>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3" name="Oval 53"/>
          <p:cNvSpPr>
            <a:spLocks noChangeArrowheads="1"/>
          </p:cNvSpPr>
          <p:nvPr/>
        </p:nvSpPr>
        <p:spPr bwMode="auto">
          <a:xfrm>
            <a:off x="7432675" y="4467225"/>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4" name="Oval 54"/>
          <p:cNvSpPr>
            <a:spLocks noChangeArrowheads="1"/>
          </p:cNvSpPr>
          <p:nvPr/>
        </p:nvSpPr>
        <p:spPr bwMode="auto">
          <a:xfrm>
            <a:off x="7432675" y="462438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5" name="Oval 55"/>
          <p:cNvSpPr>
            <a:spLocks noChangeArrowheads="1"/>
          </p:cNvSpPr>
          <p:nvPr/>
        </p:nvSpPr>
        <p:spPr bwMode="auto">
          <a:xfrm>
            <a:off x="7432675" y="479266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6" name="Line 56"/>
          <p:cNvSpPr>
            <a:spLocks noChangeShapeType="1"/>
          </p:cNvSpPr>
          <p:nvPr/>
        </p:nvSpPr>
        <p:spPr bwMode="auto">
          <a:xfrm flipH="1">
            <a:off x="1220788" y="4000500"/>
            <a:ext cx="127000" cy="5619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7" name="Line 57"/>
          <p:cNvSpPr>
            <a:spLocks noChangeShapeType="1"/>
          </p:cNvSpPr>
          <p:nvPr/>
        </p:nvSpPr>
        <p:spPr bwMode="auto">
          <a:xfrm flipH="1" flipV="1">
            <a:off x="7940675" y="4737100"/>
            <a:ext cx="184150" cy="484188"/>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8" name="Line 58"/>
          <p:cNvSpPr>
            <a:spLocks noChangeShapeType="1"/>
          </p:cNvSpPr>
          <p:nvPr/>
        </p:nvSpPr>
        <p:spPr bwMode="auto">
          <a:xfrm flipH="1">
            <a:off x="4699000" y="4065588"/>
            <a:ext cx="677863" cy="596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9" name="Line 59"/>
          <p:cNvSpPr>
            <a:spLocks noChangeShapeType="1"/>
          </p:cNvSpPr>
          <p:nvPr/>
        </p:nvSpPr>
        <p:spPr bwMode="auto">
          <a:xfrm>
            <a:off x="5754688" y="4065588"/>
            <a:ext cx="468312" cy="9366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80" name="Line 60"/>
          <p:cNvSpPr>
            <a:spLocks noChangeShapeType="1"/>
          </p:cNvSpPr>
          <p:nvPr/>
        </p:nvSpPr>
        <p:spPr bwMode="auto">
          <a:xfrm>
            <a:off x="2663825" y="3692525"/>
            <a:ext cx="161925" cy="7651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81" name="Text Box 61"/>
          <p:cNvSpPr txBox="1">
            <a:spLocks noChangeArrowheads="1"/>
          </p:cNvSpPr>
          <p:nvPr/>
        </p:nvSpPr>
        <p:spPr bwMode="auto">
          <a:xfrm>
            <a:off x="449263" y="45862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0782" name="Text Box 62"/>
          <p:cNvSpPr txBox="1">
            <a:spLocks noChangeArrowheads="1"/>
          </p:cNvSpPr>
          <p:nvPr/>
        </p:nvSpPr>
        <p:spPr bwMode="auto">
          <a:xfrm>
            <a:off x="449263" y="52593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0783" name="Text Box 63"/>
          <p:cNvSpPr txBox="1">
            <a:spLocks noChangeArrowheads="1"/>
          </p:cNvSpPr>
          <p:nvPr/>
        </p:nvSpPr>
        <p:spPr bwMode="auto">
          <a:xfrm>
            <a:off x="1555750" y="40132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0784" name="Text Box 64"/>
          <p:cNvSpPr txBox="1">
            <a:spLocks noChangeArrowheads="1"/>
          </p:cNvSpPr>
          <p:nvPr/>
        </p:nvSpPr>
        <p:spPr bwMode="auto">
          <a:xfrm>
            <a:off x="3348038" y="313213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0785" name="Text Box 65"/>
          <p:cNvSpPr txBox="1">
            <a:spLocks noChangeArrowheads="1"/>
          </p:cNvSpPr>
          <p:nvPr/>
        </p:nvSpPr>
        <p:spPr bwMode="auto">
          <a:xfrm>
            <a:off x="4949825" y="447198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0786" name="Text Box 66"/>
          <p:cNvSpPr txBox="1">
            <a:spLocks noChangeArrowheads="1"/>
          </p:cNvSpPr>
          <p:nvPr/>
        </p:nvSpPr>
        <p:spPr bwMode="auto">
          <a:xfrm>
            <a:off x="6554788" y="356076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0787" name="Text Box 67"/>
          <p:cNvSpPr txBox="1">
            <a:spLocks noChangeArrowheads="1"/>
          </p:cNvSpPr>
          <p:nvPr/>
        </p:nvSpPr>
        <p:spPr bwMode="auto">
          <a:xfrm>
            <a:off x="977900" y="3606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用户线</a:t>
            </a:r>
          </a:p>
        </p:txBody>
      </p:sp>
      <p:sp>
        <p:nvSpPr>
          <p:cNvPr id="30788" name="Text Box 68"/>
          <p:cNvSpPr txBox="1">
            <a:spLocks noChangeArrowheads="1"/>
          </p:cNvSpPr>
          <p:nvPr/>
        </p:nvSpPr>
        <p:spPr bwMode="auto">
          <a:xfrm>
            <a:off x="7716838" y="51562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用户线</a:t>
            </a:r>
          </a:p>
        </p:txBody>
      </p:sp>
      <p:sp>
        <p:nvSpPr>
          <p:cNvPr id="30789" name="Text Box 69"/>
          <p:cNvSpPr txBox="1">
            <a:spLocks noChangeArrowheads="1"/>
          </p:cNvSpPr>
          <p:nvPr/>
        </p:nvSpPr>
        <p:spPr bwMode="auto">
          <a:xfrm>
            <a:off x="5227638" y="366553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中继线</a:t>
            </a:r>
          </a:p>
        </p:txBody>
      </p:sp>
      <p:sp>
        <p:nvSpPr>
          <p:cNvPr id="30790" name="Text Box 70"/>
          <p:cNvSpPr txBox="1">
            <a:spLocks noChangeArrowheads="1"/>
          </p:cNvSpPr>
          <p:nvPr/>
        </p:nvSpPr>
        <p:spPr bwMode="auto">
          <a:xfrm>
            <a:off x="2211388" y="329406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中继线</a:t>
            </a:r>
          </a:p>
        </p:txBody>
      </p:sp>
      <p:sp>
        <p:nvSpPr>
          <p:cNvPr id="30791" name="Text Box 71"/>
          <p:cNvSpPr txBox="1">
            <a:spLocks noChangeArrowheads="1"/>
          </p:cNvSpPr>
          <p:nvPr/>
        </p:nvSpPr>
        <p:spPr bwMode="auto">
          <a:xfrm>
            <a:off x="8362950" y="382905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B</a:t>
            </a:r>
          </a:p>
        </p:txBody>
      </p:sp>
      <p:sp>
        <p:nvSpPr>
          <p:cNvPr id="30792" name="Text Box 72"/>
          <p:cNvSpPr txBox="1">
            <a:spLocks noChangeArrowheads="1"/>
          </p:cNvSpPr>
          <p:nvPr/>
        </p:nvSpPr>
        <p:spPr bwMode="auto">
          <a:xfrm>
            <a:off x="282575" y="5399088"/>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D</a:t>
            </a:r>
          </a:p>
        </p:txBody>
      </p:sp>
      <p:sp>
        <p:nvSpPr>
          <p:cNvPr id="30793" name="Text Box 73"/>
          <p:cNvSpPr txBox="1">
            <a:spLocks noChangeArrowheads="1"/>
          </p:cNvSpPr>
          <p:nvPr/>
        </p:nvSpPr>
        <p:spPr bwMode="auto">
          <a:xfrm>
            <a:off x="250825" y="470217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C</a:t>
            </a:r>
          </a:p>
        </p:txBody>
      </p:sp>
      <p:sp>
        <p:nvSpPr>
          <p:cNvPr id="30794" name="Text Box 74"/>
          <p:cNvSpPr txBox="1">
            <a:spLocks noChangeArrowheads="1"/>
          </p:cNvSpPr>
          <p:nvPr/>
        </p:nvSpPr>
        <p:spPr bwMode="auto">
          <a:xfrm>
            <a:off x="574675" y="3756025"/>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A</a:t>
            </a:r>
          </a:p>
        </p:txBody>
      </p:sp>
      <p:sp>
        <p:nvSpPr>
          <p:cNvPr id="43084" name="Freeform 76"/>
          <p:cNvSpPr>
            <a:spLocks/>
          </p:cNvSpPr>
          <p:nvPr/>
        </p:nvSpPr>
        <p:spPr bwMode="auto">
          <a:xfrm>
            <a:off x="827088" y="3889375"/>
            <a:ext cx="7561262" cy="1524000"/>
          </a:xfrm>
          <a:custGeom>
            <a:avLst/>
            <a:gdLst>
              <a:gd name="T0" fmla="*/ 0 w 4763"/>
              <a:gd name="T1" fmla="*/ 2147483647 h 960"/>
              <a:gd name="T2" fmla="*/ 2147483647 w 4763"/>
              <a:gd name="T3" fmla="*/ 2147483647 h 960"/>
              <a:gd name="T4" fmla="*/ 2147483647 w 4763"/>
              <a:gd name="T5" fmla="*/ 2147483647 h 960"/>
              <a:gd name="T6" fmla="*/ 2147483647 w 4763"/>
              <a:gd name="T7" fmla="*/ 0 h 960"/>
              <a:gd name="T8" fmla="*/ 2147483647 w 4763"/>
              <a:gd name="T9" fmla="*/ 2147483647 h 960"/>
              <a:gd name="T10" fmla="*/ 2147483647 w 4763"/>
              <a:gd name="T11" fmla="*/ 2147483647 h 960"/>
              <a:gd name="T12" fmla="*/ 2147483647 w 4763"/>
              <a:gd name="T13" fmla="*/ 2147483647 h 960"/>
              <a:gd name="T14" fmla="*/ 2147483647 w 4763"/>
              <a:gd name="T15" fmla="*/ 2147483647 h 960"/>
              <a:gd name="T16" fmla="*/ 2147483647 w 4763"/>
              <a:gd name="T17" fmla="*/ 2147483647 h 960"/>
              <a:gd name="T18" fmla="*/ 2147483647 w 4763"/>
              <a:gd name="T19" fmla="*/ 2147483647 h 9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763" h="960">
                <a:moveTo>
                  <a:pt x="0" y="345"/>
                </a:moveTo>
                <a:lnTo>
                  <a:pt x="476" y="448"/>
                </a:lnTo>
                <a:lnTo>
                  <a:pt x="1006" y="686"/>
                </a:lnTo>
                <a:lnTo>
                  <a:pt x="1609" y="0"/>
                </a:lnTo>
                <a:lnTo>
                  <a:pt x="2158" y="211"/>
                </a:lnTo>
                <a:lnTo>
                  <a:pt x="2606" y="750"/>
                </a:lnTo>
                <a:lnTo>
                  <a:pt x="3145" y="960"/>
                </a:lnTo>
                <a:lnTo>
                  <a:pt x="3657" y="485"/>
                </a:lnTo>
                <a:lnTo>
                  <a:pt x="4197" y="604"/>
                </a:lnTo>
                <a:lnTo>
                  <a:pt x="4763" y="436"/>
                </a:lnTo>
              </a:path>
            </a:pathLst>
          </a:custGeom>
          <a:noFill/>
          <a:ln w="76200"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3084"/>
                                        </p:tgtEl>
                                        <p:attrNameLst>
                                          <p:attrName>style.visibility</p:attrName>
                                        </p:attrNameLst>
                                      </p:cBhvr>
                                      <p:to>
                                        <p:strVal val="visible"/>
                                      </p:to>
                                    </p:set>
                                    <p:animEffect transition="in" filter="wipe(left)">
                                      <p:cBhvr>
                                        <p:cTn id="15" dur="2000"/>
                                        <p:tgtEl>
                                          <p:spTgt spid="43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P spid="4308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ctr" eaLnBrk="1" hangingPunct="1"/>
            <a:r>
              <a:rPr lang="zh-CN" altLang="en-US" smtClean="0"/>
              <a:t>电路交换举例</a:t>
            </a:r>
          </a:p>
        </p:txBody>
      </p:sp>
      <p:sp>
        <p:nvSpPr>
          <p:cNvPr id="46083" name="Rectangle 3"/>
          <p:cNvSpPr>
            <a:spLocks noGrp="1" noChangeArrowheads="1"/>
          </p:cNvSpPr>
          <p:nvPr>
            <p:ph type="body" idx="1"/>
          </p:nvPr>
        </p:nvSpPr>
        <p:spPr/>
        <p:txBody>
          <a:bodyPr/>
          <a:lstStyle/>
          <a:p>
            <a:pPr eaLnBrk="1" hangingPunct="1"/>
            <a:r>
              <a:rPr lang="en-US" altLang="zh-CN" smtClean="0"/>
              <a:t>C </a:t>
            </a:r>
            <a:r>
              <a:rPr lang="zh-CN" altLang="en-US" smtClean="0"/>
              <a:t>和 </a:t>
            </a:r>
            <a:r>
              <a:rPr lang="en-US" altLang="zh-CN" smtClean="0"/>
              <a:t>D </a:t>
            </a:r>
            <a:r>
              <a:rPr lang="zh-CN" altLang="en-US" smtClean="0"/>
              <a:t>通话只经过一个本地交换机</a:t>
            </a:r>
          </a:p>
          <a:p>
            <a:pPr eaLnBrk="1" hangingPunct="1"/>
            <a:r>
              <a:rPr lang="zh-CN" altLang="en-US" smtClean="0"/>
              <a:t>通话在 </a:t>
            </a:r>
            <a:r>
              <a:rPr lang="en-US" altLang="zh-CN" smtClean="0"/>
              <a:t>C </a:t>
            </a:r>
            <a:r>
              <a:rPr lang="zh-CN" altLang="en-US" smtClean="0"/>
              <a:t>到 </a:t>
            </a:r>
            <a:r>
              <a:rPr lang="en-US" altLang="zh-CN" smtClean="0"/>
              <a:t>D </a:t>
            </a:r>
            <a:r>
              <a:rPr lang="zh-CN" altLang="en-US" smtClean="0"/>
              <a:t>的连接上进行</a:t>
            </a:r>
          </a:p>
        </p:txBody>
      </p:sp>
      <p:sp>
        <p:nvSpPr>
          <p:cNvPr id="31748" name="Freeform 4"/>
          <p:cNvSpPr>
            <a:spLocks/>
          </p:cNvSpPr>
          <p:nvPr/>
        </p:nvSpPr>
        <p:spPr bwMode="auto">
          <a:xfrm>
            <a:off x="1593850" y="4960938"/>
            <a:ext cx="212725" cy="325437"/>
          </a:xfrm>
          <a:custGeom>
            <a:avLst/>
            <a:gdLst>
              <a:gd name="T0" fmla="*/ 2147483647 w 136"/>
              <a:gd name="T1" fmla="*/ 0 h 210"/>
              <a:gd name="T2" fmla="*/ 2147483647 w 136"/>
              <a:gd name="T3" fmla="*/ 2147483647 h 210"/>
              <a:gd name="T4" fmla="*/ 2147483647 w 136"/>
              <a:gd name="T5" fmla="*/ 2147483647 h 210"/>
              <a:gd name="T6" fmla="*/ 2147483647 w 136"/>
              <a:gd name="T7" fmla="*/ 2147483647 h 210"/>
              <a:gd name="T8" fmla="*/ 2147483647 w 136"/>
              <a:gd name="T9" fmla="*/ 2147483647 h 210"/>
              <a:gd name="T10" fmla="*/ 2147483647 w 136"/>
              <a:gd name="T11" fmla="*/ 2147483647 h 210"/>
              <a:gd name="T12" fmla="*/ 2147483647 w 136"/>
              <a:gd name="T13" fmla="*/ 2147483647 h 210"/>
              <a:gd name="T14" fmla="*/ 0 w 136"/>
              <a:gd name="T15" fmla="*/ 2147483647 h 2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6" h="210">
                <a:moveTo>
                  <a:pt x="9" y="0"/>
                </a:moveTo>
                <a:cubicBezTo>
                  <a:pt x="17" y="1"/>
                  <a:pt x="42" y="2"/>
                  <a:pt x="57" y="6"/>
                </a:cubicBezTo>
                <a:cubicBezTo>
                  <a:pt x="72" y="10"/>
                  <a:pt x="87" y="18"/>
                  <a:pt x="99" y="27"/>
                </a:cubicBezTo>
                <a:cubicBezTo>
                  <a:pt x="111" y="36"/>
                  <a:pt x="124" y="49"/>
                  <a:pt x="129" y="63"/>
                </a:cubicBezTo>
                <a:cubicBezTo>
                  <a:pt x="134" y="77"/>
                  <a:pt x="136" y="97"/>
                  <a:pt x="132" y="114"/>
                </a:cubicBezTo>
                <a:cubicBezTo>
                  <a:pt x="128" y="131"/>
                  <a:pt x="115" y="154"/>
                  <a:pt x="102" y="168"/>
                </a:cubicBezTo>
                <a:cubicBezTo>
                  <a:pt x="89" y="182"/>
                  <a:pt x="68" y="191"/>
                  <a:pt x="51" y="198"/>
                </a:cubicBezTo>
                <a:cubicBezTo>
                  <a:pt x="34" y="205"/>
                  <a:pt x="11" y="208"/>
                  <a:pt x="0" y="21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9" name="Line 5"/>
          <p:cNvSpPr>
            <a:spLocks noChangeShapeType="1"/>
          </p:cNvSpPr>
          <p:nvPr/>
        </p:nvSpPr>
        <p:spPr bwMode="auto">
          <a:xfrm flipV="1">
            <a:off x="873125" y="5286375"/>
            <a:ext cx="711200" cy="488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0" name="Line 6"/>
          <p:cNvSpPr>
            <a:spLocks noChangeShapeType="1"/>
          </p:cNvSpPr>
          <p:nvPr/>
        </p:nvSpPr>
        <p:spPr bwMode="auto">
          <a:xfrm flipV="1">
            <a:off x="877888" y="4964113"/>
            <a:ext cx="711200" cy="13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1" name="Line 7"/>
          <p:cNvSpPr>
            <a:spLocks noChangeShapeType="1"/>
          </p:cNvSpPr>
          <p:nvPr/>
        </p:nvSpPr>
        <p:spPr bwMode="auto">
          <a:xfrm flipV="1">
            <a:off x="7473950" y="4570413"/>
            <a:ext cx="9271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2" name="Line 8"/>
          <p:cNvSpPr>
            <a:spLocks noChangeShapeType="1"/>
          </p:cNvSpPr>
          <p:nvPr/>
        </p:nvSpPr>
        <p:spPr bwMode="auto">
          <a:xfrm>
            <a:off x="731838" y="4456113"/>
            <a:ext cx="847725" cy="169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Freeform 9"/>
          <p:cNvSpPr>
            <a:spLocks/>
          </p:cNvSpPr>
          <p:nvPr/>
        </p:nvSpPr>
        <p:spPr bwMode="auto">
          <a:xfrm>
            <a:off x="1565275" y="3894138"/>
            <a:ext cx="5930900" cy="1524000"/>
          </a:xfrm>
          <a:custGeom>
            <a:avLst/>
            <a:gdLst>
              <a:gd name="T0" fmla="*/ 0 w 3776"/>
              <a:gd name="T1" fmla="*/ 2147483647 h 981"/>
              <a:gd name="T2" fmla="*/ 2147483647 w 3776"/>
              <a:gd name="T3" fmla="*/ 2147483647 h 981"/>
              <a:gd name="T4" fmla="*/ 2147483647 w 3776"/>
              <a:gd name="T5" fmla="*/ 2147483647 h 981"/>
              <a:gd name="T6" fmla="*/ 2147483647 w 3776"/>
              <a:gd name="T7" fmla="*/ 0 h 981"/>
              <a:gd name="T8" fmla="*/ 2147483647 w 3776"/>
              <a:gd name="T9" fmla="*/ 2147483647 h 981"/>
              <a:gd name="T10" fmla="*/ 2147483647 w 3776"/>
              <a:gd name="T11" fmla="*/ 2147483647 h 981"/>
              <a:gd name="T12" fmla="*/ 2147483647 w 3776"/>
              <a:gd name="T13" fmla="*/ 2147483647 h 981"/>
              <a:gd name="T14" fmla="*/ 2147483647 w 3776"/>
              <a:gd name="T15" fmla="*/ 2147483647 h 981"/>
              <a:gd name="T16" fmla="*/ 2147483647 w 3776"/>
              <a:gd name="T17" fmla="*/ 2147483647 h 981"/>
              <a:gd name="T18" fmla="*/ 2147483647 w 3776"/>
              <a:gd name="T19" fmla="*/ 2147483647 h 9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776" h="981">
                <a:moveTo>
                  <a:pt x="0" y="462"/>
                </a:moveTo>
                <a:lnTo>
                  <a:pt x="3" y="463"/>
                </a:lnTo>
                <a:lnTo>
                  <a:pt x="558" y="690"/>
                </a:lnTo>
                <a:lnTo>
                  <a:pt x="1167" y="0"/>
                </a:lnTo>
                <a:lnTo>
                  <a:pt x="1712" y="209"/>
                </a:lnTo>
                <a:lnTo>
                  <a:pt x="2167" y="754"/>
                </a:lnTo>
                <a:lnTo>
                  <a:pt x="2712" y="981"/>
                </a:lnTo>
                <a:lnTo>
                  <a:pt x="3230" y="500"/>
                </a:lnTo>
                <a:lnTo>
                  <a:pt x="3776" y="618"/>
                </a:lnTo>
                <a:lnTo>
                  <a:pt x="3766" y="608"/>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4" name="Rectangle 10"/>
          <p:cNvSpPr>
            <a:spLocks noChangeArrowheads="1"/>
          </p:cNvSpPr>
          <p:nvPr/>
        </p:nvSpPr>
        <p:spPr bwMode="auto">
          <a:xfrm>
            <a:off x="1627188" y="4438650"/>
            <a:ext cx="754062" cy="10429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5" name="Oval 11"/>
          <p:cNvSpPr>
            <a:spLocks noChangeArrowheads="1"/>
          </p:cNvSpPr>
          <p:nvPr/>
        </p:nvSpPr>
        <p:spPr bwMode="auto">
          <a:xfrm>
            <a:off x="1533525" y="45688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6" name="Oval 12"/>
          <p:cNvSpPr>
            <a:spLocks noChangeArrowheads="1"/>
          </p:cNvSpPr>
          <p:nvPr/>
        </p:nvSpPr>
        <p:spPr bwMode="auto">
          <a:xfrm>
            <a:off x="1533525" y="4737100"/>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7" name="Oval 13"/>
          <p:cNvSpPr>
            <a:spLocks noChangeArrowheads="1"/>
          </p:cNvSpPr>
          <p:nvPr/>
        </p:nvSpPr>
        <p:spPr bwMode="auto">
          <a:xfrm>
            <a:off x="1533525" y="491331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8" name="Oval 14"/>
          <p:cNvSpPr>
            <a:spLocks noChangeArrowheads="1"/>
          </p:cNvSpPr>
          <p:nvPr/>
        </p:nvSpPr>
        <p:spPr bwMode="auto">
          <a:xfrm>
            <a:off x="1533525" y="5070475"/>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9" name="Oval 15"/>
          <p:cNvSpPr>
            <a:spLocks noChangeArrowheads="1"/>
          </p:cNvSpPr>
          <p:nvPr/>
        </p:nvSpPr>
        <p:spPr bwMode="auto">
          <a:xfrm>
            <a:off x="1533525" y="5238750"/>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0" name="Oval 16"/>
          <p:cNvSpPr>
            <a:spLocks noChangeArrowheads="1"/>
          </p:cNvSpPr>
          <p:nvPr/>
        </p:nvSpPr>
        <p:spPr bwMode="auto">
          <a:xfrm>
            <a:off x="2381250" y="4568825"/>
            <a:ext cx="93663"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1" name="Oval 17"/>
          <p:cNvSpPr>
            <a:spLocks noChangeArrowheads="1"/>
          </p:cNvSpPr>
          <p:nvPr/>
        </p:nvSpPr>
        <p:spPr bwMode="auto">
          <a:xfrm>
            <a:off x="2381250" y="4737100"/>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2" name="Oval 18"/>
          <p:cNvSpPr>
            <a:spLocks noChangeArrowheads="1"/>
          </p:cNvSpPr>
          <p:nvPr/>
        </p:nvSpPr>
        <p:spPr bwMode="auto">
          <a:xfrm>
            <a:off x="2381250" y="491331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3" name="Oval 19"/>
          <p:cNvSpPr>
            <a:spLocks noChangeArrowheads="1"/>
          </p:cNvSpPr>
          <p:nvPr/>
        </p:nvSpPr>
        <p:spPr bwMode="auto">
          <a:xfrm>
            <a:off x="2381250" y="5070475"/>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4" name="Oval 20"/>
          <p:cNvSpPr>
            <a:spLocks noChangeArrowheads="1"/>
          </p:cNvSpPr>
          <p:nvPr/>
        </p:nvSpPr>
        <p:spPr bwMode="auto">
          <a:xfrm>
            <a:off x="2381250" y="5238750"/>
            <a:ext cx="93663"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5" name="Rectangle 21"/>
          <p:cNvSpPr>
            <a:spLocks noChangeArrowheads="1"/>
          </p:cNvSpPr>
          <p:nvPr/>
        </p:nvSpPr>
        <p:spPr bwMode="auto">
          <a:xfrm>
            <a:off x="3436938" y="3541713"/>
            <a:ext cx="752475" cy="10445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6" name="Oval 22"/>
          <p:cNvSpPr>
            <a:spLocks noChangeArrowheads="1"/>
          </p:cNvSpPr>
          <p:nvPr/>
        </p:nvSpPr>
        <p:spPr bwMode="auto">
          <a:xfrm>
            <a:off x="3341688" y="367347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7" name="Oval 23"/>
          <p:cNvSpPr>
            <a:spLocks noChangeArrowheads="1"/>
          </p:cNvSpPr>
          <p:nvPr/>
        </p:nvSpPr>
        <p:spPr bwMode="auto">
          <a:xfrm>
            <a:off x="3341688" y="38417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8" name="Oval 24"/>
          <p:cNvSpPr>
            <a:spLocks noChangeArrowheads="1"/>
          </p:cNvSpPr>
          <p:nvPr/>
        </p:nvSpPr>
        <p:spPr bwMode="auto">
          <a:xfrm>
            <a:off x="3341688" y="40195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9" name="Oval 25"/>
          <p:cNvSpPr>
            <a:spLocks noChangeArrowheads="1"/>
          </p:cNvSpPr>
          <p:nvPr/>
        </p:nvSpPr>
        <p:spPr bwMode="auto">
          <a:xfrm>
            <a:off x="3341688" y="41767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0" name="Oval 26"/>
          <p:cNvSpPr>
            <a:spLocks noChangeArrowheads="1"/>
          </p:cNvSpPr>
          <p:nvPr/>
        </p:nvSpPr>
        <p:spPr bwMode="auto">
          <a:xfrm>
            <a:off x="3341688" y="43449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1" name="Oval 27"/>
          <p:cNvSpPr>
            <a:spLocks noChangeArrowheads="1"/>
          </p:cNvSpPr>
          <p:nvPr/>
        </p:nvSpPr>
        <p:spPr bwMode="auto">
          <a:xfrm>
            <a:off x="4189413" y="367347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2" name="Oval 28"/>
          <p:cNvSpPr>
            <a:spLocks noChangeArrowheads="1"/>
          </p:cNvSpPr>
          <p:nvPr/>
        </p:nvSpPr>
        <p:spPr bwMode="auto">
          <a:xfrm>
            <a:off x="4189413" y="38417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3" name="Oval 29"/>
          <p:cNvSpPr>
            <a:spLocks noChangeArrowheads="1"/>
          </p:cNvSpPr>
          <p:nvPr/>
        </p:nvSpPr>
        <p:spPr bwMode="auto">
          <a:xfrm>
            <a:off x="4189413" y="40195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4" name="Oval 30"/>
          <p:cNvSpPr>
            <a:spLocks noChangeArrowheads="1"/>
          </p:cNvSpPr>
          <p:nvPr/>
        </p:nvSpPr>
        <p:spPr bwMode="auto">
          <a:xfrm>
            <a:off x="4189413" y="417671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5" name="Oval 31"/>
          <p:cNvSpPr>
            <a:spLocks noChangeArrowheads="1"/>
          </p:cNvSpPr>
          <p:nvPr/>
        </p:nvSpPr>
        <p:spPr bwMode="auto">
          <a:xfrm>
            <a:off x="4189413" y="43449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6" name="Rectangle 32"/>
          <p:cNvSpPr>
            <a:spLocks noChangeArrowheads="1"/>
          </p:cNvSpPr>
          <p:nvPr/>
        </p:nvSpPr>
        <p:spPr bwMode="auto">
          <a:xfrm>
            <a:off x="5019675" y="4886325"/>
            <a:ext cx="754063" cy="104298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7" name="Oval 33"/>
          <p:cNvSpPr>
            <a:spLocks noChangeArrowheads="1"/>
          </p:cNvSpPr>
          <p:nvPr/>
        </p:nvSpPr>
        <p:spPr bwMode="auto">
          <a:xfrm>
            <a:off x="4924425" y="5016500"/>
            <a:ext cx="95250"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8" name="Oval 34"/>
          <p:cNvSpPr>
            <a:spLocks noChangeArrowheads="1"/>
          </p:cNvSpPr>
          <p:nvPr/>
        </p:nvSpPr>
        <p:spPr bwMode="auto">
          <a:xfrm>
            <a:off x="4924425" y="51831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9" name="Oval 35"/>
          <p:cNvSpPr>
            <a:spLocks noChangeArrowheads="1"/>
          </p:cNvSpPr>
          <p:nvPr/>
        </p:nvSpPr>
        <p:spPr bwMode="auto">
          <a:xfrm>
            <a:off x="4924425" y="5360988"/>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0" name="Oval 36"/>
          <p:cNvSpPr>
            <a:spLocks noChangeArrowheads="1"/>
          </p:cNvSpPr>
          <p:nvPr/>
        </p:nvSpPr>
        <p:spPr bwMode="auto">
          <a:xfrm>
            <a:off x="4924425" y="5518150"/>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1" name="Oval 37"/>
          <p:cNvSpPr>
            <a:spLocks noChangeArrowheads="1"/>
          </p:cNvSpPr>
          <p:nvPr/>
        </p:nvSpPr>
        <p:spPr bwMode="auto">
          <a:xfrm>
            <a:off x="4924425" y="5686425"/>
            <a:ext cx="95250"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2" name="Oval 38"/>
          <p:cNvSpPr>
            <a:spLocks noChangeArrowheads="1"/>
          </p:cNvSpPr>
          <p:nvPr/>
        </p:nvSpPr>
        <p:spPr bwMode="auto">
          <a:xfrm>
            <a:off x="5773738" y="5016500"/>
            <a:ext cx="93662" cy="936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3" name="Oval 39"/>
          <p:cNvSpPr>
            <a:spLocks noChangeArrowheads="1"/>
          </p:cNvSpPr>
          <p:nvPr/>
        </p:nvSpPr>
        <p:spPr bwMode="auto">
          <a:xfrm>
            <a:off x="5773738" y="5183188"/>
            <a:ext cx="93662"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4" name="Oval 40"/>
          <p:cNvSpPr>
            <a:spLocks noChangeArrowheads="1"/>
          </p:cNvSpPr>
          <p:nvPr/>
        </p:nvSpPr>
        <p:spPr bwMode="auto">
          <a:xfrm>
            <a:off x="5773738" y="5360988"/>
            <a:ext cx="93662"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5" name="Oval 41"/>
          <p:cNvSpPr>
            <a:spLocks noChangeArrowheads="1"/>
          </p:cNvSpPr>
          <p:nvPr/>
        </p:nvSpPr>
        <p:spPr bwMode="auto">
          <a:xfrm>
            <a:off x="5773738" y="5518150"/>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6" name="Oval 42"/>
          <p:cNvSpPr>
            <a:spLocks noChangeArrowheads="1"/>
          </p:cNvSpPr>
          <p:nvPr/>
        </p:nvSpPr>
        <p:spPr bwMode="auto">
          <a:xfrm>
            <a:off x="5773738" y="5686425"/>
            <a:ext cx="93662" cy="952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87" name="Text Box 43"/>
          <p:cNvSpPr txBox="1">
            <a:spLocks noChangeArrowheads="1"/>
          </p:cNvSpPr>
          <p:nvPr/>
        </p:nvSpPr>
        <p:spPr bwMode="auto">
          <a:xfrm>
            <a:off x="325438" y="39893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1788" name="Text Box 44"/>
          <p:cNvSpPr txBox="1">
            <a:spLocks noChangeArrowheads="1"/>
          </p:cNvSpPr>
          <p:nvPr/>
        </p:nvSpPr>
        <p:spPr bwMode="auto">
          <a:xfrm>
            <a:off x="8169275" y="4065588"/>
            <a:ext cx="7889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1789" name="Rectangle 45"/>
          <p:cNvSpPr>
            <a:spLocks noChangeArrowheads="1"/>
          </p:cNvSpPr>
          <p:nvPr/>
        </p:nvSpPr>
        <p:spPr bwMode="auto">
          <a:xfrm>
            <a:off x="6678613" y="3989388"/>
            <a:ext cx="754062" cy="10445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0" name="Oval 46"/>
          <p:cNvSpPr>
            <a:spLocks noChangeArrowheads="1"/>
          </p:cNvSpPr>
          <p:nvPr/>
        </p:nvSpPr>
        <p:spPr bwMode="auto">
          <a:xfrm>
            <a:off x="6583363" y="4121150"/>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1" name="Oval 47"/>
          <p:cNvSpPr>
            <a:spLocks noChangeArrowheads="1"/>
          </p:cNvSpPr>
          <p:nvPr/>
        </p:nvSpPr>
        <p:spPr bwMode="auto">
          <a:xfrm>
            <a:off x="6583363" y="428942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2" name="Oval 48"/>
          <p:cNvSpPr>
            <a:spLocks noChangeArrowheads="1"/>
          </p:cNvSpPr>
          <p:nvPr/>
        </p:nvSpPr>
        <p:spPr bwMode="auto">
          <a:xfrm>
            <a:off x="6583363" y="4467225"/>
            <a:ext cx="95250"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3" name="Oval 49"/>
          <p:cNvSpPr>
            <a:spLocks noChangeArrowheads="1"/>
          </p:cNvSpPr>
          <p:nvPr/>
        </p:nvSpPr>
        <p:spPr bwMode="auto">
          <a:xfrm>
            <a:off x="6583363" y="4624388"/>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4" name="Oval 50"/>
          <p:cNvSpPr>
            <a:spLocks noChangeArrowheads="1"/>
          </p:cNvSpPr>
          <p:nvPr/>
        </p:nvSpPr>
        <p:spPr bwMode="auto">
          <a:xfrm>
            <a:off x="6583363" y="4792663"/>
            <a:ext cx="95250"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5" name="Oval 51"/>
          <p:cNvSpPr>
            <a:spLocks noChangeArrowheads="1"/>
          </p:cNvSpPr>
          <p:nvPr/>
        </p:nvSpPr>
        <p:spPr bwMode="auto">
          <a:xfrm>
            <a:off x="7432675" y="4121150"/>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6" name="Oval 52"/>
          <p:cNvSpPr>
            <a:spLocks noChangeArrowheads="1"/>
          </p:cNvSpPr>
          <p:nvPr/>
        </p:nvSpPr>
        <p:spPr bwMode="auto">
          <a:xfrm>
            <a:off x="7432675" y="4289425"/>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7" name="Oval 53"/>
          <p:cNvSpPr>
            <a:spLocks noChangeArrowheads="1"/>
          </p:cNvSpPr>
          <p:nvPr/>
        </p:nvSpPr>
        <p:spPr bwMode="auto">
          <a:xfrm>
            <a:off x="7432675" y="4467225"/>
            <a:ext cx="93663" cy="920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8" name="Oval 54"/>
          <p:cNvSpPr>
            <a:spLocks noChangeArrowheads="1"/>
          </p:cNvSpPr>
          <p:nvPr/>
        </p:nvSpPr>
        <p:spPr bwMode="auto">
          <a:xfrm>
            <a:off x="7432675" y="4624388"/>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9" name="Oval 55"/>
          <p:cNvSpPr>
            <a:spLocks noChangeArrowheads="1"/>
          </p:cNvSpPr>
          <p:nvPr/>
        </p:nvSpPr>
        <p:spPr bwMode="auto">
          <a:xfrm>
            <a:off x="7432675" y="4792663"/>
            <a:ext cx="93663" cy="9366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0" name="Line 56"/>
          <p:cNvSpPr>
            <a:spLocks noChangeShapeType="1"/>
          </p:cNvSpPr>
          <p:nvPr/>
        </p:nvSpPr>
        <p:spPr bwMode="auto">
          <a:xfrm flipH="1">
            <a:off x="1220788" y="4000500"/>
            <a:ext cx="127000" cy="5619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1" name="Line 57"/>
          <p:cNvSpPr>
            <a:spLocks noChangeShapeType="1"/>
          </p:cNvSpPr>
          <p:nvPr/>
        </p:nvSpPr>
        <p:spPr bwMode="auto">
          <a:xfrm flipH="1" flipV="1">
            <a:off x="7940675" y="4737100"/>
            <a:ext cx="184150" cy="484188"/>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2" name="Line 58"/>
          <p:cNvSpPr>
            <a:spLocks noChangeShapeType="1"/>
          </p:cNvSpPr>
          <p:nvPr/>
        </p:nvSpPr>
        <p:spPr bwMode="auto">
          <a:xfrm flipH="1">
            <a:off x="4699000" y="4065588"/>
            <a:ext cx="677863" cy="596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3" name="Line 59"/>
          <p:cNvSpPr>
            <a:spLocks noChangeShapeType="1"/>
          </p:cNvSpPr>
          <p:nvPr/>
        </p:nvSpPr>
        <p:spPr bwMode="auto">
          <a:xfrm>
            <a:off x="5754688" y="4065588"/>
            <a:ext cx="468312" cy="9366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4" name="Line 60"/>
          <p:cNvSpPr>
            <a:spLocks noChangeShapeType="1"/>
          </p:cNvSpPr>
          <p:nvPr/>
        </p:nvSpPr>
        <p:spPr bwMode="auto">
          <a:xfrm>
            <a:off x="2663825" y="3692525"/>
            <a:ext cx="161925" cy="76517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805" name="Text Box 61"/>
          <p:cNvSpPr txBox="1">
            <a:spLocks noChangeArrowheads="1"/>
          </p:cNvSpPr>
          <p:nvPr/>
        </p:nvSpPr>
        <p:spPr bwMode="auto">
          <a:xfrm>
            <a:off x="449263" y="45862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1806" name="Text Box 62"/>
          <p:cNvSpPr txBox="1">
            <a:spLocks noChangeArrowheads="1"/>
          </p:cNvSpPr>
          <p:nvPr/>
        </p:nvSpPr>
        <p:spPr bwMode="auto">
          <a:xfrm>
            <a:off x="449263" y="5259388"/>
            <a:ext cx="790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4400">
                <a:latin typeface="Wingdings" pitchFamily="2" charset="2"/>
              </a:rPr>
              <a:t>(</a:t>
            </a:r>
          </a:p>
        </p:txBody>
      </p:sp>
      <p:sp>
        <p:nvSpPr>
          <p:cNvPr id="31807" name="Text Box 63"/>
          <p:cNvSpPr txBox="1">
            <a:spLocks noChangeArrowheads="1"/>
          </p:cNvSpPr>
          <p:nvPr/>
        </p:nvSpPr>
        <p:spPr bwMode="auto">
          <a:xfrm>
            <a:off x="1555750" y="40132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1808" name="Text Box 64"/>
          <p:cNvSpPr txBox="1">
            <a:spLocks noChangeArrowheads="1"/>
          </p:cNvSpPr>
          <p:nvPr/>
        </p:nvSpPr>
        <p:spPr bwMode="auto">
          <a:xfrm>
            <a:off x="3348038" y="313213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1809" name="Text Box 65"/>
          <p:cNvSpPr txBox="1">
            <a:spLocks noChangeArrowheads="1"/>
          </p:cNvSpPr>
          <p:nvPr/>
        </p:nvSpPr>
        <p:spPr bwMode="auto">
          <a:xfrm>
            <a:off x="4949825" y="447198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1810" name="Text Box 66"/>
          <p:cNvSpPr txBox="1">
            <a:spLocks noChangeArrowheads="1"/>
          </p:cNvSpPr>
          <p:nvPr/>
        </p:nvSpPr>
        <p:spPr bwMode="auto">
          <a:xfrm>
            <a:off x="6554788" y="356076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交换机</a:t>
            </a:r>
          </a:p>
        </p:txBody>
      </p:sp>
      <p:sp>
        <p:nvSpPr>
          <p:cNvPr id="31811" name="Text Box 67"/>
          <p:cNvSpPr txBox="1">
            <a:spLocks noChangeArrowheads="1"/>
          </p:cNvSpPr>
          <p:nvPr/>
        </p:nvSpPr>
        <p:spPr bwMode="auto">
          <a:xfrm>
            <a:off x="977900" y="3606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用户线</a:t>
            </a:r>
          </a:p>
        </p:txBody>
      </p:sp>
      <p:sp>
        <p:nvSpPr>
          <p:cNvPr id="31812" name="Text Box 68"/>
          <p:cNvSpPr txBox="1">
            <a:spLocks noChangeArrowheads="1"/>
          </p:cNvSpPr>
          <p:nvPr/>
        </p:nvSpPr>
        <p:spPr bwMode="auto">
          <a:xfrm>
            <a:off x="7716838" y="51562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用户线</a:t>
            </a:r>
          </a:p>
        </p:txBody>
      </p:sp>
      <p:sp>
        <p:nvSpPr>
          <p:cNvPr id="31813" name="Text Box 69"/>
          <p:cNvSpPr txBox="1">
            <a:spLocks noChangeArrowheads="1"/>
          </p:cNvSpPr>
          <p:nvPr/>
        </p:nvSpPr>
        <p:spPr bwMode="auto">
          <a:xfrm>
            <a:off x="5227638" y="366553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中继线</a:t>
            </a:r>
          </a:p>
        </p:txBody>
      </p:sp>
      <p:sp>
        <p:nvSpPr>
          <p:cNvPr id="31814" name="Text Box 70"/>
          <p:cNvSpPr txBox="1">
            <a:spLocks noChangeArrowheads="1"/>
          </p:cNvSpPr>
          <p:nvPr/>
        </p:nvSpPr>
        <p:spPr bwMode="auto">
          <a:xfrm>
            <a:off x="2211388" y="3294063"/>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中继线</a:t>
            </a:r>
          </a:p>
        </p:txBody>
      </p:sp>
      <p:sp>
        <p:nvSpPr>
          <p:cNvPr id="31815" name="Text Box 71"/>
          <p:cNvSpPr txBox="1">
            <a:spLocks noChangeArrowheads="1"/>
          </p:cNvSpPr>
          <p:nvPr/>
        </p:nvSpPr>
        <p:spPr bwMode="auto">
          <a:xfrm>
            <a:off x="8362950" y="382905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B</a:t>
            </a:r>
          </a:p>
        </p:txBody>
      </p:sp>
      <p:sp>
        <p:nvSpPr>
          <p:cNvPr id="31816" name="Text Box 72"/>
          <p:cNvSpPr txBox="1">
            <a:spLocks noChangeArrowheads="1"/>
          </p:cNvSpPr>
          <p:nvPr/>
        </p:nvSpPr>
        <p:spPr bwMode="auto">
          <a:xfrm>
            <a:off x="282575" y="5399088"/>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D</a:t>
            </a:r>
          </a:p>
        </p:txBody>
      </p:sp>
      <p:sp>
        <p:nvSpPr>
          <p:cNvPr id="31817" name="Text Box 73"/>
          <p:cNvSpPr txBox="1">
            <a:spLocks noChangeArrowheads="1"/>
          </p:cNvSpPr>
          <p:nvPr/>
        </p:nvSpPr>
        <p:spPr bwMode="auto">
          <a:xfrm>
            <a:off x="250825" y="470217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C</a:t>
            </a:r>
          </a:p>
        </p:txBody>
      </p:sp>
      <p:sp>
        <p:nvSpPr>
          <p:cNvPr id="31818" name="Text Box 74"/>
          <p:cNvSpPr txBox="1">
            <a:spLocks noChangeArrowheads="1"/>
          </p:cNvSpPr>
          <p:nvPr/>
        </p:nvSpPr>
        <p:spPr bwMode="auto">
          <a:xfrm>
            <a:off x="574675" y="3756025"/>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A</a:t>
            </a:r>
          </a:p>
        </p:txBody>
      </p:sp>
      <p:grpSp>
        <p:nvGrpSpPr>
          <p:cNvPr id="46159" name="Group 79"/>
          <p:cNvGrpSpPr>
            <a:grpSpLocks/>
          </p:cNvGrpSpPr>
          <p:nvPr/>
        </p:nvGrpSpPr>
        <p:grpSpPr bwMode="auto">
          <a:xfrm>
            <a:off x="971550" y="4940300"/>
            <a:ext cx="849313" cy="720725"/>
            <a:chOff x="612" y="3112"/>
            <a:chExt cx="535" cy="454"/>
          </a:xfrm>
        </p:grpSpPr>
        <p:sp>
          <p:nvSpPr>
            <p:cNvPr id="31820" name="Freeform 75"/>
            <p:cNvSpPr>
              <a:spLocks/>
            </p:cNvSpPr>
            <p:nvPr/>
          </p:nvSpPr>
          <p:spPr bwMode="auto">
            <a:xfrm>
              <a:off x="1014" y="3112"/>
              <a:ext cx="133" cy="227"/>
            </a:xfrm>
            <a:custGeom>
              <a:avLst/>
              <a:gdLst>
                <a:gd name="T0" fmla="*/ 0 w 133"/>
                <a:gd name="T1" fmla="*/ 2 h 227"/>
                <a:gd name="T2" fmla="*/ 54 w 133"/>
                <a:gd name="T3" fmla="*/ 5 h 227"/>
                <a:gd name="T4" fmla="*/ 97 w 133"/>
                <a:gd name="T5" fmla="*/ 30 h 227"/>
                <a:gd name="T6" fmla="*/ 126 w 133"/>
                <a:gd name="T7" fmla="*/ 66 h 227"/>
                <a:gd name="T8" fmla="*/ 129 w 133"/>
                <a:gd name="T9" fmla="*/ 115 h 227"/>
                <a:gd name="T10" fmla="*/ 100 w 133"/>
                <a:gd name="T11" fmla="*/ 168 h 227"/>
                <a:gd name="T12" fmla="*/ 66 w 133"/>
                <a:gd name="T13" fmla="*/ 194 h 227"/>
                <a:gd name="T14" fmla="*/ 9 w 133"/>
                <a:gd name="T15" fmla="*/ 227 h 2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3" h="227">
                  <a:moveTo>
                    <a:pt x="0" y="2"/>
                  </a:moveTo>
                  <a:cubicBezTo>
                    <a:pt x="9" y="2"/>
                    <a:pt x="38" y="0"/>
                    <a:pt x="54" y="5"/>
                  </a:cubicBezTo>
                  <a:cubicBezTo>
                    <a:pt x="70" y="10"/>
                    <a:pt x="85" y="20"/>
                    <a:pt x="97" y="30"/>
                  </a:cubicBezTo>
                  <a:cubicBezTo>
                    <a:pt x="109" y="40"/>
                    <a:pt x="121" y="52"/>
                    <a:pt x="126" y="66"/>
                  </a:cubicBezTo>
                  <a:cubicBezTo>
                    <a:pt x="131" y="79"/>
                    <a:pt x="133" y="99"/>
                    <a:pt x="129" y="115"/>
                  </a:cubicBezTo>
                  <a:cubicBezTo>
                    <a:pt x="125" y="132"/>
                    <a:pt x="110" y="155"/>
                    <a:pt x="100" y="168"/>
                  </a:cubicBezTo>
                  <a:cubicBezTo>
                    <a:pt x="90" y="181"/>
                    <a:pt x="81" y="184"/>
                    <a:pt x="66" y="194"/>
                  </a:cubicBezTo>
                  <a:cubicBezTo>
                    <a:pt x="51" y="204"/>
                    <a:pt x="21" y="220"/>
                    <a:pt x="9" y="227"/>
                  </a:cubicBezTo>
                </a:path>
              </a:pathLst>
            </a:custGeom>
            <a:noFill/>
            <a:ln w="76200" cmpd="sng">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1" name="Line 76"/>
            <p:cNvSpPr>
              <a:spLocks noChangeShapeType="1"/>
            </p:cNvSpPr>
            <p:nvPr/>
          </p:nvSpPr>
          <p:spPr bwMode="auto">
            <a:xfrm flipV="1">
              <a:off x="612" y="3113"/>
              <a:ext cx="408" cy="9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2" name="Line 77"/>
            <p:cNvSpPr>
              <a:spLocks noChangeShapeType="1"/>
            </p:cNvSpPr>
            <p:nvPr/>
          </p:nvSpPr>
          <p:spPr bwMode="auto">
            <a:xfrm flipV="1">
              <a:off x="612" y="3333"/>
              <a:ext cx="420" cy="233"/>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6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8"/>
          <p:cNvSpPr>
            <a:spLocks noChangeShapeType="1"/>
          </p:cNvSpPr>
          <p:nvPr/>
        </p:nvSpPr>
        <p:spPr bwMode="auto">
          <a:xfrm>
            <a:off x="1979613" y="3286125"/>
            <a:ext cx="5184775"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1" name="Text Box 9"/>
          <p:cNvSpPr txBox="1">
            <a:spLocks noChangeArrowheads="1"/>
          </p:cNvSpPr>
          <p:nvPr/>
        </p:nvSpPr>
        <p:spPr bwMode="auto">
          <a:xfrm>
            <a:off x="4284663" y="3046413"/>
            <a:ext cx="692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报文</a:t>
            </a:r>
          </a:p>
        </p:txBody>
      </p:sp>
      <p:sp>
        <p:nvSpPr>
          <p:cNvPr id="32772" name="Rectangle 2"/>
          <p:cNvSpPr>
            <a:spLocks noGrp="1" noChangeArrowheads="1"/>
          </p:cNvSpPr>
          <p:nvPr>
            <p:ph type="title"/>
          </p:nvPr>
        </p:nvSpPr>
        <p:spPr/>
        <p:txBody>
          <a:bodyPr/>
          <a:lstStyle/>
          <a:p>
            <a:pPr algn="ctr" eaLnBrk="1" hangingPunct="1"/>
            <a:r>
              <a:rPr lang="en-US" altLang="zh-CN" smtClean="0"/>
              <a:t>2. </a:t>
            </a:r>
            <a:r>
              <a:rPr lang="zh-CN" altLang="en-US" smtClean="0"/>
              <a:t>分组交换的主要特点 </a:t>
            </a:r>
          </a:p>
        </p:txBody>
      </p:sp>
      <p:sp>
        <p:nvSpPr>
          <p:cNvPr id="32773" name="Rectangle 3"/>
          <p:cNvSpPr>
            <a:spLocks noGrp="1" noChangeArrowheads="1"/>
          </p:cNvSpPr>
          <p:nvPr>
            <p:ph type="body" idx="1"/>
          </p:nvPr>
        </p:nvSpPr>
        <p:spPr>
          <a:xfrm>
            <a:off x="1042988" y="1906588"/>
            <a:ext cx="7772400" cy="4114800"/>
          </a:xfrm>
        </p:spPr>
        <p:txBody>
          <a:bodyPr/>
          <a:lstStyle/>
          <a:p>
            <a:pPr eaLnBrk="1" hangingPunct="1"/>
            <a:r>
              <a:rPr lang="zh-CN" altLang="en-US" smtClean="0"/>
              <a:t>在发送端，先把较长的报文</a:t>
            </a:r>
            <a:r>
              <a:rPr lang="zh-CN" altLang="en-US" smtClean="0">
                <a:solidFill>
                  <a:schemeClr val="hlink"/>
                </a:solidFill>
              </a:rPr>
              <a:t>划分成较短的、固定长度的数据段</a:t>
            </a:r>
            <a:r>
              <a:rPr lang="zh-CN" altLang="en-US" smtClean="0"/>
              <a:t>。 </a:t>
            </a:r>
          </a:p>
        </p:txBody>
      </p:sp>
      <p:grpSp>
        <p:nvGrpSpPr>
          <p:cNvPr id="32774" name="Group 77"/>
          <p:cNvGrpSpPr>
            <a:grpSpLocks/>
          </p:cNvGrpSpPr>
          <p:nvPr/>
        </p:nvGrpSpPr>
        <p:grpSpPr bwMode="auto">
          <a:xfrm>
            <a:off x="1908175" y="3502025"/>
            <a:ext cx="5264150" cy="431800"/>
            <a:chOff x="1202" y="2206"/>
            <a:chExt cx="3316" cy="272"/>
          </a:xfrm>
        </p:grpSpPr>
        <p:grpSp>
          <p:nvGrpSpPr>
            <p:cNvPr id="32778" name="Group 75"/>
            <p:cNvGrpSpPr>
              <a:grpSpLocks/>
            </p:cNvGrpSpPr>
            <p:nvPr/>
          </p:nvGrpSpPr>
          <p:grpSpPr bwMode="auto">
            <a:xfrm>
              <a:off x="1247" y="2206"/>
              <a:ext cx="3266" cy="272"/>
              <a:chOff x="1247" y="2931"/>
              <a:chExt cx="3266" cy="272"/>
            </a:xfrm>
          </p:grpSpPr>
          <p:sp>
            <p:nvSpPr>
              <p:cNvPr id="32780" name="Rectangle 70"/>
              <p:cNvSpPr>
                <a:spLocks noChangeArrowheads="1"/>
              </p:cNvSpPr>
              <p:nvPr/>
            </p:nvSpPr>
            <p:spPr bwMode="auto">
              <a:xfrm>
                <a:off x="1248"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a:solidFill>
                    <a:srgbClr val="333399"/>
                  </a:solidFill>
                  <a:ea typeface="黑体" pitchFamily="49" charset="-122"/>
                </a:endParaRPr>
              </a:p>
            </p:txBody>
          </p:sp>
          <p:sp>
            <p:nvSpPr>
              <p:cNvPr id="32781" name="Rectangle 71"/>
              <p:cNvSpPr>
                <a:spLocks noChangeArrowheads="1"/>
              </p:cNvSpPr>
              <p:nvPr/>
            </p:nvSpPr>
            <p:spPr bwMode="auto">
              <a:xfrm>
                <a:off x="2336"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a:solidFill>
                    <a:srgbClr val="333399"/>
                  </a:solidFill>
                  <a:latin typeface="Tahoma" pitchFamily="34" charset="0"/>
                  <a:ea typeface="黑体" pitchFamily="49" charset="-122"/>
                </a:endParaRPr>
              </a:p>
            </p:txBody>
          </p:sp>
          <p:sp>
            <p:nvSpPr>
              <p:cNvPr id="32782" name="Rectangle 72"/>
              <p:cNvSpPr>
                <a:spLocks noChangeArrowheads="1"/>
              </p:cNvSpPr>
              <p:nvPr/>
            </p:nvSpPr>
            <p:spPr bwMode="auto">
              <a:xfrm>
                <a:off x="3425"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a:solidFill>
                    <a:srgbClr val="333399"/>
                  </a:solidFill>
                  <a:ea typeface="黑体" pitchFamily="49" charset="-122"/>
                </a:endParaRPr>
              </a:p>
            </p:txBody>
          </p:sp>
          <p:sp>
            <p:nvSpPr>
              <p:cNvPr id="32783" name="Rectangle 74"/>
              <p:cNvSpPr>
                <a:spLocks noChangeArrowheads="1"/>
              </p:cNvSpPr>
              <p:nvPr/>
            </p:nvSpPr>
            <p:spPr bwMode="auto">
              <a:xfrm>
                <a:off x="1247" y="2931"/>
                <a:ext cx="3266" cy="27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779" name="Text Box 76"/>
            <p:cNvSpPr txBox="1">
              <a:spLocks noChangeArrowheads="1"/>
            </p:cNvSpPr>
            <p:nvPr/>
          </p:nvSpPr>
          <p:spPr bwMode="auto">
            <a:xfrm>
              <a:off x="1202" y="2219"/>
              <a:ext cx="3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a:solidFill>
                    <a:srgbClr val="333399"/>
                  </a:solidFill>
                </a:rPr>
                <a:t>1101000110101010110101011100010011010010</a:t>
              </a:r>
            </a:p>
          </p:txBody>
        </p:sp>
      </p:grpSp>
      <p:grpSp>
        <p:nvGrpSpPr>
          <p:cNvPr id="49233" name="Group 81"/>
          <p:cNvGrpSpPr>
            <a:grpSpLocks/>
          </p:cNvGrpSpPr>
          <p:nvPr/>
        </p:nvGrpSpPr>
        <p:grpSpPr bwMode="auto">
          <a:xfrm>
            <a:off x="3025775" y="3933825"/>
            <a:ext cx="3028950" cy="1416050"/>
            <a:chOff x="1906" y="2478"/>
            <a:chExt cx="1908" cy="892"/>
          </a:xfrm>
        </p:grpSpPr>
        <p:sp>
          <p:nvSpPr>
            <p:cNvPr id="32776" name="Text Box 78"/>
            <p:cNvSpPr txBox="1">
              <a:spLocks noChangeArrowheads="1"/>
            </p:cNvSpPr>
            <p:nvPr/>
          </p:nvSpPr>
          <p:spPr bwMode="auto">
            <a:xfrm>
              <a:off x="1906" y="2774"/>
              <a:ext cx="1908"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lang="zh-CN" altLang="en-US" sz="2800">
                  <a:solidFill>
                    <a:srgbClr val="333399"/>
                  </a:solidFill>
                  <a:latin typeface="Tahoma" pitchFamily="34" charset="0"/>
                  <a:ea typeface="黑体" pitchFamily="49" charset="-122"/>
                </a:rPr>
                <a:t>假定这个报文较长</a:t>
              </a:r>
            </a:p>
            <a:p>
              <a:pPr algn="ctr" eaLnBrk="1" hangingPunct="1"/>
              <a:r>
                <a:rPr lang="zh-CN" altLang="en-US" sz="2800">
                  <a:solidFill>
                    <a:srgbClr val="333399"/>
                  </a:solidFill>
                  <a:latin typeface="Tahoma" pitchFamily="34" charset="0"/>
                  <a:ea typeface="黑体" pitchFamily="49" charset="-122"/>
                </a:rPr>
                <a:t>不便于传输</a:t>
              </a:r>
            </a:p>
          </p:txBody>
        </p:sp>
        <p:sp>
          <p:nvSpPr>
            <p:cNvPr id="32777" name="Line 79"/>
            <p:cNvSpPr>
              <a:spLocks noChangeShapeType="1"/>
            </p:cNvSpPr>
            <p:nvPr/>
          </p:nvSpPr>
          <p:spPr bwMode="auto">
            <a:xfrm flipV="1">
              <a:off x="2789" y="2478"/>
              <a:ext cx="91" cy="362"/>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60" name="Rectangle 12"/>
          <p:cNvSpPr>
            <a:spLocks noChangeArrowheads="1"/>
          </p:cNvSpPr>
          <p:nvPr/>
        </p:nvSpPr>
        <p:spPr bwMode="auto">
          <a:xfrm>
            <a:off x="1979613" y="2947988"/>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53261" name="Rectangle 13"/>
          <p:cNvSpPr>
            <a:spLocks noChangeArrowheads="1"/>
          </p:cNvSpPr>
          <p:nvPr/>
        </p:nvSpPr>
        <p:spPr bwMode="auto">
          <a:xfrm>
            <a:off x="3708400" y="2947988"/>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53262" name="Rectangle 14"/>
          <p:cNvSpPr>
            <a:spLocks noChangeArrowheads="1"/>
          </p:cNvSpPr>
          <p:nvPr/>
        </p:nvSpPr>
        <p:spPr bwMode="auto">
          <a:xfrm>
            <a:off x="5437188" y="2947988"/>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grpSp>
        <p:nvGrpSpPr>
          <p:cNvPr id="53263" name="Group 15"/>
          <p:cNvGrpSpPr>
            <a:grpSpLocks/>
          </p:cNvGrpSpPr>
          <p:nvPr/>
        </p:nvGrpSpPr>
        <p:grpSpPr bwMode="auto">
          <a:xfrm>
            <a:off x="1979613" y="2492375"/>
            <a:ext cx="5184775" cy="396875"/>
            <a:chOff x="1247" y="1737"/>
            <a:chExt cx="3266" cy="250"/>
          </a:xfrm>
        </p:grpSpPr>
        <p:sp>
          <p:nvSpPr>
            <p:cNvPr id="33813" name="Line 2"/>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4" name="Text Box 3"/>
            <p:cNvSpPr txBox="1">
              <a:spLocks noChangeArrowheads="1"/>
            </p:cNvSpPr>
            <p:nvPr/>
          </p:nvSpPr>
          <p:spPr bwMode="auto">
            <a:xfrm>
              <a:off x="2699" y="1737"/>
              <a:ext cx="436"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报文</a:t>
              </a:r>
            </a:p>
          </p:txBody>
        </p:sp>
      </p:grpSp>
      <p:sp>
        <p:nvSpPr>
          <p:cNvPr id="33798" name="Rectangle 4"/>
          <p:cNvSpPr>
            <a:spLocks noGrp="1" noChangeArrowheads="1"/>
          </p:cNvSpPr>
          <p:nvPr>
            <p:ph type="title"/>
          </p:nvPr>
        </p:nvSpPr>
        <p:spPr>
          <a:xfrm>
            <a:off x="1150938" y="214313"/>
            <a:ext cx="7381875" cy="1462087"/>
          </a:xfrm>
        </p:spPr>
        <p:txBody>
          <a:bodyPr/>
          <a:lstStyle/>
          <a:p>
            <a:pPr algn="ctr" eaLnBrk="1" hangingPunct="1"/>
            <a:r>
              <a:rPr lang="zh-CN" altLang="en-US" smtClean="0"/>
              <a:t>添加首部构成分组</a:t>
            </a:r>
          </a:p>
        </p:txBody>
      </p:sp>
      <p:sp>
        <p:nvSpPr>
          <p:cNvPr id="33799" name="Rectangle 5"/>
          <p:cNvSpPr>
            <a:spLocks noGrp="1" noChangeArrowheads="1"/>
          </p:cNvSpPr>
          <p:nvPr>
            <p:ph type="body" idx="1"/>
          </p:nvPr>
        </p:nvSpPr>
        <p:spPr>
          <a:xfrm>
            <a:off x="900113" y="1906588"/>
            <a:ext cx="7915275" cy="4114800"/>
          </a:xfrm>
        </p:spPr>
        <p:txBody>
          <a:bodyPr/>
          <a:lstStyle/>
          <a:p>
            <a:pPr eaLnBrk="1" hangingPunct="1"/>
            <a:r>
              <a:rPr lang="zh-CN" altLang="en-US" smtClean="0"/>
              <a:t>每一个数据段前面添加上</a:t>
            </a:r>
            <a:r>
              <a:rPr lang="zh-CN" altLang="en-US" smtClean="0">
                <a:solidFill>
                  <a:schemeClr val="hlink"/>
                </a:solidFill>
              </a:rPr>
              <a:t>首部</a:t>
            </a:r>
            <a:r>
              <a:rPr lang="zh-CN" altLang="en-US" smtClean="0"/>
              <a:t>构成分组。</a:t>
            </a:r>
          </a:p>
        </p:txBody>
      </p:sp>
      <p:sp>
        <p:nvSpPr>
          <p:cNvPr id="53264" name="Rectangle 16"/>
          <p:cNvSpPr>
            <a:spLocks noChangeArrowheads="1"/>
          </p:cNvSpPr>
          <p:nvPr/>
        </p:nvSpPr>
        <p:spPr bwMode="auto">
          <a:xfrm>
            <a:off x="1116013" y="4365625"/>
            <a:ext cx="576262" cy="431800"/>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sp>
        <p:nvSpPr>
          <p:cNvPr id="53267" name="Rectangle 19"/>
          <p:cNvSpPr>
            <a:spLocks noChangeArrowheads="1"/>
          </p:cNvSpPr>
          <p:nvPr/>
        </p:nvSpPr>
        <p:spPr bwMode="auto">
          <a:xfrm>
            <a:off x="3132138" y="4460875"/>
            <a:ext cx="576262" cy="431800"/>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sp>
        <p:nvSpPr>
          <p:cNvPr id="53268" name="Rectangle 20"/>
          <p:cNvSpPr>
            <a:spLocks noChangeArrowheads="1"/>
          </p:cNvSpPr>
          <p:nvPr/>
        </p:nvSpPr>
        <p:spPr bwMode="auto">
          <a:xfrm>
            <a:off x="4859338" y="5310188"/>
            <a:ext cx="576262" cy="431800"/>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53273" name="Group 25"/>
          <p:cNvGrpSpPr>
            <a:grpSpLocks/>
          </p:cNvGrpSpPr>
          <p:nvPr/>
        </p:nvGrpSpPr>
        <p:grpSpPr bwMode="auto">
          <a:xfrm>
            <a:off x="1042988" y="3644900"/>
            <a:ext cx="2303462" cy="488950"/>
            <a:chOff x="1973" y="2532"/>
            <a:chExt cx="1451" cy="308"/>
          </a:xfrm>
        </p:grpSpPr>
        <p:sp>
          <p:nvSpPr>
            <p:cNvPr id="33811" name="AutoShape 21"/>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2" name="Text Box 24"/>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1</a:t>
              </a:r>
            </a:p>
          </p:txBody>
        </p:sp>
      </p:grpSp>
      <p:grpSp>
        <p:nvGrpSpPr>
          <p:cNvPr id="53274" name="Group 26"/>
          <p:cNvGrpSpPr>
            <a:grpSpLocks/>
          </p:cNvGrpSpPr>
          <p:nvPr/>
        </p:nvGrpSpPr>
        <p:grpSpPr bwMode="auto">
          <a:xfrm>
            <a:off x="3132138" y="3898900"/>
            <a:ext cx="2303462" cy="488950"/>
            <a:chOff x="1973" y="2532"/>
            <a:chExt cx="1451" cy="308"/>
          </a:xfrm>
        </p:grpSpPr>
        <p:sp>
          <p:nvSpPr>
            <p:cNvPr id="33809" name="AutoShape 27"/>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0" name="Text Box 28"/>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grpSp>
        <p:nvGrpSpPr>
          <p:cNvPr id="53277" name="Group 29"/>
          <p:cNvGrpSpPr>
            <a:grpSpLocks/>
          </p:cNvGrpSpPr>
          <p:nvPr/>
        </p:nvGrpSpPr>
        <p:grpSpPr bwMode="auto">
          <a:xfrm>
            <a:off x="4859338" y="4762500"/>
            <a:ext cx="2303462" cy="488950"/>
            <a:chOff x="1973" y="2532"/>
            <a:chExt cx="1451" cy="308"/>
          </a:xfrm>
        </p:grpSpPr>
        <p:sp>
          <p:nvSpPr>
            <p:cNvPr id="33807" name="AutoShape 3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8" name="Text Box 31"/>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3</a:t>
              </a:r>
            </a:p>
          </p:txBody>
        </p:sp>
      </p:grpSp>
      <p:sp>
        <p:nvSpPr>
          <p:cNvPr id="53281" name="Text Box 33"/>
          <p:cNvSpPr txBox="1">
            <a:spLocks noChangeArrowheads="1"/>
          </p:cNvSpPr>
          <p:nvPr/>
        </p:nvSpPr>
        <p:spPr bwMode="auto">
          <a:xfrm>
            <a:off x="1042988" y="5949950"/>
            <a:ext cx="4333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a:solidFill>
                  <a:schemeClr val="hlink"/>
                </a:solidFill>
                <a:latin typeface="Tahoma" pitchFamily="34" charset="0"/>
                <a:ea typeface="黑体" pitchFamily="49" charset="-122"/>
              </a:rPr>
              <a:t>请注意：现在左边是</a:t>
            </a:r>
            <a:r>
              <a:rPr lang="zh-CN" altLang="en-US" sz="2800">
                <a:solidFill>
                  <a:schemeClr val="hlink"/>
                </a:solidFill>
                <a:ea typeface="黑体" pitchFamily="49" charset="-122"/>
              </a:rPr>
              <a:t>“</a:t>
            </a:r>
            <a:r>
              <a:rPr lang="zh-CN" altLang="en-US" sz="2800">
                <a:solidFill>
                  <a:schemeClr val="hlink"/>
                </a:solidFill>
                <a:latin typeface="Tahoma" pitchFamily="34" charset="0"/>
                <a:ea typeface="黑体" pitchFamily="49" charset="-122"/>
              </a:rPr>
              <a:t>前面</a:t>
            </a:r>
            <a:r>
              <a:rPr lang="zh-CN" altLang="en-US" sz="2800">
                <a:solidFill>
                  <a:schemeClr val="hlink"/>
                </a:solidFill>
                <a:ea typeface="黑体" pitchFamily="49" charset="-122"/>
              </a:rPr>
              <a:t>”</a:t>
            </a:r>
            <a:endParaRPr lang="zh-CN" altLang="en-US" sz="2800">
              <a:solidFill>
                <a:schemeClr val="hlink"/>
              </a:solidFill>
              <a:latin typeface="Tahoma" pitchFamily="34" charset="0"/>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3263"/>
                                        </p:tgtEl>
                                        <p:attrNameLst>
                                          <p:attrName>style.visibility</p:attrName>
                                        </p:attrNameLst>
                                      </p:cBhvr>
                                      <p:to>
                                        <p:strVal val="hidden"/>
                                      </p:to>
                                    </p:set>
                                  </p:childTnLst>
                                </p:cTn>
                              </p:par>
                            </p:childTnLst>
                          </p:cTn>
                        </p:par>
                        <p:par>
                          <p:cTn id="7" fill="hold" nodeType="afterGroup">
                            <p:stCondLst>
                              <p:cond delay="0"/>
                            </p:stCondLst>
                            <p:childTnLst>
                              <p:par>
                                <p:cTn id="8" presetID="42" presetClass="path" presetSubtype="0" accel="50000" decel="50000" fill="hold" grpId="0" nodeType="afterEffect">
                                  <p:stCondLst>
                                    <p:cond delay="0"/>
                                  </p:stCondLst>
                                  <p:childTnLst>
                                    <p:animMotion origin="layout" path="M 2.5E-6 0.0 L 2.5E-6 0.09653 " pathEditMode="relative" rAng="0" ptsTypes="AA">
                                      <p:cBhvr>
                                        <p:cTn id="9" dur="1000" fill="hold"/>
                                        <p:tgtEl>
                                          <p:spTgt spid="53260"/>
                                        </p:tgtEl>
                                        <p:attrNameLst>
                                          <p:attrName>ppt_x</p:attrName>
                                          <p:attrName>ppt_y</p:attrName>
                                        </p:attrNameLst>
                                      </p:cBhvr>
                                      <p:rCtr x="0" y="4815"/>
                                    </p:animMotion>
                                  </p:childTnLst>
                                </p:cTn>
                              </p:par>
                            </p:childTnLst>
                          </p:cTn>
                        </p:par>
                        <p:par>
                          <p:cTn id="10" fill="hold" nodeType="afterGroup">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53264"/>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nodeType="afterEffect">
                                  <p:stCondLst>
                                    <p:cond delay="500"/>
                                  </p:stCondLst>
                                  <p:childTnLst>
                                    <p:set>
                                      <p:cBhvr>
                                        <p:cTn id="15" dur="1" fill="hold">
                                          <p:stCondLst>
                                            <p:cond delay="0"/>
                                          </p:stCondLst>
                                        </p:cTn>
                                        <p:tgtEl>
                                          <p:spTgt spid="53273"/>
                                        </p:tgtEl>
                                        <p:attrNameLst>
                                          <p:attrName>style.visibility</p:attrName>
                                        </p:attrNameLst>
                                      </p:cBhvr>
                                      <p:to>
                                        <p:strVal val="visible"/>
                                      </p:to>
                                    </p:set>
                                  </p:childTnLst>
                                </p:cTn>
                              </p:par>
                            </p:childTnLst>
                          </p:cTn>
                        </p:par>
                        <p:par>
                          <p:cTn id="16" fill="hold" nodeType="afterGroup">
                            <p:stCondLst>
                              <p:cond delay="2000"/>
                            </p:stCondLst>
                            <p:childTnLst>
                              <p:par>
                                <p:cTn id="17" presetID="42" presetClass="path" presetSubtype="0" accel="50000" decel="50000" fill="hold" grpId="0" nodeType="afterEffect">
                                  <p:stCondLst>
                                    <p:cond delay="500"/>
                                  </p:stCondLst>
                                  <p:childTnLst>
                                    <p:animMotion origin="layout" path="M 0.0 -1.96532E-6 L 0.0 0.22035 " pathEditMode="relative" rAng="0" ptsTypes="AA">
                                      <p:cBhvr>
                                        <p:cTn id="18" dur="1000" fill="hold"/>
                                        <p:tgtEl>
                                          <p:spTgt spid="53261"/>
                                        </p:tgtEl>
                                        <p:attrNameLst>
                                          <p:attrName>ppt_x</p:attrName>
                                          <p:attrName>ppt_y</p:attrName>
                                        </p:attrNameLst>
                                      </p:cBhvr>
                                      <p:rCtr x="0" y="11006"/>
                                    </p:animMotion>
                                  </p:childTnLst>
                                </p:cTn>
                              </p:par>
                            </p:childTnLst>
                          </p:cTn>
                        </p:par>
                        <p:par>
                          <p:cTn id="19" fill="hold" nodeType="afterGroup">
                            <p:stCondLst>
                              <p:cond delay="3500"/>
                            </p:stCondLst>
                            <p:childTnLst>
                              <p:par>
                                <p:cTn id="20" presetID="1" presetClass="entr" presetSubtype="0" fill="hold" grpId="0" nodeType="afterEffect">
                                  <p:stCondLst>
                                    <p:cond delay="500"/>
                                  </p:stCondLst>
                                  <p:childTnLst>
                                    <p:set>
                                      <p:cBhvr>
                                        <p:cTn id="21" dur="1" fill="hold">
                                          <p:stCondLst>
                                            <p:cond delay="0"/>
                                          </p:stCondLst>
                                        </p:cTn>
                                        <p:tgtEl>
                                          <p:spTgt spid="53267"/>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53274"/>
                                        </p:tgtEl>
                                        <p:attrNameLst>
                                          <p:attrName>style.visibility</p:attrName>
                                        </p:attrNameLst>
                                      </p:cBhvr>
                                      <p:to>
                                        <p:strVal val="visible"/>
                                      </p:to>
                                    </p:set>
                                  </p:childTnLst>
                                </p:cTn>
                              </p:par>
                            </p:childTnLst>
                          </p:cTn>
                        </p:par>
                        <p:par>
                          <p:cTn id="25" fill="hold" nodeType="afterGroup">
                            <p:stCondLst>
                              <p:cond delay="4500"/>
                            </p:stCondLst>
                            <p:childTnLst>
                              <p:par>
                                <p:cTn id="26" presetID="42" presetClass="path" presetSubtype="0" accel="50000" decel="50000" fill="hold" grpId="0" nodeType="afterEffect">
                                  <p:stCondLst>
                                    <p:cond delay="500"/>
                                  </p:stCondLst>
                                  <p:childTnLst>
                                    <p:animMotion origin="layout" path="M -2.5E-6 -1.96532E-6 L -2.5E-6 0.34613 " pathEditMode="relative" rAng="0" ptsTypes="AA">
                                      <p:cBhvr>
                                        <p:cTn id="27" dur="1000" fill="hold"/>
                                        <p:tgtEl>
                                          <p:spTgt spid="53262"/>
                                        </p:tgtEl>
                                        <p:attrNameLst>
                                          <p:attrName>ppt_x</p:attrName>
                                          <p:attrName>ppt_y</p:attrName>
                                        </p:attrNameLst>
                                      </p:cBhvr>
                                      <p:rCtr x="0" y="17295"/>
                                    </p:animMotion>
                                  </p:childTnLst>
                                </p:cTn>
                              </p:par>
                            </p:childTnLst>
                          </p:cTn>
                        </p:par>
                        <p:par>
                          <p:cTn id="28" fill="hold" nodeType="afterGroup">
                            <p:stCondLst>
                              <p:cond delay="6000"/>
                            </p:stCondLst>
                            <p:childTnLst>
                              <p:par>
                                <p:cTn id="29" presetID="1" presetClass="entr" presetSubtype="0" fill="hold" grpId="0" nodeType="afterEffect">
                                  <p:stCondLst>
                                    <p:cond delay="500"/>
                                  </p:stCondLst>
                                  <p:childTnLst>
                                    <p:set>
                                      <p:cBhvr>
                                        <p:cTn id="30" dur="1" fill="hold">
                                          <p:stCondLst>
                                            <p:cond delay="0"/>
                                          </p:stCondLst>
                                        </p:cTn>
                                        <p:tgtEl>
                                          <p:spTgt spid="53268"/>
                                        </p:tgtEl>
                                        <p:attrNameLst>
                                          <p:attrName>style.visibility</p:attrName>
                                        </p:attrNameLst>
                                      </p:cBhvr>
                                      <p:to>
                                        <p:strVal val="visible"/>
                                      </p:to>
                                    </p:set>
                                  </p:childTnLst>
                                </p:cTn>
                              </p:par>
                            </p:childTnLst>
                          </p:cTn>
                        </p:par>
                        <p:par>
                          <p:cTn id="31" fill="hold" nodeType="afterGroup">
                            <p:stCondLst>
                              <p:cond delay="6500"/>
                            </p:stCondLst>
                            <p:childTnLst>
                              <p:par>
                                <p:cTn id="32" presetID="1" presetClass="entr" presetSubtype="0" fill="hold" nodeType="afterEffect">
                                  <p:stCondLst>
                                    <p:cond delay="500"/>
                                  </p:stCondLst>
                                  <p:childTnLst>
                                    <p:set>
                                      <p:cBhvr>
                                        <p:cTn id="33" dur="1" fill="hold">
                                          <p:stCondLst>
                                            <p:cond delay="0"/>
                                          </p:stCondLst>
                                        </p:cTn>
                                        <p:tgtEl>
                                          <p:spTgt spid="53277"/>
                                        </p:tgtEl>
                                        <p:attrNameLst>
                                          <p:attrName>style.visibility</p:attrName>
                                        </p:attrNameLst>
                                      </p:cBhvr>
                                      <p:to>
                                        <p:strVal val="visible"/>
                                      </p:to>
                                    </p:set>
                                  </p:childTnLst>
                                </p:cTn>
                              </p:par>
                            </p:childTnLst>
                          </p:cTn>
                        </p:par>
                        <p:par>
                          <p:cTn id="34" fill="hold" nodeType="afterGroup">
                            <p:stCondLst>
                              <p:cond delay="7000"/>
                            </p:stCondLst>
                            <p:childTnLst>
                              <p:par>
                                <p:cTn id="35" presetID="1" presetClass="entr" presetSubtype="0" fill="hold" grpId="0" nodeType="afterEffect">
                                  <p:stCondLst>
                                    <p:cond delay="0"/>
                                  </p:stCondLst>
                                  <p:childTnLst>
                                    <p:set>
                                      <p:cBhvr>
                                        <p:cTn id="36" dur="1" fill="hold">
                                          <p:stCondLst>
                                            <p:cond delay="0"/>
                                          </p:stCondLst>
                                        </p:cTn>
                                        <p:tgtEl>
                                          <p:spTgt spid="53281"/>
                                        </p:tgtEl>
                                        <p:attrNameLst>
                                          <p:attrName>style.visibility</p:attrName>
                                        </p:attrNameLst>
                                      </p:cBhvr>
                                      <p:to>
                                        <p:strVal val="visible"/>
                                      </p:to>
                                    </p:set>
                                  </p:childTnLst>
                                </p:cTn>
                              </p:par>
                            </p:childTnLst>
                          </p:cTn>
                        </p:par>
                        <p:par>
                          <p:cTn id="37" fill="hold" nodeType="afterGroup">
                            <p:stCondLst>
                              <p:cond delay="7000"/>
                            </p:stCondLst>
                            <p:childTnLst>
                              <p:par>
                                <p:cTn id="38" presetID="35" presetClass="emph" presetSubtype="0" repeatCount="3000" fill="hold" grpId="1" nodeType="afterEffect">
                                  <p:stCondLst>
                                    <p:cond delay="0"/>
                                  </p:stCondLst>
                                  <p:childTnLst>
                                    <p:anim calcmode="discrete" valueType="str">
                                      <p:cBhvr>
                                        <p:cTn id="39" dur="1000" fill="hold"/>
                                        <p:tgtEl>
                                          <p:spTgt spid="532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0" grpId="0" animBg="1"/>
      <p:bldP spid="53261" grpId="0" animBg="1"/>
      <p:bldP spid="53262" grpId="0" animBg="1"/>
      <p:bldP spid="53264" grpId="0" animBg="1"/>
      <p:bldP spid="53267" grpId="0" animBg="1"/>
      <p:bldP spid="53268" grpId="0" animBg="1"/>
      <p:bldP spid="53281" grpId="0"/>
      <p:bldP spid="53281"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Grp="1" noChangeArrowheads="1"/>
          </p:cNvSpPr>
          <p:nvPr>
            <p:ph type="title"/>
          </p:nvPr>
        </p:nvSpPr>
        <p:spPr>
          <a:xfrm>
            <a:off x="1150938" y="214313"/>
            <a:ext cx="7793037" cy="1054100"/>
          </a:xfrm>
        </p:spPr>
        <p:txBody>
          <a:bodyPr/>
          <a:lstStyle/>
          <a:p>
            <a:pPr algn="ctr" eaLnBrk="1" hangingPunct="1"/>
            <a:r>
              <a:rPr lang="zh-CN" altLang="en-US" smtClean="0"/>
              <a:t>分组交换的传输单元</a:t>
            </a:r>
          </a:p>
        </p:txBody>
      </p:sp>
      <p:sp>
        <p:nvSpPr>
          <p:cNvPr id="57353" name="Rectangle 9"/>
          <p:cNvSpPr>
            <a:spLocks noGrp="1" noChangeArrowheads="1"/>
          </p:cNvSpPr>
          <p:nvPr>
            <p:ph type="body" idx="1"/>
          </p:nvPr>
        </p:nvSpPr>
        <p:spPr>
          <a:xfrm>
            <a:off x="1187450" y="1412875"/>
            <a:ext cx="7700963" cy="4824413"/>
          </a:xfrm>
        </p:spPr>
        <p:txBody>
          <a:bodyPr/>
          <a:lstStyle/>
          <a:p>
            <a:pPr eaLnBrk="1" hangingPunct="1">
              <a:spcBef>
                <a:spcPct val="10000"/>
              </a:spcBef>
            </a:pPr>
            <a:r>
              <a:rPr lang="zh-CN" altLang="en-US" smtClean="0"/>
              <a:t>分组交换网以“</a:t>
            </a:r>
            <a:r>
              <a:rPr lang="zh-CN" altLang="en-US" smtClean="0">
                <a:solidFill>
                  <a:schemeClr val="hlink"/>
                </a:solidFill>
              </a:rPr>
              <a:t>分组</a:t>
            </a:r>
            <a:r>
              <a:rPr lang="zh-CN" altLang="en-US" smtClean="0"/>
              <a:t>”作为数据传输单元。</a:t>
            </a:r>
          </a:p>
          <a:p>
            <a:pPr eaLnBrk="1" hangingPunct="1">
              <a:spcBef>
                <a:spcPct val="10000"/>
              </a:spcBef>
            </a:pPr>
            <a:r>
              <a:rPr lang="zh-CN" altLang="en-US" smtClean="0">
                <a:solidFill>
                  <a:schemeClr val="hlink"/>
                </a:solidFill>
              </a:rPr>
              <a:t>依次</a:t>
            </a:r>
            <a:r>
              <a:rPr lang="zh-CN" altLang="en-US" smtClean="0"/>
              <a:t>把各分组发送到接收端（假定接收端在左边）。</a:t>
            </a:r>
          </a:p>
        </p:txBody>
      </p:sp>
      <p:grpSp>
        <p:nvGrpSpPr>
          <p:cNvPr id="57366" name="Group 22"/>
          <p:cNvGrpSpPr>
            <a:grpSpLocks/>
          </p:cNvGrpSpPr>
          <p:nvPr/>
        </p:nvGrpSpPr>
        <p:grpSpPr bwMode="auto">
          <a:xfrm>
            <a:off x="1403350" y="3598863"/>
            <a:ext cx="2305050" cy="993775"/>
            <a:chOff x="884" y="2078"/>
            <a:chExt cx="1452" cy="626"/>
          </a:xfrm>
        </p:grpSpPr>
        <p:sp>
          <p:nvSpPr>
            <p:cNvPr id="34833" name="Rectangle 2"/>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34834" name="Rectangle 10"/>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34835" name="Group 13"/>
            <p:cNvGrpSpPr>
              <a:grpSpLocks/>
            </p:cNvGrpSpPr>
            <p:nvPr/>
          </p:nvGrpSpPr>
          <p:grpSpPr bwMode="auto">
            <a:xfrm>
              <a:off x="885" y="2078"/>
              <a:ext cx="1451" cy="308"/>
              <a:chOff x="1973" y="2532"/>
              <a:chExt cx="1451" cy="308"/>
            </a:xfrm>
          </p:grpSpPr>
          <p:sp>
            <p:nvSpPr>
              <p:cNvPr id="34836"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7" name="Text Box 15"/>
              <p:cNvSpPr txBox="1">
                <a:spLocks noChangeArrowheads="1"/>
              </p:cNvSpPr>
              <p:nvPr/>
            </p:nvSpPr>
            <p:spPr bwMode="auto">
              <a:xfrm>
                <a:off x="2489" y="2532"/>
                <a:ext cx="5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400">
                    <a:solidFill>
                      <a:srgbClr val="333399"/>
                    </a:solidFill>
                    <a:latin typeface="Tahoma" pitchFamily="34" charset="0"/>
                    <a:ea typeface="黑体" pitchFamily="49" charset="-122"/>
                  </a:rPr>
                  <a:t> </a:t>
                </a:r>
                <a:r>
                  <a:rPr lang="en-US" altLang="zh-CN" sz="2000">
                    <a:solidFill>
                      <a:srgbClr val="333399"/>
                    </a:solidFill>
                    <a:ea typeface="黑体" pitchFamily="49" charset="-122"/>
                  </a:rPr>
                  <a:t>1</a:t>
                </a:r>
              </a:p>
            </p:txBody>
          </p:sp>
        </p:grpSp>
      </p:grpSp>
      <p:grpSp>
        <p:nvGrpSpPr>
          <p:cNvPr id="57367" name="Group 23"/>
          <p:cNvGrpSpPr>
            <a:grpSpLocks/>
          </p:cNvGrpSpPr>
          <p:nvPr/>
        </p:nvGrpSpPr>
        <p:grpSpPr bwMode="auto">
          <a:xfrm>
            <a:off x="3132138" y="4464050"/>
            <a:ext cx="2303462" cy="993775"/>
            <a:chOff x="1973" y="2623"/>
            <a:chExt cx="1451" cy="626"/>
          </a:xfrm>
        </p:grpSpPr>
        <p:sp>
          <p:nvSpPr>
            <p:cNvPr id="34828" name="Rectangle 3"/>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34829" name="Rectangle 11"/>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34830" name="Group 16"/>
            <p:cNvGrpSpPr>
              <a:grpSpLocks/>
            </p:cNvGrpSpPr>
            <p:nvPr/>
          </p:nvGrpSpPr>
          <p:grpSpPr bwMode="auto">
            <a:xfrm>
              <a:off x="1973" y="2623"/>
              <a:ext cx="1451" cy="308"/>
              <a:chOff x="1973" y="2532"/>
              <a:chExt cx="1451" cy="308"/>
            </a:xfrm>
          </p:grpSpPr>
          <p:sp>
            <p:nvSpPr>
              <p:cNvPr id="34831" name="AutoShape 17"/>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2" name="Text Box 18"/>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grpSp>
      <p:grpSp>
        <p:nvGrpSpPr>
          <p:cNvPr id="57368" name="Group 24"/>
          <p:cNvGrpSpPr>
            <a:grpSpLocks/>
          </p:cNvGrpSpPr>
          <p:nvPr/>
        </p:nvGrpSpPr>
        <p:grpSpPr bwMode="auto">
          <a:xfrm>
            <a:off x="4859338" y="5327650"/>
            <a:ext cx="2309812" cy="981075"/>
            <a:chOff x="3061" y="3167"/>
            <a:chExt cx="1455" cy="618"/>
          </a:xfrm>
        </p:grpSpPr>
        <p:sp>
          <p:nvSpPr>
            <p:cNvPr id="34823" name="Rectangle 4"/>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34824" name="Rectangle 12"/>
            <p:cNvSpPr>
              <a:spLocks noChangeArrowheads="1"/>
            </p:cNvSpPr>
            <p:nvPr/>
          </p:nvSpPr>
          <p:spPr bwMode="auto">
            <a:xfrm>
              <a:off x="3061" y="3512"/>
              <a:ext cx="363" cy="2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34825" name="Group 19"/>
            <p:cNvGrpSpPr>
              <a:grpSpLocks/>
            </p:cNvGrpSpPr>
            <p:nvPr/>
          </p:nvGrpSpPr>
          <p:grpSpPr bwMode="auto">
            <a:xfrm>
              <a:off x="3061" y="3167"/>
              <a:ext cx="1451" cy="308"/>
              <a:chOff x="1973" y="2532"/>
              <a:chExt cx="1451" cy="308"/>
            </a:xfrm>
          </p:grpSpPr>
          <p:sp>
            <p:nvSpPr>
              <p:cNvPr id="34826" name="AutoShape 2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7" name="Text Box 21"/>
              <p:cNvSpPr txBox="1">
                <a:spLocks noChangeArrowheads="1"/>
              </p:cNvSpPr>
              <p:nvPr/>
            </p:nvSpPr>
            <p:spPr bwMode="auto">
              <a:xfrm>
                <a:off x="2489" y="2532"/>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200">
                    <a:solidFill>
                      <a:srgbClr val="333399"/>
                    </a:solidFill>
                    <a:ea typeface="黑体" pitchFamily="49" charset="-122"/>
                  </a:rPr>
                  <a:t> </a:t>
                </a:r>
                <a:r>
                  <a:rPr lang="en-US" altLang="zh-CN" sz="2000">
                    <a:solidFill>
                      <a:srgbClr val="333399"/>
                    </a:solidFill>
                    <a:ea typeface="黑体" pitchFamily="49" charset="-122"/>
                  </a:rPr>
                  <a:t>3</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6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57367"/>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5736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353">
                                            <p:txEl>
                                              <p:pRg st="1" end="1"/>
                                            </p:txEl>
                                          </p:spTgt>
                                        </p:tgtEl>
                                        <p:attrNameLst>
                                          <p:attrName>style.visibility</p:attrName>
                                        </p:attrNameLst>
                                      </p:cBhvr>
                                      <p:to>
                                        <p:strVal val="visible"/>
                                      </p:to>
                                    </p:set>
                                  </p:childTnLst>
                                </p:cTn>
                              </p:par>
                            </p:childTnLst>
                          </p:cTn>
                        </p:par>
                        <p:par>
                          <p:cTn id="17" fill="hold" nodeType="afterGroup">
                            <p:stCondLst>
                              <p:cond delay="0"/>
                            </p:stCondLst>
                            <p:childTnLst>
                              <p:par>
                                <p:cTn id="18" presetID="2" presetClass="exit" presetSubtype="8" fill="hold" nodeType="afterEffect">
                                  <p:stCondLst>
                                    <p:cond delay="500"/>
                                  </p:stCondLst>
                                  <p:childTnLst>
                                    <p:anim calcmode="lin" valueType="num">
                                      <p:cBhvr additive="base">
                                        <p:cTn id="19" dur="2000"/>
                                        <p:tgtEl>
                                          <p:spTgt spid="57366"/>
                                        </p:tgtEl>
                                        <p:attrNameLst>
                                          <p:attrName>ppt_x</p:attrName>
                                        </p:attrNameLst>
                                      </p:cBhvr>
                                      <p:tavLst>
                                        <p:tav tm="0">
                                          <p:val>
                                            <p:strVal val="ppt_x"/>
                                          </p:val>
                                        </p:tav>
                                        <p:tav tm="100000">
                                          <p:val>
                                            <p:strVal val="0-ppt_w/2"/>
                                          </p:val>
                                        </p:tav>
                                      </p:tavLst>
                                    </p:anim>
                                    <p:anim calcmode="lin" valueType="num">
                                      <p:cBhvr additive="base">
                                        <p:cTn id="20" dur="2000"/>
                                        <p:tgtEl>
                                          <p:spTgt spid="57366"/>
                                        </p:tgtEl>
                                        <p:attrNameLst>
                                          <p:attrName>ppt_y</p:attrName>
                                        </p:attrNameLst>
                                      </p:cBhvr>
                                      <p:tavLst>
                                        <p:tav tm="0">
                                          <p:val>
                                            <p:strVal val="ppt_y"/>
                                          </p:val>
                                        </p:tav>
                                        <p:tav tm="100000">
                                          <p:val>
                                            <p:strVal val="ppt_y"/>
                                          </p:val>
                                        </p:tav>
                                      </p:tavLst>
                                    </p:anim>
                                    <p:set>
                                      <p:cBhvr>
                                        <p:cTn id="21" dur="1" fill="hold">
                                          <p:stCondLst>
                                            <p:cond delay="1999"/>
                                          </p:stCondLst>
                                        </p:cTn>
                                        <p:tgtEl>
                                          <p:spTgt spid="57366"/>
                                        </p:tgtEl>
                                        <p:attrNameLst>
                                          <p:attrName>style.visibility</p:attrName>
                                        </p:attrNameLst>
                                      </p:cBhvr>
                                      <p:to>
                                        <p:strVal val="hidden"/>
                                      </p:to>
                                    </p:set>
                                  </p:childTnLst>
                                </p:cTn>
                              </p:par>
                            </p:childTnLst>
                          </p:cTn>
                        </p:par>
                        <p:par>
                          <p:cTn id="22" fill="hold" nodeType="afterGroup">
                            <p:stCondLst>
                              <p:cond delay="2500"/>
                            </p:stCondLst>
                            <p:childTnLst>
                              <p:par>
                                <p:cTn id="23" presetID="2" presetClass="exit" presetSubtype="8" fill="hold" nodeType="afterEffect">
                                  <p:stCondLst>
                                    <p:cond delay="500"/>
                                  </p:stCondLst>
                                  <p:childTnLst>
                                    <p:anim calcmode="lin" valueType="num">
                                      <p:cBhvr additive="base">
                                        <p:cTn id="24" dur="2000"/>
                                        <p:tgtEl>
                                          <p:spTgt spid="57367"/>
                                        </p:tgtEl>
                                        <p:attrNameLst>
                                          <p:attrName>ppt_x</p:attrName>
                                        </p:attrNameLst>
                                      </p:cBhvr>
                                      <p:tavLst>
                                        <p:tav tm="0">
                                          <p:val>
                                            <p:strVal val="ppt_x"/>
                                          </p:val>
                                        </p:tav>
                                        <p:tav tm="100000">
                                          <p:val>
                                            <p:strVal val="0-ppt_w/2"/>
                                          </p:val>
                                        </p:tav>
                                      </p:tavLst>
                                    </p:anim>
                                    <p:anim calcmode="lin" valueType="num">
                                      <p:cBhvr additive="base">
                                        <p:cTn id="25" dur="2000"/>
                                        <p:tgtEl>
                                          <p:spTgt spid="57367"/>
                                        </p:tgtEl>
                                        <p:attrNameLst>
                                          <p:attrName>ppt_y</p:attrName>
                                        </p:attrNameLst>
                                      </p:cBhvr>
                                      <p:tavLst>
                                        <p:tav tm="0">
                                          <p:val>
                                            <p:strVal val="ppt_y"/>
                                          </p:val>
                                        </p:tav>
                                        <p:tav tm="100000">
                                          <p:val>
                                            <p:strVal val="ppt_y"/>
                                          </p:val>
                                        </p:tav>
                                      </p:tavLst>
                                    </p:anim>
                                    <p:set>
                                      <p:cBhvr>
                                        <p:cTn id="26" dur="1" fill="hold">
                                          <p:stCondLst>
                                            <p:cond delay="1999"/>
                                          </p:stCondLst>
                                        </p:cTn>
                                        <p:tgtEl>
                                          <p:spTgt spid="57367"/>
                                        </p:tgtEl>
                                        <p:attrNameLst>
                                          <p:attrName>style.visibility</p:attrName>
                                        </p:attrNameLst>
                                      </p:cBhvr>
                                      <p:to>
                                        <p:strVal val="hidden"/>
                                      </p:to>
                                    </p:set>
                                  </p:childTnLst>
                                </p:cTn>
                              </p:par>
                            </p:childTnLst>
                          </p:cTn>
                        </p:par>
                        <p:par>
                          <p:cTn id="27" fill="hold" nodeType="afterGroup">
                            <p:stCondLst>
                              <p:cond delay="5000"/>
                            </p:stCondLst>
                            <p:childTnLst>
                              <p:par>
                                <p:cTn id="28" presetID="2" presetClass="exit" presetSubtype="8" fill="hold" nodeType="afterEffect">
                                  <p:stCondLst>
                                    <p:cond delay="500"/>
                                  </p:stCondLst>
                                  <p:childTnLst>
                                    <p:anim calcmode="lin" valueType="num">
                                      <p:cBhvr additive="base">
                                        <p:cTn id="29" dur="2000"/>
                                        <p:tgtEl>
                                          <p:spTgt spid="57368"/>
                                        </p:tgtEl>
                                        <p:attrNameLst>
                                          <p:attrName>ppt_x</p:attrName>
                                        </p:attrNameLst>
                                      </p:cBhvr>
                                      <p:tavLst>
                                        <p:tav tm="0">
                                          <p:val>
                                            <p:strVal val="ppt_x"/>
                                          </p:val>
                                        </p:tav>
                                        <p:tav tm="100000">
                                          <p:val>
                                            <p:strVal val="0-ppt_w/2"/>
                                          </p:val>
                                        </p:tav>
                                      </p:tavLst>
                                    </p:anim>
                                    <p:anim calcmode="lin" valueType="num">
                                      <p:cBhvr additive="base">
                                        <p:cTn id="30" dur="2000"/>
                                        <p:tgtEl>
                                          <p:spTgt spid="57368"/>
                                        </p:tgtEl>
                                        <p:attrNameLst>
                                          <p:attrName>ppt_y</p:attrName>
                                        </p:attrNameLst>
                                      </p:cBhvr>
                                      <p:tavLst>
                                        <p:tav tm="0">
                                          <p:val>
                                            <p:strVal val="ppt_y"/>
                                          </p:val>
                                        </p:tav>
                                        <p:tav tm="100000">
                                          <p:val>
                                            <p:strVal val="ppt_y"/>
                                          </p:val>
                                        </p:tav>
                                      </p:tavLst>
                                    </p:anim>
                                    <p:set>
                                      <p:cBhvr>
                                        <p:cTn id="31" dur="1" fill="hold">
                                          <p:stCondLst>
                                            <p:cond delay="1999"/>
                                          </p:stCondLst>
                                        </p:cTn>
                                        <p:tgtEl>
                                          <p:spTgt spid="57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ctr" eaLnBrk="1" hangingPunct="1"/>
            <a:r>
              <a:rPr lang="zh-CN" altLang="en-US" smtClean="0"/>
              <a:t>分组首部的重要性</a:t>
            </a:r>
          </a:p>
        </p:txBody>
      </p:sp>
      <p:sp>
        <p:nvSpPr>
          <p:cNvPr id="58371" name="Rectangle 3"/>
          <p:cNvSpPr>
            <a:spLocks noGrp="1" noChangeArrowheads="1"/>
          </p:cNvSpPr>
          <p:nvPr>
            <p:ph type="body" idx="1"/>
          </p:nvPr>
        </p:nvSpPr>
        <p:spPr>
          <a:xfrm>
            <a:off x="1042988" y="1916113"/>
            <a:ext cx="7772400" cy="4321175"/>
          </a:xfrm>
        </p:spPr>
        <p:txBody>
          <a:bodyPr/>
          <a:lstStyle/>
          <a:p>
            <a:pPr eaLnBrk="1" hangingPunct="1"/>
            <a:r>
              <a:rPr lang="zh-CN" altLang="en-US" smtClean="0">
                <a:solidFill>
                  <a:schemeClr val="hlink"/>
                </a:solidFill>
              </a:rPr>
              <a:t>每一个</a:t>
            </a:r>
            <a:r>
              <a:rPr lang="zh-CN" altLang="en-US" smtClean="0"/>
              <a:t>分组的首部都含有</a:t>
            </a:r>
            <a:r>
              <a:rPr lang="zh-CN" altLang="en-US" smtClean="0">
                <a:solidFill>
                  <a:schemeClr val="hlink"/>
                </a:solidFill>
              </a:rPr>
              <a:t>地址</a:t>
            </a:r>
            <a:r>
              <a:rPr lang="zh-CN" altLang="en-US" smtClean="0"/>
              <a:t>等控制信息。</a:t>
            </a:r>
          </a:p>
          <a:p>
            <a:pPr eaLnBrk="1" hangingPunct="1"/>
            <a:r>
              <a:rPr lang="zh-CN" altLang="en-US" smtClean="0"/>
              <a:t>分组交换网中的结点交换机根据收到的分组的首部中的</a:t>
            </a:r>
            <a:r>
              <a:rPr lang="zh-CN" altLang="en-US" smtClean="0">
                <a:solidFill>
                  <a:schemeClr val="hlink"/>
                </a:solidFill>
              </a:rPr>
              <a:t>地址信息</a:t>
            </a:r>
            <a:r>
              <a:rPr lang="zh-CN" altLang="en-US" smtClean="0"/>
              <a:t>，把分组</a:t>
            </a:r>
            <a:r>
              <a:rPr lang="zh-CN" altLang="en-US" smtClean="0">
                <a:solidFill>
                  <a:schemeClr val="hlink"/>
                </a:solidFill>
              </a:rPr>
              <a:t>转发</a:t>
            </a:r>
            <a:r>
              <a:rPr lang="zh-CN" altLang="en-US" smtClean="0"/>
              <a:t>到下一个结点交换机。</a:t>
            </a:r>
          </a:p>
          <a:p>
            <a:pPr eaLnBrk="1" hangingPunct="1"/>
            <a:r>
              <a:rPr lang="zh-CN" altLang="en-US" smtClean="0"/>
              <a:t>用这样的</a:t>
            </a:r>
            <a:r>
              <a:rPr lang="zh-CN" altLang="en-US" smtClean="0">
                <a:solidFill>
                  <a:schemeClr val="hlink"/>
                </a:solidFill>
              </a:rPr>
              <a:t>存储转发</a:t>
            </a:r>
            <a:r>
              <a:rPr lang="zh-CN" altLang="en-US" smtClean="0"/>
              <a:t>方式，最后分组就能到达</a:t>
            </a:r>
            <a:r>
              <a:rPr lang="zh-CN" altLang="en-US" smtClean="0">
                <a:solidFill>
                  <a:schemeClr val="hlink"/>
                </a:solidFill>
              </a:rPr>
              <a:t>最终目的地</a:t>
            </a:r>
            <a:r>
              <a:rPr lang="zh-CN" altLang="en-US" smtClean="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algn="ctr" eaLnBrk="1" hangingPunct="1"/>
            <a:r>
              <a:rPr lang="zh-CN" altLang="en-US" smtClean="0"/>
              <a:t>收到分组后剥去首部</a:t>
            </a:r>
          </a:p>
        </p:txBody>
      </p:sp>
      <p:sp>
        <p:nvSpPr>
          <p:cNvPr id="36867" name="Rectangle 3"/>
          <p:cNvSpPr>
            <a:spLocks noGrp="1" noChangeArrowheads="1"/>
          </p:cNvSpPr>
          <p:nvPr>
            <p:ph type="body" idx="1"/>
          </p:nvPr>
        </p:nvSpPr>
        <p:spPr>
          <a:xfrm>
            <a:off x="1042988" y="1916113"/>
            <a:ext cx="7850187" cy="1008062"/>
          </a:xfrm>
        </p:spPr>
        <p:txBody>
          <a:bodyPr/>
          <a:lstStyle/>
          <a:p>
            <a:pPr eaLnBrk="1" hangingPunct="1"/>
            <a:r>
              <a:rPr lang="zh-CN" altLang="en-US" smtClean="0"/>
              <a:t>接收端收到分组后剥去首部还原成报文。</a:t>
            </a:r>
          </a:p>
        </p:txBody>
      </p:sp>
      <p:sp>
        <p:nvSpPr>
          <p:cNvPr id="59397" name="Rectangle 5"/>
          <p:cNvSpPr>
            <a:spLocks noChangeArrowheads="1"/>
          </p:cNvSpPr>
          <p:nvPr/>
        </p:nvSpPr>
        <p:spPr bwMode="auto">
          <a:xfrm>
            <a:off x="2695575" y="3068638"/>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59398" name="Rectangle 6"/>
          <p:cNvSpPr>
            <a:spLocks noChangeArrowheads="1"/>
          </p:cNvSpPr>
          <p:nvPr/>
        </p:nvSpPr>
        <p:spPr bwMode="auto">
          <a:xfrm>
            <a:off x="2119313" y="3068638"/>
            <a:ext cx="576262" cy="431800"/>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59399" name="Group 7"/>
          <p:cNvGrpSpPr>
            <a:grpSpLocks/>
          </p:cNvGrpSpPr>
          <p:nvPr/>
        </p:nvGrpSpPr>
        <p:grpSpPr bwMode="auto">
          <a:xfrm>
            <a:off x="2120900" y="2506663"/>
            <a:ext cx="2303463" cy="488950"/>
            <a:chOff x="1973" y="2532"/>
            <a:chExt cx="1451" cy="308"/>
          </a:xfrm>
        </p:grpSpPr>
        <p:sp>
          <p:nvSpPr>
            <p:cNvPr id="36882" name="AutoShape 8"/>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Text Box 9"/>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1</a:t>
              </a:r>
            </a:p>
          </p:txBody>
        </p:sp>
      </p:grpSp>
      <p:sp>
        <p:nvSpPr>
          <p:cNvPr id="59403" name="Rectangle 11"/>
          <p:cNvSpPr>
            <a:spLocks noChangeArrowheads="1"/>
          </p:cNvSpPr>
          <p:nvPr/>
        </p:nvSpPr>
        <p:spPr bwMode="auto">
          <a:xfrm>
            <a:off x="4424363" y="3933825"/>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59404" name="Rectangle 12"/>
          <p:cNvSpPr>
            <a:spLocks noChangeArrowheads="1"/>
          </p:cNvSpPr>
          <p:nvPr/>
        </p:nvSpPr>
        <p:spPr bwMode="auto">
          <a:xfrm>
            <a:off x="3848100" y="3933825"/>
            <a:ext cx="576263" cy="431800"/>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59405" name="Group 13"/>
          <p:cNvGrpSpPr>
            <a:grpSpLocks/>
          </p:cNvGrpSpPr>
          <p:nvPr/>
        </p:nvGrpSpPr>
        <p:grpSpPr bwMode="auto">
          <a:xfrm>
            <a:off x="3848100" y="3371850"/>
            <a:ext cx="2303463" cy="488950"/>
            <a:chOff x="1973" y="2532"/>
            <a:chExt cx="1451" cy="308"/>
          </a:xfrm>
        </p:grpSpPr>
        <p:sp>
          <p:nvSpPr>
            <p:cNvPr id="36880"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1" name="Text Box 15"/>
            <p:cNvSpPr txBox="1">
              <a:spLocks noChangeArrowheads="1"/>
            </p:cNvSpPr>
            <p:nvPr/>
          </p:nvSpPr>
          <p:spPr bwMode="auto">
            <a:xfrm>
              <a:off x="2489" y="2532"/>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sp>
        <p:nvSpPr>
          <p:cNvPr id="59409" name="Rectangle 17"/>
          <p:cNvSpPr>
            <a:spLocks noChangeArrowheads="1"/>
          </p:cNvSpPr>
          <p:nvPr/>
        </p:nvSpPr>
        <p:spPr bwMode="auto">
          <a:xfrm>
            <a:off x="6157913" y="4784725"/>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59410" name="Rectangle 18"/>
          <p:cNvSpPr>
            <a:spLocks noChangeArrowheads="1"/>
          </p:cNvSpPr>
          <p:nvPr/>
        </p:nvSpPr>
        <p:spPr bwMode="auto">
          <a:xfrm>
            <a:off x="5575300" y="4783138"/>
            <a:ext cx="576263" cy="431800"/>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首部</a:t>
            </a:r>
          </a:p>
        </p:txBody>
      </p:sp>
      <p:grpSp>
        <p:nvGrpSpPr>
          <p:cNvPr id="59423" name="Group 31"/>
          <p:cNvGrpSpPr>
            <a:grpSpLocks/>
          </p:cNvGrpSpPr>
          <p:nvPr/>
        </p:nvGrpSpPr>
        <p:grpSpPr bwMode="auto">
          <a:xfrm>
            <a:off x="5575300" y="4235450"/>
            <a:ext cx="2303463" cy="488950"/>
            <a:chOff x="3061" y="2668"/>
            <a:chExt cx="1451" cy="308"/>
          </a:xfrm>
        </p:grpSpPr>
        <p:sp>
          <p:nvSpPr>
            <p:cNvPr id="36878" name="AutoShape 20"/>
            <p:cNvSpPr>
              <a:spLocks/>
            </p:cNvSpPr>
            <p:nvPr/>
          </p:nvSpPr>
          <p:spPr bwMode="auto">
            <a:xfrm rot="5400000">
              <a:off x="3742" y="2205"/>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Text Box 21"/>
            <p:cNvSpPr txBox="1">
              <a:spLocks noChangeArrowheads="1"/>
            </p:cNvSpPr>
            <p:nvPr/>
          </p:nvSpPr>
          <p:spPr bwMode="auto">
            <a:xfrm>
              <a:off x="3577" y="2668"/>
              <a:ext cx="54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3</a:t>
              </a:r>
            </a:p>
          </p:txBody>
        </p:sp>
      </p:grpSp>
      <p:sp>
        <p:nvSpPr>
          <p:cNvPr id="59424" name="Text Box 32"/>
          <p:cNvSpPr txBox="1">
            <a:spLocks noChangeArrowheads="1"/>
          </p:cNvSpPr>
          <p:nvPr/>
        </p:nvSpPr>
        <p:spPr bwMode="auto">
          <a:xfrm>
            <a:off x="250825" y="5589588"/>
            <a:ext cx="20161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r>
              <a:rPr lang="zh-CN" altLang="en-US" sz="2800">
                <a:solidFill>
                  <a:srgbClr val="333399"/>
                </a:solidFill>
                <a:latin typeface="Tahoma" pitchFamily="34" charset="0"/>
                <a:ea typeface="黑体" pitchFamily="49" charset="-122"/>
              </a:rPr>
              <a:t>收到的数据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hidden"/>
                                      </p:to>
                                    </p:set>
                                  </p:childTnLst>
                                </p:cTn>
                              </p:par>
                            </p:childTnLst>
                          </p:cTn>
                        </p:par>
                        <p:par>
                          <p:cTn id="7" fill="hold" nodeType="afterGroup">
                            <p:stCondLst>
                              <p:cond delay="0"/>
                            </p:stCondLst>
                            <p:childTnLst>
                              <p:par>
                                <p:cTn id="8" presetID="29" presetClass="exit" presetSubtype="0" fill="hold" grpId="0" nodeType="afterEffect">
                                  <p:stCondLst>
                                    <p:cond delay="500"/>
                                  </p:stCondLst>
                                  <p:childTnLst>
                                    <p:anim calcmode="lin" valueType="num">
                                      <p:cBhvr>
                                        <p:cTn id="9" dur="1000"/>
                                        <p:tgtEl>
                                          <p:spTgt spid="59398"/>
                                        </p:tgtEl>
                                        <p:attrNameLst>
                                          <p:attrName>ppt_x</p:attrName>
                                        </p:attrNameLst>
                                      </p:cBhvr>
                                      <p:tavLst>
                                        <p:tav tm="0">
                                          <p:val>
                                            <p:strVal val="ppt_x"/>
                                          </p:val>
                                        </p:tav>
                                        <p:tav tm="100000">
                                          <p:val>
                                            <p:strVal val="ppt_x-.2"/>
                                          </p:val>
                                        </p:tav>
                                      </p:tavLst>
                                    </p:anim>
                                    <p:anim calcmode="lin" valueType="num">
                                      <p:cBhvr>
                                        <p:cTn id="10" dur="1000"/>
                                        <p:tgtEl>
                                          <p:spTgt spid="59398"/>
                                        </p:tgtEl>
                                        <p:attrNameLst>
                                          <p:attrName>ppt_y</p:attrName>
                                        </p:attrNameLst>
                                      </p:cBhvr>
                                      <p:tavLst>
                                        <p:tav tm="0">
                                          <p:val>
                                            <p:strVal val="ppt_y"/>
                                          </p:val>
                                        </p:tav>
                                        <p:tav tm="100000">
                                          <p:val>
                                            <p:strVal val="ppt_y"/>
                                          </p:val>
                                        </p:tav>
                                      </p:tavLst>
                                    </p:anim>
                                    <p:animEffect transition="out" filter="fade">
                                      <p:cBhvr>
                                        <p:cTn id="11" dur="1000"/>
                                        <p:tgtEl>
                                          <p:spTgt spid="59398"/>
                                        </p:tgtEl>
                                      </p:cBhvr>
                                    </p:animEffect>
                                    <p:set>
                                      <p:cBhvr>
                                        <p:cTn id="12" dur="1" fill="hold">
                                          <p:stCondLst>
                                            <p:cond delay="999"/>
                                          </p:stCondLst>
                                        </p:cTn>
                                        <p:tgtEl>
                                          <p:spTgt spid="59398"/>
                                        </p:tgtEl>
                                        <p:attrNameLst>
                                          <p:attrName>style.visibility</p:attrName>
                                        </p:attrNameLst>
                                      </p:cBhvr>
                                      <p:to>
                                        <p:strVal val="hidden"/>
                                      </p:to>
                                    </p:set>
                                  </p:childTnLst>
                                </p:cTn>
                              </p:par>
                            </p:childTnLst>
                          </p:cTn>
                        </p:par>
                        <p:par>
                          <p:cTn id="13" fill="hold" nodeType="afterGroup">
                            <p:stCondLst>
                              <p:cond delay="1500"/>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59397"/>
                                        </p:tgtEl>
                                        <p:attrNameLst>
                                          <p:attrName>ppt_x</p:attrName>
                                          <p:attrName>ppt_y</p:attrName>
                                        </p:attrNameLst>
                                      </p:cBhvr>
                                      <p:rCtr x="0" y="18867"/>
                                    </p:animMotion>
                                  </p:childTnLst>
                                </p:cTn>
                              </p:par>
                            </p:childTnLst>
                          </p:cTn>
                        </p:par>
                        <p:par>
                          <p:cTn id="16" fill="hold" nodeType="afterGroup">
                            <p:stCondLst>
                              <p:cond delay="2500"/>
                            </p:stCondLst>
                            <p:childTnLst>
                              <p:par>
                                <p:cTn id="17" presetID="1" presetClass="exit" presetSubtype="0" fill="hold" nodeType="afterEffect">
                                  <p:stCondLst>
                                    <p:cond delay="500"/>
                                  </p:stCondLst>
                                  <p:childTnLst>
                                    <p:set>
                                      <p:cBhvr>
                                        <p:cTn id="18" dur="1" fill="hold">
                                          <p:stCondLst>
                                            <p:cond delay="0"/>
                                          </p:stCondLst>
                                        </p:cTn>
                                        <p:tgtEl>
                                          <p:spTgt spid="59405"/>
                                        </p:tgtEl>
                                        <p:attrNameLst>
                                          <p:attrName>style.visibility</p:attrName>
                                        </p:attrNameLst>
                                      </p:cBhvr>
                                      <p:to>
                                        <p:strVal val="hidden"/>
                                      </p:to>
                                    </p:set>
                                  </p:childTnLst>
                                </p:cTn>
                              </p:par>
                            </p:childTnLst>
                          </p:cTn>
                        </p:par>
                        <p:par>
                          <p:cTn id="19" fill="hold" nodeType="afterGroup">
                            <p:stCondLst>
                              <p:cond delay="3000"/>
                            </p:stCondLst>
                            <p:childTnLst>
                              <p:par>
                                <p:cTn id="20" presetID="29" presetClass="exit" presetSubtype="0" fill="hold" grpId="0" nodeType="afterEffect">
                                  <p:stCondLst>
                                    <p:cond delay="500"/>
                                  </p:stCondLst>
                                  <p:childTnLst>
                                    <p:anim calcmode="lin" valueType="num">
                                      <p:cBhvr>
                                        <p:cTn id="21" dur="500"/>
                                        <p:tgtEl>
                                          <p:spTgt spid="59404"/>
                                        </p:tgtEl>
                                        <p:attrNameLst>
                                          <p:attrName>ppt_x</p:attrName>
                                        </p:attrNameLst>
                                      </p:cBhvr>
                                      <p:tavLst>
                                        <p:tav tm="0">
                                          <p:val>
                                            <p:strVal val="ppt_x"/>
                                          </p:val>
                                        </p:tav>
                                        <p:tav tm="100000">
                                          <p:val>
                                            <p:strVal val="ppt_x-.2"/>
                                          </p:val>
                                        </p:tav>
                                      </p:tavLst>
                                    </p:anim>
                                    <p:anim calcmode="lin" valueType="num">
                                      <p:cBhvr>
                                        <p:cTn id="22" dur="500"/>
                                        <p:tgtEl>
                                          <p:spTgt spid="59404"/>
                                        </p:tgtEl>
                                        <p:attrNameLst>
                                          <p:attrName>ppt_y</p:attrName>
                                        </p:attrNameLst>
                                      </p:cBhvr>
                                      <p:tavLst>
                                        <p:tav tm="0">
                                          <p:val>
                                            <p:strVal val="ppt_y"/>
                                          </p:val>
                                        </p:tav>
                                        <p:tav tm="100000">
                                          <p:val>
                                            <p:strVal val="ppt_y"/>
                                          </p:val>
                                        </p:tav>
                                      </p:tavLst>
                                    </p:anim>
                                    <p:animEffect transition="out" filter="fade">
                                      <p:cBhvr>
                                        <p:cTn id="23" dur="500"/>
                                        <p:tgtEl>
                                          <p:spTgt spid="59404"/>
                                        </p:tgtEl>
                                      </p:cBhvr>
                                    </p:animEffect>
                                    <p:set>
                                      <p:cBhvr>
                                        <p:cTn id="24" dur="1" fill="hold">
                                          <p:stCondLst>
                                            <p:cond delay="499"/>
                                          </p:stCondLst>
                                        </p:cTn>
                                        <p:tgtEl>
                                          <p:spTgt spid="59404"/>
                                        </p:tgtEl>
                                        <p:attrNameLst>
                                          <p:attrName>style.visibility</p:attrName>
                                        </p:attrNameLst>
                                      </p:cBhvr>
                                      <p:to>
                                        <p:strVal val="hidden"/>
                                      </p:to>
                                    </p:set>
                                  </p:childTnLst>
                                </p:cTn>
                              </p:par>
                            </p:childTnLst>
                          </p:cTn>
                        </p:par>
                        <p:par>
                          <p:cTn id="25" fill="hold" nodeType="afterGroup">
                            <p:stCondLst>
                              <p:cond delay="4000"/>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59403"/>
                                        </p:tgtEl>
                                        <p:attrNameLst>
                                          <p:attrName>ppt_x</p:attrName>
                                          <p:attrName>ppt_y</p:attrName>
                                        </p:attrNameLst>
                                      </p:cBhvr>
                                      <p:rCtr x="0" y="12578"/>
                                    </p:animMotion>
                                  </p:childTnLst>
                                </p:cTn>
                              </p:par>
                            </p:childTnLst>
                          </p:cTn>
                        </p:par>
                        <p:par>
                          <p:cTn id="28" fill="hold" nodeType="afterGroup">
                            <p:stCondLst>
                              <p:cond delay="5000"/>
                            </p:stCondLst>
                            <p:childTnLst>
                              <p:par>
                                <p:cTn id="29" presetID="1" presetClass="exit" presetSubtype="0" fill="hold" nodeType="afterEffect">
                                  <p:stCondLst>
                                    <p:cond delay="500"/>
                                  </p:stCondLst>
                                  <p:childTnLst>
                                    <p:set>
                                      <p:cBhvr>
                                        <p:cTn id="30" dur="1" fill="hold">
                                          <p:stCondLst>
                                            <p:cond delay="0"/>
                                          </p:stCondLst>
                                        </p:cTn>
                                        <p:tgtEl>
                                          <p:spTgt spid="59423"/>
                                        </p:tgtEl>
                                        <p:attrNameLst>
                                          <p:attrName>style.visibility</p:attrName>
                                        </p:attrNameLst>
                                      </p:cBhvr>
                                      <p:to>
                                        <p:strVal val="hidden"/>
                                      </p:to>
                                    </p:set>
                                  </p:childTnLst>
                                </p:cTn>
                              </p:par>
                            </p:childTnLst>
                          </p:cTn>
                        </p:par>
                        <p:par>
                          <p:cTn id="31" fill="hold" nodeType="afterGroup">
                            <p:stCondLst>
                              <p:cond delay="5500"/>
                            </p:stCondLst>
                            <p:childTnLst>
                              <p:par>
                                <p:cTn id="32" presetID="29" presetClass="exit" presetSubtype="0" fill="hold" grpId="0" nodeType="afterEffect">
                                  <p:stCondLst>
                                    <p:cond delay="500"/>
                                  </p:stCondLst>
                                  <p:childTnLst>
                                    <p:anim calcmode="lin" valueType="num">
                                      <p:cBhvr>
                                        <p:cTn id="33" dur="500"/>
                                        <p:tgtEl>
                                          <p:spTgt spid="59410"/>
                                        </p:tgtEl>
                                        <p:attrNameLst>
                                          <p:attrName>ppt_x</p:attrName>
                                        </p:attrNameLst>
                                      </p:cBhvr>
                                      <p:tavLst>
                                        <p:tav tm="0">
                                          <p:val>
                                            <p:strVal val="ppt_x"/>
                                          </p:val>
                                        </p:tav>
                                        <p:tav tm="100000">
                                          <p:val>
                                            <p:strVal val="ppt_x-.2"/>
                                          </p:val>
                                        </p:tav>
                                      </p:tavLst>
                                    </p:anim>
                                    <p:anim calcmode="lin" valueType="num">
                                      <p:cBhvr>
                                        <p:cTn id="34" dur="500"/>
                                        <p:tgtEl>
                                          <p:spTgt spid="59410"/>
                                        </p:tgtEl>
                                        <p:attrNameLst>
                                          <p:attrName>ppt_y</p:attrName>
                                        </p:attrNameLst>
                                      </p:cBhvr>
                                      <p:tavLst>
                                        <p:tav tm="0">
                                          <p:val>
                                            <p:strVal val="ppt_y"/>
                                          </p:val>
                                        </p:tav>
                                        <p:tav tm="100000">
                                          <p:val>
                                            <p:strVal val="ppt_y"/>
                                          </p:val>
                                        </p:tav>
                                      </p:tavLst>
                                    </p:anim>
                                    <p:animEffect transition="out" filter="fade">
                                      <p:cBhvr>
                                        <p:cTn id="35" dur="500"/>
                                        <p:tgtEl>
                                          <p:spTgt spid="59410"/>
                                        </p:tgtEl>
                                      </p:cBhvr>
                                    </p:animEffect>
                                    <p:set>
                                      <p:cBhvr>
                                        <p:cTn id="36" dur="1" fill="hold">
                                          <p:stCondLst>
                                            <p:cond delay="499"/>
                                          </p:stCondLst>
                                        </p:cTn>
                                        <p:tgtEl>
                                          <p:spTgt spid="59410"/>
                                        </p:tgtEl>
                                        <p:attrNameLst>
                                          <p:attrName>style.visibility</p:attrName>
                                        </p:attrNameLst>
                                      </p:cBhvr>
                                      <p:to>
                                        <p:strVal val="hidden"/>
                                      </p:to>
                                    </p:set>
                                  </p:childTnLst>
                                </p:cTn>
                              </p:par>
                            </p:childTnLst>
                          </p:cTn>
                        </p:par>
                        <p:par>
                          <p:cTn id="37" fill="hold" nodeType="afterGroup">
                            <p:stCondLst>
                              <p:cond delay="6500"/>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59409"/>
                                        </p:tgtEl>
                                        <p:attrNameLst>
                                          <p:attrName>ppt_x</p:attrName>
                                          <p:attrName>ppt_y</p:attrName>
                                        </p:attrNameLst>
                                      </p:cBhvr>
                                      <p:rCtr x="-35" y="6382"/>
                                    </p:animMotion>
                                  </p:childTnLst>
                                </p:cTn>
                              </p:par>
                            </p:childTnLst>
                          </p:cTn>
                        </p:par>
                        <p:par>
                          <p:cTn id="40" fill="hold" nodeType="afterGroup">
                            <p:stCondLst>
                              <p:cond delay="7500"/>
                            </p:stCondLst>
                            <p:childTnLst>
                              <p:par>
                                <p:cTn id="41" presetID="1" presetClass="entr" presetSubtype="0" fill="hold" grpId="0" nodeType="afterEffect">
                                  <p:stCondLst>
                                    <p:cond delay="0"/>
                                  </p:stCondLst>
                                  <p:childTnLst>
                                    <p:set>
                                      <p:cBhvr>
                                        <p:cTn id="42" dur="1" fill="hold">
                                          <p:stCondLst>
                                            <p:cond delay="0"/>
                                          </p:stCondLst>
                                        </p:cTn>
                                        <p:tgtEl>
                                          <p:spTgt spid="5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8" grpId="0" animBg="1"/>
      <p:bldP spid="59403" grpId="0" animBg="1"/>
      <p:bldP spid="59404" grpId="0" animBg="1"/>
      <p:bldP spid="59409" grpId="0" animBg="1"/>
      <p:bldP spid="59410" grpId="0" animBg="1"/>
      <p:bldP spid="5942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1979613" y="3502025"/>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37891" name="Rectangle 3"/>
          <p:cNvSpPr>
            <a:spLocks noChangeArrowheads="1"/>
          </p:cNvSpPr>
          <p:nvPr/>
        </p:nvSpPr>
        <p:spPr bwMode="auto">
          <a:xfrm>
            <a:off x="3708400" y="3502025"/>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37892" name="Rectangle 4"/>
          <p:cNvSpPr>
            <a:spLocks noChangeArrowheads="1"/>
          </p:cNvSpPr>
          <p:nvPr/>
        </p:nvSpPr>
        <p:spPr bwMode="auto">
          <a:xfrm>
            <a:off x="5437188" y="3502025"/>
            <a:ext cx="1727200"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数     据</a:t>
            </a:r>
          </a:p>
        </p:txBody>
      </p:sp>
      <p:sp>
        <p:nvSpPr>
          <p:cNvPr id="37893" name="Rectangle 8"/>
          <p:cNvSpPr>
            <a:spLocks noGrp="1" noChangeArrowheads="1"/>
          </p:cNvSpPr>
          <p:nvPr>
            <p:ph type="title"/>
          </p:nvPr>
        </p:nvSpPr>
        <p:spPr/>
        <p:txBody>
          <a:bodyPr/>
          <a:lstStyle/>
          <a:p>
            <a:pPr algn="ctr" eaLnBrk="1" hangingPunct="1"/>
            <a:r>
              <a:rPr lang="zh-CN" altLang="en-US" smtClean="0"/>
              <a:t>最后还原成原来的报文</a:t>
            </a:r>
          </a:p>
        </p:txBody>
      </p:sp>
      <p:sp>
        <p:nvSpPr>
          <p:cNvPr id="60425" name="Rectangle 9"/>
          <p:cNvSpPr>
            <a:spLocks noGrp="1" noChangeArrowheads="1"/>
          </p:cNvSpPr>
          <p:nvPr>
            <p:ph type="body" idx="1"/>
          </p:nvPr>
        </p:nvSpPr>
        <p:spPr>
          <a:xfrm>
            <a:off x="1042988" y="1906588"/>
            <a:ext cx="7772400" cy="4114800"/>
          </a:xfrm>
        </p:spPr>
        <p:txBody>
          <a:bodyPr/>
          <a:lstStyle/>
          <a:p>
            <a:pPr eaLnBrk="1" hangingPunct="1"/>
            <a:r>
              <a:rPr lang="zh-CN" altLang="en-US" smtClean="0"/>
              <a:t>最后，在接收端把收到的数据</a:t>
            </a:r>
            <a:r>
              <a:rPr lang="zh-CN" altLang="en-US" smtClean="0">
                <a:solidFill>
                  <a:schemeClr val="hlink"/>
                </a:solidFill>
              </a:rPr>
              <a:t>恢复成为原来的报文</a:t>
            </a:r>
            <a:r>
              <a:rPr lang="zh-CN" altLang="en-US" smtClean="0"/>
              <a:t>。</a:t>
            </a:r>
          </a:p>
          <a:p>
            <a:pPr eaLnBrk="1" hangingPunct="1"/>
            <a:endParaRPr lang="zh-CN" altLang="en-US" smtClean="0"/>
          </a:p>
          <a:p>
            <a:pPr eaLnBrk="1" hangingPunct="1"/>
            <a:endParaRPr lang="zh-CN" altLang="en-US" smtClean="0"/>
          </a:p>
          <a:p>
            <a:pPr eaLnBrk="1" hangingPunct="1"/>
            <a:r>
              <a:rPr lang="zh-CN" altLang="en-US" smtClean="0"/>
              <a:t>这里我们假定分组在传输过程中没有出现差错，在转发时也没有被丢弃。</a:t>
            </a:r>
          </a:p>
          <a:p>
            <a:pPr eaLnBrk="1" hangingPunct="1"/>
            <a:r>
              <a:rPr lang="zh-CN" altLang="en-US" smtClean="0"/>
              <a:t>分组交换动画</a:t>
            </a:r>
          </a:p>
        </p:txBody>
      </p:sp>
      <p:grpSp>
        <p:nvGrpSpPr>
          <p:cNvPr id="60446" name="Group 30"/>
          <p:cNvGrpSpPr>
            <a:grpSpLocks/>
          </p:cNvGrpSpPr>
          <p:nvPr/>
        </p:nvGrpSpPr>
        <p:grpSpPr bwMode="auto">
          <a:xfrm>
            <a:off x="1908175" y="3046413"/>
            <a:ext cx="5264150" cy="887412"/>
            <a:chOff x="1202" y="1919"/>
            <a:chExt cx="3316" cy="559"/>
          </a:xfrm>
        </p:grpSpPr>
        <p:grpSp>
          <p:nvGrpSpPr>
            <p:cNvPr id="37896" name="Group 5"/>
            <p:cNvGrpSpPr>
              <a:grpSpLocks/>
            </p:cNvGrpSpPr>
            <p:nvPr/>
          </p:nvGrpSpPr>
          <p:grpSpPr bwMode="auto">
            <a:xfrm>
              <a:off x="1247" y="1919"/>
              <a:ext cx="3266" cy="250"/>
              <a:chOff x="1247" y="1737"/>
              <a:chExt cx="3266" cy="250"/>
            </a:xfrm>
          </p:grpSpPr>
          <p:sp>
            <p:nvSpPr>
              <p:cNvPr id="37904" name="Line 6"/>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5" name="Text Box 7"/>
              <p:cNvSpPr txBox="1">
                <a:spLocks noChangeArrowheads="1"/>
              </p:cNvSpPr>
              <p:nvPr/>
            </p:nvSpPr>
            <p:spPr bwMode="auto">
              <a:xfrm>
                <a:off x="2699" y="1737"/>
                <a:ext cx="436" cy="2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报文</a:t>
                </a:r>
              </a:p>
            </p:txBody>
          </p:sp>
        </p:grpSp>
        <p:grpSp>
          <p:nvGrpSpPr>
            <p:cNvPr id="37897" name="Group 23"/>
            <p:cNvGrpSpPr>
              <a:grpSpLocks/>
            </p:cNvGrpSpPr>
            <p:nvPr/>
          </p:nvGrpSpPr>
          <p:grpSpPr bwMode="auto">
            <a:xfrm>
              <a:off x="1202" y="2206"/>
              <a:ext cx="3316" cy="272"/>
              <a:chOff x="1202" y="2206"/>
              <a:chExt cx="3316" cy="272"/>
            </a:xfrm>
          </p:grpSpPr>
          <p:grpSp>
            <p:nvGrpSpPr>
              <p:cNvPr id="37898" name="Group 24"/>
              <p:cNvGrpSpPr>
                <a:grpSpLocks/>
              </p:cNvGrpSpPr>
              <p:nvPr/>
            </p:nvGrpSpPr>
            <p:grpSpPr bwMode="auto">
              <a:xfrm>
                <a:off x="1247" y="2206"/>
                <a:ext cx="3266" cy="272"/>
                <a:chOff x="1247" y="2931"/>
                <a:chExt cx="3266" cy="272"/>
              </a:xfrm>
            </p:grpSpPr>
            <p:sp>
              <p:nvSpPr>
                <p:cNvPr id="37900" name="Rectangle 25"/>
                <p:cNvSpPr>
                  <a:spLocks noChangeArrowheads="1"/>
                </p:cNvSpPr>
                <p:nvPr/>
              </p:nvSpPr>
              <p:spPr bwMode="auto">
                <a:xfrm>
                  <a:off x="1248"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a:solidFill>
                      <a:srgbClr val="333399"/>
                    </a:solidFill>
                    <a:ea typeface="黑体" pitchFamily="49" charset="-122"/>
                  </a:endParaRPr>
                </a:p>
              </p:txBody>
            </p:sp>
            <p:sp>
              <p:nvSpPr>
                <p:cNvPr id="37901" name="Rectangle 26"/>
                <p:cNvSpPr>
                  <a:spLocks noChangeArrowheads="1"/>
                </p:cNvSpPr>
                <p:nvPr/>
              </p:nvSpPr>
              <p:spPr bwMode="auto">
                <a:xfrm>
                  <a:off x="2336"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a:solidFill>
                      <a:srgbClr val="333399"/>
                    </a:solidFill>
                    <a:latin typeface="Tahoma" pitchFamily="34" charset="0"/>
                    <a:ea typeface="黑体" pitchFamily="49" charset="-122"/>
                  </a:endParaRPr>
                </a:p>
              </p:txBody>
            </p:sp>
            <p:sp>
              <p:nvSpPr>
                <p:cNvPr id="37902" name="Rectangle 27"/>
                <p:cNvSpPr>
                  <a:spLocks noChangeArrowheads="1"/>
                </p:cNvSpPr>
                <p:nvPr/>
              </p:nvSpPr>
              <p:spPr bwMode="auto">
                <a:xfrm>
                  <a:off x="3425" y="2931"/>
                  <a:ext cx="1088" cy="272"/>
                </a:xfrm>
                <a:prstGeom prst="rect">
                  <a:avLst/>
                </a:prstGeom>
                <a:solidFill>
                  <a:srgbClr val="CCEC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a:solidFill>
                      <a:srgbClr val="333399"/>
                    </a:solidFill>
                    <a:ea typeface="黑体" pitchFamily="49" charset="-122"/>
                  </a:endParaRPr>
                </a:p>
              </p:txBody>
            </p:sp>
            <p:sp>
              <p:nvSpPr>
                <p:cNvPr id="37903" name="Rectangle 28"/>
                <p:cNvSpPr>
                  <a:spLocks noChangeArrowheads="1"/>
                </p:cNvSpPr>
                <p:nvPr/>
              </p:nvSpPr>
              <p:spPr bwMode="auto">
                <a:xfrm>
                  <a:off x="1247" y="2931"/>
                  <a:ext cx="3266" cy="27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7899" name="Text Box 29"/>
              <p:cNvSpPr txBox="1">
                <a:spLocks noChangeArrowheads="1"/>
              </p:cNvSpPr>
              <p:nvPr/>
            </p:nvSpPr>
            <p:spPr bwMode="auto">
              <a:xfrm>
                <a:off x="1202" y="2219"/>
                <a:ext cx="3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a:solidFill>
                      <a:srgbClr val="333399"/>
                    </a:solidFill>
                  </a:rPr>
                  <a:t>1101000110101010110101011100010011010010</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4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0446"/>
                                        </p:tgtEl>
                                        <p:attrNameLst>
                                          <p:attrName>style.visibility</p:attrName>
                                        </p:attrNameLst>
                                      </p:cBhvr>
                                      <p:to>
                                        <p:strVal val="visible"/>
                                      </p:to>
                                    </p:set>
                                    <p:animEffect transition="in" filter="fade">
                                      <p:cBhvr>
                                        <p:cTn id="11" dur="1000"/>
                                        <p:tgtEl>
                                          <p:spTgt spid="604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0425">
                                            <p:txEl>
                                              <p:pRg st="3" end="3"/>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042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mtClean="0"/>
              <a:t>分组交换特点</a:t>
            </a:r>
          </a:p>
        </p:txBody>
      </p:sp>
      <p:sp>
        <p:nvSpPr>
          <p:cNvPr id="38915" name="Rectangle 3"/>
          <p:cNvSpPr>
            <a:spLocks noGrp="1" noChangeArrowheads="1"/>
          </p:cNvSpPr>
          <p:nvPr>
            <p:ph type="body" idx="1"/>
          </p:nvPr>
        </p:nvSpPr>
        <p:spPr>
          <a:xfrm>
            <a:off x="1042988" y="1773238"/>
            <a:ext cx="7772400" cy="3960812"/>
          </a:xfrm>
        </p:spPr>
        <p:txBody>
          <a:bodyPr/>
          <a:lstStyle/>
          <a:p>
            <a:pPr eaLnBrk="1" hangingPunct="1"/>
            <a:r>
              <a:rPr lang="zh-CN" altLang="en-US" smtClean="0"/>
              <a:t>存储转发式</a:t>
            </a:r>
          </a:p>
          <a:p>
            <a:pPr eaLnBrk="1" hangingPunct="1"/>
            <a:r>
              <a:rPr lang="zh-CN" altLang="en-US" smtClean="0"/>
              <a:t>按需分配带宽、线路利用率高。</a:t>
            </a:r>
          </a:p>
          <a:p>
            <a:pPr eaLnBrk="1" hangingPunct="1"/>
            <a:r>
              <a:rPr lang="zh-CN" altLang="en-US" smtClean="0"/>
              <a:t>节点根据网络状态灵活选择路由</a:t>
            </a:r>
          </a:p>
          <a:p>
            <a:pPr eaLnBrk="1" hangingPunct="1"/>
            <a:r>
              <a:rPr lang="zh-CN" altLang="en-US" smtClean="0"/>
              <a:t>不用预先建立连接</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lgn="ctr" eaLnBrk="1" hangingPunct="1"/>
            <a:r>
              <a:rPr lang="zh-CN" altLang="en-US" smtClean="0"/>
              <a:t>因特网的核心部分</a:t>
            </a:r>
          </a:p>
        </p:txBody>
      </p:sp>
      <p:sp>
        <p:nvSpPr>
          <p:cNvPr id="39939" name="Rectangle 3"/>
          <p:cNvSpPr>
            <a:spLocks noGrp="1" noChangeArrowheads="1"/>
          </p:cNvSpPr>
          <p:nvPr>
            <p:ph type="body" idx="1"/>
          </p:nvPr>
        </p:nvSpPr>
        <p:spPr/>
        <p:txBody>
          <a:bodyPr/>
          <a:lstStyle/>
          <a:p>
            <a:pPr eaLnBrk="1" hangingPunct="1"/>
            <a:r>
              <a:rPr lang="zh-CN" altLang="en-US" sz="2800" smtClean="0"/>
              <a:t>因特网的核心部分是由许多</a:t>
            </a:r>
            <a:r>
              <a:rPr lang="zh-CN" altLang="en-US" sz="2800" smtClean="0">
                <a:solidFill>
                  <a:srgbClr val="CC0000"/>
                </a:solidFill>
              </a:rPr>
              <a:t>网络</a:t>
            </a:r>
            <a:r>
              <a:rPr lang="zh-CN" altLang="en-US" sz="2800" smtClean="0"/>
              <a:t>和把它们互连起来的</a:t>
            </a:r>
            <a:r>
              <a:rPr lang="zh-CN" altLang="en-US" sz="2800" smtClean="0">
                <a:solidFill>
                  <a:srgbClr val="CC0000"/>
                </a:solidFill>
              </a:rPr>
              <a:t>路由器</a:t>
            </a:r>
            <a:r>
              <a:rPr lang="zh-CN" altLang="en-US" sz="2800" smtClean="0"/>
              <a:t>组成，而</a:t>
            </a:r>
            <a:r>
              <a:rPr lang="zh-CN" altLang="en-US" sz="2800" smtClean="0">
                <a:solidFill>
                  <a:srgbClr val="CC0000"/>
                </a:solidFill>
              </a:rPr>
              <a:t>主机处在因特网的边缘部分</a:t>
            </a:r>
            <a:r>
              <a:rPr lang="zh-CN" altLang="en-US" sz="2800" smtClean="0"/>
              <a:t>。</a:t>
            </a:r>
          </a:p>
          <a:p>
            <a:pPr eaLnBrk="1" hangingPunct="1"/>
            <a:r>
              <a:rPr lang="zh-CN" altLang="en-US" sz="2800" smtClean="0"/>
              <a:t>在因特网核心部分的路由器之间一般都用高速链路相连接，而在网络边缘的主机接入到核心部分则通常以相对较低速率的链路相连接。</a:t>
            </a:r>
          </a:p>
          <a:p>
            <a:pPr eaLnBrk="1" hangingPunct="1"/>
            <a:r>
              <a:rPr lang="zh-CN" altLang="en-US" sz="2800" smtClean="0">
                <a:solidFill>
                  <a:srgbClr val="CC0000"/>
                </a:solidFill>
              </a:rPr>
              <a:t>主机</a:t>
            </a:r>
            <a:r>
              <a:rPr lang="zh-CN" altLang="en-US" sz="2800" smtClean="0"/>
              <a:t>的用途是为用户进行信息处理的，并且可以和其他主机通过网络交换信息。</a:t>
            </a:r>
            <a:r>
              <a:rPr lang="zh-CN" altLang="en-US" sz="2800" smtClean="0">
                <a:solidFill>
                  <a:srgbClr val="CC0000"/>
                </a:solidFill>
              </a:rPr>
              <a:t>路由器</a:t>
            </a:r>
            <a:r>
              <a:rPr lang="zh-CN" altLang="en-US" sz="2800" smtClean="0"/>
              <a:t>的用途则是用来转发分组的，即进行分组交换的。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Oval 4"/>
          <p:cNvSpPr>
            <a:spLocks noChangeArrowheads="1"/>
          </p:cNvSpPr>
          <p:nvPr/>
        </p:nvSpPr>
        <p:spPr bwMode="auto">
          <a:xfrm rot="-1674972">
            <a:off x="2184400" y="1455738"/>
            <a:ext cx="2370138" cy="158432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3" name="Oval 5"/>
          <p:cNvSpPr>
            <a:spLocks noChangeArrowheads="1"/>
          </p:cNvSpPr>
          <p:nvPr/>
        </p:nvSpPr>
        <p:spPr bwMode="auto">
          <a:xfrm rot="-774972">
            <a:off x="3771900" y="1135063"/>
            <a:ext cx="2070100" cy="147161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4" name="Oval 6"/>
          <p:cNvSpPr>
            <a:spLocks noChangeArrowheads="1"/>
          </p:cNvSpPr>
          <p:nvPr/>
        </p:nvSpPr>
        <p:spPr bwMode="auto">
          <a:xfrm rot="-174972">
            <a:off x="5284788" y="1671638"/>
            <a:ext cx="1528762" cy="190341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5" name="Oval 7"/>
          <p:cNvSpPr>
            <a:spLocks noChangeArrowheads="1"/>
          </p:cNvSpPr>
          <p:nvPr/>
        </p:nvSpPr>
        <p:spPr bwMode="auto">
          <a:xfrm rot="-3234972">
            <a:off x="5490369" y="2772569"/>
            <a:ext cx="1571625" cy="142398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6" name="Oval 8"/>
          <p:cNvSpPr>
            <a:spLocks noChangeArrowheads="1"/>
          </p:cNvSpPr>
          <p:nvPr/>
        </p:nvSpPr>
        <p:spPr bwMode="auto">
          <a:xfrm rot="-1674972">
            <a:off x="3833813" y="3559175"/>
            <a:ext cx="2592387" cy="17668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7" name="Oval 9"/>
          <p:cNvSpPr>
            <a:spLocks noChangeArrowheads="1"/>
          </p:cNvSpPr>
          <p:nvPr/>
        </p:nvSpPr>
        <p:spPr bwMode="auto">
          <a:xfrm rot="-594972">
            <a:off x="2816225" y="4305300"/>
            <a:ext cx="1852613" cy="122237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8" name="Oval 10"/>
          <p:cNvSpPr>
            <a:spLocks noChangeArrowheads="1"/>
          </p:cNvSpPr>
          <p:nvPr/>
        </p:nvSpPr>
        <p:spPr bwMode="auto">
          <a:xfrm rot="-1674972">
            <a:off x="2105025" y="3773488"/>
            <a:ext cx="1173163" cy="1444625"/>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9" name="Oval 11"/>
          <p:cNvSpPr>
            <a:spLocks noChangeArrowheads="1"/>
          </p:cNvSpPr>
          <p:nvPr/>
        </p:nvSpPr>
        <p:spPr bwMode="auto">
          <a:xfrm rot="-3534972">
            <a:off x="1769269" y="2788444"/>
            <a:ext cx="1590675" cy="117633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0" name="Freeform 12"/>
          <p:cNvSpPr>
            <a:spLocks/>
          </p:cNvSpPr>
          <p:nvPr/>
        </p:nvSpPr>
        <p:spPr bwMode="auto">
          <a:xfrm>
            <a:off x="2214563" y="1411288"/>
            <a:ext cx="4508500" cy="3852862"/>
          </a:xfrm>
          <a:custGeom>
            <a:avLst/>
            <a:gdLst>
              <a:gd name="T0" fmla="*/ 2147483647 w 1931"/>
              <a:gd name="T1" fmla="*/ 2147483647 h 1684"/>
              <a:gd name="T2" fmla="*/ 2147483647 w 1931"/>
              <a:gd name="T3" fmla="*/ 2147483647 h 1684"/>
              <a:gd name="T4" fmla="*/ 2147483647 w 1931"/>
              <a:gd name="T5" fmla="*/ 2147483647 h 1684"/>
              <a:gd name="T6" fmla="*/ 2147483647 w 1931"/>
              <a:gd name="T7" fmla="*/ 2147483647 h 1684"/>
              <a:gd name="T8" fmla="*/ 2147483647 w 1931"/>
              <a:gd name="T9" fmla="*/ 2147483647 h 1684"/>
              <a:gd name="T10" fmla="*/ 2147483647 w 1931"/>
              <a:gd name="T11" fmla="*/ 2147483647 h 1684"/>
              <a:gd name="T12" fmla="*/ 2147483647 w 1931"/>
              <a:gd name="T13" fmla="*/ 0 h 1684"/>
              <a:gd name="T14" fmla="*/ 2147483647 w 1931"/>
              <a:gd name="T15" fmla="*/ 2147483647 h 1684"/>
              <a:gd name="T16" fmla="*/ 2147483647 w 1931"/>
              <a:gd name="T17" fmla="*/ 2147483647 h 1684"/>
              <a:gd name="T18" fmla="*/ 2147483647 w 1931"/>
              <a:gd name="T19" fmla="*/ 2147483647 h 1684"/>
              <a:gd name="T20" fmla="*/ 2147483647 w 1931"/>
              <a:gd name="T21" fmla="*/ 2147483647 h 1684"/>
              <a:gd name="T22" fmla="*/ 2147483647 w 1931"/>
              <a:gd name="T23" fmla="*/ 2147483647 h 1684"/>
              <a:gd name="T24" fmla="*/ 2147483647 w 1931"/>
              <a:gd name="T25" fmla="*/ 2147483647 h 1684"/>
              <a:gd name="T26" fmla="*/ 2147483647 w 1931"/>
              <a:gd name="T27" fmla="*/ 2147483647 h 1684"/>
              <a:gd name="T28" fmla="*/ 2147483647 w 1931"/>
              <a:gd name="T29" fmla="*/ 2147483647 h 1684"/>
              <a:gd name="T30" fmla="*/ 2147483647 w 1931"/>
              <a:gd name="T31" fmla="*/ 2147483647 h 1684"/>
              <a:gd name="T32" fmla="*/ 2147483647 w 1931"/>
              <a:gd name="T33" fmla="*/ 2147483647 h 1684"/>
              <a:gd name="T34" fmla="*/ 2147483647 w 1931"/>
              <a:gd name="T35" fmla="*/ 2147483647 h 1684"/>
              <a:gd name="T36" fmla="*/ 2147483647 w 1931"/>
              <a:gd name="T37" fmla="*/ 2147483647 h 1684"/>
              <a:gd name="T38" fmla="*/ 2147483647 w 1931"/>
              <a:gd name="T39" fmla="*/ 2147483647 h 1684"/>
              <a:gd name="T40" fmla="*/ 2147483647 w 1931"/>
              <a:gd name="T41" fmla="*/ 2147483647 h 1684"/>
              <a:gd name="T42" fmla="*/ 2147483647 w 1931"/>
              <a:gd name="T43" fmla="*/ 2147483647 h 1684"/>
              <a:gd name="T44" fmla="*/ 2147483647 w 1931"/>
              <a:gd name="T45" fmla="*/ 2147483647 h 1684"/>
              <a:gd name="T46" fmla="*/ 2147483647 w 1931"/>
              <a:gd name="T47" fmla="*/ 2147483647 h 1684"/>
              <a:gd name="T48" fmla="*/ 2147483647 w 1931"/>
              <a:gd name="T49" fmla="*/ 2147483647 h 1684"/>
              <a:gd name="T50" fmla="*/ 2147483647 w 1931"/>
              <a:gd name="T51" fmla="*/ 2147483647 h 1684"/>
              <a:gd name="T52" fmla="*/ 2147483647 w 1931"/>
              <a:gd name="T53" fmla="*/ 2147483647 h 1684"/>
              <a:gd name="T54" fmla="*/ 2147483647 w 1931"/>
              <a:gd name="T55" fmla="*/ 2147483647 h 1684"/>
              <a:gd name="T56" fmla="*/ 2147483647 w 1931"/>
              <a:gd name="T57" fmla="*/ 2147483647 h 1684"/>
              <a:gd name="T58" fmla="*/ 2147483647 w 1931"/>
              <a:gd name="T59" fmla="*/ 2147483647 h 1684"/>
              <a:gd name="T60" fmla="*/ 2147483647 w 1931"/>
              <a:gd name="T61" fmla="*/ 2147483647 h 1684"/>
              <a:gd name="T62" fmla="*/ 2147483647 w 1931"/>
              <a:gd name="T63" fmla="*/ 2147483647 h 1684"/>
              <a:gd name="T64" fmla="*/ 2147483647 w 1931"/>
              <a:gd name="T65" fmla="*/ 2147483647 h 1684"/>
              <a:gd name="T66" fmla="*/ 2147483647 w 1931"/>
              <a:gd name="T67" fmla="*/ 2147483647 h 1684"/>
              <a:gd name="T68" fmla="*/ 2147483647 w 1931"/>
              <a:gd name="T69" fmla="*/ 2147483647 h 1684"/>
              <a:gd name="T70" fmla="*/ 2147483647 w 1931"/>
              <a:gd name="T71" fmla="*/ 2147483647 h 1684"/>
              <a:gd name="T72" fmla="*/ 2147483647 w 1931"/>
              <a:gd name="T73" fmla="*/ 2147483647 h 1684"/>
              <a:gd name="T74" fmla="*/ 2147483647 w 1931"/>
              <a:gd name="T75" fmla="*/ 2147483647 h 1684"/>
              <a:gd name="T76" fmla="*/ 2147483647 w 1931"/>
              <a:gd name="T77" fmla="*/ 2147483647 h 1684"/>
              <a:gd name="T78" fmla="*/ 2147483647 w 1931"/>
              <a:gd name="T79" fmla="*/ 2147483647 h 1684"/>
              <a:gd name="T80" fmla="*/ 2147483647 w 1931"/>
              <a:gd name="T81" fmla="*/ 2147483647 h 1684"/>
              <a:gd name="T82" fmla="*/ 2147483647 w 1931"/>
              <a:gd name="T83" fmla="*/ 2147483647 h 1684"/>
              <a:gd name="T84" fmla="*/ 2147483647 w 1931"/>
              <a:gd name="T85" fmla="*/ 2147483647 h 1684"/>
              <a:gd name="T86" fmla="*/ 2147483647 w 1931"/>
              <a:gd name="T87" fmla="*/ 2147483647 h 1684"/>
              <a:gd name="T88" fmla="*/ 2147483647 w 1931"/>
              <a:gd name="T89" fmla="*/ 2147483647 h 1684"/>
              <a:gd name="T90" fmla="*/ 2147483647 w 1931"/>
              <a:gd name="T91" fmla="*/ 2147483647 h 1684"/>
              <a:gd name="T92" fmla="*/ 2147483647 w 1931"/>
              <a:gd name="T93" fmla="*/ 2147483647 h 1684"/>
              <a:gd name="T94" fmla="*/ 2147483647 w 1931"/>
              <a:gd name="T95" fmla="*/ 2147483647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1" name="Line 13"/>
          <p:cNvSpPr>
            <a:spLocks noChangeShapeType="1"/>
          </p:cNvSpPr>
          <p:nvPr/>
        </p:nvSpPr>
        <p:spPr bwMode="auto">
          <a:xfrm flipV="1">
            <a:off x="3362325" y="1417638"/>
            <a:ext cx="1568450" cy="6651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2" name="Line 14"/>
          <p:cNvSpPr>
            <a:spLocks noChangeShapeType="1"/>
          </p:cNvSpPr>
          <p:nvPr/>
        </p:nvSpPr>
        <p:spPr bwMode="auto">
          <a:xfrm>
            <a:off x="5124450" y="1506538"/>
            <a:ext cx="927100" cy="16716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3" name="Line 15"/>
          <p:cNvSpPr>
            <a:spLocks noChangeShapeType="1"/>
          </p:cNvSpPr>
          <p:nvPr/>
        </p:nvSpPr>
        <p:spPr bwMode="auto">
          <a:xfrm flipH="1">
            <a:off x="2438400" y="2190750"/>
            <a:ext cx="814388" cy="15065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4" name="Line 16"/>
          <p:cNvSpPr>
            <a:spLocks noChangeShapeType="1"/>
          </p:cNvSpPr>
          <p:nvPr/>
        </p:nvSpPr>
        <p:spPr bwMode="auto">
          <a:xfrm>
            <a:off x="2487613" y="3906838"/>
            <a:ext cx="1858962" cy="10588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5" name="Line 17"/>
          <p:cNvSpPr>
            <a:spLocks noChangeShapeType="1"/>
          </p:cNvSpPr>
          <p:nvPr/>
        </p:nvSpPr>
        <p:spPr bwMode="auto">
          <a:xfrm flipV="1">
            <a:off x="4425950" y="3509963"/>
            <a:ext cx="1625600" cy="156368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6" name="Line 18"/>
          <p:cNvSpPr>
            <a:spLocks noChangeShapeType="1"/>
          </p:cNvSpPr>
          <p:nvPr/>
        </p:nvSpPr>
        <p:spPr bwMode="auto">
          <a:xfrm>
            <a:off x="3425825" y="2198688"/>
            <a:ext cx="2606675" cy="11350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7" name="Line 19"/>
          <p:cNvSpPr>
            <a:spLocks noChangeShapeType="1"/>
          </p:cNvSpPr>
          <p:nvPr/>
        </p:nvSpPr>
        <p:spPr bwMode="auto">
          <a:xfrm>
            <a:off x="3302000" y="2006600"/>
            <a:ext cx="1225550" cy="29591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8" name="Line 20"/>
          <p:cNvSpPr>
            <a:spLocks noChangeShapeType="1"/>
          </p:cNvSpPr>
          <p:nvPr/>
        </p:nvSpPr>
        <p:spPr bwMode="auto">
          <a:xfrm flipV="1">
            <a:off x="3697288" y="5049838"/>
            <a:ext cx="784225" cy="6556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9" name="Line 21"/>
          <p:cNvSpPr>
            <a:spLocks noChangeShapeType="1"/>
          </p:cNvSpPr>
          <p:nvPr/>
        </p:nvSpPr>
        <p:spPr bwMode="auto">
          <a:xfrm rot="-5400000">
            <a:off x="5296693" y="764382"/>
            <a:ext cx="493713" cy="990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0" name="Line 22"/>
          <p:cNvSpPr>
            <a:spLocks noChangeShapeType="1"/>
          </p:cNvSpPr>
          <p:nvPr/>
        </p:nvSpPr>
        <p:spPr bwMode="auto">
          <a:xfrm>
            <a:off x="6165850" y="3509963"/>
            <a:ext cx="784225" cy="12080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1" name="Line 23"/>
          <p:cNvSpPr>
            <a:spLocks noChangeShapeType="1"/>
          </p:cNvSpPr>
          <p:nvPr/>
        </p:nvSpPr>
        <p:spPr bwMode="auto">
          <a:xfrm>
            <a:off x="1357313" y="3827463"/>
            <a:ext cx="1090612" cy="190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2" name="Line 24"/>
          <p:cNvSpPr>
            <a:spLocks noChangeShapeType="1"/>
          </p:cNvSpPr>
          <p:nvPr/>
        </p:nvSpPr>
        <p:spPr bwMode="auto">
          <a:xfrm rot="5400000" flipH="1">
            <a:off x="2792413" y="1554163"/>
            <a:ext cx="923925"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3" name="Text Box 25"/>
          <p:cNvSpPr txBox="1">
            <a:spLocks noChangeArrowheads="1"/>
          </p:cNvSpPr>
          <p:nvPr/>
        </p:nvSpPr>
        <p:spPr bwMode="auto">
          <a:xfrm>
            <a:off x="323850" y="3495675"/>
            <a:ext cx="576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tx2"/>
                </a:solidFill>
                <a:ea typeface="黑体" pitchFamily="49" charset="-122"/>
              </a:rPr>
              <a:t>H</a:t>
            </a:r>
            <a:r>
              <a:rPr kumimoji="1" lang="en-US" altLang="zh-CN" sz="2800" baseline="-25000">
                <a:solidFill>
                  <a:schemeClr val="tx2"/>
                </a:solidFill>
                <a:ea typeface="黑体" pitchFamily="49" charset="-122"/>
              </a:rPr>
              <a:t>1</a:t>
            </a:r>
            <a:endParaRPr kumimoji="1" lang="en-US" altLang="zh-CN" sz="2800">
              <a:solidFill>
                <a:schemeClr val="tx2"/>
              </a:solidFill>
              <a:ea typeface="黑体" pitchFamily="49" charset="-122"/>
            </a:endParaRPr>
          </a:p>
        </p:txBody>
      </p:sp>
      <p:sp>
        <p:nvSpPr>
          <p:cNvPr id="40984" name="Text Box 26"/>
          <p:cNvSpPr txBox="1">
            <a:spLocks noChangeArrowheads="1"/>
          </p:cNvSpPr>
          <p:nvPr/>
        </p:nvSpPr>
        <p:spPr bwMode="auto">
          <a:xfrm>
            <a:off x="7404100" y="4424363"/>
            <a:ext cx="5762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tx2"/>
                </a:solidFill>
                <a:ea typeface="黑体" pitchFamily="49" charset="-122"/>
              </a:rPr>
              <a:t>H</a:t>
            </a:r>
            <a:r>
              <a:rPr kumimoji="1" lang="en-US" altLang="zh-CN" sz="2800" baseline="-25000">
                <a:solidFill>
                  <a:schemeClr val="tx2"/>
                </a:solidFill>
                <a:ea typeface="黑体" pitchFamily="49" charset="-122"/>
              </a:rPr>
              <a:t>5</a:t>
            </a:r>
            <a:endParaRPr kumimoji="1" lang="en-US" altLang="zh-CN" sz="2800">
              <a:solidFill>
                <a:schemeClr val="tx2"/>
              </a:solidFill>
              <a:ea typeface="黑体" pitchFamily="49" charset="-122"/>
            </a:endParaRPr>
          </a:p>
        </p:txBody>
      </p:sp>
      <p:sp>
        <p:nvSpPr>
          <p:cNvPr id="40985" name="Text Box 27"/>
          <p:cNvSpPr txBox="1">
            <a:spLocks noChangeArrowheads="1"/>
          </p:cNvSpPr>
          <p:nvPr/>
        </p:nvSpPr>
        <p:spPr bwMode="auto">
          <a:xfrm>
            <a:off x="2446338" y="533400"/>
            <a:ext cx="574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tx2"/>
                </a:solidFill>
                <a:ea typeface="黑体" pitchFamily="49" charset="-122"/>
              </a:rPr>
              <a:t>H</a:t>
            </a:r>
            <a:r>
              <a:rPr kumimoji="1" lang="en-US" altLang="zh-CN" sz="2800" baseline="-25000">
                <a:solidFill>
                  <a:schemeClr val="tx2"/>
                </a:solidFill>
                <a:ea typeface="黑体" pitchFamily="49" charset="-122"/>
              </a:rPr>
              <a:t>2</a:t>
            </a:r>
            <a:endParaRPr kumimoji="1" lang="en-US" altLang="zh-CN" sz="2800">
              <a:solidFill>
                <a:schemeClr val="tx2"/>
              </a:solidFill>
              <a:ea typeface="黑体" pitchFamily="49" charset="-122"/>
            </a:endParaRPr>
          </a:p>
        </p:txBody>
      </p:sp>
      <p:sp>
        <p:nvSpPr>
          <p:cNvPr id="40986" name="Text Box 28"/>
          <p:cNvSpPr txBox="1">
            <a:spLocks noChangeArrowheads="1"/>
          </p:cNvSpPr>
          <p:nvPr/>
        </p:nvSpPr>
        <p:spPr bwMode="auto">
          <a:xfrm>
            <a:off x="6338888" y="190500"/>
            <a:ext cx="574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tx2"/>
                </a:solidFill>
                <a:ea typeface="黑体" pitchFamily="49" charset="-122"/>
              </a:rPr>
              <a:t>H</a:t>
            </a:r>
            <a:r>
              <a:rPr kumimoji="1" lang="en-US" altLang="zh-CN" sz="2800" baseline="-25000">
                <a:solidFill>
                  <a:schemeClr val="tx2"/>
                </a:solidFill>
                <a:ea typeface="黑体" pitchFamily="49" charset="-122"/>
              </a:rPr>
              <a:t>4</a:t>
            </a:r>
            <a:endParaRPr kumimoji="1" lang="en-US" altLang="zh-CN" sz="2800">
              <a:solidFill>
                <a:schemeClr val="tx2"/>
              </a:solidFill>
              <a:ea typeface="黑体" pitchFamily="49" charset="-122"/>
            </a:endParaRPr>
          </a:p>
        </p:txBody>
      </p:sp>
      <p:sp>
        <p:nvSpPr>
          <p:cNvPr id="40987" name="Text Box 29"/>
          <p:cNvSpPr txBox="1">
            <a:spLocks noChangeArrowheads="1"/>
          </p:cNvSpPr>
          <p:nvPr/>
        </p:nvSpPr>
        <p:spPr bwMode="auto">
          <a:xfrm>
            <a:off x="2773363" y="5573713"/>
            <a:ext cx="574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tx2"/>
                </a:solidFill>
                <a:ea typeface="黑体" pitchFamily="49" charset="-122"/>
              </a:rPr>
              <a:t>H</a:t>
            </a:r>
            <a:r>
              <a:rPr kumimoji="1" lang="en-US" altLang="zh-CN" sz="2800" baseline="-25000">
                <a:solidFill>
                  <a:schemeClr val="tx2"/>
                </a:solidFill>
                <a:ea typeface="黑体" pitchFamily="49" charset="-122"/>
              </a:rPr>
              <a:t>3</a:t>
            </a:r>
            <a:endParaRPr kumimoji="1" lang="en-US" altLang="zh-CN" sz="2800">
              <a:solidFill>
                <a:schemeClr val="tx2"/>
              </a:solidFill>
              <a:ea typeface="黑体" pitchFamily="49" charset="-122"/>
            </a:endParaRPr>
          </a:p>
        </p:txBody>
      </p:sp>
      <p:sp>
        <p:nvSpPr>
          <p:cNvPr id="40988" name="Line 30"/>
          <p:cNvSpPr>
            <a:spLocks noChangeShapeType="1"/>
          </p:cNvSpPr>
          <p:nvPr/>
        </p:nvSpPr>
        <p:spPr bwMode="auto">
          <a:xfrm flipV="1">
            <a:off x="6165850" y="2492375"/>
            <a:ext cx="1108075" cy="7969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9" name="Text Box 31"/>
          <p:cNvSpPr txBox="1">
            <a:spLocks noChangeArrowheads="1"/>
          </p:cNvSpPr>
          <p:nvPr/>
        </p:nvSpPr>
        <p:spPr bwMode="auto">
          <a:xfrm>
            <a:off x="7092950" y="1412875"/>
            <a:ext cx="574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tx2"/>
                </a:solidFill>
                <a:ea typeface="黑体" pitchFamily="49" charset="-122"/>
              </a:rPr>
              <a:t>H</a:t>
            </a:r>
            <a:r>
              <a:rPr kumimoji="1" lang="en-US" altLang="zh-CN" sz="2800" baseline="-25000">
                <a:solidFill>
                  <a:schemeClr val="tx2"/>
                </a:solidFill>
                <a:ea typeface="黑体" pitchFamily="49" charset="-122"/>
              </a:rPr>
              <a:t>6</a:t>
            </a:r>
            <a:endParaRPr kumimoji="1" lang="en-US" altLang="zh-CN" sz="2800">
              <a:solidFill>
                <a:schemeClr val="tx2"/>
              </a:solidFill>
              <a:ea typeface="黑体" pitchFamily="49" charset="-122"/>
            </a:endParaRPr>
          </a:p>
        </p:txBody>
      </p:sp>
      <p:pic>
        <p:nvPicPr>
          <p:cNvPr id="40990" name="Picture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7700" y="306388"/>
            <a:ext cx="7143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1" name="Picture 3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1988" y="1900238"/>
            <a:ext cx="7207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2" name="Picture 3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900" y="3509963"/>
            <a:ext cx="717550"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3" name="Picture 3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788" y="5594350"/>
            <a:ext cx="7175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40994" name="Picture 3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3063" y="4500563"/>
            <a:ext cx="7207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5" name="Picture 3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546100"/>
            <a:ext cx="7207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6" name="Picture 3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4813" y="1876425"/>
            <a:ext cx="7620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0997" name="Picture 3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6775" y="1258888"/>
            <a:ext cx="762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0998" name="Picture 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200" y="3105150"/>
            <a:ext cx="762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0999" name="Picture 4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7650" y="4584700"/>
            <a:ext cx="762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1000" name="Picture 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0275" y="3475038"/>
            <a:ext cx="7620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41001" name="Group 43"/>
          <p:cNvGrpSpPr>
            <a:grpSpLocks/>
          </p:cNvGrpSpPr>
          <p:nvPr/>
        </p:nvGrpSpPr>
        <p:grpSpPr bwMode="auto">
          <a:xfrm>
            <a:off x="3810000" y="1381125"/>
            <a:ext cx="741363" cy="617538"/>
            <a:chOff x="2949" y="196"/>
            <a:chExt cx="941" cy="598"/>
          </a:xfrm>
        </p:grpSpPr>
        <p:sp>
          <p:nvSpPr>
            <p:cNvPr id="41153" name="Oval 4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4" name="Oval 4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5" name="Oval 4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6" name="Oval 4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7" name="Oval 4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8" name="Oval 4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9" name="Oval 5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60" name="Oval 5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61" name="Freeform 5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62" name="Freeform 5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63" name="Freeform 5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2" name="Group 55"/>
          <p:cNvGrpSpPr>
            <a:grpSpLocks/>
          </p:cNvGrpSpPr>
          <p:nvPr/>
        </p:nvGrpSpPr>
        <p:grpSpPr bwMode="auto">
          <a:xfrm rot="867730">
            <a:off x="4057650" y="2366963"/>
            <a:ext cx="1112838" cy="741362"/>
            <a:chOff x="2949" y="196"/>
            <a:chExt cx="941" cy="598"/>
          </a:xfrm>
        </p:grpSpPr>
        <p:sp>
          <p:nvSpPr>
            <p:cNvPr id="41142" name="Oval 5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3" name="Oval 5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4" name="Oval 5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5" name="Oval 5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6" name="Oval 6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7" name="Oval 6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8" name="Oval 6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49" name="Oval 6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50" name="Freeform 6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51" name="Freeform 6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52" name="Freeform 6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3" name="Group 67"/>
          <p:cNvGrpSpPr>
            <a:grpSpLocks/>
          </p:cNvGrpSpPr>
          <p:nvPr/>
        </p:nvGrpSpPr>
        <p:grpSpPr bwMode="auto">
          <a:xfrm>
            <a:off x="6283325" y="2614613"/>
            <a:ext cx="742950" cy="615950"/>
            <a:chOff x="2949" y="196"/>
            <a:chExt cx="941" cy="598"/>
          </a:xfrm>
        </p:grpSpPr>
        <p:sp>
          <p:nvSpPr>
            <p:cNvPr id="41131" name="Oval 6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2" name="Oval 6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3" name="Oval 7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4" name="Oval 7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5" name="Oval 7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6" name="Oval 7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7" name="Oval 7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8" name="Oval 7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39" name="Freeform 7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40" name="Freeform 7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41" name="Freeform 7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4" name="Group 79"/>
          <p:cNvGrpSpPr>
            <a:grpSpLocks/>
          </p:cNvGrpSpPr>
          <p:nvPr/>
        </p:nvGrpSpPr>
        <p:grpSpPr bwMode="auto">
          <a:xfrm rot="-448665">
            <a:off x="5170488" y="1998663"/>
            <a:ext cx="1112837" cy="739775"/>
            <a:chOff x="2949" y="196"/>
            <a:chExt cx="941" cy="598"/>
          </a:xfrm>
        </p:grpSpPr>
        <p:sp>
          <p:nvSpPr>
            <p:cNvPr id="41120" name="Oval 80"/>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1" name="Oval 81"/>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2" name="Oval 82"/>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3" name="Oval 83"/>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4" name="Oval 84"/>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5" name="Oval 85"/>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6" name="Oval 86"/>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7" name="Oval 87"/>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28" name="Freeform 8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29" name="Freeform 8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30" name="Freeform 9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5" name="Group 91"/>
          <p:cNvGrpSpPr>
            <a:grpSpLocks/>
          </p:cNvGrpSpPr>
          <p:nvPr/>
        </p:nvGrpSpPr>
        <p:grpSpPr bwMode="auto">
          <a:xfrm>
            <a:off x="3316288" y="3105150"/>
            <a:ext cx="1235075" cy="863600"/>
            <a:chOff x="2949" y="196"/>
            <a:chExt cx="941" cy="598"/>
          </a:xfrm>
        </p:grpSpPr>
        <p:sp>
          <p:nvSpPr>
            <p:cNvPr id="41109" name="Oval 92"/>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0" name="Oval 93"/>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1" name="Oval 94"/>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2" name="Oval 95"/>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3" name="Oval 96"/>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4" name="Oval 97"/>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5" name="Oval 98"/>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6" name="Oval 99"/>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17" name="Freeform 10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18" name="Freeform 10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19" name="Freeform 10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6" name="Group 103"/>
          <p:cNvGrpSpPr>
            <a:grpSpLocks/>
          </p:cNvGrpSpPr>
          <p:nvPr/>
        </p:nvGrpSpPr>
        <p:grpSpPr bwMode="auto">
          <a:xfrm rot="-485573">
            <a:off x="4800600" y="3721100"/>
            <a:ext cx="1112838" cy="741363"/>
            <a:chOff x="2949" y="196"/>
            <a:chExt cx="941" cy="598"/>
          </a:xfrm>
        </p:grpSpPr>
        <p:sp>
          <p:nvSpPr>
            <p:cNvPr id="41098" name="Oval 10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9" name="Oval 10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0" name="Oval 10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1" name="Oval 10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2" name="Oval 10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3" name="Oval 10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4" name="Oval 11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5" name="Oval 11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106" name="Freeform 11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07" name="Freeform 11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108" name="Freeform 11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7" name="Group 115"/>
          <p:cNvGrpSpPr>
            <a:grpSpLocks/>
          </p:cNvGrpSpPr>
          <p:nvPr/>
        </p:nvGrpSpPr>
        <p:grpSpPr bwMode="auto">
          <a:xfrm rot="-2399024">
            <a:off x="6161088" y="3846513"/>
            <a:ext cx="741362" cy="615950"/>
            <a:chOff x="2949" y="196"/>
            <a:chExt cx="941" cy="598"/>
          </a:xfrm>
        </p:grpSpPr>
        <p:sp>
          <p:nvSpPr>
            <p:cNvPr id="41087" name="Oval 11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8" name="Oval 11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9" name="Oval 11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0" name="Oval 11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1" name="Oval 12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2" name="Oval 12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3" name="Oval 12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4" name="Oval 12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95" name="Freeform 12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96" name="Freeform 12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97" name="Freeform 12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8" name="Group 127"/>
          <p:cNvGrpSpPr>
            <a:grpSpLocks/>
          </p:cNvGrpSpPr>
          <p:nvPr/>
        </p:nvGrpSpPr>
        <p:grpSpPr bwMode="auto">
          <a:xfrm rot="651098">
            <a:off x="3741738" y="5143500"/>
            <a:ext cx="741362" cy="495300"/>
            <a:chOff x="2949" y="196"/>
            <a:chExt cx="941" cy="598"/>
          </a:xfrm>
        </p:grpSpPr>
        <p:sp>
          <p:nvSpPr>
            <p:cNvPr id="41076" name="Oval 12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7" name="Oval 12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8" name="Oval 13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9" name="Oval 13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0" name="Oval 13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1" name="Oval 13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2" name="Oval 13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3" name="Oval 13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84" name="Freeform 13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85" name="Freeform 13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86" name="Freeform 13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09" name="Group 139"/>
          <p:cNvGrpSpPr>
            <a:grpSpLocks/>
          </p:cNvGrpSpPr>
          <p:nvPr/>
        </p:nvGrpSpPr>
        <p:grpSpPr bwMode="auto">
          <a:xfrm rot="-564615">
            <a:off x="2819400" y="4090988"/>
            <a:ext cx="742950" cy="615950"/>
            <a:chOff x="2949" y="196"/>
            <a:chExt cx="941" cy="598"/>
          </a:xfrm>
        </p:grpSpPr>
        <p:sp>
          <p:nvSpPr>
            <p:cNvPr id="41065" name="Oval 140"/>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6" name="Oval 141"/>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7" name="Oval 142"/>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8" name="Oval 143"/>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9" name="Oval 144"/>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0" name="Oval 145"/>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1" name="Oval 146"/>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2" name="Oval 147"/>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73" name="Freeform 14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74" name="Freeform 14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75" name="Freeform 15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10" name="Group 151"/>
          <p:cNvGrpSpPr>
            <a:grpSpLocks/>
          </p:cNvGrpSpPr>
          <p:nvPr/>
        </p:nvGrpSpPr>
        <p:grpSpPr bwMode="auto">
          <a:xfrm rot="1237793">
            <a:off x="5375275" y="1052513"/>
            <a:ext cx="547688" cy="388937"/>
            <a:chOff x="2949" y="196"/>
            <a:chExt cx="941" cy="598"/>
          </a:xfrm>
        </p:grpSpPr>
        <p:sp>
          <p:nvSpPr>
            <p:cNvPr id="41054" name="Oval 152"/>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5" name="Oval 153"/>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6" name="Oval 154"/>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7" name="Oval 155"/>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8" name="Oval 156"/>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9" name="Oval 157"/>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0" name="Oval 158"/>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1" name="Oval 159"/>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62" name="Freeform 16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63" name="Freeform 16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64" name="Freeform 16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11" name="Group 163"/>
          <p:cNvGrpSpPr>
            <a:grpSpLocks/>
          </p:cNvGrpSpPr>
          <p:nvPr/>
        </p:nvGrpSpPr>
        <p:grpSpPr bwMode="auto">
          <a:xfrm rot="1582351">
            <a:off x="2447925" y="2614613"/>
            <a:ext cx="742950" cy="615950"/>
            <a:chOff x="2949" y="196"/>
            <a:chExt cx="941" cy="598"/>
          </a:xfrm>
        </p:grpSpPr>
        <p:sp>
          <p:nvSpPr>
            <p:cNvPr id="41043" name="Oval 16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4" name="Oval 16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5" name="Oval 16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6" name="Oval 16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7" name="Oval 16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8" name="Oval 16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9" name="Oval 17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0" name="Oval 17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51" name="Freeform 17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52" name="Freeform 17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53" name="Freeform 17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12" name="Group 175"/>
          <p:cNvGrpSpPr>
            <a:grpSpLocks/>
          </p:cNvGrpSpPr>
          <p:nvPr/>
        </p:nvGrpSpPr>
        <p:grpSpPr bwMode="auto">
          <a:xfrm rot="-311414">
            <a:off x="2990850" y="1371600"/>
            <a:ext cx="549275" cy="387350"/>
            <a:chOff x="2949" y="196"/>
            <a:chExt cx="941" cy="598"/>
          </a:xfrm>
        </p:grpSpPr>
        <p:sp>
          <p:nvSpPr>
            <p:cNvPr id="41032" name="Oval 17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3" name="Oval 17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4" name="Oval 17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5" name="Oval 17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6" name="Oval 18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7" name="Oval 18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8" name="Oval 18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39" name="Oval 18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40" name="Freeform 18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41" name="Freeform 18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42" name="Freeform 18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1013" name="Group 187"/>
          <p:cNvGrpSpPr>
            <a:grpSpLocks/>
          </p:cNvGrpSpPr>
          <p:nvPr/>
        </p:nvGrpSpPr>
        <p:grpSpPr bwMode="auto">
          <a:xfrm rot="5241567">
            <a:off x="1462882" y="3598068"/>
            <a:ext cx="730250" cy="487363"/>
            <a:chOff x="2949" y="196"/>
            <a:chExt cx="941" cy="598"/>
          </a:xfrm>
        </p:grpSpPr>
        <p:sp>
          <p:nvSpPr>
            <p:cNvPr id="41021" name="Oval 18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2" name="Oval 18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3" name="Oval 19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4" name="Oval 19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5" name="Oval 19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6" name="Oval 19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7" name="Oval 19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8" name="Oval 19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29" name="Freeform 19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30" name="Freeform 19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31" name="Freeform 19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014" name="Text Box 200"/>
          <p:cNvSpPr txBox="1">
            <a:spLocks noChangeArrowheads="1"/>
          </p:cNvSpPr>
          <p:nvPr/>
        </p:nvSpPr>
        <p:spPr bwMode="auto">
          <a:xfrm>
            <a:off x="839788" y="1038225"/>
            <a:ext cx="125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tx2"/>
                </a:solidFill>
                <a:ea typeface="黑体" pitchFamily="49" charset="-122"/>
              </a:rPr>
              <a:t>路由器</a:t>
            </a:r>
          </a:p>
        </p:txBody>
      </p:sp>
      <p:sp>
        <p:nvSpPr>
          <p:cNvPr id="41015" name="Line 201"/>
          <p:cNvSpPr>
            <a:spLocks noChangeShapeType="1"/>
          </p:cNvSpPr>
          <p:nvPr/>
        </p:nvSpPr>
        <p:spPr bwMode="auto">
          <a:xfrm>
            <a:off x="1954213" y="1506538"/>
            <a:ext cx="99060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16" name="Text Box 202"/>
          <p:cNvSpPr txBox="1">
            <a:spLocks noChangeArrowheads="1"/>
          </p:cNvSpPr>
          <p:nvPr/>
        </p:nvSpPr>
        <p:spPr bwMode="auto">
          <a:xfrm>
            <a:off x="1014413" y="1757363"/>
            <a:ext cx="8937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tx2"/>
                </a:solidFill>
                <a:ea typeface="黑体" pitchFamily="49" charset="-122"/>
              </a:rPr>
              <a:t>网络</a:t>
            </a:r>
          </a:p>
        </p:txBody>
      </p:sp>
      <p:sp>
        <p:nvSpPr>
          <p:cNvPr id="41017" name="Line 203"/>
          <p:cNvSpPr>
            <a:spLocks noChangeShapeType="1"/>
          </p:cNvSpPr>
          <p:nvPr/>
        </p:nvSpPr>
        <p:spPr bwMode="auto">
          <a:xfrm>
            <a:off x="1828800" y="2244725"/>
            <a:ext cx="74295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18" name="Text Box 204"/>
          <p:cNvSpPr txBox="1">
            <a:spLocks noChangeArrowheads="1"/>
          </p:cNvSpPr>
          <p:nvPr/>
        </p:nvSpPr>
        <p:spPr bwMode="auto">
          <a:xfrm>
            <a:off x="3438525" y="0"/>
            <a:ext cx="2319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tx2"/>
                </a:solidFill>
                <a:ea typeface="黑体" pitchFamily="49" charset="-122"/>
              </a:rPr>
              <a:t>网络核心部分</a:t>
            </a:r>
          </a:p>
        </p:txBody>
      </p:sp>
      <p:sp>
        <p:nvSpPr>
          <p:cNvPr id="41019" name="Line 205"/>
          <p:cNvSpPr>
            <a:spLocks noChangeShapeType="1"/>
          </p:cNvSpPr>
          <p:nvPr/>
        </p:nvSpPr>
        <p:spPr bwMode="auto">
          <a:xfrm>
            <a:off x="4622800" y="593725"/>
            <a:ext cx="53975"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20" name="Text Box 206"/>
          <p:cNvSpPr txBox="1">
            <a:spLocks noChangeArrowheads="1"/>
          </p:cNvSpPr>
          <p:nvPr/>
        </p:nvSpPr>
        <p:spPr bwMode="auto">
          <a:xfrm>
            <a:off x="346075" y="2747963"/>
            <a:ext cx="893763"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chemeClr val="tx2"/>
                </a:solidFill>
                <a:ea typeface="黑体" pitchFamily="49" charset="-122"/>
              </a:rPr>
              <a:t>主机</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Oval 4"/>
          <p:cNvSpPr>
            <a:spLocks noChangeArrowheads="1"/>
          </p:cNvSpPr>
          <p:nvPr/>
        </p:nvSpPr>
        <p:spPr bwMode="auto">
          <a:xfrm rot="-1674972">
            <a:off x="2182813" y="1514475"/>
            <a:ext cx="2460625" cy="15192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87" name="Oval 5"/>
          <p:cNvSpPr>
            <a:spLocks noChangeArrowheads="1"/>
          </p:cNvSpPr>
          <p:nvPr/>
        </p:nvSpPr>
        <p:spPr bwMode="auto">
          <a:xfrm rot="-774972">
            <a:off x="3830638" y="1208088"/>
            <a:ext cx="2149475" cy="14097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88" name="Oval 6"/>
          <p:cNvSpPr>
            <a:spLocks noChangeArrowheads="1"/>
          </p:cNvSpPr>
          <p:nvPr/>
        </p:nvSpPr>
        <p:spPr bwMode="auto">
          <a:xfrm rot="-174972">
            <a:off x="5402263" y="1722438"/>
            <a:ext cx="1585912" cy="182403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89" name="Oval 7"/>
          <p:cNvSpPr>
            <a:spLocks noChangeArrowheads="1"/>
          </p:cNvSpPr>
          <p:nvPr/>
        </p:nvSpPr>
        <p:spPr bwMode="auto">
          <a:xfrm rot="-3234972">
            <a:off x="5677694" y="2720182"/>
            <a:ext cx="1506537" cy="14795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0" name="Oval 8"/>
          <p:cNvSpPr>
            <a:spLocks noChangeArrowheads="1"/>
          </p:cNvSpPr>
          <p:nvPr/>
        </p:nvSpPr>
        <p:spPr bwMode="auto">
          <a:xfrm rot="-1674972">
            <a:off x="3895725" y="3530600"/>
            <a:ext cx="2690813" cy="1693863"/>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1" name="Oval 9"/>
          <p:cNvSpPr>
            <a:spLocks noChangeArrowheads="1"/>
          </p:cNvSpPr>
          <p:nvPr/>
        </p:nvSpPr>
        <p:spPr bwMode="auto">
          <a:xfrm rot="-594972">
            <a:off x="2838450" y="4246563"/>
            <a:ext cx="1924050" cy="116998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2" name="Oval 10"/>
          <p:cNvSpPr>
            <a:spLocks noChangeArrowheads="1"/>
          </p:cNvSpPr>
          <p:nvPr/>
        </p:nvSpPr>
        <p:spPr bwMode="auto">
          <a:xfrm rot="-1674972">
            <a:off x="2100263" y="3736975"/>
            <a:ext cx="1217612" cy="13843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3" name="Oval 11"/>
          <p:cNvSpPr>
            <a:spLocks noChangeArrowheads="1"/>
          </p:cNvSpPr>
          <p:nvPr/>
        </p:nvSpPr>
        <p:spPr bwMode="auto">
          <a:xfrm rot="-3534972">
            <a:off x="1814513" y="2746375"/>
            <a:ext cx="1525588" cy="122078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4" name="Freeform 12"/>
          <p:cNvSpPr>
            <a:spLocks/>
          </p:cNvSpPr>
          <p:nvPr/>
        </p:nvSpPr>
        <p:spPr bwMode="auto">
          <a:xfrm>
            <a:off x="2212975" y="1473200"/>
            <a:ext cx="4681538" cy="3690938"/>
          </a:xfrm>
          <a:custGeom>
            <a:avLst/>
            <a:gdLst>
              <a:gd name="T0" fmla="*/ 2147483647 w 1931"/>
              <a:gd name="T1" fmla="*/ 2147483647 h 1684"/>
              <a:gd name="T2" fmla="*/ 2147483647 w 1931"/>
              <a:gd name="T3" fmla="*/ 2147483647 h 1684"/>
              <a:gd name="T4" fmla="*/ 2147483647 w 1931"/>
              <a:gd name="T5" fmla="*/ 2147483647 h 1684"/>
              <a:gd name="T6" fmla="*/ 2147483647 w 1931"/>
              <a:gd name="T7" fmla="*/ 2147483647 h 1684"/>
              <a:gd name="T8" fmla="*/ 2147483647 w 1931"/>
              <a:gd name="T9" fmla="*/ 2147483647 h 1684"/>
              <a:gd name="T10" fmla="*/ 2147483647 w 1931"/>
              <a:gd name="T11" fmla="*/ 2147483647 h 1684"/>
              <a:gd name="T12" fmla="*/ 2147483647 w 1931"/>
              <a:gd name="T13" fmla="*/ 0 h 1684"/>
              <a:gd name="T14" fmla="*/ 2147483647 w 1931"/>
              <a:gd name="T15" fmla="*/ 2147483647 h 1684"/>
              <a:gd name="T16" fmla="*/ 2147483647 w 1931"/>
              <a:gd name="T17" fmla="*/ 2147483647 h 1684"/>
              <a:gd name="T18" fmla="*/ 2147483647 w 1931"/>
              <a:gd name="T19" fmla="*/ 2147483647 h 1684"/>
              <a:gd name="T20" fmla="*/ 2147483647 w 1931"/>
              <a:gd name="T21" fmla="*/ 2147483647 h 1684"/>
              <a:gd name="T22" fmla="*/ 2147483647 w 1931"/>
              <a:gd name="T23" fmla="*/ 2147483647 h 1684"/>
              <a:gd name="T24" fmla="*/ 2147483647 w 1931"/>
              <a:gd name="T25" fmla="*/ 2147483647 h 1684"/>
              <a:gd name="T26" fmla="*/ 2147483647 w 1931"/>
              <a:gd name="T27" fmla="*/ 2147483647 h 1684"/>
              <a:gd name="T28" fmla="*/ 2147483647 w 1931"/>
              <a:gd name="T29" fmla="*/ 2147483647 h 1684"/>
              <a:gd name="T30" fmla="*/ 2147483647 w 1931"/>
              <a:gd name="T31" fmla="*/ 2147483647 h 1684"/>
              <a:gd name="T32" fmla="*/ 2147483647 w 1931"/>
              <a:gd name="T33" fmla="*/ 2147483647 h 1684"/>
              <a:gd name="T34" fmla="*/ 2147483647 w 1931"/>
              <a:gd name="T35" fmla="*/ 2147483647 h 1684"/>
              <a:gd name="T36" fmla="*/ 2147483647 w 1931"/>
              <a:gd name="T37" fmla="*/ 2147483647 h 1684"/>
              <a:gd name="T38" fmla="*/ 2147483647 w 1931"/>
              <a:gd name="T39" fmla="*/ 2147483647 h 1684"/>
              <a:gd name="T40" fmla="*/ 2147483647 w 1931"/>
              <a:gd name="T41" fmla="*/ 2147483647 h 1684"/>
              <a:gd name="T42" fmla="*/ 2147483647 w 1931"/>
              <a:gd name="T43" fmla="*/ 2147483647 h 1684"/>
              <a:gd name="T44" fmla="*/ 2147483647 w 1931"/>
              <a:gd name="T45" fmla="*/ 2147483647 h 1684"/>
              <a:gd name="T46" fmla="*/ 2147483647 w 1931"/>
              <a:gd name="T47" fmla="*/ 2147483647 h 1684"/>
              <a:gd name="T48" fmla="*/ 2147483647 w 1931"/>
              <a:gd name="T49" fmla="*/ 2147483647 h 1684"/>
              <a:gd name="T50" fmla="*/ 2147483647 w 1931"/>
              <a:gd name="T51" fmla="*/ 2147483647 h 1684"/>
              <a:gd name="T52" fmla="*/ 2147483647 w 1931"/>
              <a:gd name="T53" fmla="*/ 2147483647 h 1684"/>
              <a:gd name="T54" fmla="*/ 2147483647 w 1931"/>
              <a:gd name="T55" fmla="*/ 2147483647 h 1684"/>
              <a:gd name="T56" fmla="*/ 2147483647 w 1931"/>
              <a:gd name="T57" fmla="*/ 2147483647 h 1684"/>
              <a:gd name="T58" fmla="*/ 2147483647 w 1931"/>
              <a:gd name="T59" fmla="*/ 2147483647 h 1684"/>
              <a:gd name="T60" fmla="*/ 2147483647 w 1931"/>
              <a:gd name="T61" fmla="*/ 2147483647 h 1684"/>
              <a:gd name="T62" fmla="*/ 2147483647 w 1931"/>
              <a:gd name="T63" fmla="*/ 2147483647 h 1684"/>
              <a:gd name="T64" fmla="*/ 2147483647 w 1931"/>
              <a:gd name="T65" fmla="*/ 2147483647 h 1684"/>
              <a:gd name="T66" fmla="*/ 2147483647 w 1931"/>
              <a:gd name="T67" fmla="*/ 2147483647 h 1684"/>
              <a:gd name="T68" fmla="*/ 2147483647 w 1931"/>
              <a:gd name="T69" fmla="*/ 2147483647 h 1684"/>
              <a:gd name="T70" fmla="*/ 2147483647 w 1931"/>
              <a:gd name="T71" fmla="*/ 2147483647 h 1684"/>
              <a:gd name="T72" fmla="*/ 2147483647 w 1931"/>
              <a:gd name="T73" fmla="*/ 2147483647 h 1684"/>
              <a:gd name="T74" fmla="*/ 2147483647 w 1931"/>
              <a:gd name="T75" fmla="*/ 2147483647 h 1684"/>
              <a:gd name="T76" fmla="*/ 2147483647 w 1931"/>
              <a:gd name="T77" fmla="*/ 2147483647 h 1684"/>
              <a:gd name="T78" fmla="*/ 2147483647 w 1931"/>
              <a:gd name="T79" fmla="*/ 2147483647 h 1684"/>
              <a:gd name="T80" fmla="*/ 2147483647 w 1931"/>
              <a:gd name="T81" fmla="*/ 2147483647 h 1684"/>
              <a:gd name="T82" fmla="*/ 2147483647 w 1931"/>
              <a:gd name="T83" fmla="*/ 2147483647 h 1684"/>
              <a:gd name="T84" fmla="*/ 2147483647 w 1931"/>
              <a:gd name="T85" fmla="*/ 2147483647 h 1684"/>
              <a:gd name="T86" fmla="*/ 2147483647 w 1931"/>
              <a:gd name="T87" fmla="*/ 2147483647 h 1684"/>
              <a:gd name="T88" fmla="*/ 2147483647 w 1931"/>
              <a:gd name="T89" fmla="*/ 2147483647 h 1684"/>
              <a:gd name="T90" fmla="*/ 2147483647 w 1931"/>
              <a:gd name="T91" fmla="*/ 2147483647 h 1684"/>
              <a:gd name="T92" fmla="*/ 2147483647 w 1931"/>
              <a:gd name="T93" fmla="*/ 2147483647 h 1684"/>
              <a:gd name="T94" fmla="*/ 2147483647 w 1931"/>
              <a:gd name="T95" fmla="*/ 2147483647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5" name="Line 13"/>
          <p:cNvSpPr>
            <a:spLocks noChangeShapeType="1"/>
          </p:cNvSpPr>
          <p:nvPr/>
        </p:nvSpPr>
        <p:spPr bwMode="auto">
          <a:xfrm flipV="1">
            <a:off x="3405188" y="1477963"/>
            <a:ext cx="1628775" cy="6381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6" name="Line 14"/>
          <p:cNvSpPr>
            <a:spLocks noChangeShapeType="1"/>
          </p:cNvSpPr>
          <p:nvPr/>
        </p:nvSpPr>
        <p:spPr bwMode="auto">
          <a:xfrm>
            <a:off x="5235575" y="1563688"/>
            <a:ext cx="962025" cy="16033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7" name="Line 15"/>
          <p:cNvSpPr>
            <a:spLocks noChangeShapeType="1"/>
          </p:cNvSpPr>
          <p:nvPr/>
        </p:nvSpPr>
        <p:spPr bwMode="auto">
          <a:xfrm flipH="1">
            <a:off x="2444750" y="2219325"/>
            <a:ext cx="847725" cy="14446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8" name="Line 16"/>
          <p:cNvSpPr>
            <a:spLocks noChangeShapeType="1"/>
          </p:cNvSpPr>
          <p:nvPr/>
        </p:nvSpPr>
        <p:spPr bwMode="auto">
          <a:xfrm>
            <a:off x="2497138" y="3863975"/>
            <a:ext cx="1930400" cy="10144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9" name="Line 17"/>
          <p:cNvSpPr>
            <a:spLocks noChangeShapeType="1"/>
          </p:cNvSpPr>
          <p:nvPr/>
        </p:nvSpPr>
        <p:spPr bwMode="auto">
          <a:xfrm flipV="1">
            <a:off x="4510088" y="3484563"/>
            <a:ext cx="1687512" cy="149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0" name="Line 18"/>
          <p:cNvSpPr>
            <a:spLocks noChangeShapeType="1"/>
          </p:cNvSpPr>
          <p:nvPr/>
        </p:nvSpPr>
        <p:spPr bwMode="auto">
          <a:xfrm>
            <a:off x="3470275" y="2227263"/>
            <a:ext cx="2708275" cy="10874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1" name="Line 19"/>
          <p:cNvSpPr>
            <a:spLocks noChangeShapeType="1"/>
          </p:cNvSpPr>
          <p:nvPr/>
        </p:nvSpPr>
        <p:spPr bwMode="auto">
          <a:xfrm>
            <a:off x="3343275" y="2043113"/>
            <a:ext cx="1271588" cy="28352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2" name="Line 20"/>
          <p:cNvSpPr>
            <a:spLocks noChangeShapeType="1"/>
          </p:cNvSpPr>
          <p:nvPr/>
        </p:nvSpPr>
        <p:spPr bwMode="auto">
          <a:xfrm flipV="1">
            <a:off x="3754438" y="4959350"/>
            <a:ext cx="812800" cy="6302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3" name="Line 21"/>
          <p:cNvSpPr>
            <a:spLocks noChangeShapeType="1"/>
          </p:cNvSpPr>
          <p:nvPr/>
        </p:nvSpPr>
        <p:spPr bwMode="auto">
          <a:xfrm rot="-5400000">
            <a:off x="5433219" y="813594"/>
            <a:ext cx="473075" cy="10271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4" name="Line 22"/>
          <p:cNvSpPr>
            <a:spLocks noChangeShapeType="1"/>
          </p:cNvSpPr>
          <p:nvPr/>
        </p:nvSpPr>
        <p:spPr bwMode="auto">
          <a:xfrm>
            <a:off x="6316663" y="3484563"/>
            <a:ext cx="812800" cy="11572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5" name="Line 23"/>
          <p:cNvSpPr>
            <a:spLocks noChangeShapeType="1"/>
          </p:cNvSpPr>
          <p:nvPr/>
        </p:nvSpPr>
        <p:spPr bwMode="auto">
          <a:xfrm>
            <a:off x="1323975" y="3787775"/>
            <a:ext cx="1133475" cy="190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6" name="Line 24"/>
          <p:cNvSpPr>
            <a:spLocks noChangeShapeType="1"/>
          </p:cNvSpPr>
          <p:nvPr/>
        </p:nvSpPr>
        <p:spPr bwMode="auto">
          <a:xfrm rot="5400000" flipH="1">
            <a:off x="2851944" y="1608931"/>
            <a:ext cx="884238"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7" name="Text Box 25"/>
          <p:cNvSpPr txBox="1">
            <a:spLocks noChangeArrowheads="1"/>
          </p:cNvSpPr>
          <p:nvPr/>
        </p:nvSpPr>
        <p:spPr bwMode="auto">
          <a:xfrm>
            <a:off x="250825" y="3411538"/>
            <a:ext cx="625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H</a:t>
            </a:r>
            <a:r>
              <a:rPr kumimoji="1" lang="en-US" altLang="zh-CN" sz="3200" baseline="-25000">
                <a:solidFill>
                  <a:schemeClr val="tx2"/>
                </a:solidFill>
                <a:ea typeface="黑体" pitchFamily="49" charset="-122"/>
              </a:rPr>
              <a:t>1</a:t>
            </a:r>
            <a:endParaRPr kumimoji="1" lang="en-US" altLang="zh-CN" sz="3200">
              <a:solidFill>
                <a:schemeClr val="tx2"/>
              </a:solidFill>
              <a:ea typeface="黑体" pitchFamily="49" charset="-122"/>
            </a:endParaRPr>
          </a:p>
        </p:txBody>
      </p:sp>
      <p:sp>
        <p:nvSpPr>
          <p:cNvPr id="42008" name="Text Box 26"/>
          <p:cNvSpPr txBox="1">
            <a:spLocks noChangeArrowheads="1"/>
          </p:cNvSpPr>
          <p:nvPr/>
        </p:nvSpPr>
        <p:spPr bwMode="auto">
          <a:xfrm>
            <a:off x="7605713" y="4300538"/>
            <a:ext cx="625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H</a:t>
            </a:r>
            <a:r>
              <a:rPr kumimoji="1" lang="en-US" altLang="zh-CN" sz="3200" baseline="-25000">
                <a:solidFill>
                  <a:schemeClr val="tx2"/>
                </a:solidFill>
                <a:ea typeface="黑体" pitchFamily="49" charset="-122"/>
              </a:rPr>
              <a:t>5</a:t>
            </a:r>
            <a:endParaRPr kumimoji="1" lang="en-US" altLang="zh-CN" sz="3200">
              <a:solidFill>
                <a:schemeClr val="tx2"/>
              </a:solidFill>
              <a:ea typeface="黑体" pitchFamily="49" charset="-122"/>
            </a:endParaRPr>
          </a:p>
        </p:txBody>
      </p:sp>
      <p:sp>
        <p:nvSpPr>
          <p:cNvPr id="42009" name="Text Box 27"/>
          <p:cNvSpPr txBox="1">
            <a:spLocks noChangeArrowheads="1"/>
          </p:cNvSpPr>
          <p:nvPr/>
        </p:nvSpPr>
        <p:spPr bwMode="auto">
          <a:xfrm>
            <a:off x="2454275" y="617538"/>
            <a:ext cx="625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H</a:t>
            </a:r>
            <a:r>
              <a:rPr kumimoji="1" lang="en-US" altLang="zh-CN" sz="3200" baseline="-25000">
                <a:solidFill>
                  <a:schemeClr val="tx2"/>
                </a:solidFill>
                <a:ea typeface="黑体" pitchFamily="49" charset="-122"/>
              </a:rPr>
              <a:t>2</a:t>
            </a:r>
            <a:endParaRPr kumimoji="1" lang="en-US" altLang="zh-CN" sz="3200">
              <a:solidFill>
                <a:schemeClr val="tx2"/>
              </a:solidFill>
              <a:ea typeface="黑体" pitchFamily="49" charset="-122"/>
            </a:endParaRPr>
          </a:p>
        </p:txBody>
      </p:sp>
      <p:sp>
        <p:nvSpPr>
          <p:cNvPr id="42010" name="Text Box 28"/>
          <p:cNvSpPr txBox="1">
            <a:spLocks noChangeArrowheads="1"/>
          </p:cNvSpPr>
          <p:nvPr/>
        </p:nvSpPr>
        <p:spPr bwMode="auto">
          <a:xfrm>
            <a:off x="6496050" y="401638"/>
            <a:ext cx="625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H</a:t>
            </a:r>
            <a:r>
              <a:rPr kumimoji="1" lang="en-US" altLang="zh-CN" sz="3200" baseline="-25000">
                <a:solidFill>
                  <a:schemeClr val="tx2"/>
                </a:solidFill>
                <a:ea typeface="黑体" pitchFamily="49" charset="-122"/>
              </a:rPr>
              <a:t>4</a:t>
            </a:r>
            <a:endParaRPr kumimoji="1" lang="en-US" altLang="zh-CN" sz="3200">
              <a:solidFill>
                <a:schemeClr val="tx2"/>
              </a:solidFill>
              <a:ea typeface="黑体" pitchFamily="49" charset="-122"/>
            </a:endParaRPr>
          </a:p>
        </p:txBody>
      </p:sp>
      <p:sp>
        <p:nvSpPr>
          <p:cNvPr id="42011" name="Text Box 29"/>
          <p:cNvSpPr txBox="1">
            <a:spLocks noChangeArrowheads="1"/>
          </p:cNvSpPr>
          <p:nvPr/>
        </p:nvSpPr>
        <p:spPr bwMode="auto">
          <a:xfrm>
            <a:off x="2825750" y="5297488"/>
            <a:ext cx="6254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H</a:t>
            </a:r>
            <a:r>
              <a:rPr kumimoji="1" lang="en-US" altLang="zh-CN" sz="3200" baseline="-25000">
                <a:solidFill>
                  <a:schemeClr val="tx2"/>
                </a:solidFill>
                <a:ea typeface="黑体" pitchFamily="49" charset="-122"/>
              </a:rPr>
              <a:t>3</a:t>
            </a:r>
            <a:endParaRPr kumimoji="1" lang="en-US" altLang="zh-CN" sz="3200">
              <a:solidFill>
                <a:schemeClr val="tx2"/>
              </a:solidFill>
              <a:ea typeface="黑体" pitchFamily="49" charset="-122"/>
            </a:endParaRPr>
          </a:p>
        </p:txBody>
      </p:sp>
      <p:sp>
        <p:nvSpPr>
          <p:cNvPr id="42012" name="Line 30"/>
          <p:cNvSpPr>
            <a:spLocks noChangeShapeType="1"/>
          </p:cNvSpPr>
          <p:nvPr/>
        </p:nvSpPr>
        <p:spPr bwMode="auto">
          <a:xfrm flipV="1">
            <a:off x="6316663" y="2508250"/>
            <a:ext cx="1150937" cy="765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3" name="Text Box 31"/>
          <p:cNvSpPr txBox="1">
            <a:spLocks noChangeArrowheads="1"/>
          </p:cNvSpPr>
          <p:nvPr/>
        </p:nvSpPr>
        <p:spPr bwMode="auto">
          <a:xfrm>
            <a:off x="7331075" y="1409700"/>
            <a:ext cx="625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H</a:t>
            </a:r>
            <a:r>
              <a:rPr kumimoji="1" lang="en-US" altLang="zh-CN" sz="3200" baseline="-25000">
                <a:solidFill>
                  <a:schemeClr val="tx2"/>
                </a:solidFill>
                <a:ea typeface="黑体" pitchFamily="49" charset="-122"/>
              </a:rPr>
              <a:t>6</a:t>
            </a:r>
            <a:endParaRPr kumimoji="1" lang="en-US" altLang="zh-CN" sz="3200">
              <a:solidFill>
                <a:schemeClr val="tx2"/>
              </a:solidFill>
              <a:ea typeface="黑体" pitchFamily="49" charset="-122"/>
            </a:endParaRPr>
          </a:p>
        </p:txBody>
      </p:sp>
      <p:pic>
        <p:nvPicPr>
          <p:cNvPr id="42014" name="Picture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1050" y="414338"/>
            <a:ext cx="742950"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15" name="Picture 3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4550" y="1941513"/>
            <a:ext cx="747713"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16" name="Picture 3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925" y="3484563"/>
            <a:ext cx="746125"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17" name="Picture 3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2475" y="5481638"/>
            <a:ext cx="744538"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42018" name="Picture 3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4513" y="4433888"/>
            <a:ext cx="747712"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019" name="Picture 3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1638" y="642938"/>
            <a:ext cx="747712"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020" name="Text Box 38"/>
          <p:cNvSpPr txBox="1">
            <a:spLocks noChangeArrowheads="1"/>
          </p:cNvSpPr>
          <p:nvPr/>
        </p:nvSpPr>
        <p:spPr bwMode="auto">
          <a:xfrm>
            <a:off x="1019175" y="4738688"/>
            <a:ext cx="14033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3200">
                <a:solidFill>
                  <a:schemeClr val="tx2"/>
                </a:solidFill>
                <a:ea typeface="黑体" pitchFamily="49" charset="-122"/>
              </a:rPr>
              <a:t>发送的</a:t>
            </a:r>
          </a:p>
          <a:p>
            <a:pPr algn="ctr" eaLnBrk="1" hangingPunct="1"/>
            <a:r>
              <a:rPr kumimoji="1" lang="zh-CN" altLang="en-US" sz="3200">
                <a:solidFill>
                  <a:schemeClr val="tx2"/>
                </a:solidFill>
                <a:ea typeface="黑体" pitchFamily="49" charset="-122"/>
              </a:rPr>
              <a:t>分组</a:t>
            </a:r>
          </a:p>
        </p:txBody>
      </p:sp>
      <p:pic>
        <p:nvPicPr>
          <p:cNvPr id="42021" name="Picture 3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3388" y="1917700"/>
            <a:ext cx="78898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022" name="Picture 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0438" y="1327150"/>
            <a:ext cx="79057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023" name="Picture 4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3097213"/>
            <a:ext cx="790575"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024" name="Picture 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7500" y="4514850"/>
            <a:ext cx="790575"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42025" name="Picture 4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688" y="3449638"/>
            <a:ext cx="79057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2026" name="Text Box 45"/>
          <p:cNvSpPr txBox="1">
            <a:spLocks noChangeArrowheads="1"/>
          </p:cNvSpPr>
          <p:nvPr/>
        </p:nvSpPr>
        <p:spPr bwMode="auto">
          <a:xfrm>
            <a:off x="785813" y="977900"/>
            <a:ext cx="1403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a:solidFill>
                  <a:schemeClr val="tx2"/>
                </a:solidFill>
                <a:ea typeface="黑体" pitchFamily="49" charset="-122"/>
              </a:rPr>
              <a:t>路由器</a:t>
            </a:r>
          </a:p>
        </p:txBody>
      </p:sp>
      <p:sp>
        <p:nvSpPr>
          <p:cNvPr id="42027" name="Line 46"/>
          <p:cNvSpPr>
            <a:spLocks noChangeShapeType="1"/>
          </p:cNvSpPr>
          <p:nvPr/>
        </p:nvSpPr>
        <p:spPr bwMode="auto">
          <a:xfrm>
            <a:off x="1944688" y="1563688"/>
            <a:ext cx="1028700" cy="471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28" name="Text Box 47"/>
          <p:cNvSpPr txBox="1">
            <a:spLocks noChangeArrowheads="1"/>
          </p:cNvSpPr>
          <p:nvPr/>
        </p:nvSpPr>
        <p:spPr bwMode="auto">
          <a:xfrm>
            <a:off x="2171700" y="2921000"/>
            <a:ext cx="455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A</a:t>
            </a:r>
          </a:p>
        </p:txBody>
      </p:sp>
      <p:sp>
        <p:nvSpPr>
          <p:cNvPr id="42029" name="Text Box 48"/>
          <p:cNvSpPr txBox="1">
            <a:spLocks noChangeArrowheads="1"/>
          </p:cNvSpPr>
          <p:nvPr/>
        </p:nvSpPr>
        <p:spPr bwMode="auto">
          <a:xfrm>
            <a:off x="6102350" y="2562225"/>
            <a:ext cx="455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E</a:t>
            </a:r>
          </a:p>
        </p:txBody>
      </p:sp>
      <p:sp>
        <p:nvSpPr>
          <p:cNvPr id="42030" name="Text Box 49"/>
          <p:cNvSpPr txBox="1">
            <a:spLocks noChangeArrowheads="1"/>
          </p:cNvSpPr>
          <p:nvPr/>
        </p:nvSpPr>
        <p:spPr bwMode="auto">
          <a:xfrm>
            <a:off x="4859338" y="1697038"/>
            <a:ext cx="4778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D</a:t>
            </a:r>
          </a:p>
        </p:txBody>
      </p:sp>
      <p:sp>
        <p:nvSpPr>
          <p:cNvPr id="42031" name="Text Box 50"/>
          <p:cNvSpPr txBox="1">
            <a:spLocks noChangeArrowheads="1"/>
          </p:cNvSpPr>
          <p:nvPr/>
        </p:nvSpPr>
        <p:spPr bwMode="auto">
          <a:xfrm>
            <a:off x="3373438" y="1412875"/>
            <a:ext cx="4778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b="1">
                <a:solidFill>
                  <a:schemeClr val="tx2"/>
                </a:solidFill>
                <a:ea typeface="黑体" pitchFamily="49" charset="-122"/>
              </a:rPr>
              <a:t>B</a:t>
            </a:r>
          </a:p>
        </p:txBody>
      </p:sp>
      <p:sp>
        <p:nvSpPr>
          <p:cNvPr id="42032" name="Text Box 51"/>
          <p:cNvSpPr txBox="1">
            <a:spLocks noChangeArrowheads="1"/>
          </p:cNvSpPr>
          <p:nvPr/>
        </p:nvSpPr>
        <p:spPr bwMode="auto">
          <a:xfrm>
            <a:off x="4886325" y="4578350"/>
            <a:ext cx="477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3200">
                <a:solidFill>
                  <a:schemeClr val="tx2"/>
                </a:solidFill>
                <a:ea typeface="黑体" pitchFamily="49" charset="-122"/>
              </a:rPr>
              <a:t>C</a:t>
            </a:r>
          </a:p>
        </p:txBody>
      </p:sp>
      <p:sp>
        <p:nvSpPr>
          <p:cNvPr id="42033" name="Line 52"/>
          <p:cNvSpPr>
            <a:spLocks noChangeShapeType="1"/>
          </p:cNvSpPr>
          <p:nvPr/>
        </p:nvSpPr>
        <p:spPr bwMode="auto">
          <a:xfrm flipV="1">
            <a:off x="1528763" y="4121150"/>
            <a:ext cx="257175" cy="825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34" name="Rectangle 53"/>
          <p:cNvSpPr>
            <a:spLocks noChangeArrowheads="1"/>
          </p:cNvSpPr>
          <p:nvPr/>
        </p:nvSpPr>
        <p:spPr bwMode="auto">
          <a:xfrm>
            <a:off x="1608138" y="3884613"/>
            <a:ext cx="257175" cy="236537"/>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5" name="Rectangle 54"/>
          <p:cNvSpPr>
            <a:spLocks noChangeArrowheads="1"/>
          </p:cNvSpPr>
          <p:nvPr/>
        </p:nvSpPr>
        <p:spPr bwMode="auto">
          <a:xfrm>
            <a:off x="1989138" y="3884613"/>
            <a:ext cx="258762" cy="236537"/>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6" name="Rectangle 55"/>
          <p:cNvSpPr>
            <a:spLocks noChangeArrowheads="1"/>
          </p:cNvSpPr>
          <p:nvPr/>
        </p:nvSpPr>
        <p:spPr bwMode="auto">
          <a:xfrm>
            <a:off x="3068638" y="3884613"/>
            <a:ext cx="257175" cy="236537"/>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7" name="Rectangle 56"/>
          <p:cNvSpPr>
            <a:spLocks noChangeArrowheads="1"/>
          </p:cNvSpPr>
          <p:nvPr/>
        </p:nvSpPr>
        <p:spPr bwMode="auto">
          <a:xfrm>
            <a:off x="3711575" y="4238625"/>
            <a:ext cx="257175" cy="236538"/>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8" name="Rectangle 57"/>
          <p:cNvSpPr>
            <a:spLocks noChangeArrowheads="1"/>
          </p:cNvSpPr>
          <p:nvPr/>
        </p:nvSpPr>
        <p:spPr bwMode="auto">
          <a:xfrm>
            <a:off x="4773613" y="4198938"/>
            <a:ext cx="258762" cy="238125"/>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9" name="Rectangle 58"/>
          <p:cNvSpPr>
            <a:spLocks noChangeArrowheads="1"/>
          </p:cNvSpPr>
          <p:nvPr/>
        </p:nvSpPr>
        <p:spPr bwMode="auto">
          <a:xfrm>
            <a:off x="5141913" y="3846513"/>
            <a:ext cx="257175" cy="236537"/>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0" name="Rectangle 59"/>
          <p:cNvSpPr>
            <a:spLocks noChangeArrowheads="1"/>
          </p:cNvSpPr>
          <p:nvPr/>
        </p:nvSpPr>
        <p:spPr bwMode="auto">
          <a:xfrm>
            <a:off x="6211888" y="3775075"/>
            <a:ext cx="257175" cy="236538"/>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1" name="Rectangle 60"/>
          <p:cNvSpPr>
            <a:spLocks noChangeArrowheads="1"/>
          </p:cNvSpPr>
          <p:nvPr/>
        </p:nvSpPr>
        <p:spPr bwMode="auto">
          <a:xfrm>
            <a:off x="5492750" y="3521075"/>
            <a:ext cx="258763" cy="236538"/>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2" name="Rectangle 61"/>
          <p:cNvSpPr>
            <a:spLocks noChangeArrowheads="1"/>
          </p:cNvSpPr>
          <p:nvPr/>
        </p:nvSpPr>
        <p:spPr bwMode="auto">
          <a:xfrm>
            <a:off x="6589713" y="4308475"/>
            <a:ext cx="257175" cy="236538"/>
          </a:xfrm>
          <a:prstGeom prst="rect">
            <a:avLst/>
          </a:prstGeom>
          <a:solidFill>
            <a:schemeClr val="accent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3" name="Rectangle 62"/>
          <p:cNvSpPr>
            <a:spLocks noChangeArrowheads="1"/>
          </p:cNvSpPr>
          <p:nvPr/>
        </p:nvSpPr>
        <p:spPr bwMode="auto">
          <a:xfrm>
            <a:off x="1477963" y="3435350"/>
            <a:ext cx="257175" cy="236538"/>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4" name="Rectangle 63"/>
          <p:cNvSpPr>
            <a:spLocks noChangeArrowheads="1"/>
          </p:cNvSpPr>
          <p:nvPr/>
        </p:nvSpPr>
        <p:spPr bwMode="auto">
          <a:xfrm>
            <a:off x="3086100" y="2633663"/>
            <a:ext cx="257175" cy="236537"/>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5" name="Rectangle 64"/>
          <p:cNvSpPr>
            <a:spLocks noChangeArrowheads="1"/>
          </p:cNvSpPr>
          <p:nvPr/>
        </p:nvSpPr>
        <p:spPr bwMode="auto">
          <a:xfrm>
            <a:off x="3968750" y="2116138"/>
            <a:ext cx="258763" cy="236537"/>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6" name="Rectangle 65"/>
          <p:cNvSpPr>
            <a:spLocks noChangeArrowheads="1"/>
          </p:cNvSpPr>
          <p:nvPr/>
        </p:nvSpPr>
        <p:spPr bwMode="auto">
          <a:xfrm>
            <a:off x="4483100" y="2305050"/>
            <a:ext cx="255588" cy="236538"/>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7" name="Rectangle 66"/>
          <p:cNvSpPr>
            <a:spLocks noChangeArrowheads="1"/>
          </p:cNvSpPr>
          <p:nvPr/>
        </p:nvSpPr>
        <p:spPr bwMode="auto">
          <a:xfrm>
            <a:off x="5510213" y="2703513"/>
            <a:ext cx="257175" cy="236537"/>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8" name="Rectangle 67"/>
          <p:cNvSpPr>
            <a:spLocks noChangeArrowheads="1"/>
          </p:cNvSpPr>
          <p:nvPr/>
        </p:nvSpPr>
        <p:spPr bwMode="auto">
          <a:xfrm>
            <a:off x="2811463" y="3176588"/>
            <a:ext cx="257175" cy="236537"/>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9" name="Rectangle 68"/>
          <p:cNvSpPr>
            <a:spLocks noChangeArrowheads="1"/>
          </p:cNvSpPr>
          <p:nvPr/>
        </p:nvSpPr>
        <p:spPr bwMode="auto">
          <a:xfrm>
            <a:off x="6665913" y="3600450"/>
            <a:ext cx="257175" cy="238125"/>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0" name="Rectangle 69"/>
          <p:cNvSpPr>
            <a:spLocks noChangeArrowheads="1"/>
          </p:cNvSpPr>
          <p:nvPr/>
        </p:nvSpPr>
        <p:spPr bwMode="auto">
          <a:xfrm>
            <a:off x="1862138" y="3435350"/>
            <a:ext cx="257175" cy="236538"/>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1" name="Rectangle 70"/>
          <p:cNvSpPr>
            <a:spLocks noChangeArrowheads="1"/>
          </p:cNvSpPr>
          <p:nvPr/>
        </p:nvSpPr>
        <p:spPr bwMode="auto">
          <a:xfrm>
            <a:off x="6948488" y="4025900"/>
            <a:ext cx="257175" cy="236538"/>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2" name="Rectangle 71"/>
          <p:cNvSpPr>
            <a:spLocks noChangeArrowheads="1"/>
          </p:cNvSpPr>
          <p:nvPr/>
        </p:nvSpPr>
        <p:spPr bwMode="auto">
          <a:xfrm>
            <a:off x="4953000" y="2471738"/>
            <a:ext cx="255588" cy="236537"/>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3" name="Text Box 72"/>
          <p:cNvSpPr txBox="1">
            <a:spLocks noChangeArrowheads="1"/>
          </p:cNvSpPr>
          <p:nvPr/>
        </p:nvSpPr>
        <p:spPr bwMode="auto">
          <a:xfrm>
            <a:off x="3457575" y="112713"/>
            <a:ext cx="2622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a:solidFill>
                  <a:schemeClr val="tx2"/>
                </a:solidFill>
                <a:ea typeface="黑体" pitchFamily="49" charset="-122"/>
              </a:rPr>
              <a:t>网络核心部分</a:t>
            </a:r>
          </a:p>
        </p:txBody>
      </p:sp>
      <p:sp>
        <p:nvSpPr>
          <p:cNvPr id="42054" name="Line 73"/>
          <p:cNvSpPr>
            <a:spLocks noChangeShapeType="1"/>
          </p:cNvSpPr>
          <p:nvPr/>
        </p:nvSpPr>
        <p:spPr bwMode="auto">
          <a:xfrm>
            <a:off x="4611688" y="696913"/>
            <a:ext cx="127000" cy="474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55" name="Text Box 74"/>
          <p:cNvSpPr txBox="1">
            <a:spLocks noChangeArrowheads="1"/>
          </p:cNvSpPr>
          <p:nvPr/>
        </p:nvSpPr>
        <p:spPr bwMode="auto">
          <a:xfrm>
            <a:off x="603250" y="2768600"/>
            <a:ext cx="996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a:solidFill>
                  <a:schemeClr val="tx2"/>
                </a:solidFill>
                <a:ea typeface="黑体" pitchFamily="49" charset="-122"/>
              </a:rPr>
              <a:t>主机</a:t>
            </a:r>
          </a:p>
        </p:txBody>
      </p:sp>
      <p:sp>
        <p:nvSpPr>
          <p:cNvPr id="42056" name="Text Box 77"/>
          <p:cNvSpPr txBox="1">
            <a:spLocks noChangeArrowheads="1"/>
          </p:cNvSpPr>
          <p:nvPr/>
        </p:nvSpPr>
        <p:spPr bwMode="auto">
          <a:xfrm>
            <a:off x="2463800" y="6315075"/>
            <a:ext cx="338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核心网中的网络用一条链路表示</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ctr" eaLnBrk="1" hangingPunct="1"/>
            <a:r>
              <a:rPr lang="zh-CN" altLang="en-US" smtClean="0"/>
              <a:t>分组交换网的示意图</a:t>
            </a:r>
          </a:p>
        </p:txBody>
      </p:sp>
      <p:grpSp>
        <p:nvGrpSpPr>
          <p:cNvPr id="43011" name="Group 4"/>
          <p:cNvGrpSpPr>
            <a:grpSpLocks/>
          </p:cNvGrpSpPr>
          <p:nvPr/>
        </p:nvGrpSpPr>
        <p:grpSpPr bwMode="auto">
          <a:xfrm>
            <a:off x="1528763" y="2536825"/>
            <a:ext cx="4090987" cy="3667125"/>
            <a:chOff x="2256" y="2386"/>
            <a:chExt cx="2147" cy="1919"/>
          </a:xfrm>
        </p:grpSpPr>
        <p:sp>
          <p:nvSpPr>
            <p:cNvPr id="43058" name="Oval 5"/>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59" name="Oval 6"/>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0" name="Oval 7"/>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1" name="Oval 8"/>
            <p:cNvSpPr>
              <a:spLocks noChangeArrowheads="1"/>
            </p:cNvSpPr>
            <p:nvPr/>
          </p:nvSpPr>
          <p:spPr bwMode="auto">
            <a:xfrm rot="-3234972">
              <a:off x="3754" y="3108"/>
              <a:ext cx="687" cy="610"/>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2" name="Oval 9"/>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3" name="Oval 10"/>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4" name="Oval 11"/>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5" name="Oval 12"/>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66" name="Freeform 13"/>
            <p:cNvSpPr>
              <a:spLocks/>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3012" name="Line 14"/>
          <p:cNvSpPr>
            <a:spLocks noChangeShapeType="1"/>
          </p:cNvSpPr>
          <p:nvPr/>
        </p:nvSpPr>
        <p:spPr bwMode="auto">
          <a:xfrm flipV="1">
            <a:off x="2660650" y="2771775"/>
            <a:ext cx="1281113" cy="555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3" name="Line 15"/>
          <p:cNvSpPr>
            <a:spLocks noChangeShapeType="1"/>
          </p:cNvSpPr>
          <p:nvPr/>
        </p:nvSpPr>
        <p:spPr bwMode="auto">
          <a:xfrm>
            <a:off x="4098925" y="2846388"/>
            <a:ext cx="757238" cy="1398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4" name="Line 16"/>
          <p:cNvSpPr>
            <a:spLocks noChangeShapeType="1"/>
          </p:cNvSpPr>
          <p:nvPr/>
        </p:nvSpPr>
        <p:spPr bwMode="auto">
          <a:xfrm flipH="1">
            <a:off x="1905000" y="3419475"/>
            <a:ext cx="665163" cy="12557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5" name="Line 17"/>
          <p:cNvSpPr>
            <a:spLocks noChangeShapeType="1"/>
          </p:cNvSpPr>
          <p:nvPr/>
        </p:nvSpPr>
        <p:spPr bwMode="auto">
          <a:xfrm>
            <a:off x="1946275" y="4852988"/>
            <a:ext cx="1520825" cy="8826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6" name="Line 18"/>
          <p:cNvSpPr>
            <a:spLocks noChangeShapeType="1"/>
          </p:cNvSpPr>
          <p:nvPr/>
        </p:nvSpPr>
        <p:spPr bwMode="auto">
          <a:xfrm flipV="1">
            <a:off x="3530600" y="4521200"/>
            <a:ext cx="1325563" cy="1306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7" name="Line 19"/>
          <p:cNvSpPr>
            <a:spLocks noChangeShapeType="1"/>
          </p:cNvSpPr>
          <p:nvPr/>
        </p:nvSpPr>
        <p:spPr bwMode="auto">
          <a:xfrm>
            <a:off x="2713038" y="3425825"/>
            <a:ext cx="2125662" cy="9461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8" name="Line 20"/>
          <p:cNvSpPr>
            <a:spLocks noChangeShapeType="1"/>
          </p:cNvSpPr>
          <p:nvPr/>
        </p:nvSpPr>
        <p:spPr bwMode="auto">
          <a:xfrm>
            <a:off x="2611438" y="3262313"/>
            <a:ext cx="1000125" cy="24717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9" name="Line 21"/>
          <p:cNvSpPr>
            <a:spLocks noChangeShapeType="1"/>
          </p:cNvSpPr>
          <p:nvPr/>
        </p:nvSpPr>
        <p:spPr bwMode="auto">
          <a:xfrm flipV="1">
            <a:off x="2935288" y="5805488"/>
            <a:ext cx="639762" cy="549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0" name="Line 22"/>
          <p:cNvSpPr>
            <a:spLocks noChangeShapeType="1"/>
          </p:cNvSpPr>
          <p:nvPr/>
        </p:nvSpPr>
        <p:spPr bwMode="auto">
          <a:xfrm rot="-5400000">
            <a:off x="3859213" y="2455863"/>
            <a:ext cx="3365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1" name="Line 23"/>
          <p:cNvSpPr>
            <a:spLocks noChangeShapeType="1"/>
          </p:cNvSpPr>
          <p:nvPr/>
        </p:nvSpPr>
        <p:spPr bwMode="auto">
          <a:xfrm>
            <a:off x="4948238" y="4521200"/>
            <a:ext cx="639762" cy="1008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2" name="Line 24"/>
          <p:cNvSpPr>
            <a:spLocks noChangeShapeType="1"/>
          </p:cNvSpPr>
          <p:nvPr/>
        </p:nvSpPr>
        <p:spPr bwMode="auto">
          <a:xfrm flipV="1">
            <a:off x="1027113" y="4778375"/>
            <a:ext cx="6445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3" name="Line 25"/>
          <p:cNvSpPr>
            <a:spLocks noChangeShapeType="1"/>
          </p:cNvSpPr>
          <p:nvPr/>
        </p:nvSpPr>
        <p:spPr bwMode="auto">
          <a:xfrm rot="5400000" flipH="1">
            <a:off x="2184400" y="2887663"/>
            <a:ext cx="773113"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4" name="Text Box 26"/>
          <p:cNvSpPr txBox="1">
            <a:spLocks noChangeArrowheads="1"/>
          </p:cNvSpPr>
          <p:nvPr/>
        </p:nvSpPr>
        <p:spPr bwMode="auto">
          <a:xfrm>
            <a:off x="682625" y="41433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1</a:t>
            </a:r>
            <a:endParaRPr kumimoji="1" lang="en-US" altLang="zh-CN" sz="2000">
              <a:solidFill>
                <a:srgbClr val="333399"/>
              </a:solidFill>
            </a:endParaRPr>
          </a:p>
        </p:txBody>
      </p:sp>
      <p:sp>
        <p:nvSpPr>
          <p:cNvPr id="43025" name="Oval 31"/>
          <p:cNvSpPr>
            <a:spLocks noChangeArrowheads="1"/>
          </p:cNvSpPr>
          <p:nvPr/>
        </p:nvSpPr>
        <p:spPr bwMode="auto">
          <a:xfrm>
            <a:off x="1655763" y="4521200"/>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A</a:t>
            </a:r>
          </a:p>
        </p:txBody>
      </p:sp>
      <p:sp>
        <p:nvSpPr>
          <p:cNvPr id="43026" name="Line 39"/>
          <p:cNvSpPr>
            <a:spLocks noChangeShapeType="1"/>
          </p:cNvSpPr>
          <p:nvPr/>
        </p:nvSpPr>
        <p:spPr bwMode="auto">
          <a:xfrm flipV="1">
            <a:off x="4948238" y="3924300"/>
            <a:ext cx="806450" cy="4127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7" name="AutoShape 43"/>
          <p:cNvSpPr>
            <a:spLocks noChangeArrowheads="1"/>
          </p:cNvSpPr>
          <p:nvPr/>
        </p:nvSpPr>
        <p:spPr bwMode="auto">
          <a:xfrm flipV="1">
            <a:off x="4500563" y="6262688"/>
            <a:ext cx="1150937" cy="334962"/>
          </a:xfrm>
          <a:prstGeom prst="wedgeRoundRectCallout">
            <a:avLst>
              <a:gd name="adj1" fmla="val -65315"/>
              <a:gd name="adj2" fmla="val 160426"/>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400">
              <a:latin typeface="Times New Roman" pitchFamily="18" charset="0"/>
            </a:endParaRPr>
          </a:p>
        </p:txBody>
      </p:sp>
      <p:sp>
        <p:nvSpPr>
          <p:cNvPr id="43028" name="Text Box 44"/>
          <p:cNvSpPr txBox="1">
            <a:spLocks noChangeArrowheads="1"/>
          </p:cNvSpPr>
          <p:nvPr/>
        </p:nvSpPr>
        <p:spPr bwMode="auto">
          <a:xfrm>
            <a:off x="4603750" y="620077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互联网</a:t>
            </a:r>
          </a:p>
        </p:txBody>
      </p:sp>
      <p:pic>
        <p:nvPicPr>
          <p:cNvPr id="43029" name="Picture 7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3163" y="1844675"/>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30" name="Picture 7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388" y="3559175"/>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31"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0163" y="6264275"/>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43032" name="Picture 7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5438" y="5346700"/>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33" name="Picture 7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5525" y="2043113"/>
            <a:ext cx="587375"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34" name="Oval 80"/>
          <p:cNvSpPr>
            <a:spLocks noChangeArrowheads="1"/>
          </p:cNvSpPr>
          <p:nvPr/>
        </p:nvSpPr>
        <p:spPr bwMode="auto">
          <a:xfrm>
            <a:off x="2379663" y="3154363"/>
            <a:ext cx="457200" cy="458787"/>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B</a:t>
            </a:r>
          </a:p>
        </p:txBody>
      </p:sp>
      <p:sp>
        <p:nvSpPr>
          <p:cNvPr id="43035" name="Oval 81"/>
          <p:cNvSpPr>
            <a:spLocks noChangeArrowheads="1"/>
          </p:cNvSpPr>
          <p:nvPr/>
        </p:nvSpPr>
        <p:spPr bwMode="auto">
          <a:xfrm>
            <a:off x="3800475" y="2543175"/>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D</a:t>
            </a:r>
          </a:p>
        </p:txBody>
      </p:sp>
      <p:sp>
        <p:nvSpPr>
          <p:cNvPr id="43036" name="Oval 82"/>
          <p:cNvSpPr>
            <a:spLocks noChangeArrowheads="1"/>
          </p:cNvSpPr>
          <p:nvPr/>
        </p:nvSpPr>
        <p:spPr bwMode="auto">
          <a:xfrm>
            <a:off x="4654550" y="4171950"/>
            <a:ext cx="457200" cy="458788"/>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E</a:t>
            </a:r>
          </a:p>
        </p:txBody>
      </p:sp>
      <p:sp>
        <p:nvSpPr>
          <p:cNvPr id="43037" name="Oval 83"/>
          <p:cNvSpPr>
            <a:spLocks noChangeArrowheads="1"/>
          </p:cNvSpPr>
          <p:nvPr/>
        </p:nvSpPr>
        <p:spPr bwMode="auto">
          <a:xfrm>
            <a:off x="3346450" y="5491163"/>
            <a:ext cx="457200" cy="458787"/>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C</a:t>
            </a:r>
          </a:p>
        </p:txBody>
      </p:sp>
      <p:sp>
        <p:nvSpPr>
          <p:cNvPr id="43038" name="Text Box 84"/>
          <p:cNvSpPr txBox="1">
            <a:spLocks noChangeArrowheads="1"/>
          </p:cNvSpPr>
          <p:nvPr/>
        </p:nvSpPr>
        <p:spPr bwMode="auto">
          <a:xfrm>
            <a:off x="5076825" y="5300663"/>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5</a:t>
            </a:r>
            <a:endParaRPr kumimoji="1" lang="en-US" altLang="zh-CN" sz="2000">
              <a:solidFill>
                <a:srgbClr val="333399"/>
              </a:solidFill>
            </a:endParaRPr>
          </a:p>
        </p:txBody>
      </p:sp>
      <p:sp>
        <p:nvSpPr>
          <p:cNvPr id="43039" name="Text Box 85"/>
          <p:cNvSpPr txBox="1">
            <a:spLocks noChangeArrowheads="1"/>
          </p:cNvSpPr>
          <p:nvPr/>
        </p:nvSpPr>
        <p:spPr bwMode="auto">
          <a:xfrm>
            <a:off x="6084888" y="35004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6</a:t>
            </a:r>
            <a:endParaRPr kumimoji="1" lang="en-US" altLang="zh-CN" sz="2000">
              <a:solidFill>
                <a:srgbClr val="333399"/>
              </a:solidFill>
            </a:endParaRPr>
          </a:p>
        </p:txBody>
      </p:sp>
      <p:sp>
        <p:nvSpPr>
          <p:cNvPr id="43040" name="Text Box 86"/>
          <p:cNvSpPr txBox="1">
            <a:spLocks noChangeArrowheads="1"/>
          </p:cNvSpPr>
          <p:nvPr/>
        </p:nvSpPr>
        <p:spPr bwMode="auto">
          <a:xfrm>
            <a:off x="3348038" y="18446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4</a:t>
            </a:r>
            <a:endParaRPr kumimoji="1" lang="en-US" altLang="zh-CN" sz="2000">
              <a:solidFill>
                <a:srgbClr val="333399"/>
              </a:solidFill>
            </a:endParaRPr>
          </a:p>
        </p:txBody>
      </p:sp>
      <p:sp>
        <p:nvSpPr>
          <p:cNvPr id="43041" name="Text Box 87"/>
          <p:cNvSpPr txBox="1">
            <a:spLocks noChangeArrowheads="1"/>
          </p:cNvSpPr>
          <p:nvPr/>
        </p:nvSpPr>
        <p:spPr bwMode="auto">
          <a:xfrm>
            <a:off x="1979613" y="19891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2</a:t>
            </a:r>
            <a:endParaRPr kumimoji="1" lang="en-US" altLang="zh-CN" sz="2000">
              <a:solidFill>
                <a:srgbClr val="333399"/>
              </a:solidFill>
            </a:endParaRPr>
          </a:p>
        </p:txBody>
      </p:sp>
      <p:sp>
        <p:nvSpPr>
          <p:cNvPr id="43042" name="Text Box 88"/>
          <p:cNvSpPr txBox="1">
            <a:spLocks noChangeArrowheads="1"/>
          </p:cNvSpPr>
          <p:nvPr/>
        </p:nvSpPr>
        <p:spPr bwMode="auto">
          <a:xfrm>
            <a:off x="2195513" y="623728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3</a:t>
            </a:r>
            <a:endParaRPr kumimoji="1" lang="en-US" altLang="zh-CN" sz="2000">
              <a:solidFill>
                <a:srgbClr val="333399"/>
              </a:solidFill>
            </a:endParaRPr>
          </a:p>
        </p:txBody>
      </p:sp>
      <p:sp>
        <p:nvSpPr>
          <p:cNvPr id="61535" name="Rectangle 95"/>
          <p:cNvSpPr>
            <a:spLocks noChangeArrowheads="1"/>
          </p:cNvSpPr>
          <p:nvPr/>
        </p:nvSpPr>
        <p:spPr bwMode="auto">
          <a:xfrm>
            <a:off x="2484438" y="2205038"/>
            <a:ext cx="217487" cy="21748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3044" name="Picture 7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4521200"/>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32" name="Rectangle 92"/>
          <p:cNvSpPr>
            <a:spLocks noChangeArrowheads="1"/>
          </p:cNvSpPr>
          <p:nvPr/>
        </p:nvSpPr>
        <p:spPr bwMode="auto">
          <a:xfrm>
            <a:off x="827088" y="4652963"/>
            <a:ext cx="217487" cy="217487"/>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34" name="Rectangle 94"/>
          <p:cNvSpPr>
            <a:spLocks noChangeArrowheads="1"/>
          </p:cNvSpPr>
          <p:nvPr/>
        </p:nvSpPr>
        <p:spPr bwMode="auto">
          <a:xfrm>
            <a:off x="827088" y="4652963"/>
            <a:ext cx="217487" cy="217487"/>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7" name="Text Box 98"/>
          <p:cNvSpPr txBox="1">
            <a:spLocks noChangeArrowheads="1"/>
          </p:cNvSpPr>
          <p:nvPr/>
        </p:nvSpPr>
        <p:spPr bwMode="auto">
          <a:xfrm>
            <a:off x="6227763" y="5157788"/>
            <a:ext cx="2609850" cy="466725"/>
          </a:xfrm>
          <a:prstGeom prst="rect">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solidFill>
                  <a:schemeClr val="hlink"/>
                </a:solidFill>
              </a:rPr>
              <a:t>H</a:t>
            </a:r>
            <a:r>
              <a:rPr kumimoji="1" lang="en-US" altLang="zh-CN" sz="2400" baseline="-25000">
                <a:solidFill>
                  <a:schemeClr val="hlink"/>
                </a:solidFill>
              </a:rPr>
              <a:t>1 </a:t>
            </a:r>
            <a:r>
              <a:rPr kumimoji="1" lang="zh-CN" altLang="en-US" sz="2400">
                <a:solidFill>
                  <a:schemeClr val="hlink"/>
                </a:solidFill>
                <a:ea typeface="黑体" pitchFamily="49" charset="-122"/>
              </a:rPr>
              <a:t>向 </a:t>
            </a:r>
            <a:r>
              <a:rPr kumimoji="1" lang="en-US" altLang="zh-CN" sz="2400">
                <a:solidFill>
                  <a:schemeClr val="hlink"/>
                </a:solidFill>
                <a:ea typeface="黑体" pitchFamily="49" charset="-122"/>
              </a:rPr>
              <a:t>H</a:t>
            </a:r>
            <a:r>
              <a:rPr kumimoji="1" lang="en-US" altLang="zh-CN" sz="2400" baseline="-25000">
                <a:solidFill>
                  <a:schemeClr val="hlink"/>
                </a:solidFill>
                <a:ea typeface="黑体" pitchFamily="49" charset="-122"/>
              </a:rPr>
              <a:t>5</a:t>
            </a:r>
            <a:r>
              <a:rPr kumimoji="1" lang="en-US" altLang="zh-CN" sz="2400">
                <a:solidFill>
                  <a:schemeClr val="hlink"/>
                </a:solidFill>
                <a:ea typeface="黑体" pitchFamily="49" charset="-122"/>
              </a:rPr>
              <a:t> </a:t>
            </a:r>
            <a:r>
              <a:rPr kumimoji="1" lang="zh-CN" altLang="en-US" sz="2400">
                <a:solidFill>
                  <a:schemeClr val="hlink"/>
                </a:solidFill>
                <a:ea typeface="黑体" pitchFamily="49" charset="-122"/>
              </a:rPr>
              <a:t>发送分组</a:t>
            </a:r>
          </a:p>
        </p:txBody>
      </p:sp>
      <p:sp>
        <p:nvSpPr>
          <p:cNvPr id="61539" name="Text Box 99"/>
          <p:cNvSpPr txBox="1">
            <a:spLocks noChangeArrowheads="1"/>
          </p:cNvSpPr>
          <p:nvPr/>
        </p:nvSpPr>
        <p:spPr bwMode="auto">
          <a:xfrm>
            <a:off x="6227763" y="4292600"/>
            <a:ext cx="2609850" cy="466725"/>
          </a:xfrm>
          <a:prstGeom prst="rect">
            <a:avLst/>
          </a:prstGeom>
          <a:noFill/>
          <a:ln w="9525">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a:solidFill>
                  <a:srgbClr val="333399"/>
                </a:solidFill>
              </a:rPr>
              <a:t>H</a:t>
            </a:r>
            <a:r>
              <a:rPr kumimoji="1" lang="en-US" altLang="zh-CN" sz="2400" baseline="-25000">
                <a:solidFill>
                  <a:srgbClr val="333399"/>
                </a:solidFill>
              </a:rPr>
              <a:t>2 </a:t>
            </a:r>
            <a:r>
              <a:rPr kumimoji="1" lang="zh-CN" altLang="en-US" sz="2400">
                <a:solidFill>
                  <a:srgbClr val="333399"/>
                </a:solidFill>
                <a:ea typeface="黑体" pitchFamily="49" charset="-122"/>
              </a:rPr>
              <a:t>向 </a:t>
            </a:r>
            <a:r>
              <a:rPr kumimoji="1" lang="en-US" altLang="zh-CN" sz="2400">
                <a:solidFill>
                  <a:srgbClr val="333399"/>
                </a:solidFill>
                <a:ea typeface="黑体" pitchFamily="49" charset="-122"/>
              </a:rPr>
              <a:t>H</a:t>
            </a:r>
            <a:r>
              <a:rPr kumimoji="1" lang="en-US" altLang="zh-CN" sz="2400" baseline="-25000">
                <a:solidFill>
                  <a:srgbClr val="333399"/>
                </a:solidFill>
                <a:ea typeface="黑体" pitchFamily="49" charset="-122"/>
              </a:rPr>
              <a:t>6</a:t>
            </a:r>
            <a:r>
              <a:rPr kumimoji="1" lang="en-US" altLang="zh-CN" sz="2400">
                <a:solidFill>
                  <a:srgbClr val="333399"/>
                </a:solidFill>
                <a:ea typeface="黑体" pitchFamily="49" charset="-122"/>
              </a:rPr>
              <a:t> </a:t>
            </a:r>
            <a:r>
              <a:rPr kumimoji="1" lang="zh-CN" altLang="en-US" sz="2400">
                <a:solidFill>
                  <a:srgbClr val="333399"/>
                </a:solidFill>
                <a:ea typeface="黑体" pitchFamily="49" charset="-122"/>
              </a:rPr>
              <a:t>发送分组</a:t>
            </a:r>
          </a:p>
        </p:txBody>
      </p:sp>
      <p:sp>
        <p:nvSpPr>
          <p:cNvPr id="61540" name="Rectangle 100"/>
          <p:cNvSpPr>
            <a:spLocks noChangeArrowheads="1"/>
          </p:cNvSpPr>
          <p:nvPr/>
        </p:nvSpPr>
        <p:spPr bwMode="auto">
          <a:xfrm>
            <a:off x="827088" y="4652963"/>
            <a:ext cx="217487" cy="217487"/>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1" name="Rectangle 101"/>
          <p:cNvSpPr>
            <a:spLocks noChangeArrowheads="1"/>
          </p:cNvSpPr>
          <p:nvPr/>
        </p:nvSpPr>
        <p:spPr bwMode="auto">
          <a:xfrm>
            <a:off x="2484438" y="2205038"/>
            <a:ext cx="217487" cy="21748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37" name="Rectangle 97"/>
          <p:cNvSpPr>
            <a:spLocks noChangeArrowheads="1"/>
          </p:cNvSpPr>
          <p:nvPr/>
        </p:nvSpPr>
        <p:spPr bwMode="auto">
          <a:xfrm>
            <a:off x="827088" y="4652963"/>
            <a:ext cx="217487" cy="217487"/>
          </a:xfrm>
          <a:prstGeom prst="rect">
            <a:avLst/>
          </a:prstGeom>
          <a:solidFill>
            <a:schemeClr val="hlink"/>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36" name="Rectangle 96"/>
          <p:cNvSpPr>
            <a:spLocks noChangeArrowheads="1"/>
          </p:cNvSpPr>
          <p:nvPr/>
        </p:nvSpPr>
        <p:spPr bwMode="auto">
          <a:xfrm>
            <a:off x="2484438" y="2205038"/>
            <a:ext cx="217487" cy="217487"/>
          </a:xfrm>
          <a:prstGeom prst="rect">
            <a:avLst/>
          </a:prstGeom>
          <a:solidFill>
            <a:srgbClr val="3333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2" name="Text Box 102"/>
          <p:cNvSpPr txBox="1">
            <a:spLocks noChangeArrowheads="1"/>
          </p:cNvSpPr>
          <p:nvPr/>
        </p:nvSpPr>
        <p:spPr bwMode="auto">
          <a:xfrm>
            <a:off x="5076825" y="2257425"/>
            <a:ext cx="3816350" cy="595313"/>
          </a:xfrm>
          <a:prstGeom prst="rect">
            <a:avLst/>
          </a:prstGeom>
          <a:solidFill>
            <a:srgbClr val="FFFFCC"/>
          </a:solidFill>
          <a:ln w="76200" cmpd="tri">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800">
                <a:solidFill>
                  <a:srgbClr val="333399"/>
                </a:solidFill>
                <a:latin typeface="黑体" pitchFamily="49" charset="-122"/>
                <a:ea typeface="黑体" pitchFamily="49" charset="-122"/>
              </a:rPr>
              <a:t>注意分组路径的变化！</a:t>
            </a:r>
          </a:p>
        </p:txBody>
      </p:sp>
      <p:sp>
        <p:nvSpPr>
          <p:cNvPr id="43054" name="Text Box 103"/>
          <p:cNvSpPr txBox="1">
            <a:spLocks noChangeArrowheads="1"/>
          </p:cNvSpPr>
          <p:nvPr/>
        </p:nvSpPr>
        <p:spPr bwMode="auto">
          <a:xfrm>
            <a:off x="746125" y="27813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路由器</a:t>
            </a:r>
          </a:p>
        </p:txBody>
      </p:sp>
      <p:sp>
        <p:nvSpPr>
          <p:cNvPr id="43055" name="Text Box 105"/>
          <p:cNvSpPr txBox="1">
            <a:spLocks noChangeArrowheads="1"/>
          </p:cNvSpPr>
          <p:nvPr/>
        </p:nvSpPr>
        <p:spPr bwMode="auto">
          <a:xfrm>
            <a:off x="0" y="36449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主机</a:t>
            </a:r>
          </a:p>
        </p:txBody>
      </p:sp>
      <p:sp>
        <p:nvSpPr>
          <p:cNvPr id="43056" name="Line 106"/>
          <p:cNvSpPr>
            <a:spLocks noChangeShapeType="1"/>
          </p:cNvSpPr>
          <p:nvPr/>
        </p:nvSpPr>
        <p:spPr bwMode="auto">
          <a:xfrm>
            <a:off x="1619250" y="3068638"/>
            <a:ext cx="792163" cy="2159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7" name="Line 107"/>
          <p:cNvSpPr>
            <a:spLocks noChangeShapeType="1"/>
          </p:cNvSpPr>
          <p:nvPr/>
        </p:nvSpPr>
        <p:spPr bwMode="auto">
          <a:xfrm>
            <a:off x="395288" y="4005263"/>
            <a:ext cx="360362" cy="57626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32"/>
                                        </p:tgtEl>
                                        <p:attrNameLst>
                                          <p:attrName>style.visibility</p:attrName>
                                        </p:attrNameLst>
                                      </p:cBhvr>
                                      <p:to>
                                        <p:strVal val="visible"/>
                                      </p:to>
                                    </p:set>
                                  </p:childTnLst>
                                </p:cTn>
                              </p:par>
                            </p:childTnLst>
                          </p:cTn>
                        </p:par>
                        <p:par>
                          <p:cTn id="7" fill="hold" nodeType="afterGroup">
                            <p:stCondLst>
                              <p:cond delay="0"/>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ptsTypes="AAAAA">
                                      <p:cBhvr>
                                        <p:cTn id="9" dur="2000" fill="hold"/>
                                        <p:tgtEl>
                                          <p:spTgt spid="61532"/>
                                        </p:tgtEl>
                                        <p:attrNameLst>
                                          <p:attrName>ppt_x</p:attrName>
                                          <p:attrName>ppt_y</p:attrName>
                                        </p:attrNameLst>
                                      </p:cBhvr>
                                    </p:animMotion>
                                  </p:childTnLst>
                                </p:cTn>
                              </p:par>
                            </p:childTnLst>
                          </p:cTn>
                        </p:par>
                        <p:par>
                          <p:cTn id="10" fill="hold" nodeType="afterGroup">
                            <p:stCondLst>
                              <p:cond delay="2000"/>
                            </p:stCondLst>
                            <p:childTnLst>
                              <p:par>
                                <p:cTn id="11" presetID="1" presetClass="exit" presetSubtype="0" fill="hold" grpId="2" nodeType="afterEffect">
                                  <p:stCondLst>
                                    <p:cond delay="0"/>
                                  </p:stCondLst>
                                  <p:childTnLst>
                                    <p:set>
                                      <p:cBhvr>
                                        <p:cTn id="12" dur="1" fill="hold">
                                          <p:stCondLst>
                                            <p:cond delay="0"/>
                                          </p:stCondLst>
                                        </p:cTn>
                                        <p:tgtEl>
                                          <p:spTgt spid="61532"/>
                                        </p:tgtEl>
                                        <p:attrNameLst>
                                          <p:attrName>style.visibility</p:attrName>
                                        </p:attrNameLst>
                                      </p:cBhvr>
                                      <p:to>
                                        <p:strVal val="hidden"/>
                                      </p:to>
                                    </p:set>
                                  </p:childTnLst>
                                </p:cTn>
                              </p:par>
                            </p:childTnLst>
                          </p:cTn>
                        </p:par>
                        <p:par>
                          <p:cTn id="13" fill="hold" nodeType="afterGroup">
                            <p:stCondLst>
                              <p:cond delay="2000"/>
                            </p:stCondLst>
                            <p:childTnLst>
                              <p:par>
                                <p:cTn id="14" presetID="1" presetClass="entr" presetSubtype="0" fill="hold" grpId="0" nodeType="afterEffect">
                                  <p:stCondLst>
                                    <p:cond delay="0"/>
                                  </p:stCondLst>
                                  <p:childTnLst>
                                    <p:set>
                                      <p:cBhvr>
                                        <p:cTn id="15" dur="1" fill="hold">
                                          <p:stCondLst>
                                            <p:cond delay="0"/>
                                          </p:stCondLst>
                                        </p:cTn>
                                        <p:tgtEl>
                                          <p:spTgt spid="61534"/>
                                        </p:tgtEl>
                                        <p:attrNameLst>
                                          <p:attrName>style.visibility</p:attrName>
                                        </p:attrNameLst>
                                      </p:cBhvr>
                                      <p:to>
                                        <p:strVal val="visible"/>
                                      </p:to>
                                    </p:set>
                                  </p:childTnLst>
                                </p:cTn>
                              </p:par>
                            </p:childTnLst>
                          </p:cTn>
                        </p:par>
                        <p:par>
                          <p:cTn id="16" fill="hold" nodeType="afterGroup">
                            <p:stCondLst>
                              <p:cond delay="2000"/>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18" dur="2000" fill="hold"/>
                                        <p:tgtEl>
                                          <p:spTgt spid="61534"/>
                                        </p:tgtEl>
                                        <p:attrNameLst>
                                          <p:attrName>ppt_x</p:attrName>
                                          <p:attrName>ppt_y</p:attrName>
                                        </p:attrNameLst>
                                      </p:cBhvr>
                                    </p:animMotion>
                                  </p:childTnLst>
                                </p:cTn>
                              </p:par>
                            </p:childTnLst>
                          </p:cTn>
                        </p:par>
                        <p:par>
                          <p:cTn id="19" fill="hold" nodeType="afterGroup">
                            <p:stCondLst>
                              <p:cond delay="4000"/>
                            </p:stCondLst>
                            <p:childTnLst>
                              <p:par>
                                <p:cTn id="20" presetID="1" presetClass="exit" presetSubtype="0" fill="hold" grpId="2" nodeType="afterEffect">
                                  <p:stCondLst>
                                    <p:cond delay="0"/>
                                  </p:stCondLst>
                                  <p:childTnLst>
                                    <p:set>
                                      <p:cBhvr>
                                        <p:cTn id="21" dur="1" fill="hold">
                                          <p:stCondLst>
                                            <p:cond delay="0"/>
                                          </p:stCondLst>
                                        </p:cTn>
                                        <p:tgtEl>
                                          <p:spTgt spid="61534"/>
                                        </p:tgtEl>
                                        <p:attrNameLst>
                                          <p:attrName>style.visibility</p:attrName>
                                        </p:attrNameLst>
                                      </p:cBhvr>
                                      <p:to>
                                        <p:strVal val="hidden"/>
                                      </p:to>
                                    </p:set>
                                  </p:childTnLst>
                                </p:cTn>
                              </p:par>
                            </p:childTnLst>
                          </p:cTn>
                        </p:par>
                        <p:par>
                          <p:cTn id="22" fill="hold" nodeType="afterGroup">
                            <p:stCondLst>
                              <p:cond delay="4000"/>
                            </p:stCondLst>
                            <p:childTnLst>
                              <p:par>
                                <p:cTn id="23" presetID="1" presetClass="entr" presetSubtype="0" fill="hold" grpId="0" nodeType="afterEffect">
                                  <p:stCondLst>
                                    <p:cond delay="0"/>
                                  </p:stCondLst>
                                  <p:childTnLst>
                                    <p:set>
                                      <p:cBhvr>
                                        <p:cTn id="24" dur="1" fill="hold">
                                          <p:stCondLst>
                                            <p:cond delay="0"/>
                                          </p:stCondLst>
                                        </p:cTn>
                                        <p:tgtEl>
                                          <p:spTgt spid="61539"/>
                                        </p:tgtEl>
                                        <p:attrNameLst>
                                          <p:attrName>style.visibility</p:attrName>
                                        </p:attrNameLst>
                                      </p:cBhvr>
                                      <p:to>
                                        <p:strVal val="visible"/>
                                      </p:to>
                                    </p:set>
                                  </p:childTnLst>
                                </p:cTn>
                              </p:par>
                            </p:childTnLst>
                          </p:cTn>
                        </p:par>
                        <p:par>
                          <p:cTn id="25" fill="hold" nodeType="afterGroup">
                            <p:stCondLst>
                              <p:cond delay="4000"/>
                            </p:stCondLst>
                            <p:childTnLst>
                              <p:par>
                                <p:cTn id="26" presetID="35" presetClass="emph" presetSubtype="0" repeatCount="3000" fill="hold" grpId="1" nodeType="afterEffect">
                                  <p:stCondLst>
                                    <p:cond delay="0"/>
                                  </p:stCondLst>
                                  <p:childTnLst>
                                    <p:anim calcmode="discrete" valueType="str">
                                      <p:cBhvr>
                                        <p:cTn id="27" dur="1000" fill="hold"/>
                                        <p:tgtEl>
                                          <p:spTgt spid="61539"/>
                                        </p:tgtEl>
                                        <p:attrNameLst>
                                          <p:attrName>style.visibility</p:attrName>
                                        </p:attrNameLst>
                                      </p:cBhvr>
                                      <p:tavLst>
                                        <p:tav tm="0">
                                          <p:val>
                                            <p:strVal val="hidden"/>
                                          </p:val>
                                        </p:tav>
                                        <p:tav tm="50000">
                                          <p:val>
                                            <p:strVal val="visible"/>
                                          </p:val>
                                        </p:tav>
                                      </p:tavLst>
                                    </p:anim>
                                  </p:childTnLst>
                                </p:cTn>
                              </p:par>
                            </p:childTnLst>
                          </p:cTn>
                        </p:par>
                        <p:par>
                          <p:cTn id="28" fill="hold" nodeType="afterGroup">
                            <p:stCondLst>
                              <p:cond delay="7000"/>
                            </p:stCondLst>
                            <p:childTnLst>
                              <p:par>
                                <p:cTn id="29" presetID="1" presetClass="entr" presetSubtype="0" fill="hold" grpId="0" nodeType="afterEffect">
                                  <p:stCondLst>
                                    <p:cond delay="0"/>
                                  </p:stCondLst>
                                  <p:childTnLst>
                                    <p:set>
                                      <p:cBhvr>
                                        <p:cTn id="30" dur="1" fill="hold">
                                          <p:stCondLst>
                                            <p:cond delay="0"/>
                                          </p:stCondLst>
                                        </p:cTn>
                                        <p:tgtEl>
                                          <p:spTgt spid="61535"/>
                                        </p:tgtEl>
                                        <p:attrNameLst>
                                          <p:attrName>style.visibility</p:attrName>
                                        </p:attrNameLst>
                                      </p:cBhvr>
                                      <p:to>
                                        <p:strVal val="visible"/>
                                      </p:to>
                                    </p:set>
                                  </p:childTnLst>
                                </p:cTn>
                              </p:par>
                            </p:childTnLst>
                          </p:cTn>
                        </p:par>
                        <p:par>
                          <p:cTn id="31" fill="hold" nodeType="afterGroup">
                            <p:stCondLst>
                              <p:cond delay="7000"/>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33" dur="2000" fill="hold"/>
                                        <p:tgtEl>
                                          <p:spTgt spid="61535"/>
                                        </p:tgtEl>
                                        <p:attrNameLst>
                                          <p:attrName>ppt_x</p:attrName>
                                          <p:attrName>ppt_y</p:attrName>
                                        </p:attrNameLst>
                                      </p:cBhvr>
                                    </p:animMotion>
                                  </p:childTnLst>
                                </p:cTn>
                              </p:par>
                            </p:childTnLst>
                          </p:cTn>
                        </p:par>
                        <p:par>
                          <p:cTn id="34" fill="hold" nodeType="afterGroup">
                            <p:stCondLst>
                              <p:cond delay="9000"/>
                            </p:stCondLst>
                            <p:childTnLst>
                              <p:par>
                                <p:cTn id="35" presetID="1" presetClass="exit" presetSubtype="0" fill="hold" grpId="2" nodeType="afterEffect">
                                  <p:stCondLst>
                                    <p:cond delay="0"/>
                                  </p:stCondLst>
                                  <p:childTnLst>
                                    <p:set>
                                      <p:cBhvr>
                                        <p:cTn id="36" dur="1" fill="hold">
                                          <p:stCondLst>
                                            <p:cond delay="0"/>
                                          </p:stCondLst>
                                        </p:cTn>
                                        <p:tgtEl>
                                          <p:spTgt spid="61535"/>
                                        </p:tgtEl>
                                        <p:attrNameLst>
                                          <p:attrName>style.visibility</p:attrName>
                                        </p:attrNameLst>
                                      </p:cBhvr>
                                      <p:to>
                                        <p:strVal val="hidden"/>
                                      </p:to>
                                    </p:set>
                                  </p:childTnLst>
                                </p:cTn>
                              </p:par>
                            </p:childTnLst>
                          </p:cTn>
                        </p:par>
                        <p:par>
                          <p:cTn id="37" fill="hold" nodeType="afterGroup">
                            <p:stCondLst>
                              <p:cond delay="9000"/>
                            </p:stCondLst>
                            <p:childTnLst>
                              <p:par>
                                <p:cTn id="38" presetID="1" presetClass="entr" presetSubtype="0" fill="hold" grpId="0" nodeType="afterEffect">
                                  <p:stCondLst>
                                    <p:cond delay="0"/>
                                  </p:stCondLst>
                                  <p:childTnLst>
                                    <p:set>
                                      <p:cBhvr>
                                        <p:cTn id="39" dur="1" fill="hold">
                                          <p:stCondLst>
                                            <p:cond delay="0"/>
                                          </p:stCondLst>
                                        </p:cTn>
                                        <p:tgtEl>
                                          <p:spTgt spid="61542"/>
                                        </p:tgtEl>
                                        <p:attrNameLst>
                                          <p:attrName>style.visibility</p:attrName>
                                        </p:attrNameLst>
                                      </p:cBhvr>
                                      <p:to>
                                        <p:strVal val="visible"/>
                                      </p:to>
                                    </p:set>
                                  </p:childTnLst>
                                </p:cTn>
                              </p:par>
                            </p:childTnLst>
                          </p:cTn>
                        </p:par>
                        <p:par>
                          <p:cTn id="40" fill="hold" nodeType="afterGroup">
                            <p:stCondLst>
                              <p:cond delay="9000"/>
                            </p:stCondLst>
                            <p:childTnLst>
                              <p:par>
                                <p:cTn id="41" presetID="35" presetClass="emph" presetSubtype="0" repeatCount="2000" fill="hold" grpId="1" nodeType="afterEffect">
                                  <p:stCondLst>
                                    <p:cond delay="0"/>
                                  </p:stCondLst>
                                  <p:childTnLst>
                                    <p:anim calcmode="discrete" valueType="str">
                                      <p:cBhvr>
                                        <p:cTn id="42" dur="1000" fill="hold"/>
                                        <p:tgtEl>
                                          <p:spTgt spid="61542"/>
                                        </p:tgtEl>
                                        <p:attrNameLst>
                                          <p:attrName>style.visibility</p:attrName>
                                        </p:attrNameLst>
                                      </p:cBhvr>
                                      <p:tavLst>
                                        <p:tav tm="0">
                                          <p:val>
                                            <p:strVal val="hidden"/>
                                          </p:val>
                                        </p:tav>
                                        <p:tav tm="50000">
                                          <p:val>
                                            <p:strVal val="visible"/>
                                          </p:val>
                                        </p:tav>
                                      </p:tavLst>
                                    </p:anim>
                                  </p:childTnLst>
                                </p:cTn>
                              </p:par>
                            </p:childTnLst>
                          </p:cTn>
                        </p:par>
                        <p:par>
                          <p:cTn id="43" fill="hold" nodeType="afterGroup">
                            <p:stCondLst>
                              <p:cond delay="11000"/>
                            </p:stCondLst>
                            <p:childTnLst>
                              <p:par>
                                <p:cTn id="44" presetID="1" presetClass="entr" presetSubtype="0" fill="hold" grpId="0" nodeType="afterEffect">
                                  <p:stCondLst>
                                    <p:cond delay="0"/>
                                  </p:stCondLst>
                                  <p:childTnLst>
                                    <p:set>
                                      <p:cBhvr>
                                        <p:cTn id="45" dur="1" fill="hold">
                                          <p:stCondLst>
                                            <p:cond delay="0"/>
                                          </p:stCondLst>
                                        </p:cTn>
                                        <p:tgtEl>
                                          <p:spTgt spid="61540"/>
                                        </p:tgtEl>
                                        <p:attrNameLst>
                                          <p:attrName>style.visibility</p:attrName>
                                        </p:attrNameLst>
                                      </p:cBhvr>
                                      <p:to>
                                        <p:strVal val="visible"/>
                                      </p:to>
                                    </p:set>
                                  </p:childTnLst>
                                </p:cTn>
                              </p:par>
                            </p:childTnLst>
                          </p:cTn>
                        </p:par>
                        <p:par>
                          <p:cTn id="46" fill="hold" nodeType="afterGroup">
                            <p:stCondLst>
                              <p:cond delay="11000"/>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ptsTypes="AAAAA">
                                      <p:cBhvr>
                                        <p:cTn id="48" dur="2000" fill="hold"/>
                                        <p:tgtEl>
                                          <p:spTgt spid="61540"/>
                                        </p:tgtEl>
                                        <p:attrNameLst>
                                          <p:attrName>ppt_x</p:attrName>
                                          <p:attrName>ppt_y</p:attrName>
                                        </p:attrNameLst>
                                      </p:cBhvr>
                                    </p:animMotion>
                                  </p:childTnLst>
                                </p:cTn>
                              </p:par>
                            </p:childTnLst>
                          </p:cTn>
                        </p:par>
                        <p:par>
                          <p:cTn id="49" fill="hold" nodeType="afterGroup">
                            <p:stCondLst>
                              <p:cond delay="13000"/>
                            </p:stCondLst>
                            <p:childTnLst>
                              <p:par>
                                <p:cTn id="50" presetID="1" presetClass="exit" presetSubtype="0" fill="hold" grpId="2" nodeType="afterEffect">
                                  <p:stCondLst>
                                    <p:cond delay="0"/>
                                  </p:stCondLst>
                                  <p:childTnLst>
                                    <p:set>
                                      <p:cBhvr>
                                        <p:cTn id="51" dur="1" fill="hold">
                                          <p:stCondLst>
                                            <p:cond delay="0"/>
                                          </p:stCondLst>
                                        </p:cTn>
                                        <p:tgtEl>
                                          <p:spTgt spid="61540"/>
                                        </p:tgtEl>
                                        <p:attrNameLst>
                                          <p:attrName>style.visibility</p:attrName>
                                        </p:attrNameLst>
                                      </p:cBhvr>
                                      <p:to>
                                        <p:strVal val="hidden"/>
                                      </p:to>
                                    </p:set>
                                  </p:childTnLst>
                                </p:cTn>
                              </p:par>
                            </p:childTnLst>
                          </p:cTn>
                        </p:par>
                        <p:par>
                          <p:cTn id="52" fill="hold" nodeType="afterGroup">
                            <p:stCondLst>
                              <p:cond delay="13000"/>
                            </p:stCondLst>
                            <p:childTnLst>
                              <p:par>
                                <p:cTn id="53" presetID="1" presetClass="entr" presetSubtype="0" fill="hold" grpId="0" nodeType="afterEffect">
                                  <p:stCondLst>
                                    <p:cond delay="0"/>
                                  </p:stCondLst>
                                  <p:childTnLst>
                                    <p:set>
                                      <p:cBhvr>
                                        <p:cTn id="54" dur="1" fill="hold">
                                          <p:stCondLst>
                                            <p:cond delay="0"/>
                                          </p:stCondLst>
                                        </p:cTn>
                                        <p:tgtEl>
                                          <p:spTgt spid="61541"/>
                                        </p:tgtEl>
                                        <p:attrNameLst>
                                          <p:attrName>style.visibility</p:attrName>
                                        </p:attrNameLst>
                                      </p:cBhvr>
                                      <p:to>
                                        <p:strVal val="visible"/>
                                      </p:to>
                                    </p:set>
                                  </p:childTnLst>
                                </p:cTn>
                              </p:par>
                            </p:childTnLst>
                          </p:cTn>
                        </p:par>
                        <p:par>
                          <p:cTn id="55" fill="hold" nodeType="afterGroup">
                            <p:stCondLst>
                              <p:cond delay="13000"/>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ptsTypes="AAAA">
                                      <p:cBhvr>
                                        <p:cTn id="57" dur="2000" fill="hold"/>
                                        <p:tgtEl>
                                          <p:spTgt spid="61541"/>
                                        </p:tgtEl>
                                        <p:attrNameLst>
                                          <p:attrName>ppt_x</p:attrName>
                                          <p:attrName>ppt_y</p:attrName>
                                        </p:attrNameLst>
                                      </p:cBhvr>
                                    </p:animMotion>
                                  </p:childTnLst>
                                </p:cTn>
                              </p:par>
                            </p:childTnLst>
                          </p:cTn>
                        </p:par>
                        <p:par>
                          <p:cTn id="58" fill="hold" nodeType="afterGroup">
                            <p:stCondLst>
                              <p:cond delay="15000"/>
                            </p:stCondLst>
                            <p:childTnLst>
                              <p:par>
                                <p:cTn id="59" presetID="1" presetClass="exit" presetSubtype="0" fill="hold" grpId="2" nodeType="afterEffect">
                                  <p:stCondLst>
                                    <p:cond delay="0"/>
                                  </p:stCondLst>
                                  <p:childTnLst>
                                    <p:set>
                                      <p:cBhvr>
                                        <p:cTn id="60" dur="1" fill="hold">
                                          <p:stCondLst>
                                            <p:cond delay="0"/>
                                          </p:stCondLst>
                                        </p:cTn>
                                        <p:tgtEl>
                                          <p:spTgt spid="61541"/>
                                        </p:tgtEl>
                                        <p:attrNameLst>
                                          <p:attrName>style.visibility</p:attrName>
                                        </p:attrNameLst>
                                      </p:cBhvr>
                                      <p:to>
                                        <p:strVal val="hidden"/>
                                      </p:to>
                                    </p:set>
                                  </p:childTnLst>
                                </p:cTn>
                              </p:par>
                            </p:childTnLst>
                          </p:cTn>
                        </p:par>
                        <p:par>
                          <p:cTn id="61" fill="hold" nodeType="afterGroup">
                            <p:stCondLst>
                              <p:cond delay="15000"/>
                            </p:stCondLst>
                            <p:childTnLst>
                              <p:par>
                                <p:cTn id="62" presetID="1" presetClass="entr" presetSubtype="0" fill="hold" grpId="0" nodeType="afterEffect">
                                  <p:stCondLst>
                                    <p:cond delay="0"/>
                                  </p:stCondLst>
                                  <p:childTnLst>
                                    <p:set>
                                      <p:cBhvr>
                                        <p:cTn id="63" dur="1" fill="hold">
                                          <p:stCondLst>
                                            <p:cond delay="0"/>
                                          </p:stCondLst>
                                        </p:cTn>
                                        <p:tgtEl>
                                          <p:spTgt spid="61537"/>
                                        </p:tgtEl>
                                        <p:attrNameLst>
                                          <p:attrName>style.visibility</p:attrName>
                                        </p:attrNameLst>
                                      </p:cBhvr>
                                      <p:to>
                                        <p:strVal val="visible"/>
                                      </p:to>
                                    </p:set>
                                  </p:childTnLst>
                                </p:cTn>
                              </p:par>
                            </p:childTnLst>
                          </p:cTn>
                        </p:par>
                        <p:par>
                          <p:cTn id="64" fill="hold" nodeType="afterGroup">
                            <p:stCondLst>
                              <p:cond delay="15000"/>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ptsTypes="AAAAAA">
                                      <p:cBhvr>
                                        <p:cTn id="66" dur="2000" fill="hold"/>
                                        <p:tgtEl>
                                          <p:spTgt spid="61537"/>
                                        </p:tgtEl>
                                        <p:attrNameLst>
                                          <p:attrName>ppt_x</p:attrName>
                                          <p:attrName>ppt_y</p:attrName>
                                        </p:attrNameLst>
                                      </p:cBhvr>
                                    </p:animMotion>
                                  </p:childTnLst>
                                </p:cTn>
                              </p:par>
                            </p:childTnLst>
                          </p:cTn>
                        </p:par>
                        <p:par>
                          <p:cTn id="67" fill="hold" nodeType="afterGroup">
                            <p:stCondLst>
                              <p:cond delay="17000"/>
                            </p:stCondLst>
                            <p:childTnLst>
                              <p:par>
                                <p:cTn id="68" presetID="1" presetClass="exit" presetSubtype="0" fill="hold" grpId="2" nodeType="afterEffect">
                                  <p:stCondLst>
                                    <p:cond delay="0"/>
                                  </p:stCondLst>
                                  <p:childTnLst>
                                    <p:set>
                                      <p:cBhvr>
                                        <p:cTn id="69" dur="1" fill="hold">
                                          <p:stCondLst>
                                            <p:cond delay="0"/>
                                          </p:stCondLst>
                                        </p:cTn>
                                        <p:tgtEl>
                                          <p:spTgt spid="61537"/>
                                        </p:tgtEl>
                                        <p:attrNameLst>
                                          <p:attrName>style.visibility</p:attrName>
                                        </p:attrNameLst>
                                      </p:cBhvr>
                                      <p:to>
                                        <p:strVal val="hidden"/>
                                      </p:to>
                                    </p:set>
                                  </p:childTnLst>
                                </p:cTn>
                              </p:par>
                            </p:childTnLst>
                          </p:cTn>
                        </p:par>
                        <p:par>
                          <p:cTn id="70" fill="hold" nodeType="afterGroup">
                            <p:stCondLst>
                              <p:cond delay="17000"/>
                            </p:stCondLst>
                            <p:childTnLst>
                              <p:par>
                                <p:cTn id="71" presetID="1" presetClass="entr" presetSubtype="0" fill="hold" grpId="0" nodeType="afterEffect">
                                  <p:stCondLst>
                                    <p:cond delay="0"/>
                                  </p:stCondLst>
                                  <p:childTnLst>
                                    <p:set>
                                      <p:cBhvr>
                                        <p:cTn id="72" dur="1" fill="hold">
                                          <p:stCondLst>
                                            <p:cond delay="0"/>
                                          </p:stCondLst>
                                        </p:cTn>
                                        <p:tgtEl>
                                          <p:spTgt spid="61536"/>
                                        </p:tgtEl>
                                        <p:attrNameLst>
                                          <p:attrName>style.visibility</p:attrName>
                                        </p:attrNameLst>
                                      </p:cBhvr>
                                      <p:to>
                                        <p:strVal val="visible"/>
                                      </p:to>
                                    </p:set>
                                  </p:childTnLst>
                                </p:cTn>
                              </p:par>
                            </p:childTnLst>
                          </p:cTn>
                        </p:par>
                        <p:par>
                          <p:cTn id="73" fill="hold" nodeType="afterGroup">
                            <p:stCondLst>
                              <p:cond delay="17000"/>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ptsTypes="AAAAA">
                                      <p:cBhvr>
                                        <p:cTn id="75" dur="2000" fill="hold"/>
                                        <p:tgtEl>
                                          <p:spTgt spid="61536"/>
                                        </p:tgtEl>
                                        <p:attrNameLst>
                                          <p:attrName>ppt_x</p:attrName>
                                          <p:attrName>ppt_y</p:attrName>
                                        </p:attrNameLst>
                                      </p:cBhvr>
                                    </p:animMotion>
                                  </p:childTnLst>
                                </p:cTn>
                              </p:par>
                            </p:childTnLst>
                          </p:cTn>
                        </p:par>
                        <p:par>
                          <p:cTn id="76" fill="hold" nodeType="afterGroup">
                            <p:stCondLst>
                              <p:cond delay="19000"/>
                            </p:stCondLst>
                            <p:childTnLst>
                              <p:par>
                                <p:cTn id="77" presetID="1" presetClass="exit" presetSubtype="0" fill="hold" grpId="2" nodeType="afterEffect">
                                  <p:stCondLst>
                                    <p:cond delay="0"/>
                                  </p:stCondLst>
                                  <p:childTnLst>
                                    <p:set>
                                      <p:cBhvr>
                                        <p:cTn id="78" dur="1" fill="hold">
                                          <p:stCondLst>
                                            <p:cond delay="0"/>
                                          </p:stCondLst>
                                        </p:cTn>
                                        <p:tgtEl>
                                          <p:spTgt spid="615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5" grpId="0" animBg="1"/>
      <p:bldP spid="61535" grpId="1" animBg="1"/>
      <p:bldP spid="61535" grpId="2" animBg="1"/>
      <p:bldP spid="61532" grpId="0" animBg="1"/>
      <p:bldP spid="61532" grpId="1" animBg="1"/>
      <p:bldP spid="61532" grpId="2" animBg="1"/>
      <p:bldP spid="61534" grpId="0" animBg="1"/>
      <p:bldP spid="61534" grpId="1" animBg="1"/>
      <p:bldP spid="61534" grpId="2" animBg="1"/>
      <p:bldP spid="61539" grpId="0" animBg="1"/>
      <p:bldP spid="61539" grpId="1" animBg="1"/>
      <p:bldP spid="61540" grpId="0" animBg="1"/>
      <p:bldP spid="61540" grpId="1" animBg="1"/>
      <p:bldP spid="61540" grpId="2" animBg="1"/>
      <p:bldP spid="61541" grpId="0" animBg="1"/>
      <p:bldP spid="61541" grpId="1" animBg="1"/>
      <p:bldP spid="61541" grpId="2" animBg="1"/>
      <p:bldP spid="61537" grpId="0" animBg="1"/>
      <p:bldP spid="61537" grpId="1" animBg="1"/>
      <p:bldP spid="61537" grpId="2" animBg="1"/>
      <p:bldP spid="61536" grpId="0" animBg="1"/>
      <p:bldP spid="61536" grpId="1" animBg="1"/>
      <p:bldP spid="61536" grpId="2" animBg="1"/>
      <p:bldP spid="61542" grpId="0" animBg="1"/>
      <p:bldP spid="61542"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algn="ctr" eaLnBrk="1" hangingPunct="1"/>
            <a:r>
              <a:rPr lang="zh-CN" altLang="en-US" smtClean="0"/>
              <a:t>注意分组的</a:t>
            </a:r>
            <a:r>
              <a:rPr lang="zh-CN" altLang="en-US" smtClean="0">
                <a:solidFill>
                  <a:schemeClr val="hlink"/>
                </a:solidFill>
              </a:rPr>
              <a:t>存储转发</a:t>
            </a:r>
            <a:r>
              <a:rPr lang="zh-CN" altLang="en-US" smtClean="0"/>
              <a:t>过程</a:t>
            </a:r>
          </a:p>
        </p:txBody>
      </p:sp>
      <p:grpSp>
        <p:nvGrpSpPr>
          <p:cNvPr id="44035" name="Group 3"/>
          <p:cNvGrpSpPr>
            <a:grpSpLocks/>
          </p:cNvGrpSpPr>
          <p:nvPr/>
        </p:nvGrpSpPr>
        <p:grpSpPr bwMode="auto">
          <a:xfrm>
            <a:off x="1528763" y="2536825"/>
            <a:ext cx="4090987" cy="3667125"/>
            <a:chOff x="2256" y="2386"/>
            <a:chExt cx="2147" cy="1919"/>
          </a:xfrm>
        </p:grpSpPr>
        <p:sp>
          <p:nvSpPr>
            <p:cNvPr id="44081"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2"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3"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4" name="Oval 7"/>
            <p:cNvSpPr>
              <a:spLocks noChangeArrowheads="1"/>
            </p:cNvSpPr>
            <p:nvPr/>
          </p:nvSpPr>
          <p:spPr bwMode="auto">
            <a:xfrm rot="-3234972">
              <a:off x="3754" y="3108"/>
              <a:ext cx="687" cy="610"/>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5"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6"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7"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8" name="Oval 11"/>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89" name="Freeform 12"/>
            <p:cNvSpPr>
              <a:spLocks/>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4036" name="Line 13"/>
          <p:cNvSpPr>
            <a:spLocks noChangeShapeType="1"/>
          </p:cNvSpPr>
          <p:nvPr/>
        </p:nvSpPr>
        <p:spPr bwMode="auto">
          <a:xfrm flipV="1">
            <a:off x="2660650" y="2771775"/>
            <a:ext cx="1281113" cy="555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7" name="Line 14"/>
          <p:cNvSpPr>
            <a:spLocks noChangeShapeType="1"/>
          </p:cNvSpPr>
          <p:nvPr/>
        </p:nvSpPr>
        <p:spPr bwMode="auto">
          <a:xfrm>
            <a:off x="4098925" y="2846388"/>
            <a:ext cx="757238" cy="13985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8" name="Line 15"/>
          <p:cNvSpPr>
            <a:spLocks noChangeShapeType="1"/>
          </p:cNvSpPr>
          <p:nvPr/>
        </p:nvSpPr>
        <p:spPr bwMode="auto">
          <a:xfrm flipH="1">
            <a:off x="1905000" y="3419475"/>
            <a:ext cx="665163" cy="12557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9" name="Line 16"/>
          <p:cNvSpPr>
            <a:spLocks noChangeShapeType="1"/>
          </p:cNvSpPr>
          <p:nvPr/>
        </p:nvSpPr>
        <p:spPr bwMode="auto">
          <a:xfrm>
            <a:off x="1946275" y="4852988"/>
            <a:ext cx="1520825" cy="8826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0" name="Line 17"/>
          <p:cNvSpPr>
            <a:spLocks noChangeShapeType="1"/>
          </p:cNvSpPr>
          <p:nvPr/>
        </p:nvSpPr>
        <p:spPr bwMode="auto">
          <a:xfrm flipV="1">
            <a:off x="3530600" y="4521200"/>
            <a:ext cx="1325563" cy="1306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1" name="Line 18"/>
          <p:cNvSpPr>
            <a:spLocks noChangeShapeType="1"/>
          </p:cNvSpPr>
          <p:nvPr/>
        </p:nvSpPr>
        <p:spPr bwMode="auto">
          <a:xfrm>
            <a:off x="2713038" y="3425825"/>
            <a:ext cx="2125662" cy="9461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2" name="Line 19"/>
          <p:cNvSpPr>
            <a:spLocks noChangeShapeType="1"/>
          </p:cNvSpPr>
          <p:nvPr/>
        </p:nvSpPr>
        <p:spPr bwMode="auto">
          <a:xfrm>
            <a:off x="2611438" y="3262313"/>
            <a:ext cx="1000125" cy="24717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3" name="Line 20"/>
          <p:cNvSpPr>
            <a:spLocks noChangeShapeType="1"/>
          </p:cNvSpPr>
          <p:nvPr/>
        </p:nvSpPr>
        <p:spPr bwMode="auto">
          <a:xfrm flipV="1">
            <a:off x="2935288" y="5805488"/>
            <a:ext cx="639762" cy="5492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Line 21"/>
          <p:cNvSpPr>
            <a:spLocks noChangeShapeType="1"/>
          </p:cNvSpPr>
          <p:nvPr/>
        </p:nvSpPr>
        <p:spPr bwMode="auto">
          <a:xfrm rot="-5400000">
            <a:off x="3859213" y="2455863"/>
            <a:ext cx="3365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5" name="Line 22"/>
          <p:cNvSpPr>
            <a:spLocks noChangeShapeType="1"/>
          </p:cNvSpPr>
          <p:nvPr/>
        </p:nvSpPr>
        <p:spPr bwMode="auto">
          <a:xfrm>
            <a:off x="4948238" y="4521200"/>
            <a:ext cx="639762" cy="1008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6" name="Line 23"/>
          <p:cNvSpPr>
            <a:spLocks noChangeShapeType="1"/>
          </p:cNvSpPr>
          <p:nvPr/>
        </p:nvSpPr>
        <p:spPr bwMode="auto">
          <a:xfrm flipV="1">
            <a:off x="1027113" y="4778375"/>
            <a:ext cx="6445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7" name="Line 24"/>
          <p:cNvSpPr>
            <a:spLocks noChangeShapeType="1"/>
          </p:cNvSpPr>
          <p:nvPr/>
        </p:nvSpPr>
        <p:spPr bwMode="auto">
          <a:xfrm rot="5400000" flipH="1">
            <a:off x="2184400" y="2887663"/>
            <a:ext cx="773113"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8" name="Text Box 25"/>
          <p:cNvSpPr txBox="1">
            <a:spLocks noChangeArrowheads="1"/>
          </p:cNvSpPr>
          <p:nvPr/>
        </p:nvSpPr>
        <p:spPr bwMode="auto">
          <a:xfrm>
            <a:off x="682625" y="41433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1</a:t>
            </a:r>
            <a:endParaRPr kumimoji="1" lang="en-US" altLang="zh-CN" sz="2000">
              <a:solidFill>
                <a:srgbClr val="333399"/>
              </a:solidFill>
            </a:endParaRPr>
          </a:p>
        </p:txBody>
      </p:sp>
      <p:sp>
        <p:nvSpPr>
          <p:cNvPr id="44049" name="Oval 26"/>
          <p:cNvSpPr>
            <a:spLocks noChangeArrowheads="1"/>
          </p:cNvSpPr>
          <p:nvPr/>
        </p:nvSpPr>
        <p:spPr bwMode="auto">
          <a:xfrm>
            <a:off x="1655763" y="4521200"/>
            <a:ext cx="560387" cy="561975"/>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A</a:t>
            </a:r>
          </a:p>
        </p:txBody>
      </p:sp>
      <p:sp>
        <p:nvSpPr>
          <p:cNvPr id="44050" name="Line 27"/>
          <p:cNvSpPr>
            <a:spLocks noChangeShapeType="1"/>
          </p:cNvSpPr>
          <p:nvPr/>
        </p:nvSpPr>
        <p:spPr bwMode="auto">
          <a:xfrm flipV="1">
            <a:off x="4948238" y="3924300"/>
            <a:ext cx="806450" cy="4127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1" name="AutoShape 28"/>
          <p:cNvSpPr>
            <a:spLocks noChangeArrowheads="1"/>
          </p:cNvSpPr>
          <p:nvPr/>
        </p:nvSpPr>
        <p:spPr bwMode="auto">
          <a:xfrm flipV="1">
            <a:off x="4500563" y="6210300"/>
            <a:ext cx="1079500" cy="387350"/>
          </a:xfrm>
          <a:prstGeom prst="wedgeRoundRectCallout">
            <a:avLst>
              <a:gd name="adj1" fmla="val -66181"/>
              <a:gd name="adj2" fmla="val 131963"/>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zh-CN" altLang="zh-CN" sz="2400">
              <a:latin typeface="Times New Roman" pitchFamily="18" charset="0"/>
            </a:endParaRPr>
          </a:p>
        </p:txBody>
      </p:sp>
      <p:sp>
        <p:nvSpPr>
          <p:cNvPr id="44052" name="Text Box 29"/>
          <p:cNvSpPr txBox="1">
            <a:spLocks noChangeArrowheads="1"/>
          </p:cNvSpPr>
          <p:nvPr/>
        </p:nvSpPr>
        <p:spPr bwMode="auto">
          <a:xfrm>
            <a:off x="4603750" y="620077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互联网</a:t>
            </a:r>
          </a:p>
        </p:txBody>
      </p:sp>
      <p:pic>
        <p:nvPicPr>
          <p:cNvPr id="44053" name="Picture 3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3163" y="1844675"/>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54" name="Picture 3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388" y="3559175"/>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55" name="Picture 3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0163" y="6264275"/>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pic>
      <p:pic>
        <p:nvPicPr>
          <p:cNvPr id="44056" name="Picture 3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5438" y="5346700"/>
            <a:ext cx="585787"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57" name="Picture 3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5525" y="2043113"/>
            <a:ext cx="587375"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58" name="Oval 35"/>
          <p:cNvSpPr>
            <a:spLocks noChangeArrowheads="1"/>
          </p:cNvSpPr>
          <p:nvPr/>
        </p:nvSpPr>
        <p:spPr bwMode="auto">
          <a:xfrm>
            <a:off x="2379663" y="3154363"/>
            <a:ext cx="528637" cy="530225"/>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B</a:t>
            </a:r>
          </a:p>
        </p:txBody>
      </p:sp>
      <p:sp>
        <p:nvSpPr>
          <p:cNvPr id="44059" name="Oval 36"/>
          <p:cNvSpPr>
            <a:spLocks noChangeArrowheads="1"/>
          </p:cNvSpPr>
          <p:nvPr/>
        </p:nvSpPr>
        <p:spPr bwMode="auto">
          <a:xfrm>
            <a:off x="3800475" y="2543175"/>
            <a:ext cx="515938" cy="517525"/>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D</a:t>
            </a:r>
          </a:p>
        </p:txBody>
      </p:sp>
      <p:sp>
        <p:nvSpPr>
          <p:cNvPr id="44060" name="Oval 37"/>
          <p:cNvSpPr>
            <a:spLocks noChangeArrowheads="1"/>
          </p:cNvSpPr>
          <p:nvPr/>
        </p:nvSpPr>
        <p:spPr bwMode="auto">
          <a:xfrm>
            <a:off x="4625975" y="4143375"/>
            <a:ext cx="574675" cy="576263"/>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E</a:t>
            </a:r>
          </a:p>
        </p:txBody>
      </p:sp>
      <p:sp>
        <p:nvSpPr>
          <p:cNvPr id="44061" name="Oval 38"/>
          <p:cNvSpPr>
            <a:spLocks noChangeArrowheads="1"/>
          </p:cNvSpPr>
          <p:nvPr/>
        </p:nvSpPr>
        <p:spPr bwMode="auto">
          <a:xfrm>
            <a:off x="3346450" y="5491163"/>
            <a:ext cx="546100" cy="547687"/>
          </a:xfrm>
          <a:prstGeom prst="ellipse">
            <a:avLst/>
          </a:prstGeom>
          <a:solidFill>
            <a:srgbClr val="66FF33"/>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C</a:t>
            </a:r>
          </a:p>
        </p:txBody>
      </p:sp>
      <p:sp>
        <p:nvSpPr>
          <p:cNvPr id="44062" name="Text Box 39"/>
          <p:cNvSpPr txBox="1">
            <a:spLocks noChangeArrowheads="1"/>
          </p:cNvSpPr>
          <p:nvPr/>
        </p:nvSpPr>
        <p:spPr bwMode="auto">
          <a:xfrm>
            <a:off x="5076825" y="5300663"/>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5</a:t>
            </a:r>
            <a:endParaRPr kumimoji="1" lang="en-US" altLang="zh-CN" sz="2000">
              <a:solidFill>
                <a:srgbClr val="333399"/>
              </a:solidFill>
            </a:endParaRPr>
          </a:p>
        </p:txBody>
      </p:sp>
      <p:sp>
        <p:nvSpPr>
          <p:cNvPr id="44063" name="Text Box 40"/>
          <p:cNvSpPr txBox="1">
            <a:spLocks noChangeArrowheads="1"/>
          </p:cNvSpPr>
          <p:nvPr/>
        </p:nvSpPr>
        <p:spPr bwMode="auto">
          <a:xfrm>
            <a:off x="6084888" y="35004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6</a:t>
            </a:r>
            <a:endParaRPr kumimoji="1" lang="en-US" altLang="zh-CN" sz="2000">
              <a:solidFill>
                <a:srgbClr val="333399"/>
              </a:solidFill>
            </a:endParaRPr>
          </a:p>
        </p:txBody>
      </p:sp>
      <p:sp>
        <p:nvSpPr>
          <p:cNvPr id="44064" name="Text Box 41"/>
          <p:cNvSpPr txBox="1">
            <a:spLocks noChangeArrowheads="1"/>
          </p:cNvSpPr>
          <p:nvPr/>
        </p:nvSpPr>
        <p:spPr bwMode="auto">
          <a:xfrm>
            <a:off x="3348038" y="1844675"/>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4</a:t>
            </a:r>
            <a:endParaRPr kumimoji="1" lang="en-US" altLang="zh-CN" sz="2000">
              <a:solidFill>
                <a:srgbClr val="333399"/>
              </a:solidFill>
            </a:endParaRPr>
          </a:p>
        </p:txBody>
      </p:sp>
      <p:sp>
        <p:nvSpPr>
          <p:cNvPr id="44065" name="Text Box 42"/>
          <p:cNvSpPr txBox="1">
            <a:spLocks noChangeArrowheads="1"/>
          </p:cNvSpPr>
          <p:nvPr/>
        </p:nvSpPr>
        <p:spPr bwMode="auto">
          <a:xfrm>
            <a:off x="1979613" y="198913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2</a:t>
            </a:r>
            <a:endParaRPr kumimoji="1" lang="en-US" altLang="zh-CN" sz="2000">
              <a:solidFill>
                <a:srgbClr val="333399"/>
              </a:solidFill>
            </a:endParaRPr>
          </a:p>
        </p:txBody>
      </p:sp>
      <p:sp>
        <p:nvSpPr>
          <p:cNvPr id="44066" name="Text Box 43"/>
          <p:cNvSpPr txBox="1">
            <a:spLocks noChangeArrowheads="1"/>
          </p:cNvSpPr>
          <p:nvPr/>
        </p:nvSpPr>
        <p:spPr bwMode="auto">
          <a:xfrm>
            <a:off x="2195513" y="6237288"/>
            <a:ext cx="4603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3</a:t>
            </a:r>
            <a:endParaRPr kumimoji="1" lang="en-US" altLang="zh-CN" sz="2000">
              <a:solidFill>
                <a:srgbClr val="333399"/>
              </a:solidFill>
            </a:endParaRPr>
          </a:p>
        </p:txBody>
      </p:sp>
      <p:pic>
        <p:nvPicPr>
          <p:cNvPr id="44067" name="Picture 4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4521200"/>
            <a:ext cx="58737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82" name="Rectangle 46"/>
          <p:cNvSpPr>
            <a:spLocks noChangeArrowheads="1"/>
          </p:cNvSpPr>
          <p:nvPr/>
        </p:nvSpPr>
        <p:spPr bwMode="auto">
          <a:xfrm>
            <a:off x="827088" y="4652963"/>
            <a:ext cx="158750" cy="15875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9" name="Text Box 48"/>
          <p:cNvSpPr txBox="1">
            <a:spLocks noChangeArrowheads="1"/>
          </p:cNvSpPr>
          <p:nvPr/>
        </p:nvSpPr>
        <p:spPr bwMode="auto">
          <a:xfrm>
            <a:off x="5707063" y="3017838"/>
            <a:ext cx="2936875" cy="557212"/>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800">
                <a:solidFill>
                  <a:schemeClr val="hlink"/>
                </a:solidFill>
              </a:rPr>
              <a:t>H</a:t>
            </a:r>
            <a:r>
              <a:rPr kumimoji="1" lang="en-US" altLang="zh-CN" sz="2800" baseline="-25000">
                <a:solidFill>
                  <a:schemeClr val="hlink"/>
                </a:solidFill>
              </a:rPr>
              <a:t>1</a:t>
            </a:r>
            <a:r>
              <a:rPr kumimoji="1" lang="en-US" altLang="zh-CN" sz="1600" baseline="-25000">
                <a:solidFill>
                  <a:schemeClr val="hlink"/>
                </a:solidFill>
              </a:rPr>
              <a:t> </a:t>
            </a:r>
            <a:r>
              <a:rPr kumimoji="1" lang="zh-CN" altLang="en-US" sz="2800">
                <a:solidFill>
                  <a:schemeClr val="hlink"/>
                </a:solidFill>
                <a:ea typeface="黑体" pitchFamily="49" charset="-122"/>
              </a:rPr>
              <a:t>向</a:t>
            </a:r>
            <a:r>
              <a:rPr kumimoji="1" lang="zh-CN" altLang="en-US" sz="1600">
                <a:solidFill>
                  <a:schemeClr val="hlink"/>
                </a:solidFill>
                <a:ea typeface="黑体" pitchFamily="49" charset="-122"/>
              </a:rPr>
              <a:t> </a:t>
            </a:r>
            <a:r>
              <a:rPr kumimoji="1" lang="en-US" altLang="zh-CN" sz="2800">
                <a:solidFill>
                  <a:schemeClr val="hlink"/>
                </a:solidFill>
                <a:ea typeface="黑体" pitchFamily="49" charset="-122"/>
              </a:rPr>
              <a:t>H</a:t>
            </a:r>
            <a:r>
              <a:rPr kumimoji="1" lang="en-US" altLang="zh-CN" sz="2800" baseline="-25000">
                <a:solidFill>
                  <a:schemeClr val="hlink"/>
                </a:solidFill>
                <a:ea typeface="黑体" pitchFamily="49" charset="-122"/>
              </a:rPr>
              <a:t>5</a:t>
            </a:r>
            <a:r>
              <a:rPr kumimoji="1" lang="en-US" altLang="zh-CN" sz="1600">
                <a:solidFill>
                  <a:schemeClr val="hlink"/>
                </a:solidFill>
                <a:ea typeface="黑体" pitchFamily="49" charset="-122"/>
              </a:rPr>
              <a:t> </a:t>
            </a:r>
            <a:r>
              <a:rPr kumimoji="1" lang="zh-CN" altLang="en-US" sz="2800">
                <a:solidFill>
                  <a:schemeClr val="hlink"/>
                </a:solidFill>
                <a:ea typeface="黑体" pitchFamily="49" charset="-122"/>
              </a:rPr>
              <a:t>发送分组</a:t>
            </a:r>
          </a:p>
        </p:txBody>
      </p:sp>
      <p:sp>
        <p:nvSpPr>
          <p:cNvPr id="44070" name="Text Box 55"/>
          <p:cNvSpPr txBox="1">
            <a:spLocks noChangeArrowheads="1"/>
          </p:cNvSpPr>
          <p:nvPr/>
        </p:nvSpPr>
        <p:spPr bwMode="auto">
          <a:xfrm>
            <a:off x="746125" y="285273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路由器</a:t>
            </a:r>
          </a:p>
        </p:txBody>
      </p:sp>
      <p:sp>
        <p:nvSpPr>
          <p:cNvPr id="44071" name="Text Box 56"/>
          <p:cNvSpPr txBox="1">
            <a:spLocks noChangeArrowheads="1"/>
          </p:cNvSpPr>
          <p:nvPr/>
        </p:nvSpPr>
        <p:spPr bwMode="auto">
          <a:xfrm>
            <a:off x="0" y="36449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主机</a:t>
            </a:r>
          </a:p>
        </p:txBody>
      </p:sp>
      <p:sp>
        <p:nvSpPr>
          <p:cNvPr id="44072" name="Line 57"/>
          <p:cNvSpPr>
            <a:spLocks noChangeShapeType="1"/>
          </p:cNvSpPr>
          <p:nvPr/>
        </p:nvSpPr>
        <p:spPr bwMode="auto">
          <a:xfrm>
            <a:off x="1619250" y="3068638"/>
            <a:ext cx="792163" cy="21590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73" name="Line 58"/>
          <p:cNvSpPr>
            <a:spLocks noChangeShapeType="1"/>
          </p:cNvSpPr>
          <p:nvPr/>
        </p:nvSpPr>
        <p:spPr bwMode="auto">
          <a:xfrm>
            <a:off x="395288" y="4005263"/>
            <a:ext cx="360362" cy="576262"/>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95" name="Rectangle 59"/>
          <p:cNvSpPr>
            <a:spLocks noChangeArrowheads="1"/>
          </p:cNvSpPr>
          <p:nvPr/>
        </p:nvSpPr>
        <p:spPr bwMode="auto">
          <a:xfrm>
            <a:off x="1690688" y="4652963"/>
            <a:ext cx="158750" cy="158750"/>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7" name="Rectangle 61"/>
          <p:cNvSpPr>
            <a:spLocks noChangeArrowheads="1"/>
          </p:cNvSpPr>
          <p:nvPr/>
        </p:nvSpPr>
        <p:spPr bwMode="auto">
          <a:xfrm>
            <a:off x="3492500" y="5661025"/>
            <a:ext cx="144463" cy="144463"/>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8" name="Text Box 62"/>
          <p:cNvSpPr txBox="1">
            <a:spLocks noChangeArrowheads="1"/>
          </p:cNvSpPr>
          <p:nvPr/>
        </p:nvSpPr>
        <p:spPr bwMode="auto">
          <a:xfrm>
            <a:off x="1619250" y="2205038"/>
            <a:ext cx="3671888" cy="1449387"/>
          </a:xfrm>
          <a:prstGeom prst="rect">
            <a:avLst/>
          </a:prstGeom>
          <a:solidFill>
            <a:srgbClr val="FFCCFF"/>
          </a:solidFill>
          <a:ln w="76200" cmpd="tri">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E</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eaLnBrk="1" hangingPunct="1"/>
            <a:r>
              <a:rPr kumimoji="1" lang="zh-CN" altLang="en-US" sz="2800">
                <a:solidFill>
                  <a:srgbClr val="333399"/>
                </a:solidFill>
                <a:latin typeface="黑体" pitchFamily="49" charset="-122"/>
                <a:ea typeface="黑体" pitchFamily="49" charset="-122"/>
              </a:rPr>
              <a:t>查找转发表</a:t>
            </a:r>
          </a:p>
          <a:p>
            <a:pPr algn="ctr" eaLnBrk="1" hangingPunct="1"/>
            <a:r>
              <a:rPr kumimoji="1" lang="zh-CN" altLang="en-US" sz="2800">
                <a:solidFill>
                  <a:srgbClr val="333399"/>
                </a:solidFill>
                <a:latin typeface="黑体" pitchFamily="49" charset="-122"/>
                <a:ea typeface="黑体" pitchFamily="49" charset="-122"/>
              </a:rPr>
              <a:t>找到转发的端口</a:t>
            </a:r>
          </a:p>
        </p:txBody>
      </p:sp>
      <p:sp>
        <p:nvSpPr>
          <p:cNvPr id="65599" name="Rectangle 63"/>
          <p:cNvSpPr>
            <a:spLocks noChangeArrowheads="1"/>
          </p:cNvSpPr>
          <p:nvPr/>
        </p:nvSpPr>
        <p:spPr bwMode="auto">
          <a:xfrm>
            <a:off x="4787900" y="4508500"/>
            <a:ext cx="144463" cy="144463"/>
          </a:xfrm>
          <a:prstGeom prst="rect">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0" name="Text Box 64"/>
          <p:cNvSpPr txBox="1">
            <a:spLocks noChangeArrowheads="1"/>
          </p:cNvSpPr>
          <p:nvPr/>
        </p:nvSpPr>
        <p:spPr bwMode="auto">
          <a:xfrm>
            <a:off x="1835150" y="2205038"/>
            <a:ext cx="3816350" cy="595312"/>
          </a:xfrm>
          <a:prstGeom prst="rect">
            <a:avLst/>
          </a:prstGeom>
          <a:solidFill>
            <a:srgbClr val="FFCCFF"/>
          </a:solidFill>
          <a:ln w="76200" cmpd="tri">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最后到达目的主机</a:t>
            </a:r>
            <a:r>
              <a:rPr kumimoji="1" lang="zh-CN" altLang="en-US" sz="8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H</a:t>
            </a:r>
            <a:r>
              <a:rPr kumimoji="1" lang="en-US" altLang="zh-CN" sz="2800" baseline="-25000">
                <a:solidFill>
                  <a:srgbClr val="333399"/>
                </a:solidFill>
                <a:ea typeface="黑体" pitchFamily="49" charset="-122"/>
              </a:rPr>
              <a:t>5</a:t>
            </a:r>
          </a:p>
        </p:txBody>
      </p:sp>
      <p:sp>
        <p:nvSpPr>
          <p:cNvPr id="65596" name="Text Box 60"/>
          <p:cNvSpPr txBox="1">
            <a:spLocks noChangeArrowheads="1"/>
          </p:cNvSpPr>
          <p:nvPr/>
        </p:nvSpPr>
        <p:spPr bwMode="auto">
          <a:xfrm flipH="1">
            <a:off x="1331913" y="2205038"/>
            <a:ext cx="3671887" cy="1449387"/>
          </a:xfrm>
          <a:prstGeom prst="rect">
            <a:avLst/>
          </a:prstGeom>
          <a:solidFill>
            <a:srgbClr val="FFCCFF"/>
          </a:solidFill>
          <a:ln w="76200" cmpd="tri">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C</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eaLnBrk="1" hangingPunct="1"/>
            <a:r>
              <a:rPr kumimoji="1" lang="zh-CN" altLang="en-US" sz="2800">
                <a:solidFill>
                  <a:srgbClr val="333399"/>
                </a:solidFill>
                <a:latin typeface="黑体" pitchFamily="49" charset="-122"/>
                <a:ea typeface="黑体" pitchFamily="49" charset="-122"/>
              </a:rPr>
              <a:t>查找转发表</a:t>
            </a:r>
          </a:p>
          <a:p>
            <a:pPr algn="ctr" eaLnBrk="1" hangingPunct="1"/>
            <a:r>
              <a:rPr kumimoji="1" lang="zh-CN" altLang="en-US" sz="2800">
                <a:solidFill>
                  <a:srgbClr val="333399"/>
                </a:solidFill>
                <a:latin typeface="黑体" pitchFamily="49" charset="-122"/>
                <a:ea typeface="黑体" pitchFamily="49" charset="-122"/>
              </a:rPr>
              <a:t>找到转发的端口</a:t>
            </a:r>
          </a:p>
        </p:txBody>
      </p:sp>
      <p:sp>
        <p:nvSpPr>
          <p:cNvPr id="65590" name="Text Box 54"/>
          <p:cNvSpPr txBox="1">
            <a:spLocks noChangeArrowheads="1"/>
          </p:cNvSpPr>
          <p:nvPr/>
        </p:nvSpPr>
        <p:spPr bwMode="auto">
          <a:xfrm>
            <a:off x="1116013" y="2205038"/>
            <a:ext cx="3671887" cy="1449387"/>
          </a:xfrm>
          <a:prstGeom prst="rect">
            <a:avLst/>
          </a:prstGeom>
          <a:solidFill>
            <a:srgbClr val="FFCCFF"/>
          </a:solidFill>
          <a:ln w="76200" cmpd="tri">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A</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eaLnBrk="1" hangingPunct="1"/>
            <a:r>
              <a:rPr kumimoji="1" lang="zh-CN" altLang="en-US" sz="2800">
                <a:solidFill>
                  <a:srgbClr val="333399"/>
                </a:solidFill>
                <a:latin typeface="黑体" pitchFamily="49" charset="-122"/>
                <a:ea typeface="黑体" pitchFamily="49" charset="-122"/>
              </a:rPr>
              <a:t>查找转发表</a:t>
            </a:r>
          </a:p>
          <a:p>
            <a:pPr algn="ctr" eaLnBrk="1" hangingPunct="1"/>
            <a:r>
              <a:rPr kumimoji="1" lang="zh-CN" altLang="en-US" sz="2800">
                <a:solidFill>
                  <a:srgbClr val="333399"/>
                </a:solidFill>
                <a:latin typeface="黑体" pitchFamily="49" charset="-122"/>
                <a:ea typeface="黑体" pitchFamily="49" charset="-122"/>
              </a:rPr>
              <a:t>找到转发的端口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65582"/>
                                        </p:tgtEl>
                                        <p:attrNameLst>
                                          <p:attrName>ppt_x</p:attrName>
                                          <p:attrName>ppt_y</p:attrName>
                                        </p:attrNameLst>
                                      </p:cBhvr>
                                      <p:rCtr x="4531" y="370"/>
                                    </p:animMotion>
                                  </p:childTnLst>
                                </p:cTn>
                              </p:par>
                            </p:childTnLst>
                          </p:cTn>
                        </p:par>
                        <p:par>
                          <p:cTn id="10" fill="hold" nodeType="afterGroup">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nodeType="afterGroup">
                            <p:stCondLst>
                              <p:cond delay="2000"/>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par>
                          <p:cTn id="16" fill="hold" nodeType="afterGroup">
                            <p:stCondLst>
                              <p:cond delay="3300"/>
                            </p:stCondLst>
                            <p:childTnLst>
                              <p:par>
                                <p:cTn id="17" presetID="1" presetClass="exit" presetSubtype="0" fill="hold" grpId="2" nodeType="afterEffect">
                                  <p:stCondLst>
                                    <p:cond delay="2000"/>
                                  </p:stCondLst>
                                  <p:childTnLst>
                                    <p:set>
                                      <p:cBhvr>
                                        <p:cTn id="18" dur="1" fill="hold">
                                          <p:stCondLst>
                                            <p:cond delay="0"/>
                                          </p:stCondLst>
                                        </p:cTn>
                                        <p:tgtEl>
                                          <p:spTgt spid="65590"/>
                                        </p:tgtEl>
                                        <p:attrNameLst>
                                          <p:attrName>style.visibility</p:attrName>
                                        </p:attrNameLst>
                                      </p:cBhvr>
                                      <p:to>
                                        <p:strVal val="hidden"/>
                                      </p:to>
                                    </p:set>
                                  </p:childTnLst>
                                </p:cTn>
                              </p:par>
                            </p:childTnLst>
                          </p:cTn>
                        </p:par>
                        <p:par>
                          <p:cTn id="19" fill="hold" nodeType="afterGroup">
                            <p:stCondLst>
                              <p:cond delay="5300"/>
                            </p:stCondLst>
                            <p:childTnLst>
                              <p:par>
                                <p:cTn id="20" presetID="1" presetClass="exit" presetSubtype="0" fill="hold" grpId="2" nodeType="afterEffect">
                                  <p:stCondLst>
                                    <p:cond delay="0"/>
                                  </p:stCondLst>
                                  <p:childTnLst>
                                    <p:set>
                                      <p:cBhvr>
                                        <p:cTn id="21" dur="1" fill="hold">
                                          <p:stCondLst>
                                            <p:cond delay="0"/>
                                          </p:stCondLst>
                                        </p:cTn>
                                        <p:tgtEl>
                                          <p:spTgt spid="65582"/>
                                        </p:tgtEl>
                                        <p:attrNameLst>
                                          <p:attrName>style.visibility</p:attrName>
                                        </p:attrNameLst>
                                      </p:cBhvr>
                                      <p:to>
                                        <p:strVal val="hidden"/>
                                      </p:to>
                                    </p:set>
                                  </p:childTnLst>
                                </p:cTn>
                              </p:par>
                            </p:childTnLst>
                          </p:cTn>
                        </p:par>
                        <p:par>
                          <p:cTn id="22" fill="hold" nodeType="afterGroup">
                            <p:stCondLst>
                              <p:cond delay="5300"/>
                            </p:stCondLst>
                            <p:childTnLst>
                              <p:par>
                                <p:cTn id="23" presetID="1" presetClass="entr" presetSubtype="0" fill="hold" grpId="0" nodeType="afterEffect">
                                  <p:stCondLst>
                                    <p:cond delay="0"/>
                                  </p:stCondLst>
                                  <p:childTnLst>
                                    <p:set>
                                      <p:cBhvr>
                                        <p:cTn id="24" dur="1" fill="hold">
                                          <p:stCondLst>
                                            <p:cond delay="0"/>
                                          </p:stCondLst>
                                        </p:cTn>
                                        <p:tgtEl>
                                          <p:spTgt spid="65595"/>
                                        </p:tgtEl>
                                        <p:attrNameLst>
                                          <p:attrName>style.visibility</p:attrName>
                                        </p:attrNameLst>
                                      </p:cBhvr>
                                      <p:to>
                                        <p:strVal val="visible"/>
                                      </p:to>
                                    </p:set>
                                  </p:childTnLst>
                                </p:cTn>
                              </p:par>
                            </p:childTnLst>
                          </p:cTn>
                        </p:par>
                        <p:par>
                          <p:cTn id="25" fill="hold" nodeType="afterGroup">
                            <p:stCondLst>
                              <p:cond delay="5300"/>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65595"/>
                                        </p:tgtEl>
                                        <p:attrNameLst>
                                          <p:attrName>ppt_x</p:attrName>
                                          <p:attrName>ppt_y</p:attrName>
                                        </p:attrNameLst>
                                      </p:cBhvr>
                                      <p:rCtr x="9132" y="7191"/>
                                    </p:animMotion>
                                  </p:childTnLst>
                                </p:cTn>
                              </p:par>
                            </p:childTnLst>
                          </p:cTn>
                        </p:par>
                        <p:par>
                          <p:cTn id="28" fill="hold" nodeType="afterGroup">
                            <p:stCondLst>
                              <p:cond delay="7300"/>
                            </p:stCondLst>
                            <p:childTnLst>
                              <p:par>
                                <p:cTn id="29" presetID="1" presetClass="entr" presetSubtype="0" fill="hold" grpId="0" nodeType="afterEffect">
                                  <p:stCondLst>
                                    <p:cond delay="0"/>
                                  </p:stCondLst>
                                  <p:childTnLst>
                                    <p:set>
                                      <p:cBhvr>
                                        <p:cTn id="30" dur="1" fill="hold">
                                          <p:stCondLst>
                                            <p:cond delay="0"/>
                                          </p:stCondLst>
                                        </p:cTn>
                                        <p:tgtEl>
                                          <p:spTgt spid="65596"/>
                                        </p:tgtEl>
                                        <p:attrNameLst>
                                          <p:attrName>style.visibility</p:attrName>
                                        </p:attrNameLst>
                                      </p:cBhvr>
                                      <p:to>
                                        <p:strVal val="visible"/>
                                      </p:to>
                                    </p:set>
                                  </p:childTnLst>
                                </p:cTn>
                              </p:par>
                            </p:childTnLst>
                          </p:cTn>
                        </p:par>
                        <p:par>
                          <p:cTn id="31" fill="hold" nodeType="afterGroup">
                            <p:stCondLst>
                              <p:cond delay="7300"/>
                            </p:stCondLst>
                            <p:childTnLst>
                              <p:par>
                                <p:cTn id="32" presetID="6" presetClass="emph" presetSubtype="0" fill="hold" grpId="1" nodeType="afterEffect">
                                  <p:stCondLst>
                                    <p:cond delay="0"/>
                                  </p:stCondLst>
                                  <p:childTnLst>
                                    <p:animScale>
                                      <p:cBhvr>
                                        <p:cTn id="33" dur="1000" fill="hold"/>
                                        <p:tgtEl>
                                          <p:spTgt spid="65596"/>
                                        </p:tgtEl>
                                      </p:cBhvr>
                                      <p:by x="150000" y="150000"/>
                                    </p:animScale>
                                  </p:childTnLst>
                                </p:cTn>
                              </p:par>
                            </p:childTnLst>
                          </p:cTn>
                        </p:par>
                        <p:par>
                          <p:cTn id="34" fill="hold" nodeType="afterGroup">
                            <p:stCondLst>
                              <p:cond delay="8300"/>
                            </p:stCondLst>
                            <p:childTnLst>
                              <p:par>
                                <p:cTn id="35" presetID="1" presetClass="exit" presetSubtype="0" fill="hold" grpId="2" nodeType="afterEffect">
                                  <p:stCondLst>
                                    <p:cond delay="2000"/>
                                  </p:stCondLst>
                                  <p:childTnLst>
                                    <p:set>
                                      <p:cBhvr>
                                        <p:cTn id="36" dur="1" fill="hold">
                                          <p:stCondLst>
                                            <p:cond delay="0"/>
                                          </p:stCondLst>
                                        </p:cTn>
                                        <p:tgtEl>
                                          <p:spTgt spid="65596"/>
                                        </p:tgtEl>
                                        <p:attrNameLst>
                                          <p:attrName>style.visibility</p:attrName>
                                        </p:attrNameLst>
                                      </p:cBhvr>
                                      <p:to>
                                        <p:strVal val="hidden"/>
                                      </p:to>
                                    </p:set>
                                  </p:childTnLst>
                                </p:cTn>
                              </p:par>
                            </p:childTnLst>
                          </p:cTn>
                        </p:par>
                        <p:par>
                          <p:cTn id="37" fill="hold" nodeType="afterGroup">
                            <p:stCondLst>
                              <p:cond delay="10300"/>
                            </p:stCondLst>
                            <p:childTnLst>
                              <p:par>
                                <p:cTn id="38" presetID="1" presetClass="exit" presetSubtype="0" fill="hold" grpId="2" nodeType="afterEffect">
                                  <p:stCondLst>
                                    <p:cond delay="0"/>
                                  </p:stCondLst>
                                  <p:childTnLst>
                                    <p:set>
                                      <p:cBhvr>
                                        <p:cTn id="39" dur="1" fill="hold">
                                          <p:stCondLst>
                                            <p:cond delay="0"/>
                                          </p:stCondLst>
                                        </p:cTn>
                                        <p:tgtEl>
                                          <p:spTgt spid="65595"/>
                                        </p:tgtEl>
                                        <p:attrNameLst>
                                          <p:attrName>style.visibility</p:attrName>
                                        </p:attrNameLst>
                                      </p:cBhvr>
                                      <p:to>
                                        <p:strVal val="hidden"/>
                                      </p:to>
                                    </p:set>
                                  </p:childTnLst>
                                </p:cTn>
                              </p:par>
                            </p:childTnLst>
                          </p:cTn>
                        </p:par>
                        <p:par>
                          <p:cTn id="40" fill="hold" nodeType="afterGroup">
                            <p:stCondLst>
                              <p:cond delay="10300"/>
                            </p:stCondLst>
                            <p:childTnLst>
                              <p:par>
                                <p:cTn id="41" presetID="1" presetClass="entr" presetSubtype="0" fill="hold" grpId="0" nodeType="afterEffect">
                                  <p:stCondLst>
                                    <p:cond delay="0"/>
                                  </p:stCondLst>
                                  <p:childTnLst>
                                    <p:set>
                                      <p:cBhvr>
                                        <p:cTn id="42" dur="1" fill="hold">
                                          <p:stCondLst>
                                            <p:cond delay="0"/>
                                          </p:stCondLst>
                                        </p:cTn>
                                        <p:tgtEl>
                                          <p:spTgt spid="65597"/>
                                        </p:tgtEl>
                                        <p:attrNameLst>
                                          <p:attrName>style.visibility</p:attrName>
                                        </p:attrNameLst>
                                      </p:cBhvr>
                                      <p:to>
                                        <p:strVal val="visible"/>
                                      </p:to>
                                    </p:set>
                                  </p:childTnLst>
                                </p:cTn>
                              </p:par>
                            </p:childTnLst>
                          </p:cTn>
                        </p:par>
                        <p:par>
                          <p:cTn id="43" fill="hold" nodeType="afterGroup">
                            <p:stCondLst>
                              <p:cond delay="10300"/>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65597"/>
                                        </p:tgtEl>
                                        <p:attrNameLst>
                                          <p:attrName>ppt_x</p:attrName>
                                          <p:attrName>ppt_y</p:attrName>
                                        </p:attrNameLst>
                                      </p:cBhvr>
                                      <p:rCtr x="6719" y="-8809"/>
                                    </p:animMotion>
                                  </p:childTnLst>
                                </p:cTn>
                              </p:par>
                            </p:childTnLst>
                          </p:cTn>
                        </p:par>
                        <p:par>
                          <p:cTn id="46" fill="hold" nodeType="afterGroup">
                            <p:stCondLst>
                              <p:cond delay="12300"/>
                            </p:stCondLst>
                            <p:childTnLst>
                              <p:par>
                                <p:cTn id="47" presetID="1" presetClass="entr" presetSubtype="0" fill="hold" grpId="0" nodeType="afterEffect">
                                  <p:stCondLst>
                                    <p:cond delay="0"/>
                                  </p:stCondLst>
                                  <p:childTnLst>
                                    <p:set>
                                      <p:cBhvr>
                                        <p:cTn id="48" dur="1" fill="hold">
                                          <p:stCondLst>
                                            <p:cond delay="0"/>
                                          </p:stCondLst>
                                        </p:cTn>
                                        <p:tgtEl>
                                          <p:spTgt spid="65598"/>
                                        </p:tgtEl>
                                        <p:attrNameLst>
                                          <p:attrName>style.visibility</p:attrName>
                                        </p:attrNameLst>
                                      </p:cBhvr>
                                      <p:to>
                                        <p:strVal val="visible"/>
                                      </p:to>
                                    </p:set>
                                  </p:childTnLst>
                                </p:cTn>
                              </p:par>
                            </p:childTnLst>
                          </p:cTn>
                        </p:par>
                        <p:par>
                          <p:cTn id="49" fill="hold" nodeType="afterGroup">
                            <p:stCondLst>
                              <p:cond delay="12300"/>
                            </p:stCondLst>
                            <p:childTnLst>
                              <p:par>
                                <p:cTn id="50" presetID="6" presetClass="emph" presetSubtype="0" fill="hold" grpId="1" nodeType="afterEffect">
                                  <p:stCondLst>
                                    <p:cond delay="0"/>
                                  </p:stCondLst>
                                  <p:childTnLst>
                                    <p:animScale>
                                      <p:cBhvr>
                                        <p:cTn id="51" dur="1000" fill="hold"/>
                                        <p:tgtEl>
                                          <p:spTgt spid="65598"/>
                                        </p:tgtEl>
                                      </p:cBhvr>
                                      <p:by x="150000" y="150000"/>
                                    </p:animScale>
                                  </p:childTnLst>
                                </p:cTn>
                              </p:par>
                            </p:childTnLst>
                          </p:cTn>
                        </p:par>
                        <p:par>
                          <p:cTn id="52" fill="hold" nodeType="afterGroup">
                            <p:stCondLst>
                              <p:cond delay="13300"/>
                            </p:stCondLst>
                            <p:childTnLst>
                              <p:par>
                                <p:cTn id="53" presetID="1" presetClass="exit" presetSubtype="0" fill="hold" grpId="2" nodeType="afterEffect">
                                  <p:stCondLst>
                                    <p:cond delay="2000"/>
                                  </p:stCondLst>
                                  <p:childTnLst>
                                    <p:set>
                                      <p:cBhvr>
                                        <p:cTn id="54" dur="1" fill="hold">
                                          <p:stCondLst>
                                            <p:cond delay="0"/>
                                          </p:stCondLst>
                                        </p:cTn>
                                        <p:tgtEl>
                                          <p:spTgt spid="65598"/>
                                        </p:tgtEl>
                                        <p:attrNameLst>
                                          <p:attrName>style.visibility</p:attrName>
                                        </p:attrNameLst>
                                      </p:cBhvr>
                                      <p:to>
                                        <p:strVal val="hidden"/>
                                      </p:to>
                                    </p:set>
                                  </p:childTnLst>
                                </p:cTn>
                              </p:par>
                            </p:childTnLst>
                          </p:cTn>
                        </p:par>
                        <p:par>
                          <p:cTn id="55" fill="hold" nodeType="afterGroup">
                            <p:stCondLst>
                              <p:cond delay="15300"/>
                            </p:stCondLst>
                            <p:childTnLst>
                              <p:par>
                                <p:cTn id="56" presetID="1" presetClass="exit" presetSubtype="0" fill="hold" grpId="2" nodeType="afterEffect">
                                  <p:stCondLst>
                                    <p:cond delay="0"/>
                                  </p:stCondLst>
                                  <p:childTnLst>
                                    <p:set>
                                      <p:cBhvr>
                                        <p:cTn id="57" dur="1" fill="hold">
                                          <p:stCondLst>
                                            <p:cond delay="0"/>
                                          </p:stCondLst>
                                        </p:cTn>
                                        <p:tgtEl>
                                          <p:spTgt spid="65597"/>
                                        </p:tgtEl>
                                        <p:attrNameLst>
                                          <p:attrName>style.visibility</p:attrName>
                                        </p:attrNameLst>
                                      </p:cBhvr>
                                      <p:to>
                                        <p:strVal val="hidden"/>
                                      </p:to>
                                    </p:set>
                                  </p:childTnLst>
                                </p:cTn>
                              </p:par>
                            </p:childTnLst>
                          </p:cTn>
                        </p:par>
                        <p:par>
                          <p:cTn id="58" fill="hold" nodeType="afterGroup">
                            <p:stCondLst>
                              <p:cond delay="15300"/>
                            </p:stCondLst>
                            <p:childTnLst>
                              <p:par>
                                <p:cTn id="59" presetID="1" presetClass="entr" presetSubtype="0" fill="hold" grpId="0" nodeType="afterEffect">
                                  <p:stCondLst>
                                    <p:cond delay="0"/>
                                  </p:stCondLst>
                                  <p:childTnLst>
                                    <p:set>
                                      <p:cBhvr>
                                        <p:cTn id="60" dur="1" fill="hold">
                                          <p:stCondLst>
                                            <p:cond delay="0"/>
                                          </p:stCondLst>
                                        </p:cTn>
                                        <p:tgtEl>
                                          <p:spTgt spid="65599"/>
                                        </p:tgtEl>
                                        <p:attrNameLst>
                                          <p:attrName>style.visibility</p:attrName>
                                        </p:attrNameLst>
                                      </p:cBhvr>
                                      <p:to>
                                        <p:strVal val="visible"/>
                                      </p:to>
                                    </p:set>
                                  </p:childTnLst>
                                </p:cTn>
                              </p:par>
                            </p:childTnLst>
                          </p:cTn>
                        </p:par>
                        <p:par>
                          <p:cTn id="61" fill="hold" nodeType="afterGroup">
                            <p:stCondLst>
                              <p:cond delay="15300"/>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65599"/>
                                        </p:tgtEl>
                                        <p:attrNameLst>
                                          <p:attrName>ppt_x</p:attrName>
                                          <p:attrName>ppt_y</p:attrName>
                                        </p:attrNameLst>
                                      </p:cBhvr>
                                      <p:rCtr x="3229" y="7006"/>
                                    </p:animMotion>
                                  </p:childTnLst>
                                </p:cTn>
                              </p:par>
                            </p:childTnLst>
                          </p:cTn>
                        </p:par>
                        <p:par>
                          <p:cTn id="64" fill="hold" nodeType="afterGroup">
                            <p:stCondLst>
                              <p:cond delay="17300"/>
                            </p:stCondLst>
                            <p:childTnLst>
                              <p:par>
                                <p:cTn id="65" presetID="1" presetClass="entr" presetSubtype="0" fill="hold" grpId="0" nodeType="afterEffect">
                                  <p:stCondLst>
                                    <p:cond delay="0"/>
                                  </p:stCondLst>
                                  <p:childTnLst>
                                    <p:set>
                                      <p:cBhvr>
                                        <p:cTn id="66" dur="1" fill="hold">
                                          <p:stCondLst>
                                            <p:cond delay="0"/>
                                          </p:stCondLst>
                                        </p:cTn>
                                        <p:tgtEl>
                                          <p:spTgt spid="65600"/>
                                        </p:tgtEl>
                                        <p:attrNameLst>
                                          <p:attrName>style.visibility</p:attrName>
                                        </p:attrNameLst>
                                      </p:cBhvr>
                                      <p:to>
                                        <p:strVal val="visible"/>
                                      </p:to>
                                    </p:set>
                                  </p:childTnLst>
                                </p:cTn>
                              </p:par>
                            </p:childTnLst>
                          </p:cTn>
                        </p:par>
                        <p:par>
                          <p:cTn id="67" fill="hold" nodeType="afterGroup">
                            <p:stCondLst>
                              <p:cond delay="17300"/>
                            </p:stCondLst>
                            <p:childTnLst>
                              <p:par>
                                <p:cTn id="68" presetID="6" presetClass="emph" presetSubtype="0" fill="hold" grpId="1" nodeType="afterEffect">
                                  <p:stCondLst>
                                    <p:cond delay="0"/>
                                  </p:stCondLst>
                                  <p:childTnLst>
                                    <p:animScale>
                                      <p:cBhvr>
                                        <p:cTn id="69"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ctr" eaLnBrk="1" hangingPunct="1"/>
            <a:r>
              <a:rPr lang="zh-CN" altLang="en-US" smtClean="0"/>
              <a:t>路由器</a:t>
            </a:r>
          </a:p>
        </p:txBody>
      </p:sp>
      <p:sp>
        <p:nvSpPr>
          <p:cNvPr id="63491" name="Rectangle 3"/>
          <p:cNvSpPr>
            <a:spLocks noGrp="1" noChangeArrowheads="1"/>
          </p:cNvSpPr>
          <p:nvPr>
            <p:ph type="body" idx="1"/>
          </p:nvPr>
        </p:nvSpPr>
        <p:spPr/>
        <p:txBody>
          <a:bodyPr/>
          <a:lstStyle/>
          <a:p>
            <a:pPr eaLnBrk="1" hangingPunct="1"/>
            <a:r>
              <a:rPr lang="zh-CN" altLang="en-US" smtClean="0"/>
              <a:t>路由器处理分组的过程是：</a:t>
            </a:r>
          </a:p>
          <a:p>
            <a:pPr lvl="1" eaLnBrk="1" hangingPunct="1"/>
            <a:r>
              <a:rPr lang="zh-CN" altLang="en-US" smtClean="0">
                <a:solidFill>
                  <a:srgbClr val="333399"/>
                </a:solidFill>
                <a:ea typeface="黑体" pitchFamily="49" charset="-122"/>
              </a:rPr>
              <a:t>把收到的分组先放入</a:t>
            </a:r>
            <a:r>
              <a:rPr lang="zh-CN" altLang="en-US" smtClean="0">
                <a:solidFill>
                  <a:schemeClr val="hlink"/>
                </a:solidFill>
                <a:ea typeface="黑体" pitchFamily="49" charset="-122"/>
              </a:rPr>
              <a:t>缓存（暂时存储）</a:t>
            </a:r>
            <a:r>
              <a:rPr lang="zh-CN" altLang="en-US" smtClean="0">
                <a:solidFill>
                  <a:srgbClr val="333399"/>
                </a:solidFill>
                <a:ea typeface="黑体" pitchFamily="49" charset="-122"/>
              </a:rPr>
              <a:t>；</a:t>
            </a:r>
          </a:p>
          <a:p>
            <a:pPr lvl="1" eaLnBrk="1" hangingPunct="1"/>
            <a:r>
              <a:rPr lang="zh-CN" altLang="en-US" smtClean="0">
                <a:solidFill>
                  <a:srgbClr val="333399"/>
                </a:solidFill>
                <a:ea typeface="黑体" pitchFamily="49" charset="-122"/>
              </a:rPr>
              <a:t>查找</a:t>
            </a:r>
            <a:r>
              <a:rPr lang="zh-CN" altLang="en-US" smtClean="0">
                <a:solidFill>
                  <a:schemeClr val="hlink"/>
                </a:solidFill>
                <a:ea typeface="黑体" pitchFamily="49" charset="-122"/>
              </a:rPr>
              <a:t>转发表</a:t>
            </a:r>
            <a:r>
              <a:rPr lang="zh-CN" altLang="en-US" smtClean="0">
                <a:solidFill>
                  <a:srgbClr val="333399"/>
                </a:solidFill>
                <a:ea typeface="黑体" pitchFamily="49" charset="-122"/>
              </a:rPr>
              <a:t>，找出到某个目的地址应从哪个端口转发；</a:t>
            </a:r>
          </a:p>
          <a:p>
            <a:pPr lvl="1" eaLnBrk="1" hangingPunct="1"/>
            <a:r>
              <a:rPr lang="zh-CN" altLang="en-US" smtClean="0">
                <a:solidFill>
                  <a:srgbClr val="333399"/>
                </a:solidFill>
                <a:ea typeface="黑体" pitchFamily="49" charset="-122"/>
              </a:rPr>
              <a:t>把分组送到适当的</a:t>
            </a:r>
            <a:r>
              <a:rPr lang="zh-CN" altLang="en-US" smtClean="0">
                <a:solidFill>
                  <a:schemeClr val="hlink"/>
                </a:solidFill>
                <a:ea typeface="黑体" pitchFamily="49" charset="-122"/>
              </a:rPr>
              <a:t>端口</a:t>
            </a:r>
            <a:r>
              <a:rPr lang="zh-CN" altLang="en-US" smtClean="0">
                <a:solidFill>
                  <a:srgbClr val="333399"/>
                </a:solidFill>
                <a:ea typeface="黑体" pitchFamily="49" charset="-122"/>
              </a:rPr>
              <a:t>转发出去。</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4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4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algn="ctr" eaLnBrk="1" hangingPunct="1"/>
            <a:r>
              <a:rPr lang="en-US" altLang="zh-CN" smtClean="0"/>
              <a:t>1.5  </a:t>
            </a:r>
            <a:r>
              <a:rPr lang="zh-CN" altLang="en-US" smtClean="0"/>
              <a:t>计算机网络的分类</a:t>
            </a:r>
          </a:p>
        </p:txBody>
      </p:sp>
      <p:sp>
        <p:nvSpPr>
          <p:cNvPr id="46083" name="Rectangle 3"/>
          <p:cNvSpPr>
            <a:spLocks noGrp="1" noChangeArrowheads="1"/>
          </p:cNvSpPr>
          <p:nvPr>
            <p:ph type="body" idx="1"/>
          </p:nvPr>
        </p:nvSpPr>
        <p:spPr>
          <a:xfrm>
            <a:off x="1042988" y="1917700"/>
            <a:ext cx="7772400" cy="4751388"/>
          </a:xfrm>
        </p:spPr>
        <p:txBody>
          <a:bodyPr/>
          <a:lstStyle/>
          <a:p>
            <a:pPr eaLnBrk="1" hangingPunct="1"/>
            <a:r>
              <a:rPr lang="en-US" altLang="zh-CN" smtClean="0"/>
              <a:t>1.5.1  </a:t>
            </a:r>
            <a:r>
              <a:rPr lang="zh-CN" altLang="en-US" smtClean="0"/>
              <a:t>计算机网络的不同定义</a:t>
            </a:r>
          </a:p>
          <a:p>
            <a:pPr lvl="1" eaLnBrk="1" hangingPunct="1"/>
            <a:r>
              <a:rPr lang="zh-CN" altLang="en-US" smtClean="0">
                <a:solidFill>
                  <a:srgbClr val="333399"/>
                </a:solidFill>
                <a:latin typeface="Arial" pitchFamily="34" charset="0"/>
                <a:ea typeface="黑体" pitchFamily="49" charset="-122"/>
              </a:rPr>
              <a:t>最简单的定义：计算机网络是</a:t>
            </a:r>
            <a:r>
              <a:rPr lang="zh-CN" altLang="en-US" smtClean="0">
                <a:solidFill>
                  <a:srgbClr val="333399"/>
                </a:solidFill>
                <a:ea typeface="黑体" pitchFamily="49" charset="-122"/>
              </a:rPr>
              <a:t>一些互相连接的、自治的计算机的集合。</a:t>
            </a:r>
          </a:p>
          <a:p>
            <a:pPr lvl="1" eaLnBrk="1" hangingPunct="1"/>
            <a:r>
              <a:rPr lang="zh-CN" altLang="en-US" smtClean="0">
                <a:solidFill>
                  <a:srgbClr val="333399"/>
                </a:solidFill>
                <a:ea typeface="黑体" pitchFamily="49" charset="-122"/>
              </a:rPr>
              <a:t>因特网</a:t>
            </a:r>
            <a:r>
              <a:rPr lang="en-US" altLang="zh-CN" smtClean="0">
                <a:solidFill>
                  <a:srgbClr val="333399"/>
                </a:solidFill>
                <a:ea typeface="黑体" pitchFamily="49" charset="-122"/>
              </a:rPr>
              <a:t>(Internet)</a:t>
            </a:r>
            <a:r>
              <a:rPr lang="zh-CN" altLang="en-US" smtClean="0">
                <a:solidFill>
                  <a:srgbClr val="333399"/>
                </a:solidFill>
                <a:ea typeface="黑体" pitchFamily="49" charset="-122"/>
              </a:rPr>
              <a:t>是</a:t>
            </a:r>
            <a:r>
              <a:rPr lang="zh-CN" altLang="en-US" smtClean="0">
                <a:solidFill>
                  <a:srgbClr val="333399"/>
                </a:solidFill>
                <a:latin typeface="Arial" pitchFamily="34" charset="0"/>
                <a:ea typeface="黑体" pitchFamily="49" charset="-122"/>
              </a:rPr>
              <a:t>“</a:t>
            </a:r>
            <a:r>
              <a:rPr lang="zh-CN" altLang="en-US" smtClean="0">
                <a:solidFill>
                  <a:srgbClr val="333399"/>
                </a:solidFill>
                <a:ea typeface="黑体" pitchFamily="49" charset="-122"/>
              </a:rPr>
              <a:t>网络的网络</a:t>
            </a:r>
            <a:r>
              <a:rPr lang="zh-CN" altLang="en-US" smtClean="0">
                <a:solidFill>
                  <a:srgbClr val="333399"/>
                </a:solidFill>
                <a:latin typeface="Arial" pitchFamily="34" charset="0"/>
                <a:ea typeface="黑体" pitchFamily="49" charset="-122"/>
              </a:rPr>
              <a:t>”</a:t>
            </a:r>
            <a:r>
              <a:rPr lang="zh-CN" altLang="en-US" smtClean="0">
                <a:solidFill>
                  <a:srgbClr val="333399"/>
                </a:solidFill>
                <a:ea typeface="黑体" pitchFamily="49" charset="-122"/>
              </a:rPr>
              <a:t>。</a:t>
            </a:r>
          </a:p>
          <a:p>
            <a:pPr eaLnBrk="1" hangingPunct="1"/>
            <a:r>
              <a:rPr lang="zh-CN" altLang="en-US" smtClean="0"/>
              <a:t> </a:t>
            </a:r>
            <a:r>
              <a:rPr lang="en-US" altLang="zh-CN" smtClean="0"/>
              <a:t>1.3.2  </a:t>
            </a:r>
            <a:r>
              <a:rPr lang="zh-CN" altLang="en-US" smtClean="0"/>
              <a:t>几种不同的类别的网络</a:t>
            </a:r>
          </a:p>
          <a:p>
            <a:pPr lvl="1" eaLnBrk="1" hangingPunct="1"/>
            <a:r>
              <a:rPr lang="zh-CN" altLang="en-US" smtClean="0">
                <a:solidFill>
                  <a:schemeClr val="tx2"/>
                </a:solidFill>
                <a:ea typeface="黑体" pitchFamily="49" charset="-122"/>
              </a:rPr>
              <a:t>不同作用范围的网络</a:t>
            </a:r>
            <a:r>
              <a:rPr lang="zh-CN" altLang="en-US" smtClean="0"/>
              <a:t> </a:t>
            </a:r>
            <a:endParaRPr lang="zh-CN" altLang="en-US" smtClean="0">
              <a:solidFill>
                <a:srgbClr val="333399"/>
              </a:solidFill>
              <a:ea typeface="黑体" pitchFamily="49" charset="-122"/>
            </a:endParaRPr>
          </a:p>
          <a:p>
            <a:pPr lvl="1" eaLnBrk="1" hangingPunct="1"/>
            <a:r>
              <a:rPr lang="zh-CN" altLang="en-US" smtClean="0">
                <a:solidFill>
                  <a:srgbClr val="333399"/>
                </a:solidFill>
                <a:ea typeface="黑体" pitchFamily="49" charset="-122"/>
              </a:rPr>
              <a:t>从网络的使用者进行分类</a:t>
            </a:r>
            <a:r>
              <a:rPr lang="zh-CN" altLang="en-US" smtClean="0"/>
              <a:t>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ctr" eaLnBrk="1" hangingPunct="1"/>
            <a:r>
              <a:rPr lang="en-US" altLang="zh-CN" smtClean="0"/>
              <a:t>1.5.2  </a:t>
            </a:r>
            <a:r>
              <a:rPr lang="zh-CN" altLang="en-US" smtClean="0"/>
              <a:t>几种不同类别的网络</a:t>
            </a:r>
          </a:p>
        </p:txBody>
      </p:sp>
      <p:sp>
        <p:nvSpPr>
          <p:cNvPr id="47107" name="Rectangle 3"/>
          <p:cNvSpPr>
            <a:spLocks noGrp="1" noChangeArrowheads="1"/>
          </p:cNvSpPr>
          <p:nvPr>
            <p:ph type="body" idx="1"/>
          </p:nvPr>
        </p:nvSpPr>
        <p:spPr>
          <a:xfrm>
            <a:off x="1042988" y="2051050"/>
            <a:ext cx="7772400" cy="4114800"/>
          </a:xfrm>
        </p:spPr>
        <p:txBody>
          <a:bodyPr/>
          <a:lstStyle/>
          <a:p>
            <a:pPr eaLnBrk="1" hangingPunct="1"/>
            <a:r>
              <a:rPr lang="zh-CN" altLang="en-US" smtClean="0"/>
              <a:t>不同作用范围的网络</a:t>
            </a:r>
          </a:p>
          <a:p>
            <a:pPr lvl="1" eaLnBrk="1" hangingPunct="1"/>
            <a:r>
              <a:rPr lang="zh-CN" altLang="en-US" smtClean="0">
                <a:solidFill>
                  <a:srgbClr val="333399"/>
                </a:solidFill>
                <a:latin typeface="Arial" pitchFamily="34" charset="0"/>
                <a:ea typeface="黑体" pitchFamily="49" charset="-122"/>
              </a:rPr>
              <a:t>广域网 </a:t>
            </a:r>
            <a:r>
              <a:rPr lang="en-US" altLang="zh-CN" b="1" smtClean="0">
                <a:solidFill>
                  <a:srgbClr val="333399"/>
                </a:solidFill>
                <a:latin typeface="Arial" pitchFamily="34" charset="0"/>
                <a:ea typeface="黑体" pitchFamily="49" charset="-122"/>
              </a:rPr>
              <a:t>WAN</a:t>
            </a:r>
            <a:r>
              <a:rPr lang="en-US" altLang="zh-CN" smtClean="0">
                <a:solidFill>
                  <a:srgbClr val="333399"/>
                </a:solidFill>
                <a:latin typeface="Arial" pitchFamily="34" charset="0"/>
                <a:ea typeface="黑体" pitchFamily="49" charset="-122"/>
              </a:rPr>
              <a:t> (Wide Area Network)</a:t>
            </a:r>
          </a:p>
          <a:p>
            <a:pPr lvl="1" eaLnBrk="1" hangingPunct="1"/>
            <a:r>
              <a:rPr lang="zh-CN" altLang="en-US" smtClean="0">
                <a:solidFill>
                  <a:srgbClr val="333399"/>
                </a:solidFill>
                <a:latin typeface="Arial" pitchFamily="34" charset="0"/>
                <a:ea typeface="黑体" pitchFamily="49" charset="-122"/>
              </a:rPr>
              <a:t>城域网 </a:t>
            </a:r>
            <a:r>
              <a:rPr lang="en-US" altLang="zh-CN" b="1" smtClean="0">
                <a:solidFill>
                  <a:srgbClr val="333399"/>
                </a:solidFill>
                <a:latin typeface="Arial" pitchFamily="34" charset="0"/>
                <a:ea typeface="黑体" pitchFamily="49" charset="-122"/>
              </a:rPr>
              <a:t>MAN</a:t>
            </a:r>
            <a:r>
              <a:rPr lang="en-US" altLang="zh-CN" smtClean="0">
                <a:solidFill>
                  <a:srgbClr val="333399"/>
                </a:solidFill>
                <a:latin typeface="Arial" pitchFamily="34" charset="0"/>
                <a:ea typeface="黑体" pitchFamily="49" charset="-122"/>
              </a:rPr>
              <a:t> (Metropolitan Area Network)</a:t>
            </a:r>
          </a:p>
          <a:p>
            <a:pPr lvl="1" eaLnBrk="1" hangingPunct="1"/>
            <a:r>
              <a:rPr lang="zh-CN" altLang="en-US" smtClean="0">
                <a:solidFill>
                  <a:srgbClr val="333399"/>
                </a:solidFill>
                <a:latin typeface="Arial" pitchFamily="34" charset="0"/>
                <a:ea typeface="黑体" pitchFamily="49" charset="-122"/>
              </a:rPr>
              <a:t>局域网 </a:t>
            </a:r>
            <a:r>
              <a:rPr lang="en-US" altLang="zh-CN" b="1" smtClean="0">
                <a:solidFill>
                  <a:srgbClr val="333399"/>
                </a:solidFill>
                <a:latin typeface="Arial" pitchFamily="34" charset="0"/>
                <a:ea typeface="黑体" pitchFamily="49" charset="-122"/>
              </a:rPr>
              <a:t>LAN</a:t>
            </a:r>
            <a:r>
              <a:rPr lang="en-US" altLang="zh-CN" smtClean="0">
                <a:solidFill>
                  <a:srgbClr val="333399"/>
                </a:solidFill>
                <a:latin typeface="Arial" pitchFamily="34" charset="0"/>
                <a:ea typeface="黑体" pitchFamily="49" charset="-122"/>
              </a:rPr>
              <a:t> (Local Area Network)</a:t>
            </a:r>
            <a:r>
              <a:rPr lang="en-US" altLang="zh-CN" smtClean="0"/>
              <a:t> </a:t>
            </a:r>
          </a:p>
          <a:p>
            <a:pPr lvl="1" eaLnBrk="1" hangingPunct="1"/>
            <a:endParaRPr lang="en-US" altLang="zh-CN" smtClean="0">
              <a:solidFill>
                <a:schemeClr val="folHlink"/>
              </a:solidFill>
              <a:latin typeface="Arial" pitchFamily="34" charset="0"/>
              <a:ea typeface="黑体" pitchFamily="49"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eaLnBrk="1" hangingPunct="1"/>
            <a:r>
              <a:rPr lang="en-US" altLang="zh-CN" smtClean="0"/>
              <a:t>2.  </a:t>
            </a:r>
            <a:r>
              <a:rPr lang="zh-CN" altLang="en-US" smtClean="0"/>
              <a:t>不同使用者的网络</a:t>
            </a:r>
          </a:p>
        </p:txBody>
      </p:sp>
      <p:sp>
        <p:nvSpPr>
          <p:cNvPr id="48131" name="Rectangle 3"/>
          <p:cNvSpPr>
            <a:spLocks noGrp="1" noChangeArrowheads="1"/>
          </p:cNvSpPr>
          <p:nvPr>
            <p:ph type="body" idx="1"/>
          </p:nvPr>
        </p:nvSpPr>
        <p:spPr>
          <a:xfrm>
            <a:off x="1042988" y="1978025"/>
            <a:ext cx="7772400" cy="4114800"/>
          </a:xfrm>
        </p:spPr>
        <p:txBody>
          <a:bodyPr/>
          <a:lstStyle/>
          <a:p>
            <a:pPr eaLnBrk="1" hangingPunct="1"/>
            <a:r>
              <a:rPr lang="zh-CN" altLang="en-US" smtClean="0"/>
              <a:t>从网络的使用者进行分类</a:t>
            </a:r>
          </a:p>
          <a:p>
            <a:pPr lvl="1" eaLnBrk="1" hangingPunct="1"/>
            <a:r>
              <a:rPr lang="zh-CN" altLang="en-US" smtClean="0">
                <a:solidFill>
                  <a:srgbClr val="333399"/>
                </a:solidFill>
                <a:latin typeface="Arial" pitchFamily="34" charset="0"/>
                <a:ea typeface="黑体" pitchFamily="49" charset="-122"/>
              </a:rPr>
              <a:t>公用网 </a:t>
            </a:r>
            <a:r>
              <a:rPr lang="en-US" altLang="zh-CN" smtClean="0">
                <a:solidFill>
                  <a:srgbClr val="333399"/>
                </a:solidFill>
                <a:latin typeface="Arial" pitchFamily="34" charset="0"/>
                <a:ea typeface="黑体" pitchFamily="49" charset="-122"/>
              </a:rPr>
              <a:t>(public network) </a:t>
            </a:r>
            <a:r>
              <a:rPr lang="zh-CN" altLang="en-US" smtClean="0">
                <a:solidFill>
                  <a:srgbClr val="333399"/>
                </a:solidFill>
                <a:latin typeface="Arial" pitchFamily="34" charset="0"/>
                <a:ea typeface="黑体" pitchFamily="49" charset="-122"/>
              </a:rPr>
              <a:t>如电信网络 </a:t>
            </a:r>
          </a:p>
          <a:p>
            <a:pPr lvl="1" eaLnBrk="1" hangingPunct="1"/>
            <a:r>
              <a:rPr lang="zh-CN" altLang="en-US" smtClean="0">
                <a:solidFill>
                  <a:srgbClr val="333399"/>
                </a:solidFill>
                <a:latin typeface="Arial" pitchFamily="34" charset="0"/>
                <a:ea typeface="黑体" pitchFamily="49" charset="-122"/>
              </a:rPr>
              <a:t>专用网 </a:t>
            </a:r>
            <a:r>
              <a:rPr lang="en-US" altLang="zh-CN" smtClean="0">
                <a:solidFill>
                  <a:srgbClr val="333399"/>
                </a:solidFill>
                <a:latin typeface="Arial" pitchFamily="34" charset="0"/>
                <a:ea typeface="黑体" pitchFamily="49" charset="-122"/>
              </a:rPr>
              <a:t>(private network) </a:t>
            </a:r>
            <a:r>
              <a:rPr lang="zh-CN" altLang="en-US" smtClean="0">
                <a:solidFill>
                  <a:srgbClr val="333399"/>
                </a:solidFill>
                <a:latin typeface="Arial" pitchFamily="34" charset="0"/>
                <a:ea typeface="黑体" pitchFamily="49" charset="-122"/>
              </a:rPr>
              <a:t>如军事部门，电力系统网络</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50825" y="214313"/>
            <a:ext cx="8642350" cy="1462087"/>
          </a:xfrm>
        </p:spPr>
        <p:txBody>
          <a:bodyPr/>
          <a:lstStyle/>
          <a:p>
            <a:pPr algn="ctr" eaLnBrk="1" hangingPunct="1"/>
            <a:r>
              <a:rPr lang="en-US" altLang="zh-CN" sz="4800" smtClean="0"/>
              <a:t>1.6  </a:t>
            </a:r>
            <a:r>
              <a:rPr lang="zh-CN" altLang="en-US" sz="4800" smtClean="0"/>
              <a:t>计算机网络的性能</a:t>
            </a:r>
            <a:r>
              <a:rPr lang="zh-CN" altLang="en-US" sz="4000" smtClean="0"/>
              <a:t/>
            </a:r>
            <a:br>
              <a:rPr lang="zh-CN" altLang="en-US" sz="4000" smtClean="0"/>
            </a:br>
            <a:r>
              <a:rPr lang="en-US" altLang="zh-CN" sz="3600" smtClean="0"/>
              <a:t>1.6.1  </a:t>
            </a:r>
            <a:r>
              <a:rPr lang="zh-CN" altLang="en-US" sz="3600" smtClean="0"/>
              <a:t>计算机网络的性能指标</a:t>
            </a:r>
          </a:p>
        </p:txBody>
      </p:sp>
      <p:sp>
        <p:nvSpPr>
          <p:cNvPr id="84995" name="Rectangle 3"/>
          <p:cNvSpPr>
            <a:spLocks noGrp="1" noChangeArrowheads="1"/>
          </p:cNvSpPr>
          <p:nvPr>
            <p:ph type="body" idx="1"/>
          </p:nvPr>
        </p:nvSpPr>
        <p:spPr>
          <a:xfrm>
            <a:off x="1042988" y="1978025"/>
            <a:ext cx="7772400" cy="4546600"/>
          </a:xfrm>
        </p:spPr>
        <p:txBody>
          <a:bodyPr/>
          <a:lstStyle/>
          <a:p>
            <a:pPr marL="609600" indent="-609600" eaLnBrk="1" hangingPunct="1">
              <a:lnSpc>
                <a:spcPct val="90000"/>
              </a:lnSpc>
              <a:buFont typeface="Wingdings" pitchFamily="2" charset="2"/>
              <a:buNone/>
            </a:pPr>
            <a:r>
              <a:rPr lang="en-US" altLang="zh-CN" sz="3600" smtClean="0"/>
              <a:t>1.  </a:t>
            </a:r>
            <a:r>
              <a:rPr lang="zh-CN" altLang="en-US" sz="3600" smtClean="0"/>
              <a:t>速率</a:t>
            </a:r>
          </a:p>
          <a:p>
            <a:pPr marL="609600" indent="-609600" eaLnBrk="1" hangingPunct="1">
              <a:lnSpc>
                <a:spcPct val="90000"/>
              </a:lnSpc>
            </a:pPr>
            <a:r>
              <a:rPr lang="zh-CN" altLang="en-US" sz="2800" smtClean="0">
                <a:solidFill>
                  <a:srgbClr val="CC0000"/>
                </a:solidFill>
              </a:rPr>
              <a:t>比特</a:t>
            </a:r>
            <a:r>
              <a:rPr lang="zh-CN" altLang="en-US" sz="2800" smtClean="0"/>
              <a:t>（</a:t>
            </a:r>
            <a:r>
              <a:rPr lang="en-US" altLang="zh-CN" sz="2800" smtClean="0"/>
              <a:t>bit</a:t>
            </a:r>
            <a:r>
              <a:rPr lang="zh-CN" altLang="en-US" sz="2800" smtClean="0"/>
              <a:t>）是计算机中数据量的单位，也是信息论中使用的信息量的单位。</a:t>
            </a:r>
          </a:p>
          <a:p>
            <a:pPr marL="609600" indent="-609600" eaLnBrk="1" hangingPunct="1">
              <a:lnSpc>
                <a:spcPct val="90000"/>
              </a:lnSpc>
            </a:pPr>
            <a:r>
              <a:rPr lang="en-US" altLang="zh-CN" sz="2800" smtClean="0"/>
              <a:t>Bit </a:t>
            </a:r>
            <a:r>
              <a:rPr lang="zh-CN" altLang="en-US" sz="2800" smtClean="0"/>
              <a:t>来源于 </a:t>
            </a:r>
            <a:r>
              <a:rPr lang="en-US" altLang="zh-CN" sz="2800" smtClean="0"/>
              <a:t>binary digit</a:t>
            </a:r>
            <a:r>
              <a:rPr lang="zh-CN" altLang="en-US" sz="2800" smtClean="0"/>
              <a:t>，意思是一个“</a:t>
            </a:r>
            <a:r>
              <a:rPr lang="zh-CN" altLang="en-US" sz="2800" smtClean="0">
                <a:solidFill>
                  <a:srgbClr val="CC0000"/>
                </a:solidFill>
              </a:rPr>
              <a:t>二进制数字</a:t>
            </a:r>
            <a:r>
              <a:rPr lang="zh-CN" altLang="en-US" sz="2800" smtClean="0"/>
              <a:t>”，因此一个比特就是二进制数字中的一个 </a:t>
            </a:r>
            <a:r>
              <a:rPr lang="en-US" altLang="zh-CN" sz="2800" smtClean="0"/>
              <a:t>1 </a:t>
            </a:r>
            <a:r>
              <a:rPr lang="zh-CN" altLang="en-US" sz="2800" smtClean="0"/>
              <a:t>或 </a:t>
            </a:r>
            <a:r>
              <a:rPr lang="en-US" altLang="zh-CN" sz="2800" smtClean="0"/>
              <a:t>0</a:t>
            </a:r>
            <a:r>
              <a:rPr lang="zh-CN" altLang="en-US" sz="2800" smtClean="0"/>
              <a:t>。</a:t>
            </a:r>
          </a:p>
          <a:p>
            <a:pPr marL="609600" indent="-609600" eaLnBrk="1" hangingPunct="1">
              <a:lnSpc>
                <a:spcPct val="90000"/>
              </a:lnSpc>
            </a:pPr>
            <a:r>
              <a:rPr lang="zh-CN" altLang="en-US" sz="2800" smtClean="0">
                <a:solidFill>
                  <a:srgbClr val="CC0000"/>
                </a:solidFill>
              </a:rPr>
              <a:t>速率</a:t>
            </a:r>
            <a:r>
              <a:rPr lang="zh-CN" altLang="en-US" sz="2800" smtClean="0">
                <a:solidFill>
                  <a:schemeClr val="folHlink"/>
                </a:solidFill>
              </a:rPr>
              <a:t>即</a:t>
            </a:r>
            <a:r>
              <a:rPr lang="zh-CN" altLang="en-US" sz="2800" smtClean="0">
                <a:solidFill>
                  <a:srgbClr val="CC0000"/>
                </a:solidFill>
              </a:rPr>
              <a:t>数据率</a:t>
            </a:r>
            <a:r>
              <a:rPr lang="en-US" altLang="zh-CN" sz="2800" smtClean="0"/>
              <a:t>(data rate)</a:t>
            </a:r>
            <a:r>
              <a:rPr lang="zh-CN" altLang="en-US" sz="2800" smtClean="0"/>
              <a:t>或</a:t>
            </a:r>
            <a:r>
              <a:rPr lang="zh-CN" altLang="en-US" sz="2800" smtClean="0">
                <a:solidFill>
                  <a:srgbClr val="CC0000"/>
                </a:solidFill>
              </a:rPr>
              <a:t>比特率</a:t>
            </a:r>
            <a:r>
              <a:rPr lang="en-US" altLang="zh-CN" sz="2800" smtClean="0"/>
              <a:t>(bit rate)</a:t>
            </a:r>
            <a:r>
              <a:rPr lang="zh-CN" altLang="en-US" sz="2800" smtClean="0"/>
              <a:t>是计算机网络中最重要的一个性能指标。速率的单位是 </a:t>
            </a:r>
            <a:r>
              <a:rPr lang="en-US" altLang="zh-CN" sz="2800" smtClean="0"/>
              <a:t>b/s</a:t>
            </a:r>
            <a:r>
              <a:rPr lang="zh-CN" altLang="en-US" sz="2800" smtClean="0"/>
              <a:t>，或</a:t>
            </a:r>
            <a:r>
              <a:rPr lang="en-US" altLang="zh-CN" sz="2800" smtClean="0"/>
              <a:t>kb/s, Mb/s, Gb/s </a:t>
            </a:r>
            <a:r>
              <a:rPr lang="zh-CN" altLang="en-US" sz="2800" smtClean="0"/>
              <a:t>等</a:t>
            </a:r>
          </a:p>
          <a:p>
            <a:pPr marL="609600" indent="-609600" eaLnBrk="1" hangingPunct="1">
              <a:lnSpc>
                <a:spcPct val="90000"/>
              </a:lnSpc>
            </a:pPr>
            <a:r>
              <a:rPr lang="zh-CN" altLang="en-US" sz="2800" smtClean="0"/>
              <a:t>速率往往是指</a:t>
            </a:r>
            <a:r>
              <a:rPr lang="zh-CN" altLang="en-US" sz="2800" smtClean="0">
                <a:solidFill>
                  <a:srgbClr val="CC0000"/>
                </a:solidFill>
              </a:rPr>
              <a:t>额定速率</a:t>
            </a:r>
            <a:r>
              <a:rPr lang="zh-CN" altLang="en-US" sz="2800" smtClean="0"/>
              <a:t>或</a:t>
            </a:r>
            <a:r>
              <a:rPr lang="zh-CN" altLang="en-US" sz="2800" smtClean="0">
                <a:solidFill>
                  <a:srgbClr val="CC0000"/>
                </a:solidFill>
              </a:rPr>
              <a:t>标称速率</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9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150938" y="214313"/>
            <a:ext cx="6445250" cy="1462087"/>
          </a:xfrm>
        </p:spPr>
        <p:txBody>
          <a:bodyPr/>
          <a:lstStyle/>
          <a:p>
            <a:pPr algn="ctr" eaLnBrk="1" hangingPunct="1"/>
            <a:r>
              <a:rPr lang="en-US" altLang="zh-CN" smtClean="0"/>
              <a:t>2.  </a:t>
            </a:r>
            <a:r>
              <a:rPr lang="zh-CN" altLang="en-US" smtClean="0"/>
              <a:t>带宽 </a:t>
            </a:r>
          </a:p>
        </p:txBody>
      </p:sp>
      <p:sp>
        <p:nvSpPr>
          <p:cNvPr id="50179" name="Rectangle 3"/>
          <p:cNvSpPr>
            <a:spLocks noGrp="1" noChangeArrowheads="1"/>
          </p:cNvSpPr>
          <p:nvPr>
            <p:ph type="body" idx="1"/>
          </p:nvPr>
        </p:nvSpPr>
        <p:spPr/>
        <p:txBody>
          <a:bodyPr/>
          <a:lstStyle/>
          <a:p>
            <a:pPr eaLnBrk="1" hangingPunct="1"/>
            <a:r>
              <a:rPr lang="en-US" altLang="zh-CN" smtClean="0"/>
              <a:t>“</a:t>
            </a:r>
            <a:r>
              <a:rPr lang="zh-CN" altLang="en-US" smtClean="0">
                <a:solidFill>
                  <a:schemeClr val="hlink"/>
                </a:solidFill>
              </a:rPr>
              <a:t>带宽</a:t>
            </a:r>
            <a:r>
              <a:rPr lang="zh-CN" altLang="en-US" smtClean="0"/>
              <a:t>”</a:t>
            </a:r>
            <a:r>
              <a:rPr lang="en-US" altLang="zh-CN" smtClean="0"/>
              <a:t>(bandwidth)</a:t>
            </a:r>
            <a:r>
              <a:rPr lang="zh-CN" altLang="en-US" smtClean="0"/>
              <a:t>本来是指信号具有的频带宽度，单位是赫（或千赫、兆赫、吉赫等）。</a:t>
            </a:r>
          </a:p>
          <a:p>
            <a:pPr eaLnBrk="1" hangingPunct="1"/>
            <a:r>
              <a:rPr lang="zh-CN" altLang="en-US" smtClean="0"/>
              <a:t>现在“带宽”是数字信道所能传送的“</a:t>
            </a:r>
            <a:r>
              <a:rPr lang="zh-CN" altLang="en-US" smtClean="0">
                <a:solidFill>
                  <a:schemeClr val="hlink"/>
                </a:solidFill>
              </a:rPr>
              <a:t>最高数据率</a:t>
            </a:r>
            <a:r>
              <a:rPr lang="zh-CN" altLang="en-US" smtClean="0"/>
              <a:t>”的同义语，单位是“比特每秒”，或 </a:t>
            </a:r>
            <a:r>
              <a:rPr lang="en-US" altLang="zh-CN" smtClean="0"/>
              <a:t>b/s (bit/s)</a:t>
            </a:r>
            <a:r>
              <a:rPr lang="zh-CN" altLang="en-US" smtClean="0"/>
              <a:t>。    </a:t>
            </a:r>
          </a:p>
          <a:p>
            <a:pPr eaLnBrk="1" hangingPunct="1"/>
            <a:endParaRPr lang="en-US" altLang="zh-CN"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常用的带宽单位</a:t>
            </a:r>
          </a:p>
        </p:txBody>
      </p:sp>
      <p:sp>
        <p:nvSpPr>
          <p:cNvPr id="51203" name="Rectangle 3"/>
          <p:cNvSpPr>
            <a:spLocks noGrp="1" noChangeArrowheads="1"/>
          </p:cNvSpPr>
          <p:nvPr>
            <p:ph type="body" idx="1"/>
          </p:nvPr>
        </p:nvSpPr>
        <p:spPr>
          <a:xfrm>
            <a:off x="1042988" y="1978025"/>
            <a:ext cx="7772400" cy="4114800"/>
          </a:xfrm>
        </p:spPr>
        <p:txBody>
          <a:bodyPr/>
          <a:lstStyle/>
          <a:p>
            <a:pPr eaLnBrk="1" hangingPunct="1"/>
            <a:r>
              <a:rPr lang="zh-CN" altLang="en-US" smtClean="0"/>
              <a:t>更常用的带宽单位是</a:t>
            </a:r>
          </a:p>
          <a:p>
            <a:pPr lvl="1" eaLnBrk="1" hangingPunct="1"/>
            <a:r>
              <a:rPr lang="zh-CN" altLang="en-US" smtClean="0">
                <a:solidFill>
                  <a:srgbClr val="333399"/>
                </a:solidFill>
                <a:latin typeface="Arial" pitchFamily="34" charset="0"/>
                <a:ea typeface="黑体" pitchFamily="49" charset="-122"/>
              </a:rPr>
              <a:t>千比每秒，即 </a:t>
            </a:r>
            <a:r>
              <a:rPr lang="en-US" altLang="zh-CN" smtClean="0">
                <a:solidFill>
                  <a:srgbClr val="333399"/>
                </a:solidFill>
                <a:latin typeface="Arial" pitchFamily="34" charset="0"/>
                <a:ea typeface="黑体" pitchFamily="49" charset="-122"/>
              </a:rPr>
              <a:t>kb/s </a:t>
            </a:r>
            <a:r>
              <a:rPr lang="zh-CN" altLang="en-US" smtClean="0">
                <a:solidFill>
                  <a:srgbClr val="333399"/>
                </a:solidFill>
                <a:latin typeface="Arial" pitchFamily="34" charset="0"/>
                <a:ea typeface="黑体" pitchFamily="49" charset="-122"/>
              </a:rPr>
              <a:t>（</a:t>
            </a:r>
            <a:r>
              <a:rPr lang="en-US" altLang="zh-CN" smtClean="0">
                <a:solidFill>
                  <a:srgbClr val="333399"/>
                </a:solidFill>
                <a:latin typeface="Arial" pitchFamily="34" charset="0"/>
                <a:ea typeface="黑体" pitchFamily="49" charset="-122"/>
              </a:rPr>
              <a:t>10</a:t>
            </a:r>
            <a:r>
              <a:rPr lang="en-US" altLang="zh-CN" baseline="30000" smtClean="0">
                <a:solidFill>
                  <a:srgbClr val="333399"/>
                </a:solidFill>
                <a:latin typeface="Arial" pitchFamily="34" charset="0"/>
                <a:ea typeface="黑体" pitchFamily="49" charset="-122"/>
              </a:rPr>
              <a:t>3</a:t>
            </a:r>
            <a:r>
              <a:rPr lang="en-US" altLang="zh-CN" smtClean="0">
                <a:solidFill>
                  <a:srgbClr val="333399"/>
                </a:solidFill>
                <a:latin typeface="Arial" pitchFamily="34" charset="0"/>
                <a:ea typeface="黑体" pitchFamily="49" charset="-122"/>
              </a:rPr>
              <a:t> b/s</a:t>
            </a:r>
            <a:r>
              <a:rPr lang="zh-CN" altLang="en-US" smtClean="0">
                <a:solidFill>
                  <a:srgbClr val="333399"/>
                </a:solidFill>
                <a:latin typeface="Arial" pitchFamily="34" charset="0"/>
                <a:ea typeface="黑体" pitchFamily="49" charset="-122"/>
              </a:rPr>
              <a:t>）</a:t>
            </a:r>
          </a:p>
          <a:p>
            <a:pPr lvl="1" eaLnBrk="1" hangingPunct="1"/>
            <a:r>
              <a:rPr lang="zh-CN" altLang="en-US" smtClean="0">
                <a:solidFill>
                  <a:srgbClr val="333399"/>
                </a:solidFill>
                <a:latin typeface="Arial" pitchFamily="34" charset="0"/>
                <a:ea typeface="黑体" pitchFamily="49" charset="-122"/>
              </a:rPr>
              <a:t>兆比每秒，即 </a:t>
            </a:r>
            <a:r>
              <a:rPr lang="en-US" altLang="zh-CN" smtClean="0">
                <a:solidFill>
                  <a:srgbClr val="333399"/>
                </a:solidFill>
                <a:latin typeface="Arial" pitchFamily="34" charset="0"/>
                <a:ea typeface="黑体" pitchFamily="49" charset="-122"/>
              </a:rPr>
              <a:t>Mb/s</a:t>
            </a:r>
            <a:r>
              <a:rPr lang="zh-CN" altLang="en-US" smtClean="0">
                <a:solidFill>
                  <a:srgbClr val="333399"/>
                </a:solidFill>
                <a:latin typeface="Arial" pitchFamily="34" charset="0"/>
                <a:ea typeface="黑体" pitchFamily="49" charset="-122"/>
              </a:rPr>
              <a:t>（</a:t>
            </a:r>
            <a:r>
              <a:rPr lang="en-US" altLang="zh-CN" smtClean="0">
                <a:solidFill>
                  <a:srgbClr val="333399"/>
                </a:solidFill>
                <a:latin typeface="Arial" pitchFamily="34" charset="0"/>
                <a:ea typeface="黑体" pitchFamily="49" charset="-122"/>
              </a:rPr>
              <a:t>10</a:t>
            </a:r>
            <a:r>
              <a:rPr lang="en-US" altLang="zh-CN" baseline="30000" smtClean="0">
                <a:solidFill>
                  <a:srgbClr val="333399"/>
                </a:solidFill>
                <a:latin typeface="Arial" pitchFamily="34" charset="0"/>
                <a:ea typeface="黑体" pitchFamily="49" charset="-122"/>
              </a:rPr>
              <a:t>6</a:t>
            </a:r>
            <a:r>
              <a:rPr lang="en-US" altLang="zh-CN" smtClean="0">
                <a:solidFill>
                  <a:srgbClr val="333399"/>
                </a:solidFill>
                <a:latin typeface="Arial" pitchFamily="34" charset="0"/>
                <a:ea typeface="黑体" pitchFamily="49" charset="-122"/>
              </a:rPr>
              <a:t> b/s</a:t>
            </a:r>
            <a:r>
              <a:rPr lang="zh-CN" altLang="en-US" smtClean="0">
                <a:solidFill>
                  <a:srgbClr val="333399"/>
                </a:solidFill>
                <a:latin typeface="Arial" pitchFamily="34" charset="0"/>
                <a:ea typeface="黑体" pitchFamily="49" charset="-122"/>
              </a:rPr>
              <a:t>）</a:t>
            </a:r>
          </a:p>
          <a:p>
            <a:pPr lvl="1" eaLnBrk="1" hangingPunct="1"/>
            <a:r>
              <a:rPr lang="zh-CN" altLang="en-US" smtClean="0">
                <a:solidFill>
                  <a:srgbClr val="333399"/>
                </a:solidFill>
                <a:latin typeface="Arial" pitchFamily="34" charset="0"/>
                <a:ea typeface="黑体" pitchFamily="49" charset="-122"/>
              </a:rPr>
              <a:t>吉比每秒，即 </a:t>
            </a:r>
            <a:r>
              <a:rPr lang="en-US" altLang="zh-CN" smtClean="0">
                <a:solidFill>
                  <a:srgbClr val="333399"/>
                </a:solidFill>
                <a:latin typeface="Arial" pitchFamily="34" charset="0"/>
                <a:ea typeface="黑体" pitchFamily="49" charset="-122"/>
              </a:rPr>
              <a:t>Gb/s</a:t>
            </a:r>
            <a:r>
              <a:rPr lang="zh-CN" altLang="en-US" smtClean="0">
                <a:solidFill>
                  <a:srgbClr val="333399"/>
                </a:solidFill>
                <a:latin typeface="Arial" pitchFamily="34" charset="0"/>
                <a:ea typeface="黑体" pitchFamily="49" charset="-122"/>
              </a:rPr>
              <a:t>（</a:t>
            </a:r>
            <a:r>
              <a:rPr lang="en-US" altLang="zh-CN" smtClean="0">
                <a:solidFill>
                  <a:srgbClr val="333399"/>
                </a:solidFill>
                <a:latin typeface="Arial" pitchFamily="34" charset="0"/>
                <a:ea typeface="黑体" pitchFamily="49" charset="-122"/>
              </a:rPr>
              <a:t>10</a:t>
            </a:r>
            <a:r>
              <a:rPr lang="en-US" altLang="zh-CN" baseline="30000" smtClean="0">
                <a:solidFill>
                  <a:srgbClr val="333399"/>
                </a:solidFill>
                <a:latin typeface="Arial" pitchFamily="34" charset="0"/>
                <a:ea typeface="黑体" pitchFamily="49" charset="-122"/>
              </a:rPr>
              <a:t>9</a:t>
            </a:r>
            <a:r>
              <a:rPr lang="en-US" altLang="zh-CN" smtClean="0">
                <a:solidFill>
                  <a:srgbClr val="333399"/>
                </a:solidFill>
                <a:latin typeface="Arial" pitchFamily="34" charset="0"/>
                <a:ea typeface="黑体" pitchFamily="49" charset="-122"/>
              </a:rPr>
              <a:t> b/s</a:t>
            </a:r>
            <a:r>
              <a:rPr lang="zh-CN" altLang="en-US" smtClean="0">
                <a:solidFill>
                  <a:srgbClr val="333399"/>
                </a:solidFill>
                <a:latin typeface="Arial" pitchFamily="34" charset="0"/>
                <a:ea typeface="黑体" pitchFamily="49" charset="-122"/>
              </a:rPr>
              <a:t>）</a:t>
            </a:r>
          </a:p>
          <a:p>
            <a:pPr lvl="1" eaLnBrk="1" hangingPunct="1"/>
            <a:r>
              <a:rPr lang="zh-CN" altLang="en-US" smtClean="0">
                <a:solidFill>
                  <a:srgbClr val="333399"/>
                </a:solidFill>
                <a:latin typeface="Arial" pitchFamily="34" charset="0"/>
                <a:ea typeface="黑体" pitchFamily="49" charset="-122"/>
              </a:rPr>
              <a:t>太比每秒，即 </a:t>
            </a:r>
            <a:r>
              <a:rPr lang="en-US" altLang="zh-CN" smtClean="0">
                <a:solidFill>
                  <a:srgbClr val="333399"/>
                </a:solidFill>
                <a:latin typeface="Arial" pitchFamily="34" charset="0"/>
                <a:ea typeface="黑体" pitchFamily="49" charset="-122"/>
              </a:rPr>
              <a:t>Tb/s</a:t>
            </a:r>
            <a:r>
              <a:rPr lang="zh-CN" altLang="en-US" smtClean="0">
                <a:solidFill>
                  <a:srgbClr val="333399"/>
                </a:solidFill>
                <a:latin typeface="Arial" pitchFamily="34" charset="0"/>
                <a:ea typeface="黑体" pitchFamily="49" charset="-122"/>
              </a:rPr>
              <a:t>（</a:t>
            </a:r>
            <a:r>
              <a:rPr lang="en-US" altLang="zh-CN" smtClean="0">
                <a:solidFill>
                  <a:srgbClr val="333399"/>
                </a:solidFill>
                <a:latin typeface="Arial" pitchFamily="34" charset="0"/>
                <a:ea typeface="黑体" pitchFamily="49" charset="-122"/>
              </a:rPr>
              <a:t>10</a:t>
            </a:r>
            <a:r>
              <a:rPr lang="en-US" altLang="zh-CN" baseline="30000" smtClean="0">
                <a:solidFill>
                  <a:srgbClr val="333399"/>
                </a:solidFill>
                <a:latin typeface="Arial" pitchFamily="34" charset="0"/>
                <a:ea typeface="黑体" pitchFamily="49" charset="-122"/>
              </a:rPr>
              <a:t>12</a:t>
            </a:r>
            <a:r>
              <a:rPr lang="en-US" altLang="zh-CN" smtClean="0">
                <a:solidFill>
                  <a:srgbClr val="333399"/>
                </a:solidFill>
                <a:latin typeface="Arial" pitchFamily="34" charset="0"/>
                <a:ea typeface="黑体" pitchFamily="49" charset="-122"/>
              </a:rPr>
              <a:t> b/s</a:t>
            </a:r>
            <a:r>
              <a:rPr lang="zh-CN" altLang="en-US" smtClean="0">
                <a:solidFill>
                  <a:srgbClr val="333399"/>
                </a:solidFill>
                <a:latin typeface="Arial" pitchFamily="34" charset="0"/>
                <a:ea typeface="黑体" pitchFamily="49" charset="-122"/>
              </a:rPr>
              <a:t>）</a:t>
            </a:r>
          </a:p>
          <a:p>
            <a:pPr eaLnBrk="1" hangingPunct="1"/>
            <a:r>
              <a:rPr lang="zh-CN" altLang="en-US" smtClean="0"/>
              <a:t>请注意：在计算机界，</a:t>
            </a:r>
            <a:r>
              <a:rPr lang="en-US" altLang="zh-CN" smtClean="0"/>
              <a:t>K = 2</a:t>
            </a:r>
            <a:r>
              <a:rPr lang="en-US" altLang="zh-CN" baseline="30000" smtClean="0"/>
              <a:t>10</a:t>
            </a:r>
            <a:r>
              <a:rPr lang="en-US" altLang="zh-CN" smtClean="0"/>
              <a:t> = 1024</a:t>
            </a:r>
          </a:p>
          <a:p>
            <a:pPr eaLnBrk="1" hangingPunct="1">
              <a:buFont typeface="Wingdings" pitchFamily="2" charset="2"/>
              <a:buNone/>
            </a:pPr>
            <a:r>
              <a:rPr lang="en-US" altLang="zh-CN" smtClean="0"/>
              <a:t>   M = 2</a:t>
            </a:r>
            <a:r>
              <a:rPr lang="en-US" altLang="zh-CN" baseline="30000" smtClean="0"/>
              <a:t>20</a:t>
            </a:r>
            <a:r>
              <a:rPr lang="en-US" altLang="zh-CN" smtClean="0"/>
              <a:t>, G = 2</a:t>
            </a:r>
            <a:r>
              <a:rPr lang="en-US" altLang="zh-CN" baseline="30000" smtClean="0"/>
              <a:t>30</a:t>
            </a:r>
            <a:r>
              <a:rPr lang="en-US" altLang="zh-CN" smtClean="0"/>
              <a:t>, T = 2</a:t>
            </a:r>
            <a:r>
              <a:rPr lang="en-US" altLang="zh-CN" baseline="30000" smtClean="0"/>
              <a:t>40</a:t>
            </a:r>
            <a:r>
              <a:rPr lang="zh-CN" altLang="en-US" smtClean="0"/>
              <a: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数字信号流随时间的变化</a:t>
            </a:r>
          </a:p>
        </p:txBody>
      </p:sp>
      <p:sp>
        <p:nvSpPr>
          <p:cNvPr id="52227" name="Rectangle 3"/>
          <p:cNvSpPr>
            <a:spLocks noGrp="1" noChangeArrowheads="1"/>
          </p:cNvSpPr>
          <p:nvPr>
            <p:ph type="body" idx="1"/>
          </p:nvPr>
        </p:nvSpPr>
        <p:spPr>
          <a:xfrm>
            <a:off x="1042988" y="1906588"/>
            <a:ext cx="7772400" cy="1306512"/>
          </a:xfrm>
        </p:spPr>
        <p:txBody>
          <a:bodyPr/>
          <a:lstStyle/>
          <a:p>
            <a:pPr eaLnBrk="1" hangingPunct="1"/>
            <a:r>
              <a:rPr lang="zh-CN" altLang="en-US" smtClean="0"/>
              <a:t>在</a:t>
            </a:r>
            <a:r>
              <a:rPr lang="zh-CN" altLang="en-US" smtClean="0">
                <a:solidFill>
                  <a:schemeClr val="hlink"/>
                </a:solidFill>
              </a:rPr>
              <a:t>时间轴上</a:t>
            </a:r>
            <a:r>
              <a:rPr lang="zh-CN" altLang="en-US" smtClean="0"/>
              <a:t>信号的宽度随带宽的增大而变窄。     </a:t>
            </a:r>
          </a:p>
        </p:txBody>
      </p:sp>
      <p:grpSp>
        <p:nvGrpSpPr>
          <p:cNvPr id="87073" name="Group 33"/>
          <p:cNvGrpSpPr>
            <a:grpSpLocks/>
          </p:cNvGrpSpPr>
          <p:nvPr/>
        </p:nvGrpSpPr>
        <p:grpSpPr bwMode="auto">
          <a:xfrm>
            <a:off x="323850" y="2855913"/>
            <a:ext cx="8612188" cy="1658937"/>
            <a:chOff x="204" y="1799"/>
            <a:chExt cx="5425" cy="1045"/>
          </a:xfrm>
        </p:grpSpPr>
        <p:sp>
          <p:nvSpPr>
            <p:cNvPr id="52244" name="Line 4"/>
            <p:cNvSpPr>
              <a:spLocks noChangeShapeType="1"/>
            </p:cNvSpPr>
            <p:nvPr/>
          </p:nvSpPr>
          <p:spPr bwMode="auto">
            <a:xfrm>
              <a:off x="1345" y="2602"/>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5" name="Line 5"/>
            <p:cNvSpPr>
              <a:spLocks noChangeShapeType="1"/>
            </p:cNvSpPr>
            <p:nvPr/>
          </p:nvSpPr>
          <p:spPr bwMode="auto">
            <a:xfrm>
              <a:off x="1122" y="2357"/>
              <a:ext cx="4340"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6" name="Line 6"/>
            <p:cNvSpPr>
              <a:spLocks noChangeShapeType="1"/>
            </p:cNvSpPr>
            <p:nvPr/>
          </p:nvSpPr>
          <p:spPr bwMode="auto">
            <a:xfrm>
              <a:off x="1353" y="2724"/>
              <a:ext cx="3782"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7" name="Freeform 8"/>
            <p:cNvSpPr>
              <a:spLocks/>
            </p:cNvSpPr>
            <p:nvPr/>
          </p:nvSpPr>
          <p:spPr bwMode="auto">
            <a:xfrm>
              <a:off x="1345" y="2161"/>
              <a:ext cx="2559" cy="392"/>
            </a:xfrm>
            <a:custGeom>
              <a:avLst/>
              <a:gdLst>
                <a:gd name="T0" fmla="*/ 0 w 2208"/>
                <a:gd name="T1" fmla="*/ 425 h 384"/>
                <a:gd name="T2" fmla="*/ 0 w 2208"/>
                <a:gd name="T3" fmla="*/ 0 h 384"/>
                <a:gd name="T4" fmla="*/ 803 w 2208"/>
                <a:gd name="T5" fmla="*/ 0 h 384"/>
                <a:gd name="T6" fmla="*/ 803 w 2208"/>
                <a:gd name="T7" fmla="*/ 425 h 384"/>
                <a:gd name="T8" fmla="*/ 1605 w 2208"/>
                <a:gd name="T9" fmla="*/ 425 h 384"/>
                <a:gd name="T10" fmla="*/ 1605 w 2208"/>
                <a:gd name="T11" fmla="*/ 0 h 384"/>
                <a:gd name="T12" fmla="*/ 2408 w 2208"/>
                <a:gd name="T13" fmla="*/ 0 h 384"/>
                <a:gd name="T14" fmla="*/ 2408 w 2208"/>
                <a:gd name="T15" fmla="*/ 425 h 384"/>
                <a:gd name="T16" fmla="*/ 3211 w 2208"/>
                <a:gd name="T17" fmla="*/ 425 h 384"/>
                <a:gd name="T18" fmla="*/ 3211 w 2208"/>
                <a:gd name="T19" fmla="*/ 0 h 384"/>
                <a:gd name="T20" fmla="*/ 4015 w 2208"/>
                <a:gd name="T21" fmla="*/ 0 h 384"/>
                <a:gd name="T22" fmla="*/ 4015 w 2208"/>
                <a:gd name="T23" fmla="*/ 425 h 384"/>
                <a:gd name="T24" fmla="*/ 4616 w 2208"/>
                <a:gd name="T25" fmla="*/ 425 h 3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8" name="Freeform 9"/>
            <p:cNvSpPr>
              <a:spLocks/>
            </p:cNvSpPr>
            <p:nvPr/>
          </p:nvSpPr>
          <p:spPr bwMode="auto">
            <a:xfrm>
              <a:off x="4404" y="2161"/>
              <a:ext cx="724" cy="392"/>
            </a:xfrm>
            <a:custGeom>
              <a:avLst/>
              <a:gdLst>
                <a:gd name="T0" fmla="*/ 0 w 624"/>
                <a:gd name="T1" fmla="*/ 425 h 384"/>
                <a:gd name="T2" fmla="*/ 505 w 624"/>
                <a:gd name="T3" fmla="*/ 425 h 384"/>
                <a:gd name="T4" fmla="*/ 505 w 624"/>
                <a:gd name="T5" fmla="*/ 0 h 384"/>
                <a:gd name="T6" fmla="*/ 1312 w 624"/>
                <a:gd name="T7" fmla="*/ 0 h 384"/>
                <a:gd name="T8" fmla="*/ 1312 w 624"/>
                <a:gd name="T9" fmla="*/ 425 h 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4" h="384">
                  <a:moveTo>
                    <a:pt x="0" y="384"/>
                  </a:moveTo>
                  <a:lnTo>
                    <a:pt x="240" y="384"/>
                  </a:lnTo>
                  <a:lnTo>
                    <a:pt x="240" y="0"/>
                  </a:lnTo>
                  <a:lnTo>
                    <a:pt x="624" y="0"/>
                  </a:lnTo>
                  <a:lnTo>
                    <a:pt x="624"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9" name="Line 11"/>
            <p:cNvSpPr>
              <a:spLocks noChangeShapeType="1"/>
            </p:cNvSpPr>
            <p:nvPr/>
          </p:nvSpPr>
          <p:spPr bwMode="auto">
            <a:xfrm>
              <a:off x="2235" y="2063"/>
              <a:ext cx="44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50" name="Line 13"/>
            <p:cNvSpPr>
              <a:spLocks noChangeShapeType="1"/>
            </p:cNvSpPr>
            <p:nvPr/>
          </p:nvSpPr>
          <p:spPr bwMode="auto">
            <a:xfrm>
              <a:off x="5128" y="2602"/>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51" name="Text Box 14"/>
            <p:cNvSpPr txBox="1">
              <a:spLocks noChangeArrowheads="1"/>
            </p:cNvSpPr>
            <p:nvPr/>
          </p:nvSpPr>
          <p:spPr bwMode="auto">
            <a:xfrm>
              <a:off x="2528" y="2594"/>
              <a:ext cx="1199" cy="250"/>
            </a:xfrm>
            <a:prstGeom prst="rect">
              <a:avLst/>
            </a:prstGeom>
            <a:solidFill>
              <a:schemeClr val="bg1"/>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ea typeface="黑体" pitchFamily="49" charset="-122"/>
                </a:rPr>
                <a:t>每</a:t>
              </a:r>
              <a:r>
                <a:rPr kumimoji="1" lang="zh-CN" altLang="en-US" sz="2000">
                  <a:solidFill>
                    <a:srgbClr val="333399"/>
                  </a:solidFill>
                  <a:ea typeface="黑体" pitchFamily="49" charset="-122"/>
                  <a:sym typeface="Symbol" pitchFamily="18" charset="2"/>
                </a:rPr>
                <a:t>秒</a:t>
              </a:r>
              <a:r>
                <a:rPr kumimoji="1" lang="zh-CN" altLang="en-US" sz="1200">
                  <a:solidFill>
                    <a:srgbClr val="333399"/>
                  </a:solidFill>
                  <a:ea typeface="黑体" pitchFamily="49" charset="-122"/>
                  <a:sym typeface="Symbol" pitchFamily="18" charset="2"/>
                </a:rPr>
                <a:t> </a:t>
              </a:r>
              <a:r>
                <a:rPr kumimoji="1" lang="en-US" altLang="zh-CN" sz="2000">
                  <a:solidFill>
                    <a:srgbClr val="333399"/>
                  </a:solidFill>
                  <a:ea typeface="黑体" pitchFamily="49" charset="-122"/>
                  <a:sym typeface="Symbol" pitchFamily="18" charset="2"/>
                </a:rPr>
                <a:t>10</a:t>
              </a:r>
              <a:r>
                <a:rPr kumimoji="1" lang="en-US" altLang="zh-CN" sz="2000" baseline="30000">
                  <a:solidFill>
                    <a:srgbClr val="333399"/>
                  </a:solidFill>
                  <a:ea typeface="黑体" pitchFamily="49" charset="-122"/>
                  <a:sym typeface="Symbol" pitchFamily="18" charset="2"/>
                </a:rPr>
                <a:t>6</a:t>
              </a:r>
              <a:r>
                <a:rPr kumimoji="1" lang="en-US" altLang="zh-CN" sz="1400" baseline="30000">
                  <a:solidFill>
                    <a:srgbClr val="333399"/>
                  </a:solidFill>
                  <a:ea typeface="黑体" pitchFamily="49" charset="-122"/>
                  <a:sym typeface="Symbol" pitchFamily="18" charset="2"/>
                </a:rPr>
                <a:t> </a:t>
              </a:r>
              <a:r>
                <a:rPr kumimoji="1" lang="zh-CN" altLang="en-US" sz="2000">
                  <a:solidFill>
                    <a:srgbClr val="333399"/>
                  </a:solidFill>
                  <a:ea typeface="黑体" pitchFamily="49" charset="-122"/>
                  <a:sym typeface="Symbol" pitchFamily="18" charset="2"/>
                </a:rPr>
                <a:t>个比特</a:t>
              </a:r>
              <a:endParaRPr kumimoji="1" lang="zh-CN" altLang="en-US" sz="2000">
                <a:solidFill>
                  <a:srgbClr val="333399"/>
                </a:solidFill>
                <a:ea typeface="黑体" pitchFamily="49" charset="-122"/>
              </a:endParaRPr>
            </a:p>
          </p:txBody>
        </p:sp>
        <p:sp>
          <p:nvSpPr>
            <p:cNvPr id="52252" name="Text Box 15"/>
            <p:cNvSpPr txBox="1">
              <a:spLocks noChangeArrowheads="1"/>
            </p:cNvSpPr>
            <p:nvPr/>
          </p:nvSpPr>
          <p:spPr bwMode="auto">
            <a:xfrm>
              <a:off x="5193" y="2086"/>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ea typeface="黑体" pitchFamily="49" charset="-122"/>
                </a:rPr>
                <a:t>时间</a:t>
              </a:r>
            </a:p>
          </p:txBody>
        </p:sp>
        <p:sp>
          <p:nvSpPr>
            <p:cNvPr id="52253" name="Text Box 27"/>
            <p:cNvSpPr txBox="1">
              <a:spLocks noChangeArrowheads="1"/>
            </p:cNvSpPr>
            <p:nvPr/>
          </p:nvSpPr>
          <p:spPr bwMode="auto">
            <a:xfrm>
              <a:off x="1440" y="2137"/>
              <a:ext cx="353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1 </a:t>
              </a:r>
              <a:r>
                <a:rPr kumimoji="1" lang="en-US" altLang="zh-CN" sz="1200">
                  <a:solidFill>
                    <a:srgbClr val="333399"/>
                  </a:solidFill>
                  <a:ea typeface="黑体" pitchFamily="49" charset="-122"/>
                </a:rPr>
                <a:t>  </a:t>
              </a:r>
              <a:r>
                <a:rPr kumimoji="1" lang="en-US" altLang="zh-CN" sz="2000">
                  <a:solidFill>
                    <a:srgbClr val="333399"/>
                  </a:solidFill>
                  <a:ea typeface="黑体" pitchFamily="49" charset="-122"/>
                </a:rPr>
                <a:t>      0        1    </a:t>
              </a:r>
              <a:r>
                <a:rPr kumimoji="1" lang="en-US" altLang="zh-CN" sz="1400">
                  <a:solidFill>
                    <a:srgbClr val="333399"/>
                  </a:solidFill>
                  <a:ea typeface="黑体" pitchFamily="49" charset="-122"/>
                </a:rPr>
                <a:t>  </a:t>
              </a:r>
              <a:r>
                <a:rPr kumimoji="1" lang="en-US" altLang="zh-CN" sz="2000">
                  <a:solidFill>
                    <a:srgbClr val="333399"/>
                  </a:solidFill>
                  <a:ea typeface="黑体" pitchFamily="49" charset="-122"/>
                </a:rPr>
                <a:t>   0  </a:t>
              </a:r>
              <a:r>
                <a:rPr kumimoji="1" lang="en-US" altLang="zh-CN">
                  <a:solidFill>
                    <a:srgbClr val="333399"/>
                  </a:solidFill>
                  <a:ea typeface="黑体" pitchFamily="49" charset="-122"/>
                </a:rPr>
                <a:t>  </a:t>
              </a:r>
              <a:r>
                <a:rPr kumimoji="1" lang="en-US" altLang="zh-CN" sz="2000">
                  <a:solidFill>
                    <a:srgbClr val="333399"/>
                  </a:solidFill>
                  <a:ea typeface="黑体" pitchFamily="49" charset="-122"/>
                </a:rPr>
                <a:t>    1                                 1</a:t>
              </a:r>
            </a:p>
          </p:txBody>
        </p:sp>
        <p:sp>
          <p:nvSpPr>
            <p:cNvPr id="52254" name="Text Box 12"/>
            <p:cNvSpPr txBox="1">
              <a:spLocks noChangeArrowheads="1"/>
            </p:cNvSpPr>
            <p:nvPr/>
          </p:nvSpPr>
          <p:spPr bwMode="auto">
            <a:xfrm>
              <a:off x="2211" y="1799"/>
              <a:ext cx="4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1 </a:t>
              </a:r>
              <a:r>
                <a:rPr kumimoji="1" lang="en-US" altLang="zh-CN" sz="2000" b="1">
                  <a:solidFill>
                    <a:srgbClr val="333399"/>
                  </a:solidFill>
                  <a:ea typeface="黑体" pitchFamily="49" charset="-122"/>
                  <a:sym typeface="Symbol" pitchFamily="18" charset="2"/>
                </a:rPr>
                <a:t></a:t>
              </a:r>
              <a:r>
                <a:rPr kumimoji="1" lang="en-US" altLang="zh-CN" sz="2000">
                  <a:solidFill>
                    <a:srgbClr val="333399"/>
                  </a:solidFill>
                  <a:ea typeface="黑体" pitchFamily="49" charset="-122"/>
                  <a:sym typeface="Symbol" pitchFamily="18" charset="2"/>
                </a:rPr>
                <a:t>s</a:t>
              </a:r>
              <a:endParaRPr kumimoji="1" lang="en-US" altLang="zh-CN" sz="2000">
                <a:solidFill>
                  <a:srgbClr val="333399"/>
                </a:solidFill>
                <a:ea typeface="黑体" pitchFamily="49" charset="-122"/>
              </a:endParaRPr>
            </a:p>
          </p:txBody>
        </p:sp>
        <p:sp>
          <p:nvSpPr>
            <p:cNvPr id="52255" name="Text Box 31"/>
            <p:cNvSpPr txBox="1">
              <a:spLocks noChangeArrowheads="1"/>
            </p:cNvSpPr>
            <p:nvPr/>
          </p:nvSpPr>
          <p:spPr bwMode="auto">
            <a:xfrm>
              <a:off x="204" y="2115"/>
              <a:ext cx="751" cy="524"/>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ea typeface="黑体" pitchFamily="49" charset="-122"/>
                </a:rPr>
                <a:t>带宽为</a:t>
              </a:r>
            </a:p>
            <a:p>
              <a:pPr eaLnBrk="1" hangingPunct="1"/>
              <a:r>
                <a:rPr lang="en-US" altLang="zh-CN" sz="2400">
                  <a:solidFill>
                    <a:srgbClr val="333399"/>
                  </a:solidFill>
                  <a:ea typeface="黑体" pitchFamily="49" charset="-122"/>
                </a:rPr>
                <a:t>1 Mb/s </a:t>
              </a:r>
            </a:p>
          </p:txBody>
        </p:sp>
      </p:grpSp>
      <p:grpSp>
        <p:nvGrpSpPr>
          <p:cNvPr id="87074" name="Group 34"/>
          <p:cNvGrpSpPr>
            <a:grpSpLocks/>
          </p:cNvGrpSpPr>
          <p:nvPr/>
        </p:nvGrpSpPr>
        <p:grpSpPr bwMode="auto">
          <a:xfrm>
            <a:off x="323850" y="4687888"/>
            <a:ext cx="8569325" cy="1693862"/>
            <a:chOff x="204" y="2953"/>
            <a:chExt cx="5398" cy="1067"/>
          </a:xfrm>
        </p:grpSpPr>
        <p:sp>
          <p:nvSpPr>
            <p:cNvPr id="52230" name="Freeform 7"/>
            <p:cNvSpPr>
              <a:spLocks/>
            </p:cNvSpPr>
            <p:nvPr/>
          </p:nvSpPr>
          <p:spPr bwMode="auto">
            <a:xfrm>
              <a:off x="1352" y="3337"/>
              <a:ext cx="2614" cy="392"/>
            </a:xfrm>
            <a:custGeom>
              <a:avLst/>
              <a:gdLst>
                <a:gd name="T0" fmla="*/ 0 w 2256"/>
                <a:gd name="T1" fmla="*/ 425 h 384"/>
                <a:gd name="T2" fmla="*/ 0 w 2256"/>
                <a:gd name="T3" fmla="*/ 0 h 384"/>
                <a:gd name="T4" fmla="*/ 200 w 2256"/>
                <a:gd name="T5" fmla="*/ 0 h 384"/>
                <a:gd name="T6" fmla="*/ 200 w 2256"/>
                <a:gd name="T7" fmla="*/ 425 h 384"/>
                <a:gd name="T8" fmla="*/ 400 w 2256"/>
                <a:gd name="T9" fmla="*/ 425 h 384"/>
                <a:gd name="T10" fmla="*/ 400 w 2256"/>
                <a:gd name="T11" fmla="*/ 0 h 384"/>
                <a:gd name="T12" fmla="*/ 601 w 2256"/>
                <a:gd name="T13" fmla="*/ 0 h 384"/>
                <a:gd name="T14" fmla="*/ 601 w 2256"/>
                <a:gd name="T15" fmla="*/ 425 h 384"/>
                <a:gd name="T16" fmla="*/ 803 w 2256"/>
                <a:gd name="T17" fmla="*/ 425 h 384"/>
                <a:gd name="T18" fmla="*/ 803 w 2256"/>
                <a:gd name="T19" fmla="*/ 0 h 384"/>
                <a:gd name="T20" fmla="*/ 1001 w 2256"/>
                <a:gd name="T21" fmla="*/ 0 h 384"/>
                <a:gd name="T22" fmla="*/ 1001 w 2256"/>
                <a:gd name="T23" fmla="*/ 425 h 384"/>
                <a:gd name="T24" fmla="*/ 1203 w 2256"/>
                <a:gd name="T25" fmla="*/ 425 h 384"/>
                <a:gd name="T26" fmla="*/ 1203 w 2256"/>
                <a:gd name="T27" fmla="*/ 0 h 384"/>
                <a:gd name="T28" fmla="*/ 1404 w 2256"/>
                <a:gd name="T29" fmla="*/ 0 h 384"/>
                <a:gd name="T30" fmla="*/ 1404 w 2256"/>
                <a:gd name="T31" fmla="*/ 425 h 384"/>
                <a:gd name="T32" fmla="*/ 1605 w 2256"/>
                <a:gd name="T33" fmla="*/ 425 h 384"/>
                <a:gd name="T34" fmla="*/ 1605 w 2256"/>
                <a:gd name="T35" fmla="*/ 0 h 384"/>
                <a:gd name="T36" fmla="*/ 1804 w 2256"/>
                <a:gd name="T37" fmla="*/ 0 h 384"/>
                <a:gd name="T38" fmla="*/ 1804 w 2256"/>
                <a:gd name="T39" fmla="*/ 425 h 384"/>
                <a:gd name="T40" fmla="*/ 2003 w 2256"/>
                <a:gd name="T41" fmla="*/ 425 h 384"/>
                <a:gd name="T42" fmla="*/ 2003 w 2256"/>
                <a:gd name="T43" fmla="*/ 0 h 384"/>
                <a:gd name="T44" fmla="*/ 2206 w 2256"/>
                <a:gd name="T45" fmla="*/ 0 h 384"/>
                <a:gd name="T46" fmla="*/ 2206 w 2256"/>
                <a:gd name="T47" fmla="*/ 425 h 384"/>
                <a:gd name="T48" fmla="*/ 2405 w 2256"/>
                <a:gd name="T49" fmla="*/ 425 h 384"/>
                <a:gd name="T50" fmla="*/ 2405 w 2256"/>
                <a:gd name="T51" fmla="*/ 0 h 384"/>
                <a:gd name="T52" fmla="*/ 2606 w 2256"/>
                <a:gd name="T53" fmla="*/ 0 h 384"/>
                <a:gd name="T54" fmla="*/ 2606 w 2256"/>
                <a:gd name="T55" fmla="*/ 425 h 384"/>
                <a:gd name="T56" fmla="*/ 2806 w 2256"/>
                <a:gd name="T57" fmla="*/ 425 h 384"/>
                <a:gd name="T58" fmla="*/ 2806 w 2256"/>
                <a:gd name="T59" fmla="*/ 0 h 384"/>
                <a:gd name="T60" fmla="*/ 3009 w 2256"/>
                <a:gd name="T61" fmla="*/ 0 h 384"/>
                <a:gd name="T62" fmla="*/ 3009 w 2256"/>
                <a:gd name="T63" fmla="*/ 425 h 384"/>
                <a:gd name="T64" fmla="*/ 3207 w 2256"/>
                <a:gd name="T65" fmla="*/ 425 h 384"/>
                <a:gd name="T66" fmla="*/ 3207 w 2256"/>
                <a:gd name="T67" fmla="*/ 0 h 384"/>
                <a:gd name="T68" fmla="*/ 3409 w 2256"/>
                <a:gd name="T69" fmla="*/ 0 h 384"/>
                <a:gd name="T70" fmla="*/ 3409 w 2256"/>
                <a:gd name="T71" fmla="*/ 425 h 384"/>
                <a:gd name="T72" fmla="*/ 3609 w 2256"/>
                <a:gd name="T73" fmla="*/ 425 h 384"/>
                <a:gd name="T74" fmla="*/ 3609 w 2256"/>
                <a:gd name="T75" fmla="*/ 0 h 384"/>
                <a:gd name="T76" fmla="*/ 3807 w 2256"/>
                <a:gd name="T77" fmla="*/ 0 h 384"/>
                <a:gd name="T78" fmla="*/ 3807 w 2256"/>
                <a:gd name="T79" fmla="*/ 425 h 384"/>
                <a:gd name="T80" fmla="*/ 4712 w 2256"/>
                <a:gd name="T81" fmla="*/ 425 h 38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1" name="Freeform 10"/>
            <p:cNvSpPr>
              <a:spLocks/>
            </p:cNvSpPr>
            <p:nvPr/>
          </p:nvSpPr>
          <p:spPr bwMode="auto">
            <a:xfrm>
              <a:off x="4245" y="3337"/>
              <a:ext cx="890" cy="392"/>
            </a:xfrm>
            <a:custGeom>
              <a:avLst/>
              <a:gdLst>
                <a:gd name="T0" fmla="*/ 1605 w 768"/>
                <a:gd name="T1" fmla="*/ 425 h 384"/>
                <a:gd name="T2" fmla="*/ 1405 w 768"/>
                <a:gd name="T3" fmla="*/ 425 h 384"/>
                <a:gd name="T4" fmla="*/ 1405 w 768"/>
                <a:gd name="T5" fmla="*/ 0 h 384"/>
                <a:gd name="T6" fmla="*/ 1204 w 768"/>
                <a:gd name="T7" fmla="*/ 0 h 384"/>
                <a:gd name="T8" fmla="*/ 1204 w 768"/>
                <a:gd name="T9" fmla="*/ 425 h 384"/>
                <a:gd name="T10" fmla="*/ 1002 w 768"/>
                <a:gd name="T11" fmla="*/ 425 h 384"/>
                <a:gd name="T12" fmla="*/ 1002 w 768"/>
                <a:gd name="T13" fmla="*/ 0 h 384"/>
                <a:gd name="T14" fmla="*/ 803 w 768"/>
                <a:gd name="T15" fmla="*/ 0 h 384"/>
                <a:gd name="T16" fmla="*/ 803 w 768"/>
                <a:gd name="T17" fmla="*/ 425 h 384"/>
                <a:gd name="T18" fmla="*/ 601 w 768"/>
                <a:gd name="T19" fmla="*/ 425 h 384"/>
                <a:gd name="T20" fmla="*/ 601 w 768"/>
                <a:gd name="T21" fmla="*/ 0 h 384"/>
                <a:gd name="T22" fmla="*/ 401 w 768"/>
                <a:gd name="T23" fmla="*/ 0 h 384"/>
                <a:gd name="T24" fmla="*/ 401 w 768"/>
                <a:gd name="T25" fmla="*/ 425 h 384"/>
                <a:gd name="T26" fmla="*/ 0 w 768"/>
                <a:gd name="T27" fmla="*/ 425 h 3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2" name="Line 16"/>
            <p:cNvSpPr>
              <a:spLocks noChangeShapeType="1"/>
            </p:cNvSpPr>
            <p:nvPr/>
          </p:nvSpPr>
          <p:spPr bwMode="auto">
            <a:xfrm>
              <a:off x="1129" y="3533"/>
              <a:ext cx="4340"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3" name="Text Box 17"/>
            <p:cNvSpPr txBox="1">
              <a:spLocks noChangeArrowheads="1"/>
            </p:cNvSpPr>
            <p:nvPr/>
          </p:nvSpPr>
          <p:spPr bwMode="auto">
            <a:xfrm>
              <a:off x="5166" y="3271"/>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ea typeface="黑体" pitchFamily="49" charset="-122"/>
                </a:rPr>
                <a:t>时间</a:t>
              </a:r>
            </a:p>
          </p:txBody>
        </p:sp>
        <p:sp>
          <p:nvSpPr>
            <p:cNvPr id="52234" name="Line 18"/>
            <p:cNvSpPr>
              <a:spLocks noChangeShapeType="1"/>
            </p:cNvSpPr>
            <p:nvPr/>
          </p:nvSpPr>
          <p:spPr bwMode="auto">
            <a:xfrm>
              <a:off x="1352" y="3778"/>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5" name="Line 19"/>
            <p:cNvSpPr>
              <a:spLocks noChangeShapeType="1"/>
            </p:cNvSpPr>
            <p:nvPr/>
          </p:nvSpPr>
          <p:spPr bwMode="auto">
            <a:xfrm>
              <a:off x="5135" y="3778"/>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6" name="Line 20"/>
            <p:cNvSpPr>
              <a:spLocks noChangeShapeType="1"/>
            </p:cNvSpPr>
            <p:nvPr/>
          </p:nvSpPr>
          <p:spPr bwMode="auto">
            <a:xfrm>
              <a:off x="1352" y="3900"/>
              <a:ext cx="3783"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7" name="Text Box 21"/>
            <p:cNvSpPr txBox="1">
              <a:spLocks noChangeArrowheads="1"/>
            </p:cNvSpPr>
            <p:nvPr/>
          </p:nvSpPr>
          <p:spPr bwMode="auto">
            <a:xfrm>
              <a:off x="2468" y="3770"/>
              <a:ext cx="1427" cy="250"/>
            </a:xfrm>
            <a:prstGeom prst="rect">
              <a:avLst/>
            </a:prstGeom>
            <a:solidFill>
              <a:schemeClr val="bg1"/>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rgbClr val="333399"/>
                  </a:solidFill>
                  <a:ea typeface="黑体" pitchFamily="49" charset="-122"/>
                </a:rPr>
                <a:t>每</a:t>
              </a:r>
              <a:r>
                <a:rPr kumimoji="1" lang="zh-CN" altLang="en-US" sz="2000">
                  <a:solidFill>
                    <a:srgbClr val="333399"/>
                  </a:solidFill>
                  <a:ea typeface="黑体" pitchFamily="49" charset="-122"/>
                  <a:sym typeface="Symbol" pitchFamily="18" charset="2"/>
                </a:rPr>
                <a:t>秒</a:t>
              </a:r>
              <a:r>
                <a:rPr kumimoji="1" lang="zh-CN" altLang="en-US" sz="1600">
                  <a:solidFill>
                    <a:srgbClr val="333399"/>
                  </a:solidFill>
                  <a:ea typeface="黑体" pitchFamily="49" charset="-122"/>
                  <a:sym typeface="Symbol" pitchFamily="18" charset="2"/>
                </a:rPr>
                <a:t> </a:t>
              </a:r>
              <a:r>
                <a:rPr kumimoji="1" lang="en-US" altLang="zh-CN" sz="2000">
                  <a:solidFill>
                    <a:srgbClr val="333399"/>
                  </a:solidFill>
                  <a:ea typeface="黑体" pitchFamily="49" charset="-122"/>
                  <a:sym typeface="Symbol" pitchFamily="18" charset="2"/>
                </a:rPr>
                <a:t>4</a:t>
              </a:r>
              <a:r>
                <a:rPr kumimoji="1" lang="en-US" altLang="zh-CN" sz="1000">
                  <a:solidFill>
                    <a:srgbClr val="333399"/>
                  </a:solidFill>
                  <a:ea typeface="黑体" pitchFamily="49" charset="-122"/>
                  <a:sym typeface="Symbol" pitchFamily="18" charset="2"/>
                </a:rPr>
                <a:t> </a:t>
              </a:r>
              <a:r>
                <a:rPr kumimoji="1" lang="en-US" altLang="zh-CN" sz="2000">
                  <a:solidFill>
                    <a:srgbClr val="333399"/>
                  </a:solidFill>
                  <a:ea typeface="黑体" pitchFamily="49" charset="-122"/>
                  <a:sym typeface="Symbol" pitchFamily="18" charset="2"/>
                </a:rPr>
                <a:t></a:t>
              </a:r>
              <a:r>
                <a:rPr kumimoji="1" lang="en-US" altLang="zh-CN" sz="900">
                  <a:solidFill>
                    <a:srgbClr val="333399"/>
                  </a:solidFill>
                  <a:ea typeface="黑体" pitchFamily="49" charset="-122"/>
                  <a:sym typeface="Symbol" pitchFamily="18" charset="2"/>
                </a:rPr>
                <a:t> </a:t>
              </a:r>
              <a:r>
                <a:rPr kumimoji="1" lang="en-US" altLang="zh-CN" sz="2000">
                  <a:solidFill>
                    <a:srgbClr val="333399"/>
                  </a:solidFill>
                  <a:ea typeface="黑体" pitchFamily="49" charset="-122"/>
                  <a:sym typeface="Symbol" pitchFamily="18" charset="2"/>
                </a:rPr>
                <a:t>10</a:t>
              </a:r>
              <a:r>
                <a:rPr kumimoji="1" lang="en-US" altLang="zh-CN" sz="2000" baseline="30000">
                  <a:solidFill>
                    <a:srgbClr val="333399"/>
                  </a:solidFill>
                  <a:ea typeface="黑体" pitchFamily="49" charset="-122"/>
                  <a:sym typeface="Symbol" pitchFamily="18" charset="2"/>
                </a:rPr>
                <a:t>6</a:t>
              </a:r>
              <a:r>
                <a:rPr kumimoji="1" lang="en-US" altLang="zh-CN" sz="1400" baseline="30000">
                  <a:solidFill>
                    <a:srgbClr val="333399"/>
                  </a:solidFill>
                  <a:ea typeface="黑体" pitchFamily="49" charset="-122"/>
                  <a:sym typeface="Symbol" pitchFamily="18" charset="2"/>
                </a:rPr>
                <a:t> </a:t>
              </a:r>
              <a:r>
                <a:rPr kumimoji="1" lang="zh-CN" altLang="en-US" sz="2000">
                  <a:solidFill>
                    <a:srgbClr val="333399"/>
                  </a:solidFill>
                  <a:ea typeface="黑体" pitchFamily="49" charset="-122"/>
                  <a:sym typeface="Symbol" pitchFamily="18" charset="2"/>
                </a:rPr>
                <a:t>个比特</a:t>
              </a:r>
              <a:endParaRPr kumimoji="1" lang="zh-CN" altLang="en-US" sz="2000">
                <a:solidFill>
                  <a:srgbClr val="333399"/>
                </a:solidFill>
                <a:ea typeface="黑体" pitchFamily="49" charset="-122"/>
              </a:endParaRPr>
            </a:p>
          </p:txBody>
        </p:sp>
        <p:sp>
          <p:nvSpPr>
            <p:cNvPr id="52238" name="Line 22"/>
            <p:cNvSpPr>
              <a:spLocks noChangeShapeType="1"/>
            </p:cNvSpPr>
            <p:nvPr/>
          </p:nvSpPr>
          <p:spPr bwMode="auto">
            <a:xfrm>
              <a:off x="2242" y="3190"/>
              <a:ext cx="0" cy="9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9" name="Line 23"/>
            <p:cNvSpPr>
              <a:spLocks noChangeShapeType="1"/>
            </p:cNvSpPr>
            <p:nvPr/>
          </p:nvSpPr>
          <p:spPr bwMode="auto">
            <a:xfrm>
              <a:off x="2353" y="3190"/>
              <a:ext cx="0" cy="9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0" name="Line 24"/>
            <p:cNvSpPr>
              <a:spLocks noChangeShapeType="1"/>
            </p:cNvSpPr>
            <p:nvPr/>
          </p:nvSpPr>
          <p:spPr bwMode="auto">
            <a:xfrm>
              <a:off x="1963" y="3239"/>
              <a:ext cx="279"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1" name="Line 25"/>
            <p:cNvSpPr>
              <a:spLocks noChangeShapeType="1"/>
            </p:cNvSpPr>
            <p:nvPr/>
          </p:nvSpPr>
          <p:spPr bwMode="auto">
            <a:xfrm flipH="1">
              <a:off x="2353" y="3239"/>
              <a:ext cx="278"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2" name="Text Box 26"/>
            <p:cNvSpPr txBox="1">
              <a:spLocks noChangeArrowheads="1"/>
            </p:cNvSpPr>
            <p:nvPr/>
          </p:nvSpPr>
          <p:spPr bwMode="auto">
            <a:xfrm>
              <a:off x="2074" y="2953"/>
              <a:ext cx="6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0.25 </a:t>
              </a:r>
              <a:r>
                <a:rPr kumimoji="1" lang="en-US" altLang="zh-CN" sz="2000">
                  <a:solidFill>
                    <a:srgbClr val="333399"/>
                  </a:solidFill>
                  <a:ea typeface="黑体" pitchFamily="49" charset="-122"/>
                  <a:sym typeface="Symbol" pitchFamily="18" charset="2"/>
                </a:rPr>
                <a:t>s</a:t>
              </a:r>
              <a:endParaRPr kumimoji="1" lang="en-US" altLang="zh-CN" sz="2000">
                <a:solidFill>
                  <a:srgbClr val="333399"/>
                </a:solidFill>
                <a:ea typeface="黑体" pitchFamily="49" charset="-122"/>
              </a:endParaRPr>
            </a:p>
          </p:txBody>
        </p:sp>
        <p:sp>
          <p:nvSpPr>
            <p:cNvPr id="52243" name="Text Box 32"/>
            <p:cNvSpPr txBox="1">
              <a:spLocks noChangeArrowheads="1"/>
            </p:cNvSpPr>
            <p:nvPr/>
          </p:nvSpPr>
          <p:spPr bwMode="auto">
            <a:xfrm>
              <a:off x="204" y="3269"/>
              <a:ext cx="751" cy="524"/>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ea typeface="黑体" pitchFamily="49" charset="-122"/>
                </a:rPr>
                <a:t>带宽为</a:t>
              </a:r>
            </a:p>
            <a:p>
              <a:pPr eaLnBrk="1" hangingPunct="1"/>
              <a:r>
                <a:rPr lang="en-US" altLang="zh-CN" sz="2400">
                  <a:solidFill>
                    <a:srgbClr val="333399"/>
                  </a:solidFill>
                  <a:ea typeface="黑体" pitchFamily="49" charset="-122"/>
                </a:rPr>
                <a:t>4 Mb/s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7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150938" y="214313"/>
            <a:ext cx="7165975" cy="1462087"/>
          </a:xfrm>
        </p:spPr>
        <p:txBody>
          <a:bodyPr/>
          <a:lstStyle/>
          <a:p>
            <a:pPr algn="ctr" eaLnBrk="1" hangingPunct="1"/>
            <a:r>
              <a:rPr lang="en-US" altLang="zh-CN" smtClean="0"/>
              <a:t>4.  </a:t>
            </a:r>
            <a:r>
              <a:rPr lang="zh-CN" altLang="en-US" smtClean="0"/>
              <a:t>时延</a:t>
            </a:r>
            <a:r>
              <a:rPr lang="en-US" altLang="zh-CN" smtClean="0"/>
              <a:t>(delay </a:t>
            </a:r>
            <a:r>
              <a:rPr lang="zh-CN" altLang="en-US" smtClean="0"/>
              <a:t>或 </a:t>
            </a:r>
            <a:r>
              <a:rPr lang="en-US" altLang="zh-CN" smtClean="0"/>
              <a:t>latency)</a:t>
            </a:r>
          </a:p>
        </p:txBody>
      </p:sp>
      <p:sp>
        <p:nvSpPr>
          <p:cNvPr id="88067" name="Rectangle 3"/>
          <p:cNvSpPr>
            <a:spLocks noGrp="1" noChangeArrowheads="1"/>
          </p:cNvSpPr>
          <p:nvPr>
            <p:ph type="body" idx="1"/>
          </p:nvPr>
        </p:nvSpPr>
        <p:spPr>
          <a:xfrm>
            <a:off x="1042988" y="1916113"/>
            <a:ext cx="7772400" cy="2952750"/>
          </a:xfrm>
        </p:spPr>
        <p:txBody>
          <a:bodyPr/>
          <a:lstStyle/>
          <a:p>
            <a:pPr eaLnBrk="1" hangingPunct="1"/>
            <a:r>
              <a:rPr lang="zh-CN" altLang="en-US" smtClean="0"/>
              <a:t>发送时延   发送数据时，数据块从结点进入到传输媒体所需要的时间。上车</a:t>
            </a:r>
          </a:p>
          <a:p>
            <a:pPr eaLnBrk="1" hangingPunct="1"/>
            <a:r>
              <a:rPr lang="zh-CN" altLang="en-US" smtClean="0"/>
              <a:t>也就是从发送数据帧的第一个比特算起，到该帧的最后一个比特发送完毕所需的时间。 </a:t>
            </a:r>
          </a:p>
        </p:txBody>
      </p:sp>
      <p:sp>
        <p:nvSpPr>
          <p:cNvPr id="53252"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8081" name="Group 17"/>
          <p:cNvGrpSpPr>
            <a:grpSpLocks/>
          </p:cNvGrpSpPr>
          <p:nvPr/>
        </p:nvGrpSpPr>
        <p:grpSpPr bwMode="auto">
          <a:xfrm>
            <a:off x="2051050" y="4940300"/>
            <a:ext cx="5097463" cy="1225550"/>
            <a:chOff x="1574" y="3066"/>
            <a:chExt cx="3211" cy="772"/>
          </a:xfrm>
        </p:grpSpPr>
        <p:sp>
          <p:nvSpPr>
            <p:cNvPr id="53254" name="Rectangle 14"/>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5" name="Text Box 9"/>
            <p:cNvSpPr txBox="1">
              <a:spLocks noChangeArrowheads="1"/>
            </p:cNvSpPr>
            <p:nvPr/>
          </p:nvSpPr>
          <p:spPr bwMode="auto">
            <a:xfrm>
              <a:off x="1688" y="3286"/>
              <a:ext cx="1144" cy="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发送时延 </a:t>
              </a:r>
              <a:r>
                <a:rPr lang="en-US" altLang="zh-CN" sz="2400">
                  <a:solidFill>
                    <a:srgbClr val="333399"/>
                  </a:solidFill>
                  <a:latin typeface="Tahoma" pitchFamily="34" charset="0"/>
                  <a:ea typeface="黑体" pitchFamily="49" charset="-122"/>
                </a:rPr>
                <a:t>= </a:t>
              </a:r>
            </a:p>
          </p:txBody>
        </p:sp>
        <p:sp>
          <p:nvSpPr>
            <p:cNvPr id="53256" name="Text Box 10"/>
            <p:cNvSpPr txBox="1">
              <a:spLocks noChangeArrowheads="1"/>
            </p:cNvSpPr>
            <p:nvPr/>
          </p:nvSpPr>
          <p:spPr bwMode="auto">
            <a:xfrm>
              <a:off x="2789" y="3142"/>
              <a:ext cx="1844" cy="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数据块长度（</a:t>
              </a:r>
              <a:r>
                <a:rPr lang="zh-CN" altLang="en-US" sz="2400">
                  <a:solidFill>
                    <a:schemeClr val="hlink"/>
                  </a:solidFill>
                  <a:latin typeface="Tahoma" pitchFamily="34" charset="0"/>
                  <a:ea typeface="黑体" pitchFamily="49" charset="-122"/>
                </a:rPr>
                <a:t>比特</a:t>
              </a:r>
              <a:r>
                <a:rPr lang="zh-CN" altLang="en-US" sz="2400">
                  <a:solidFill>
                    <a:srgbClr val="333399"/>
                  </a:solidFill>
                  <a:latin typeface="Tahoma" pitchFamily="34" charset="0"/>
                  <a:ea typeface="黑体" pitchFamily="49" charset="-122"/>
                </a:rPr>
                <a:t>）</a:t>
              </a:r>
            </a:p>
          </p:txBody>
        </p:sp>
        <p:sp>
          <p:nvSpPr>
            <p:cNvPr id="53257" name="Text Box 11"/>
            <p:cNvSpPr txBox="1">
              <a:spLocks noChangeArrowheads="1"/>
            </p:cNvSpPr>
            <p:nvPr/>
          </p:nvSpPr>
          <p:spPr bwMode="auto">
            <a:xfrm>
              <a:off x="2858" y="3467"/>
              <a:ext cx="1917" cy="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信道带宽（</a:t>
              </a:r>
              <a:r>
                <a:rPr lang="zh-CN" altLang="en-US" sz="2400">
                  <a:solidFill>
                    <a:schemeClr val="hlink"/>
                  </a:solidFill>
                  <a:latin typeface="Tahoma" pitchFamily="34" charset="0"/>
                  <a:ea typeface="黑体" pitchFamily="49" charset="-122"/>
                </a:rPr>
                <a:t>比特</a:t>
              </a:r>
              <a:r>
                <a:rPr lang="en-US" altLang="zh-CN" sz="2400">
                  <a:solidFill>
                    <a:schemeClr val="hlink"/>
                  </a:solidFill>
                  <a:latin typeface="Tahoma" pitchFamily="34" charset="0"/>
                  <a:ea typeface="黑体" pitchFamily="49" charset="-122"/>
                </a:rPr>
                <a:t>/</a:t>
              </a:r>
              <a:r>
                <a:rPr lang="zh-CN" altLang="en-US" sz="2400">
                  <a:solidFill>
                    <a:schemeClr val="hlink"/>
                  </a:solidFill>
                  <a:latin typeface="Tahoma" pitchFamily="34" charset="0"/>
                  <a:ea typeface="黑体" pitchFamily="49" charset="-122"/>
                </a:rPr>
                <a:t>秒</a:t>
              </a:r>
              <a:r>
                <a:rPr lang="zh-CN" altLang="en-US" sz="2400">
                  <a:solidFill>
                    <a:srgbClr val="333399"/>
                  </a:solidFill>
                  <a:latin typeface="Tahoma" pitchFamily="34" charset="0"/>
                  <a:ea typeface="黑体" pitchFamily="49" charset="-122"/>
                </a:rPr>
                <a:t>）</a:t>
              </a:r>
            </a:p>
          </p:txBody>
        </p:sp>
        <p:sp>
          <p:nvSpPr>
            <p:cNvPr id="53258" name="Line 12"/>
            <p:cNvSpPr>
              <a:spLocks noChangeShapeType="1"/>
            </p:cNvSpPr>
            <p:nvPr/>
          </p:nvSpPr>
          <p:spPr bwMode="auto">
            <a:xfrm flipV="1">
              <a:off x="2789" y="3449"/>
              <a:ext cx="1819" cy="1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081"/>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808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时延</a:t>
            </a:r>
            <a:r>
              <a:rPr lang="en-US" altLang="zh-CN" smtClean="0"/>
              <a:t>(delay </a:t>
            </a:r>
            <a:r>
              <a:rPr lang="zh-CN" altLang="en-US" smtClean="0"/>
              <a:t>或 </a:t>
            </a:r>
            <a:r>
              <a:rPr lang="en-US" altLang="zh-CN" smtClean="0"/>
              <a:t>latency)</a:t>
            </a:r>
          </a:p>
        </p:txBody>
      </p:sp>
      <p:sp>
        <p:nvSpPr>
          <p:cNvPr id="89091" name="Rectangle 3"/>
          <p:cNvSpPr>
            <a:spLocks noGrp="1" noChangeArrowheads="1"/>
          </p:cNvSpPr>
          <p:nvPr>
            <p:ph type="body" idx="1"/>
          </p:nvPr>
        </p:nvSpPr>
        <p:spPr>
          <a:xfrm>
            <a:off x="1042988" y="1989138"/>
            <a:ext cx="7772400" cy="2663825"/>
          </a:xfrm>
        </p:spPr>
        <p:txBody>
          <a:bodyPr/>
          <a:lstStyle/>
          <a:p>
            <a:pPr eaLnBrk="1" hangingPunct="1"/>
            <a:r>
              <a:rPr lang="zh-CN" altLang="en-US" smtClean="0">
                <a:solidFill>
                  <a:schemeClr val="hlink"/>
                </a:solidFill>
              </a:rPr>
              <a:t>传播时延    </a:t>
            </a:r>
            <a:r>
              <a:rPr lang="zh-CN" altLang="en-US" smtClean="0"/>
              <a:t>电磁波在信道中需要传播一定的距离而花费的时间。 开车</a:t>
            </a:r>
          </a:p>
          <a:p>
            <a:pPr eaLnBrk="1" hangingPunct="1"/>
            <a:r>
              <a:rPr lang="zh-CN" altLang="en-US" smtClean="0"/>
              <a:t>信号发送速率和信号在信道上的</a:t>
            </a:r>
            <a:r>
              <a:rPr lang="zh-CN" altLang="en-US" smtClean="0">
                <a:solidFill>
                  <a:schemeClr val="hlink"/>
                </a:solidFill>
              </a:rPr>
              <a:t>传播速率</a:t>
            </a:r>
            <a:r>
              <a:rPr lang="zh-CN" altLang="en-US" smtClean="0"/>
              <a:t>是完全不同的概念。 </a:t>
            </a:r>
          </a:p>
          <a:p>
            <a:pPr eaLnBrk="1" hangingPunct="1"/>
            <a:endParaRPr lang="en-US" altLang="zh-CN" smtClean="0"/>
          </a:p>
        </p:txBody>
      </p:sp>
      <p:sp>
        <p:nvSpPr>
          <p:cNvPr id="5427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9108" name="Group 20"/>
          <p:cNvGrpSpPr>
            <a:grpSpLocks/>
          </p:cNvGrpSpPr>
          <p:nvPr/>
        </p:nvGrpSpPr>
        <p:grpSpPr bwMode="auto">
          <a:xfrm>
            <a:off x="1187450" y="4508500"/>
            <a:ext cx="6769100" cy="1225550"/>
            <a:chOff x="1020" y="2840"/>
            <a:chExt cx="4264" cy="772"/>
          </a:xfrm>
        </p:grpSpPr>
        <p:sp>
          <p:nvSpPr>
            <p:cNvPr id="54278" name="Rectangle 7"/>
            <p:cNvSpPr>
              <a:spLocks noChangeArrowheads="1"/>
            </p:cNvSpPr>
            <p:nvPr/>
          </p:nvSpPr>
          <p:spPr bwMode="auto">
            <a:xfrm>
              <a:off x="1020" y="2840"/>
              <a:ext cx="4264" cy="772"/>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9" name="Text Box 9"/>
            <p:cNvSpPr txBox="1">
              <a:spLocks noChangeArrowheads="1"/>
            </p:cNvSpPr>
            <p:nvPr/>
          </p:nvSpPr>
          <p:spPr bwMode="auto">
            <a:xfrm>
              <a:off x="1134" y="3060"/>
              <a:ext cx="1144" cy="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传播时延 </a:t>
              </a:r>
              <a:r>
                <a:rPr lang="en-US" altLang="zh-CN" sz="2400">
                  <a:solidFill>
                    <a:srgbClr val="333399"/>
                  </a:solidFill>
                  <a:latin typeface="Tahoma" pitchFamily="34" charset="0"/>
                  <a:ea typeface="黑体" pitchFamily="49" charset="-122"/>
                </a:rPr>
                <a:t>= </a:t>
              </a:r>
            </a:p>
          </p:txBody>
        </p:sp>
        <p:sp>
          <p:nvSpPr>
            <p:cNvPr id="54280" name="Text Box 10"/>
            <p:cNvSpPr txBox="1">
              <a:spLocks noChangeArrowheads="1"/>
            </p:cNvSpPr>
            <p:nvPr/>
          </p:nvSpPr>
          <p:spPr bwMode="auto">
            <a:xfrm>
              <a:off x="3053" y="2916"/>
              <a:ext cx="1460" cy="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信道长度（</a:t>
              </a:r>
              <a:r>
                <a:rPr lang="zh-CN" altLang="en-US" sz="2400">
                  <a:solidFill>
                    <a:schemeClr val="hlink"/>
                  </a:solidFill>
                  <a:latin typeface="Tahoma" pitchFamily="34" charset="0"/>
                  <a:ea typeface="黑体" pitchFamily="49" charset="-122"/>
                </a:rPr>
                <a:t>米</a:t>
              </a:r>
              <a:r>
                <a:rPr lang="zh-CN" altLang="en-US" sz="2400">
                  <a:solidFill>
                    <a:srgbClr val="333399"/>
                  </a:solidFill>
                  <a:latin typeface="Tahoma" pitchFamily="34" charset="0"/>
                  <a:ea typeface="黑体" pitchFamily="49" charset="-122"/>
                </a:rPr>
                <a:t>）</a:t>
              </a:r>
            </a:p>
          </p:txBody>
        </p:sp>
        <p:sp>
          <p:nvSpPr>
            <p:cNvPr id="54281" name="Text Box 11"/>
            <p:cNvSpPr txBox="1">
              <a:spLocks noChangeArrowheads="1"/>
            </p:cNvSpPr>
            <p:nvPr/>
          </p:nvSpPr>
          <p:spPr bwMode="auto">
            <a:xfrm>
              <a:off x="2185" y="3241"/>
              <a:ext cx="3069" cy="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信号在信道上的传播速率（</a:t>
              </a:r>
              <a:r>
                <a:rPr lang="zh-CN" altLang="en-US" sz="2400">
                  <a:solidFill>
                    <a:schemeClr val="hlink"/>
                  </a:solidFill>
                  <a:latin typeface="Tahoma" pitchFamily="34" charset="0"/>
                  <a:ea typeface="黑体" pitchFamily="49" charset="-122"/>
                </a:rPr>
                <a:t>米</a:t>
              </a:r>
              <a:r>
                <a:rPr lang="en-US" altLang="zh-CN" sz="2400">
                  <a:solidFill>
                    <a:schemeClr val="hlink"/>
                  </a:solidFill>
                  <a:latin typeface="Tahoma" pitchFamily="34" charset="0"/>
                  <a:ea typeface="黑体" pitchFamily="49" charset="-122"/>
                </a:rPr>
                <a:t>/</a:t>
              </a:r>
              <a:r>
                <a:rPr lang="zh-CN" altLang="en-US" sz="2400">
                  <a:solidFill>
                    <a:schemeClr val="hlink"/>
                  </a:solidFill>
                  <a:latin typeface="Tahoma" pitchFamily="34" charset="0"/>
                  <a:ea typeface="黑体" pitchFamily="49" charset="-122"/>
                </a:rPr>
                <a:t>秒</a:t>
              </a:r>
              <a:r>
                <a:rPr lang="zh-CN" altLang="en-US" sz="2400">
                  <a:solidFill>
                    <a:srgbClr val="333399"/>
                  </a:solidFill>
                  <a:latin typeface="Tahoma" pitchFamily="34" charset="0"/>
                  <a:ea typeface="黑体" pitchFamily="49" charset="-122"/>
                </a:rPr>
                <a:t>）</a:t>
              </a:r>
            </a:p>
          </p:txBody>
        </p:sp>
        <p:sp>
          <p:nvSpPr>
            <p:cNvPr id="54282" name="Line 12"/>
            <p:cNvSpPr>
              <a:spLocks noChangeShapeType="1"/>
            </p:cNvSpPr>
            <p:nvPr/>
          </p:nvSpPr>
          <p:spPr bwMode="auto">
            <a:xfrm>
              <a:off x="2190" y="3233"/>
              <a:ext cx="2913" cy="16"/>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9108"/>
                                        </p:tgtEl>
                                        <p:attrNameLst>
                                          <p:attrName>style.visibility</p:attrName>
                                        </p:attrNameLst>
                                      </p:cBhvr>
                                      <p:to>
                                        <p:strVal val="visible"/>
                                      </p:to>
                                    </p:set>
                                  </p:childTnLst>
                                </p:cTn>
                              </p:par>
                            </p:childTnLst>
                          </p:cTn>
                        </p:par>
                        <p:par>
                          <p:cTn id="15" fill="hold" nodeType="afterGroup">
                            <p:stCondLst>
                              <p:cond delay="0"/>
                            </p:stCondLst>
                            <p:childTnLst>
                              <p:par>
                                <p:cTn id="16" presetID="6" presetClass="emph" presetSubtype="0" fill="hold" nodeType="afterEffect">
                                  <p:stCondLst>
                                    <p:cond delay="0"/>
                                  </p:stCondLst>
                                  <p:childTnLst>
                                    <p:animScale>
                                      <p:cBhvr>
                                        <p:cTn id="17" dur="1000" fill="hold"/>
                                        <p:tgtEl>
                                          <p:spTgt spid="89108"/>
                                        </p:tgtEl>
                                      </p:cBhvr>
                                      <p:by x="130000" y="13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时延</a:t>
            </a:r>
            <a:r>
              <a:rPr lang="en-US" altLang="zh-CN" smtClean="0"/>
              <a:t>(delay </a:t>
            </a:r>
            <a:r>
              <a:rPr lang="zh-CN" altLang="en-US" smtClean="0"/>
              <a:t>或 </a:t>
            </a:r>
            <a:r>
              <a:rPr lang="en-US" altLang="zh-CN" smtClean="0"/>
              <a:t>latency)</a:t>
            </a:r>
          </a:p>
        </p:txBody>
      </p:sp>
      <p:sp>
        <p:nvSpPr>
          <p:cNvPr id="90115" name="Rectangle 3"/>
          <p:cNvSpPr>
            <a:spLocks noGrp="1" noChangeArrowheads="1"/>
          </p:cNvSpPr>
          <p:nvPr>
            <p:ph type="body" idx="1"/>
          </p:nvPr>
        </p:nvSpPr>
        <p:spPr>
          <a:xfrm>
            <a:off x="1042988" y="1989138"/>
            <a:ext cx="7772400" cy="4679950"/>
          </a:xfrm>
        </p:spPr>
        <p:txBody>
          <a:bodyPr/>
          <a:lstStyle/>
          <a:p>
            <a:pPr eaLnBrk="1" hangingPunct="1"/>
            <a:r>
              <a:rPr lang="zh-CN" altLang="en-US" smtClean="0">
                <a:solidFill>
                  <a:schemeClr val="hlink"/>
                </a:solidFill>
              </a:rPr>
              <a:t>处理时延    </a:t>
            </a:r>
            <a:r>
              <a:rPr lang="zh-CN" altLang="en-US" smtClean="0"/>
              <a:t>交换结点为存储转发而进行一些必要的处理所花费的时间。 </a:t>
            </a:r>
          </a:p>
          <a:p>
            <a:pPr eaLnBrk="1" hangingPunct="1"/>
            <a:r>
              <a:rPr lang="zh-CN" altLang="en-US" smtClean="0">
                <a:solidFill>
                  <a:schemeClr val="hlink"/>
                </a:solidFill>
              </a:rPr>
              <a:t>排队时延    </a:t>
            </a:r>
            <a:r>
              <a:rPr lang="zh-CN" altLang="en-US" smtClean="0"/>
              <a:t>结点缓存队列中分组</a:t>
            </a:r>
            <a:r>
              <a:rPr lang="zh-CN" altLang="en-US" smtClean="0">
                <a:solidFill>
                  <a:schemeClr val="hlink"/>
                </a:solidFill>
              </a:rPr>
              <a:t>排队</a:t>
            </a:r>
            <a:r>
              <a:rPr lang="zh-CN" altLang="en-US" smtClean="0"/>
              <a:t>所经历的时延。</a:t>
            </a:r>
          </a:p>
          <a:p>
            <a:pPr eaLnBrk="1" hangingPunct="1"/>
            <a:r>
              <a:rPr lang="zh-CN" altLang="en-US" smtClean="0"/>
              <a:t>排队时延的长短往往取决于网络中</a:t>
            </a:r>
            <a:r>
              <a:rPr lang="zh-CN" altLang="en-US" smtClean="0">
                <a:solidFill>
                  <a:schemeClr val="hlink"/>
                </a:solidFill>
              </a:rPr>
              <a:t>当时的通信量</a:t>
            </a:r>
            <a:r>
              <a:rPr lang="zh-CN" altLang="en-US" smtClean="0"/>
              <a:t>。</a:t>
            </a:r>
          </a:p>
        </p:txBody>
      </p:sp>
      <p:sp>
        <p:nvSpPr>
          <p:cNvPr id="5530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1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1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时延</a:t>
            </a:r>
            <a:r>
              <a:rPr lang="en-US" altLang="zh-CN" smtClean="0"/>
              <a:t>(delay </a:t>
            </a:r>
            <a:r>
              <a:rPr lang="zh-CN" altLang="en-US" smtClean="0"/>
              <a:t>或 </a:t>
            </a:r>
            <a:r>
              <a:rPr lang="en-US" altLang="zh-CN" smtClean="0"/>
              <a:t>latency)</a:t>
            </a:r>
          </a:p>
        </p:txBody>
      </p:sp>
      <p:sp>
        <p:nvSpPr>
          <p:cNvPr id="91139" name="Rectangle 3"/>
          <p:cNvSpPr>
            <a:spLocks noGrp="1" noChangeArrowheads="1"/>
          </p:cNvSpPr>
          <p:nvPr>
            <p:ph type="body" idx="1"/>
          </p:nvPr>
        </p:nvSpPr>
        <p:spPr>
          <a:xfrm>
            <a:off x="1042988" y="1989138"/>
            <a:ext cx="7772400" cy="1368425"/>
          </a:xfrm>
        </p:spPr>
        <p:txBody>
          <a:bodyPr/>
          <a:lstStyle/>
          <a:p>
            <a:pPr eaLnBrk="1" hangingPunct="1"/>
            <a:r>
              <a:rPr lang="zh-CN" altLang="en-US" smtClean="0"/>
              <a:t>数据经历的总时延就是发送时延、传播时延、处理时延和排队时延之和： </a:t>
            </a:r>
          </a:p>
          <a:p>
            <a:pPr eaLnBrk="1" hangingPunct="1"/>
            <a:endParaRPr lang="en-US" altLang="zh-CN" smtClean="0"/>
          </a:p>
        </p:txBody>
      </p:sp>
      <p:sp>
        <p:nvSpPr>
          <p:cNvPr id="5632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1142" name="Text Box 6"/>
          <p:cNvSpPr txBox="1">
            <a:spLocks noChangeArrowheads="1"/>
          </p:cNvSpPr>
          <p:nvPr/>
        </p:nvSpPr>
        <p:spPr bwMode="auto">
          <a:xfrm>
            <a:off x="360363" y="3789363"/>
            <a:ext cx="8748712" cy="519112"/>
          </a:xfrm>
          <a:prstGeom prst="rect">
            <a:avLst/>
          </a:prstGeom>
          <a:solidFill>
            <a:srgbClr val="FFFF99"/>
          </a:solidFill>
          <a:ln>
            <a:noFill/>
          </a:ln>
          <a:effectLst/>
          <a:extLst>
            <a:ext uri="{91240B29-F687-4F45-9708-019B960494DF}">
              <a14:hiddenLine xmlns:a14="http://schemas.microsoft.com/office/drawing/2010/main" w="76200" cmpd="tri">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800">
                <a:solidFill>
                  <a:srgbClr val="333399"/>
                </a:solidFill>
                <a:latin typeface="Tahoma" pitchFamily="34" charset="0"/>
                <a:ea typeface="黑体" pitchFamily="49" charset="-122"/>
              </a:rPr>
              <a:t>总时延 </a:t>
            </a:r>
            <a:r>
              <a:rPr lang="en-US" altLang="zh-CN" sz="2800">
                <a:solidFill>
                  <a:srgbClr val="333399"/>
                </a:solidFill>
                <a:latin typeface="Tahoma" pitchFamily="34" charset="0"/>
                <a:ea typeface="黑体" pitchFamily="49" charset="-122"/>
              </a:rPr>
              <a:t>= </a:t>
            </a:r>
            <a:r>
              <a:rPr lang="zh-CN" altLang="en-US" sz="2800">
                <a:solidFill>
                  <a:srgbClr val="333399"/>
                </a:solidFill>
                <a:latin typeface="Tahoma" pitchFamily="34" charset="0"/>
                <a:ea typeface="黑体" pitchFamily="49" charset="-122"/>
              </a:rPr>
              <a:t>发送时延</a:t>
            </a:r>
            <a:r>
              <a:rPr lang="en-US" altLang="zh-CN" sz="2800">
                <a:solidFill>
                  <a:srgbClr val="333399"/>
                </a:solidFill>
                <a:latin typeface="Tahoma" pitchFamily="34" charset="0"/>
                <a:ea typeface="黑体" pitchFamily="49" charset="-122"/>
              </a:rPr>
              <a:t>+</a:t>
            </a:r>
            <a:r>
              <a:rPr lang="zh-CN" altLang="en-US" sz="2800">
                <a:solidFill>
                  <a:srgbClr val="333399"/>
                </a:solidFill>
                <a:latin typeface="Tahoma" pitchFamily="34" charset="0"/>
                <a:ea typeface="黑体" pitchFamily="49" charset="-122"/>
              </a:rPr>
              <a:t>传播时延</a:t>
            </a:r>
            <a:r>
              <a:rPr lang="en-US" altLang="zh-CN" sz="2800">
                <a:solidFill>
                  <a:srgbClr val="333399"/>
                </a:solidFill>
                <a:latin typeface="Tahoma" pitchFamily="34" charset="0"/>
                <a:ea typeface="黑体" pitchFamily="49" charset="-122"/>
              </a:rPr>
              <a:t>+</a:t>
            </a:r>
            <a:r>
              <a:rPr lang="zh-CN" altLang="en-US" sz="2800">
                <a:solidFill>
                  <a:srgbClr val="333399"/>
                </a:solidFill>
                <a:latin typeface="Tahoma" pitchFamily="34" charset="0"/>
                <a:ea typeface="黑体" pitchFamily="49" charset="-122"/>
              </a:rPr>
              <a:t>处理时延</a:t>
            </a:r>
            <a:r>
              <a:rPr lang="en-US" altLang="zh-CN" sz="2800">
                <a:solidFill>
                  <a:srgbClr val="333399"/>
                </a:solidFill>
                <a:latin typeface="Tahoma" pitchFamily="34" charset="0"/>
              </a:rPr>
              <a:t>+</a:t>
            </a:r>
            <a:r>
              <a:rPr lang="zh-CN" altLang="en-US" sz="2800">
                <a:solidFill>
                  <a:srgbClr val="333399"/>
                </a:solidFill>
                <a:latin typeface="黑体" pitchFamily="49" charset="-122"/>
                <a:ea typeface="黑体" pitchFamily="49" charset="-122"/>
              </a:rPr>
              <a:t>排队时延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1142"/>
                                        </p:tgtEl>
                                        <p:attrNameLst>
                                          <p:attrName>style.visibility</p:attrName>
                                        </p:attrNameLst>
                                      </p:cBhvr>
                                      <p:to>
                                        <p:strVal val="visible"/>
                                      </p:to>
                                    </p:set>
                                  </p:childTnLst>
                                </p:cTn>
                              </p:par>
                            </p:childTnLst>
                          </p:cTn>
                        </p:par>
                        <p:par>
                          <p:cTn id="11" fill="hold" nodeType="afterGroup">
                            <p:stCondLst>
                              <p:cond delay="0"/>
                            </p:stCondLst>
                            <p:childTnLst>
                              <p:par>
                                <p:cTn id="12" presetID="6" presetClass="emph" presetSubtype="0" fill="hold" grpId="1" nodeType="afterEffect">
                                  <p:stCondLst>
                                    <p:cond delay="0"/>
                                  </p:stCondLst>
                                  <p:childTnLst>
                                    <p:animScale>
                                      <p:cBhvr>
                                        <p:cTn id="13" dur="1000" fill="hold"/>
                                        <p:tgtEl>
                                          <p:spTgt spid="91142"/>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P spid="91142" grpId="0" animBg="1"/>
      <p:bldP spid="91142"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1258888" y="115888"/>
            <a:ext cx="7165975" cy="768350"/>
          </a:xfrm>
        </p:spPr>
        <p:txBody>
          <a:bodyPr/>
          <a:lstStyle/>
          <a:p>
            <a:pPr algn="ctr" eaLnBrk="1" hangingPunct="1"/>
            <a:r>
              <a:rPr lang="zh-CN" altLang="en-US" smtClean="0"/>
              <a:t>四种时延所产生的地方 </a:t>
            </a:r>
          </a:p>
        </p:txBody>
      </p:sp>
      <p:sp>
        <p:nvSpPr>
          <p:cNvPr id="57347" name="Rectangle 4"/>
          <p:cNvSpPr>
            <a:spLocks noChangeArrowheads="1"/>
          </p:cNvSpPr>
          <p:nvPr/>
        </p:nvSpPr>
        <p:spPr bwMode="auto">
          <a:xfrm>
            <a:off x="10795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7348" name="Rectangle 7"/>
          <p:cNvSpPr>
            <a:spLocks noChangeArrowheads="1"/>
          </p:cNvSpPr>
          <p:nvPr/>
        </p:nvSpPr>
        <p:spPr bwMode="auto">
          <a:xfrm>
            <a:off x="2136775" y="4702175"/>
            <a:ext cx="5522913" cy="265113"/>
          </a:xfrm>
          <a:prstGeom prst="rect">
            <a:avLst/>
          </a:prstGeom>
          <a:gradFill rotWithShape="1">
            <a:gsLst>
              <a:gs pos="0">
                <a:srgbClr val="313131"/>
              </a:gs>
              <a:gs pos="50000">
                <a:srgbClr val="B2B2B2"/>
              </a:gs>
              <a:gs pos="100000">
                <a:srgbClr val="313131"/>
              </a:gs>
            </a:gsLst>
            <a:lin ang="5400000" scaled="1"/>
          </a:gra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49" name="Oval 9"/>
          <p:cNvSpPr>
            <a:spLocks noChangeArrowheads="1"/>
          </p:cNvSpPr>
          <p:nvPr/>
        </p:nvSpPr>
        <p:spPr bwMode="auto">
          <a:xfrm>
            <a:off x="868363" y="4168775"/>
            <a:ext cx="1358900" cy="1331913"/>
          </a:xfrm>
          <a:prstGeom prst="ellipse">
            <a:avLst/>
          </a:prstGeom>
          <a:gradFill rotWithShape="1">
            <a:gsLst>
              <a:gs pos="0">
                <a:srgbClr val="FFFF99"/>
              </a:gs>
              <a:gs pos="100000">
                <a:srgbClr val="B2B26B"/>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0" name="Oval 10"/>
          <p:cNvSpPr>
            <a:spLocks noChangeArrowheads="1"/>
          </p:cNvSpPr>
          <p:nvPr/>
        </p:nvSpPr>
        <p:spPr bwMode="auto">
          <a:xfrm>
            <a:off x="7569200" y="4168775"/>
            <a:ext cx="1358900" cy="1331913"/>
          </a:xfrm>
          <a:prstGeom prst="ellipse">
            <a:avLst/>
          </a:prstGeom>
          <a:gradFill rotWithShape="1">
            <a:gsLst>
              <a:gs pos="0">
                <a:srgbClr val="FFFF99"/>
              </a:gs>
              <a:gs pos="100000">
                <a:srgbClr val="AAAA66"/>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351" name="Group 11"/>
          <p:cNvGrpSpPr>
            <a:grpSpLocks/>
          </p:cNvGrpSpPr>
          <p:nvPr/>
        </p:nvGrpSpPr>
        <p:grpSpPr bwMode="auto">
          <a:xfrm>
            <a:off x="1230313" y="4576763"/>
            <a:ext cx="723900" cy="458787"/>
            <a:chOff x="1567" y="1056"/>
            <a:chExt cx="384" cy="336"/>
          </a:xfrm>
        </p:grpSpPr>
        <p:sp>
          <p:nvSpPr>
            <p:cNvPr id="57376" name="Rectangle 12"/>
            <p:cNvSpPr>
              <a:spLocks noChangeArrowheads="1"/>
            </p:cNvSpPr>
            <p:nvPr/>
          </p:nvSpPr>
          <p:spPr bwMode="auto">
            <a:xfrm>
              <a:off x="1663" y="1056"/>
              <a:ext cx="288" cy="336"/>
            </a:xfrm>
            <a:prstGeom prst="rect">
              <a:avLst/>
            </a:prstGeom>
            <a:solidFill>
              <a:srgbClr val="99CCFF"/>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7" name="Freeform 13"/>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8" name="Line 14"/>
            <p:cNvSpPr>
              <a:spLocks noChangeShapeType="1"/>
            </p:cNvSpPr>
            <p:nvPr/>
          </p:nvSpPr>
          <p:spPr bwMode="auto">
            <a:xfrm>
              <a:off x="1855" y="1056"/>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9" name="Line 15"/>
            <p:cNvSpPr>
              <a:spLocks noChangeShapeType="1"/>
            </p:cNvSpPr>
            <p:nvPr/>
          </p:nvSpPr>
          <p:spPr bwMode="auto">
            <a:xfrm>
              <a:off x="1759" y="1056"/>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0" name="Line 16"/>
            <p:cNvSpPr>
              <a:spLocks noChangeShapeType="1"/>
            </p:cNvSpPr>
            <p:nvPr/>
          </p:nvSpPr>
          <p:spPr bwMode="auto">
            <a:xfrm>
              <a:off x="1663" y="1056"/>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52" name="Line 17"/>
          <p:cNvSpPr>
            <a:spLocks noChangeShapeType="1"/>
          </p:cNvSpPr>
          <p:nvPr/>
        </p:nvSpPr>
        <p:spPr bwMode="auto">
          <a:xfrm>
            <a:off x="1949450" y="4822825"/>
            <a:ext cx="271463" cy="63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3" name="Rectangle 18"/>
          <p:cNvSpPr>
            <a:spLocks noChangeArrowheads="1"/>
          </p:cNvSpPr>
          <p:nvPr/>
        </p:nvSpPr>
        <p:spPr bwMode="auto">
          <a:xfrm>
            <a:off x="2011363" y="4729163"/>
            <a:ext cx="169862" cy="193675"/>
          </a:xfrm>
          <a:prstGeom prst="rect">
            <a:avLst/>
          </a:prstGeom>
          <a:solidFill>
            <a:schemeClr va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4" name="AutoShape 21"/>
          <p:cNvSpPr>
            <a:spLocks noChangeArrowheads="1"/>
          </p:cNvSpPr>
          <p:nvPr/>
        </p:nvSpPr>
        <p:spPr bwMode="auto">
          <a:xfrm>
            <a:off x="2770188" y="4754563"/>
            <a:ext cx="1266825" cy="177800"/>
          </a:xfrm>
          <a:prstGeom prst="rightArrow">
            <a:avLst>
              <a:gd name="adj1" fmla="val 50000"/>
              <a:gd name="adj2" fmla="val 178125"/>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5" name="AutoShape 26"/>
          <p:cNvSpPr>
            <a:spLocks noChangeArrowheads="1"/>
          </p:cNvSpPr>
          <p:nvPr/>
        </p:nvSpPr>
        <p:spPr bwMode="auto">
          <a:xfrm>
            <a:off x="139700" y="4754563"/>
            <a:ext cx="1268413" cy="177800"/>
          </a:xfrm>
          <a:prstGeom prst="rightArrow">
            <a:avLst>
              <a:gd name="adj1" fmla="val 50000"/>
              <a:gd name="adj2" fmla="val 178348"/>
            </a:avLst>
          </a:prstGeom>
          <a:solidFill>
            <a:srgbClr val="00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6" name="AutoShape 27"/>
          <p:cNvSpPr>
            <a:spLocks noChangeArrowheads="1"/>
          </p:cNvSpPr>
          <p:nvPr/>
        </p:nvSpPr>
        <p:spPr bwMode="auto">
          <a:xfrm>
            <a:off x="6564313" y="4746625"/>
            <a:ext cx="1266825" cy="176213"/>
          </a:xfrm>
          <a:prstGeom prst="rightArrow">
            <a:avLst>
              <a:gd name="adj1" fmla="val 50000"/>
              <a:gd name="adj2" fmla="val 179729"/>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7" name="Text Box 28"/>
          <p:cNvSpPr txBox="1">
            <a:spLocks noChangeArrowheads="1"/>
          </p:cNvSpPr>
          <p:nvPr/>
        </p:nvSpPr>
        <p:spPr bwMode="auto">
          <a:xfrm>
            <a:off x="4060825" y="4645025"/>
            <a:ext cx="159226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b="1">
                <a:solidFill>
                  <a:srgbClr val="333399"/>
                </a:solidFill>
              </a:rPr>
              <a:t>1 0 1 1 0 0 1</a:t>
            </a:r>
          </a:p>
        </p:txBody>
      </p:sp>
      <p:sp>
        <p:nvSpPr>
          <p:cNvPr id="57358" name="Text Box 29"/>
          <p:cNvSpPr txBox="1">
            <a:spLocks noChangeArrowheads="1"/>
          </p:cNvSpPr>
          <p:nvPr/>
        </p:nvSpPr>
        <p:spPr bwMode="auto">
          <a:xfrm>
            <a:off x="5675313" y="451167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400" b="1">
                <a:solidFill>
                  <a:srgbClr val="333399"/>
                </a:solidFill>
                <a:latin typeface="Times New Roman" pitchFamily="18" charset="0"/>
              </a:rPr>
              <a:t>…</a:t>
            </a:r>
          </a:p>
        </p:txBody>
      </p:sp>
      <p:sp>
        <p:nvSpPr>
          <p:cNvPr id="57359" name="Text Box 32"/>
          <p:cNvSpPr txBox="1">
            <a:spLocks noChangeArrowheads="1"/>
          </p:cNvSpPr>
          <p:nvPr/>
        </p:nvSpPr>
        <p:spPr bwMode="auto">
          <a:xfrm>
            <a:off x="2232025" y="547370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发送器</a:t>
            </a:r>
          </a:p>
        </p:txBody>
      </p:sp>
      <p:sp>
        <p:nvSpPr>
          <p:cNvPr id="57360" name="Text Box 34"/>
          <p:cNvSpPr txBox="1">
            <a:spLocks noChangeArrowheads="1"/>
          </p:cNvSpPr>
          <p:nvPr/>
        </p:nvSpPr>
        <p:spPr bwMode="auto">
          <a:xfrm>
            <a:off x="1187450" y="498792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队列</a:t>
            </a:r>
          </a:p>
        </p:txBody>
      </p:sp>
      <p:grpSp>
        <p:nvGrpSpPr>
          <p:cNvPr id="92205" name="Group 45"/>
          <p:cNvGrpSpPr>
            <a:grpSpLocks/>
          </p:cNvGrpSpPr>
          <p:nvPr/>
        </p:nvGrpSpPr>
        <p:grpSpPr bwMode="auto">
          <a:xfrm>
            <a:off x="5535613" y="3068638"/>
            <a:ext cx="2089150" cy="1612900"/>
            <a:chOff x="3419" y="1933"/>
            <a:chExt cx="1316" cy="1016"/>
          </a:xfrm>
        </p:grpSpPr>
        <p:sp>
          <p:nvSpPr>
            <p:cNvPr id="57374" name="Line 33"/>
            <p:cNvSpPr>
              <a:spLocks noChangeShapeType="1"/>
            </p:cNvSpPr>
            <p:nvPr/>
          </p:nvSpPr>
          <p:spPr bwMode="auto">
            <a:xfrm flipH="1">
              <a:off x="3602" y="2495"/>
              <a:ext cx="276" cy="454"/>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5" name="Text Box 36"/>
            <p:cNvSpPr txBox="1">
              <a:spLocks noChangeArrowheads="1"/>
            </p:cNvSpPr>
            <p:nvPr/>
          </p:nvSpPr>
          <p:spPr bwMode="auto">
            <a:xfrm>
              <a:off x="3419" y="1933"/>
              <a:ext cx="1316" cy="566"/>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400">
                  <a:solidFill>
                    <a:srgbClr val="333399"/>
                  </a:solidFill>
                  <a:latin typeface="黑体" pitchFamily="49" charset="-122"/>
                  <a:ea typeface="黑体" pitchFamily="49" charset="-122"/>
                </a:rPr>
                <a:t>在链路上产生</a:t>
              </a:r>
            </a:p>
            <a:p>
              <a:pPr algn="ctr" eaLnBrk="1" hangingPunct="1"/>
              <a:r>
                <a:rPr kumimoji="1" lang="zh-CN" altLang="en-US" sz="2400">
                  <a:solidFill>
                    <a:srgbClr val="333399"/>
                  </a:solidFill>
                  <a:latin typeface="黑体" pitchFamily="49" charset="-122"/>
                  <a:ea typeface="黑体" pitchFamily="49" charset="-122"/>
                </a:rPr>
                <a:t>传播时延</a:t>
              </a:r>
            </a:p>
          </p:txBody>
        </p:sp>
      </p:grpSp>
      <p:sp>
        <p:nvSpPr>
          <p:cNvPr id="57362" name="Text Box 37"/>
          <p:cNvSpPr txBox="1">
            <a:spLocks noChangeArrowheads="1"/>
          </p:cNvSpPr>
          <p:nvPr/>
        </p:nvSpPr>
        <p:spPr bwMode="auto">
          <a:xfrm>
            <a:off x="7704138" y="5564188"/>
            <a:ext cx="105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结点</a:t>
            </a:r>
            <a:r>
              <a:rPr kumimoji="1" lang="zh-CN" altLang="en-US" sz="1600">
                <a:solidFill>
                  <a:srgbClr val="333399"/>
                </a:solidFill>
                <a:ea typeface="黑体" pitchFamily="49" charset="-122"/>
              </a:rPr>
              <a:t> </a:t>
            </a:r>
            <a:r>
              <a:rPr kumimoji="1" lang="en-US" altLang="zh-CN" sz="2400">
                <a:solidFill>
                  <a:srgbClr val="333399"/>
                </a:solidFill>
                <a:ea typeface="黑体" pitchFamily="49" charset="-122"/>
              </a:rPr>
              <a:t>B</a:t>
            </a:r>
          </a:p>
        </p:txBody>
      </p:sp>
      <p:sp>
        <p:nvSpPr>
          <p:cNvPr id="57363" name="Text Box 38"/>
          <p:cNvSpPr txBox="1">
            <a:spLocks noChangeArrowheads="1"/>
          </p:cNvSpPr>
          <p:nvPr/>
        </p:nvSpPr>
        <p:spPr bwMode="auto">
          <a:xfrm>
            <a:off x="1008063" y="5473700"/>
            <a:ext cx="1054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结点</a:t>
            </a:r>
            <a:r>
              <a:rPr kumimoji="1" lang="zh-CN" altLang="en-US" sz="1600">
                <a:solidFill>
                  <a:srgbClr val="333399"/>
                </a:solidFill>
                <a:ea typeface="黑体" pitchFamily="49" charset="-122"/>
              </a:rPr>
              <a:t> </a:t>
            </a:r>
            <a:r>
              <a:rPr kumimoji="1" lang="en-US" altLang="zh-CN" sz="2400">
                <a:solidFill>
                  <a:srgbClr val="333399"/>
                </a:solidFill>
                <a:ea typeface="黑体" pitchFamily="49" charset="-122"/>
              </a:rPr>
              <a:t>A</a:t>
            </a:r>
          </a:p>
        </p:txBody>
      </p:sp>
      <p:grpSp>
        <p:nvGrpSpPr>
          <p:cNvPr id="92204" name="Group 44"/>
          <p:cNvGrpSpPr>
            <a:grpSpLocks/>
          </p:cNvGrpSpPr>
          <p:nvPr/>
        </p:nvGrpSpPr>
        <p:grpSpPr bwMode="auto">
          <a:xfrm>
            <a:off x="1935163" y="3284538"/>
            <a:ext cx="3308350" cy="1470025"/>
            <a:chOff x="1151" y="2069"/>
            <a:chExt cx="2084" cy="926"/>
          </a:xfrm>
        </p:grpSpPr>
        <p:sp>
          <p:nvSpPr>
            <p:cNvPr id="57372" name="Text Box 24"/>
            <p:cNvSpPr txBox="1">
              <a:spLocks noChangeArrowheads="1"/>
            </p:cNvSpPr>
            <p:nvPr/>
          </p:nvSpPr>
          <p:spPr bwMode="auto">
            <a:xfrm>
              <a:off x="1151" y="2069"/>
              <a:ext cx="2084" cy="566"/>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400">
                  <a:solidFill>
                    <a:srgbClr val="333399"/>
                  </a:solidFill>
                  <a:latin typeface="黑体" pitchFamily="49" charset="-122"/>
                  <a:ea typeface="黑体" pitchFamily="49" charset="-122"/>
                </a:rPr>
                <a:t>在发送器产生传输时延</a:t>
              </a:r>
            </a:p>
            <a:p>
              <a:pPr algn="ctr" eaLnBrk="1" hangingPunct="1"/>
              <a:r>
                <a:rPr kumimoji="1" lang="en-US" altLang="zh-CN" sz="2400">
                  <a:solidFill>
                    <a:srgbClr val="333399"/>
                  </a:solidFill>
                  <a:latin typeface="黑体" pitchFamily="49" charset="-122"/>
                  <a:ea typeface="黑体" pitchFamily="49" charset="-122"/>
                </a:rPr>
                <a:t>(</a:t>
              </a:r>
              <a:r>
                <a:rPr kumimoji="1" lang="zh-CN" altLang="en-US" sz="2400">
                  <a:solidFill>
                    <a:srgbClr val="333399"/>
                  </a:solidFill>
                  <a:latin typeface="黑体" pitchFamily="49" charset="-122"/>
                  <a:ea typeface="黑体" pitchFamily="49" charset="-122"/>
                </a:rPr>
                <a:t>即发送时延</a:t>
              </a:r>
              <a:r>
                <a:rPr kumimoji="1" lang="en-US" altLang="zh-CN" sz="2400">
                  <a:solidFill>
                    <a:srgbClr val="333399"/>
                  </a:solidFill>
                  <a:latin typeface="黑体" pitchFamily="49" charset="-122"/>
                  <a:ea typeface="黑体" pitchFamily="49" charset="-122"/>
                </a:rPr>
                <a:t>)</a:t>
              </a:r>
            </a:p>
          </p:txBody>
        </p:sp>
        <p:sp>
          <p:nvSpPr>
            <p:cNvPr id="57373" name="Line 40"/>
            <p:cNvSpPr>
              <a:spLocks noChangeShapeType="1"/>
            </p:cNvSpPr>
            <p:nvPr/>
          </p:nvSpPr>
          <p:spPr bwMode="auto">
            <a:xfrm flipH="1">
              <a:off x="1247" y="2614"/>
              <a:ext cx="454" cy="381"/>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65" name="Line 41"/>
          <p:cNvSpPr>
            <a:spLocks noChangeShapeType="1"/>
          </p:cNvSpPr>
          <p:nvPr/>
        </p:nvSpPr>
        <p:spPr bwMode="auto">
          <a:xfrm flipH="1" flipV="1">
            <a:off x="2087563" y="4897438"/>
            <a:ext cx="431800" cy="64770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6" name="Line 39"/>
          <p:cNvSpPr>
            <a:spLocks noChangeShapeType="1"/>
          </p:cNvSpPr>
          <p:nvPr/>
        </p:nvSpPr>
        <p:spPr bwMode="auto">
          <a:xfrm flipH="1">
            <a:off x="1547813" y="3141663"/>
            <a:ext cx="55562" cy="100806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7" name="Text Box 42"/>
          <p:cNvSpPr txBox="1">
            <a:spLocks noChangeArrowheads="1"/>
          </p:cNvSpPr>
          <p:nvPr/>
        </p:nvSpPr>
        <p:spPr bwMode="auto">
          <a:xfrm>
            <a:off x="128588" y="2224088"/>
            <a:ext cx="3003550" cy="898525"/>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r>
              <a:rPr kumimoji="1" lang="zh-CN" altLang="en-US" sz="2400">
                <a:solidFill>
                  <a:srgbClr val="333399"/>
                </a:solidFill>
                <a:latin typeface="黑体" pitchFamily="49" charset="-122"/>
                <a:ea typeface="黑体" pitchFamily="49" charset="-122"/>
              </a:rPr>
              <a:t>在结点</a:t>
            </a:r>
            <a:r>
              <a:rPr kumimoji="1" lang="zh-CN" altLang="en-US" sz="2400">
                <a:solidFill>
                  <a:srgbClr val="333399"/>
                </a:solidFill>
                <a:ea typeface="黑体" pitchFamily="49" charset="-122"/>
              </a:rPr>
              <a:t> </a:t>
            </a:r>
            <a:r>
              <a:rPr kumimoji="1" lang="en-US" altLang="zh-CN" sz="2400">
                <a:solidFill>
                  <a:srgbClr val="333399"/>
                </a:solidFill>
                <a:ea typeface="黑体" pitchFamily="49" charset="-122"/>
              </a:rPr>
              <a:t>A </a:t>
            </a:r>
            <a:r>
              <a:rPr kumimoji="1" lang="zh-CN" altLang="en-US" sz="2400">
                <a:solidFill>
                  <a:srgbClr val="333399"/>
                </a:solidFill>
                <a:latin typeface="黑体" pitchFamily="49" charset="-122"/>
                <a:ea typeface="黑体" pitchFamily="49" charset="-122"/>
              </a:rPr>
              <a:t>中产生</a:t>
            </a:r>
          </a:p>
          <a:p>
            <a:pPr algn="ctr" eaLnBrk="1" hangingPunct="1"/>
            <a:r>
              <a:rPr kumimoji="1" lang="zh-CN" altLang="en-US" sz="2400">
                <a:solidFill>
                  <a:srgbClr val="333399"/>
                </a:solidFill>
                <a:latin typeface="黑体" pitchFamily="49" charset="-122"/>
                <a:ea typeface="黑体" pitchFamily="49" charset="-122"/>
              </a:rPr>
              <a:t>处理时延和排队时延</a:t>
            </a:r>
          </a:p>
        </p:txBody>
      </p:sp>
      <p:sp>
        <p:nvSpPr>
          <p:cNvPr id="57368" name="Text Box 46"/>
          <p:cNvSpPr txBox="1">
            <a:spLocks noChangeArrowheads="1"/>
          </p:cNvSpPr>
          <p:nvPr/>
        </p:nvSpPr>
        <p:spPr bwMode="auto">
          <a:xfrm>
            <a:off x="107950" y="4292600"/>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数据</a:t>
            </a:r>
            <a:endParaRPr kumimoji="1" lang="zh-CN" altLang="en-US" sz="2400">
              <a:solidFill>
                <a:srgbClr val="333399"/>
              </a:solidFill>
              <a:ea typeface="黑体" pitchFamily="49" charset="-122"/>
            </a:endParaRPr>
          </a:p>
        </p:txBody>
      </p:sp>
      <p:sp>
        <p:nvSpPr>
          <p:cNvPr id="57369" name="Text Box 47"/>
          <p:cNvSpPr txBox="1">
            <a:spLocks noChangeArrowheads="1"/>
          </p:cNvSpPr>
          <p:nvPr/>
        </p:nvSpPr>
        <p:spPr bwMode="auto">
          <a:xfrm>
            <a:off x="2124075" y="981075"/>
            <a:ext cx="5241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3200">
                <a:solidFill>
                  <a:srgbClr val="333399"/>
                </a:solidFill>
                <a:ea typeface="黑体" pitchFamily="49" charset="-122"/>
              </a:rPr>
              <a:t>从结点 </a:t>
            </a:r>
            <a:r>
              <a:rPr kumimoji="1" lang="en-US" altLang="zh-CN" sz="3200">
                <a:solidFill>
                  <a:srgbClr val="333399"/>
                </a:solidFill>
                <a:ea typeface="黑体" pitchFamily="49" charset="-122"/>
              </a:rPr>
              <a:t>A </a:t>
            </a:r>
            <a:r>
              <a:rPr kumimoji="1" lang="zh-CN" altLang="en-US" sz="3200">
                <a:solidFill>
                  <a:srgbClr val="333399"/>
                </a:solidFill>
                <a:ea typeface="黑体" pitchFamily="49" charset="-122"/>
              </a:rPr>
              <a:t>向结点 </a:t>
            </a:r>
            <a:r>
              <a:rPr kumimoji="1" lang="en-US" altLang="zh-CN" sz="3200">
                <a:solidFill>
                  <a:srgbClr val="333399"/>
                </a:solidFill>
                <a:ea typeface="黑体" pitchFamily="49" charset="-122"/>
              </a:rPr>
              <a:t>B </a:t>
            </a:r>
            <a:r>
              <a:rPr kumimoji="1" lang="zh-CN" altLang="en-US" sz="3200">
                <a:solidFill>
                  <a:srgbClr val="333399"/>
                </a:solidFill>
                <a:ea typeface="黑体" pitchFamily="49" charset="-122"/>
              </a:rPr>
              <a:t>发送数据</a:t>
            </a:r>
          </a:p>
        </p:txBody>
      </p:sp>
      <p:sp>
        <p:nvSpPr>
          <p:cNvPr id="57370" name="Text Box 48"/>
          <p:cNvSpPr txBox="1">
            <a:spLocks noChangeArrowheads="1"/>
          </p:cNvSpPr>
          <p:nvPr/>
        </p:nvSpPr>
        <p:spPr bwMode="auto">
          <a:xfrm>
            <a:off x="4356100" y="5013325"/>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rgbClr val="333399"/>
                </a:solidFill>
                <a:latin typeface="Times New Roman" pitchFamily="18" charset="0"/>
                <a:ea typeface="黑体" pitchFamily="49" charset="-122"/>
              </a:rPr>
              <a:t>链路</a:t>
            </a:r>
            <a:endParaRPr kumimoji="1" lang="zh-CN" altLang="en-US" sz="2400">
              <a:solidFill>
                <a:srgbClr val="333399"/>
              </a:solidFill>
              <a:ea typeface="黑体" pitchFamily="49" charset="-122"/>
            </a:endParaRPr>
          </a:p>
        </p:txBody>
      </p:sp>
      <p:sp>
        <p:nvSpPr>
          <p:cNvPr id="57371" name="Rectangle 49"/>
          <p:cNvSpPr>
            <a:spLocks noChangeArrowheads="1"/>
          </p:cNvSpPr>
          <p:nvPr/>
        </p:nvSpPr>
        <p:spPr bwMode="auto">
          <a:xfrm>
            <a:off x="3995738" y="6092825"/>
            <a:ext cx="183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folHlink"/>
              </a:buClr>
              <a:buSzPct val="60000"/>
              <a:buFont typeface="Wingdings" pitchFamily="2" charset="2"/>
              <a:buChar char="n"/>
            </a:pPr>
            <a:r>
              <a:rPr lang="zh-CN" altLang="en-US">
                <a:solidFill>
                  <a:srgbClr val="333399"/>
                </a:solidFill>
              </a:rPr>
              <a:t>习题</a:t>
            </a:r>
            <a:r>
              <a:rPr lang="en-US" altLang="zh-CN">
                <a:solidFill>
                  <a:srgbClr val="333399"/>
                </a:solidFill>
              </a:rPr>
              <a:t>1-10</a:t>
            </a:r>
            <a:r>
              <a:rPr lang="zh-CN" altLang="en-US">
                <a:solidFill>
                  <a:srgbClr val="333399"/>
                </a:solidFill>
              </a:rPr>
              <a:t>，</a:t>
            </a:r>
            <a:r>
              <a:rPr lang="en-US" altLang="zh-CN">
                <a:solidFill>
                  <a:srgbClr val="333399"/>
                </a:solidFill>
              </a:rPr>
              <a:t>P34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容易产生的错误概念 </a:t>
            </a:r>
          </a:p>
        </p:txBody>
      </p:sp>
      <p:sp>
        <p:nvSpPr>
          <p:cNvPr id="165891" name="Rectangle 3"/>
          <p:cNvSpPr>
            <a:spLocks noGrp="1" noChangeArrowheads="1"/>
          </p:cNvSpPr>
          <p:nvPr>
            <p:ph type="body" idx="1"/>
          </p:nvPr>
        </p:nvSpPr>
        <p:spPr>
          <a:xfrm>
            <a:off x="1042988" y="1978025"/>
            <a:ext cx="7772400" cy="4114800"/>
          </a:xfrm>
        </p:spPr>
        <p:txBody>
          <a:bodyPr/>
          <a:lstStyle/>
          <a:p>
            <a:pPr eaLnBrk="1" hangingPunct="1"/>
            <a:r>
              <a:rPr lang="zh-CN" altLang="en-US" smtClean="0"/>
              <a:t>对于高速网络链路，我们提高的仅仅是数据的</a:t>
            </a:r>
            <a:r>
              <a:rPr lang="zh-CN" altLang="en-US" smtClean="0">
                <a:solidFill>
                  <a:schemeClr val="hlink"/>
                </a:solidFill>
              </a:rPr>
              <a:t>发送速率</a:t>
            </a:r>
            <a:r>
              <a:rPr lang="zh-CN" altLang="en-US" smtClean="0"/>
              <a:t>而不是比特在链路上的</a:t>
            </a:r>
            <a:r>
              <a:rPr lang="zh-CN" altLang="en-US" smtClean="0">
                <a:solidFill>
                  <a:schemeClr val="hlink"/>
                </a:solidFill>
              </a:rPr>
              <a:t>传播速率</a:t>
            </a:r>
            <a:r>
              <a:rPr lang="zh-CN" altLang="en-US" smtClean="0"/>
              <a:t>。 </a:t>
            </a:r>
          </a:p>
          <a:p>
            <a:pPr eaLnBrk="1" hangingPunct="1"/>
            <a:r>
              <a:rPr lang="zh-CN" altLang="en-US" smtClean="0"/>
              <a:t>提高链路带宽减小了数据的发送时延。</a:t>
            </a:r>
          </a:p>
          <a:p>
            <a:pPr eaLnBrk="1" hangingPunct="1">
              <a:buFont typeface="Wingdings" pitchFamily="2" charset="2"/>
              <a:buNone/>
            </a:pPr>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116013" y="214313"/>
            <a:ext cx="7704137" cy="1462087"/>
          </a:xfrm>
        </p:spPr>
        <p:txBody>
          <a:bodyPr/>
          <a:lstStyle/>
          <a:p>
            <a:pPr algn="ctr" eaLnBrk="1" hangingPunct="1"/>
            <a:r>
              <a:rPr lang="en-US" altLang="zh-CN" smtClean="0"/>
              <a:t>5.  </a:t>
            </a:r>
            <a:r>
              <a:rPr lang="zh-CN" altLang="en-US" smtClean="0"/>
              <a:t>时延带宽积</a:t>
            </a:r>
          </a:p>
        </p:txBody>
      </p:sp>
      <p:sp>
        <p:nvSpPr>
          <p:cNvPr id="59395" name="Rectangle 3"/>
          <p:cNvSpPr>
            <a:spLocks noChangeArrowheads="1"/>
          </p:cNvSpPr>
          <p:nvPr/>
        </p:nvSpPr>
        <p:spPr bwMode="auto">
          <a:xfrm>
            <a:off x="10795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396" name="AutoShape 37"/>
          <p:cNvSpPr>
            <a:spLocks noChangeArrowheads="1"/>
          </p:cNvSpPr>
          <p:nvPr/>
        </p:nvSpPr>
        <p:spPr bwMode="auto">
          <a:xfrm rot="-5400000">
            <a:off x="4484688" y="227013"/>
            <a:ext cx="1038225" cy="6626225"/>
          </a:xfrm>
          <a:prstGeom prst="can">
            <a:avLst>
              <a:gd name="adj" fmla="val 49847"/>
            </a:avLst>
          </a:prstGeom>
          <a:gradFill rotWithShape="1">
            <a:gsLst>
              <a:gs pos="0">
                <a:srgbClr val="004776"/>
              </a:gs>
              <a:gs pos="50000">
                <a:srgbClr val="0099FF"/>
              </a:gs>
              <a:gs pos="100000">
                <a:srgbClr val="0047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397" name="Line 38"/>
          <p:cNvSpPr>
            <a:spLocks noChangeShapeType="1"/>
          </p:cNvSpPr>
          <p:nvPr/>
        </p:nvSpPr>
        <p:spPr bwMode="auto">
          <a:xfrm>
            <a:off x="1908175" y="2781300"/>
            <a:ext cx="619283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398" name="Text Box 39"/>
          <p:cNvSpPr txBox="1">
            <a:spLocks noChangeArrowheads="1"/>
          </p:cNvSpPr>
          <p:nvPr/>
        </p:nvSpPr>
        <p:spPr bwMode="auto">
          <a:xfrm>
            <a:off x="3779838" y="2492375"/>
            <a:ext cx="20129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（传播）时延</a:t>
            </a:r>
          </a:p>
        </p:txBody>
      </p:sp>
      <p:sp>
        <p:nvSpPr>
          <p:cNvPr id="59399" name="Text Box 40"/>
          <p:cNvSpPr txBox="1">
            <a:spLocks noChangeArrowheads="1"/>
          </p:cNvSpPr>
          <p:nvPr/>
        </p:nvSpPr>
        <p:spPr bwMode="auto">
          <a:xfrm>
            <a:off x="4572000" y="3381375"/>
            <a:ext cx="793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链路</a:t>
            </a:r>
          </a:p>
        </p:txBody>
      </p:sp>
      <p:sp>
        <p:nvSpPr>
          <p:cNvPr id="59400" name="Text Box 41"/>
          <p:cNvSpPr txBox="1">
            <a:spLocks noChangeArrowheads="1"/>
          </p:cNvSpPr>
          <p:nvPr/>
        </p:nvSpPr>
        <p:spPr bwMode="auto">
          <a:xfrm>
            <a:off x="395288" y="2805113"/>
            <a:ext cx="793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带宽</a:t>
            </a:r>
          </a:p>
        </p:txBody>
      </p:sp>
      <p:sp>
        <p:nvSpPr>
          <p:cNvPr id="59401" name="Line 42"/>
          <p:cNvSpPr>
            <a:spLocks noChangeShapeType="1"/>
          </p:cNvSpPr>
          <p:nvPr/>
        </p:nvSpPr>
        <p:spPr bwMode="auto">
          <a:xfrm>
            <a:off x="827088" y="3236913"/>
            <a:ext cx="1081087" cy="2889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2" name="Text Box 43"/>
          <p:cNvSpPr txBox="1">
            <a:spLocks noChangeArrowheads="1"/>
          </p:cNvSpPr>
          <p:nvPr/>
        </p:nvSpPr>
        <p:spPr bwMode="auto">
          <a:xfrm>
            <a:off x="2603500" y="4605338"/>
            <a:ext cx="4354513" cy="528637"/>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2400">
                <a:solidFill>
                  <a:srgbClr val="333399"/>
                </a:solidFill>
                <a:latin typeface="Tahoma" pitchFamily="34" charset="0"/>
                <a:ea typeface="黑体" pitchFamily="49" charset="-122"/>
              </a:rPr>
              <a:t>时延带宽积 </a:t>
            </a:r>
            <a:r>
              <a:rPr lang="en-US" altLang="zh-CN" sz="2400">
                <a:solidFill>
                  <a:srgbClr val="333399"/>
                </a:solidFill>
                <a:latin typeface="Tahoma" pitchFamily="34" charset="0"/>
                <a:ea typeface="黑体" pitchFamily="49" charset="-122"/>
              </a:rPr>
              <a:t>= </a:t>
            </a:r>
            <a:r>
              <a:rPr lang="zh-CN" altLang="en-US" sz="2400">
                <a:solidFill>
                  <a:srgbClr val="333399"/>
                </a:solidFill>
                <a:latin typeface="Tahoma" pitchFamily="34" charset="0"/>
                <a:ea typeface="黑体" pitchFamily="49" charset="-122"/>
              </a:rPr>
              <a:t>传播时延 </a:t>
            </a:r>
            <a:r>
              <a:rPr lang="zh-CN" altLang="en-US" sz="2800" b="1">
                <a:solidFill>
                  <a:srgbClr val="333399"/>
                </a:solidFill>
                <a:latin typeface="Tahoma" pitchFamily="34" charset="0"/>
                <a:ea typeface="黑体" pitchFamily="49" charset="-122"/>
                <a:sym typeface="Symbol" pitchFamily="18" charset="2"/>
              </a:rPr>
              <a:t> </a:t>
            </a:r>
            <a:r>
              <a:rPr lang="zh-CN" altLang="en-US" sz="2400">
                <a:solidFill>
                  <a:srgbClr val="333399"/>
                </a:solidFill>
                <a:latin typeface="Tahoma" pitchFamily="34" charset="0"/>
                <a:ea typeface="黑体" pitchFamily="49" charset="-122"/>
                <a:sym typeface="Symbol" pitchFamily="18" charset="2"/>
              </a:rPr>
              <a:t>带宽</a:t>
            </a:r>
          </a:p>
        </p:txBody>
      </p:sp>
      <p:sp>
        <p:nvSpPr>
          <p:cNvPr id="93228" name="Rectangle 44"/>
          <p:cNvSpPr>
            <a:spLocks noGrp="1" noChangeArrowheads="1"/>
          </p:cNvSpPr>
          <p:nvPr>
            <p:ph type="body" idx="1"/>
          </p:nvPr>
        </p:nvSpPr>
        <p:spPr>
          <a:xfrm>
            <a:off x="1042988" y="5445125"/>
            <a:ext cx="7772400" cy="1152525"/>
          </a:xfrm>
        </p:spPr>
        <p:txBody>
          <a:bodyPr/>
          <a:lstStyle/>
          <a:p>
            <a:pPr eaLnBrk="1" hangingPunct="1"/>
            <a:r>
              <a:rPr lang="zh-CN" altLang="en-US" smtClean="0"/>
              <a:t>链路的时延带宽积又称为以</a:t>
            </a:r>
            <a:r>
              <a:rPr lang="zh-CN" altLang="en-US" smtClean="0">
                <a:solidFill>
                  <a:schemeClr val="hlink"/>
                </a:solidFill>
              </a:rPr>
              <a:t>比特</a:t>
            </a:r>
            <a:r>
              <a:rPr lang="zh-CN" altLang="en-US" smtClean="0"/>
              <a:t>为单位的链路长度。 </a:t>
            </a:r>
          </a:p>
        </p:txBody>
      </p:sp>
      <p:sp>
        <p:nvSpPr>
          <p:cNvPr id="59404" name="Text Box 45"/>
          <p:cNvSpPr txBox="1">
            <a:spLocks noChangeArrowheads="1"/>
          </p:cNvSpPr>
          <p:nvPr/>
        </p:nvSpPr>
        <p:spPr bwMode="auto">
          <a:xfrm>
            <a:off x="3708400" y="1841500"/>
            <a:ext cx="2225675" cy="588963"/>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rgbClr val="333399"/>
                </a:solidFill>
                <a:latin typeface="Tahoma" pitchFamily="34" charset="0"/>
                <a:ea typeface="黑体" pitchFamily="49" charset="-122"/>
              </a:rPr>
              <a:t>时延带宽积</a:t>
            </a:r>
          </a:p>
        </p:txBody>
      </p:sp>
      <p:sp>
        <p:nvSpPr>
          <p:cNvPr id="59405" name="Rectangle 46"/>
          <p:cNvSpPr>
            <a:spLocks noChangeArrowheads="1"/>
          </p:cNvSpPr>
          <p:nvPr/>
        </p:nvSpPr>
        <p:spPr bwMode="auto">
          <a:xfrm>
            <a:off x="5508625" y="6308725"/>
            <a:ext cx="183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folHlink"/>
              </a:buClr>
              <a:buSzPct val="60000"/>
              <a:buFont typeface="Wingdings" pitchFamily="2" charset="2"/>
              <a:buChar char="n"/>
            </a:pPr>
            <a:r>
              <a:rPr lang="zh-CN" altLang="en-US">
                <a:solidFill>
                  <a:srgbClr val="333399"/>
                </a:solidFill>
              </a:rPr>
              <a:t>习题</a:t>
            </a:r>
            <a:r>
              <a:rPr lang="en-US" altLang="zh-CN">
                <a:solidFill>
                  <a:srgbClr val="333399"/>
                </a:solidFill>
              </a:rPr>
              <a:t>1-18</a:t>
            </a:r>
            <a:r>
              <a:rPr lang="zh-CN" altLang="en-US">
                <a:solidFill>
                  <a:srgbClr val="333399"/>
                </a:solidFill>
              </a:rPr>
              <a:t>，</a:t>
            </a:r>
            <a:r>
              <a:rPr lang="en-US" altLang="zh-CN">
                <a:solidFill>
                  <a:srgbClr val="333399"/>
                </a:solidFill>
              </a:rPr>
              <a:t>P34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2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2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150938" y="214313"/>
            <a:ext cx="6734175" cy="1462087"/>
          </a:xfrm>
        </p:spPr>
        <p:txBody>
          <a:bodyPr/>
          <a:lstStyle/>
          <a:p>
            <a:pPr algn="ctr" eaLnBrk="1" hangingPunct="1"/>
            <a:r>
              <a:rPr lang="en-US" altLang="zh-CN" smtClean="0"/>
              <a:t>6. </a:t>
            </a:r>
            <a:r>
              <a:rPr lang="zh-CN" altLang="en-US" smtClean="0"/>
              <a:t>利用率</a:t>
            </a:r>
          </a:p>
        </p:txBody>
      </p:sp>
      <p:sp>
        <p:nvSpPr>
          <p:cNvPr id="60419" name="Rectangle 3"/>
          <p:cNvSpPr>
            <a:spLocks noGrp="1" noChangeArrowheads="1"/>
          </p:cNvSpPr>
          <p:nvPr>
            <p:ph type="body" idx="1"/>
          </p:nvPr>
        </p:nvSpPr>
        <p:spPr/>
        <p:txBody>
          <a:bodyPr/>
          <a:lstStyle/>
          <a:p>
            <a:pPr eaLnBrk="1" hangingPunct="1"/>
            <a:r>
              <a:rPr lang="zh-CN" altLang="en-US" smtClean="0">
                <a:solidFill>
                  <a:srgbClr val="CC0000"/>
                </a:solidFill>
              </a:rPr>
              <a:t>信道利用率</a:t>
            </a:r>
            <a:r>
              <a:rPr lang="zh-CN" altLang="en-US" smtClean="0"/>
              <a:t>指出某信道有百分之几的时间是被利用的（有数据通过）。完全空闲的信道的利用率是零。</a:t>
            </a:r>
          </a:p>
          <a:p>
            <a:pPr eaLnBrk="1" hangingPunct="1"/>
            <a:r>
              <a:rPr lang="zh-CN" altLang="en-US" smtClean="0">
                <a:solidFill>
                  <a:srgbClr val="CC0000"/>
                </a:solidFill>
              </a:rPr>
              <a:t>网络利用率</a:t>
            </a:r>
            <a:r>
              <a:rPr lang="zh-CN" altLang="en-US" smtClean="0"/>
              <a:t>则是全网络的信道利用率的加权平均值。</a:t>
            </a:r>
          </a:p>
          <a:p>
            <a:pPr eaLnBrk="1" hangingPunct="1"/>
            <a:r>
              <a:rPr lang="zh-CN" altLang="en-US" smtClean="0"/>
              <a:t>信道利用率并非越高越好。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50938" y="214313"/>
            <a:ext cx="7308850" cy="1462087"/>
          </a:xfrm>
        </p:spPr>
        <p:txBody>
          <a:bodyPr/>
          <a:lstStyle/>
          <a:p>
            <a:pPr algn="ctr" eaLnBrk="1" hangingPunct="1"/>
            <a:r>
              <a:rPr lang="zh-CN" altLang="en-US" smtClean="0"/>
              <a:t>时延与网络利用率的关系</a:t>
            </a:r>
          </a:p>
        </p:txBody>
      </p:sp>
      <p:sp>
        <p:nvSpPr>
          <p:cNvPr id="61443" name="Rectangle 3"/>
          <p:cNvSpPr>
            <a:spLocks noGrp="1" noChangeArrowheads="1"/>
          </p:cNvSpPr>
          <p:nvPr>
            <p:ph type="body" idx="1"/>
          </p:nvPr>
        </p:nvSpPr>
        <p:spPr>
          <a:xfrm>
            <a:off x="900113" y="1773238"/>
            <a:ext cx="7915275" cy="4114800"/>
          </a:xfrm>
        </p:spPr>
        <p:txBody>
          <a:bodyPr/>
          <a:lstStyle/>
          <a:p>
            <a:pPr eaLnBrk="1" hangingPunct="1"/>
            <a:r>
              <a:rPr lang="zh-CN" altLang="en-US" smtClean="0"/>
              <a:t>根据排队论的理论，当某信道的利用率增大时，该信道引起的时延也就迅速增加。 </a:t>
            </a:r>
          </a:p>
          <a:p>
            <a:pPr eaLnBrk="1" hangingPunct="1"/>
            <a:r>
              <a:rPr lang="zh-CN" altLang="en-US" smtClean="0"/>
              <a:t>若令 </a:t>
            </a:r>
            <a:r>
              <a:rPr lang="en-US" altLang="zh-CN" i="1" smtClean="0"/>
              <a:t>D</a:t>
            </a:r>
            <a:r>
              <a:rPr lang="en-US" altLang="zh-CN" baseline="-25000" smtClean="0"/>
              <a:t>0 </a:t>
            </a:r>
            <a:r>
              <a:rPr lang="zh-CN" altLang="en-US" smtClean="0"/>
              <a:t>表示网络空闲时的时延，</a:t>
            </a:r>
            <a:r>
              <a:rPr lang="en-US" altLang="zh-CN" i="1" smtClean="0"/>
              <a:t>D </a:t>
            </a:r>
            <a:r>
              <a:rPr lang="zh-CN" altLang="en-US" smtClean="0"/>
              <a:t>表示网络当前的时延，则在适当的假定条件下，可以用下面的简单公式表示 </a:t>
            </a:r>
            <a:r>
              <a:rPr lang="en-US" altLang="zh-CN" i="1" smtClean="0"/>
              <a:t>D </a:t>
            </a:r>
            <a:r>
              <a:rPr lang="zh-CN" altLang="en-US" smtClean="0"/>
              <a:t>和 </a:t>
            </a:r>
            <a:r>
              <a:rPr lang="en-US" altLang="zh-CN" i="1" smtClean="0"/>
              <a:t>D</a:t>
            </a:r>
            <a:r>
              <a:rPr lang="en-US" altLang="zh-CN" baseline="-25000" smtClean="0"/>
              <a:t>0</a:t>
            </a:r>
            <a:r>
              <a:rPr lang="zh-CN" altLang="en-US" smtClean="0"/>
              <a:t>之间的关系： </a:t>
            </a:r>
          </a:p>
        </p:txBody>
      </p:sp>
      <p:sp>
        <p:nvSpPr>
          <p:cNvPr id="61444" name="Rectangle 5"/>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61445" name="Object 4"/>
          <p:cNvGraphicFramePr>
            <a:graphicFrameLocks noChangeAspect="1"/>
          </p:cNvGraphicFramePr>
          <p:nvPr/>
        </p:nvGraphicFramePr>
        <p:xfrm>
          <a:off x="3851275" y="4724400"/>
          <a:ext cx="1692275" cy="1009650"/>
        </p:xfrm>
        <a:graphic>
          <a:graphicData uri="http://schemas.openxmlformats.org/presentationml/2006/ole">
            <mc:AlternateContent xmlns:mc="http://schemas.openxmlformats.org/markup-compatibility/2006">
              <mc:Choice xmlns:v="urn:schemas-microsoft-com:vml" Requires="v">
                <p:oleObj spid="_x0000_s61447" name="公式" r:id="rId4" imgW="660113" imgH="393529" progId="Equation.3">
                  <p:embed/>
                </p:oleObj>
              </mc:Choice>
              <mc:Fallback>
                <p:oleObj name="公式" r:id="rId4" imgW="660113" imgH="393529"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275" y="4724400"/>
                        <a:ext cx="169227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6" name="Rectangle 6"/>
          <p:cNvSpPr>
            <a:spLocks noChangeArrowheads="1"/>
          </p:cNvSpPr>
          <p:nvPr/>
        </p:nvSpPr>
        <p:spPr bwMode="auto">
          <a:xfrm>
            <a:off x="1338263" y="5805488"/>
            <a:ext cx="6762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800" i="1">
                <a:solidFill>
                  <a:schemeClr val="folHlink"/>
                </a:solidFill>
                <a:ea typeface="黑体" pitchFamily="49" charset="-122"/>
              </a:rPr>
              <a:t>U </a:t>
            </a:r>
            <a:r>
              <a:rPr lang="zh-CN" altLang="en-US" sz="2800">
                <a:solidFill>
                  <a:schemeClr val="folHlink"/>
                </a:solidFill>
                <a:ea typeface="黑体" pitchFamily="49" charset="-122"/>
              </a:rPr>
              <a:t>是网络的利用率，数值在 </a:t>
            </a:r>
            <a:r>
              <a:rPr lang="en-US" altLang="zh-CN" sz="2800">
                <a:solidFill>
                  <a:schemeClr val="folHlink"/>
                </a:solidFill>
                <a:ea typeface="黑体" pitchFamily="49" charset="-122"/>
              </a:rPr>
              <a:t>0 </a:t>
            </a:r>
            <a:r>
              <a:rPr lang="zh-CN" altLang="en-US" sz="2800">
                <a:solidFill>
                  <a:schemeClr val="folHlink"/>
                </a:solidFill>
                <a:ea typeface="黑体" pitchFamily="49" charset="-122"/>
              </a:rPr>
              <a:t>到 </a:t>
            </a:r>
            <a:r>
              <a:rPr lang="en-US" altLang="zh-CN" sz="2800">
                <a:solidFill>
                  <a:schemeClr val="folHlink"/>
                </a:solidFill>
                <a:ea typeface="黑体" pitchFamily="49" charset="-122"/>
              </a:rPr>
              <a:t>1 </a:t>
            </a:r>
            <a:r>
              <a:rPr lang="zh-CN" altLang="en-US" sz="2800">
                <a:solidFill>
                  <a:schemeClr val="folHlink"/>
                </a:solidFill>
                <a:ea typeface="黑体" pitchFamily="49" charset="-122"/>
              </a:rPr>
              <a:t>之间。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4"/>
          <p:cNvSpPr>
            <a:spLocks noChangeArrowheads="1"/>
          </p:cNvSpPr>
          <p:nvPr/>
        </p:nvSpPr>
        <p:spPr bwMode="auto">
          <a:xfrm>
            <a:off x="4360863" y="982663"/>
            <a:ext cx="1603375" cy="4186237"/>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67" name="Text Box 5"/>
          <p:cNvSpPr txBox="1">
            <a:spLocks noChangeArrowheads="1"/>
          </p:cNvSpPr>
          <p:nvPr/>
        </p:nvSpPr>
        <p:spPr bwMode="auto">
          <a:xfrm>
            <a:off x="487363" y="592138"/>
            <a:ext cx="13477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folHlink"/>
                </a:solidFill>
                <a:ea typeface="黑体" pitchFamily="49" charset="-122"/>
              </a:rPr>
              <a:t>时延</a:t>
            </a:r>
            <a:r>
              <a:rPr lang="zh-CN" altLang="en-US" sz="1600">
                <a:solidFill>
                  <a:schemeClr val="folHlink"/>
                </a:solidFill>
                <a:ea typeface="黑体" pitchFamily="49" charset="-122"/>
              </a:rPr>
              <a:t> </a:t>
            </a:r>
            <a:r>
              <a:rPr lang="en-US" altLang="zh-CN" sz="3200" i="1">
                <a:solidFill>
                  <a:schemeClr val="folHlink"/>
                </a:solidFill>
                <a:ea typeface="黑体" pitchFamily="49" charset="-122"/>
              </a:rPr>
              <a:t>D</a:t>
            </a:r>
          </a:p>
        </p:txBody>
      </p:sp>
      <p:sp>
        <p:nvSpPr>
          <p:cNvPr id="62468" name="Line 6"/>
          <p:cNvSpPr>
            <a:spLocks noChangeShapeType="1"/>
          </p:cNvSpPr>
          <p:nvPr/>
        </p:nvSpPr>
        <p:spPr bwMode="auto">
          <a:xfrm flipV="1">
            <a:off x="1895475" y="836613"/>
            <a:ext cx="0" cy="4332287"/>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69" name="Line 7"/>
          <p:cNvSpPr>
            <a:spLocks noChangeShapeType="1"/>
          </p:cNvSpPr>
          <p:nvPr/>
        </p:nvSpPr>
        <p:spPr bwMode="auto">
          <a:xfrm rot="5400000" flipV="1">
            <a:off x="4422775" y="2641600"/>
            <a:ext cx="0" cy="5054600"/>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70" name="Line 8"/>
          <p:cNvSpPr>
            <a:spLocks noChangeShapeType="1"/>
          </p:cNvSpPr>
          <p:nvPr/>
        </p:nvSpPr>
        <p:spPr bwMode="auto">
          <a:xfrm>
            <a:off x="5964238" y="836613"/>
            <a:ext cx="0" cy="4332287"/>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71" name="Arc 9"/>
          <p:cNvSpPr>
            <a:spLocks/>
          </p:cNvSpPr>
          <p:nvPr/>
        </p:nvSpPr>
        <p:spPr bwMode="auto">
          <a:xfrm flipV="1">
            <a:off x="1895475" y="982663"/>
            <a:ext cx="3981450" cy="3898900"/>
          </a:xfrm>
          <a:custGeom>
            <a:avLst/>
            <a:gdLst>
              <a:gd name="T0" fmla="*/ 0 w 21600"/>
              <a:gd name="T1" fmla="*/ 0 h 21612"/>
              <a:gd name="T2" fmla="*/ 2147483647 w 21600"/>
              <a:gd name="T3" fmla="*/ 2147483647 h 21612"/>
              <a:gd name="T4" fmla="*/ 0 w 21600"/>
              <a:gd name="T5" fmla="*/ 2147483647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lnTo>
                  <a:pt x="-1" y="0"/>
                </a:lnTo>
                <a:close/>
              </a:path>
            </a:pathLst>
          </a:custGeom>
          <a:noFill/>
          <a:ln w="762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2" name="Text Box 10"/>
          <p:cNvSpPr txBox="1">
            <a:spLocks noChangeArrowheads="1"/>
          </p:cNvSpPr>
          <p:nvPr/>
        </p:nvSpPr>
        <p:spPr bwMode="auto">
          <a:xfrm>
            <a:off x="6580188" y="4552950"/>
            <a:ext cx="17541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folHlink"/>
                </a:solidFill>
                <a:ea typeface="黑体" pitchFamily="49" charset="-122"/>
              </a:rPr>
              <a:t>利用率</a:t>
            </a:r>
            <a:r>
              <a:rPr lang="zh-CN" altLang="en-US" sz="1600">
                <a:solidFill>
                  <a:schemeClr val="folHlink"/>
                </a:solidFill>
                <a:ea typeface="黑体" pitchFamily="49" charset="-122"/>
              </a:rPr>
              <a:t> </a:t>
            </a:r>
            <a:r>
              <a:rPr lang="en-US" altLang="zh-CN" sz="3200" i="1">
                <a:solidFill>
                  <a:schemeClr val="folHlink"/>
                </a:solidFill>
                <a:ea typeface="黑体" pitchFamily="49" charset="-122"/>
              </a:rPr>
              <a:t>U</a:t>
            </a:r>
          </a:p>
        </p:txBody>
      </p:sp>
      <p:sp>
        <p:nvSpPr>
          <p:cNvPr id="62473" name="Text Box 11"/>
          <p:cNvSpPr txBox="1">
            <a:spLocks noChangeArrowheads="1"/>
          </p:cNvSpPr>
          <p:nvPr/>
        </p:nvSpPr>
        <p:spPr bwMode="auto">
          <a:xfrm>
            <a:off x="5719763" y="5154613"/>
            <a:ext cx="409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solidFill>
                  <a:schemeClr val="folHlink"/>
                </a:solidFill>
                <a:ea typeface="黑体" pitchFamily="49" charset="-122"/>
              </a:rPr>
              <a:t>1</a:t>
            </a:r>
            <a:endParaRPr lang="en-US" altLang="zh-CN" sz="3200" i="1">
              <a:solidFill>
                <a:schemeClr val="folHlink"/>
              </a:solidFill>
              <a:ea typeface="黑体" pitchFamily="49" charset="-122"/>
            </a:endParaRPr>
          </a:p>
        </p:txBody>
      </p:sp>
      <p:sp>
        <p:nvSpPr>
          <p:cNvPr id="62474" name="Text Box 12"/>
          <p:cNvSpPr txBox="1">
            <a:spLocks noChangeArrowheads="1"/>
          </p:cNvSpPr>
          <p:nvPr/>
        </p:nvSpPr>
        <p:spPr bwMode="auto">
          <a:xfrm>
            <a:off x="1570038" y="5084763"/>
            <a:ext cx="409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a:solidFill>
                  <a:schemeClr val="folHlink"/>
                </a:solidFill>
                <a:ea typeface="黑体" pitchFamily="49" charset="-122"/>
              </a:rPr>
              <a:t>0</a:t>
            </a:r>
            <a:endParaRPr lang="en-US" altLang="zh-CN" sz="3200" i="1">
              <a:solidFill>
                <a:schemeClr val="folHlink"/>
              </a:solidFill>
              <a:ea typeface="黑体" pitchFamily="49" charset="-122"/>
            </a:endParaRPr>
          </a:p>
        </p:txBody>
      </p:sp>
      <p:sp>
        <p:nvSpPr>
          <p:cNvPr id="62475" name="Text Box 13"/>
          <p:cNvSpPr txBox="1">
            <a:spLocks noChangeArrowheads="1"/>
          </p:cNvSpPr>
          <p:nvPr/>
        </p:nvSpPr>
        <p:spPr bwMode="auto">
          <a:xfrm>
            <a:off x="1282700" y="4483100"/>
            <a:ext cx="6254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en-US" altLang="zh-CN" sz="3200" i="1">
                <a:solidFill>
                  <a:schemeClr val="folHlink"/>
                </a:solidFill>
                <a:ea typeface="黑体" pitchFamily="49" charset="-122"/>
              </a:rPr>
              <a:t>D</a:t>
            </a:r>
            <a:r>
              <a:rPr lang="en-US" altLang="zh-CN" sz="3200" baseline="-25000">
                <a:solidFill>
                  <a:schemeClr val="folHlink"/>
                </a:solidFill>
                <a:ea typeface="黑体" pitchFamily="49" charset="-122"/>
              </a:rPr>
              <a:t>0</a:t>
            </a:r>
            <a:endParaRPr lang="en-US" altLang="zh-CN" sz="3200" i="1" baseline="-25000">
              <a:solidFill>
                <a:schemeClr val="folHlink"/>
              </a:solidFill>
              <a:ea typeface="黑体" pitchFamily="49" charset="-122"/>
            </a:endParaRPr>
          </a:p>
        </p:txBody>
      </p:sp>
      <p:sp>
        <p:nvSpPr>
          <p:cNvPr id="62476" name="Text Box 14"/>
          <p:cNvSpPr txBox="1">
            <a:spLocks noChangeArrowheads="1"/>
          </p:cNvSpPr>
          <p:nvPr/>
        </p:nvSpPr>
        <p:spPr bwMode="auto">
          <a:xfrm>
            <a:off x="4583113" y="1058863"/>
            <a:ext cx="99695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folHlink"/>
                </a:solidFill>
                <a:ea typeface="黑体" pitchFamily="49" charset="-122"/>
              </a:rPr>
              <a:t>时延</a:t>
            </a:r>
          </a:p>
          <a:p>
            <a:pPr eaLnBrk="1" hangingPunct="1"/>
            <a:r>
              <a:rPr lang="zh-CN" altLang="en-US" sz="3200">
                <a:solidFill>
                  <a:schemeClr val="folHlink"/>
                </a:solidFill>
                <a:ea typeface="黑体" pitchFamily="49" charset="-122"/>
              </a:rPr>
              <a:t>急剧</a:t>
            </a:r>
          </a:p>
          <a:p>
            <a:pPr eaLnBrk="1" hangingPunct="1"/>
            <a:r>
              <a:rPr lang="zh-CN" altLang="en-US" sz="3200">
                <a:solidFill>
                  <a:schemeClr val="folHlink"/>
                </a:solidFill>
                <a:ea typeface="黑体" pitchFamily="49" charset="-122"/>
              </a:rPr>
              <a:t>增大</a:t>
            </a:r>
            <a:endParaRPr lang="zh-CN" altLang="en-US" sz="3200" i="1">
              <a:solidFill>
                <a:schemeClr val="folHlink"/>
              </a:solidFill>
              <a:ea typeface="黑体"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68313" y="214313"/>
            <a:ext cx="8675687" cy="1462087"/>
          </a:xfrm>
        </p:spPr>
        <p:txBody>
          <a:bodyPr/>
          <a:lstStyle/>
          <a:p>
            <a:pPr algn="ctr" eaLnBrk="1" hangingPunct="1"/>
            <a:r>
              <a:rPr lang="en-US" altLang="zh-CN" smtClean="0"/>
              <a:t>1.7  </a:t>
            </a:r>
            <a:r>
              <a:rPr lang="zh-CN" altLang="en-US" smtClean="0"/>
              <a:t>计算机网络的体系结构</a:t>
            </a:r>
            <a:br>
              <a:rPr lang="zh-CN" altLang="en-US" smtClean="0"/>
            </a:br>
            <a:r>
              <a:rPr lang="en-US" altLang="zh-CN" sz="3600" smtClean="0"/>
              <a:t>1.7.1  </a:t>
            </a:r>
            <a:r>
              <a:rPr lang="zh-CN" altLang="en-US" sz="3600" smtClean="0"/>
              <a:t>计算机网络体系结构的形成</a:t>
            </a:r>
          </a:p>
        </p:txBody>
      </p:sp>
      <p:sp>
        <p:nvSpPr>
          <p:cNvPr id="100355" name="Rectangle 3"/>
          <p:cNvSpPr>
            <a:spLocks noGrp="1" noChangeArrowheads="1"/>
          </p:cNvSpPr>
          <p:nvPr>
            <p:ph type="body" idx="1"/>
          </p:nvPr>
        </p:nvSpPr>
        <p:spPr>
          <a:xfrm>
            <a:off x="1042988" y="1978025"/>
            <a:ext cx="7772400" cy="4114800"/>
          </a:xfrm>
        </p:spPr>
        <p:txBody>
          <a:bodyPr/>
          <a:lstStyle/>
          <a:p>
            <a:pPr eaLnBrk="1" hangingPunct="1"/>
            <a:r>
              <a:rPr lang="zh-CN" altLang="en-US" smtClean="0"/>
              <a:t>相互通信的两个计算机系统必须</a:t>
            </a:r>
            <a:r>
              <a:rPr lang="zh-CN" altLang="en-US" smtClean="0">
                <a:solidFill>
                  <a:schemeClr val="hlink"/>
                </a:solidFill>
              </a:rPr>
              <a:t>高度协调工作</a:t>
            </a:r>
            <a:r>
              <a:rPr lang="zh-CN" altLang="en-US" smtClean="0"/>
              <a:t>才行，而这种“协调”是相当复杂的。 </a:t>
            </a:r>
          </a:p>
          <a:p>
            <a:pPr eaLnBrk="1" hangingPunct="1"/>
            <a:r>
              <a:rPr lang="zh-CN" altLang="en-US" smtClean="0"/>
              <a:t>“</a:t>
            </a:r>
            <a:r>
              <a:rPr lang="zh-CN" altLang="en-US" smtClean="0">
                <a:solidFill>
                  <a:schemeClr val="hlink"/>
                </a:solidFill>
              </a:rPr>
              <a:t>分层</a:t>
            </a:r>
            <a:r>
              <a:rPr lang="zh-CN" altLang="en-US" smtClean="0"/>
              <a:t>”可将庞大而复杂的问题，转化为若干较小的局部问题，而这些较小的局部问题就比较易于研究和处理。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关于开放系统互连参考模型</a:t>
            </a:r>
            <a:br>
              <a:rPr lang="zh-CN" altLang="en-US" smtClean="0"/>
            </a:br>
            <a:r>
              <a:rPr lang="en-US" altLang="zh-CN" smtClean="0"/>
              <a:t>OSI/RM</a:t>
            </a:r>
          </a:p>
        </p:txBody>
      </p:sp>
      <p:sp>
        <p:nvSpPr>
          <p:cNvPr id="171011" name="Rectangle 3"/>
          <p:cNvSpPr>
            <a:spLocks noGrp="1" noChangeArrowheads="1"/>
          </p:cNvSpPr>
          <p:nvPr>
            <p:ph type="body" idx="1"/>
          </p:nvPr>
        </p:nvSpPr>
        <p:spPr>
          <a:xfrm>
            <a:off x="1042988" y="1978025"/>
            <a:ext cx="7772400" cy="4475163"/>
          </a:xfrm>
        </p:spPr>
        <p:txBody>
          <a:bodyPr/>
          <a:lstStyle/>
          <a:p>
            <a:pPr eaLnBrk="1" hangingPunct="1"/>
            <a:r>
              <a:rPr lang="zh-CN" altLang="en-US" sz="2800" smtClean="0"/>
              <a:t>只要遵循 </a:t>
            </a:r>
            <a:r>
              <a:rPr lang="en-US" altLang="zh-CN" sz="2800" smtClean="0"/>
              <a:t>OSI </a:t>
            </a:r>
            <a:r>
              <a:rPr lang="zh-CN" altLang="en-US" sz="2800" smtClean="0"/>
              <a:t>标准，一个系统就可以和位于世界上任何地方的、也遵循这同一标准的其他任何系统进行通信。</a:t>
            </a:r>
          </a:p>
          <a:p>
            <a:pPr eaLnBrk="1" hangingPunct="1"/>
            <a:r>
              <a:rPr lang="zh-CN" altLang="en-US" sz="2800" smtClean="0"/>
              <a:t>在市场化方面 </a:t>
            </a:r>
            <a:r>
              <a:rPr lang="en-US" altLang="zh-CN" sz="2800" smtClean="0"/>
              <a:t>OSI </a:t>
            </a:r>
            <a:r>
              <a:rPr lang="zh-CN" altLang="en-US" sz="2800" smtClean="0"/>
              <a:t>却失败了。</a:t>
            </a:r>
          </a:p>
          <a:p>
            <a:pPr lvl="1" eaLnBrk="1" hangingPunct="1"/>
            <a:r>
              <a:rPr lang="en-US" altLang="zh-CN" sz="2400" smtClean="0">
                <a:solidFill>
                  <a:srgbClr val="333399"/>
                </a:solidFill>
                <a:latin typeface="Arial" pitchFamily="34" charset="0"/>
                <a:ea typeface="黑体" pitchFamily="49" charset="-122"/>
              </a:rPr>
              <a:t>OSI </a:t>
            </a:r>
            <a:r>
              <a:rPr lang="zh-CN" altLang="en-US" sz="2400" smtClean="0">
                <a:solidFill>
                  <a:srgbClr val="333399"/>
                </a:solidFill>
                <a:latin typeface="Arial" pitchFamily="34" charset="0"/>
                <a:ea typeface="黑体" pitchFamily="49" charset="-122"/>
              </a:rPr>
              <a:t>的专家们在完成 </a:t>
            </a:r>
            <a:r>
              <a:rPr lang="en-US" altLang="zh-CN" sz="2400" smtClean="0">
                <a:solidFill>
                  <a:srgbClr val="333399"/>
                </a:solidFill>
                <a:latin typeface="Arial" pitchFamily="34" charset="0"/>
                <a:ea typeface="黑体" pitchFamily="49" charset="-122"/>
              </a:rPr>
              <a:t>OSI </a:t>
            </a:r>
            <a:r>
              <a:rPr lang="zh-CN" altLang="en-US" sz="2400" smtClean="0">
                <a:solidFill>
                  <a:srgbClr val="333399"/>
                </a:solidFill>
                <a:latin typeface="Arial" pitchFamily="34" charset="0"/>
                <a:ea typeface="黑体" pitchFamily="49" charset="-122"/>
              </a:rPr>
              <a:t>标准时没有商业驱动力；</a:t>
            </a:r>
          </a:p>
          <a:p>
            <a:pPr lvl="1" eaLnBrk="1" hangingPunct="1"/>
            <a:r>
              <a:rPr lang="en-US" altLang="zh-CN" sz="2400" smtClean="0">
                <a:solidFill>
                  <a:srgbClr val="333399"/>
                </a:solidFill>
                <a:latin typeface="Arial" pitchFamily="34" charset="0"/>
                <a:ea typeface="黑体" pitchFamily="49" charset="-122"/>
              </a:rPr>
              <a:t>OSI </a:t>
            </a:r>
            <a:r>
              <a:rPr lang="zh-CN" altLang="en-US" sz="2400" smtClean="0">
                <a:solidFill>
                  <a:srgbClr val="333399"/>
                </a:solidFill>
                <a:latin typeface="Arial" pitchFamily="34" charset="0"/>
                <a:ea typeface="黑体" pitchFamily="49" charset="-122"/>
              </a:rPr>
              <a:t>的协议实现起来过分复杂，且运行效率很低；</a:t>
            </a:r>
          </a:p>
          <a:p>
            <a:pPr lvl="1" eaLnBrk="1" hangingPunct="1"/>
            <a:r>
              <a:rPr lang="en-US" altLang="zh-CN" sz="2400" smtClean="0">
                <a:solidFill>
                  <a:srgbClr val="333399"/>
                </a:solidFill>
                <a:latin typeface="Arial" pitchFamily="34" charset="0"/>
                <a:ea typeface="黑体" pitchFamily="49" charset="-122"/>
              </a:rPr>
              <a:t>OSI </a:t>
            </a:r>
            <a:r>
              <a:rPr lang="zh-CN" altLang="en-US" sz="2400" smtClean="0">
                <a:solidFill>
                  <a:srgbClr val="333399"/>
                </a:solidFill>
                <a:latin typeface="Arial" pitchFamily="34" charset="0"/>
                <a:ea typeface="黑体" pitchFamily="49" charset="-122"/>
              </a:rPr>
              <a:t>标准的制定周期太长，因而使得按 </a:t>
            </a:r>
            <a:r>
              <a:rPr lang="en-US" altLang="zh-CN" sz="2400" smtClean="0">
                <a:solidFill>
                  <a:srgbClr val="333399"/>
                </a:solidFill>
                <a:latin typeface="Arial" pitchFamily="34" charset="0"/>
                <a:ea typeface="黑体" pitchFamily="49" charset="-122"/>
              </a:rPr>
              <a:t>OSI </a:t>
            </a:r>
            <a:r>
              <a:rPr lang="zh-CN" altLang="en-US" sz="2400" smtClean="0">
                <a:solidFill>
                  <a:srgbClr val="333399"/>
                </a:solidFill>
                <a:latin typeface="Arial" pitchFamily="34" charset="0"/>
                <a:ea typeface="黑体" pitchFamily="49" charset="-122"/>
              </a:rPr>
              <a:t>标准生产的设备无法及时进入市场；</a:t>
            </a:r>
          </a:p>
          <a:p>
            <a:pPr lvl="1" eaLnBrk="1" hangingPunct="1"/>
            <a:r>
              <a:rPr lang="en-US" altLang="zh-CN" sz="2400" smtClean="0">
                <a:solidFill>
                  <a:srgbClr val="333399"/>
                </a:solidFill>
                <a:latin typeface="Arial" pitchFamily="34" charset="0"/>
                <a:ea typeface="黑体" pitchFamily="49" charset="-122"/>
              </a:rPr>
              <a:t>OSI </a:t>
            </a:r>
            <a:r>
              <a:rPr lang="zh-CN" altLang="en-US" sz="2400" smtClean="0">
                <a:solidFill>
                  <a:srgbClr val="333399"/>
                </a:solidFill>
                <a:latin typeface="Arial" pitchFamily="34" charset="0"/>
                <a:ea typeface="黑体" pitchFamily="49" charset="-122"/>
              </a:rPr>
              <a:t>的层次划分并也不太合理，有些功能在多个层次中重复出现。</a:t>
            </a:r>
            <a:r>
              <a:rPr lang="zh-CN" altLang="en-US" sz="24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1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1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两种国际标准</a:t>
            </a:r>
          </a:p>
        </p:txBody>
      </p:sp>
      <p:sp>
        <p:nvSpPr>
          <p:cNvPr id="172035" name="Rectangle 3"/>
          <p:cNvSpPr>
            <a:spLocks noGrp="1" noChangeArrowheads="1"/>
          </p:cNvSpPr>
          <p:nvPr>
            <p:ph type="body" idx="1"/>
          </p:nvPr>
        </p:nvSpPr>
        <p:spPr>
          <a:xfrm>
            <a:off x="1042988" y="1978025"/>
            <a:ext cx="7772400" cy="4114800"/>
          </a:xfrm>
        </p:spPr>
        <p:txBody>
          <a:bodyPr/>
          <a:lstStyle/>
          <a:p>
            <a:pPr eaLnBrk="1" hangingPunct="1"/>
            <a:r>
              <a:rPr lang="zh-CN" altLang="en-US" smtClean="0"/>
              <a:t>法律上的</a:t>
            </a:r>
            <a:r>
              <a:rPr lang="en-US" altLang="zh-CN" smtClean="0"/>
              <a:t>(</a:t>
            </a:r>
            <a:r>
              <a:rPr lang="en-US" altLang="zh-CN" i="1" smtClean="0"/>
              <a:t>de jure</a:t>
            </a:r>
            <a:r>
              <a:rPr lang="en-US" altLang="zh-CN" smtClean="0"/>
              <a:t>)</a:t>
            </a:r>
            <a:r>
              <a:rPr lang="zh-CN" altLang="en-US" smtClean="0"/>
              <a:t>国际标准 </a:t>
            </a:r>
            <a:r>
              <a:rPr lang="en-US" altLang="zh-CN" smtClean="0"/>
              <a:t>OSI </a:t>
            </a:r>
            <a:r>
              <a:rPr lang="zh-CN" altLang="en-US" smtClean="0"/>
              <a:t>并没有得到市场的认可。</a:t>
            </a:r>
          </a:p>
          <a:p>
            <a:pPr eaLnBrk="1" hangingPunct="1"/>
            <a:r>
              <a:rPr lang="zh-CN" altLang="en-US" smtClean="0"/>
              <a:t>是非国际标准 </a:t>
            </a:r>
            <a:r>
              <a:rPr lang="en-US" altLang="zh-CN" smtClean="0"/>
              <a:t>TCP/IP </a:t>
            </a:r>
            <a:r>
              <a:rPr lang="zh-CN" altLang="en-US" smtClean="0"/>
              <a:t>现在获得了最广泛的应用。</a:t>
            </a:r>
          </a:p>
          <a:p>
            <a:pPr lvl="1" eaLnBrk="1" hangingPunct="1"/>
            <a:r>
              <a:rPr lang="en-US" altLang="zh-CN" smtClean="0">
                <a:solidFill>
                  <a:srgbClr val="333399"/>
                </a:solidFill>
                <a:latin typeface="Arial" pitchFamily="34" charset="0"/>
                <a:ea typeface="黑体" pitchFamily="49" charset="-122"/>
              </a:rPr>
              <a:t>TCP/IP </a:t>
            </a:r>
            <a:r>
              <a:rPr lang="zh-CN" altLang="en-US" smtClean="0">
                <a:solidFill>
                  <a:srgbClr val="333399"/>
                </a:solidFill>
                <a:latin typeface="Arial" pitchFamily="34" charset="0"/>
                <a:ea typeface="黑体" pitchFamily="49" charset="-122"/>
              </a:rPr>
              <a:t>常被称为</a:t>
            </a:r>
            <a:r>
              <a:rPr lang="zh-CN" altLang="en-US" smtClean="0">
                <a:solidFill>
                  <a:schemeClr val="hlink"/>
                </a:solidFill>
                <a:latin typeface="Arial" pitchFamily="34" charset="0"/>
                <a:ea typeface="黑体" pitchFamily="49" charset="-122"/>
              </a:rPr>
              <a:t>事实上的</a:t>
            </a:r>
            <a:r>
              <a:rPr lang="en-US" altLang="zh-CN" smtClean="0">
                <a:solidFill>
                  <a:schemeClr val="hlink"/>
                </a:solidFill>
                <a:latin typeface="Arial" pitchFamily="34" charset="0"/>
                <a:ea typeface="黑体" pitchFamily="49" charset="-122"/>
              </a:rPr>
              <a:t>(</a:t>
            </a:r>
            <a:r>
              <a:rPr lang="en-US" altLang="zh-CN" i="1" smtClean="0">
                <a:solidFill>
                  <a:schemeClr val="hlink"/>
                </a:solidFill>
                <a:latin typeface="Arial" pitchFamily="34" charset="0"/>
                <a:ea typeface="黑体" pitchFamily="49" charset="-122"/>
              </a:rPr>
              <a:t>de facto</a:t>
            </a:r>
            <a:r>
              <a:rPr lang="en-US" altLang="zh-CN" smtClean="0">
                <a:solidFill>
                  <a:schemeClr val="hlink"/>
                </a:solidFill>
                <a:latin typeface="Arial" pitchFamily="34" charset="0"/>
                <a:ea typeface="黑体" pitchFamily="49" charset="-122"/>
              </a:rPr>
              <a:t>) </a:t>
            </a:r>
            <a:r>
              <a:rPr lang="zh-CN" altLang="en-US" smtClean="0">
                <a:solidFill>
                  <a:schemeClr val="hlink"/>
                </a:solidFill>
                <a:latin typeface="Arial" pitchFamily="34" charset="0"/>
                <a:ea typeface="黑体" pitchFamily="49" charset="-122"/>
              </a:rPr>
              <a:t>国际标准</a:t>
            </a:r>
            <a:r>
              <a:rPr lang="zh-CN" altLang="en-US" smtClean="0">
                <a:solidFill>
                  <a:srgbClr val="333399"/>
                </a:solidFill>
                <a:latin typeface="Arial" pitchFamily="34" charset="0"/>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2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20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150938" y="214313"/>
            <a:ext cx="7165975" cy="1462087"/>
          </a:xfrm>
        </p:spPr>
        <p:txBody>
          <a:bodyPr/>
          <a:lstStyle/>
          <a:p>
            <a:pPr algn="ctr" eaLnBrk="1" hangingPunct="1"/>
            <a:r>
              <a:rPr lang="zh-CN" altLang="en-US" smtClean="0"/>
              <a:t>基本概念</a:t>
            </a:r>
          </a:p>
        </p:txBody>
      </p:sp>
      <p:sp>
        <p:nvSpPr>
          <p:cNvPr id="102403" name="Rectangle 3"/>
          <p:cNvSpPr>
            <a:spLocks noGrp="1" noChangeArrowheads="1"/>
          </p:cNvSpPr>
          <p:nvPr>
            <p:ph type="body" idx="1"/>
          </p:nvPr>
        </p:nvSpPr>
        <p:spPr>
          <a:xfrm>
            <a:off x="1042988" y="1978025"/>
            <a:ext cx="7772400" cy="4114800"/>
          </a:xfrm>
        </p:spPr>
        <p:txBody>
          <a:bodyPr/>
          <a:lstStyle/>
          <a:p>
            <a:pPr eaLnBrk="1" hangingPunct="1"/>
            <a:r>
              <a:rPr lang="zh-CN" altLang="en-US" smtClean="0"/>
              <a:t>网络协议的定义：为计算机网络中进行数据交换而建立的规则、标准或约定的集合。</a:t>
            </a:r>
          </a:p>
          <a:p>
            <a:pPr eaLnBrk="1" hangingPunct="1"/>
            <a:r>
              <a:rPr lang="zh-CN" altLang="en-US" smtClean="0"/>
              <a:t>计算机网络的</a:t>
            </a:r>
            <a:r>
              <a:rPr lang="zh-CN" altLang="en-US" smtClean="0">
                <a:solidFill>
                  <a:schemeClr val="hlink"/>
                </a:solidFill>
              </a:rPr>
              <a:t>体系结构</a:t>
            </a:r>
            <a:r>
              <a:rPr lang="en-US" altLang="zh-CN" smtClean="0"/>
              <a:t>(architecture)</a:t>
            </a:r>
            <a:r>
              <a:rPr lang="zh-CN" altLang="en-US" smtClean="0"/>
              <a:t>是计算机网络的各层及其协议的集合。 </a:t>
            </a:r>
          </a:p>
          <a:p>
            <a:pPr eaLnBrk="1" hangingPunct="1"/>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algn="ctr" eaLnBrk="1" hangingPunct="1"/>
            <a:r>
              <a:rPr lang="zh-CN" altLang="en-US" smtClean="0"/>
              <a:t>五层协议的体系结构 </a:t>
            </a:r>
          </a:p>
        </p:txBody>
      </p:sp>
      <p:sp>
        <p:nvSpPr>
          <p:cNvPr id="114691" name="Rectangle 3"/>
          <p:cNvSpPr>
            <a:spLocks noGrp="1" noChangeArrowheads="1"/>
          </p:cNvSpPr>
          <p:nvPr>
            <p:ph type="body" idx="1"/>
          </p:nvPr>
        </p:nvSpPr>
        <p:spPr>
          <a:xfrm>
            <a:off x="3276600" y="2349500"/>
            <a:ext cx="5395913" cy="3167063"/>
          </a:xfrm>
        </p:spPr>
        <p:txBody>
          <a:bodyPr/>
          <a:lstStyle/>
          <a:p>
            <a:pPr eaLnBrk="1" hangingPunct="1">
              <a:lnSpc>
                <a:spcPct val="105000"/>
              </a:lnSpc>
            </a:pPr>
            <a:r>
              <a:rPr lang="zh-CN" altLang="en-US" smtClean="0"/>
              <a:t>应用层</a:t>
            </a:r>
            <a:r>
              <a:rPr lang="en-US" altLang="zh-CN" smtClean="0"/>
              <a:t>(application layer) </a:t>
            </a:r>
          </a:p>
          <a:p>
            <a:pPr eaLnBrk="1" hangingPunct="1">
              <a:lnSpc>
                <a:spcPct val="105000"/>
              </a:lnSpc>
            </a:pPr>
            <a:r>
              <a:rPr lang="zh-CN" altLang="en-US" smtClean="0"/>
              <a:t>运输层</a:t>
            </a:r>
            <a:r>
              <a:rPr lang="en-US" altLang="zh-CN" smtClean="0"/>
              <a:t>(transport layer) </a:t>
            </a:r>
          </a:p>
          <a:p>
            <a:pPr eaLnBrk="1" hangingPunct="1">
              <a:lnSpc>
                <a:spcPct val="105000"/>
              </a:lnSpc>
            </a:pPr>
            <a:r>
              <a:rPr lang="zh-CN" altLang="en-US" smtClean="0"/>
              <a:t>网络层</a:t>
            </a:r>
            <a:r>
              <a:rPr lang="en-US" altLang="zh-CN" smtClean="0"/>
              <a:t>(network layer) </a:t>
            </a:r>
          </a:p>
          <a:p>
            <a:pPr eaLnBrk="1" hangingPunct="1">
              <a:lnSpc>
                <a:spcPct val="105000"/>
              </a:lnSpc>
            </a:pPr>
            <a:r>
              <a:rPr lang="zh-CN" altLang="en-US" smtClean="0"/>
              <a:t>数据链路层</a:t>
            </a:r>
            <a:r>
              <a:rPr lang="en-US" altLang="zh-CN" smtClean="0"/>
              <a:t>(data link layer) </a:t>
            </a:r>
          </a:p>
          <a:p>
            <a:pPr eaLnBrk="1" hangingPunct="1">
              <a:lnSpc>
                <a:spcPct val="105000"/>
              </a:lnSpc>
            </a:pPr>
            <a:r>
              <a:rPr lang="zh-CN" altLang="en-US" smtClean="0"/>
              <a:t>物理层</a:t>
            </a:r>
            <a:r>
              <a:rPr lang="en-US" altLang="zh-CN" smtClean="0"/>
              <a:t>(physical layer) </a:t>
            </a:r>
          </a:p>
        </p:txBody>
      </p:sp>
      <p:sp>
        <p:nvSpPr>
          <p:cNvPr id="67588" name="Text Box 4"/>
          <p:cNvSpPr txBox="1">
            <a:spLocks noChangeArrowheads="1"/>
          </p:cNvSpPr>
          <p:nvPr/>
        </p:nvSpPr>
        <p:spPr bwMode="auto">
          <a:xfrm>
            <a:off x="1319213" y="4318000"/>
            <a:ext cx="1200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1600">
                <a:latin typeface="Times New Roman" pitchFamily="18" charset="0"/>
              </a:rPr>
              <a:t>数据链路层</a:t>
            </a:r>
          </a:p>
        </p:txBody>
      </p:sp>
      <p:grpSp>
        <p:nvGrpSpPr>
          <p:cNvPr id="67589" name="Group 5"/>
          <p:cNvGrpSpPr>
            <a:grpSpLocks/>
          </p:cNvGrpSpPr>
          <p:nvPr/>
        </p:nvGrpSpPr>
        <p:grpSpPr bwMode="auto">
          <a:xfrm>
            <a:off x="1068388" y="2205038"/>
            <a:ext cx="1919287" cy="3240087"/>
            <a:chOff x="673" y="1389"/>
            <a:chExt cx="1535" cy="2041"/>
          </a:xfrm>
        </p:grpSpPr>
        <p:sp>
          <p:nvSpPr>
            <p:cNvPr id="67595" name="AutoShape 6"/>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6" name="Freeform 7"/>
            <p:cNvSpPr>
              <a:spLocks/>
            </p:cNvSpPr>
            <p:nvPr/>
          </p:nvSpPr>
          <p:spPr bwMode="auto">
            <a:xfrm>
              <a:off x="673" y="2920"/>
              <a:ext cx="1535" cy="134"/>
            </a:xfrm>
            <a:custGeom>
              <a:avLst/>
              <a:gdLst>
                <a:gd name="T0" fmla="*/ 0 w 1200"/>
                <a:gd name="T1" fmla="*/ 210 h 120"/>
                <a:gd name="T2" fmla="*/ 3701 w 1200"/>
                <a:gd name="T3" fmla="*/ 210 h 120"/>
                <a:gd name="T4" fmla="*/ 4110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7" name="Freeform 8"/>
            <p:cNvSpPr>
              <a:spLocks/>
            </p:cNvSpPr>
            <p:nvPr/>
          </p:nvSpPr>
          <p:spPr bwMode="auto">
            <a:xfrm>
              <a:off x="673" y="2530"/>
              <a:ext cx="1535" cy="134"/>
            </a:xfrm>
            <a:custGeom>
              <a:avLst/>
              <a:gdLst>
                <a:gd name="T0" fmla="*/ 0 w 1200"/>
                <a:gd name="T1" fmla="*/ 210 h 120"/>
                <a:gd name="T2" fmla="*/ 3701 w 1200"/>
                <a:gd name="T3" fmla="*/ 210 h 120"/>
                <a:gd name="T4" fmla="*/ 4110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8" name="Freeform 9"/>
            <p:cNvSpPr>
              <a:spLocks/>
            </p:cNvSpPr>
            <p:nvPr/>
          </p:nvSpPr>
          <p:spPr bwMode="auto">
            <a:xfrm>
              <a:off x="673" y="2147"/>
              <a:ext cx="1535" cy="135"/>
            </a:xfrm>
            <a:custGeom>
              <a:avLst/>
              <a:gdLst>
                <a:gd name="T0" fmla="*/ 0 w 1200"/>
                <a:gd name="T1" fmla="*/ 216 h 120"/>
                <a:gd name="T2" fmla="*/ 3701 w 1200"/>
                <a:gd name="T3" fmla="*/ 216 h 120"/>
                <a:gd name="T4" fmla="*/ 4110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9" name="Freeform 10"/>
            <p:cNvSpPr>
              <a:spLocks/>
            </p:cNvSpPr>
            <p:nvPr/>
          </p:nvSpPr>
          <p:spPr bwMode="auto">
            <a:xfrm>
              <a:off x="673" y="1765"/>
              <a:ext cx="1535" cy="134"/>
            </a:xfrm>
            <a:custGeom>
              <a:avLst/>
              <a:gdLst>
                <a:gd name="T0" fmla="*/ 0 w 1200"/>
                <a:gd name="T1" fmla="*/ 210 h 120"/>
                <a:gd name="T2" fmla="*/ 3701 w 1200"/>
                <a:gd name="T3" fmla="*/ 210 h 120"/>
                <a:gd name="T4" fmla="*/ 4110 w 1200"/>
                <a:gd name="T5" fmla="*/ 0 h 120"/>
                <a:gd name="T6" fmla="*/ 0 60000 65536"/>
                <a:gd name="T7" fmla="*/ 0 60000 65536"/>
                <a:gd name="T8" fmla="*/ 0 60000 65536"/>
              </a:gdLst>
              <a:ahLst/>
              <a:cxnLst>
                <a:cxn ang="T6">
                  <a:pos x="T0" y="T1"/>
                </a:cxn>
                <a:cxn ang="T7">
                  <a:pos x="T2" y="T3"/>
                </a:cxn>
                <a:cxn ang="T8">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4699" name="Text Box 11"/>
          <p:cNvSpPr txBox="1">
            <a:spLocks noChangeArrowheads="1"/>
          </p:cNvSpPr>
          <p:nvPr/>
        </p:nvSpPr>
        <p:spPr bwMode="auto">
          <a:xfrm>
            <a:off x="752475" y="2492375"/>
            <a:ext cx="1646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5        </a:t>
            </a:r>
            <a:r>
              <a:rPr kumimoji="1" lang="zh-CN" altLang="en-US" sz="2000">
                <a:solidFill>
                  <a:srgbClr val="333399"/>
                </a:solidFill>
                <a:latin typeface="Times New Roman" pitchFamily="18" charset="0"/>
                <a:ea typeface="黑体" pitchFamily="49" charset="-122"/>
              </a:rPr>
              <a:t>应用层</a:t>
            </a:r>
          </a:p>
        </p:txBody>
      </p:sp>
      <p:sp>
        <p:nvSpPr>
          <p:cNvPr id="114700" name="Text Box 12"/>
          <p:cNvSpPr txBox="1">
            <a:spLocks noChangeArrowheads="1"/>
          </p:cNvSpPr>
          <p:nvPr/>
        </p:nvSpPr>
        <p:spPr bwMode="auto">
          <a:xfrm>
            <a:off x="752475" y="3103563"/>
            <a:ext cx="1646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4        </a:t>
            </a:r>
            <a:r>
              <a:rPr kumimoji="1" lang="zh-CN" altLang="en-US" sz="2000">
                <a:solidFill>
                  <a:srgbClr val="333399"/>
                </a:solidFill>
                <a:latin typeface="Times New Roman" pitchFamily="18" charset="0"/>
                <a:ea typeface="黑体" pitchFamily="49" charset="-122"/>
              </a:rPr>
              <a:t>运输层</a:t>
            </a:r>
          </a:p>
        </p:txBody>
      </p:sp>
      <p:sp>
        <p:nvSpPr>
          <p:cNvPr id="114701" name="Text Box 13"/>
          <p:cNvSpPr txBox="1">
            <a:spLocks noChangeArrowheads="1"/>
          </p:cNvSpPr>
          <p:nvPr/>
        </p:nvSpPr>
        <p:spPr bwMode="auto">
          <a:xfrm>
            <a:off x="752475" y="3716338"/>
            <a:ext cx="1646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3        </a:t>
            </a:r>
            <a:r>
              <a:rPr kumimoji="1" lang="zh-CN" altLang="en-US" sz="2000">
                <a:solidFill>
                  <a:srgbClr val="333399"/>
                </a:solidFill>
                <a:latin typeface="Times New Roman" pitchFamily="18" charset="0"/>
                <a:ea typeface="黑体" pitchFamily="49" charset="-122"/>
              </a:rPr>
              <a:t>网络层</a:t>
            </a:r>
          </a:p>
        </p:txBody>
      </p:sp>
      <p:sp>
        <p:nvSpPr>
          <p:cNvPr id="114702" name="Text Box 14"/>
          <p:cNvSpPr txBox="1">
            <a:spLocks noChangeArrowheads="1"/>
          </p:cNvSpPr>
          <p:nvPr/>
        </p:nvSpPr>
        <p:spPr bwMode="auto">
          <a:xfrm>
            <a:off x="752475" y="4329113"/>
            <a:ext cx="1874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2    </a:t>
            </a:r>
            <a:r>
              <a:rPr kumimoji="1" lang="zh-CN" altLang="en-US" sz="2000">
                <a:solidFill>
                  <a:srgbClr val="333399"/>
                </a:solidFill>
                <a:latin typeface="Times New Roman" pitchFamily="18" charset="0"/>
                <a:ea typeface="黑体" pitchFamily="49" charset="-122"/>
              </a:rPr>
              <a:t>数据链路层</a:t>
            </a:r>
          </a:p>
        </p:txBody>
      </p:sp>
      <p:sp>
        <p:nvSpPr>
          <p:cNvPr id="114703" name="Text Box 15"/>
          <p:cNvSpPr txBox="1">
            <a:spLocks noChangeArrowheads="1"/>
          </p:cNvSpPr>
          <p:nvPr/>
        </p:nvSpPr>
        <p:spPr bwMode="auto">
          <a:xfrm>
            <a:off x="752475" y="4941888"/>
            <a:ext cx="16462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rgbClr val="333399"/>
                </a:solidFill>
                <a:ea typeface="黑体" pitchFamily="49" charset="-122"/>
              </a:rPr>
              <a:t>1        </a:t>
            </a:r>
            <a:r>
              <a:rPr kumimoji="1" lang="zh-CN" altLang="en-US" sz="2000">
                <a:solidFill>
                  <a:srgbClr val="333399"/>
                </a:solidFill>
                <a:latin typeface="Times New Roman" pitchFamily="18" charset="0"/>
                <a:ea typeface="黑体" pitchFamily="49" charset="-122"/>
              </a:rPr>
              <a:t>物理层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469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4691">
                                            <p:txEl>
                                              <p:pRg st="1" end="1"/>
                                            </p:txEl>
                                          </p:spTgt>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1470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4691">
                                            <p:txEl>
                                              <p:pRg st="2" end="2"/>
                                            </p:txEl>
                                          </p:spTgt>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1470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4691">
                                            <p:txEl>
                                              <p:pRg st="3" end="3"/>
                                            </p:txEl>
                                          </p:spTgt>
                                        </p:tgtEl>
                                        <p:attrNameLst>
                                          <p:attrName>style.visibility</p:attrName>
                                        </p:attrNameLst>
                                      </p:cBhvr>
                                      <p:to>
                                        <p:strVal val="visible"/>
                                      </p:to>
                                    </p:set>
                                  </p:childTnLst>
                                </p:cTn>
                              </p:par>
                            </p:childTnLst>
                          </p:cTn>
                        </p:par>
                        <p:par>
                          <p:cTn id="28" fill="hold" nodeType="afterGroup">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1470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691">
                                            <p:txEl>
                                              <p:pRg st="4" end="4"/>
                                            </p:txEl>
                                          </p:spTgt>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14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P spid="114699" grpId="0"/>
      <p:bldP spid="114700" grpId="0"/>
      <p:bldP spid="114701" grpId="0"/>
      <p:bldP spid="114702" grpId="0"/>
      <p:bldP spid="114703" grpId="0"/>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6861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1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13"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68614"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68615"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68616"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68617"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68618"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19"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20"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21"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2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23"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68624"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68625"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68626"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68627"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68628"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29"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0"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1"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2"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6863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4"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6863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636"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5741" name="AutoShape 29"/>
          <p:cNvSpPr>
            <a:spLocks noChangeArrowheads="1"/>
          </p:cNvSpPr>
          <p:nvPr/>
        </p:nvSpPr>
        <p:spPr bwMode="auto">
          <a:xfrm flipV="1">
            <a:off x="654050" y="2835275"/>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68638"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15743" name="Text Box 31"/>
          <p:cNvSpPr txBox="1">
            <a:spLocks noChangeArrowheads="1"/>
          </p:cNvSpPr>
          <p:nvPr/>
        </p:nvSpPr>
        <p:spPr bwMode="auto">
          <a:xfrm>
            <a:off x="1619250" y="2349500"/>
            <a:ext cx="414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应用进程数据先传送到应用层</a:t>
            </a:r>
          </a:p>
        </p:txBody>
      </p:sp>
      <p:sp>
        <p:nvSpPr>
          <p:cNvPr id="115744" name="Text Box 32"/>
          <p:cNvSpPr txBox="1">
            <a:spLocks noChangeArrowheads="1"/>
          </p:cNvSpPr>
          <p:nvPr/>
        </p:nvSpPr>
        <p:spPr bwMode="auto">
          <a:xfrm>
            <a:off x="1619250" y="2919413"/>
            <a:ext cx="484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加上应用层首部，成为应用层</a:t>
            </a:r>
            <a:r>
              <a:rPr kumimoji="1" lang="zh-CN" altLang="en-US" sz="1600">
                <a:solidFill>
                  <a:srgbClr val="333399"/>
                </a:solidFill>
                <a:ea typeface="黑体" pitchFamily="49" charset="-122"/>
              </a:rPr>
              <a:t> </a:t>
            </a:r>
            <a:r>
              <a:rPr kumimoji="1" lang="en-US" altLang="zh-CN" sz="2400">
                <a:solidFill>
                  <a:srgbClr val="333399"/>
                </a:solidFill>
                <a:ea typeface="黑体" pitchFamily="49" charset="-122"/>
              </a:rPr>
              <a:t>PDU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43"/>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grpId="0" nodeType="afterEffect">
                                  <p:stCondLst>
                                    <p:cond delay="0"/>
                                  </p:stCondLst>
                                  <p:childTnLst>
                                    <p:set>
                                      <p:cBhvr>
                                        <p:cTn id="9" dur="1" fill="hold">
                                          <p:stCondLst>
                                            <p:cond delay="0"/>
                                          </p:stCondLst>
                                        </p:cTn>
                                        <p:tgtEl>
                                          <p:spTgt spid="115741"/>
                                        </p:tgtEl>
                                        <p:attrNameLst>
                                          <p:attrName>style.visibility</p:attrName>
                                        </p:attrNameLst>
                                      </p:cBhvr>
                                      <p:to>
                                        <p:strVal val="visible"/>
                                      </p:to>
                                    </p:set>
                                    <p:animEffect transition="in" filter="wipe(up)">
                                      <p:cBhvr>
                                        <p:cTn id="10" dur="1000"/>
                                        <p:tgtEl>
                                          <p:spTgt spid="115741"/>
                                        </p:tgtEl>
                                      </p:cBhvr>
                                    </p:animEffect>
                                  </p:childTnLst>
                                </p:cTn>
                              </p:par>
                            </p:childTnLst>
                          </p:cTn>
                        </p:par>
                        <p:par>
                          <p:cTn id="11" fill="hold" nodeType="afterGroup">
                            <p:stCondLst>
                              <p:cond delay="1000"/>
                            </p:stCondLst>
                            <p:childTnLst>
                              <p:par>
                                <p:cTn id="12" presetID="1" presetClass="entr" presetSubtype="0" fill="hold" grpId="0" nodeType="afterEffect">
                                  <p:stCondLst>
                                    <p:cond delay="0"/>
                                  </p:stCondLst>
                                  <p:childTnLst>
                                    <p:set>
                                      <p:cBhvr>
                                        <p:cTn id="13" dur="1" fill="hold">
                                          <p:stCondLst>
                                            <p:cond delay="0"/>
                                          </p:stCondLst>
                                        </p:cTn>
                                        <p:tgtEl>
                                          <p:spTgt spid="1157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41" grpId="0" animBg="1"/>
      <p:bldP spid="115743" grpId="0"/>
      <p:bldP spid="115744" grpId="0"/>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6963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3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37"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69638"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69639"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69640"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69641"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69642"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3"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4"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5"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7"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69648"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69649"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69650"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69651"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69652"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3"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4"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5"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6"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6965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8"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6965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0"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6765" name="AutoShape 29"/>
          <p:cNvSpPr>
            <a:spLocks noChangeArrowheads="1"/>
          </p:cNvSpPr>
          <p:nvPr/>
        </p:nvSpPr>
        <p:spPr bwMode="auto">
          <a:xfrm flipV="1">
            <a:off x="654050" y="3354388"/>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69662"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69663" name="Text Box 31"/>
          <p:cNvSpPr txBox="1">
            <a:spLocks noChangeArrowheads="1"/>
          </p:cNvSpPr>
          <p:nvPr/>
        </p:nvSpPr>
        <p:spPr bwMode="auto">
          <a:xfrm>
            <a:off x="1619250" y="3068638"/>
            <a:ext cx="4044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应用层 </a:t>
            </a:r>
            <a:r>
              <a:rPr kumimoji="1" lang="en-US" altLang="zh-CN" sz="2400">
                <a:solidFill>
                  <a:srgbClr val="333399"/>
                </a:solidFill>
                <a:ea typeface="黑体" pitchFamily="49" charset="-122"/>
              </a:rPr>
              <a:t>PDU </a:t>
            </a:r>
            <a:r>
              <a:rPr kumimoji="1" lang="zh-CN" altLang="en-US" sz="2400">
                <a:solidFill>
                  <a:srgbClr val="333399"/>
                </a:solidFill>
                <a:ea typeface="黑体" pitchFamily="49" charset="-122"/>
              </a:rPr>
              <a:t>再传送到运输层</a:t>
            </a:r>
          </a:p>
        </p:txBody>
      </p:sp>
      <p:sp>
        <p:nvSpPr>
          <p:cNvPr id="116768" name="Text Box 32"/>
          <p:cNvSpPr txBox="1">
            <a:spLocks noChangeArrowheads="1"/>
          </p:cNvSpPr>
          <p:nvPr/>
        </p:nvSpPr>
        <p:spPr bwMode="auto">
          <a:xfrm>
            <a:off x="1619250" y="3600450"/>
            <a:ext cx="475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加上运输层首部，成为运输层报文</a:t>
            </a:r>
            <a:endParaRPr kumimoji="1" lang="zh-CN" altLang="en-US" sz="3600">
              <a:solidFill>
                <a:srgbClr val="333399"/>
              </a:solidFill>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6765"/>
                                        </p:tgtEl>
                                        <p:attrNameLst>
                                          <p:attrName>style.visibility</p:attrName>
                                        </p:attrNameLst>
                                      </p:cBhvr>
                                      <p:to>
                                        <p:strVal val="visible"/>
                                      </p:to>
                                    </p:set>
                                    <p:animEffect transition="in" filter="wipe(up)">
                                      <p:cBhvr>
                                        <p:cTn id="7" dur="1000"/>
                                        <p:tgtEl>
                                          <p:spTgt spid="116765"/>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6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5" grpId="0" animBg="1"/>
      <p:bldP spid="116768" grpId="0"/>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0659"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0"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1"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0662"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0663"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0664"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0665"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0666"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7"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8"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9"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0"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1"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0672"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0673"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0674"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0675"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0676"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7"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8"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79"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0"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0681"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2"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0683"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84"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7789" name="AutoShape 29"/>
          <p:cNvSpPr>
            <a:spLocks noChangeArrowheads="1"/>
          </p:cNvSpPr>
          <p:nvPr/>
        </p:nvSpPr>
        <p:spPr bwMode="auto">
          <a:xfrm flipV="1">
            <a:off x="654050" y="3930650"/>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0686"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0687" name="Text Box 31"/>
          <p:cNvSpPr txBox="1">
            <a:spLocks noChangeArrowheads="1"/>
          </p:cNvSpPr>
          <p:nvPr/>
        </p:nvSpPr>
        <p:spPr bwMode="auto">
          <a:xfrm>
            <a:off x="1547813" y="3625850"/>
            <a:ext cx="384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运输层报文再传送到网络层</a:t>
            </a:r>
          </a:p>
        </p:txBody>
      </p:sp>
      <p:sp>
        <p:nvSpPr>
          <p:cNvPr id="117792" name="Text Box 32"/>
          <p:cNvSpPr txBox="1">
            <a:spLocks noChangeArrowheads="1"/>
          </p:cNvSpPr>
          <p:nvPr/>
        </p:nvSpPr>
        <p:spPr bwMode="auto">
          <a:xfrm>
            <a:off x="1547813" y="4221163"/>
            <a:ext cx="6126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加上网络层首部，成为 </a:t>
            </a:r>
            <a:r>
              <a:rPr kumimoji="1" lang="en-US" altLang="zh-CN" sz="2400">
                <a:solidFill>
                  <a:srgbClr val="333399"/>
                </a:solidFill>
                <a:ea typeface="黑体" pitchFamily="49" charset="-122"/>
              </a:rPr>
              <a:t>IP </a:t>
            </a:r>
            <a:r>
              <a:rPr kumimoji="1" lang="zh-CN" altLang="en-US" sz="2400">
                <a:solidFill>
                  <a:srgbClr val="333399"/>
                </a:solidFill>
                <a:ea typeface="黑体" pitchFamily="49" charset="-122"/>
              </a:rPr>
              <a:t>数据报（或分组）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7789"/>
                                        </p:tgtEl>
                                        <p:attrNameLst>
                                          <p:attrName>style.visibility</p:attrName>
                                        </p:attrNameLst>
                                      </p:cBhvr>
                                      <p:to>
                                        <p:strVal val="visible"/>
                                      </p:to>
                                    </p:set>
                                    <p:animEffect transition="in" filter="wipe(up)">
                                      <p:cBhvr>
                                        <p:cTn id="7" dur="1000"/>
                                        <p:tgtEl>
                                          <p:spTgt spid="117789"/>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7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9" grpId="0" animBg="1"/>
      <p:bldP spid="117792" grpId="0"/>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168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8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85"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1686"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1687"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1688"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1689"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1690"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1"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2"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3"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695"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1696"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1697"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1698"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1699"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1700"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1"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2"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3"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4"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170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6"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170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08"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8813" name="AutoShape 29"/>
          <p:cNvSpPr>
            <a:spLocks noChangeArrowheads="1"/>
          </p:cNvSpPr>
          <p:nvPr/>
        </p:nvSpPr>
        <p:spPr bwMode="auto">
          <a:xfrm flipV="1">
            <a:off x="654050" y="4506913"/>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1710"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1711" name="Text Box 31"/>
          <p:cNvSpPr txBox="1">
            <a:spLocks noChangeArrowheads="1"/>
          </p:cNvSpPr>
          <p:nvPr/>
        </p:nvSpPr>
        <p:spPr bwMode="auto">
          <a:xfrm>
            <a:off x="1619250" y="4195763"/>
            <a:ext cx="421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400">
                <a:solidFill>
                  <a:srgbClr val="333399"/>
                </a:solidFill>
                <a:ea typeface="黑体" pitchFamily="49" charset="-122"/>
              </a:rPr>
              <a:t>IP </a:t>
            </a:r>
            <a:r>
              <a:rPr kumimoji="1" lang="zh-CN" altLang="en-US" sz="2400">
                <a:solidFill>
                  <a:srgbClr val="333399"/>
                </a:solidFill>
                <a:ea typeface="黑体" pitchFamily="49" charset="-122"/>
              </a:rPr>
              <a:t>数据报再传送到数据链路层</a:t>
            </a:r>
          </a:p>
        </p:txBody>
      </p:sp>
      <p:sp>
        <p:nvSpPr>
          <p:cNvPr id="118816" name="Text Box 32"/>
          <p:cNvSpPr txBox="1">
            <a:spLocks noChangeArrowheads="1"/>
          </p:cNvSpPr>
          <p:nvPr/>
        </p:nvSpPr>
        <p:spPr bwMode="auto">
          <a:xfrm>
            <a:off x="1619250" y="4752975"/>
            <a:ext cx="597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加上链路层首部和尾部，成为数据链路层帧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8813"/>
                                        </p:tgtEl>
                                        <p:attrNameLst>
                                          <p:attrName>style.visibility</p:attrName>
                                        </p:attrNameLst>
                                      </p:cBhvr>
                                      <p:to>
                                        <p:strVal val="visible"/>
                                      </p:to>
                                    </p:set>
                                    <p:animEffect transition="in" filter="wipe(up)">
                                      <p:cBhvr>
                                        <p:cTn id="7" dur="1000"/>
                                        <p:tgtEl>
                                          <p:spTgt spid="118813"/>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8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13" grpId="0" animBg="1"/>
      <p:bldP spid="118816" grpId="0"/>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2707"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08"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09"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2710"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2711"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2712"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2713"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2714"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5"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6"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7"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8"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19"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2720"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2721"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2722"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2723"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2724"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5"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6"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7"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8"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2729"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0"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2731"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2"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19837" name="AutoShape 29"/>
          <p:cNvSpPr>
            <a:spLocks noChangeArrowheads="1"/>
          </p:cNvSpPr>
          <p:nvPr/>
        </p:nvSpPr>
        <p:spPr bwMode="auto">
          <a:xfrm flipV="1">
            <a:off x="654050" y="5083175"/>
            <a:ext cx="196850" cy="361950"/>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2734" name="Text Box 30"/>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2735" name="Text Box 31"/>
          <p:cNvSpPr txBox="1">
            <a:spLocks noChangeArrowheads="1"/>
          </p:cNvSpPr>
          <p:nvPr/>
        </p:nvSpPr>
        <p:spPr bwMode="auto">
          <a:xfrm>
            <a:off x="1619250" y="4700588"/>
            <a:ext cx="414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数据链路层帧再传送到物理层</a:t>
            </a:r>
          </a:p>
        </p:txBody>
      </p:sp>
      <p:sp>
        <p:nvSpPr>
          <p:cNvPr id="119840" name="Text Box 32"/>
          <p:cNvSpPr txBox="1">
            <a:spLocks noChangeArrowheads="1"/>
          </p:cNvSpPr>
          <p:nvPr/>
        </p:nvSpPr>
        <p:spPr bwMode="auto">
          <a:xfrm>
            <a:off x="1619250" y="5276850"/>
            <a:ext cx="567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最下面的物理层把比特流传送到物理媒体</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500"/>
                                  </p:stCondLst>
                                  <p:childTnLst>
                                    <p:set>
                                      <p:cBhvr>
                                        <p:cTn id="6" dur="1" fill="hold">
                                          <p:stCondLst>
                                            <p:cond delay="0"/>
                                          </p:stCondLst>
                                        </p:cTn>
                                        <p:tgtEl>
                                          <p:spTgt spid="119837"/>
                                        </p:tgtEl>
                                        <p:attrNameLst>
                                          <p:attrName>style.visibility</p:attrName>
                                        </p:attrNameLst>
                                      </p:cBhvr>
                                      <p:to>
                                        <p:strVal val="visible"/>
                                      </p:to>
                                    </p:set>
                                    <p:animEffect transition="in" filter="wipe(up)">
                                      <p:cBhvr>
                                        <p:cTn id="7" dur="1000"/>
                                        <p:tgtEl>
                                          <p:spTgt spid="119837"/>
                                        </p:tgtEl>
                                      </p:cBhvr>
                                    </p:animEffect>
                                  </p:childTnLst>
                                </p:cTn>
                              </p:par>
                            </p:childTnLst>
                          </p:cTn>
                        </p:par>
                        <p:par>
                          <p:cTn id="8" fill="hold" nodeType="afterGroup">
                            <p:stCondLst>
                              <p:cond delay="1500"/>
                            </p:stCondLst>
                            <p:childTnLst>
                              <p:par>
                                <p:cTn id="9" presetID="1" presetClass="entr" presetSubtype="0" fill="hold" grpId="0" nodeType="afterEffect">
                                  <p:stCondLst>
                                    <p:cond delay="0"/>
                                  </p:stCondLst>
                                  <p:childTnLst>
                                    <p:set>
                                      <p:cBhvr>
                                        <p:cTn id="10" dur="1" fill="hold">
                                          <p:stCondLst>
                                            <p:cond delay="0"/>
                                          </p:stCondLst>
                                        </p:cTn>
                                        <p:tgtEl>
                                          <p:spTgt spid="119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37" grpId="0" animBg="1"/>
      <p:bldP spid="119840" grpId="0"/>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3731" name="Rectangle 3"/>
          <p:cNvSpPr>
            <a:spLocks noGrp="1" noChangeArrowheads="1"/>
          </p:cNvSpPr>
          <p:nvPr>
            <p:ph type="body" idx="1"/>
          </p:nvPr>
        </p:nvSpPr>
        <p:spPr>
          <a:xfrm>
            <a:off x="3276600" y="5661025"/>
            <a:ext cx="5395913" cy="1008063"/>
          </a:xfrm>
        </p:spPr>
        <p:txBody>
          <a:bodyPr/>
          <a:lstStyle/>
          <a:p>
            <a:pPr eaLnBrk="1" hangingPunct="1">
              <a:lnSpc>
                <a:spcPct val="105000"/>
              </a:lnSpc>
            </a:pPr>
            <a:r>
              <a:rPr lang="zh-CN" altLang="en-US" smtClean="0"/>
              <a:t>应用层</a:t>
            </a:r>
            <a:r>
              <a:rPr lang="en-US" altLang="zh-CN" smtClean="0"/>
              <a:t>(application layer) </a:t>
            </a:r>
          </a:p>
        </p:txBody>
      </p:sp>
      <p:sp>
        <p:nvSpPr>
          <p:cNvPr id="73732" name="AutoShape 4"/>
          <p:cNvSpPr>
            <a:spLocks noChangeArrowheads="1"/>
          </p:cNvSpPr>
          <p:nvPr/>
        </p:nvSpPr>
        <p:spPr bwMode="auto">
          <a:xfrm rot="-5400000">
            <a:off x="4321968"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3" name="AutoShape 5"/>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4" name="Text Box 6"/>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3735" name="Text Box 7"/>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3736" name="Text Box 8"/>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3737" name="Text Box 9"/>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3738" name="Text Box 10"/>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3739" name="Freeform 11"/>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0" name="Freeform 12"/>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1" name="Freeform 13"/>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2" name="Freeform 14"/>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3" name="AutoShape 15"/>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4" name="Text Box 16"/>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3745" name="Text Box 17"/>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3746" name="Text Box 18"/>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3747" name="Text Box 19"/>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3748" name="Text Box 20"/>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3749" name="Freeform 21"/>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50" name="Freeform 22"/>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51" name="Freeform 23"/>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52" name="Freeform 24"/>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857" name="AutoShape 25"/>
          <p:cNvSpPr>
            <a:spLocks noChangeArrowheads="1"/>
          </p:cNvSpPr>
          <p:nvPr/>
        </p:nvSpPr>
        <p:spPr bwMode="auto">
          <a:xfrm flipV="1">
            <a:off x="696913" y="5730875"/>
            <a:ext cx="395287" cy="419100"/>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54" name="Text Box 26"/>
          <p:cNvSpPr txBox="1">
            <a:spLocks noChangeArrowheads="1"/>
          </p:cNvSpPr>
          <p:nvPr/>
        </p:nvSpPr>
        <p:spPr bwMode="auto">
          <a:xfrm>
            <a:off x="3851275" y="5827713"/>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latin typeface="黑体" pitchFamily="49" charset="-122"/>
                <a:ea typeface="黑体" pitchFamily="49" charset="-122"/>
              </a:rPr>
              <a:t>物理传输媒体</a:t>
            </a:r>
          </a:p>
        </p:txBody>
      </p:sp>
      <p:sp>
        <p:nvSpPr>
          <p:cNvPr id="120859" name="AutoShape 27"/>
          <p:cNvSpPr>
            <a:spLocks noChangeArrowheads="1"/>
          </p:cNvSpPr>
          <p:nvPr/>
        </p:nvSpPr>
        <p:spPr bwMode="auto">
          <a:xfrm rot="5400000">
            <a:off x="3310731" y="5831682"/>
            <a:ext cx="179387" cy="393700"/>
          </a:xfrm>
          <a:prstGeom prst="upArrow">
            <a:avLst>
              <a:gd name="adj1" fmla="val 50000"/>
              <a:gd name="adj2" fmla="val 54867"/>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20860" name="AutoShape 28"/>
          <p:cNvSpPr>
            <a:spLocks noChangeArrowheads="1"/>
          </p:cNvSpPr>
          <p:nvPr/>
        </p:nvSpPr>
        <p:spPr bwMode="auto">
          <a:xfrm rot="5400000">
            <a:off x="6047581" y="5831682"/>
            <a:ext cx="179387" cy="393700"/>
          </a:xfrm>
          <a:prstGeom prst="upArrow">
            <a:avLst>
              <a:gd name="adj1" fmla="val 50000"/>
              <a:gd name="adj2" fmla="val 54867"/>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73757" name="Text Box 29"/>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3758" name="AutoShape 30"/>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59" name="Text Box 31"/>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3760" name="AutoShape 32"/>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61" name="Text Box 33"/>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grpSp>
        <p:nvGrpSpPr>
          <p:cNvPr id="120866" name="Group 34"/>
          <p:cNvGrpSpPr>
            <a:grpSpLocks/>
          </p:cNvGrpSpPr>
          <p:nvPr/>
        </p:nvGrpSpPr>
        <p:grpSpPr bwMode="auto">
          <a:xfrm>
            <a:off x="1619250" y="5959475"/>
            <a:ext cx="1066800" cy="139700"/>
            <a:chOff x="1344" y="912"/>
            <a:chExt cx="672" cy="96"/>
          </a:xfrm>
        </p:grpSpPr>
        <p:sp>
          <p:nvSpPr>
            <p:cNvPr id="73769" name="Line 35"/>
            <p:cNvSpPr>
              <a:spLocks noChangeShapeType="1"/>
            </p:cNvSpPr>
            <p:nvPr/>
          </p:nvSpPr>
          <p:spPr bwMode="auto">
            <a:xfrm>
              <a:off x="1344" y="960"/>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0" name="Freeform 36"/>
            <p:cNvSpPr>
              <a:spLocks/>
            </p:cNvSpPr>
            <p:nvPr/>
          </p:nvSpPr>
          <p:spPr bwMode="auto">
            <a:xfrm>
              <a:off x="1392" y="912"/>
              <a:ext cx="576" cy="96"/>
            </a:xfrm>
            <a:custGeom>
              <a:avLst/>
              <a:gdLst>
                <a:gd name="T0" fmla="*/ 0 w 576"/>
                <a:gd name="T1" fmla="*/ 3 h 192"/>
                <a:gd name="T2" fmla="*/ 0 w 576"/>
                <a:gd name="T3" fmla="*/ 0 h 192"/>
                <a:gd name="T4" fmla="*/ 192 w 576"/>
                <a:gd name="T5" fmla="*/ 0 h 192"/>
                <a:gd name="T6" fmla="*/ 192 w 576"/>
                <a:gd name="T7" fmla="*/ 6 h 192"/>
                <a:gd name="T8" fmla="*/ 288 w 576"/>
                <a:gd name="T9" fmla="*/ 6 h 192"/>
                <a:gd name="T10" fmla="*/ 288 w 576"/>
                <a:gd name="T11" fmla="*/ 0 h 192"/>
                <a:gd name="T12" fmla="*/ 336 w 576"/>
                <a:gd name="T13" fmla="*/ 0 h 192"/>
                <a:gd name="T14" fmla="*/ 336 w 576"/>
                <a:gd name="T15" fmla="*/ 6 h 192"/>
                <a:gd name="T16" fmla="*/ 480 w 576"/>
                <a:gd name="T17" fmla="*/ 6 h 192"/>
                <a:gd name="T18" fmla="*/ 480 w 576"/>
                <a:gd name="T19" fmla="*/ 0 h 192"/>
                <a:gd name="T20" fmla="*/ 576 w 576"/>
                <a:gd name="T21" fmla="*/ 0 h 192"/>
                <a:gd name="T22" fmla="*/ 576 w 576"/>
                <a:gd name="T23" fmla="*/ 3 h 192"/>
                <a:gd name="T24" fmla="*/ 0 w 576"/>
                <a:gd name="T25" fmla="*/ 3 h 1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chemeClr val="tx2"/>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69" name="Group 37"/>
          <p:cNvGrpSpPr>
            <a:grpSpLocks/>
          </p:cNvGrpSpPr>
          <p:nvPr/>
        </p:nvGrpSpPr>
        <p:grpSpPr bwMode="auto">
          <a:xfrm>
            <a:off x="6600825" y="5957888"/>
            <a:ext cx="1066800" cy="142875"/>
            <a:chOff x="4158" y="3753"/>
            <a:chExt cx="672" cy="90"/>
          </a:xfrm>
        </p:grpSpPr>
        <p:sp>
          <p:nvSpPr>
            <p:cNvPr id="73767" name="Line 38"/>
            <p:cNvSpPr>
              <a:spLocks noChangeShapeType="1"/>
            </p:cNvSpPr>
            <p:nvPr/>
          </p:nvSpPr>
          <p:spPr bwMode="auto">
            <a:xfrm>
              <a:off x="4158" y="3798"/>
              <a:ext cx="672" cy="0"/>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8" name="Freeform 39"/>
            <p:cNvSpPr>
              <a:spLocks/>
            </p:cNvSpPr>
            <p:nvPr/>
          </p:nvSpPr>
          <p:spPr bwMode="auto">
            <a:xfrm>
              <a:off x="4209" y="3753"/>
              <a:ext cx="576" cy="90"/>
            </a:xfrm>
            <a:custGeom>
              <a:avLst/>
              <a:gdLst>
                <a:gd name="T0" fmla="*/ 0 w 576"/>
                <a:gd name="T1" fmla="*/ 32 h 99"/>
                <a:gd name="T2" fmla="*/ 0 w 576"/>
                <a:gd name="T3" fmla="*/ 3 h 99"/>
                <a:gd name="T4" fmla="*/ 135 w 576"/>
                <a:gd name="T5" fmla="*/ 3 h 99"/>
                <a:gd name="T6" fmla="*/ 138 w 576"/>
                <a:gd name="T7" fmla="*/ 62 h 99"/>
                <a:gd name="T8" fmla="*/ 264 w 576"/>
                <a:gd name="T9" fmla="*/ 61 h 99"/>
                <a:gd name="T10" fmla="*/ 264 w 576"/>
                <a:gd name="T11" fmla="*/ 0 h 99"/>
                <a:gd name="T12" fmla="*/ 426 w 576"/>
                <a:gd name="T13" fmla="*/ 0 h 99"/>
                <a:gd name="T14" fmla="*/ 426 w 576"/>
                <a:gd name="T15" fmla="*/ 62 h 99"/>
                <a:gd name="T16" fmla="*/ 480 w 576"/>
                <a:gd name="T17" fmla="*/ 62 h 99"/>
                <a:gd name="T18" fmla="*/ 480 w 576"/>
                <a:gd name="T19" fmla="*/ 3 h 99"/>
                <a:gd name="T20" fmla="*/ 576 w 576"/>
                <a:gd name="T21" fmla="*/ 3 h 99"/>
                <a:gd name="T22" fmla="*/ 576 w 576"/>
                <a:gd name="T23" fmla="*/ 32 h 99"/>
                <a:gd name="T24" fmla="*/ 0 w 576"/>
                <a:gd name="T25" fmla="*/ 32 h 9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chemeClr val="tx2"/>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764" name="Text Box 40"/>
          <p:cNvSpPr txBox="1">
            <a:spLocks noChangeArrowheads="1"/>
          </p:cNvSpPr>
          <p:nvPr/>
        </p:nvSpPr>
        <p:spPr bwMode="auto">
          <a:xfrm>
            <a:off x="1908175" y="4797425"/>
            <a:ext cx="5365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latin typeface="Times New Roman" pitchFamily="18" charset="0"/>
                <a:ea typeface="黑体" pitchFamily="49" charset="-122"/>
              </a:rPr>
              <a:t>电信号（或光信号）在物理媒体中传播</a:t>
            </a:r>
          </a:p>
          <a:p>
            <a:pPr algn="ctr"/>
            <a:r>
              <a:rPr kumimoji="1" lang="zh-CN" altLang="en-US" sz="2400">
                <a:solidFill>
                  <a:srgbClr val="333399"/>
                </a:solidFill>
                <a:latin typeface="Times New Roman" pitchFamily="18" charset="0"/>
                <a:ea typeface="黑体" pitchFamily="49" charset="-122"/>
              </a:rPr>
              <a:t>从发送端物理层传送到接收端物理层</a:t>
            </a:r>
          </a:p>
        </p:txBody>
      </p:sp>
      <p:sp>
        <p:nvSpPr>
          <p:cNvPr id="73765" name="Text Box 41"/>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20874" name="AutoShape 42"/>
          <p:cNvSpPr>
            <a:spLocks noChangeArrowheads="1"/>
          </p:cNvSpPr>
          <p:nvPr/>
        </p:nvSpPr>
        <p:spPr bwMode="auto">
          <a:xfrm rot="5400000" flipH="1">
            <a:off x="8071644" y="5679281"/>
            <a:ext cx="431800" cy="395288"/>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0857"/>
                                        </p:tgtEl>
                                        <p:attrNameLst>
                                          <p:attrName>style.visibility</p:attrName>
                                        </p:attrNameLst>
                                      </p:cBhvr>
                                      <p:to>
                                        <p:strVal val="visible"/>
                                      </p:to>
                                    </p:set>
                                    <p:animEffect transition="in" filter="wipe(left)">
                                      <p:cBhvr>
                                        <p:cTn id="7" dur="500"/>
                                        <p:tgtEl>
                                          <p:spTgt spid="120857"/>
                                        </p:tgtEl>
                                      </p:cBhvr>
                                    </p:animEffect>
                                  </p:childTnLst>
                                </p:cTn>
                              </p:par>
                            </p:childTnLst>
                          </p:cTn>
                        </p:par>
                        <p:par>
                          <p:cTn id="8" fill="hold" nodeType="afterGroup">
                            <p:stCondLst>
                              <p:cond delay="1500"/>
                            </p:stCondLst>
                            <p:childTnLst>
                              <p:par>
                                <p:cTn id="9" presetID="1" presetClass="entr" presetSubtype="0" fill="hold" nodeType="afterEffect">
                                  <p:stCondLst>
                                    <p:cond delay="0"/>
                                  </p:stCondLst>
                                  <p:childTnLst>
                                    <p:set>
                                      <p:cBhvr>
                                        <p:cTn id="10" dur="1" fill="hold">
                                          <p:stCondLst>
                                            <p:cond delay="0"/>
                                          </p:stCondLst>
                                        </p:cTn>
                                        <p:tgtEl>
                                          <p:spTgt spid="120866"/>
                                        </p:tgtEl>
                                        <p:attrNameLst>
                                          <p:attrName>style.visibility</p:attrName>
                                        </p:attrNameLst>
                                      </p:cBhvr>
                                      <p:to>
                                        <p:strVal val="visible"/>
                                      </p:to>
                                    </p:set>
                                  </p:childTnLst>
                                </p:cTn>
                              </p:par>
                            </p:childTnLst>
                          </p:cTn>
                        </p:par>
                        <p:par>
                          <p:cTn id="11" fill="hold" nodeType="afterGroup">
                            <p:stCondLst>
                              <p:cond delay="1500"/>
                            </p:stCondLst>
                            <p:childTnLst>
                              <p:par>
                                <p:cTn id="12" presetID="22" presetClass="entr" presetSubtype="8" fill="hold" grpId="0" nodeType="afterEffect">
                                  <p:stCondLst>
                                    <p:cond delay="0"/>
                                  </p:stCondLst>
                                  <p:childTnLst>
                                    <p:set>
                                      <p:cBhvr>
                                        <p:cTn id="13" dur="1" fill="hold">
                                          <p:stCondLst>
                                            <p:cond delay="0"/>
                                          </p:stCondLst>
                                        </p:cTn>
                                        <p:tgtEl>
                                          <p:spTgt spid="120859"/>
                                        </p:tgtEl>
                                        <p:attrNameLst>
                                          <p:attrName>style.visibility</p:attrName>
                                        </p:attrNameLst>
                                      </p:cBhvr>
                                      <p:to>
                                        <p:strVal val="visible"/>
                                      </p:to>
                                    </p:set>
                                    <p:animEffect transition="in" filter="wipe(left)">
                                      <p:cBhvr>
                                        <p:cTn id="14" dur="500"/>
                                        <p:tgtEl>
                                          <p:spTgt spid="120859"/>
                                        </p:tgtEl>
                                      </p:cBhvr>
                                    </p:animEffect>
                                  </p:childTnLst>
                                </p:cTn>
                              </p:par>
                            </p:childTnLst>
                          </p:cTn>
                        </p:par>
                        <p:par>
                          <p:cTn id="15" fill="hold" nodeType="afterGroup">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120860"/>
                                        </p:tgtEl>
                                        <p:attrNameLst>
                                          <p:attrName>style.visibility</p:attrName>
                                        </p:attrNameLst>
                                      </p:cBhvr>
                                      <p:to>
                                        <p:strVal val="visible"/>
                                      </p:to>
                                    </p:set>
                                    <p:animEffect transition="in" filter="wipe(left)">
                                      <p:cBhvr>
                                        <p:cTn id="18" dur="500"/>
                                        <p:tgtEl>
                                          <p:spTgt spid="120860"/>
                                        </p:tgtEl>
                                      </p:cBhvr>
                                    </p:animEffect>
                                  </p:childTnLst>
                                </p:cTn>
                              </p:par>
                            </p:childTnLst>
                          </p:cTn>
                        </p:par>
                        <p:par>
                          <p:cTn id="19" fill="hold" nodeType="afterGroup">
                            <p:stCondLst>
                              <p:cond delay="2500"/>
                            </p:stCondLst>
                            <p:childTnLst>
                              <p:par>
                                <p:cTn id="20" presetID="1" presetClass="entr" presetSubtype="0" fill="hold" nodeType="afterEffect">
                                  <p:stCondLst>
                                    <p:cond delay="0"/>
                                  </p:stCondLst>
                                  <p:childTnLst>
                                    <p:set>
                                      <p:cBhvr>
                                        <p:cTn id="21" dur="1" fill="hold">
                                          <p:stCondLst>
                                            <p:cond delay="0"/>
                                          </p:stCondLst>
                                        </p:cTn>
                                        <p:tgtEl>
                                          <p:spTgt spid="120869"/>
                                        </p:tgtEl>
                                        <p:attrNameLst>
                                          <p:attrName>style.visibility</p:attrName>
                                        </p:attrNameLst>
                                      </p:cBhvr>
                                      <p:to>
                                        <p:strVal val="visible"/>
                                      </p:to>
                                    </p:set>
                                  </p:childTnLst>
                                </p:cTn>
                              </p:par>
                            </p:childTnLst>
                          </p:cTn>
                        </p:par>
                        <p:par>
                          <p:cTn id="22" fill="hold" nodeType="afterGroup">
                            <p:stCondLst>
                              <p:cond delay="2500"/>
                            </p:stCondLst>
                            <p:childTnLst>
                              <p:par>
                                <p:cTn id="23" presetID="22" presetClass="entr" presetSubtype="4" fill="hold" grpId="0" nodeType="afterEffect">
                                  <p:stCondLst>
                                    <p:cond delay="0"/>
                                  </p:stCondLst>
                                  <p:childTnLst>
                                    <p:set>
                                      <p:cBhvr>
                                        <p:cTn id="24" dur="1" fill="hold">
                                          <p:stCondLst>
                                            <p:cond delay="0"/>
                                          </p:stCondLst>
                                        </p:cTn>
                                        <p:tgtEl>
                                          <p:spTgt spid="120874"/>
                                        </p:tgtEl>
                                        <p:attrNameLst>
                                          <p:attrName>style.visibility</p:attrName>
                                        </p:attrNameLst>
                                      </p:cBhvr>
                                      <p:to>
                                        <p:strVal val="visible"/>
                                      </p:to>
                                    </p:set>
                                    <p:animEffect transition="in" filter="wipe(down)">
                                      <p:cBhvr>
                                        <p:cTn id="25" dur="500"/>
                                        <p:tgtEl>
                                          <p:spTgt spid="120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7" grpId="0" animBg="1"/>
      <p:bldP spid="120859" grpId="0" animBg="1"/>
      <p:bldP spid="120860" grpId="0" animBg="1"/>
      <p:bldP spid="120874"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475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7"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4758"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4759"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4760"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4761"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4762"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3"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4"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5"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7"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4768"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4769"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4770"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4771"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4772"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3"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4"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5"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6"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477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78"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477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80"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74781"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4782" name="Text Box 30"/>
          <p:cNvSpPr txBox="1">
            <a:spLocks noChangeArrowheads="1"/>
          </p:cNvSpPr>
          <p:nvPr/>
        </p:nvSpPr>
        <p:spPr bwMode="auto">
          <a:xfrm>
            <a:off x="2214563" y="5276850"/>
            <a:ext cx="567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物理层接收到比特流，上交给数据链路层</a:t>
            </a:r>
          </a:p>
        </p:txBody>
      </p:sp>
      <p:sp>
        <p:nvSpPr>
          <p:cNvPr id="121887" name="AutoShape 31"/>
          <p:cNvSpPr>
            <a:spLocks noChangeArrowheads="1"/>
          </p:cNvSpPr>
          <p:nvPr/>
        </p:nvSpPr>
        <p:spPr bwMode="auto">
          <a:xfrm rot="10800000" flipV="1">
            <a:off x="8305800" y="5078413"/>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1887"/>
                                        </p:tgtEl>
                                        <p:attrNameLst>
                                          <p:attrName>style.visibility</p:attrName>
                                        </p:attrNameLst>
                                      </p:cBhvr>
                                      <p:to>
                                        <p:strVal val="visible"/>
                                      </p:to>
                                    </p:set>
                                    <p:animEffect transition="in" filter="wipe(down)">
                                      <p:cBhvr>
                                        <p:cTn id="7" dur="1000"/>
                                        <p:tgtEl>
                                          <p:spTgt spid="121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7"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5779"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0"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1"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5782"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5783"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5784"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5785"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5786"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7"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8"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9"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0"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1"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5792"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5793"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5794"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5795"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5796"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7"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8"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9"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0" name="Text Box 24"/>
          <p:cNvSpPr txBox="1">
            <a:spLocks noChangeArrowheads="1"/>
          </p:cNvSpPr>
          <p:nvPr/>
        </p:nvSpPr>
        <p:spPr bwMode="auto">
          <a:xfrm>
            <a:off x="395288" y="1989138"/>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5801"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2"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5803"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4"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75805"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5806" name="Text Box 30"/>
          <p:cNvSpPr txBox="1">
            <a:spLocks noChangeArrowheads="1"/>
          </p:cNvSpPr>
          <p:nvPr/>
        </p:nvSpPr>
        <p:spPr bwMode="auto">
          <a:xfrm>
            <a:off x="3355975" y="4581525"/>
            <a:ext cx="4451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数据链路层剥去帧首部和帧尾部</a:t>
            </a:r>
          </a:p>
          <a:p>
            <a:pPr algn="ctr"/>
            <a:r>
              <a:rPr kumimoji="1" lang="zh-CN" altLang="en-US" sz="2400">
                <a:solidFill>
                  <a:srgbClr val="333399"/>
                </a:solidFill>
                <a:ea typeface="黑体" pitchFamily="49" charset="-122"/>
              </a:rPr>
              <a:t>取出数据部分，上交给网络层</a:t>
            </a:r>
          </a:p>
        </p:txBody>
      </p:sp>
      <p:sp>
        <p:nvSpPr>
          <p:cNvPr id="122911" name="AutoShape 31"/>
          <p:cNvSpPr>
            <a:spLocks noChangeArrowheads="1"/>
          </p:cNvSpPr>
          <p:nvPr/>
        </p:nvSpPr>
        <p:spPr bwMode="auto">
          <a:xfrm rot="10800000" flipV="1">
            <a:off x="8305800" y="4437063"/>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2911"/>
                                        </p:tgtEl>
                                        <p:attrNameLst>
                                          <p:attrName>style.visibility</p:attrName>
                                        </p:attrNameLst>
                                      </p:cBhvr>
                                      <p:to>
                                        <p:strVal val="visible"/>
                                      </p:to>
                                    </p:set>
                                    <p:animEffect transition="in" filter="wipe(down)">
                                      <p:cBhvr>
                                        <p:cTn id="7" dur="1000"/>
                                        <p:tgtEl>
                                          <p:spTgt spid="122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1" grpId="0" animBg="1"/>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680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5"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6806"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6807"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6808"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6809"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6810"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1"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2"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3"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5"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6816"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6817"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6818"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6819"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6820"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1"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2"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3"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4"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682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6"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682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28"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76829"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6830" name="Text Box 30"/>
          <p:cNvSpPr txBox="1">
            <a:spLocks noChangeArrowheads="1"/>
          </p:cNvSpPr>
          <p:nvPr/>
        </p:nvSpPr>
        <p:spPr bwMode="auto">
          <a:xfrm>
            <a:off x="3441700" y="4005263"/>
            <a:ext cx="4451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网络层剥去首部，取出数据部分</a:t>
            </a:r>
          </a:p>
          <a:p>
            <a:pPr algn="ctr"/>
            <a:r>
              <a:rPr kumimoji="1" lang="zh-CN" altLang="en-US" sz="2400">
                <a:solidFill>
                  <a:srgbClr val="333399"/>
                </a:solidFill>
                <a:ea typeface="黑体" pitchFamily="49" charset="-122"/>
              </a:rPr>
              <a:t>上交给运输层</a:t>
            </a:r>
          </a:p>
        </p:txBody>
      </p:sp>
      <p:sp>
        <p:nvSpPr>
          <p:cNvPr id="123935" name="AutoShape 31"/>
          <p:cNvSpPr>
            <a:spLocks noChangeArrowheads="1"/>
          </p:cNvSpPr>
          <p:nvPr/>
        </p:nvSpPr>
        <p:spPr bwMode="auto">
          <a:xfrm rot="10800000" flipV="1">
            <a:off x="8305800" y="3824288"/>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3935"/>
                                        </p:tgtEl>
                                        <p:attrNameLst>
                                          <p:attrName>style.visibility</p:attrName>
                                        </p:attrNameLst>
                                      </p:cBhvr>
                                      <p:to>
                                        <p:strVal val="visible"/>
                                      </p:to>
                                    </p:set>
                                    <p:animEffect transition="in" filter="wipe(down)">
                                      <p:cBhvr>
                                        <p:cTn id="7" dur="1000"/>
                                        <p:tgtEl>
                                          <p:spTgt spid="123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35" grpId="0" animBg="1"/>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7827"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28"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29"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7830"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7831"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7832"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7833"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7834"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5"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6"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7"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8"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39"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7840"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7841"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7842"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7843"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7844"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5"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6"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7"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8"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7849"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0"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7851"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52"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77853"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7854" name="Text Box 30"/>
          <p:cNvSpPr txBox="1">
            <a:spLocks noChangeArrowheads="1"/>
          </p:cNvSpPr>
          <p:nvPr/>
        </p:nvSpPr>
        <p:spPr bwMode="auto">
          <a:xfrm>
            <a:off x="3441700" y="3357563"/>
            <a:ext cx="44513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运输层剥去首部，取出数据部分</a:t>
            </a:r>
          </a:p>
          <a:p>
            <a:pPr algn="ctr"/>
            <a:r>
              <a:rPr kumimoji="1" lang="zh-CN" altLang="en-US" sz="2400">
                <a:solidFill>
                  <a:srgbClr val="333399"/>
                </a:solidFill>
                <a:ea typeface="黑体" pitchFamily="49" charset="-122"/>
              </a:rPr>
              <a:t>上交给应用层</a:t>
            </a:r>
          </a:p>
        </p:txBody>
      </p:sp>
      <p:sp>
        <p:nvSpPr>
          <p:cNvPr id="124959" name="AutoShape 31"/>
          <p:cNvSpPr>
            <a:spLocks noChangeArrowheads="1"/>
          </p:cNvSpPr>
          <p:nvPr/>
        </p:nvSpPr>
        <p:spPr bwMode="auto">
          <a:xfrm rot="10800000" flipV="1">
            <a:off x="8305800" y="3248025"/>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4959"/>
                                        </p:tgtEl>
                                        <p:attrNameLst>
                                          <p:attrName>style.visibility</p:attrName>
                                        </p:attrNameLst>
                                      </p:cBhvr>
                                      <p:to>
                                        <p:strVal val="visible"/>
                                      </p:to>
                                    </p:set>
                                    <p:animEffect transition="in" filter="wipe(down)">
                                      <p:cBhvr>
                                        <p:cTn id="7" dur="1000"/>
                                        <p:tgtEl>
                                          <p:spTgt spid="124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9"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78851"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2"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3"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8854"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8855"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8856"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8857"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8858"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9"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0"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1"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2"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3"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8864"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8865"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8866"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8867"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8868"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9"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0"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1"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2"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8873"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4"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8875"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76"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78877"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8878" name="Text Box 30"/>
          <p:cNvSpPr txBox="1">
            <a:spLocks noChangeArrowheads="1"/>
          </p:cNvSpPr>
          <p:nvPr/>
        </p:nvSpPr>
        <p:spPr bwMode="auto">
          <a:xfrm>
            <a:off x="2843213" y="2852738"/>
            <a:ext cx="50609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应用层剥去首部，取出应用程序数据</a:t>
            </a:r>
          </a:p>
          <a:p>
            <a:pPr algn="ctr"/>
            <a:r>
              <a:rPr kumimoji="1" lang="zh-CN" altLang="en-US" sz="2400">
                <a:solidFill>
                  <a:srgbClr val="333399"/>
                </a:solidFill>
                <a:ea typeface="黑体" pitchFamily="49" charset="-122"/>
              </a:rPr>
              <a:t>上交给应用进程</a:t>
            </a:r>
          </a:p>
        </p:txBody>
      </p:sp>
      <p:sp>
        <p:nvSpPr>
          <p:cNvPr id="125983" name="AutoShape 31"/>
          <p:cNvSpPr>
            <a:spLocks noChangeArrowheads="1"/>
          </p:cNvSpPr>
          <p:nvPr/>
        </p:nvSpPr>
        <p:spPr bwMode="auto">
          <a:xfrm rot="10800000" flipV="1">
            <a:off x="8305800" y="2744788"/>
            <a:ext cx="196850" cy="396875"/>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500"/>
                                  </p:stCondLst>
                                  <p:childTnLst>
                                    <p:set>
                                      <p:cBhvr>
                                        <p:cTn id="6" dur="1" fill="hold">
                                          <p:stCondLst>
                                            <p:cond delay="0"/>
                                          </p:stCondLst>
                                        </p:cTn>
                                        <p:tgtEl>
                                          <p:spTgt spid="125983"/>
                                        </p:tgtEl>
                                        <p:attrNameLst>
                                          <p:attrName>style.visibility</p:attrName>
                                        </p:attrNameLst>
                                      </p:cBhvr>
                                      <p:to>
                                        <p:strVal val="visible"/>
                                      </p:to>
                                    </p:set>
                                    <p:animEffect transition="in" filter="wipe(down)">
                                      <p:cBhvr>
                                        <p:cTn id="7" dur="1000"/>
                                        <p:tgtEl>
                                          <p:spTgt spid="125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83"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1600" smtClean="0"/>
              <a:t> </a:t>
            </a:r>
            <a:r>
              <a:rPr lang="en-US" altLang="zh-CN" smtClean="0"/>
              <a:t>2</a:t>
            </a:r>
            <a:r>
              <a:rPr lang="en-US" altLang="zh-CN" sz="2400" smtClean="0"/>
              <a:t> </a:t>
            </a:r>
            <a:r>
              <a:rPr lang="zh-CN" altLang="en-US" smtClean="0"/>
              <a:t>发送数据 </a:t>
            </a:r>
          </a:p>
        </p:txBody>
      </p:sp>
      <p:sp>
        <p:nvSpPr>
          <p:cNvPr id="79875"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6"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77"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9878"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9879"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9880"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9881"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9882"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3"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4"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5"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6"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87"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79888"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79889"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79890"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79891"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79892"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3"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4"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5"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6" name="Text Box 24"/>
          <p:cNvSpPr txBox="1">
            <a:spLocks noChangeArrowheads="1"/>
          </p:cNvSpPr>
          <p:nvPr/>
        </p:nvSpPr>
        <p:spPr bwMode="auto">
          <a:xfrm>
            <a:off x="395288" y="1989138"/>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79897"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8"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79899"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900"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79901"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79902" name="AutoShape 30"/>
          <p:cNvSpPr>
            <a:spLocks noChangeArrowheads="1"/>
          </p:cNvSpPr>
          <p:nvPr/>
        </p:nvSpPr>
        <p:spPr bwMode="auto">
          <a:xfrm>
            <a:off x="4067175" y="1989138"/>
            <a:ext cx="295275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a:latin typeface="Tahoma" pitchFamily="34" charset="0"/>
            </a:endParaRPr>
          </a:p>
        </p:txBody>
      </p:sp>
      <p:sp>
        <p:nvSpPr>
          <p:cNvPr id="79903" name="Text Box 31"/>
          <p:cNvSpPr txBox="1">
            <a:spLocks noChangeArrowheads="1"/>
          </p:cNvSpPr>
          <p:nvPr/>
        </p:nvSpPr>
        <p:spPr bwMode="auto">
          <a:xfrm>
            <a:off x="4140200" y="2060575"/>
            <a:ext cx="29432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latin typeface="Tahoma" pitchFamily="34" charset="0"/>
                <a:ea typeface="黑体" pitchFamily="49" charset="-122"/>
              </a:rPr>
              <a:t>我收到了</a:t>
            </a:r>
            <a:r>
              <a:rPr kumimoji="1" lang="zh-CN" altLang="en-US" sz="1400">
                <a:solidFill>
                  <a:srgbClr val="333399"/>
                </a:solidFill>
                <a:ea typeface="黑体" pitchFamily="49" charset="-122"/>
              </a:rPr>
              <a:t> </a:t>
            </a:r>
            <a:r>
              <a:rPr kumimoji="1" lang="en-US" altLang="zh-CN" sz="2400">
                <a:solidFill>
                  <a:srgbClr val="333399"/>
                </a:solidFill>
                <a:ea typeface="黑体" pitchFamily="49" charset="-122"/>
              </a:rPr>
              <a:t>AP</a:t>
            </a:r>
            <a:r>
              <a:rPr kumimoji="1" lang="en-US" altLang="zh-CN" sz="2400" baseline="-25000">
                <a:solidFill>
                  <a:srgbClr val="333399"/>
                </a:solidFill>
                <a:ea typeface="黑体" pitchFamily="49" charset="-122"/>
              </a:rPr>
              <a:t>1</a:t>
            </a:r>
            <a:r>
              <a:rPr kumimoji="1" lang="en-US" altLang="zh-CN" sz="1600">
                <a:solidFill>
                  <a:srgbClr val="333399"/>
                </a:solidFill>
                <a:ea typeface="黑体" pitchFamily="49" charset="-122"/>
              </a:rPr>
              <a:t> </a:t>
            </a:r>
            <a:r>
              <a:rPr kumimoji="1" lang="zh-CN" altLang="en-US" sz="2400">
                <a:solidFill>
                  <a:srgbClr val="333399"/>
                </a:solidFill>
                <a:latin typeface="Tahoma" pitchFamily="34" charset="0"/>
                <a:ea typeface="黑体" pitchFamily="49" charset="-122"/>
              </a:rPr>
              <a:t>发来的</a:t>
            </a:r>
          </a:p>
          <a:p>
            <a:pPr algn="ctr"/>
            <a:r>
              <a:rPr kumimoji="1" lang="zh-CN" altLang="en-US" sz="2400">
                <a:solidFill>
                  <a:srgbClr val="333399"/>
                </a:solidFill>
                <a:ea typeface="黑体" pitchFamily="49" charset="-122"/>
              </a:rPr>
              <a:t>应用程序数据！</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80899"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0"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1"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0902"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0903"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0904"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0905"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0906"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7"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8"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09"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0"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1"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0912"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0913"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0914"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0915"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0916"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7"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8"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19"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0"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80921"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2"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80923"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24"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80925"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28030" name="Rectangle 30"/>
          <p:cNvSpPr>
            <a:spLocks noChangeArrowheads="1"/>
          </p:cNvSpPr>
          <p:nvPr/>
        </p:nvSpPr>
        <p:spPr bwMode="auto">
          <a:xfrm>
            <a:off x="4067175" y="2493963"/>
            <a:ext cx="2592388"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nvGrpSpPr>
          <p:cNvPr id="128031" name="Group 31"/>
          <p:cNvGrpSpPr>
            <a:grpSpLocks/>
          </p:cNvGrpSpPr>
          <p:nvPr/>
        </p:nvGrpSpPr>
        <p:grpSpPr bwMode="auto">
          <a:xfrm>
            <a:off x="2627313" y="2420938"/>
            <a:ext cx="1454150" cy="1008062"/>
            <a:chOff x="1655" y="1525"/>
            <a:chExt cx="916" cy="635"/>
          </a:xfrm>
        </p:grpSpPr>
        <p:sp>
          <p:nvSpPr>
            <p:cNvPr id="80974" name="Text Box 32"/>
            <p:cNvSpPr txBox="1">
              <a:spLocks noChangeArrowheads="1"/>
            </p:cNvSpPr>
            <p:nvPr/>
          </p:nvSpPr>
          <p:spPr bwMode="auto">
            <a:xfrm>
              <a:off x="1655" y="1525"/>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latin typeface="Arial Rounded MT Bold" pitchFamily="34" charset="0"/>
                  <a:ea typeface="黑体" pitchFamily="49" charset="-122"/>
                </a:rPr>
                <a:t>应用层首部</a:t>
              </a:r>
              <a:endParaRPr kumimoji="1" lang="zh-CN" altLang="en-US" sz="2000">
                <a:solidFill>
                  <a:srgbClr val="333399"/>
                </a:solidFill>
                <a:latin typeface="Times New Roman" pitchFamily="18" charset="0"/>
                <a:ea typeface="黑体" pitchFamily="49" charset="-122"/>
              </a:endParaRPr>
            </a:p>
          </p:txBody>
        </p:sp>
        <p:sp>
          <p:nvSpPr>
            <p:cNvPr id="80975" name="Line 33"/>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76" name="Rectangle 34"/>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grpSp>
      <p:sp>
        <p:nvSpPr>
          <p:cNvPr id="128035" name="Rectangle 35"/>
          <p:cNvSpPr>
            <a:spLocks noChangeArrowheads="1"/>
          </p:cNvSpPr>
          <p:nvPr/>
        </p:nvSpPr>
        <p:spPr bwMode="auto">
          <a:xfrm>
            <a:off x="1979613" y="5373688"/>
            <a:ext cx="5184775"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solidFill>
                  <a:srgbClr val="333399"/>
                </a:solidFill>
                <a:ea typeface="黑体" pitchFamily="49" charset="-122"/>
              </a:rPr>
              <a:t>10100110100101  </a:t>
            </a:r>
            <a:r>
              <a:rPr lang="zh-CN" altLang="en-US" sz="2000">
                <a:solidFill>
                  <a:srgbClr val="333399"/>
                </a:solidFill>
                <a:ea typeface="黑体" pitchFamily="49" charset="-122"/>
              </a:rPr>
              <a:t>比  特  流  </a:t>
            </a:r>
            <a:r>
              <a:rPr lang="en-US" altLang="zh-CN" sz="2000">
                <a:solidFill>
                  <a:srgbClr val="333399"/>
                </a:solidFill>
                <a:ea typeface="黑体" pitchFamily="49" charset="-122"/>
              </a:rPr>
              <a:t>110101110101</a:t>
            </a:r>
          </a:p>
        </p:txBody>
      </p:sp>
      <p:sp>
        <p:nvSpPr>
          <p:cNvPr id="80929" name="Text Box 36"/>
          <p:cNvSpPr txBox="1">
            <a:spLocks noChangeArrowheads="1"/>
          </p:cNvSpPr>
          <p:nvPr/>
        </p:nvSpPr>
        <p:spPr bwMode="auto">
          <a:xfrm>
            <a:off x="1763713" y="1849438"/>
            <a:ext cx="567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400">
                <a:solidFill>
                  <a:srgbClr val="333399"/>
                </a:solidFill>
                <a:ea typeface="黑体" pitchFamily="49" charset="-122"/>
              </a:rPr>
              <a:t>注意观察加入或剥去首部（尾部）的层次</a:t>
            </a:r>
          </a:p>
        </p:txBody>
      </p:sp>
      <p:sp>
        <p:nvSpPr>
          <p:cNvPr id="128037" name="Rectangle 37"/>
          <p:cNvSpPr>
            <a:spLocks noChangeArrowheads="1"/>
          </p:cNvSpPr>
          <p:nvPr/>
        </p:nvSpPr>
        <p:spPr bwMode="auto">
          <a:xfrm>
            <a:off x="4067175" y="3070225"/>
            <a:ext cx="2592388"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nvGrpSpPr>
          <p:cNvPr id="128038" name="Group 38"/>
          <p:cNvGrpSpPr>
            <a:grpSpLocks/>
          </p:cNvGrpSpPr>
          <p:nvPr/>
        </p:nvGrpSpPr>
        <p:grpSpPr bwMode="auto">
          <a:xfrm>
            <a:off x="3563938" y="3646488"/>
            <a:ext cx="3095625" cy="358775"/>
            <a:chOff x="2245" y="2297"/>
            <a:chExt cx="1950" cy="226"/>
          </a:xfrm>
        </p:grpSpPr>
        <p:sp>
          <p:nvSpPr>
            <p:cNvPr id="80972" name="Rectangle 39"/>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0973" name="Rectangle 40"/>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128041" name="Group 41"/>
          <p:cNvGrpSpPr>
            <a:grpSpLocks/>
          </p:cNvGrpSpPr>
          <p:nvPr/>
        </p:nvGrpSpPr>
        <p:grpSpPr bwMode="auto">
          <a:xfrm>
            <a:off x="3059113" y="4222750"/>
            <a:ext cx="3600450" cy="358775"/>
            <a:chOff x="1927" y="2660"/>
            <a:chExt cx="2268" cy="226"/>
          </a:xfrm>
        </p:grpSpPr>
        <p:sp>
          <p:nvSpPr>
            <p:cNvPr id="80969" name="Rectangle 42"/>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0970" name="Rectangle 43"/>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0971" name="Rectangle 44"/>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128045" name="Group 45"/>
          <p:cNvGrpSpPr>
            <a:grpSpLocks/>
          </p:cNvGrpSpPr>
          <p:nvPr/>
        </p:nvGrpSpPr>
        <p:grpSpPr bwMode="auto">
          <a:xfrm>
            <a:off x="2555875" y="4799013"/>
            <a:ext cx="4103688" cy="358775"/>
            <a:chOff x="1610" y="3023"/>
            <a:chExt cx="2585" cy="226"/>
          </a:xfrm>
        </p:grpSpPr>
        <p:sp>
          <p:nvSpPr>
            <p:cNvPr id="80965" name="Rectangle 4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80966" name="Rectangle 4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0967" name="Rectangle 4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0968" name="Rectangle 4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128050" name="Group 50"/>
          <p:cNvGrpSpPr>
            <a:grpSpLocks/>
          </p:cNvGrpSpPr>
          <p:nvPr/>
        </p:nvGrpSpPr>
        <p:grpSpPr bwMode="auto">
          <a:xfrm>
            <a:off x="654050" y="2781300"/>
            <a:ext cx="4781550" cy="415925"/>
            <a:chOff x="412" y="1752"/>
            <a:chExt cx="3012" cy="262"/>
          </a:xfrm>
        </p:grpSpPr>
        <p:sp>
          <p:nvSpPr>
            <p:cNvPr id="80963" name="AutoShape 51"/>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64" name="AutoShape 52"/>
            <p:cNvSpPr>
              <a:spLocks noChangeArrowheads="1"/>
            </p:cNvSpPr>
            <p:nvPr/>
          </p:nvSpPr>
          <p:spPr bwMode="auto">
            <a:xfrm flipV="1">
              <a:off x="3300" y="1752"/>
              <a:ext cx="124" cy="228"/>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128053" name="Group 53"/>
          <p:cNvGrpSpPr>
            <a:grpSpLocks/>
          </p:cNvGrpSpPr>
          <p:nvPr/>
        </p:nvGrpSpPr>
        <p:grpSpPr bwMode="auto">
          <a:xfrm>
            <a:off x="650875" y="3357563"/>
            <a:ext cx="4497388" cy="396875"/>
            <a:chOff x="410" y="2115"/>
            <a:chExt cx="2833" cy="250"/>
          </a:xfrm>
        </p:grpSpPr>
        <p:sp>
          <p:nvSpPr>
            <p:cNvPr id="80961" name="AutoShape 54"/>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62" name="AutoShape 55"/>
            <p:cNvSpPr>
              <a:spLocks noChangeArrowheads="1"/>
            </p:cNvSpPr>
            <p:nvPr/>
          </p:nvSpPr>
          <p:spPr bwMode="auto">
            <a:xfrm rot="10800000">
              <a:off x="3118" y="2115"/>
              <a:ext cx="125" cy="249"/>
            </a:xfrm>
            <a:prstGeom prst="upArrow">
              <a:avLst>
                <a:gd name="adj1" fmla="val 50000"/>
                <a:gd name="adj2" fmla="val 498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128056" name="Group 56"/>
          <p:cNvGrpSpPr>
            <a:grpSpLocks/>
          </p:cNvGrpSpPr>
          <p:nvPr/>
        </p:nvGrpSpPr>
        <p:grpSpPr bwMode="auto">
          <a:xfrm>
            <a:off x="650875" y="3917950"/>
            <a:ext cx="4137025" cy="409575"/>
            <a:chOff x="410" y="2468"/>
            <a:chExt cx="2606" cy="258"/>
          </a:xfrm>
        </p:grpSpPr>
        <p:sp>
          <p:nvSpPr>
            <p:cNvPr id="80959" name="AutoShape 57"/>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60" name="AutoShape 58"/>
            <p:cNvSpPr>
              <a:spLocks noChangeArrowheads="1"/>
            </p:cNvSpPr>
            <p:nvPr/>
          </p:nvSpPr>
          <p:spPr bwMode="auto">
            <a:xfrm rot="10800000">
              <a:off x="2891" y="2478"/>
              <a:ext cx="125" cy="248"/>
            </a:xfrm>
            <a:prstGeom prst="upArrow">
              <a:avLst>
                <a:gd name="adj1" fmla="val 50000"/>
                <a:gd name="adj2" fmla="val 496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128059" name="Group 59"/>
          <p:cNvGrpSpPr>
            <a:grpSpLocks/>
          </p:cNvGrpSpPr>
          <p:nvPr/>
        </p:nvGrpSpPr>
        <p:grpSpPr bwMode="auto">
          <a:xfrm>
            <a:off x="649288" y="4508500"/>
            <a:ext cx="3832225" cy="444500"/>
            <a:chOff x="409" y="2840"/>
            <a:chExt cx="2414" cy="280"/>
          </a:xfrm>
        </p:grpSpPr>
        <p:sp>
          <p:nvSpPr>
            <p:cNvPr id="80957" name="AutoShape 60"/>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58" name="AutoShape 61"/>
            <p:cNvSpPr>
              <a:spLocks noChangeArrowheads="1"/>
            </p:cNvSpPr>
            <p:nvPr/>
          </p:nvSpPr>
          <p:spPr bwMode="auto">
            <a:xfrm rot="10800000">
              <a:off x="2699" y="2840"/>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128062" name="Group 62"/>
          <p:cNvGrpSpPr>
            <a:grpSpLocks/>
          </p:cNvGrpSpPr>
          <p:nvPr/>
        </p:nvGrpSpPr>
        <p:grpSpPr bwMode="auto">
          <a:xfrm>
            <a:off x="649288" y="5084763"/>
            <a:ext cx="3635375" cy="460375"/>
            <a:chOff x="409" y="3203"/>
            <a:chExt cx="2290" cy="290"/>
          </a:xfrm>
        </p:grpSpPr>
        <p:sp>
          <p:nvSpPr>
            <p:cNvPr id="80955" name="AutoShape 63"/>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0956" name="AutoShape 64"/>
            <p:cNvSpPr>
              <a:spLocks noChangeArrowheads="1"/>
            </p:cNvSpPr>
            <p:nvPr/>
          </p:nvSpPr>
          <p:spPr bwMode="auto">
            <a:xfrm rot="10800000">
              <a:off x="2575" y="3203"/>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pSp>
        <p:nvGrpSpPr>
          <p:cNvPr id="128065" name="Group 65"/>
          <p:cNvGrpSpPr>
            <a:grpSpLocks/>
          </p:cNvGrpSpPr>
          <p:nvPr/>
        </p:nvGrpSpPr>
        <p:grpSpPr bwMode="auto">
          <a:xfrm>
            <a:off x="2051050" y="2930525"/>
            <a:ext cx="1512888" cy="1074738"/>
            <a:chOff x="1292" y="1846"/>
            <a:chExt cx="953" cy="677"/>
          </a:xfrm>
        </p:grpSpPr>
        <p:sp>
          <p:nvSpPr>
            <p:cNvPr id="80952" name="Rectangle 66"/>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0953" name="Text Box 67"/>
            <p:cNvSpPr txBox="1">
              <a:spLocks noChangeArrowheads="1"/>
            </p:cNvSpPr>
            <p:nvPr/>
          </p:nvSpPr>
          <p:spPr bwMode="auto">
            <a:xfrm>
              <a:off x="1292" y="1846"/>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latin typeface="Arial Rounded MT Bold" pitchFamily="34" charset="0"/>
                  <a:ea typeface="黑体" pitchFamily="49" charset="-122"/>
                </a:rPr>
                <a:t>运输层首部</a:t>
              </a:r>
              <a:endParaRPr kumimoji="1" lang="zh-CN" altLang="en-US" sz="2000">
                <a:solidFill>
                  <a:srgbClr val="333399"/>
                </a:solidFill>
                <a:latin typeface="Times New Roman" pitchFamily="18" charset="0"/>
                <a:ea typeface="黑体" pitchFamily="49" charset="-122"/>
              </a:endParaRPr>
            </a:p>
          </p:txBody>
        </p:sp>
        <p:sp>
          <p:nvSpPr>
            <p:cNvPr id="80954" name="Line 68"/>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69" name="Group 69"/>
          <p:cNvGrpSpPr>
            <a:grpSpLocks/>
          </p:cNvGrpSpPr>
          <p:nvPr/>
        </p:nvGrpSpPr>
        <p:grpSpPr bwMode="auto">
          <a:xfrm>
            <a:off x="1533525" y="3429000"/>
            <a:ext cx="1525588" cy="1152525"/>
            <a:chOff x="966" y="2160"/>
            <a:chExt cx="961" cy="726"/>
          </a:xfrm>
        </p:grpSpPr>
        <p:sp>
          <p:nvSpPr>
            <p:cNvPr id="80949" name="Rectangle 70"/>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80950" name="Text Box 71"/>
            <p:cNvSpPr txBox="1">
              <a:spLocks noChangeArrowheads="1"/>
            </p:cNvSpPr>
            <p:nvPr/>
          </p:nvSpPr>
          <p:spPr bwMode="auto">
            <a:xfrm>
              <a:off x="966" y="2160"/>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latin typeface="Arial Rounded MT Bold" pitchFamily="34" charset="0"/>
                  <a:ea typeface="黑体" pitchFamily="49" charset="-122"/>
                </a:rPr>
                <a:t>网络层首部</a:t>
              </a:r>
              <a:endParaRPr kumimoji="1" lang="zh-CN" altLang="en-US" sz="2000">
                <a:solidFill>
                  <a:srgbClr val="333399"/>
                </a:solidFill>
                <a:latin typeface="Times New Roman" pitchFamily="18" charset="0"/>
                <a:ea typeface="黑体" pitchFamily="49" charset="-122"/>
              </a:endParaRPr>
            </a:p>
          </p:txBody>
        </p:sp>
        <p:sp>
          <p:nvSpPr>
            <p:cNvPr id="80951" name="Line 72"/>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73" name="Group 73"/>
          <p:cNvGrpSpPr>
            <a:grpSpLocks/>
          </p:cNvGrpSpPr>
          <p:nvPr/>
        </p:nvGrpSpPr>
        <p:grpSpPr bwMode="auto">
          <a:xfrm>
            <a:off x="1393825" y="3860800"/>
            <a:ext cx="1162050" cy="1295400"/>
            <a:chOff x="878" y="2432"/>
            <a:chExt cx="732" cy="816"/>
          </a:xfrm>
        </p:grpSpPr>
        <p:sp>
          <p:nvSpPr>
            <p:cNvPr id="80946" name="Rectangle 74"/>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2</a:t>
              </a:r>
            </a:p>
          </p:txBody>
        </p:sp>
        <p:sp>
          <p:nvSpPr>
            <p:cNvPr id="80947" name="Text Box 75"/>
            <p:cNvSpPr txBox="1">
              <a:spLocks noChangeArrowheads="1"/>
            </p:cNvSpPr>
            <p:nvPr/>
          </p:nvSpPr>
          <p:spPr bwMode="auto">
            <a:xfrm>
              <a:off x="878" y="2432"/>
              <a:ext cx="5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kumimoji="1" lang="zh-CN" altLang="en-US" sz="2000">
                  <a:solidFill>
                    <a:srgbClr val="333399"/>
                  </a:solidFill>
                  <a:latin typeface="Arial Rounded MT Bold" pitchFamily="34" charset="0"/>
                  <a:ea typeface="黑体" pitchFamily="49" charset="-122"/>
                </a:rPr>
                <a:t>链路层</a:t>
              </a:r>
            </a:p>
            <a:p>
              <a:pPr algn="ctr">
                <a:lnSpc>
                  <a:spcPct val="90000"/>
                </a:lnSpc>
              </a:pPr>
              <a:r>
                <a:rPr kumimoji="1" lang="zh-CN" altLang="en-US" sz="2000">
                  <a:solidFill>
                    <a:srgbClr val="333399"/>
                  </a:solidFill>
                  <a:latin typeface="Arial Rounded MT Bold" pitchFamily="34" charset="0"/>
                  <a:ea typeface="黑体" pitchFamily="49" charset="-122"/>
                </a:rPr>
                <a:t>首部</a:t>
              </a:r>
              <a:endParaRPr kumimoji="1" lang="zh-CN" altLang="en-US" sz="2000">
                <a:solidFill>
                  <a:srgbClr val="333399"/>
                </a:solidFill>
                <a:latin typeface="Times New Roman" pitchFamily="18" charset="0"/>
                <a:ea typeface="黑体" pitchFamily="49" charset="-122"/>
              </a:endParaRPr>
            </a:p>
          </p:txBody>
        </p:sp>
        <p:sp>
          <p:nvSpPr>
            <p:cNvPr id="80948" name="Line 76"/>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77" name="Group 77"/>
          <p:cNvGrpSpPr>
            <a:grpSpLocks/>
          </p:cNvGrpSpPr>
          <p:nvPr/>
        </p:nvGrpSpPr>
        <p:grpSpPr bwMode="auto">
          <a:xfrm>
            <a:off x="6659563" y="3867150"/>
            <a:ext cx="1008062" cy="1290638"/>
            <a:chOff x="4195" y="2436"/>
            <a:chExt cx="635" cy="813"/>
          </a:xfrm>
        </p:grpSpPr>
        <p:sp>
          <p:nvSpPr>
            <p:cNvPr id="80943" name="Rectangle 78"/>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T</a:t>
              </a:r>
              <a:r>
                <a:rPr lang="en-US" altLang="zh-CN" b="1" baseline="-25000">
                  <a:solidFill>
                    <a:srgbClr val="333399"/>
                  </a:solidFill>
                </a:rPr>
                <a:t>2</a:t>
              </a:r>
            </a:p>
          </p:txBody>
        </p:sp>
        <p:sp>
          <p:nvSpPr>
            <p:cNvPr id="80944" name="Line 79"/>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945" name="Text Box 80"/>
            <p:cNvSpPr txBox="1">
              <a:spLocks noChangeArrowheads="1"/>
            </p:cNvSpPr>
            <p:nvPr/>
          </p:nvSpPr>
          <p:spPr bwMode="auto">
            <a:xfrm>
              <a:off x="4234" y="2436"/>
              <a:ext cx="59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lnSpc>
                  <a:spcPct val="90000"/>
                </a:lnSpc>
              </a:pPr>
              <a:r>
                <a:rPr kumimoji="1" lang="zh-CN" altLang="en-US" sz="2000">
                  <a:solidFill>
                    <a:srgbClr val="333399"/>
                  </a:solidFill>
                  <a:latin typeface="Arial Rounded MT Bold" pitchFamily="34" charset="0"/>
                  <a:ea typeface="黑体" pitchFamily="49" charset="-122"/>
                </a:rPr>
                <a:t>链路层</a:t>
              </a:r>
            </a:p>
            <a:p>
              <a:pPr algn="ctr">
                <a:lnSpc>
                  <a:spcPct val="90000"/>
                </a:lnSpc>
              </a:pPr>
              <a:r>
                <a:rPr kumimoji="1" lang="zh-CN" altLang="en-US" sz="2000">
                  <a:solidFill>
                    <a:srgbClr val="333399"/>
                  </a:solidFill>
                  <a:latin typeface="Arial Rounded MT Bold" pitchFamily="34" charset="0"/>
                  <a:ea typeface="黑体" pitchFamily="49" charset="-122"/>
                </a:rPr>
                <a:t>尾部</a:t>
              </a:r>
              <a:endParaRPr kumimoji="1" lang="zh-CN" altLang="en-US" sz="2000">
                <a:solidFill>
                  <a:srgbClr val="333399"/>
                </a:solidFill>
                <a:latin typeface="Times New Roman" pitchFamily="18" charset="0"/>
                <a:ea typeface="黑体"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30"/>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1" fill="hold" nodeType="afterEffect">
                                  <p:stCondLst>
                                    <p:cond delay="1000"/>
                                  </p:stCondLst>
                                  <p:childTnLst>
                                    <p:set>
                                      <p:cBhvr>
                                        <p:cTn id="9" dur="1" fill="hold">
                                          <p:stCondLst>
                                            <p:cond delay="0"/>
                                          </p:stCondLst>
                                        </p:cTn>
                                        <p:tgtEl>
                                          <p:spTgt spid="128050"/>
                                        </p:tgtEl>
                                        <p:attrNameLst>
                                          <p:attrName>style.visibility</p:attrName>
                                        </p:attrNameLst>
                                      </p:cBhvr>
                                      <p:to>
                                        <p:strVal val="visible"/>
                                      </p:to>
                                    </p:set>
                                    <p:animEffect transition="in" filter="wipe(up)">
                                      <p:cBhvr>
                                        <p:cTn id="10" dur="1000"/>
                                        <p:tgtEl>
                                          <p:spTgt spid="128050"/>
                                        </p:tgtEl>
                                      </p:cBhvr>
                                    </p:animEffect>
                                  </p:childTnLst>
                                </p:cTn>
                              </p:par>
                            </p:childTnLst>
                          </p:cTn>
                        </p:par>
                        <p:par>
                          <p:cTn id="11" fill="hold" nodeType="afterGroup">
                            <p:stCondLst>
                              <p:cond delay="2500"/>
                            </p:stCondLst>
                            <p:childTnLst>
                              <p:par>
                                <p:cTn id="12" presetID="1" presetClass="entr" presetSubtype="0" fill="hold" grpId="0" nodeType="afterEffect">
                                  <p:stCondLst>
                                    <p:cond delay="500"/>
                                  </p:stCondLst>
                                  <p:childTnLst>
                                    <p:set>
                                      <p:cBhvr>
                                        <p:cTn id="13" dur="1" fill="hold">
                                          <p:stCondLst>
                                            <p:cond delay="0"/>
                                          </p:stCondLst>
                                        </p:cTn>
                                        <p:tgtEl>
                                          <p:spTgt spid="128037"/>
                                        </p:tgtEl>
                                        <p:attrNameLst>
                                          <p:attrName>style.visibility</p:attrName>
                                        </p:attrNameLst>
                                      </p:cBhvr>
                                      <p:to>
                                        <p:strVal val="visible"/>
                                      </p:to>
                                    </p:set>
                                  </p:childTnLst>
                                </p:cTn>
                              </p:par>
                            </p:childTnLst>
                          </p:cTn>
                        </p:par>
                        <p:par>
                          <p:cTn id="14" fill="hold" nodeType="afterGroup">
                            <p:stCondLst>
                              <p:cond delay="3000"/>
                            </p:stCondLst>
                            <p:childTnLst>
                              <p:par>
                                <p:cTn id="15" presetID="12" presetClass="entr" presetSubtype="8" fill="hold" nodeType="afterEffect">
                                  <p:stCondLst>
                                    <p:cond delay="1000"/>
                                  </p:stCondLst>
                                  <p:childTnLst>
                                    <p:set>
                                      <p:cBhvr>
                                        <p:cTn id="16" dur="1" fill="hold">
                                          <p:stCondLst>
                                            <p:cond delay="0"/>
                                          </p:stCondLst>
                                        </p:cTn>
                                        <p:tgtEl>
                                          <p:spTgt spid="128031"/>
                                        </p:tgtEl>
                                        <p:attrNameLst>
                                          <p:attrName>style.visibility</p:attrName>
                                        </p:attrNameLst>
                                      </p:cBhvr>
                                      <p:to>
                                        <p:strVal val="visible"/>
                                      </p:to>
                                    </p:set>
                                    <p:animEffect transition="in" filter="slide(fromLeft)">
                                      <p:cBhvr>
                                        <p:cTn id="17" dur="1000"/>
                                        <p:tgtEl>
                                          <p:spTgt spid="128031"/>
                                        </p:tgtEl>
                                      </p:cBhvr>
                                    </p:animEffect>
                                  </p:childTnLst>
                                </p:cTn>
                              </p:par>
                            </p:childTnLst>
                          </p:cTn>
                        </p:par>
                        <p:par>
                          <p:cTn id="18" fill="hold" nodeType="afterGroup">
                            <p:stCondLst>
                              <p:cond delay="5000"/>
                            </p:stCondLst>
                            <p:childTnLst>
                              <p:par>
                                <p:cTn id="19" presetID="9" presetClass="emph" presetSubtype="0" nodeType="afterEffect">
                                  <p:stCondLst>
                                    <p:cond delay="500"/>
                                  </p:stCondLst>
                                  <p:childTnLst>
                                    <p:set>
                                      <p:cBhvr rctx="PPT">
                                        <p:cTn id="20" dur="indefinite"/>
                                        <p:tgtEl>
                                          <p:spTgt spid="128050"/>
                                        </p:tgtEl>
                                        <p:attrNameLst>
                                          <p:attrName>style.opacity</p:attrName>
                                        </p:attrNameLst>
                                      </p:cBhvr>
                                      <p:to>
                                        <p:strVal val="0.5"/>
                                      </p:to>
                                    </p:set>
                                    <p:animEffect filter="image" prLst="opacity: 0.5">
                                      <p:cBhvr rctx="IE">
                                        <p:cTn id="21" dur="indefinite"/>
                                        <p:tgtEl>
                                          <p:spTgt spid="128050"/>
                                        </p:tgtEl>
                                      </p:cBhvr>
                                    </p:animEffect>
                                  </p:childTnLst>
                                </p:cTn>
                              </p:par>
                            </p:childTnLst>
                          </p:cTn>
                        </p:par>
                        <p:par>
                          <p:cTn id="22" fill="hold" nodeType="afterGroup">
                            <p:stCondLst>
                              <p:cond delay="5500"/>
                            </p:stCondLst>
                            <p:childTnLst>
                              <p:par>
                                <p:cTn id="23" presetID="22" presetClass="entr" presetSubtype="1" fill="hold" nodeType="afterEffect">
                                  <p:stCondLst>
                                    <p:cond delay="500"/>
                                  </p:stCondLst>
                                  <p:childTnLst>
                                    <p:set>
                                      <p:cBhvr>
                                        <p:cTn id="24" dur="1" fill="hold">
                                          <p:stCondLst>
                                            <p:cond delay="0"/>
                                          </p:stCondLst>
                                        </p:cTn>
                                        <p:tgtEl>
                                          <p:spTgt spid="128053"/>
                                        </p:tgtEl>
                                        <p:attrNameLst>
                                          <p:attrName>style.visibility</p:attrName>
                                        </p:attrNameLst>
                                      </p:cBhvr>
                                      <p:to>
                                        <p:strVal val="visible"/>
                                      </p:to>
                                    </p:set>
                                    <p:animEffect transition="in" filter="wipe(up)">
                                      <p:cBhvr>
                                        <p:cTn id="25" dur="1000"/>
                                        <p:tgtEl>
                                          <p:spTgt spid="128053"/>
                                        </p:tgtEl>
                                      </p:cBhvr>
                                    </p:animEffect>
                                  </p:childTnLst>
                                </p:cTn>
                              </p:par>
                            </p:childTnLst>
                          </p:cTn>
                        </p:par>
                        <p:par>
                          <p:cTn id="26" fill="hold" nodeType="afterGroup">
                            <p:stCondLst>
                              <p:cond delay="7000"/>
                            </p:stCondLst>
                            <p:childTnLst>
                              <p:par>
                                <p:cTn id="27" presetID="1" presetClass="entr" presetSubtype="0" fill="hold" nodeType="afterEffect">
                                  <p:stCondLst>
                                    <p:cond delay="500"/>
                                  </p:stCondLst>
                                  <p:childTnLst>
                                    <p:set>
                                      <p:cBhvr>
                                        <p:cTn id="28" dur="1" fill="hold">
                                          <p:stCondLst>
                                            <p:cond delay="0"/>
                                          </p:stCondLst>
                                        </p:cTn>
                                        <p:tgtEl>
                                          <p:spTgt spid="128038"/>
                                        </p:tgtEl>
                                        <p:attrNameLst>
                                          <p:attrName>style.visibility</p:attrName>
                                        </p:attrNameLst>
                                      </p:cBhvr>
                                      <p:to>
                                        <p:strVal val="visible"/>
                                      </p:to>
                                    </p:set>
                                  </p:childTnLst>
                                </p:cTn>
                              </p:par>
                            </p:childTnLst>
                          </p:cTn>
                        </p:par>
                        <p:par>
                          <p:cTn id="29" fill="hold" nodeType="afterGroup">
                            <p:stCondLst>
                              <p:cond delay="7500"/>
                            </p:stCondLst>
                            <p:childTnLst>
                              <p:par>
                                <p:cTn id="30" presetID="12" presetClass="entr" presetSubtype="8" fill="hold" nodeType="afterEffect">
                                  <p:stCondLst>
                                    <p:cond delay="1000"/>
                                  </p:stCondLst>
                                  <p:childTnLst>
                                    <p:set>
                                      <p:cBhvr>
                                        <p:cTn id="31" dur="1" fill="hold">
                                          <p:stCondLst>
                                            <p:cond delay="0"/>
                                          </p:stCondLst>
                                        </p:cTn>
                                        <p:tgtEl>
                                          <p:spTgt spid="128065"/>
                                        </p:tgtEl>
                                        <p:attrNameLst>
                                          <p:attrName>style.visibility</p:attrName>
                                        </p:attrNameLst>
                                      </p:cBhvr>
                                      <p:to>
                                        <p:strVal val="visible"/>
                                      </p:to>
                                    </p:set>
                                    <p:animEffect transition="in" filter="slide(fromLeft)">
                                      <p:cBhvr>
                                        <p:cTn id="32" dur="1000"/>
                                        <p:tgtEl>
                                          <p:spTgt spid="128065"/>
                                        </p:tgtEl>
                                      </p:cBhvr>
                                    </p:animEffect>
                                  </p:childTnLst>
                                </p:cTn>
                              </p:par>
                            </p:childTnLst>
                          </p:cTn>
                        </p:par>
                        <p:par>
                          <p:cTn id="33" fill="hold" nodeType="afterGroup">
                            <p:stCondLst>
                              <p:cond delay="9500"/>
                            </p:stCondLst>
                            <p:childTnLst>
                              <p:par>
                                <p:cTn id="34" presetID="9" presetClass="emph" presetSubtype="0" nodeType="afterEffect">
                                  <p:stCondLst>
                                    <p:cond delay="0"/>
                                  </p:stCondLst>
                                  <p:childTnLst>
                                    <p:set>
                                      <p:cBhvr rctx="PPT">
                                        <p:cTn id="35" dur="indefinite"/>
                                        <p:tgtEl>
                                          <p:spTgt spid="128053"/>
                                        </p:tgtEl>
                                        <p:attrNameLst>
                                          <p:attrName>style.opacity</p:attrName>
                                        </p:attrNameLst>
                                      </p:cBhvr>
                                      <p:to>
                                        <p:strVal val="0.5"/>
                                      </p:to>
                                    </p:set>
                                    <p:animEffect filter="image" prLst="opacity: 0.5">
                                      <p:cBhvr rctx="IE">
                                        <p:cTn id="36" dur="indefinite"/>
                                        <p:tgtEl>
                                          <p:spTgt spid="128053"/>
                                        </p:tgtEl>
                                      </p:cBhvr>
                                    </p:animEffect>
                                  </p:childTnLst>
                                </p:cTn>
                              </p:par>
                            </p:childTnLst>
                          </p:cTn>
                        </p:par>
                        <p:par>
                          <p:cTn id="37" fill="hold" nodeType="afterGroup">
                            <p:stCondLst>
                              <p:cond delay="9500"/>
                            </p:stCondLst>
                            <p:childTnLst>
                              <p:par>
                                <p:cTn id="38" presetID="22" presetClass="entr" presetSubtype="1" fill="hold" nodeType="afterEffect">
                                  <p:stCondLst>
                                    <p:cond delay="0"/>
                                  </p:stCondLst>
                                  <p:childTnLst>
                                    <p:set>
                                      <p:cBhvr>
                                        <p:cTn id="39" dur="1" fill="hold">
                                          <p:stCondLst>
                                            <p:cond delay="0"/>
                                          </p:stCondLst>
                                        </p:cTn>
                                        <p:tgtEl>
                                          <p:spTgt spid="128056"/>
                                        </p:tgtEl>
                                        <p:attrNameLst>
                                          <p:attrName>style.visibility</p:attrName>
                                        </p:attrNameLst>
                                      </p:cBhvr>
                                      <p:to>
                                        <p:strVal val="visible"/>
                                      </p:to>
                                    </p:set>
                                    <p:animEffect transition="in" filter="wipe(up)">
                                      <p:cBhvr>
                                        <p:cTn id="40" dur="1000"/>
                                        <p:tgtEl>
                                          <p:spTgt spid="128056"/>
                                        </p:tgtEl>
                                      </p:cBhvr>
                                    </p:animEffect>
                                  </p:childTnLst>
                                </p:cTn>
                              </p:par>
                            </p:childTnLst>
                          </p:cTn>
                        </p:par>
                        <p:par>
                          <p:cTn id="41" fill="hold" nodeType="afterGroup">
                            <p:stCondLst>
                              <p:cond delay="10500"/>
                            </p:stCondLst>
                            <p:childTnLst>
                              <p:par>
                                <p:cTn id="42" presetID="1" presetClass="entr" presetSubtype="0" fill="hold" nodeType="afterEffect">
                                  <p:stCondLst>
                                    <p:cond delay="500"/>
                                  </p:stCondLst>
                                  <p:childTnLst>
                                    <p:set>
                                      <p:cBhvr>
                                        <p:cTn id="43" dur="1" fill="hold">
                                          <p:stCondLst>
                                            <p:cond delay="0"/>
                                          </p:stCondLst>
                                        </p:cTn>
                                        <p:tgtEl>
                                          <p:spTgt spid="128041"/>
                                        </p:tgtEl>
                                        <p:attrNameLst>
                                          <p:attrName>style.visibility</p:attrName>
                                        </p:attrNameLst>
                                      </p:cBhvr>
                                      <p:to>
                                        <p:strVal val="visible"/>
                                      </p:to>
                                    </p:set>
                                  </p:childTnLst>
                                </p:cTn>
                              </p:par>
                            </p:childTnLst>
                          </p:cTn>
                        </p:par>
                        <p:par>
                          <p:cTn id="44" fill="hold" nodeType="afterGroup">
                            <p:stCondLst>
                              <p:cond delay="11000"/>
                            </p:stCondLst>
                            <p:childTnLst>
                              <p:par>
                                <p:cTn id="45" presetID="12" presetClass="entr" presetSubtype="8" fill="hold" nodeType="afterEffect">
                                  <p:stCondLst>
                                    <p:cond delay="1000"/>
                                  </p:stCondLst>
                                  <p:childTnLst>
                                    <p:set>
                                      <p:cBhvr>
                                        <p:cTn id="46" dur="1" fill="hold">
                                          <p:stCondLst>
                                            <p:cond delay="0"/>
                                          </p:stCondLst>
                                        </p:cTn>
                                        <p:tgtEl>
                                          <p:spTgt spid="128069"/>
                                        </p:tgtEl>
                                        <p:attrNameLst>
                                          <p:attrName>style.visibility</p:attrName>
                                        </p:attrNameLst>
                                      </p:cBhvr>
                                      <p:to>
                                        <p:strVal val="visible"/>
                                      </p:to>
                                    </p:set>
                                    <p:animEffect transition="in" filter="slide(fromLeft)">
                                      <p:cBhvr>
                                        <p:cTn id="47" dur="1000"/>
                                        <p:tgtEl>
                                          <p:spTgt spid="128069"/>
                                        </p:tgtEl>
                                      </p:cBhvr>
                                    </p:animEffect>
                                  </p:childTnLst>
                                </p:cTn>
                              </p:par>
                            </p:childTnLst>
                          </p:cTn>
                        </p:par>
                        <p:par>
                          <p:cTn id="48" fill="hold" nodeType="afterGroup">
                            <p:stCondLst>
                              <p:cond delay="13000"/>
                            </p:stCondLst>
                            <p:childTnLst>
                              <p:par>
                                <p:cTn id="49" presetID="9" presetClass="emph" presetSubtype="0" nodeType="afterEffect">
                                  <p:stCondLst>
                                    <p:cond delay="0"/>
                                  </p:stCondLst>
                                  <p:childTnLst>
                                    <p:set>
                                      <p:cBhvr rctx="PPT">
                                        <p:cTn id="50" dur="indefinite"/>
                                        <p:tgtEl>
                                          <p:spTgt spid="128056"/>
                                        </p:tgtEl>
                                        <p:attrNameLst>
                                          <p:attrName>style.opacity</p:attrName>
                                        </p:attrNameLst>
                                      </p:cBhvr>
                                      <p:to>
                                        <p:strVal val="0.5"/>
                                      </p:to>
                                    </p:set>
                                    <p:animEffect filter="image" prLst="opacity: 0.5">
                                      <p:cBhvr rctx="IE">
                                        <p:cTn id="51" dur="indefinite"/>
                                        <p:tgtEl>
                                          <p:spTgt spid="128056"/>
                                        </p:tgtEl>
                                      </p:cBhvr>
                                    </p:animEffect>
                                  </p:childTnLst>
                                </p:cTn>
                              </p:par>
                            </p:childTnLst>
                          </p:cTn>
                        </p:par>
                        <p:par>
                          <p:cTn id="52" fill="hold" nodeType="afterGroup">
                            <p:stCondLst>
                              <p:cond delay="13000"/>
                            </p:stCondLst>
                            <p:childTnLst>
                              <p:par>
                                <p:cTn id="53" presetID="22" presetClass="entr" presetSubtype="1" fill="hold" nodeType="afterEffect">
                                  <p:stCondLst>
                                    <p:cond delay="0"/>
                                  </p:stCondLst>
                                  <p:childTnLst>
                                    <p:set>
                                      <p:cBhvr>
                                        <p:cTn id="54" dur="1" fill="hold">
                                          <p:stCondLst>
                                            <p:cond delay="0"/>
                                          </p:stCondLst>
                                        </p:cTn>
                                        <p:tgtEl>
                                          <p:spTgt spid="128059"/>
                                        </p:tgtEl>
                                        <p:attrNameLst>
                                          <p:attrName>style.visibility</p:attrName>
                                        </p:attrNameLst>
                                      </p:cBhvr>
                                      <p:to>
                                        <p:strVal val="visible"/>
                                      </p:to>
                                    </p:set>
                                    <p:animEffect transition="in" filter="wipe(up)">
                                      <p:cBhvr>
                                        <p:cTn id="55" dur="1000"/>
                                        <p:tgtEl>
                                          <p:spTgt spid="128059"/>
                                        </p:tgtEl>
                                      </p:cBhvr>
                                    </p:animEffect>
                                  </p:childTnLst>
                                </p:cTn>
                              </p:par>
                            </p:childTnLst>
                          </p:cTn>
                        </p:par>
                        <p:par>
                          <p:cTn id="56" fill="hold" nodeType="afterGroup">
                            <p:stCondLst>
                              <p:cond delay="14000"/>
                            </p:stCondLst>
                            <p:childTnLst>
                              <p:par>
                                <p:cTn id="57" presetID="1" presetClass="entr" presetSubtype="0" fill="hold" nodeType="afterEffect">
                                  <p:stCondLst>
                                    <p:cond delay="500"/>
                                  </p:stCondLst>
                                  <p:childTnLst>
                                    <p:set>
                                      <p:cBhvr>
                                        <p:cTn id="58" dur="1" fill="hold">
                                          <p:stCondLst>
                                            <p:cond delay="0"/>
                                          </p:stCondLst>
                                        </p:cTn>
                                        <p:tgtEl>
                                          <p:spTgt spid="128045"/>
                                        </p:tgtEl>
                                        <p:attrNameLst>
                                          <p:attrName>style.visibility</p:attrName>
                                        </p:attrNameLst>
                                      </p:cBhvr>
                                      <p:to>
                                        <p:strVal val="visible"/>
                                      </p:to>
                                    </p:set>
                                  </p:childTnLst>
                                </p:cTn>
                              </p:par>
                            </p:childTnLst>
                          </p:cTn>
                        </p:par>
                        <p:par>
                          <p:cTn id="59" fill="hold" nodeType="afterGroup">
                            <p:stCondLst>
                              <p:cond delay="14500"/>
                            </p:stCondLst>
                            <p:childTnLst>
                              <p:par>
                                <p:cTn id="60" presetID="12" presetClass="entr" presetSubtype="8" fill="hold" nodeType="afterEffect">
                                  <p:stCondLst>
                                    <p:cond delay="0"/>
                                  </p:stCondLst>
                                  <p:childTnLst>
                                    <p:set>
                                      <p:cBhvr>
                                        <p:cTn id="61" dur="1" fill="hold">
                                          <p:stCondLst>
                                            <p:cond delay="0"/>
                                          </p:stCondLst>
                                        </p:cTn>
                                        <p:tgtEl>
                                          <p:spTgt spid="128073"/>
                                        </p:tgtEl>
                                        <p:attrNameLst>
                                          <p:attrName>style.visibility</p:attrName>
                                        </p:attrNameLst>
                                      </p:cBhvr>
                                      <p:to>
                                        <p:strVal val="visible"/>
                                      </p:to>
                                    </p:set>
                                    <p:animEffect transition="in" filter="slide(fromLeft)">
                                      <p:cBhvr>
                                        <p:cTn id="62" dur="1000"/>
                                        <p:tgtEl>
                                          <p:spTgt spid="128073"/>
                                        </p:tgtEl>
                                      </p:cBhvr>
                                    </p:animEffect>
                                  </p:childTnLst>
                                </p:cTn>
                              </p:par>
                            </p:childTnLst>
                          </p:cTn>
                        </p:par>
                        <p:par>
                          <p:cTn id="63" fill="hold" nodeType="afterGroup">
                            <p:stCondLst>
                              <p:cond delay="15500"/>
                            </p:stCondLst>
                            <p:childTnLst>
                              <p:par>
                                <p:cTn id="64" presetID="12" presetClass="entr" presetSubtype="2" fill="hold" nodeType="afterEffect">
                                  <p:stCondLst>
                                    <p:cond delay="0"/>
                                  </p:stCondLst>
                                  <p:childTnLst>
                                    <p:set>
                                      <p:cBhvr>
                                        <p:cTn id="65" dur="1" fill="hold">
                                          <p:stCondLst>
                                            <p:cond delay="0"/>
                                          </p:stCondLst>
                                        </p:cTn>
                                        <p:tgtEl>
                                          <p:spTgt spid="128077"/>
                                        </p:tgtEl>
                                        <p:attrNameLst>
                                          <p:attrName>style.visibility</p:attrName>
                                        </p:attrNameLst>
                                      </p:cBhvr>
                                      <p:to>
                                        <p:strVal val="visible"/>
                                      </p:to>
                                    </p:set>
                                    <p:animEffect transition="in" filter="slide(fromRight)">
                                      <p:cBhvr>
                                        <p:cTn id="66" dur="1000"/>
                                        <p:tgtEl>
                                          <p:spTgt spid="128077"/>
                                        </p:tgtEl>
                                      </p:cBhvr>
                                    </p:animEffect>
                                  </p:childTnLst>
                                </p:cTn>
                              </p:par>
                            </p:childTnLst>
                          </p:cTn>
                        </p:par>
                        <p:par>
                          <p:cTn id="67" fill="hold" nodeType="afterGroup">
                            <p:stCondLst>
                              <p:cond delay="16500"/>
                            </p:stCondLst>
                            <p:childTnLst>
                              <p:par>
                                <p:cTn id="68" presetID="22" presetClass="entr" presetSubtype="1" fill="hold" nodeType="afterEffect">
                                  <p:stCondLst>
                                    <p:cond delay="0"/>
                                  </p:stCondLst>
                                  <p:childTnLst>
                                    <p:set>
                                      <p:cBhvr>
                                        <p:cTn id="69" dur="1" fill="hold">
                                          <p:stCondLst>
                                            <p:cond delay="0"/>
                                          </p:stCondLst>
                                        </p:cTn>
                                        <p:tgtEl>
                                          <p:spTgt spid="128062"/>
                                        </p:tgtEl>
                                        <p:attrNameLst>
                                          <p:attrName>style.visibility</p:attrName>
                                        </p:attrNameLst>
                                      </p:cBhvr>
                                      <p:to>
                                        <p:strVal val="visible"/>
                                      </p:to>
                                    </p:set>
                                    <p:animEffect transition="in" filter="wipe(up)">
                                      <p:cBhvr>
                                        <p:cTn id="70" dur="1000"/>
                                        <p:tgtEl>
                                          <p:spTgt spid="128062"/>
                                        </p:tgtEl>
                                      </p:cBhvr>
                                    </p:animEffect>
                                  </p:childTnLst>
                                </p:cTn>
                              </p:par>
                            </p:childTnLst>
                          </p:cTn>
                        </p:par>
                        <p:par>
                          <p:cTn id="71" fill="hold" nodeType="afterGroup">
                            <p:stCondLst>
                              <p:cond delay="17500"/>
                            </p:stCondLst>
                            <p:childTnLst>
                              <p:par>
                                <p:cTn id="72" presetID="9" presetClass="emph" presetSubtype="0" nodeType="afterEffect">
                                  <p:stCondLst>
                                    <p:cond delay="0"/>
                                  </p:stCondLst>
                                  <p:childTnLst>
                                    <p:set>
                                      <p:cBhvr rctx="PPT">
                                        <p:cTn id="73" dur="indefinite"/>
                                        <p:tgtEl>
                                          <p:spTgt spid="128059"/>
                                        </p:tgtEl>
                                        <p:attrNameLst>
                                          <p:attrName>style.opacity</p:attrName>
                                        </p:attrNameLst>
                                      </p:cBhvr>
                                      <p:to>
                                        <p:strVal val="0.5"/>
                                      </p:to>
                                    </p:set>
                                    <p:animEffect filter="image" prLst="opacity: 0.5">
                                      <p:cBhvr rctx="IE">
                                        <p:cTn id="74" dur="indefinite"/>
                                        <p:tgtEl>
                                          <p:spTgt spid="128059"/>
                                        </p:tgtEl>
                                      </p:cBhvr>
                                    </p:animEffect>
                                  </p:childTnLst>
                                </p:cTn>
                              </p:par>
                            </p:childTnLst>
                          </p:cTn>
                        </p:par>
                        <p:par>
                          <p:cTn id="75" fill="hold" nodeType="afterGroup">
                            <p:stCondLst>
                              <p:cond delay="17500"/>
                            </p:stCondLst>
                            <p:childTnLst>
                              <p:par>
                                <p:cTn id="76" presetID="1" presetClass="entr" presetSubtype="0" fill="hold" grpId="0" nodeType="afterEffect">
                                  <p:stCondLst>
                                    <p:cond delay="500"/>
                                  </p:stCondLst>
                                  <p:childTnLst>
                                    <p:set>
                                      <p:cBhvr>
                                        <p:cTn id="77" dur="1" fill="hold">
                                          <p:stCondLst>
                                            <p:cond delay="0"/>
                                          </p:stCondLst>
                                        </p:cTn>
                                        <p:tgtEl>
                                          <p:spTgt spid="128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0" grpId="0" animBg="1" autoUpdateAnimBg="0"/>
      <p:bldP spid="128035" grpId="0" animBg="1"/>
      <p:bldP spid="128037" grpId="0"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8192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5"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1926"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1927"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1928"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1929"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1930"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1"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2"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3"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35"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1936"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1937"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1938"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1939"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1940"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1"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2"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3"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4"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8194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6"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8194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8"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81949"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129054" name="Rectangle 30"/>
          <p:cNvSpPr>
            <a:spLocks noChangeArrowheads="1"/>
          </p:cNvSpPr>
          <p:nvPr/>
        </p:nvSpPr>
        <p:spPr bwMode="auto">
          <a:xfrm>
            <a:off x="1979613" y="5373688"/>
            <a:ext cx="5184775"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solidFill>
                  <a:srgbClr val="333399"/>
                </a:solidFill>
                <a:ea typeface="黑体" pitchFamily="49" charset="-122"/>
              </a:rPr>
              <a:t>10100110100101  </a:t>
            </a:r>
            <a:r>
              <a:rPr lang="zh-CN" altLang="en-US" sz="2000">
                <a:solidFill>
                  <a:srgbClr val="333399"/>
                </a:solidFill>
                <a:ea typeface="黑体" pitchFamily="49" charset="-122"/>
              </a:rPr>
              <a:t>比  特  流  </a:t>
            </a:r>
            <a:r>
              <a:rPr lang="en-US" altLang="zh-CN" sz="2000">
                <a:solidFill>
                  <a:srgbClr val="333399"/>
                </a:solidFill>
                <a:ea typeface="黑体" pitchFamily="49" charset="-122"/>
              </a:rPr>
              <a:t>110101110101</a:t>
            </a:r>
          </a:p>
        </p:txBody>
      </p:sp>
      <p:sp>
        <p:nvSpPr>
          <p:cNvPr id="81951" name="Text Box 31"/>
          <p:cNvSpPr txBox="1">
            <a:spLocks noChangeArrowheads="1"/>
          </p:cNvSpPr>
          <p:nvPr/>
        </p:nvSpPr>
        <p:spPr bwMode="auto">
          <a:xfrm>
            <a:off x="2392363" y="3902075"/>
            <a:ext cx="44846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计算机 </a:t>
            </a:r>
            <a:r>
              <a:rPr kumimoji="1" lang="en-US" altLang="zh-CN" sz="2400">
                <a:solidFill>
                  <a:srgbClr val="333399"/>
                </a:solidFill>
                <a:ea typeface="黑体" pitchFamily="49" charset="-122"/>
              </a:rPr>
              <a:t>2 </a:t>
            </a:r>
            <a:r>
              <a:rPr kumimoji="1" lang="zh-CN" altLang="en-US" sz="2400">
                <a:solidFill>
                  <a:srgbClr val="333399"/>
                </a:solidFill>
                <a:ea typeface="黑体" pitchFamily="49" charset="-122"/>
              </a:rPr>
              <a:t>的物理层收到比特流后</a:t>
            </a:r>
          </a:p>
          <a:p>
            <a:pPr algn="ctr"/>
            <a:r>
              <a:rPr kumimoji="1" lang="zh-CN" altLang="en-US" sz="2400">
                <a:solidFill>
                  <a:srgbClr val="333399"/>
                </a:solidFill>
                <a:ea typeface="黑体" pitchFamily="49" charset="-122"/>
              </a:rPr>
              <a:t>交给数据链路层</a:t>
            </a:r>
          </a:p>
        </p:txBody>
      </p:sp>
      <p:grpSp>
        <p:nvGrpSpPr>
          <p:cNvPr id="129056" name="Group 32"/>
          <p:cNvGrpSpPr>
            <a:grpSpLocks/>
          </p:cNvGrpSpPr>
          <p:nvPr/>
        </p:nvGrpSpPr>
        <p:grpSpPr bwMode="auto">
          <a:xfrm>
            <a:off x="1979613" y="4799013"/>
            <a:ext cx="5184775" cy="358775"/>
            <a:chOff x="1247" y="3023"/>
            <a:chExt cx="3266" cy="226"/>
          </a:xfrm>
        </p:grpSpPr>
        <p:sp>
          <p:nvSpPr>
            <p:cNvPr id="81956" name="Rectangle 33"/>
            <p:cNvSpPr>
              <a:spLocks noChangeArrowheads="1"/>
            </p:cNvSpPr>
            <p:nvPr/>
          </p:nvSpPr>
          <p:spPr bwMode="auto">
            <a:xfrm>
              <a:off x="1247" y="3023"/>
              <a:ext cx="363" cy="226"/>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2</a:t>
              </a:r>
            </a:p>
          </p:txBody>
        </p:sp>
        <p:sp>
          <p:nvSpPr>
            <p:cNvPr id="81957" name="Rectangle 34"/>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T</a:t>
              </a:r>
              <a:r>
                <a:rPr lang="en-US" altLang="zh-CN" b="1" baseline="-25000">
                  <a:solidFill>
                    <a:srgbClr val="333399"/>
                  </a:solidFill>
                </a:rPr>
                <a:t>2</a:t>
              </a:r>
            </a:p>
          </p:txBody>
        </p:sp>
        <p:grpSp>
          <p:nvGrpSpPr>
            <p:cNvPr id="81958" name="Group 35"/>
            <p:cNvGrpSpPr>
              <a:grpSpLocks/>
            </p:cNvGrpSpPr>
            <p:nvPr/>
          </p:nvGrpSpPr>
          <p:grpSpPr bwMode="auto">
            <a:xfrm>
              <a:off x="1610" y="3023"/>
              <a:ext cx="2585" cy="226"/>
              <a:chOff x="1610" y="3023"/>
              <a:chExt cx="2585" cy="226"/>
            </a:xfrm>
          </p:grpSpPr>
          <p:sp>
            <p:nvSpPr>
              <p:cNvPr id="81959" name="Rectangle 3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81960" name="Rectangle 3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1961" name="Rectangle 3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1962" name="Rectangle 3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grpSp>
        <p:nvGrpSpPr>
          <p:cNvPr id="129064" name="Group 40"/>
          <p:cNvGrpSpPr>
            <a:grpSpLocks/>
          </p:cNvGrpSpPr>
          <p:nvPr/>
        </p:nvGrpSpPr>
        <p:grpSpPr bwMode="auto">
          <a:xfrm>
            <a:off x="4087813" y="5013325"/>
            <a:ext cx="4352925" cy="396875"/>
            <a:chOff x="2575" y="3158"/>
            <a:chExt cx="2742" cy="250"/>
          </a:xfrm>
        </p:grpSpPr>
        <p:sp>
          <p:nvSpPr>
            <p:cNvPr id="81954" name="AutoShape 41"/>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1955" name="AutoShape 42"/>
            <p:cNvSpPr>
              <a:spLocks noChangeArrowheads="1"/>
            </p:cNvSpPr>
            <p:nvPr/>
          </p:nvSpPr>
          <p:spPr bwMode="auto">
            <a:xfrm rot="10800000" flipV="1">
              <a:off x="2575" y="3158"/>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129054"/>
                                        </p:tgtEl>
                                        <p:attrNameLst>
                                          <p:attrName>style.visibility</p:attrName>
                                        </p:attrNameLst>
                                      </p:cBhvr>
                                      <p:to>
                                        <p:strVal val="visible"/>
                                      </p:to>
                                    </p:set>
                                  </p:childTnLst>
                                </p:cTn>
                              </p:par>
                            </p:childTnLst>
                          </p:cTn>
                        </p:par>
                        <p:par>
                          <p:cTn id="7" fill="hold" nodeType="afterGroup">
                            <p:stCondLst>
                              <p:cond delay="1000"/>
                            </p:stCondLst>
                            <p:childTnLst>
                              <p:par>
                                <p:cTn id="8" presetID="22" presetClass="entr" presetSubtype="4" fill="hold" nodeType="afterEffect">
                                  <p:stCondLst>
                                    <p:cond delay="0"/>
                                  </p:stCondLst>
                                  <p:childTnLst>
                                    <p:set>
                                      <p:cBhvr>
                                        <p:cTn id="9" dur="1" fill="hold">
                                          <p:stCondLst>
                                            <p:cond delay="0"/>
                                          </p:stCondLst>
                                        </p:cTn>
                                        <p:tgtEl>
                                          <p:spTgt spid="129064"/>
                                        </p:tgtEl>
                                        <p:attrNameLst>
                                          <p:attrName>style.visibility</p:attrName>
                                        </p:attrNameLst>
                                      </p:cBhvr>
                                      <p:to>
                                        <p:strVal val="visible"/>
                                      </p:to>
                                    </p:set>
                                    <p:animEffect transition="in" filter="wipe(down)">
                                      <p:cBhvr>
                                        <p:cTn id="10" dur="1000"/>
                                        <p:tgtEl>
                                          <p:spTgt spid="129064"/>
                                        </p:tgtEl>
                                      </p:cBhvr>
                                    </p:animEffect>
                                  </p:childTnLst>
                                </p:cTn>
                              </p:par>
                            </p:childTnLst>
                          </p:cTn>
                        </p:par>
                        <p:par>
                          <p:cTn id="11" fill="hold" nodeType="afterGroup">
                            <p:stCondLst>
                              <p:cond delay="2000"/>
                            </p:stCondLst>
                            <p:childTnLst>
                              <p:par>
                                <p:cTn id="12" presetID="1" presetClass="entr" presetSubtype="0" fill="hold" nodeType="afterEffect">
                                  <p:stCondLst>
                                    <p:cond delay="0"/>
                                  </p:stCondLst>
                                  <p:childTnLst>
                                    <p:set>
                                      <p:cBhvr>
                                        <p:cTn id="13" dur="1" fill="hold">
                                          <p:stCondLst>
                                            <p:cond delay="0"/>
                                          </p:stCondLst>
                                        </p:cTn>
                                        <p:tgtEl>
                                          <p:spTgt spid="129056"/>
                                        </p:tgtEl>
                                        <p:attrNameLst>
                                          <p:attrName>style.visibility</p:attrName>
                                        </p:attrNameLst>
                                      </p:cBhvr>
                                      <p:to>
                                        <p:strVal val="visible"/>
                                      </p:to>
                                    </p:set>
                                  </p:childTnLst>
                                </p:cTn>
                              </p:par>
                            </p:childTnLst>
                          </p:cTn>
                        </p:par>
                        <p:par>
                          <p:cTn id="14" fill="hold" nodeType="afterGroup">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129054"/>
                                        </p:tgtEl>
                                        <p:attrNameLst>
                                          <p:attrName>style.visibility</p:attrName>
                                        </p:attrNameLst>
                                      </p:cBhvr>
                                      <p:to>
                                        <p:strVal val="hidden"/>
                                      </p:to>
                                    </p:set>
                                  </p:childTnLst>
                                </p:cTn>
                              </p:par>
                            </p:childTnLst>
                          </p:cTn>
                        </p:par>
                        <p:par>
                          <p:cTn id="17" fill="hold" nodeType="afterGroup">
                            <p:stCondLst>
                              <p:cond delay="2000"/>
                            </p:stCondLst>
                            <p:childTnLst>
                              <p:par>
                                <p:cTn id="18" presetID="1" presetClass="exit" presetSubtype="0" fill="hold" nodeType="afterEffect">
                                  <p:stCondLst>
                                    <p:cond delay="0"/>
                                  </p:stCondLst>
                                  <p:childTnLst>
                                    <p:set>
                                      <p:cBhvr>
                                        <p:cTn id="19" dur="1" fill="hold">
                                          <p:stCondLst>
                                            <p:cond delay="0"/>
                                          </p:stCondLst>
                                        </p:cTn>
                                        <p:tgtEl>
                                          <p:spTgt spid="1290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54" grpId="0" animBg="1"/>
      <p:bldP spid="129054" grpId="1" animBg="1"/>
    </p:bld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0050" name="Group 2"/>
          <p:cNvGrpSpPr>
            <a:grpSpLocks/>
          </p:cNvGrpSpPr>
          <p:nvPr/>
        </p:nvGrpSpPr>
        <p:grpSpPr bwMode="auto">
          <a:xfrm>
            <a:off x="2555875" y="4222750"/>
            <a:ext cx="4103688" cy="358775"/>
            <a:chOff x="1610" y="3023"/>
            <a:chExt cx="2585" cy="226"/>
          </a:xfrm>
        </p:grpSpPr>
        <p:sp>
          <p:nvSpPr>
            <p:cNvPr id="82986" name="Rectangle 3"/>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82987" name="Rectangle 4"/>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2988" name="Rectangle 5"/>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2989" name="Rectangle 6"/>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82947" name="Rectangle 7"/>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82948" name="AutoShape 8"/>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49" name="AutoShape 9"/>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0" name="Text Box 10"/>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2951" name="Text Box 11"/>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2952" name="Text Box 12"/>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2953" name="Text Box 13"/>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2954" name="Text Box 14"/>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2955" name="Freeform 15"/>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6" name="Freeform 16"/>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7" name="Freeform 17"/>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8" name="Freeform 18"/>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59" name="AutoShape 19"/>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0" name="Text Box 20"/>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2961" name="Text Box 21"/>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2962" name="Text Box 22"/>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2963" name="Text Box 23"/>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2964" name="Text Box 24"/>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2965" name="Freeform 25"/>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6" name="Freeform 26"/>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7" name="Freeform 27"/>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8" name="Freeform 28"/>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9" name="Text Box 29"/>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82970" name="AutoShape 30"/>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1" name="Text Box 31"/>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82972" name="AutoShape 32"/>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3" name="Text Box 33"/>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82974" name="Text Box 34"/>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82975" name="Text Box 35"/>
          <p:cNvSpPr txBox="1">
            <a:spLocks noChangeArrowheads="1"/>
          </p:cNvSpPr>
          <p:nvPr/>
        </p:nvSpPr>
        <p:spPr bwMode="auto">
          <a:xfrm>
            <a:off x="2263775" y="3254375"/>
            <a:ext cx="4756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数据链路层剥去帧首部和帧尾部后</a:t>
            </a:r>
          </a:p>
          <a:p>
            <a:pPr algn="ctr"/>
            <a:r>
              <a:rPr kumimoji="1" lang="zh-CN" altLang="en-US" sz="2400">
                <a:solidFill>
                  <a:srgbClr val="333399"/>
                </a:solidFill>
                <a:ea typeface="黑体" pitchFamily="49" charset="-122"/>
              </a:rPr>
              <a:t>把帧的数据部分交给网络层</a:t>
            </a:r>
          </a:p>
        </p:txBody>
      </p:sp>
      <p:sp>
        <p:nvSpPr>
          <p:cNvPr id="130084" name="Rectangle 36"/>
          <p:cNvSpPr>
            <a:spLocks noChangeArrowheads="1"/>
          </p:cNvSpPr>
          <p:nvPr/>
        </p:nvSpPr>
        <p:spPr bwMode="auto">
          <a:xfrm>
            <a:off x="1979613" y="4797425"/>
            <a:ext cx="576262" cy="358775"/>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2</a:t>
            </a:r>
          </a:p>
        </p:txBody>
      </p:sp>
      <p:sp>
        <p:nvSpPr>
          <p:cNvPr id="130085" name="Rectangle 37"/>
          <p:cNvSpPr>
            <a:spLocks noChangeArrowheads="1"/>
          </p:cNvSpPr>
          <p:nvPr/>
        </p:nvSpPr>
        <p:spPr bwMode="auto">
          <a:xfrm>
            <a:off x="6659563" y="4799013"/>
            <a:ext cx="504825" cy="358775"/>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T</a:t>
            </a:r>
            <a:r>
              <a:rPr lang="en-US" altLang="zh-CN" b="1" baseline="-25000">
                <a:solidFill>
                  <a:srgbClr val="333399"/>
                </a:solidFill>
              </a:rPr>
              <a:t>2</a:t>
            </a:r>
          </a:p>
        </p:txBody>
      </p:sp>
      <p:grpSp>
        <p:nvGrpSpPr>
          <p:cNvPr id="130086" name="Group 38"/>
          <p:cNvGrpSpPr>
            <a:grpSpLocks/>
          </p:cNvGrpSpPr>
          <p:nvPr/>
        </p:nvGrpSpPr>
        <p:grpSpPr bwMode="auto">
          <a:xfrm>
            <a:off x="2555875" y="4799013"/>
            <a:ext cx="4103688" cy="358775"/>
            <a:chOff x="1610" y="3023"/>
            <a:chExt cx="2585" cy="226"/>
          </a:xfrm>
        </p:grpSpPr>
        <p:sp>
          <p:nvSpPr>
            <p:cNvPr id="82982" name="Rectangle 39"/>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3</a:t>
              </a:r>
            </a:p>
          </p:txBody>
        </p:sp>
        <p:sp>
          <p:nvSpPr>
            <p:cNvPr id="82983" name="Rectangle 40"/>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2984" name="Rectangle 41"/>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2985" name="Rectangle 42"/>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grpSp>
        <p:nvGrpSpPr>
          <p:cNvPr id="130091" name="Group 43"/>
          <p:cNvGrpSpPr>
            <a:grpSpLocks/>
          </p:cNvGrpSpPr>
          <p:nvPr/>
        </p:nvGrpSpPr>
        <p:grpSpPr bwMode="auto">
          <a:xfrm>
            <a:off x="4211638" y="4471988"/>
            <a:ext cx="4229100" cy="396875"/>
            <a:chOff x="2653" y="2817"/>
            <a:chExt cx="2664" cy="250"/>
          </a:xfrm>
        </p:grpSpPr>
        <p:sp>
          <p:nvSpPr>
            <p:cNvPr id="82980" name="AutoShape 44"/>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2981" name="AutoShape 45"/>
            <p:cNvSpPr>
              <a:spLocks noChangeArrowheads="1"/>
            </p:cNvSpPr>
            <p:nvPr/>
          </p:nvSpPr>
          <p:spPr bwMode="auto">
            <a:xfrm rot="10800000" flipV="1">
              <a:off x="2653" y="2817"/>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0084"/>
                                        </p:tgtEl>
                                      </p:cBhvr>
                                    </p:animEffect>
                                    <p:set>
                                      <p:cBhvr>
                                        <p:cTn id="7" dur="1" fill="hold">
                                          <p:stCondLst>
                                            <p:cond delay="999"/>
                                          </p:stCondLst>
                                        </p:cTn>
                                        <p:tgtEl>
                                          <p:spTgt spid="130084"/>
                                        </p:tgtEl>
                                        <p:attrNameLst>
                                          <p:attrName>style.visibility</p:attrName>
                                        </p:attrNameLst>
                                      </p:cBhvr>
                                      <p:to>
                                        <p:strVal val="hidden"/>
                                      </p:to>
                                    </p:set>
                                  </p:childTnLst>
                                </p:cTn>
                              </p:par>
                            </p:childTnLst>
                          </p:cTn>
                        </p:par>
                        <p:par>
                          <p:cTn id="8" fill="hold" nodeType="afterGroup">
                            <p:stCondLst>
                              <p:cond delay="2000"/>
                            </p:stCondLst>
                            <p:childTnLst>
                              <p:par>
                                <p:cTn id="9" presetID="12" presetClass="exit" presetSubtype="2" fill="hold" grpId="0" nodeType="afterEffect">
                                  <p:stCondLst>
                                    <p:cond delay="0"/>
                                  </p:stCondLst>
                                  <p:childTnLst>
                                    <p:animEffect transition="out" filter="slide(fromRight)">
                                      <p:cBhvr>
                                        <p:cTn id="10" dur="1000"/>
                                        <p:tgtEl>
                                          <p:spTgt spid="130085"/>
                                        </p:tgtEl>
                                      </p:cBhvr>
                                    </p:animEffect>
                                    <p:set>
                                      <p:cBhvr>
                                        <p:cTn id="11" dur="1" fill="hold">
                                          <p:stCondLst>
                                            <p:cond delay="999"/>
                                          </p:stCondLst>
                                        </p:cTn>
                                        <p:tgtEl>
                                          <p:spTgt spid="130085"/>
                                        </p:tgtEl>
                                        <p:attrNameLst>
                                          <p:attrName>style.visibility</p:attrName>
                                        </p:attrNameLst>
                                      </p:cBhvr>
                                      <p:to>
                                        <p:strVal val="hidden"/>
                                      </p:to>
                                    </p:set>
                                  </p:childTnLst>
                                </p:cTn>
                              </p:par>
                            </p:childTnLst>
                          </p:cTn>
                        </p:par>
                        <p:par>
                          <p:cTn id="12" fill="hold" nodeType="afterGroup">
                            <p:stCondLst>
                              <p:cond delay="3000"/>
                            </p:stCondLst>
                            <p:childTnLst>
                              <p:par>
                                <p:cTn id="13" presetID="22" presetClass="entr" presetSubtype="4" fill="hold" nodeType="afterEffect">
                                  <p:stCondLst>
                                    <p:cond delay="0"/>
                                  </p:stCondLst>
                                  <p:childTnLst>
                                    <p:set>
                                      <p:cBhvr>
                                        <p:cTn id="14" dur="1" fill="hold">
                                          <p:stCondLst>
                                            <p:cond delay="0"/>
                                          </p:stCondLst>
                                        </p:cTn>
                                        <p:tgtEl>
                                          <p:spTgt spid="130091"/>
                                        </p:tgtEl>
                                        <p:attrNameLst>
                                          <p:attrName>style.visibility</p:attrName>
                                        </p:attrNameLst>
                                      </p:cBhvr>
                                      <p:to>
                                        <p:strVal val="visible"/>
                                      </p:to>
                                    </p:set>
                                    <p:animEffect transition="in" filter="wipe(down)">
                                      <p:cBhvr>
                                        <p:cTn id="15" dur="1000"/>
                                        <p:tgtEl>
                                          <p:spTgt spid="130091"/>
                                        </p:tgtEl>
                                      </p:cBhvr>
                                    </p:animEffect>
                                  </p:childTnLst>
                                </p:cTn>
                              </p:par>
                            </p:childTnLst>
                          </p:cTn>
                        </p:par>
                        <p:par>
                          <p:cTn id="16" fill="hold" nodeType="afterGroup">
                            <p:stCondLst>
                              <p:cond delay="4000"/>
                            </p:stCondLst>
                            <p:childTnLst>
                              <p:par>
                                <p:cTn id="17" presetID="1" presetClass="exit" presetSubtype="0" fill="hold" nodeType="afterEffect">
                                  <p:stCondLst>
                                    <p:cond delay="0"/>
                                  </p:stCondLst>
                                  <p:childTnLst>
                                    <p:set>
                                      <p:cBhvr>
                                        <p:cTn id="18" dur="1" fill="hold">
                                          <p:stCondLst>
                                            <p:cond delay="0"/>
                                          </p:stCondLst>
                                        </p:cTn>
                                        <p:tgtEl>
                                          <p:spTgt spid="130086"/>
                                        </p:tgtEl>
                                        <p:attrNameLst>
                                          <p:attrName>style.visibility</p:attrName>
                                        </p:attrNameLst>
                                      </p:cBhvr>
                                      <p:to>
                                        <p:strVal val="hidden"/>
                                      </p:to>
                                    </p:set>
                                  </p:childTnLst>
                                </p:cTn>
                              </p:par>
                            </p:childTnLst>
                          </p:cTn>
                        </p:par>
                        <p:par>
                          <p:cTn id="19" fill="hold" nodeType="afterGroup">
                            <p:stCondLst>
                              <p:cond delay="4000"/>
                            </p:stCondLst>
                            <p:childTnLst>
                              <p:par>
                                <p:cTn id="20" presetID="1" presetClass="entr" presetSubtype="0" fill="hold" nodeType="afterEffect">
                                  <p:stCondLst>
                                    <p:cond delay="0"/>
                                  </p:stCondLst>
                                  <p:childTnLst>
                                    <p:set>
                                      <p:cBhvr>
                                        <p:cTn id="21" dur="1" fill="hold">
                                          <p:stCondLst>
                                            <p:cond delay="0"/>
                                          </p:stCondLst>
                                        </p:cTn>
                                        <p:tgtEl>
                                          <p:spTgt spid="130050"/>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xit" presetSubtype="0" fill="hold" nodeType="afterEffect">
                                  <p:stCondLst>
                                    <p:cond delay="0"/>
                                  </p:stCondLst>
                                  <p:childTnLst>
                                    <p:set>
                                      <p:cBhvr>
                                        <p:cTn id="24" dur="1" fill="hold">
                                          <p:stCondLst>
                                            <p:cond delay="0"/>
                                          </p:stCondLst>
                                        </p:cTn>
                                        <p:tgtEl>
                                          <p:spTgt spid="13009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84" grpId="0" animBg="1"/>
      <p:bldP spid="130085" grpId="0" animBg="1"/>
    </p:bld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1074" name="Group 2"/>
          <p:cNvGrpSpPr>
            <a:grpSpLocks/>
          </p:cNvGrpSpPr>
          <p:nvPr/>
        </p:nvGrpSpPr>
        <p:grpSpPr bwMode="auto">
          <a:xfrm>
            <a:off x="3059113" y="3575050"/>
            <a:ext cx="3598862" cy="358775"/>
            <a:chOff x="1928" y="2660"/>
            <a:chExt cx="2267" cy="226"/>
          </a:xfrm>
        </p:grpSpPr>
        <p:sp>
          <p:nvSpPr>
            <p:cNvPr id="84008" name="Rectangle 3"/>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4009" name="Rectangle 4"/>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4010" name="Rectangle 5"/>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131078" name="Rectangle 6"/>
          <p:cNvSpPr>
            <a:spLocks noChangeArrowheads="1"/>
          </p:cNvSpPr>
          <p:nvPr/>
        </p:nvSpPr>
        <p:spPr bwMode="auto">
          <a:xfrm>
            <a:off x="2555875" y="4222750"/>
            <a:ext cx="504825" cy="3587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3</a:t>
            </a:r>
          </a:p>
        </p:txBody>
      </p:sp>
      <p:grpSp>
        <p:nvGrpSpPr>
          <p:cNvPr id="131079" name="Group 7"/>
          <p:cNvGrpSpPr>
            <a:grpSpLocks/>
          </p:cNvGrpSpPr>
          <p:nvPr/>
        </p:nvGrpSpPr>
        <p:grpSpPr bwMode="auto">
          <a:xfrm>
            <a:off x="3060700" y="4222750"/>
            <a:ext cx="3598863" cy="358775"/>
            <a:chOff x="1928" y="2660"/>
            <a:chExt cx="2267" cy="226"/>
          </a:xfrm>
        </p:grpSpPr>
        <p:sp>
          <p:nvSpPr>
            <p:cNvPr id="84005" name="Rectangle 8"/>
            <p:cNvSpPr>
              <a:spLocks noChangeArrowheads="1"/>
            </p:cNvSpPr>
            <p:nvPr/>
          </p:nvSpPr>
          <p:spPr bwMode="auto">
            <a:xfrm>
              <a:off x="1928"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sp>
          <p:nvSpPr>
            <p:cNvPr id="84006" name="Rectangle 9"/>
            <p:cNvSpPr>
              <a:spLocks noChangeArrowheads="1"/>
            </p:cNvSpPr>
            <p:nvPr/>
          </p:nvSpPr>
          <p:spPr bwMode="auto">
            <a:xfrm>
              <a:off x="2246"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4007" name="Rectangle 10"/>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83973" name="Rectangle 11"/>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83974" name="AutoShape 12"/>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5" name="AutoShape 13"/>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6" name="Text Box 14"/>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3977" name="Text Box 15"/>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3978" name="Text Box 16"/>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3979" name="Text Box 17"/>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3980" name="Text Box 18"/>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3981" name="Freeform 19"/>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2" name="Freeform 20"/>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3" name="Freeform 21"/>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4" name="Freeform 22"/>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5" name="AutoShape 23"/>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6" name="Text Box 24"/>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3987" name="Text Box 25"/>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3988" name="Text Box 26"/>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3989" name="Text Box 27"/>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3990" name="Text Box 28"/>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3991" name="Freeform 29"/>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2" name="Freeform 30"/>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3" name="Freeform 31"/>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4" name="Freeform 32"/>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5" name="Text Box 33"/>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83996" name="AutoShape 34"/>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7" name="Text Box 35"/>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83998" name="AutoShape 36"/>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99" name="Text Box 37"/>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84000" name="Text Box 38"/>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84001" name="Text Box 39"/>
          <p:cNvSpPr txBox="1">
            <a:spLocks noChangeArrowheads="1"/>
          </p:cNvSpPr>
          <p:nvPr/>
        </p:nvSpPr>
        <p:spPr bwMode="auto">
          <a:xfrm>
            <a:off x="2586038" y="2678113"/>
            <a:ext cx="4146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网络层剥去分组首部后</a:t>
            </a:r>
          </a:p>
          <a:p>
            <a:pPr algn="ctr"/>
            <a:r>
              <a:rPr kumimoji="1" lang="zh-CN" altLang="en-US" sz="2400">
                <a:solidFill>
                  <a:srgbClr val="333399"/>
                </a:solidFill>
                <a:ea typeface="黑体" pitchFamily="49" charset="-122"/>
              </a:rPr>
              <a:t>把分组的数据部分交给运输层</a:t>
            </a:r>
          </a:p>
        </p:txBody>
      </p:sp>
      <p:grpSp>
        <p:nvGrpSpPr>
          <p:cNvPr id="131112" name="Group 40"/>
          <p:cNvGrpSpPr>
            <a:grpSpLocks/>
          </p:cNvGrpSpPr>
          <p:nvPr/>
        </p:nvGrpSpPr>
        <p:grpSpPr bwMode="auto">
          <a:xfrm>
            <a:off x="4591050" y="3895725"/>
            <a:ext cx="3849688" cy="396875"/>
            <a:chOff x="2892" y="2454"/>
            <a:chExt cx="2425" cy="250"/>
          </a:xfrm>
        </p:grpSpPr>
        <p:sp>
          <p:nvSpPr>
            <p:cNvPr id="84003" name="AutoShape 41"/>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4004" name="AutoShape 42"/>
            <p:cNvSpPr>
              <a:spLocks noChangeArrowheads="1"/>
            </p:cNvSpPr>
            <p:nvPr/>
          </p:nvSpPr>
          <p:spPr bwMode="auto">
            <a:xfrm rot="10800000" flipV="1">
              <a:off x="2892" y="2454"/>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1078"/>
                                        </p:tgtEl>
                                      </p:cBhvr>
                                    </p:animEffect>
                                    <p:set>
                                      <p:cBhvr>
                                        <p:cTn id="7" dur="1" fill="hold">
                                          <p:stCondLst>
                                            <p:cond delay="999"/>
                                          </p:stCondLst>
                                        </p:cTn>
                                        <p:tgtEl>
                                          <p:spTgt spid="131078"/>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1112"/>
                                        </p:tgtEl>
                                        <p:attrNameLst>
                                          <p:attrName>style.visibility</p:attrName>
                                        </p:attrNameLst>
                                      </p:cBhvr>
                                      <p:to>
                                        <p:strVal val="visible"/>
                                      </p:to>
                                    </p:set>
                                    <p:animEffect transition="in" filter="wipe(down)">
                                      <p:cBhvr>
                                        <p:cTn id="11" dur="2000"/>
                                        <p:tgtEl>
                                          <p:spTgt spid="131112"/>
                                        </p:tgtEl>
                                      </p:cBhvr>
                                    </p:animEffect>
                                  </p:childTnLst>
                                </p:cTn>
                              </p:par>
                            </p:childTnLst>
                          </p:cTn>
                        </p:par>
                        <p:par>
                          <p:cTn id="12" fill="hold" nodeType="afterGroup">
                            <p:stCondLst>
                              <p:cond delay="4000"/>
                            </p:stCondLst>
                            <p:childTnLst>
                              <p:par>
                                <p:cTn id="13" presetID="1" presetClass="exit" presetSubtype="0" fill="hold" nodeType="afterEffect">
                                  <p:stCondLst>
                                    <p:cond delay="0"/>
                                  </p:stCondLst>
                                  <p:childTnLst>
                                    <p:set>
                                      <p:cBhvr>
                                        <p:cTn id="14" dur="1" fill="hold">
                                          <p:stCondLst>
                                            <p:cond delay="0"/>
                                          </p:stCondLst>
                                        </p:cTn>
                                        <p:tgtEl>
                                          <p:spTgt spid="131079"/>
                                        </p:tgtEl>
                                        <p:attrNameLst>
                                          <p:attrName>style.visibility</p:attrName>
                                        </p:attrNameLst>
                                      </p:cBhvr>
                                      <p:to>
                                        <p:strVal val="hidden"/>
                                      </p:to>
                                    </p:set>
                                  </p:childTnLst>
                                </p:cTn>
                              </p:par>
                            </p:childTnLst>
                          </p:cTn>
                        </p:par>
                        <p:par>
                          <p:cTn id="15" fill="hold" nodeType="afterGroup">
                            <p:stCondLst>
                              <p:cond delay="4000"/>
                            </p:stCondLst>
                            <p:childTnLst>
                              <p:par>
                                <p:cTn id="16" presetID="1" presetClass="entr" presetSubtype="0" fill="hold" nodeType="afterEffect">
                                  <p:stCondLst>
                                    <p:cond delay="0"/>
                                  </p:stCondLst>
                                  <p:childTnLst>
                                    <p:set>
                                      <p:cBhvr>
                                        <p:cTn id="17" dur="1" fill="hold">
                                          <p:stCondLst>
                                            <p:cond delay="0"/>
                                          </p:stCondLst>
                                        </p:cTn>
                                        <p:tgtEl>
                                          <p:spTgt spid="131074"/>
                                        </p:tgtEl>
                                        <p:attrNameLst>
                                          <p:attrName>style.visibility</p:attrName>
                                        </p:attrNameLst>
                                      </p:cBhvr>
                                      <p:to>
                                        <p:strVal val="visible"/>
                                      </p:to>
                                    </p:set>
                                  </p:childTnLst>
                                </p:cTn>
                              </p:par>
                            </p:childTnLst>
                          </p:cTn>
                        </p:par>
                        <p:par>
                          <p:cTn id="18" fill="hold" nodeType="afterGroup">
                            <p:stCondLst>
                              <p:cond delay="4000"/>
                            </p:stCondLst>
                            <p:childTnLst>
                              <p:par>
                                <p:cTn id="19" presetID="1" presetClass="exit" presetSubtype="0" fill="hold" nodeType="afterEffect">
                                  <p:stCondLst>
                                    <p:cond delay="0"/>
                                  </p:stCondLst>
                                  <p:childTnLst>
                                    <p:set>
                                      <p:cBhvr>
                                        <p:cTn id="20" dur="1" fill="hold">
                                          <p:stCondLst>
                                            <p:cond delay="0"/>
                                          </p:stCondLst>
                                        </p:cTn>
                                        <p:tgtEl>
                                          <p:spTgt spid="1311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2098" name="Group 2"/>
          <p:cNvGrpSpPr>
            <a:grpSpLocks/>
          </p:cNvGrpSpPr>
          <p:nvPr/>
        </p:nvGrpSpPr>
        <p:grpSpPr bwMode="auto">
          <a:xfrm>
            <a:off x="3563938" y="2997200"/>
            <a:ext cx="3094037" cy="358775"/>
            <a:chOff x="2245" y="2252"/>
            <a:chExt cx="1949" cy="226"/>
          </a:xfrm>
        </p:grpSpPr>
        <p:sp>
          <p:nvSpPr>
            <p:cNvPr id="85031" name="Rectangle 3"/>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5032" name="Rectangle 4"/>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132101" name="Rectangle 5"/>
          <p:cNvSpPr>
            <a:spLocks noChangeArrowheads="1"/>
          </p:cNvSpPr>
          <p:nvPr/>
        </p:nvSpPr>
        <p:spPr bwMode="auto">
          <a:xfrm>
            <a:off x="3059113" y="3575050"/>
            <a:ext cx="504825" cy="358775"/>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4</a:t>
            </a:r>
          </a:p>
        </p:txBody>
      </p:sp>
      <p:grpSp>
        <p:nvGrpSpPr>
          <p:cNvPr id="132102" name="Group 6"/>
          <p:cNvGrpSpPr>
            <a:grpSpLocks/>
          </p:cNvGrpSpPr>
          <p:nvPr/>
        </p:nvGrpSpPr>
        <p:grpSpPr bwMode="auto">
          <a:xfrm>
            <a:off x="3563938" y="3575050"/>
            <a:ext cx="3094037" cy="358775"/>
            <a:chOff x="2245" y="2252"/>
            <a:chExt cx="1949" cy="226"/>
          </a:xfrm>
        </p:grpSpPr>
        <p:sp>
          <p:nvSpPr>
            <p:cNvPr id="85029" name="Rectangle 7"/>
            <p:cNvSpPr>
              <a:spLocks noChangeArrowheads="1"/>
            </p:cNvSpPr>
            <p:nvPr/>
          </p:nvSpPr>
          <p:spPr bwMode="auto">
            <a:xfrm>
              <a:off x="2245" y="2252"/>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85030" name="Rectangle 8"/>
            <p:cNvSpPr>
              <a:spLocks noChangeArrowheads="1"/>
            </p:cNvSpPr>
            <p:nvPr/>
          </p:nvSpPr>
          <p:spPr bwMode="auto">
            <a:xfrm>
              <a:off x="2561" y="2252"/>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grpSp>
      <p:sp>
        <p:nvSpPr>
          <p:cNvPr id="84997" name="Rectangle 9"/>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84998" name="AutoShape 10"/>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9" name="AutoShape 11"/>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0" name="Text Box 12"/>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5001" name="Text Box 13"/>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5002" name="Text Box 14"/>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5003" name="Text Box 15"/>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5004" name="Text Box 16"/>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5005" name="Freeform 17"/>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6" name="Freeform 18"/>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7" name="Freeform 19"/>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8" name="Freeform 20"/>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09" name="AutoShape 21"/>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0" name="Text Box 22"/>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5011" name="Text Box 23"/>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5012" name="Text Box 24"/>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5013" name="Text Box 25"/>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5014" name="Text Box 26"/>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5015" name="Freeform 27"/>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6" name="Freeform 28"/>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7" name="Freeform 29"/>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8" name="Freeform 30"/>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19" name="Text Box 31"/>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85020" name="AutoShape 32"/>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1" name="Text Box 33"/>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85022" name="AutoShape 34"/>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3" name="Text Box 35"/>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85024" name="Text Box 36"/>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85025" name="Text Box 37"/>
          <p:cNvSpPr txBox="1">
            <a:spLocks noChangeArrowheads="1"/>
          </p:cNvSpPr>
          <p:nvPr/>
        </p:nvSpPr>
        <p:spPr bwMode="auto">
          <a:xfrm>
            <a:off x="2873375" y="2101850"/>
            <a:ext cx="4146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运输层剥去报文首部后</a:t>
            </a:r>
          </a:p>
          <a:p>
            <a:pPr algn="ctr"/>
            <a:r>
              <a:rPr kumimoji="1" lang="zh-CN" altLang="en-US" sz="2400">
                <a:solidFill>
                  <a:srgbClr val="333399"/>
                </a:solidFill>
                <a:ea typeface="黑体" pitchFamily="49" charset="-122"/>
              </a:rPr>
              <a:t>把报文的数据部分交给应用层</a:t>
            </a:r>
          </a:p>
        </p:txBody>
      </p:sp>
      <p:grpSp>
        <p:nvGrpSpPr>
          <p:cNvPr id="132134" name="Group 38"/>
          <p:cNvGrpSpPr>
            <a:grpSpLocks/>
          </p:cNvGrpSpPr>
          <p:nvPr/>
        </p:nvGrpSpPr>
        <p:grpSpPr bwMode="auto">
          <a:xfrm>
            <a:off x="4951413" y="3248025"/>
            <a:ext cx="3489325" cy="396875"/>
            <a:chOff x="3119" y="2046"/>
            <a:chExt cx="2198" cy="250"/>
          </a:xfrm>
        </p:grpSpPr>
        <p:sp>
          <p:nvSpPr>
            <p:cNvPr id="85027" name="AutoShape 39"/>
            <p:cNvSpPr>
              <a:spLocks noChangeArrowheads="1"/>
            </p:cNvSpPr>
            <p:nvPr/>
          </p:nvSpPr>
          <p:spPr bwMode="auto">
            <a:xfrm rot="10800000" flipV="1">
              <a:off x="5193" y="204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5028" name="AutoShape 40"/>
            <p:cNvSpPr>
              <a:spLocks noChangeArrowheads="1"/>
            </p:cNvSpPr>
            <p:nvPr/>
          </p:nvSpPr>
          <p:spPr bwMode="auto">
            <a:xfrm rot="10800000" flipV="1">
              <a:off x="3119" y="204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2101"/>
                                        </p:tgtEl>
                                      </p:cBhvr>
                                    </p:animEffect>
                                    <p:set>
                                      <p:cBhvr>
                                        <p:cTn id="7" dur="1" fill="hold">
                                          <p:stCondLst>
                                            <p:cond delay="999"/>
                                          </p:stCondLst>
                                        </p:cTn>
                                        <p:tgtEl>
                                          <p:spTgt spid="132101"/>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2134"/>
                                        </p:tgtEl>
                                        <p:attrNameLst>
                                          <p:attrName>style.visibility</p:attrName>
                                        </p:attrNameLst>
                                      </p:cBhvr>
                                      <p:to>
                                        <p:strVal val="visible"/>
                                      </p:to>
                                    </p:set>
                                    <p:animEffect transition="in" filter="wipe(down)">
                                      <p:cBhvr>
                                        <p:cTn id="11" dur="1000"/>
                                        <p:tgtEl>
                                          <p:spTgt spid="132134"/>
                                        </p:tgtEl>
                                      </p:cBhvr>
                                    </p:animEffect>
                                  </p:childTnLst>
                                </p:cTn>
                              </p:par>
                            </p:childTnLst>
                          </p:cTn>
                        </p:par>
                        <p:par>
                          <p:cTn id="12" fill="hold" nodeType="afterGroup">
                            <p:stCondLst>
                              <p:cond delay="3000"/>
                            </p:stCondLst>
                            <p:childTnLst>
                              <p:par>
                                <p:cTn id="13" presetID="1" presetClass="exit" presetSubtype="0" fill="hold" nodeType="afterEffect">
                                  <p:stCondLst>
                                    <p:cond delay="0"/>
                                  </p:stCondLst>
                                  <p:childTnLst>
                                    <p:set>
                                      <p:cBhvr>
                                        <p:cTn id="14" dur="1" fill="hold">
                                          <p:stCondLst>
                                            <p:cond delay="0"/>
                                          </p:stCondLst>
                                        </p:cTn>
                                        <p:tgtEl>
                                          <p:spTgt spid="132102"/>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nodeType="afterEffect">
                                  <p:stCondLst>
                                    <p:cond delay="0"/>
                                  </p:stCondLst>
                                  <p:childTnLst>
                                    <p:set>
                                      <p:cBhvr>
                                        <p:cTn id="17" dur="1" fill="hold">
                                          <p:stCondLst>
                                            <p:cond delay="0"/>
                                          </p:stCondLst>
                                        </p:cTn>
                                        <p:tgtEl>
                                          <p:spTgt spid="132098"/>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21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1" grpId="0" animBg="1"/>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4067175" y="2422525"/>
            <a:ext cx="2592388"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sp>
        <p:nvSpPr>
          <p:cNvPr id="133123" name="Rectangle 3"/>
          <p:cNvSpPr>
            <a:spLocks noChangeArrowheads="1"/>
          </p:cNvSpPr>
          <p:nvPr/>
        </p:nvSpPr>
        <p:spPr bwMode="auto">
          <a:xfrm>
            <a:off x="3563938" y="2997200"/>
            <a:ext cx="504825" cy="358775"/>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rgbClr val="333399"/>
                </a:solidFill>
              </a:rPr>
              <a:t>H</a:t>
            </a:r>
            <a:r>
              <a:rPr lang="en-US" altLang="zh-CN" b="1" baseline="-25000">
                <a:solidFill>
                  <a:srgbClr val="333399"/>
                </a:solidFill>
              </a:rPr>
              <a:t>5</a:t>
            </a:r>
          </a:p>
        </p:txBody>
      </p:sp>
      <p:sp>
        <p:nvSpPr>
          <p:cNvPr id="133124" name="Rectangle 4"/>
          <p:cNvSpPr>
            <a:spLocks noChangeArrowheads="1"/>
          </p:cNvSpPr>
          <p:nvPr/>
        </p:nvSpPr>
        <p:spPr bwMode="auto">
          <a:xfrm>
            <a:off x="4065588" y="2997200"/>
            <a:ext cx="2592387"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a:solidFill>
                  <a:srgbClr val="333399"/>
                </a:solidFill>
                <a:latin typeface="Tahoma" pitchFamily="34" charset="0"/>
                <a:ea typeface="黑体" pitchFamily="49" charset="-122"/>
              </a:rPr>
              <a:t>应 用 程 序 数 据</a:t>
            </a:r>
          </a:p>
        </p:txBody>
      </p:sp>
      <p:sp>
        <p:nvSpPr>
          <p:cNvPr id="86021" name="Rectangle 5"/>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2400" smtClean="0"/>
              <a:t> </a:t>
            </a:r>
            <a:r>
              <a:rPr lang="en-US" altLang="zh-CN" smtClean="0"/>
              <a:t>2</a:t>
            </a:r>
            <a:r>
              <a:rPr lang="en-US" altLang="zh-CN" sz="2400" smtClean="0"/>
              <a:t> </a:t>
            </a:r>
            <a:r>
              <a:rPr lang="zh-CN" altLang="en-US" smtClean="0"/>
              <a:t>发送数据 </a:t>
            </a:r>
          </a:p>
        </p:txBody>
      </p:sp>
      <p:sp>
        <p:nvSpPr>
          <p:cNvPr id="86022" name="AutoShape 6"/>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3" name="AutoShape 7"/>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4" name="Text Box 8"/>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6025" name="Text Box 9"/>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6026" name="Text Box 10"/>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6027" name="Text Box 11"/>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6028" name="Text Box 12"/>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6029" name="Freeform 13"/>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0" name="Freeform 14"/>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1" name="Freeform 15"/>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2" name="Freeform 16"/>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3" name="AutoShape 17"/>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34" name="Text Box 18"/>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6035" name="Text Box 19"/>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6036" name="Text Box 20"/>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6037" name="Text Box 21"/>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6038" name="Text Box 22"/>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6039" name="Freeform 23"/>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0" name="Freeform 24"/>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1" name="Freeform 25"/>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2" name="Freeform 26"/>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3" name="Text Box 27"/>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86044" name="AutoShape 28"/>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5" name="Text Box 29"/>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86046" name="AutoShape 30"/>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47" name="Text Box 31"/>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86048" name="Text Box 32"/>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86049" name="Text Box 33"/>
          <p:cNvSpPr txBox="1">
            <a:spLocks noChangeArrowheads="1"/>
          </p:cNvSpPr>
          <p:nvPr/>
        </p:nvSpPr>
        <p:spPr bwMode="auto">
          <a:xfrm>
            <a:off x="2987675" y="3573463"/>
            <a:ext cx="4349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ea typeface="黑体" pitchFamily="49" charset="-122"/>
              </a:rPr>
              <a:t>应用层剥去应用层 </a:t>
            </a:r>
            <a:r>
              <a:rPr kumimoji="1" lang="en-US" altLang="zh-CN" sz="2400">
                <a:solidFill>
                  <a:srgbClr val="333399"/>
                </a:solidFill>
                <a:ea typeface="黑体" pitchFamily="49" charset="-122"/>
              </a:rPr>
              <a:t>PDU </a:t>
            </a:r>
            <a:r>
              <a:rPr kumimoji="1" lang="zh-CN" altLang="en-US" sz="2400">
                <a:solidFill>
                  <a:srgbClr val="333399"/>
                </a:solidFill>
                <a:ea typeface="黑体" pitchFamily="49" charset="-122"/>
              </a:rPr>
              <a:t>首部后</a:t>
            </a:r>
          </a:p>
          <a:p>
            <a:pPr algn="ctr"/>
            <a:r>
              <a:rPr kumimoji="1" lang="zh-CN" altLang="en-US" sz="2400">
                <a:solidFill>
                  <a:srgbClr val="333399"/>
                </a:solidFill>
                <a:ea typeface="黑体" pitchFamily="49" charset="-122"/>
              </a:rPr>
              <a:t>把应用程序数据交给应用进程</a:t>
            </a:r>
          </a:p>
        </p:txBody>
      </p:sp>
      <p:grpSp>
        <p:nvGrpSpPr>
          <p:cNvPr id="133154" name="Group 34"/>
          <p:cNvGrpSpPr>
            <a:grpSpLocks/>
          </p:cNvGrpSpPr>
          <p:nvPr/>
        </p:nvGrpSpPr>
        <p:grpSpPr bwMode="auto">
          <a:xfrm>
            <a:off x="5238750" y="2708275"/>
            <a:ext cx="3201988" cy="396875"/>
            <a:chOff x="3300" y="1706"/>
            <a:chExt cx="2017" cy="250"/>
          </a:xfrm>
        </p:grpSpPr>
        <p:sp>
          <p:nvSpPr>
            <p:cNvPr id="86051" name="AutoShape 35"/>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6052" name="AutoShape 36"/>
            <p:cNvSpPr>
              <a:spLocks noChangeArrowheads="1"/>
            </p:cNvSpPr>
            <p:nvPr/>
          </p:nvSpPr>
          <p:spPr bwMode="auto">
            <a:xfrm rot="10800000" flipV="1">
              <a:off x="3300" y="170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xit" presetSubtype="8" fill="hold" grpId="0" nodeType="afterEffect">
                                  <p:stCondLst>
                                    <p:cond delay="1000"/>
                                  </p:stCondLst>
                                  <p:childTnLst>
                                    <p:animEffect transition="out" filter="slide(fromLeft)">
                                      <p:cBhvr>
                                        <p:cTn id="6" dur="1000"/>
                                        <p:tgtEl>
                                          <p:spTgt spid="133123"/>
                                        </p:tgtEl>
                                      </p:cBhvr>
                                    </p:animEffect>
                                    <p:set>
                                      <p:cBhvr>
                                        <p:cTn id="7" dur="1" fill="hold">
                                          <p:stCondLst>
                                            <p:cond delay="999"/>
                                          </p:stCondLst>
                                        </p:cTn>
                                        <p:tgtEl>
                                          <p:spTgt spid="133123"/>
                                        </p:tgtEl>
                                        <p:attrNameLst>
                                          <p:attrName>style.visibility</p:attrName>
                                        </p:attrNameLst>
                                      </p:cBhvr>
                                      <p:to>
                                        <p:strVal val="hidden"/>
                                      </p:to>
                                    </p:se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33154"/>
                                        </p:tgtEl>
                                        <p:attrNameLst>
                                          <p:attrName>style.visibility</p:attrName>
                                        </p:attrNameLst>
                                      </p:cBhvr>
                                      <p:to>
                                        <p:strVal val="visible"/>
                                      </p:to>
                                    </p:set>
                                    <p:animEffect transition="in" filter="wipe(down)">
                                      <p:cBhvr>
                                        <p:cTn id="11" dur="1000"/>
                                        <p:tgtEl>
                                          <p:spTgt spid="133154"/>
                                        </p:tgtEl>
                                      </p:cBhvr>
                                    </p:animEffect>
                                  </p:childTnLst>
                                </p:cTn>
                              </p:par>
                            </p:childTnLst>
                          </p:cTn>
                        </p:par>
                        <p:par>
                          <p:cTn id="12" fill="hold" nodeType="afterGroup">
                            <p:stCondLst>
                              <p:cond delay="3000"/>
                            </p:stCondLst>
                            <p:childTnLst>
                              <p:par>
                                <p:cTn id="13" presetID="1" presetClass="exit" presetSubtype="0" fill="hold" grpId="0" nodeType="afterEffect">
                                  <p:stCondLst>
                                    <p:cond delay="0"/>
                                  </p:stCondLst>
                                  <p:childTnLst>
                                    <p:set>
                                      <p:cBhvr>
                                        <p:cTn id="14" dur="1" fill="hold">
                                          <p:stCondLst>
                                            <p:cond delay="0"/>
                                          </p:stCondLst>
                                        </p:cTn>
                                        <p:tgtEl>
                                          <p:spTgt spid="133124"/>
                                        </p:tgtEl>
                                        <p:attrNameLst>
                                          <p:attrName>style.visibility</p:attrName>
                                        </p:attrNameLst>
                                      </p:cBhvr>
                                      <p:to>
                                        <p:strVal val="hidden"/>
                                      </p:to>
                                    </p:set>
                                  </p:childTnLst>
                                </p:cTn>
                              </p:par>
                            </p:childTnLst>
                          </p:cTn>
                        </p:par>
                        <p:par>
                          <p:cTn id="15" fill="hold" nodeType="afterGroup">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133122"/>
                                        </p:tgtEl>
                                        <p:attrNameLst>
                                          <p:attrName>style.visibility</p:attrName>
                                        </p:attrNameLst>
                                      </p:cBhvr>
                                      <p:to>
                                        <p:strVal val="visible"/>
                                      </p:to>
                                    </p:set>
                                  </p:childTnLst>
                                </p:cTn>
                              </p:par>
                            </p:childTnLst>
                          </p:cTn>
                        </p:par>
                        <p:par>
                          <p:cTn id="18" fill="hold" nodeType="afterGroup">
                            <p:stCondLst>
                              <p:cond delay="3000"/>
                            </p:stCondLst>
                            <p:childTnLst>
                              <p:par>
                                <p:cTn id="19" presetID="1" presetClass="exit" presetSubtype="0" fill="hold" nodeType="afterEffect">
                                  <p:stCondLst>
                                    <p:cond delay="0"/>
                                  </p:stCondLst>
                                  <p:childTnLst>
                                    <p:set>
                                      <p:cBhvr>
                                        <p:cTn id="20" dur="1" fill="hold">
                                          <p:stCondLst>
                                            <p:cond delay="0"/>
                                          </p:stCondLst>
                                        </p:cTn>
                                        <p:tgtEl>
                                          <p:spTgt spid="1331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animBg="1"/>
      <p:bldP spid="133123" grpId="0" animBg="1"/>
      <p:bldP spid="133124"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algn="ctr" eaLnBrk="1" hangingPunct="1"/>
            <a:r>
              <a:rPr lang="zh-CN" altLang="en-US" smtClean="0"/>
              <a:t>主机</a:t>
            </a:r>
            <a:r>
              <a:rPr lang="zh-CN" altLang="en-US" sz="2400" smtClean="0"/>
              <a:t> </a:t>
            </a:r>
            <a:r>
              <a:rPr lang="en-US" altLang="zh-CN" smtClean="0"/>
              <a:t>1</a:t>
            </a:r>
            <a:r>
              <a:rPr lang="en-US" altLang="zh-CN" sz="2400" smtClean="0"/>
              <a:t> </a:t>
            </a:r>
            <a:r>
              <a:rPr lang="zh-CN" altLang="en-US" smtClean="0"/>
              <a:t>向主机</a:t>
            </a:r>
            <a:r>
              <a:rPr lang="zh-CN" altLang="en-US" sz="1600" smtClean="0"/>
              <a:t> </a:t>
            </a:r>
            <a:r>
              <a:rPr lang="en-US" altLang="zh-CN" smtClean="0"/>
              <a:t>2</a:t>
            </a:r>
            <a:r>
              <a:rPr lang="en-US" altLang="zh-CN" sz="2400" smtClean="0"/>
              <a:t> </a:t>
            </a:r>
            <a:r>
              <a:rPr lang="zh-CN" altLang="en-US" smtClean="0"/>
              <a:t>发送数据 </a:t>
            </a:r>
          </a:p>
        </p:txBody>
      </p:sp>
      <p:sp>
        <p:nvSpPr>
          <p:cNvPr id="87043" name="AutoShape 3"/>
          <p:cNvSpPr>
            <a:spLocks noChangeArrowheads="1"/>
          </p:cNvSpPr>
          <p:nvPr/>
        </p:nvSpPr>
        <p:spPr bwMode="auto">
          <a:xfrm rot="-5400000">
            <a:off x="4374356" y="1532732"/>
            <a:ext cx="417513" cy="8991600"/>
          </a:xfrm>
          <a:prstGeom prst="can">
            <a:avLst>
              <a:gd name="adj" fmla="val 48656"/>
            </a:avLst>
          </a:prstGeom>
          <a:gradFill rotWithShape="0">
            <a:gsLst>
              <a:gs pos="0">
                <a:srgbClr val="ACACAC"/>
              </a:gs>
              <a:gs pos="50000">
                <a:srgbClr val="EAEAEA"/>
              </a:gs>
              <a:gs pos="100000">
                <a:srgbClr val="ACACAC"/>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4" name="AutoShape 4"/>
          <p:cNvSpPr>
            <a:spLocks noChangeArrowheads="1"/>
          </p:cNvSpPr>
          <p:nvPr/>
        </p:nvSpPr>
        <p:spPr bwMode="auto">
          <a:xfrm>
            <a:off x="533400" y="2847975"/>
            <a:ext cx="83820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5" name="Text Box 5"/>
          <p:cNvSpPr txBox="1">
            <a:spLocks noChangeArrowheads="1"/>
          </p:cNvSpPr>
          <p:nvPr/>
        </p:nvSpPr>
        <p:spPr bwMode="auto">
          <a:xfrm>
            <a:off x="781050" y="30273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7046" name="Text Box 6"/>
          <p:cNvSpPr txBox="1">
            <a:spLocks noChangeArrowheads="1"/>
          </p:cNvSpPr>
          <p:nvPr/>
        </p:nvSpPr>
        <p:spPr bwMode="auto">
          <a:xfrm>
            <a:off x="781050" y="36544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7047" name="Text Box 7"/>
          <p:cNvSpPr txBox="1">
            <a:spLocks noChangeArrowheads="1"/>
          </p:cNvSpPr>
          <p:nvPr/>
        </p:nvSpPr>
        <p:spPr bwMode="auto">
          <a:xfrm>
            <a:off x="781050" y="42116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7048" name="Text Box 8"/>
          <p:cNvSpPr txBox="1">
            <a:spLocks noChangeArrowheads="1"/>
          </p:cNvSpPr>
          <p:nvPr/>
        </p:nvSpPr>
        <p:spPr bwMode="auto">
          <a:xfrm>
            <a:off x="781050" y="4770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7049" name="Text Box 9"/>
          <p:cNvSpPr txBox="1">
            <a:spLocks noChangeArrowheads="1"/>
          </p:cNvSpPr>
          <p:nvPr/>
        </p:nvSpPr>
        <p:spPr bwMode="auto">
          <a:xfrm>
            <a:off x="781050" y="53371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7050" name="Freeform 10"/>
          <p:cNvSpPr>
            <a:spLocks/>
          </p:cNvSpPr>
          <p:nvPr/>
        </p:nvSpPr>
        <p:spPr bwMode="auto">
          <a:xfrm>
            <a:off x="533400" y="344963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1" name="Freeform 11"/>
          <p:cNvSpPr>
            <a:spLocks/>
          </p:cNvSpPr>
          <p:nvPr/>
        </p:nvSpPr>
        <p:spPr bwMode="auto">
          <a:xfrm>
            <a:off x="542925" y="40243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2" name="Freeform 12"/>
          <p:cNvSpPr>
            <a:spLocks/>
          </p:cNvSpPr>
          <p:nvPr/>
        </p:nvSpPr>
        <p:spPr bwMode="auto">
          <a:xfrm>
            <a:off x="520700" y="4600575"/>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3" name="Freeform 13"/>
          <p:cNvSpPr>
            <a:spLocks/>
          </p:cNvSpPr>
          <p:nvPr/>
        </p:nvSpPr>
        <p:spPr bwMode="auto">
          <a:xfrm>
            <a:off x="520700" y="5192713"/>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4" name="AutoShape 14"/>
          <p:cNvSpPr>
            <a:spLocks noChangeArrowheads="1"/>
          </p:cNvSpPr>
          <p:nvPr/>
        </p:nvSpPr>
        <p:spPr bwMode="auto">
          <a:xfrm>
            <a:off x="7886700" y="2814638"/>
            <a:ext cx="83820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5" name="Text Box 15"/>
          <p:cNvSpPr txBox="1">
            <a:spLocks noChangeArrowheads="1"/>
          </p:cNvSpPr>
          <p:nvPr/>
        </p:nvSpPr>
        <p:spPr bwMode="auto">
          <a:xfrm>
            <a:off x="7924800" y="2992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5</a:t>
            </a:r>
          </a:p>
        </p:txBody>
      </p:sp>
      <p:sp>
        <p:nvSpPr>
          <p:cNvPr id="87056" name="Text Box 16"/>
          <p:cNvSpPr txBox="1">
            <a:spLocks noChangeArrowheads="1"/>
          </p:cNvSpPr>
          <p:nvPr/>
        </p:nvSpPr>
        <p:spPr bwMode="auto">
          <a:xfrm>
            <a:off x="7924800" y="36195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4</a:t>
            </a:r>
          </a:p>
        </p:txBody>
      </p:sp>
      <p:sp>
        <p:nvSpPr>
          <p:cNvPr id="87057" name="Text Box 17"/>
          <p:cNvSpPr txBox="1">
            <a:spLocks noChangeArrowheads="1"/>
          </p:cNvSpPr>
          <p:nvPr/>
        </p:nvSpPr>
        <p:spPr bwMode="auto">
          <a:xfrm>
            <a:off x="7924800" y="417671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3</a:t>
            </a:r>
          </a:p>
        </p:txBody>
      </p:sp>
      <p:sp>
        <p:nvSpPr>
          <p:cNvPr id="87058" name="Text Box 18"/>
          <p:cNvSpPr txBox="1">
            <a:spLocks noChangeArrowheads="1"/>
          </p:cNvSpPr>
          <p:nvPr/>
        </p:nvSpPr>
        <p:spPr bwMode="auto">
          <a:xfrm>
            <a:off x="7924800" y="473710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2</a:t>
            </a:r>
          </a:p>
        </p:txBody>
      </p:sp>
      <p:sp>
        <p:nvSpPr>
          <p:cNvPr id="87059" name="Text Box 19"/>
          <p:cNvSpPr txBox="1">
            <a:spLocks noChangeArrowheads="1"/>
          </p:cNvSpPr>
          <p:nvPr/>
        </p:nvSpPr>
        <p:spPr bwMode="auto">
          <a:xfrm>
            <a:off x="7924800" y="5302250"/>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1</a:t>
            </a:r>
          </a:p>
        </p:txBody>
      </p:sp>
      <p:sp>
        <p:nvSpPr>
          <p:cNvPr id="87060" name="Freeform 20"/>
          <p:cNvSpPr>
            <a:spLocks/>
          </p:cNvSpPr>
          <p:nvPr/>
        </p:nvSpPr>
        <p:spPr bwMode="auto">
          <a:xfrm>
            <a:off x="7886700" y="3414713"/>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1" name="Freeform 21"/>
          <p:cNvSpPr>
            <a:spLocks/>
          </p:cNvSpPr>
          <p:nvPr/>
        </p:nvSpPr>
        <p:spPr bwMode="auto">
          <a:xfrm>
            <a:off x="7896225" y="3989388"/>
            <a:ext cx="847725" cy="61912"/>
          </a:xfrm>
          <a:custGeom>
            <a:avLst/>
            <a:gdLst>
              <a:gd name="T0" fmla="*/ 0 w 534"/>
              <a:gd name="T1" fmla="*/ 2147483647 h 42"/>
              <a:gd name="T2" fmla="*/ 2147483647 w 534"/>
              <a:gd name="T3" fmla="*/ 2147483647 h 42"/>
              <a:gd name="T4" fmla="*/ 2147483647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2" name="Freeform 22"/>
          <p:cNvSpPr>
            <a:spLocks/>
          </p:cNvSpPr>
          <p:nvPr/>
        </p:nvSpPr>
        <p:spPr bwMode="auto">
          <a:xfrm>
            <a:off x="7874000" y="4565650"/>
            <a:ext cx="869950" cy="60325"/>
          </a:xfrm>
          <a:custGeom>
            <a:avLst/>
            <a:gdLst>
              <a:gd name="T0" fmla="*/ 0 w 548"/>
              <a:gd name="T1" fmla="*/ 2147483647 h 42"/>
              <a:gd name="T2" fmla="*/ 2147483647 w 548"/>
              <a:gd name="T3" fmla="*/ 2147483647 h 42"/>
              <a:gd name="T4" fmla="*/ 2147483647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3" name="Freeform 23"/>
          <p:cNvSpPr>
            <a:spLocks/>
          </p:cNvSpPr>
          <p:nvPr/>
        </p:nvSpPr>
        <p:spPr bwMode="auto">
          <a:xfrm>
            <a:off x="7874000" y="5157788"/>
            <a:ext cx="860425" cy="60325"/>
          </a:xfrm>
          <a:custGeom>
            <a:avLst/>
            <a:gdLst>
              <a:gd name="T0" fmla="*/ 0 w 542"/>
              <a:gd name="T1" fmla="*/ 2147483647 h 42"/>
              <a:gd name="T2" fmla="*/ 2147483647 w 542"/>
              <a:gd name="T3" fmla="*/ 2147483647 h 42"/>
              <a:gd name="T4" fmla="*/ 2147483647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4" name="Text Box 24"/>
          <p:cNvSpPr txBox="1">
            <a:spLocks noChangeArrowheads="1"/>
          </p:cNvSpPr>
          <p:nvPr/>
        </p:nvSpPr>
        <p:spPr bwMode="auto">
          <a:xfrm>
            <a:off x="395288"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1</a:t>
            </a:r>
          </a:p>
        </p:txBody>
      </p:sp>
      <p:sp>
        <p:nvSpPr>
          <p:cNvPr id="87065" name="AutoShape 25"/>
          <p:cNvSpPr>
            <a:spLocks noChangeArrowheads="1"/>
          </p:cNvSpPr>
          <p:nvPr/>
        </p:nvSpPr>
        <p:spPr bwMode="auto">
          <a:xfrm>
            <a:off x="8034338" y="2317750"/>
            <a:ext cx="68580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6" name="Text Box 26"/>
          <p:cNvSpPr txBox="1">
            <a:spLocks noChangeArrowheads="1"/>
          </p:cNvSpPr>
          <p:nvPr/>
        </p:nvSpPr>
        <p:spPr bwMode="auto">
          <a:xfrm>
            <a:off x="8027988" y="2422525"/>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87067" name="AutoShape 27"/>
          <p:cNvSpPr>
            <a:spLocks noChangeArrowheads="1"/>
          </p:cNvSpPr>
          <p:nvPr/>
        </p:nvSpPr>
        <p:spPr bwMode="auto">
          <a:xfrm>
            <a:off x="538163" y="2360613"/>
            <a:ext cx="68580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8" name="Text Box 28"/>
          <p:cNvSpPr txBox="1">
            <a:spLocks noChangeArrowheads="1"/>
          </p:cNvSpPr>
          <p:nvPr/>
        </p:nvSpPr>
        <p:spPr bwMode="auto">
          <a:xfrm>
            <a:off x="558800" y="2481263"/>
            <a:ext cx="615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en-US" altLang="zh-CN" sz="2000">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87069" name="Text Box 29"/>
          <p:cNvSpPr txBox="1">
            <a:spLocks noChangeArrowheads="1"/>
          </p:cNvSpPr>
          <p:nvPr/>
        </p:nvSpPr>
        <p:spPr bwMode="auto">
          <a:xfrm>
            <a:off x="7770813" y="1973263"/>
            <a:ext cx="8683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r>
              <a:rPr kumimoji="1" lang="zh-CN" altLang="en-US" sz="2000">
                <a:solidFill>
                  <a:srgbClr val="333399"/>
                </a:solidFill>
                <a:ea typeface="黑体" pitchFamily="49" charset="-122"/>
              </a:rPr>
              <a:t>主机</a:t>
            </a:r>
            <a:r>
              <a:rPr kumimoji="1" lang="zh-CN" altLang="en-US" sz="1000">
                <a:solidFill>
                  <a:srgbClr val="333399"/>
                </a:solidFill>
                <a:ea typeface="黑体" pitchFamily="49" charset="-122"/>
              </a:rPr>
              <a:t> </a:t>
            </a:r>
            <a:r>
              <a:rPr kumimoji="1" lang="en-US" altLang="zh-CN" sz="2000">
                <a:solidFill>
                  <a:srgbClr val="333399"/>
                </a:solidFill>
                <a:ea typeface="黑体" pitchFamily="49" charset="-122"/>
              </a:rPr>
              <a:t>2</a:t>
            </a:r>
          </a:p>
        </p:txBody>
      </p:sp>
      <p:sp>
        <p:nvSpPr>
          <p:cNvPr id="87070" name="AutoShape 30"/>
          <p:cNvSpPr>
            <a:spLocks noChangeArrowheads="1"/>
          </p:cNvSpPr>
          <p:nvPr/>
        </p:nvSpPr>
        <p:spPr bwMode="auto">
          <a:xfrm>
            <a:off x="4067175" y="1989138"/>
            <a:ext cx="2952750" cy="935037"/>
          </a:xfrm>
          <a:prstGeom prst="wedgeRoundRectCallout">
            <a:avLst>
              <a:gd name="adj1" fmla="val 87310"/>
              <a:gd name="adj2" fmla="val 18931"/>
              <a:gd name="adj3" fmla="val 16667"/>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a:latin typeface="Tahoma" pitchFamily="34" charset="0"/>
            </a:endParaRPr>
          </a:p>
        </p:txBody>
      </p:sp>
      <p:sp>
        <p:nvSpPr>
          <p:cNvPr id="87071" name="Text Box 31"/>
          <p:cNvSpPr txBox="1">
            <a:spLocks noChangeArrowheads="1"/>
          </p:cNvSpPr>
          <p:nvPr/>
        </p:nvSpPr>
        <p:spPr bwMode="auto">
          <a:xfrm>
            <a:off x="4140200" y="2060575"/>
            <a:ext cx="29432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pitchFamily="34" charset="0"/>
                <a:ea typeface="宋体" pitchFamily="2" charset="-122"/>
              </a:defRPr>
            </a:lvl1pPr>
            <a:lvl2pPr marL="742950" indent="-285750" defTabSz="762000" eaLnBrk="0" hangingPunct="0">
              <a:defRPr>
                <a:solidFill>
                  <a:schemeClr val="tx1"/>
                </a:solidFill>
                <a:latin typeface="Arial" pitchFamily="34" charset="0"/>
                <a:ea typeface="宋体" pitchFamily="2" charset="-122"/>
              </a:defRPr>
            </a:lvl2pPr>
            <a:lvl3pPr marL="1143000" indent="-228600" defTabSz="762000" eaLnBrk="0" hangingPunct="0">
              <a:defRPr>
                <a:solidFill>
                  <a:schemeClr val="tx1"/>
                </a:solidFill>
                <a:latin typeface="Arial" pitchFamily="34" charset="0"/>
                <a:ea typeface="宋体" pitchFamily="2" charset="-122"/>
              </a:defRPr>
            </a:lvl3pPr>
            <a:lvl4pPr marL="1600200" indent="-228600" defTabSz="762000" eaLnBrk="0" hangingPunct="0">
              <a:defRPr>
                <a:solidFill>
                  <a:schemeClr val="tx1"/>
                </a:solidFill>
                <a:latin typeface="Arial" pitchFamily="34" charset="0"/>
                <a:ea typeface="宋体" pitchFamily="2" charset="-122"/>
              </a:defRPr>
            </a:lvl4pPr>
            <a:lvl5pPr marL="2057400" indent="-228600" defTabSz="762000" eaLnBrk="0" hangingPunct="0">
              <a:defRPr>
                <a:solidFill>
                  <a:schemeClr val="tx1"/>
                </a:solidFill>
                <a:latin typeface="Arial" pitchFamily="34" charset="0"/>
                <a:ea typeface="宋体" pitchFamily="2" charset="-122"/>
              </a:defRPr>
            </a:lvl5pPr>
            <a:lvl6pPr marL="2514600" indent="-228600" defTabSz="7620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7620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7620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762000" eaLnBrk="0" fontAlgn="base" hangingPunct="0">
              <a:spcBef>
                <a:spcPct val="0"/>
              </a:spcBef>
              <a:spcAft>
                <a:spcPct val="0"/>
              </a:spcAft>
              <a:defRPr>
                <a:solidFill>
                  <a:schemeClr val="tx1"/>
                </a:solidFill>
                <a:latin typeface="Arial" pitchFamily="34" charset="0"/>
                <a:ea typeface="宋体" pitchFamily="2" charset="-122"/>
              </a:defRPr>
            </a:lvl9pPr>
          </a:lstStyle>
          <a:p>
            <a:pPr algn="ctr"/>
            <a:r>
              <a:rPr kumimoji="1" lang="zh-CN" altLang="en-US" sz="2400">
                <a:solidFill>
                  <a:srgbClr val="333399"/>
                </a:solidFill>
                <a:latin typeface="Tahoma" pitchFamily="34" charset="0"/>
                <a:ea typeface="黑体" pitchFamily="49" charset="-122"/>
              </a:rPr>
              <a:t>我收到了</a:t>
            </a:r>
            <a:r>
              <a:rPr kumimoji="1" lang="zh-CN" altLang="en-US" sz="1400">
                <a:solidFill>
                  <a:srgbClr val="333399"/>
                </a:solidFill>
                <a:ea typeface="黑体" pitchFamily="49" charset="-122"/>
              </a:rPr>
              <a:t> </a:t>
            </a:r>
            <a:r>
              <a:rPr kumimoji="1" lang="en-US" altLang="zh-CN" sz="2400">
                <a:solidFill>
                  <a:srgbClr val="333399"/>
                </a:solidFill>
                <a:ea typeface="黑体" pitchFamily="49" charset="-122"/>
              </a:rPr>
              <a:t>AP</a:t>
            </a:r>
            <a:r>
              <a:rPr kumimoji="1" lang="en-US" altLang="zh-CN" sz="2400" baseline="-25000">
                <a:solidFill>
                  <a:srgbClr val="333399"/>
                </a:solidFill>
                <a:ea typeface="黑体" pitchFamily="49" charset="-122"/>
              </a:rPr>
              <a:t>1</a:t>
            </a:r>
            <a:r>
              <a:rPr kumimoji="1" lang="en-US" altLang="zh-CN" sz="1600">
                <a:solidFill>
                  <a:srgbClr val="333399"/>
                </a:solidFill>
                <a:ea typeface="黑体" pitchFamily="49" charset="-122"/>
              </a:rPr>
              <a:t> </a:t>
            </a:r>
            <a:r>
              <a:rPr kumimoji="1" lang="zh-CN" altLang="en-US" sz="2400">
                <a:solidFill>
                  <a:srgbClr val="333399"/>
                </a:solidFill>
                <a:latin typeface="Tahoma" pitchFamily="34" charset="0"/>
                <a:ea typeface="黑体" pitchFamily="49" charset="-122"/>
              </a:rPr>
              <a:t>发来的</a:t>
            </a:r>
          </a:p>
          <a:p>
            <a:pPr algn="ctr"/>
            <a:r>
              <a:rPr kumimoji="1" lang="zh-CN" altLang="en-US" sz="2400">
                <a:solidFill>
                  <a:srgbClr val="333399"/>
                </a:solidFill>
                <a:ea typeface="黑体" pitchFamily="49" charset="-122"/>
              </a:rPr>
              <a:t>应用程序数据！</a:t>
            </a:r>
          </a:p>
        </p:txBody>
      </p:sp>
      <p:sp>
        <p:nvSpPr>
          <p:cNvPr id="87072" name="Text Box 32"/>
          <p:cNvSpPr txBox="1">
            <a:spLocks noChangeArrowheads="1"/>
          </p:cNvSpPr>
          <p:nvPr/>
        </p:nvSpPr>
        <p:spPr bwMode="auto">
          <a:xfrm>
            <a:off x="3040063" y="6315075"/>
            <a:ext cx="1555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a:t>体系结构动画</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114425" y="214313"/>
            <a:ext cx="7345363" cy="1462087"/>
          </a:xfrm>
        </p:spPr>
        <p:txBody>
          <a:bodyPr/>
          <a:lstStyle/>
          <a:p>
            <a:pPr algn="ctr" eaLnBrk="1" hangingPunct="1"/>
            <a:r>
              <a:rPr lang="en-US" altLang="zh-CN" smtClean="0"/>
              <a:t>1.7.4  </a:t>
            </a:r>
            <a:r>
              <a:rPr lang="zh-CN" altLang="en-US" smtClean="0"/>
              <a:t>实体、协议、服务</a:t>
            </a:r>
            <a:br>
              <a:rPr lang="zh-CN" altLang="en-US" smtClean="0"/>
            </a:br>
            <a:r>
              <a:rPr lang="zh-CN" altLang="en-US" smtClean="0"/>
              <a:t>和服务访问点 </a:t>
            </a:r>
          </a:p>
        </p:txBody>
      </p:sp>
      <p:sp>
        <p:nvSpPr>
          <p:cNvPr id="138243" name="Rectangle 3"/>
          <p:cNvSpPr>
            <a:spLocks noGrp="1" noChangeArrowheads="1"/>
          </p:cNvSpPr>
          <p:nvPr>
            <p:ph type="body" idx="1"/>
          </p:nvPr>
        </p:nvSpPr>
        <p:spPr>
          <a:xfrm>
            <a:off x="1042988" y="1906588"/>
            <a:ext cx="7772400" cy="4114800"/>
          </a:xfrm>
        </p:spPr>
        <p:txBody>
          <a:bodyPr/>
          <a:lstStyle/>
          <a:p>
            <a:pPr eaLnBrk="1" hangingPunct="1">
              <a:lnSpc>
                <a:spcPct val="90000"/>
              </a:lnSpc>
            </a:pPr>
            <a:r>
              <a:rPr lang="zh-CN" altLang="en-US" smtClean="0">
                <a:solidFill>
                  <a:srgbClr val="FF0000"/>
                </a:solidFill>
              </a:rPr>
              <a:t>实体</a:t>
            </a:r>
            <a:r>
              <a:rPr lang="en-US" altLang="zh-CN" smtClean="0"/>
              <a:t>(entity) </a:t>
            </a:r>
            <a:r>
              <a:rPr lang="zh-CN" altLang="en-US" smtClean="0"/>
              <a:t>表示任何可发送或接收信息的硬件或软件进程。 </a:t>
            </a:r>
          </a:p>
          <a:p>
            <a:pPr eaLnBrk="1" hangingPunct="1">
              <a:lnSpc>
                <a:spcPct val="90000"/>
              </a:lnSpc>
            </a:pPr>
            <a:r>
              <a:rPr lang="zh-CN" altLang="en-US" smtClean="0"/>
              <a:t>协议是控制</a:t>
            </a:r>
            <a:r>
              <a:rPr lang="zh-CN" altLang="en-US" smtClean="0">
                <a:solidFill>
                  <a:srgbClr val="FF0000"/>
                </a:solidFill>
              </a:rPr>
              <a:t>两个对等实体</a:t>
            </a:r>
            <a:r>
              <a:rPr lang="zh-CN" altLang="en-US" smtClean="0"/>
              <a:t>进行通信的规则的集合。 </a:t>
            </a:r>
          </a:p>
          <a:p>
            <a:pPr eaLnBrk="1" hangingPunct="1">
              <a:lnSpc>
                <a:spcPct val="90000"/>
              </a:lnSpc>
            </a:pPr>
            <a:r>
              <a:rPr lang="zh-CN" altLang="en-US" smtClean="0"/>
              <a:t>在协议的控制下，两个对等实体间的通信使得本层能够</a:t>
            </a:r>
            <a:r>
              <a:rPr lang="zh-CN" altLang="en-US" smtClean="0">
                <a:solidFill>
                  <a:srgbClr val="FF0000"/>
                </a:solidFill>
              </a:rPr>
              <a:t>向上一层提供服务</a:t>
            </a:r>
            <a:r>
              <a:rPr lang="zh-CN" altLang="en-US" smtClean="0"/>
              <a:t>。</a:t>
            </a:r>
          </a:p>
          <a:p>
            <a:pPr eaLnBrk="1" hangingPunct="1">
              <a:lnSpc>
                <a:spcPct val="90000"/>
              </a:lnSpc>
            </a:pPr>
            <a:r>
              <a:rPr lang="zh-CN" altLang="en-US" smtClean="0"/>
              <a:t>要实现本层协议，还需要使用</a:t>
            </a:r>
            <a:r>
              <a:rPr lang="zh-CN" altLang="en-US" smtClean="0">
                <a:solidFill>
                  <a:srgbClr val="FF0000"/>
                </a:solidFill>
              </a:rPr>
              <a:t>下层</a:t>
            </a:r>
            <a:r>
              <a:rPr lang="zh-CN" altLang="en-US" smtClean="0"/>
              <a:t>所提供的服务。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114425" y="214313"/>
            <a:ext cx="7345363" cy="1462087"/>
          </a:xfrm>
        </p:spPr>
        <p:txBody>
          <a:bodyPr/>
          <a:lstStyle/>
          <a:p>
            <a:pPr algn="ctr" eaLnBrk="1" hangingPunct="1"/>
            <a:r>
              <a:rPr lang="zh-CN" altLang="en-US" smtClean="0"/>
              <a:t>实体、协议、服务</a:t>
            </a:r>
            <a:br>
              <a:rPr lang="zh-CN" altLang="en-US" smtClean="0"/>
            </a:br>
            <a:r>
              <a:rPr lang="zh-CN" altLang="en-US" smtClean="0"/>
              <a:t>和服务访问点（续） </a:t>
            </a:r>
          </a:p>
        </p:txBody>
      </p:sp>
      <p:sp>
        <p:nvSpPr>
          <p:cNvPr id="139267" name="Rectangle 3"/>
          <p:cNvSpPr>
            <a:spLocks noGrp="1" noChangeArrowheads="1"/>
          </p:cNvSpPr>
          <p:nvPr>
            <p:ph type="body" idx="1"/>
          </p:nvPr>
        </p:nvSpPr>
        <p:spPr>
          <a:xfrm>
            <a:off x="1042988" y="1906588"/>
            <a:ext cx="7772400" cy="4546600"/>
          </a:xfrm>
        </p:spPr>
        <p:txBody>
          <a:bodyPr/>
          <a:lstStyle/>
          <a:p>
            <a:pPr eaLnBrk="1" hangingPunct="1">
              <a:lnSpc>
                <a:spcPct val="90000"/>
              </a:lnSpc>
            </a:pPr>
            <a:r>
              <a:rPr lang="zh-CN" altLang="en-US" sz="2800" smtClean="0"/>
              <a:t>本层的服务用户只能看见服务而无法看见下面的协议。</a:t>
            </a:r>
          </a:p>
          <a:p>
            <a:pPr eaLnBrk="1" hangingPunct="1">
              <a:lnSpc>
                <a:spcPct val="90000"/>
              </a:lnSpc>
            </a:pPr>
            <a:r>
              <a:rPr lang="zh-CN" altLang="en-US" sz="2800" smtClean="0"/>
              <a:t>下面的协议对上面的服务用户是</a:t>
            </a:r>
            <a:r>
              <a:rPr lang="zh-CN" altLang="en-US" sz="2800" smtClean="0">
                <a:solidFill>
                  <a:srgbClr val="FF0000"/>
                </a:solidFill>
              </a:rPr>
              <a:t>透明</a:t>
            </a:r>
            <a:r>
              <a:rPr lang="zh-CN" altLang="en-US" sz="2800" smtClean="0"/>
              <a:t>的（不用理会的。 </a:t>
            </a:r>
          </a:p>
          <a:p>
            <a:pPr eaLnBrk="1" hangingPunct="1">
              <a:lnSpc>
                <a:spcPct val="90000"/>
              </a:lnSpc>
            </a:pPr>
            <a:r>
              <a:rPr lang="zh-CN" altLang="en-US" sz="2800" smtClean="0"/>
              <a:t>协议是“</a:t>
            </a:r>
            <a:r>
              <a:rPr lang="zh-CN" altLang="en-US" sz="2800" smtClean="0">
                <a:solidFill>
                  <a:srgbClr val="FF0000"/>
                </a:solidFill>
              </a:rPr>
              <a:t>水平的</a:t>
            </a:r>
            <a:r>
              <a:rPr lang="zh-CN" altLang="en-US" sz="2800" smtClean="0"/>
              <a:t>”，即协议是控制对等实体之间通信的规则。</a:t>
            </a:r>
          </a:p>
          <a:p>
            <a:pPr eaLnBrk="1" hangingPunct="1">
              <a:lnSpc>
                <a:spcPct val="90000"/>
              </a:lnSpc>
            </a:pPr>
            <a:r>
              <a:rPr lang="zh-CN" altLang="en-US" sz="2800" smtClean="0"/>
              <a:t>服务是“</a:t>
            </a:r>
            <a:r>
              <a:rPr lang="zh-CN" altLang="en-US" sz="2800" smtClean="0">
                <a:solidFill>
                  <a:srgbClr val="FF0000"/>
                </a:solidFill>
              </a:rPr>
              <a:t>垂直的</a:t>
            </a:r>
            <a:r>
              <a:rPr lang="zh-CN" altLang="en-US" sz="2800" smtClean="0"/>
              <a:t>”，即服务是由下层向上层通过层间接口提供的。</a:t>
            </a:r>
          </a:p>
          <a:p>
            <a:pPr eaLnBrk="1" hangingPunct="1">
              <a:lnSpc>
                <a:spcPct val="90000"/>
              </a:lnSpc>
            </a:pPr>
            <a:r>
              <a:rPr lang="zh-CN" altLang="en-US" sz="2800" smtClean="0"/>
              <a:t>同一系统相邻两层的实体进行交互的地方，称为</a:t>
            </a:r>
            <a:r>
              <a:rPr lang="zh-CN" altLang="en-US" sz="2800" smtClean="0">
                <a:solidFill>
                  <a:srgbClr val="FF0000"/>
                </a:solidFill>
              </a:rPr>
              <a:t>服务访问点 </a:t>
            </a:r>
            <a:r>
              <a:rPr lang="en-US" altLang="zh-CN" sz="2800" smtClean="0">
                <a:solidFill>
                  <a:srgbClr val="FF0000"/>
                </a:solidFill>
              </a:rPr>
              <a:t>SAP</a:t>
            </a:r>
            <a:r>
              <a:rPr lang="en-US" altLang="zh-CN" sz="2800" smtClean="0"/>
              <a:t> (Service Access Point)</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92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92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63"/>
          <p:cNvSpPr>
            <a:spLocks noChangeArrowheads="1"/>
          </p:cNvSpPr>
          <p:nvPr/>
        </p:nvSpPr>
        <p:spPr bwMode="auto">
          <a:xfrm>
            <a:off x="0" y="3357563"/>
            <a:ext cx="9144000" cy="2808287"/>
          </a:xfrm>
          <a:prstGeom prst="rect">
            <a:avLst/>
          </a:prstGeom>
          <a:solidFill>
            <a:srgbClr val="FF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5" name="Rectangle 2"/>
          <p:cNvSpPr>
            <a:spLocks noGrp="1" noChangeArrowheads="1"/>
          </p:cNvSpPr>
          <p:nvPr>
            <p:ph type="title"/>
          </p:nvPr>
        </p:nvSpPr>
        <p:spPr>
          <a:xfrm>
            <a:off x="1114425" y="214313"/>
            <a:ext cx="7345363" cy="1462087"/>
          </a:xfrm>
        </p:spPr>
        <p:txBody>
          <a:bodyPr/>
          <a:lstStyle/>
          <a:p>
            <a:pPr algn="ctr" eaLnBrk="1" hangingPunct="1"/>
            <a:r>
              <a:rPr lang="zh-CN" altLang="en-US" smtClean="0"/>
              <a:t>实体、协议、服务</a:t>
            </a:r>
            <a:br>
              <a:rPr lang="zh-CN" altLang="en-US" smtClean="0"/>
            </a:br>
            <a:r>
              <a:rPr lang="zh-CN" altLang="en-US" smtClean="0"/>
              <a:t>和服务访问点（续） </a:t>
            </a:r>
          </a:p>
        </p:txBody>
      </p:sp>
      <p:sp>
        <p:nvSpPr>
          <p:cNvPr id="90116" name="Rectangle 35"/>
          <p:cNvSpPr>
            <a:spLocks noChangeArrowheads="1"/>
          </p:cNvSpPr>
          <p:nvPr/>
        </p:nvSpPr>
        <p:spPr bwMode="auto">
          <a:xfrm>
            <a:off x="1692275" y="4251325"/>
            <a:ext cx="5759450" cy="762000"/>
          </a:xfrm>
          <a:prstGeom prst="rect">
            <a:avLst/>
          </a:prstGeom>
          <a:solidFill>
            <a:srgbClr val="FFFFCC"/>
          </a:solidFill>
          <a:ln w="12700">
            <a:solidFill>
              <a:schemeClr val="tx1"/>
            </a:solidFill>
            <a:prstDash val="dash"/>
            <a:miter lim="800000"/>
            <a:headEnd/>
            <a:tailEnd/>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wrap="none" anchor="ctr"/>
          <a:lstStyle/>
          <a:p>
            <a:pPr algn="ctr"/>
            <a:endParaRPr kumimoji="1" lang="zh-CN" altLang="zh-CN" sz="2000">
              <a:solidFill>
                <a:schemeClr val="folHlink"/>
              </a:solidFill>
              <a:latin typeface="Times New Roman" pitchFamily="18" charset="0"/>
            </a:endParaRPr>
          </a:p>
        </p:txBody>
      </p:sp>
      <p:sp>
        <p:nvSpPr>
          <p:cNvPr id="90117" name="Rectangle 36"/>
          <p:cNvSpPr>
            <a:spLocks noChangeArrowheads="1"/>
          </p:cNvSpPr>
          <p:nvPr/>
        </p:nvSpPr>
        <p:spPr bwMode="auto">
          <a:xfrm>
            <a:off x="2432050" y="4113213"/>
            <a:ext cx="233363" cy="254000"/>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0118" name="Line 37"/>
          <p:cNvSpPr>
            <a:spLocks noChangeShapeType="1"/>
          </p:cNvSpPr>
          <p:nvPr/>
        </p:nvSpPr>
        <p:spPr bwMode="auto">
          <a:xfrm>
            <a:off x="3279775" y="2365375"/>
            <a:ext cx="2503488" cy="0"/>
          </a:xfrm>
          <a:prstGeom prst="line">
            <a:avLst/>
          </a:prstGeom>
          <a:noFill/>
          <a:ln w="1270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9" name="Text Box 38"/>
          <p:cNvSpPr txBox="1">
            <a:spLocks noChangeArrowheads="1"/>
          </p:cNvSpPr>
          <p:nvPr/>
        </p:nvSpPr>
        <p:spPr bwMode="auto">
          <a:xfrm>
            <a:off x="3708400" y="2179638"/>
            <a:ext cx="1655763" cy="45720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ea typeface="黑体" pitchFamily="49" charset="-122"/>
              </a:rPr>
              <a:t>协议</a:t>
            </a:r>
            <a:r>
              <a:rPr kumimoji="1" lang="en-US" altLang="zh-CN" sz="2400">
                <a:solidFill>
                  <a:schemeClr val="folHlink"/>
                </a:solidFill>
                <a:ea typeface="黑体" pitchFamily="49" charset="-122"/>
              </a:rPr>
              <a:t>(n + 1)</a:t>
            </a:r>
          </a:p>
        </p:txBody>
      </p:sp>
      <p:sp>
        <p:nvSpPr>
          <p:cNvPr id="90120" name="Text Box 39"/>
          <p:cNvSpPr txBox="1">
            <a:spLocks noChangeArrowheads="1"/>
          </p:cNvSpPr>
          <p:nvPr/>
        </p:nvSpPr>
        <p:spPr bwMode="auto">
          <a:xfrm>
            <a:off x="2600325" y="3722688"/>
            <a:ext cx="6508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chemeClr val="folHlink"/>
                </a:solidFill>
                <a:latin typeface="Times New Roman" pitchFamily="18" charset="0"/>
              </a:rPr>
              <a:t>SAP</a:t>
            </a:r>
          </a:p>
        </p:txBody>
      </p:sp>
      <p:sp>
        <p:nvSpPr>
          <p:cNvPr id="90121" name="Text Box 40"/>
          <p:cNvSpPr txBox="1">
            <a:spLocks noChangeArrowheads="1"/>
          </p:cNvSpPr>
          <p:nvPr/>
        </p:nvSpPr>
        <p:spPr bwMode="auto">
          <a:xfrm>
            <a:off x="5732463" y="3748088"/>
            <a:ext cx="649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en-US" altLang="zh-CN" sz="2000">
                <a:solidFill>
                  <a:schemeClr val="folHlink"/>
                </a:solidFill>
                <a:latin typeface="Times New Roman" pitchFamily="18" charset="0"/>
              </a:rPr>
              <a:t>SAP</a:t>
            </a:r>
          </a:p>
        </p:txBody>
      </p:sp>
      <p:sp>
        <p:nvSpPr>
          <p:cNvPr id="90122" name="Text Box 41"/>
          <p:cNvSpPr txBox="1">
            <a:spLocks noChangeArrowheads="1"/>
          </p:cNvSpPr>
          <p:nvPr/>
        </p:nvSpPr>
        <p:spPr bwMode="auto">
          <a:xfrm>
            <a:off x="2633663" y="2678113"/>
            <a:ext cx="1403350" cy="45720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交换原语</a:t>
            </a:r>
          </a:p>
        </p:txBody>
      </p:sp>
      <p:sp>
        <p:nvSpPr>
          <p:cNvPr id="90123" name="AutoShape 42"/>
          <p:cNvSpPr>
            <a:spLocks noChangeArrowheads="1"/>
          </p:cNvSpPr>
          <p:nvPr/>
        </p:nvSpPr>
        <p:spPr bwMode="auto">
          <a:xfrm>
            <a:off x="2473325" y="2662238"/>
            <a:ext cx="158750" cy="1430337"/>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0124" name="Rectangle 43"/>
          <p:cNvSpPr>
            <a:spLocks noChangeArrowheads="1"/>
          </p:cNvSpPr>
          <p:nvPr/>
        </p:nvSpPr>
        <p:spPr bwMode="auto">
          <a:xfrm>
            <a:off x="6311900" y="4113213"/>
            <a:ext cx="236538" cy="254000"/>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a:p>
        </p:txBody>
      </p:sp>
      <p:sp>
        <p:nvSpPr>
          <p:cNvPr id="90125" name="AutoShape 44"/>
          <p:cNvSpPr>
            <a:spLocks noChangeArrowheads="1"/>
          </p:cNvSpPr>
          <p:nvPr/>
        </p:nvSpPr>
        <p:spPr bwMode="auto">
          <a:xfrm>
            <a:off x="6351588" y="2662238"/>
            <a:ext cx="158750" cy="1430337"/>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90126" name="Text Box 45"/>
          <p:cNvSpPr txBox="1">
            <a:spLocks noChangeArrowheads="1"/>
          </p:cNvSpPr>
          <p:nvPr/>
        </p:nvSpPr>
        <p:spPr bwMode="auto">
          <a:xfrm>
            <a:off x="4932363" y="2678113"/>
            <a:ext cx="1403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交换原语</a:t>
            </a:r>
          </a:p>
        </p:txBody>
      </p:sp>
      <p:sp>
        <p:nvSpPr>
          <p:cNvPr id="90127" name="Rectangle 46"/>
          <p:cNvSpPr>
            <a:spLocks noChangeArrowheads="1"/>
          </p:cNvSpPr>
          <p:nvPr/>
        </p:nvSpPr>
        <p:spPr bwMode="auto">
          <a:xfrm>
            <a:off x="1843088" y="2133600"/>
            <a:ext cx="1412875"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a:solidFill>
                <a:schemeClr val="folHlink"/>
              </a:solidFill>
              <a:latin typeface="Times New Roman" pitchFamily="18" charset="0"/>
            </a:endParaRPr>
          </a:p>
        </p:txBody>
      </p:sp>
      <p:sp>
        <p:nvSpPr>
          <p:cNvPr id="90128" name="Text Box 47"/>
          <p:cNvSpPr txBox="1">
            <a:spLocks noChangeArrowheads="1"/>
          </p:cNvSpPr>
          <p:nvPr/>
        </p:nvSpPr>
        <p:spPr bwMode="auto">
          <a:xfrm>
            <a:off x="1881188" y="2206625"/>
            <a:ext cx="1382712" cy="396875"/>
          </a:xfrm>
          <a:prstGeom prst="rect">
            <a:avLst/>
          </a:prstGeom>
          <a:solidFill>
            <a:srgbClr val="CCECFF"/>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 + 1)</a:t>
            </a:r>
          </a:p>
        </p:txBody>
      </p:sp>
      <p:sp>
        <p:nvSpPr>
          <p:cNvPr id="90129" name="Text Box 48"/>
          <p:cNvSpPr txBox="1">
            <a:spLocks noChangeArrowheads="1"/>
          </p:cNvSpPr>
          <p:nvPr/>
        </p:nvSpPr>
        <p:spPr bwMode="auto">
          <a:xfrm>
            <a:off x="34925" y="4421188"/>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服务提供者</a:t>
            </a:r>
          </a:p>
        </p:txBody>
      </p:sp>
      <p:sp>
        <p:nvSpPr>
          <p:cNvPr id="90130" name="Line 49"/>
          <p:cNvSpPr>
            <a:spLocks noChangeShapeType="1"/>
          </p:cNvSpPr>
          <p:nvPr/>
        </p:nvSpPr>
        <p:spPr bwMode="auto">
          <a:xfrm>
            <a:off x="1009650" y="3354388"/>
            <a:ext cx="7637463" cy="0"/>
          </a:xfrm>
          <a:prstGeom prst="line">
            <a:avLst/>
          </a:prstGeom>
          <a:noFill/>
          <a:ln w="12700">
            <a:solidFill>
              <a:schemeClr val="tx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1" name="Text Box 50"/>
          <p:cNvSpPr txBox="1">
            <a:spLocks noChangeArrowheads="1"/>
          </p:cNvSpPr>
          <p:nvPr/>
        </p:nvSpPr>
        <p:spPr bwMode="auto">
          <a:xfrm>
            <a:off x="7812088" y="4051300"/>
            <a:ext cx="1131887" cy="45720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ea typeface="黑体" pitchFamily="49" charset="-122"/>
              </a:rPr>
              <a:t>第 </a:t>
            </a:r>
            <a:r>
              <a:rPr kumimoji="1" lang="en-US" altLang="zh-CN" sz="2400">
                <a:solidFill>
                  <a:schemeClr val="folHlink"/>
                </a:solidFill>
                <a:ea typeface="黑体" pitchFamily="49" charset="-122"/>
              </a:rPr>
              <a:t>n </a:t>
            </a:r>
            <a:r>
              <a:rPr kumimoji="1" lang="zh-CN" altLang="en-US" sz="2400">
                <a:solidFill>
                  <a:schemeClr val="folHlink"/>
                </a:solidFill>
                <a:ea typeface="黑体" pitchFamily="49" charset="-122"/>
              </a:rPr>
              <a:t>层</a:t>
            </a:r>
          </a:p>
        </p:txBody>
      </p:sp>
      <p:sp>
        <p:nvSpPr>
          <p:cNvPr id="90132" name="Text Box 51"/>
          <p:cNvSpPr txBox="1">
            <a:spLocks noChangeArrowheads="1"/>
          </p:cNvSpPr>
          <p:nvPr/>
        </p:nvSpPr>
        <p:spPr bwMode="auto">
          <a:xfrm>
            <a:off x="7524750" y="2365375"/>
            <a:ext cx="1647825" cy="45720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ea typeface="黑体" pitchFamily="49" charset="-122"/>
              </a:rPr>
              <a:t>第 </a:t>
            </a:r>
            <a:r>
              <a:rPr kumimoji="1" lang="en-US" altLang="zh-CN" sz="2400">
                <a:solidFill>
                  <a:schemeClr val="folHlink"/>
                </a:solidFill>
                <a:ea typeface="黑体" pitchFamily="49" charset="-122"/>
              </a:rPr>
              <a:t>n + 1 </a:t>
            </a:r>
            <a:r>
              <a:rPr kumimoji="1" lang="zh-CN" altLang="en-US" sz="2400">
                <a:solidFill>
                  <a:schemeClr val="folHlink"/>
                </a:solidFill>
                <a:ea typeface="黑体" pitchFamily="49" charset="-122"/>
              </a:rPr>
              <a:t>层</a:t>
            </a:r>
          </a:p>
        </p:txBody>
      </p:sp>
      <p:sp>
        <p:nvSpPr>
          <p:cNvPr id="90133" name="Rectangle 52"/>
          <p:cNvSpPr>
            <a:spLocks noChangeArrowheads="1"/>
          </p:cNvSpPr>
          <p:nvPr/>
        </p:nvSpPr>
        <p:spPr bwMode="auto">
          <a:xfrm>
            <a:off x="5735638" y="2133600"/>
            <a:ext cx="1411287"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a:solidFill>
                <a:schemeClr val="folHlink"/>
              </a:solidFill>
              <a:latin typeface="Times New Roman" pitchFamily="18" charset="0"/>
            </a:endParaRPr>
          </a:p>
        </p:txBody>
      </p:sp>
      <p:sp>
        <p:nvSpPr>
          <p:cNvPr id="90134" name="Text Box 53"/>
          <p:cNvSpPr txBox="1">
            <a:spLocks noChangeArrowheads="1"/>
          </p:cNvSpPr>
          <p:nvPr/>
        </p:nvSpPr>
        <p:spPr bwMode="auto">
          <a:xfrm>
            <a:off x="5775325" y="2205038"/>
            <a:ext cx="1382713" cy="395287"/>
          </a:xfrm>
          <a:prstGeom prst="rect">
            <a:avLst/>
          </a:prstGeom>
          <a:solidFill>
            <a:srgbClr val="CCECFF"/>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 + 1)</a:t>
            </a:r>
          </a:p>
        </p:txBody>
      </p:sp>
      <p:sp>
        <p:nvSpPr>
          <p:cNvPr id="90135" name="Text Box 54"/>
          <p:cNvSpPr txBox="1">
            <a:spLocks noChangeArrowheads="1"/>
          </p:cNvSpPr>
          <p:nvPr/>
        </p:nvSpPr>
        <p:spPr bwMode="auto">
          <a:xfrm>
            <a:off x="6378575" y="1957388"/>
            <a:ext cx="184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kumimoji="1" lang="zh-CN" altLang="zh-CN" sz="3200">
              <a:solidFill>
                <a:schemeClr val="folHlink"/>
              </a:solidFill>
              <a:latin typeface="Times New Roman" pitchFamily="18" charset="0"/>
            </a:endParaRPr>
          </a:p>
        </p:txBody>
      </p:sp>
      <p:sp>
        <p:nvSpPr>
          <p:cNvPr id="90136" name="Text Box 55"/>
          <p:cNvSpPr txBox="1">
            <a:spLocks noChangeArrowheads="1"/>
          </p:cNvSpPr>
          <p:nvPr/>
        </p:nvSpPr>
        <p:spPr bwMode="auto">
          <a:xfrm>
            <a:off x="104775" y="2157413"/>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latin typeface="Times New Roman" pitchFamily="18" charset="0"/>
                <a:ea typeface="黑体" pitchFamily="49" charset="-122"/>
              </a:rPr>
              <a:t>服务用户</a:t>
            </a:r>
          </a:p>
        </p:txBody>
      </p:sp>
      <p:sp>
        <p:nvSpPr>
          <p:cNvPr id="90137" name="Rectangle 56"/>
          <p:cNvSpPr>
            <a:spLocks noChangeArrowheads="1"/>
          </p:cNvSpPr>
          <p:nvPr/>
        </p:nvSpPr>
        <p:spPr bwMode="auto">
          <a:xfrm>
            <a:off x="1843088" y="4360863"/>
            <a:ext cx="141287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a:solidFill>
                <a:schemeClr val="folHlink"/>
              </a:solidFill>
              <a:latin typeface="Times New Roman" pitchFamily="18" charset="0"/>
            </a:endParaRPr>
          </a:p>
        </p:txBody>
      </p:sp>
      <p:sp>
        <p:nvSpPr>
          <p:cNvPr id="90138" name="Rectangle 57"/>
          <p:cNvSpPr>
            <a:spLocks noChangeArrowheads="1"/>
          </p:cNvSpPr>
          <p:nvPr/>
        </p:nvSpPr>
        <p:spPr bwMode="auto">
          <a:xfrm>
            <a:off x="5708650" y="4360863"/>
            <a:ext cx="141287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a:solidFill>
                <a:schemeClr val="folHlink"/>
              </a:solidFill>
              <a:latin typeface="Times New Roman" pitchFamily="18" charset="0"/>
            </a:endParaRPr>
          </a:p>
        </p:txBody>
      </p:sp>
      <p:sp>
        <p:nvSpPr>
          <p:cNvPr id="90139" name="Text Box 58"/>
          <p:cNvSpPr txBox="1">
            <a:spLocks noChangeArrowheads="1"/>
          </p:cNvSpPr>
          <p:nvPr/>
        </p:nvSpPr>
        <p:spPr bwMode="auto">
          <a:xfrm>
            <a:off x="1979613" y="4402138"/>
            <a:ext cx="9874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a:t>
            </a:r>
          </a:p>
        </p:txBody>
      </p:sp>
      <p:sp>
        <p:nvSpPr>
          <p:cNvPr id="90140" name="Text Box 59"/>
          <p:cNvSpPr txBox="1">
            <a:spLocks noChangeArrowheads="1"/>
          </p:cNvSpPr>
          <p:nvPr/>
        </p:nvSpPr>
        <p:spPr bwMode="auto">
          <a:xfrm>
            <a:off x="5919788" y="4402138"/>
            <a:ext cx="987425" cy="395287"/>
          </a:xfrm>
          <a:prstGeom prst="rect">
            <a:avLst/>
          </a:prstGeom>
          <a:solidFill>
            <a:srgbClr val="CCECFF"/>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000">
                <a:solidFill>
                  <a:schemeClr val="folHlink"/>
                </a:solidFill>
                <a:latin typeface="Times New Roman" pitchFamily="18" charset="0"/>
              </a:rPr>
              <a:t>实体</a:t>
            </a:r>
            <a:r>
              <a:rPr kumimoji="1" lang="en-US" altLang="zh-CN" sz="2000">
                <a:solidFill>
                  <a:schemeClr val="folHlink"/>
                </a:solidFill>
                <a:latin typeface="Times New Roman" pitchFamily="18" charset="0"/>
              </a:rPr>
              <a:t>(n)</a:t>
            </a:r>
          </a:p>
        </p:txBody>
      </p:sp>
      <p:sp>
        <p:nvSpPr>
          <p:cNvPr id="90141" name="Line 60"/>
          <p:cNvSpPr>
            <a:spLocks noChangeShapeType="1"/>
          </p:cNvSpPr>
          <p:nvPr/>
        </p:nvSpPr>
        <p:spPr bwMode="auto">
          <a:xfrm>
            <a:off x="3259138" y="4608513"/>
            <a:ext cx="2505075" cy="0"/>
          </a:xfrm>
          <a:prstGeom prst="line">
            <a:avLst/>
          </a:prstGeom>
          <a:noFill/>
          <a:ln w="1270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2" name="Text Box 61"/>
          <p:cNvSpPr txBox="1">
            <a:spLocks noChangeArrowheads="1"/>
          </p:cNvSpPr>
          <p:nvPr/>
        </p:nvSpPr>
        <p:spPr bwMode="auto">
          <a:xfrm>
            <a:off x="3995738" y="4410075"/>
            <a:ext cx="1166812" cy="457200"/>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kumimoji="1" lang="zh-CN" altLang="en-US" sz="2400">
                <a:solidFill>
                  <a:schemeClr val="folHlink"/>
                </a:solidFill>
                <a:ea typeface="黑体" pitchFamily="49" charset="-122"/>
              </a:rPr>
              <a:t>协议</a:t>
            </a:r>
            <a:r>
              <a:rPr kumimoji="1" lang="en-US" altLang="zh-CN" sz="2400">
                <a:solidFill>
                  <a:schemeClr val="folHlink"/>
                </a:solidFill>
                <a:ea typeface="黑体" pitchFamily="49" charset="-122"/>
              </a:rPr>
              <a:t>(n)</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zh-CN" altLang="en-US" smtClean="0"/>
              <a:t>数据的传输效率</a:t>
            </a:r>
          </a:p>
        </p:txBody>
      </p:sp>
      <p:sp>
        <p:nvSpPr>
          <p:cNvPr id="91139" name="Rectangle 4"/>
          <p:cNvSpPr>
            <a:spLocks noChangeArrowheads="1"/>
          </p:cNvSpPr>
          <p:nvPr>
            <p:ph type="body" idx="1"/>
          </p:nvPr>
        </p:nvSpPr>
        <p:spPr>
          <a:noFill/>
        </p:spPr>
        <p:txBody>
          <a:bodyPr/>
          <a:lstStyle/>
          <a:p>
            <a:pPr eaLnBrk="1" hangingPunct="1"/>
            <a:r>
              <a:rPr lang="zh-CN" altLang="en-US" smtClean="0"/>
              <a:t>习题</a:t>
            </a:r>
            <a:r>
              <a:rPr lang="en-US" altLang="zh-CN" smtClean="0"/>
              <a:t>1-19</a:t>
            </a:r>
            <a:r>
              <a:rPr lang="zh-CN" altLang="en-US" smtClean="0"/>
              <a:t>，</a:t>
            </a:r>
            <a:r>
              <a:rPr lang="en-US" altLang="zh-CN" smtClean="0"/>
              <a:t>1-15     P34</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内容占位符 6"/>
          <p:cNvSpPr>
            <a:spLocks noGrp="1"/>
          </p:cNvSpPr>
          <p:nvPr>
            <p:ph idx="1"/>
          </p:nvPr>
        </p:nvSpPr>
        <p:spPr>
          <a:xfrm>
            <a:off x="863600" y="692150"/>
            <a:ext cx="8280400" cy="6838950"/>
          </a:xfrm>
        </p:spPr>
        <p:txBody>
          <a:bodyPr/>
          <a:lstStyle/>
          <a:p>
            <a:pPr marL="0" indent="0" eaLnBrk="1" hangingPunct="1">
              <a:buFont typeface="Wingdings" pitchFamily="2" charset="2"/>
              <a:buNone/>
            </a:pPr>
            <a:r>
              <a:rPr lang="en-US" altLang="zh-CN" sz="2000" smtClean="0"/>
              <a:t>1</a:t>
            </a:r>
            <a:r>
              <a:rPr lang="zh-CN" altLang="zh-CN" sz="2000" smtClean="0"/>
              <a:t>．在</a:t>
            </a:r>
            <a:r>
              <a:rPr lang="en-US" altLang="zh-CN" sz="2000" smtClean="0"/>
              <a:t>OSI</a:t>
            </a:r>
            <a:r>
              <a:rPr lang="zh-CN" altLang="zh-CN" sz="2000" smtClean="0"/>
              <a:t>中，为网络用户间的通信提供专用程序的层次是（</a:t>
            </a:r>
            <a:r>
              <a:rPr lang="en-US" altLang="zh-CN" sz="2000" smtClean="0"/>
              <a:t>    </a:t>
            </a:r>
            <a:r>
              <a:rPr lang="zh-CN" altLang="zh-CN" sz="2000" smtClean="0"/>
              <a:t>）。</a:t>
            </a:r>
          </a:p>
          <a:p>
            <a:pPr marL="0" indent="0" eaLnBrk="1" hangingPunct="1">
              <a:buFont typeface="Wingdings" pitchFamily="2" charset="2"/>
              <a:buNone/>
            </a:pPr>
            <a:r>
              <a:rPr lang="en-US" altLang="zh-CN" sz="2000" smtClean="0"/>
              <a:t>A</a:t>
            </a:r>
            <a:r>
              <a:rPr lang="zh-CN" altLang="zh-CN" sz="2000" smtClean="0"/>
              <a:t>．运输层</a:t>
            </a:r>
            <a:r>
              <a:rPr lang="en-US" altLang="zh-CN" sz="2000" smtClean="0"/>
              <a:t>     B</a:t>
            </a:r>
            <a:r>
              <a:rPr lang="zh-CN" altLang="zh-CN" sz="2000" smtClean="0"/>
              <a:t>．会话层</a:t>
            </a:r>
            <a:r>
              <a:rPr lang="en-US" altLang="zh-CN" sz="2000" smtClean="0"/>
              <a:t>     C</a:t>
            </a:r>
            <a:r>
              <a:rPr lang="zh-CN" altLang="zh-CN" sz="2000" smtClean="0"/>
              <a:t>．表示层</a:t>
            </a:r>
            <a:r>
              <a:rPr lang="en-US" altLang="zh-CN" sz="2000" smtClean="0"/>
              <a:t>     D</a:t>
            </a:r>
            <a:r>
              <a:rPr lang="zh-CN" altLang="zh-CN" sz="2000" smtClean="0"/>
              <a:t>．应用层</a:t>
            </a:r>
          </a:p>
          <a:p>
            <a:pPr marL="0" indent="0" eaLnBrk="1" hangingPunct="1">
              <a:buFont typeface="Wingdings" pitchFamily="2" charset="2"/>
              <a:buNone/>
            </a:pPr>
            <a:r>
              <a:rPr lang="en-US" altLang="zh-CN" sz="2000" smtClean="0"/>
              <a:t>2</a:t>
            </a:r>
            <a:r>
              <a:rPr lang="zh-CN" altLang="zh-CN" sz="2000" smtClean="0"/>
              <a:t>．网络协议主要由</a:t>
            </a:r>
            <a:r>
              <a:rPr lang="en-US" altLang="zh-CN" sz="2000" smtClean="0"/>
              <a:t>3</a:t>
            </a:r>
            <a:r>
              <a:rPr lang="zh-CN" altLang="zh-CN" sz="2000" smtClean="0"/>
              <a:t>个基本要素组成，即</a:t>
            </a:r>
            <a:r>
              <a:rPr lang="en-US" altLang="zh-CN" sz="2000" smtClean="0"/>
              <a:t>(    )</a:t>
            </a:r>
            <a:r>
              <a:rPr lang="zh-CN" altLang="zh-CN" sz="2000" smtClean="0"/>
              <a:t>。</a:t>
            </a:r>
          </a:p>
          <a:p>
            <a:pPr marL="0" indent="0" eaLnBrk="1" hangingPunct="1">
              <a:buFont typeface="Wingdings" pitchFamily="2" charset="2"/>
              <a:buNone/>
            </a:pPr>
            <a:r>
              <a:rPr lang="en-US" altLang="zh-CN" sz="2000" smtClean="0"/>
              <a:t> A</a:t>
            </a:r>
            <a:r>
              <a:rPr lang="zh-CN" altLang="zh-CN" sz="2000" smtClean="0"/>
              <a:t>．层次、讲义和时序</a:t>
            </a:r>
            <a:r>
              <a:rPr lang="en-US" altLang="zh-CN" sz="2000" smtClean="0"/>
              <a:t>    B</a:t>
            </a:r>
            <a:r>
              <a:rPr lang="zh-CN" altLang="zh-CN" sz="2000" smtClean="0"/>
              <a:t>．语法、原语和时序</a:t>
            </a:r>
          </a:p>
          <a:p>
            <a:pPr marL="0" indent="0" eaLnBrk="1" hangingPunct="1">
              <a:buFont typeface="Wingdings" pitchFamily="2" charset="2"/>
              <a:buNone/>
            </a:pPr>
            <a:r>
              <a:rPr lang="en-US" altLang="zh-CN" sz="2000" smtClean="0"/>
              <a:t>C</a:t>
            </a:r>
            <a:r>
              <a:rPr lang="zh-CN" altLang="zh-CN" sz="2000" smtClean="0"/>
              <a:t>．语法、语义和时序</a:t>
            </a:r>
            <a:r>
              <a:rPr lang="en-US" altLang="zh-CN" sz="2000" smtClean="0"/>
              <a:t>    D</a:t>
            </a:r>
            <a:r>
              <a:rPr lang="zh-CN" altLang="zh-CN" sz="2000" smtClean="0"/>
              <a:t>．语法、语义和功能</a:t>
            </a:r>
          </a:p>
          <a:p>
            <a:pPr marL="0" indent="0" eaLnBrk="1" hangingPunct="1">
              <a:buFont typeface="Wingdings" pitchFamily="2" charset="2"/>
              <a:buNone/>
            </a:pPr>
            <a:r>
              <a:rPr lang="en-US" altLang="zh-CN" sz="2000" smtClean="0"/>
              <a:t>3</a:t>
            </a:r>
            <a:r>
              <a:rPr lang="zh-CN" altLang="zh-CN" sz="2000" smtClean="0"/>
              <a:t>．在开放系统互连环境中，两个</a:t>
            </a:r>
            <a:r>
              <a:rPr lang="en-US" altLang="zh-CN" sz="2000" smtClean="0"/>
              <a:t>N</a:t>
            </a:r>
            <a:r>
              <a:rPr lang="zh-CN" altLang="zh-CN" sz="2000" smtClean="0"/>
              <a:t>层实体进行通信，可能用到的服务是</a:t>
            </a:r>
            <a:r>
              <a:rPr lang="en-US" altLang="zh-CN" sz="2000" smtClean="0"/>
              <a:t>(  )</a:t>
            </a:r>
            <a:r>
              <a:rPr lang="zh-CN" altLang="zh-CN" sz="2000" smtClean="0"/>
              <a:t>。</a:t>
            </a:r>
          </a:p>
          <a:p>
            <a:pPr marL="0" indent="0" eaLnBrk="1" hangingPunct="1">
              <a:buFont typeface="Wingdings" pitchFamily="2" charset="2"/>
              <a:buNone/>
            </a:pPr>
            <a:r>
              <a:rPr lang="en-US" altLang="zh-CN" sz="2000" smtClean="0"/>
              <a:t>    A</a:t>
            </a:r>
            <a:r>
              <a:rPr lang="zh-CN" altLang="zh-CN" sz="2000" smtClean="0"/>
              <a:t>．</a:t>
            </a:r>
            <a:r>
              <a:rPr lang="en-US" altLang="zh-CN" sz="2000" smtClean="0"/>
              <a:t>N -1</a:t>
            </a:r>
            <a:r>
              <a:rPr lang="zh-CN" altLang="zh-CN" sz="2000" smtClean="0"/>
              <a:t>层提供的服务</a:t>
            </a:r>
            <a:r>
              <a:rPr lang="en-US" altLang="zh-CN" sz="2000" smtClean="0"/>
              <a:t>    B</a:t>
            </a:r>
            <a:r>
              <a:rPr lang="zh-CN" altLang="zh-CN" sz="2000" smtClean="0"/>
              <a:t>．</a:t>
            </a:r>
            <a:r>
              <a:rPr lang="en-US" altLang="zh-CN" sz="2000" smtClean="0"/>
              <a:t>N</a:t>
            </a:r>
            <a:r>
              <a:rPr lang="zh-CN" altLang="zh-CN" sz="2000" smtClean="0"/>
              <a:t>层提供的服务</a:t>
            </a:r>
          </a:p>
          <a:p>
            <a:pPr marL="0" indent="0" eaLnBrk="1" hangingPunct="1">
              <a:buFont typeface="Wingdings" pitchFamily="2" charset="2"/>
              <a:buNone/>
            </a:pPr>
            <a:r>
              <a:rPr lang="en-US" altLang="zh-CN" sz="2000" smtClean="0"/>
              <a:t>    C</a:t>
            </a:r>
            <a:r>
              <a:rPr lang="zh-CN" altLang="zh-CN" sz="2000" smtClean="0"/>
              <a:t>．</a:t>
            </a:r>
            <a:r>
              <a:rPr lang="en-US" altLang="zh-CN" sz="2000" smtClean="0"/>
              <a:t>N +1</a:t>
            </a:r>
            <a:r>
              <a:rPr lang="zh-CN" altLang="zh-CN" sz="2000" smtClean="0"/>
              <a:t>层提供的服务</a:t>
            </a:r>
            <a:r>
              <a:rPr lang="en-US" altLang="zh-CN" sz="2000" smtClean="0"/>
              <a:t>    D</a:t>
            </a:r>
            <a:r>
              <a:rPr lang="zh-CN" altLang="zh-CN" sz="2000" smtClean="0"/>
              <a:t>．以上都不对</a:t>
            </a:r>
          </a:p>
          <a:p>
            <a:pPr marL="0" indent="0" eaLnBrk="1" hangingPunct="1">
              <a:buFont typeface="Wingdings" pitchFamily="2" charset="2"/>
              <a:buNone/>
            </a:pPr>
            <a:r>
              <a:rPr lang="en-US" altLang="zh-CN" sz="2000" smtClean="0"/>
              <a:t>4</a:t>
            </a:r>
            <a:r>
              <a:rPr lang="zh-CN" altLang="zh-CN" sz="2000" smtClean="0"/>
              <a:t>．在</a:t>
            </a:r>
            <a:r>
              <a:rPr lang="en-US" altLang="zh-CN" sz="2000" smtClean="0"/>
              <a:t>OSI</a:t>
            </a:r>
            <a:r>
              <a:rPr lang="zh-CN" altLang="zh-CN" sz="2000" smtClean="0"/>
              <a:t>参考模型中，不同结点的同等层通过</a:t>
            </a:r>
            <a:r>
              <a:rPr lang="en-US" altLang="zh-CN" sz="2000" smtClean="0"/>
              <a:t>(   )</a:t>
            </a:r>
            <a:r>
              <a:rPr lang="zh-CN" altLang="zh-CN" sz="2000" smtClean="0"/>
              <a:t>来实现对等层之间的通信。</a:t>
            </a:r>
          </a:p>
          <a:p>
            <a:pPr marL="0" indent="0" eaLnBrk="1" hangingPunct="1">
              <a:buFont typeface="Wingdings" pitchFamily="2" charset="2"/>
              <a:buNone/>
            </a:pPr>
            <a:r>
              <a:rPr lang="en-US" altLang="zh-CN" sz="2000" smtClean="0"/>
              <a:t>    A</a:t>
            </a:r>
            <a:r>
              <a:rPr lang="zh-CN" altLang="zh-CN" sz="2000" smtClean="0"/>
              <a:t>．接口</a:t>
            </a:r>
            <a:r>
              <a:rPr lang="en-US" altLang="zh-CN" sz="2000" smtClean="0"/>
              <a:t>    B</a:t>
            </a:r>
            <a:r>
              <a:rPr lang="zh-CN" altLang="zh-CN" sz="2000" smtClean="0"/>
              <a:t>．协议 </a:t>
            </a:r>
            <a:r>
              <a:rPr lang="en-US" altLang="zh-CN" sz="2000" smtClean="0"/>
              <a:t>  C</a:t>
            </a:r>
            <a:r>
              <a:rPr lang="zh-CN" altLang="zh-CN" sz="2000" smtClean="0"/>
              <a:t>．程序</a:t>
            </a:r>
            <a:r>
              <a:rPr lang="en-US" altLang="zh-CN" sz="2000" smtClean="0"/>
              <a:t>   D</a:t>
            </a:r>
            <a:r>
              <a:rPr lang="zh-CN" altLang="zh-CN" sz="2000" smtClean="0"/>
              <a:t>．进程</a:t>
            </a:r>
          </a:p>
          <a:p>
            <a:pPr marL="0" indent="0" eaLnBrk="1" hangingPunct="1">
              <a:buFont typeface="Wingdings" pitchFamily="2" charset="2"/>
              <a:buNone/>
            </a:pPr>
            <a:r>
              <a:rPr lang="en-US" altLang="zh-CN" sz="2000" smtClean="0"/>
              <a:t>5</a:t>
            </a:r>
            <a:r>
              <a:rPr lang="zh-CN" altLang="zh-CN" sz="2000" smtClean="0"/>
              <a:t>．计算机网络中的</a:t>
            </a:r>
            <a:r>
              <a:rPr lang="en-US" altLang="zh-CN" sz="2000" smtClean="0"/>
              <a:t>OSI</a:t>
            </a:r>
            <a:r>
              <a:rPr lang="zh-CN" altLang="zh-CN" sz="2000" smtClean="0"/>
              <a:t>参考模型的三个主要概念是</a:t>
            </a:r>
            <a:r>
              <a:rPr lang="en-US" altLang="zh-CN" sz="2000" smtClean="0"/>
              <a:t>(  )</a:t>
            </a:r>
            <a:r>
              <a:rPr lang="zh-CN" altLang="zh-CN" sz="2000" smtClean="0"/>
              <a:t>．</a:t>
            </a:r>
          </a:p>
          <a:p>
            <a:pPr marL="0" indent="0" eaLnBrk="1" hangingPunct="1">
              <a:buFont typeface="Wingdings" pitchFamily="2" charset="2"/>
              <a:buNone/>
            </a:pPr>
            <a:r>
              <a:rPr lang="en-US" altLang="zh-CN" sz="2000" smtClean="0"/>
              <a:t>    A</a:t>
            </a:r>
            <a:r>
              <a:rPr lang="zh-CN" altLang="zh-CN" sz="2000" smtClean="0"/>
              <a:t>．服务、接口、协议 </a:t>
            </a:r>
            <a:r>
              <a:rPr lang="en-US" altLang="zh-CN" sz="2000" smtClean="0"/>
              <a:t>   B</a:t>
            </a:r>
            <a:r>
              <a:rPr lang="zh-CN" altLang="zh-CN" sz="2000" smtClean="0"/>
              <a:t>．子网、层次、端口</a:t>
            </a:r>
          </a:p>
          <a:p>
            <a:pPr marL="0" indent="0" eaLnBrk="1" hangingPunct="1">
              <a:buFont typeface="Wingdings" pitchFamily="2" charset="2"/>
              <a:buNone/>
            </a:pPr>
            <a:r>
              <a:rPr lang="en-US" altLang="zh-CN" sz="2000" smtClean="0"/>
              <a:t>   C</a:t>
            </a:r>
            <a:r>
              <a:rPr lang="zh-CN" altLang="zh-CN" sz="2000" smtClean="0"/>
              <a:t>． 结构、模型、交换</a:t>
            </a:r>
            <a:r>
              <a:rPr lang="en-US" altLang="zh-CN" sz="2000" smtClean="0"/>
              <a:t>    D</a:t>
            </a:r>
            <a:r>
              <a:rPr lang="zh-CN" altLang="zh-CN" sz="2000" smtClean="0"/>
              <a:t>．广域网、城域网、局域网</a:t>
            </a:r>
          </a:p>
          <a:p>
            <a:pPr marL="0" indent="0" eaLnBrk="1" hangingPunct="1">
              <a:buFont typeface="Wingdings" pitchFamily="2" charset="2"/>
              <a:buNone/>
            </a:pPr>
            <a:endParaRPr lang="zh-CN" altLang="zh-CN" sz="800" smtClean="0"/>
          </a:p>
          <a:p>
            <a:pPr marL="0" indent="0" eaLnBrk="1" hangingPunct="1">
              <a:buFont typeface="Wingdings" pitchFamily="2" charset="2"/>
              <a:buNone/>
            </a:pPr>
            <a:endParaRPr lang="zh-CN" altLang="en-US" sz="800" smtClean="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内容占位符 2"/>
          <p:cNvSpPr>
            <a:spLocks noGrp="1"/>
          </p:cNvSpPr>
          <p:nvPr>
            <p:ph idx="1"/>
          </p:nvPr>
        </p:nvSpPr>
        <p:spPr>
          <a:xfrm>
            <a:off x="1116013" y="260350"/>
            <a:ext cx="7843837" cy="6481763"/>
          </a:xfrm>
        </p:spPr>
        <p:txBody>
          <a:bodyPr/>
          <a:lstStyle/>
          <a:p>
            <a:pPr marL="0" indent="0" eaLnBrk="1" hangingPunct="1">
              <a:buClr>
                <a:srgbClr val="3333CC"/>
              </a:buClr>
              <a:buFont typeface="Wingdings" pitchFamily="2" charset="2"/>
              <a:buNone/>
            </a:pPr>
            <a:r>
              <a:rPr lang="en-US" altLang="zh-CN" sz="2000" smtClean="0"/>
              <a:t>6</a:t>
            </a:r>
            <a:r>
              <a:rPr lang="zh-CN" altLang="zh-CN" sz="2000" smtClean="0"/>
              <a:t>．在</a:t>
            </a:r>
            <a:r>
              <a:rPr lang="en-US" altLang="zh-CN" sz="2000" smtClean="0"/>
              <a:t>OSI</a:t>
            </a:r>
            <a:r>
              <a:rPr lang="zh-CN" altLang="zh-CN" sz="2000" smtClean="0"/>
              <a:t>参考模型中，同一结点内相邻层之间通过</a:t>
            </a:r>
            <a:r>
              <a:rPr lang="en-US" altLang="zh-CN" sz="2000" smtClean="0"/>
              <a:t>(    )</a:t>
            </a:r>
            <a:r>
              <a:rPr lang="zh-CN" altLang="zh-CN" sz="2000" smtClean="0"/>
              <a:t>来进行通信</a:t>
            </a:r>
          </a:p>
          <a:p>
            <a:pPr marL="0" indent="0" eaLnBrk="1" hangingPunct="1">
              <a:buClr>
                <a:srgbClr val="3333CC"/>
              </a:buClr>
              <a:buFont typeface="Wingdings" pitchFamily="2" charset="2"/>
              <a:buNone/>
            </a:pPr>
            <a:r>
              <a:rPr lang="en-US" altLang="zh-CN" sz="2000" smtClean="0"/>
              <a:t>A</a:t>
            </a:r>
            <a:r>
              <a:rPr lang="zh-CN" altLang="zh-CN" sz="2000" smtClean="0"/>
              <a:t>．协议 </a:t>
            </a:r>
            <a:r>
              <a:rPr lang="en-US" altLang="zh-CN" sz="2000" smtClean="0"/>
              <a:t>B</a:t>
            </a:r>
            <a:r>
              <a:rPr lang="zh-CN" altLang="zh-CN" sz="2000" smtClean="0"/>
              <a:t>．接口</a:t>
            </a:r>
            <a:r>
              <a:rPr lang="en-US" altLang="zh-CN" sz="2000" smtClean="0"/>
              <a:t> C</a:t>
            </a:r>
            <a:r>
              <a:rPr lang="zh-CN" altLang="zh-CN" sz="2000" smtClean="0"/>
              <a:t>．进程</a:t>
            </a:r>
            <a:r>
              <a:rPr lang="en-US" altLang="zh-CN" sz="2000" smtClean="0"/>
              <a:t> D</a:t>
            </a:r>
            <a:r>
              <a:rPr lang="zh-CN" altLang="zh-CN" sz="2000" smtClean="0"/>
              <a:t>．应用程序</a:t>
            </a:r>
          </a:p>
          <a:p>
            <a:pPr marL="0" indent="0" eaLnBrk="1" hangingPunct="1">
              <a:buClr>
                <a:srgbClr val="3333CC"/>
              </a:buClr>
              <a:buFont typeface="Wingdings" pitchFamily="2" charset="2"/>
              <a:buNone/>
            </a:pPr>
            <a:r>
              <a:rPr lang="en-US" altLang="zh-CN" sz="2000" smtClean="0"/>
              <a:t>7</a:t>
            </a:r>
            <a:r>
              <a:rPr lang="zh-CN" altLang="zh-CN" sz="2000" smtClean="0"/>
              <a:t>．促使采用多路复用的原因是多方面的，但不包括（</a:t>
            </a:r>
            <a:r>
              <a:rPr lang="en-US" altLang="zh-CN" sz="2000" smtClean="0"/>
              <a:t> </a:t>
            </a:r>
            <a:r>
              <a:rPr lang="zh-CN" altLang="zh-CN" sz="2000" smtClean="0"/>
              <a:t>）。</a:t>
            </a:r>
          </a:p>
          <a:p>
            <a:pPr marL="0" indent="0" eaLnBrk="1" hangingPunct="1">
              <a:buClr>
                <a:srgbClr val="3333CC"/>
              </a:buClr>
              <a:buFont typeface="Wingdings" pitchFamily="2" charset="2"/>
              <a:buNone/>
            </a:pPr>
            <a:r>
              <a:rPr lang="en-US" altLang="zh-CN" sz="2000" smtClean="0"/>
              <a:t>    A</a:t>
            </a:r>
            <a:r>
              <a:rPr lang="zh-CN" altLang="zh-CN" sz="2000" smtClean="0"/>
              <a:t>．成本效率原因：传输与接收设备的单位速率价格（每</a:t>
            </a:r>
            <a:r>
              <a:rPr lang="en-US" altLang="zh-CN" sz="2000" smtClean="0"/>
              <a:t>bps</a:t>
            </a:r>
            <a:r>
              <a:rPr lang="zh-CN" altLang="zh-CN" sz="2000" smtClean="0"/>
              <a:t>价格）随数据率增大而降低</a:t>
            </a:r>
          </a:p>
          <a:p>
            <a:pPr marL="0" indent="0" eaLnBrk="1" hangingPunct="1">
              <a:buClr>
                <a:srgbClr val="3333CC"/>
              </a:buClr>
              <a:buFont typeface="Wingdings" pitchFamily="2" charset="2"/>
              <a:buNone/>
            </a:pPr>
            <a:r>
              <a:rPr lang="en-US" altLang="zh-CN" sz="2000" smtClean="0"/>
              <a:t>    B</a:t>
            </a:r>
            <a:r>
              <a:rPr lang="zh-CN" altLang="zh-CN" sz="2000" smtClean="0"/>
              <a:t>．用户速率要求原因：普通用户大都只需要中等速率的通信能力</a:t>
            </a:r>
          </a:p>
          <a:p>
            <a:pPr marL="0" indent="0" eaLnBrk="1" hangingPunct="1">
              <a:buClr>
                <a:srgbClr val="3333CC"/>
              </a:buClr>
              <a:buFont typeface="Wingdings" pitchFamily="2" charset="2"/>
              <a:buNone/>
            </a:pPr>
            <a:r>
              <a:rPr lang="en-US" altLang="zh-CN" sz="2000" smtClean="0"/>
              <a:t>    C</a:t>
            </a:r>
            <a:r>
              <a:rPr lang="zh-CN" altLang="zh-CN" sz="2000" smtClean="0"/>
              <a:t>．工程原因：架设大容量与小容量通信线路施工难度、费用相近，从而总是尽量铺设大容量线路</a:t>
            </a:r>
          </a:p>
          <a:p>
            <a:pPr marL="0" indent="0" eaLnBrk="1" hangingPunct="1">
              <a:buClr>
                <a:srgbClr val="3333CC"/>
              </a:buClr>
              <a:buFont typeface="Wingdings" pitchFamily="2" charset="2"/>
              <a:buNone/>
            </a:pPr>
            <a:r>
              <a:rPr lang="en-US" altLang="zh-CN" sz="2000" smtClean="0"/>
              <a:t>    D</a:t>
            </a:r>
            <a:r>
              <a:rPr lang="zh-CN" altLang="zh-CN" sz="2000" smtClean="0"/>
              <a:t>．安全性原因：采用多路复用后，在同一线路上同时传送多路信号，不易泄密，使安全性得以提高</a:t>
            </a:r>
          </a:p>
          <a:p>
            <a:pPr marL="0" indent="0" eaLnBrk="1" hangingPunct="1">
              <a:buClr>
                <a:srgbClr val="3333CC"/>
              </a:buClr>
              <a:buFont typeface="Wingdings" pitchFamily="2" charset="2"/>
              <a:buNone/>
            </a:pPr>
            <a:r>
              <a:rPr lang="en-US" altLang="zh-CN" sz="2000" smtClean="0"/>
              <a:t>8</a:t>
            </a:r>
            <a:r>
              <a:rPr lang="zh-CN" altLang="zh-CN" sz="2000" smtClean="0"/>
              <a:t>．</a:t>
            </a:r>
            <a:r>
              <a:rPr lang="en-US" altLang="zh-CN" sz="2000" smtClean="0"/>
              <a:t>TCP</a:t>
            </a:r>
            <a:r>
              <a:rPr lang="zh-CN" altLang="zh-CN" sz="2000" smtClean="0"/>
              <a:t>／</a:t>
            </a:r>
            <a:r>
              <a:rPr lang="en-US" altLang="zh-CN" sz="2000" smtClean="0"/>
              <a:t>lP</a:t>
            </a:r>
            <a:r>
              <a:rPr lang="zh-CN" altLang="zh-CN" sz="2000" smtClean="0"/>
              <a:t>模型由以下层次构成</a:t>
            </a:r>
            <a:r>
              <a:rPr lang="en-US" altLang="zh-CN" sz="2000" smtClean="0"/>
              <a:t>(  )</a:t>
            </a:r>
            <a:r>
              <a:rPr lang="zh-CN" altLang="zh-CN" sz="2000" smtClean="0"/>
              <a:t>。</a:t>
            </a:r>
          </a:p>
          <a:p>
            <a:pPr marL="0" indent="0" eaLnBrk="1" hangingPunct="1">
              <a:buClr>
                <a:srgbClr val="3333CC"/>
              </a:buClr>
              <a:buFont typeface="Wingdings" pitchFamily="2" charset="2"/>
              <a:buNone/>
            </a:pPr>
            <a:r>
              <a:rPr lang="en-US" altLang="zh-CN" sz="2000" smtClean="0"/>
              <a:t>    A</a:t>
            </a:r>
            <a:r>
              <a:rPr lang="zh-CN" altLang="zh-CN" sz="2000" smtClean="0"/>
              <a:t>．物理层、数据链路层、网络层、传输层、会话层、表示层、应用层</a:t>
            </a:r>
          </a:p>
          <a:p>
            <a:pPr marL="0" indent="0" eaLnBrk="1" hangingPunct="1">
              <a:buClr>
                <a:srgbClr val="3333CC"/>
              </a:buClr>
              <a:buFont typeface="Wingdings" pitchFamily="2" charset="2"/>
              <a:buNone/>
            </a:pPr>
            <a:r>
              <a:rPr lang="en-US" altLang="zh-CN" sz="2000" smtClean="0"/>
              <a:t>    B</a:t>
            </a:r>
            <a:r>
              <a:rPr lang="zh-CN" altLang="zh-CN" sz="2000" smtClean="0"/>
              <a:t>．网络接口层、互联网层、传输层、应用层</a:t>
            </a:r>
          </a:p>
          <a:p>
            <a:pPr marL="0" indent="0" eaLnBrk="1" hangingPunct="1">
              <a:buClr>
                <a:srgbClr val="3333CC"/>
              </a:buClr>
              <a:buFont typeface="Wingdings" pitchFamily="2" charset="2"/>
              <a:buNone/>
            </a:pPr>
            <a:r>
              <a:rPr lang="en-US" altLang="zh-CN" sz="2000" smtClean="0"/>
              <a:t>    C</a:t>
            </a:r>
            <a:r>
              <a:rPr lang="zh-CN" altLang="zh-CN" sz="2000" smtClean="0"/>
              <a:t>．物理层、数据链路层、网络层</a:t>
            </a:r>
          </a:p>
          <a:p>
            <a:pPr marL="0" indent="0" eaLnBrk="1" hangingPunct="1">
              <a:buClr>
                <a:srgbClr val="3333CC"/>
              </a:buClr>
              <a:buFont typeface="Wingdings" pitchFamily="2" charset="2"/>
              <a:buNone/>
            </a:pPr>
            <a:r>
              <a:rPr lang="en-US" altLang="zh-CN" sz="2000" smtClean="0"/>
              <a:t>    D</a:t>
            </a:r>
            <a:r>
              <a:rPr lang="zh-CN" altLang="zh-CN" sz="2000" smtClean="0"/>
              <a:t>．局域网层、广域网层、互联网层</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内容占位符 2"/>
          <p:cNvSpPr>
            <a:spLocks noGrp="1"/>
          </p:cNvSpPr>
          <p:nvPr>
            <p:ph idx="1"/>
          </p:nvPr>
        </p:nvSpPr>
        <p:spPr>
          <a:xfrm>
            <a:off x="827088" y="476250"/>
            <a:ext cx="8316912" cy="6381750"/>
          </a:xfrm>
        </p:spPr>
        <p:txBody>
          <a:bodyPr/>
          <a:lstStyle/>
          <a:p>
            <a:pPr marL="0" indent="0" eaLnBrk="1" hangingPunct="1">
              <a:buClr>
                <a:srgbClr val="3333CC"/>
              </a:buClr>
              <a:buFont typeface="Wingdings" pitchFamily="2" charset="2"/>
              <a:buNone/>
            </a:pPr>
            <a:r>
              <a:rPr lang="en-US" altLang="zh-CN" sz="2000" smtClean="0"/>
              <a:t>9</a:t>
            </a:r>
            <a:r>
              <a:rPr lang="zh-CN" altLang="zh-CN" sz="2000" smtClean="0"/>
              <a:t>．在下列功能中，（</a:t>
            </a:r>
            <a:r>
              <a:rPr lang="en-US" altLang="zh-CN" sz="2000" smtClean="0"/>
              <a:t>    </a:t>
            </a:r>
            <a:r>
              <a:rPr lang="zh-CN" altLang="zh-CN" sz="2000" smtClean="0"/>
              <a:t>）最好地描述了</a:t>
            </a:r>
            <a:r>
              <a:rPr lang="en-US" altLang="zh-CN" sz="2000" smtClean="0"/>
              <a:t>OSI</a:t>
            </a:r>
            <a:r>
              <a:rPr lang="zh-CN" altLang="zh-CN" sz="2000" smtClean="0"/>
              <a:t>模型的网络层。</a:t>
            </a:r>
          </a:p>
          <a:p>
            <a:pPr marL="0" indent="0" eaLnBrk="1" hangingPunct="1">
              <a:buClr>
                <a:srgbClr val="3333CC"/>
              </a:buClr>
              <a:buFont typeface="Wingdings" pitchFamily="2" charset="2"/>
              <a:buNone/>
            </a:pPr>
            <a:r>
              <a:rPr lang="en-US" altLang="zh-CN" sz="2000" smtClean="0"/>
              <a:t>    A</a:t>
            </a:r>
            <a:r>
              <a:rPr lang="zh-CN" altLang="zh-CN" sz="2000" smtClean="0"/>
              <a:t>．保证数据正确的顺序、无错和完整</a:t>
            </a:r>
            <a:r>
              <a:rPr lang="en-US" altLang="zh-CN" sz="2000" smtClean="0"/>
              <a:t>    B</a:t>
            </a:r>
            <a:r>
              <a:rPr lang="zh-CN" altLang="zh-CN" sz="2000" smtClean="0"/>
              <a:t>．提供用户与网络的接口</a:t>
            </a:r>
          </a:p>
          <a:p>
            <a:pPr marL="0" indent="0" eaLnBrk="1" hangingPunct="1">
              <a:buClr>
                <a:srgbClr val="3333CC"/>
              </a:buClr>
              <a:buFont typeface="Wingdings" pitchFamily="2" charset="2"/>
              <a:buNone/>
            </a:pPr>
            <a:r>
              <a:rPr lang="en-US" altLang="zh-CN" sz="2000" smtClean="0"/>
              <a:t>    C</a:t>
            </a:r>
            <a:r>
              <a:rPr lang="zh-CN" altLang="zh-CN" sz="2000" smtClean="0"/>
              <a:t>．处理信号通过介质的传输</a:t>
            </a:r>
            <a:r>
              <a:rPr lang="en-US" altLang="zh-CN" sz="2000" smtClean="0"/>
              <a:t>            D</a:t>
            </a:r>
            <a:r>
              <a:rPr lang="zh-CN" altLang="zh-CN" sz="2000" smtClean="0"/>
              <a:t>．控制报文通过网络的路由选择</a:t>
            </a:r>
          </a:p>
          <a:p>
            <a:pPr marL="0" indent="0" eaLnBrk="1" hangingPunct="1">
              <a:buClr>
                <a:srgbClr val="3333CC"/>
              </a:buClr>
              <a:buFont typeface="Wingdings" pitchFamily="2" charset="2"/>
              <a:buNone/>
            </a:pPr>
            <a:r>
              <a:rPr lang="en-US" altLang="zh-CN" sz="2000" smtClean="0"/>
              <a:t>10.</a:t>
            </a:r>
            <a:r>
              <a:rPr lang="zh-CN" altLang="zh-CN" sz="2000" smtClean="0"/>
              <a:t>在</a:t>
            </a:r>
            <a:r>
              <a:rPr lang="en-US" altLang="zh-CN" sz="2000" smtClean="0"/>
              <a:t>OSI</a:t>
            </a:r>
            <a:r>
              <a:rPr lang="zh-CN" altLang="zh-CN" sz="2000" smtClean="0"/>
              <a:t>参考模型中，上层协议实体与下层协议实体之间的逻辑接口叫做服务访问点（</a:t>
            </a:r>
            <a:r>
              <a:rPr lang="en-US" altLang="zh-CN" sz="2000" smtClean="0"/>
              <a:t>SAP</a:t>
            </a:r>
            <a:r>
              <a:rPr lang="zh-CN" altLang="zh-CN" sz="2000" smtClean="0"/>
              <a:t>）。在</a:t>
            </a:r>
            <a:r>
              <a:rPr lang="en-US" altLang="zh-CN" sz="2000" smtClean="0"/>
              <a:t>Internet</a:t>
            </a:r>
            <a:r>
              <a:rPr lang="zh-CN" altLang="zh-CN" sz="2000" smtClean="0"/>
              <a:t>中，网络层的服务访问点是（</a:t>
            </a:r>
            <a:r>
              <a:rPr lang="en-US" altLang="zh-CN" sz="2000" smtClean="0"/>
              <a:t>   </a:t>
            </a:r>
            <a:r>
              <a:rPr lang="zh-CN" altLang="zh-CN" sz="2000" smtClean="0"/>
              <a:t>）。</a:t>
            </a:r>
          </a:p>
          <a:p>
            <a:pPr marL="0" indent="0" eaLnBrk="1" hangingPunct="1">
              <a:buClr>
                <a:srgbClr val="3333CC"/>
              </a:buClr>
              <a:buFont typeface="Wingdings" pitchFamily="2" charset="2"/>
              <a:buNone/>
            </a:pPr>
            <a:r>
              <a:rPr lang="en-US" altLang="zh-CN" sz="2000" smtClean="0"/>
              <a:t>A</a:t>
            </a:r>
            <a:r>
              <a:rPr lang="zh-CN" altLang="zh-CN" sz="2000" smtClean="0"/>
              <a:t>．</a:t>
            </a:r>
            <a:r>
              <a:rPr lang="en-US" altLang="zh-CN" sz="2000" smtClean="0"/>
              <a:t>MAC</a:t>
            </a:r>
            <a:r>
              <a:rPr lang="zh-CN" altLang="zh-CN" sz="2000" smtClean="0"/>
              <a:t>地址</a:t>
            </a:r>
            <a:r>
              <a:rPr lang="en-US" altLang="zh-CN" sz="2000" smtClean="0"/>
              <a:t>  B</a:t>
            </a:r>
            <a:r>
              <a:rPr lang="zh-CN" altLang="zh-CN" sz="2000" smtClean="0"/>
              <a:t>．</a:t>
            </a:r>
            <a:r>
              <a:rPr lang="en-US" altLang="zh-CN" sz="2000" smtClean="0"/>
              <a:t>LLC</a:t>
            </a:r>
            <a:r>
              <a:rPr lang="zh-CN" altLang="zh-CN" sz="2000" smtClean="0"/>
              <a:t>地址</a:t>
            </a:r>
            <a:r>
              <a:rPr lang="en-US" altLang="zh-CN" sz="2000" smtClean="0"/>
              <a:t>  C</a:t>
            </a:r>
            <a:r>
              <a:rPr lang="zh-CN" altLang="zh-CN" sz="2000" smtClean="0"/>
              <a:t>．</a:t>
            </a:r>
            <a:r>
              <a:rPr lang="en-US" altLang="zh-CN" sz="2000" smtClean="0"/>
              <a:t>IP</a:t>
            </a:r>
            <a:r>
              <a:rPr lang="zh-CN" altLang="zh-CN" sz="2000" smtClean="0"/>
              <a:t>地址</a:t>
            </a:r>
            <a:r>
              <a:rPr lang="en-US" altLang="zh-CN" sz="2000" smtClean="0"/>
              <a:t>   D</a:t>
            </a:r>
            <a:r>
              <a:rPr lang="zh-CN" altLang="zh-CN" sz="2000" smtClean="0"/>
              <a:t>．端口号</a:t>
            </a:r>
          </a:p>
          <a:p>
            <a:pPr marL="0" indent="0" eaLnBrk="1" hangingPunct="1">
              <a:buClr>
                <a:srgbClr val="3333CC"/>
              </a:buClr>
              <a:buFont typeface="Wingdings" pitchFamily="2" charset="2"/>
              <a:buNone/>
            </a:pPr>
            <a:endParaRPr lang="en-US" altLang="zh-CN" sz="2000" smtClean="0"/>
          </a:p>
          <a:p>
            <a:pPr marL="0" indent="0" eaLnBrk="1" hangingPunct="1">
              <a:buClr>
                <a:srgbClr val="3333CC"/>
              </a:buClr>
              <a:buFont typeface="Wingdings" pitchFamily="2" charset="2"/>
              <a:buNone/>
            </a:pPr>
            <a:r>
              <a:rPr lang="en-US" altLang="zh-CN" sz="2000" smtClean="0"/>
              <a:t>11.</a:t>
            </a:r>
            <a:r>
              <a:rPr lang="zh-CN" altLang="zh-CN" sz="2000" smtClean="0"/>
              <a:t>在</a:t>
            </a:r>
            <a:r>
              <a:rPr lang="en-US" altLang="zh-CN" sz="2000" smtClean="0"/>
              <a:t>OSI</a:t>
            </a:r>
            <a:r>
              <a:rPr lang="zh-CN" altLang="zh-CN" sz="2000" smtClean="0"/>
              <a:t>参考模型中，实现端到端的应答、分组排序和流量控制功能的协议层是（</a:t>
            </a:r>
            <a:r>
              <a:rPr lang="en-US" altLang="zh-CN" sz="2000" smtClean="0"/>
              <a:t>    </a:t>
            </a:r>
            <a:r>
              <a:rPr lang="zh-CN" altLang="zh-CN" sz="2000" smtClean="0"/>
              <a:t>）。</a:t>
            </a:r>
          </a:p>
          <a:p>
            <a:pPr marL="0" indent="0" eaLnBrk="1" hangingPunct="1">
              <a:buClr>
                <a:srgbClr val="3333CC"/>
              </a:buClr>
              <a:buFont typeface="Wingdings" pitchFamily="2" charset="2"/>
              <a:buNone/>
            </a:pPr>
            <a:r>
              <a:rPr lang="en-US" altLang="zh-CN" sz="2000" smtClean="0"/>
              <a:t>A</a:t>
            </a:r>
            <a:r>
              <a:rPr lang="zh-CN" altLang="zh-CN" sz="2000" smtClean="0"/>
              <a:t>．数据链路层</a:t>
            </a:r>
            <a:r>
              <a:rPr lang="en-US" altLang="zh-CN" sz="2000" smtClean="0"/>
              <a:t>  B</a:t>
            </a:r>
            <a:r>
              <a:rPr lang="zh-CN" altLang="zh-CN" sz="2000" smtClean="0"/>
              <a:t>．网络层</a:t>
            </a:r>
            <a:r>
              <a:rPr lang="en-US" altLang="zh-CN" sz="2000" smtClean="0"/>
              <a:t>   C</a:t>
            </a:r>
            <a:r>
              <a:rPr lang="zh-CN" altLang="zh-CN" sz="2000" smtClean="0"/>
              <a:t>．传输层 </a:t>
            </a:r>
            <a:r>
              <a:rPr lang="en-US" altLang="zh-CN" sz="2000" smtClean="0"/>
              <a:t> D</a:t>
            </a:r>
            <a:r>
              <a:rPr lang="zh-CN" altLang="zh-CN" sz="2000" smtClean="0"/>
              <a:t>．会话层</a:t>
            </a:r>
          </a:p>
          <a:p>
            <a:pPr marL="0" indent="0" eaLnBrk="1" hangingPunct="1">
              <a:buClr>
                <a:srgbClr val="3333CC"/>
              </a:buClr>
              <a:buFont typeface="Wingdings" pitchFamily="2" charset="2"/>
              <a:buNone/>
            </a:pPr>
            <a:r>
              <a:rPr lang="en-US" altLang="zh-CN" sz="2000" smtClean="0"/>
              <a:t> </a:t>
            </a:r>
            <a:endParaRPr lang="zh-CN" altLang="zh-CN" sz="2000" smtClean="0"/>
          </a:p>
          <a:p>
            <a:pPr marL="0" indent="0" eaLnBrk="1" hangingPunct="1">
              <a:buClr>
                <a:srgbClr val="3333CC"/>
              </a:buClr>
              <a:buFont typeface="Wingdings" pitchFamily="2" charset="2"/>
              <a:buNone/>
            </a:pPr>
            <a:r>
              <a:rPr lang="en-US" altLang="zh-CN" sz="2000" smtClean="0"/>
              <a:t>1</a:t>
            </a:r>
            <a:r>
              <a:rPr lang="zh-CN" altLang="zh-CN" sz="2000" smtClean="0"/>
              <a:t>．因特网的两大组成部分（边缘部分和核心部分）的特点是什么？它们的工作方式各有什么特点？</a:t>
            </a:r>
          </a:p>
          <a:p>
            <a:pPr marL="0" indent="0" eaLnBrk="1" hangingPunct="1">
              <a:buClr>
                <a:srgbClr val="3333CC"/>
              </a:buClr>
              <a:buFont typeface="Wingdings" pitchFamily="2" charset="2"/>
              <a:buNone/>
            </a:pPr>
            <a:r>
              <a:rPr lang="en-US" altLang="zh-CN" sz="2000" smtClean="0"/>
              <a:t>2</a:t>
            </a:r>
            <a:r>
              <a:rPr lang="zh-CN" altLang="zh-CN" sz="2000" smtClean="0"/>
              <a:t>．客户服务器方式和对等连接方式的主要区别是什么？</a:t>
            </a:r>
            <a:endParaRPr lang="zh-CN" altLang="en-US" smtClean="0"/>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4199</TotalTime>
  <Words>5131</Words>
  <Application>Microsoft Office PowerPoint</Application>
  <PresentationFormat>全屏显示(4:3)</PresentationFormat>
  <Paragraphs>1019</Paragraphs>
  <Slides>90</Slides>
  <Notes>81</Notes>
  <HiddenSlides>1</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90</vt:i4>
      </vt:variant>
    </vt:vector>
  </HeadingPairs>
  <TitlesOfParts>
    <vt:vector size="102" baseType="lpstr">
      <vt:lpstr>Arial</vt:lpstr>
      <vt:lpstr>宋体</vt:lpstr>
      <vt:lpstr>黑体</vt:lpstr>
      <vt:lpstr>Wingdings</vt:lpstr>
      <vt:lpstr>Tahoma</vt:lpstr>
      <vt:lpstr>Times New Roman</vt:lpstr>
      <vt:lpstr>Symbol</vt:lpstr>
      <vt:lpstr>Arial Rounded MT Bold</vt:lpstr>
      <vt:lpstr>Blends</vt:lpstr>
      <vt:lpstr>Visio 2000 Drawing</vt:lpstr>
      <vt:lpstr>Microsoft ClipArt Gallery</vt:lpstr>
      <vt:lpstr>Microsoft 公式 3.0</vt:lpstr>
      <vt:lpstr>计算机网络</vt:lpstr>
      <vt:lpstr>计算机网络的地位</vt:lpstr>
      <vt:lpstr>计算机网络、互连网、互联网</vt:lpstr>
      <vt:lpstr>互连与互联（续）</vt:lpstr>
      <vt:lpstr>1.2  因特网概述</vt:lpstr>
      <vt:lpstr>PowerPoint 演示文稿</vt:lpstr>
      <vt:lpstr>PowerPoint 演示文稿</vt:lpstr>
      <vt:lpstr>多层次 ISP 结构的因特网 </vt:lpstr>
      <vt:lpstr>用户通过 ISP 上网</vt:lpstr>
      <vt:lpstr>万维网 与因特网的区别</vt:lpstr>
      <vt:lpstr>1.3  因特网的组成 </vt:lpstr>
      <vt:lpstr>PowerPoint 演示文稿</vt:lpstr>
      <vt:lpstr>1.3.1  因特网的边缘部分</vt:lpstr>
      <vt:lpstr>两种通信方式</vt:lpstr>
      <vt:lpstr>PowerPoint 演示文稿</vt:lpstr>
      <vt:lpstr>PowerPoint 演示文稿</vt:lpstr>
      <vt:lpstr>1.  客户服务器方式</vt:lpstr>
      <vt:lpstr>客户软件的特点 </vt:lpstr>
      <vt:lpstr>服务器软件的特点 </vt:lpstr>
      <vt:lpstr>2. 对等连接方式 </vt:lpstr>
      <vt:lpstr>对等连接方式的特点</vt:lpstr>
      <vt:lpstr>PowerPoint 演示文稿</vt:lpstr>
      <vt:lpstr>1.3.2  因特网的核心部分</vt:lpstr>
      <vt:lpstr>1. 电路交换的主要特点</vt:lpstr>
      <vt:lpstr>更多的电话机互相连通</vt:lpstr>
      <vt:lpstr>使用交换机</vt:lpstr>
      <vt:lpstr>电路交换的特点\P11</vt:lpstr>
      <vt:lpstr>电路交换举例</vt:lpstr>
      <vt:lpstr>电路交换举例</vt:lpstr>
      <vt:lpstr>2. 分组交换的主要特点 </vt:lpstr>
      <vt:lpstr>添加首部构成分组</vt:lpstr>
      <vt:lpstr>分组交换的传输单元</vt:lpstr>
      <vt:lpstr>分组首部的重要性</vt:lpstr>
      <vt:lpstr>收到分组后剥去首部</vt:lpstr>
      <vt:lpstr>最后还原成原来的报文</vt:lpstr>
      <vt:lpstr>分组交换特点</vt:lpstr>
      <vt:lpstr>因特网的核心部分</vt:lpstr>
      <vt:lpstr>PowerPoint 演示文稿</vt:lpstr>
      <vt:lpstr>PowerPoint 演示文稿</vt:lpstr>
      <vt:lpstr>分组交换网的示意图</vt:lpstr>
      <vt:lpstr>注意分组的存储转发过程</vt:lpstr>
      <vt:lpstr>路由器</vt:lpstr>
      <vt:lpstr>1.5  计算机网络的分类</vt:lpstr>
      <vt:lpstr>1.5.2  几种不同类别的网络</vt:lpstr>
      <vt:lpstr>2.  不同使用者的网络</vt:lpstr>
      <vt:lpstr>1.6  计算机网络的性能 1.6.1  计算机网络的性能指标</vt:lpstr>
      <vt:lpstr>2.  带宽 </vt:lpstr>
      <vt:lpstr>常用的带宽单位</vt:lpstr>
      <vt:lpstr>数字信号流随时间的变化</vt:lpstr>
      <vt:lpstr>4.  时延(delay 或 latency)</vt:lpstr>
      <vt:lpstr>时延(delay 或 latency)</vt:lpstr>
      <vt:lpstr>时延(delay 或 latency)</vt:lpstr>
      <vt:lpstr>时延(delay 或 latency)</vt:lpstr>
      <vt:lpstr>四种时延所产生的地方 </vt:lpstr>
      <vt:lpstr>容易产生的错误概念 </vt:lpstr>
      <vt:lpstr>5.  时延带宽积</vt:lpstr>
      <vt:lpstr>6. 利用率</vt:lpstr>
      <vt:lpstr>时延与网络利用率的关系</vt:lpstr>
      <vt:lpstr>PowerPoint 演示文稿</vt:lpstr>
      <vt:lpstr>1.7  计算机网络的体系结构 1.7.1  计算机网络体系结构的形成</vt:lpstr>
      <vt:lpstr>关于开放系统互连参考模型 OSI/RM</vt:lpstr>
      <vt:lpstr>两种国际标准</vt:lpstr>
      <vt:lpstr>基本概念</vt:lpstr>
      <vt:lpstr>五层协议的体系结构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主机 1 向主机 2 发送数据 </vt:lpstr>
      <vt:lpstr>1.7.4  实体、协议、服务 和服务访问点 </vt:lpstr>
      <vt:lpstr>实体、协议、服务 和服务访问点（续） </vt:lpstr>
      <vt:lpstr>实体、协议、服务 和服务访问点（续） </vt:lpstr>
      <vt:lpstr>数据的传输效率</vt:lpstr>
      <vt:lpstr>PowerPoint 演示文稿</vt:lpstr>
      <vt:lpstr>PowerPoint 演示文稿</vt:lpstr>
      <vt:lpstr>PowerPoint 演示文稿</vt:lpstr>
    </vt:vector>
  </TitlesOfParts>
  <Company>NICE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Micorosoft</cp:lastModifiedBy>
  <cp:revision>298</cp:revision>
  <dcterms:created xsi:type="dcterms:W3CDTF">2004-03-02T12:35:10Z</dcterms:created>
  <dcterms:modified xsi:type="dcterms:W3CDTF">2022-11-08T10:56:56Z</dcterms:modified>
</cp:coreProperties>
</file>