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8061962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93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3656"/>
            <a:ext cx="7113587" cy="677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236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43608" y="851402"/>
            <a:ext cx="3002968" cy="5858620"/>
            <a:chOff x="386399" y="851402"/>
            <a:chExt cx="3002968" cy="585862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875"/>
            <a:stretch/>
          </p:blipFill>
          <p:spPr bwMode="auto">
            <a:xfrm>
              <a:off x="386399" y="851402"/>
              <a:ext cx="2971800" cy="36577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848"/>
            <a:stretch/>
          </p:blipFill>
          <p:spPr bwMode="auto">
            <a:xfrm>
              <a:off x="417567" y="4509120"/>
              <a:ext cx="2971800" cy="2200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124744"/>
            <a:ext cx="3676650" cy="537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505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03648" y="332656"/>
            <a:ext cx="6751637" cy="5619750"/>
            <a:chOff x="1403648" y="332656"/>
            <a:chExt cx="6751637" cy="561975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32656"/>
              <a:ext cx="6751637" cy="2886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969"/>
            <a:stretch/>
          </p:blipFill>
          <p:spPr bwMode="auto">
            <a:xfrm>
              <a:off x="1403648" y="3218731"/>
              <a:ext cx="6751637" cy="2733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443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260648"/>
            <a:ext cx="87849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 NAT ( Network Address Translation ) </a:t>
            </a:r>
            <a:r>
              <a:rPr lang="zh-CN" altLang="en-US"/>
              <a:t>中文意思是</a:t>
            </a:r>
            <a:r>
              <a:rPr lang="en-US" altLang="zh-CN"/>
              <a:t>"</a:t>
            </a:r>
            <a:r>
              <a:rPr lang="zh-CN" altLang="en-US"/>
              <a:t>网络地址转换</a:t>
            </a:r>
            <a:r>
              <a:rPr lang="en-US" altLang="zh-CN"/>
              <a:t>"</a:t>
            </a:r>
            <a:r>
              <a:rPr lang="zh-CN" altLang="en-US"/>
              <a:t>，允许一个整体机构以一个公用</a:t>
            </a:r>
            <a:r>
              <a:rPr lang="en-US" altLang="zh-CN"/>
              <a:t>IP</a:t>
            </a:r>
            <a:r>
              <a:rPr lang="zh-CN" altLang="en-US"/>
              <a:t>（</a:t>
            </a:r>
            <a:r>
              <a:rPr lang="en-US" altLang="zh-CN"/>
              <a:t>Internet Protocol</a:t>
            </a:r>
            <a:r>
              <a:rPr lang="zh-CN" altLang="en-US"/>
              <a:t>）地址出现在</a:t>
            </a:r>
            <a:r>
              <a:rPr lang="en-US" altLang="zh-CN"/>
              <a:t>Internet</a:t>
            </a:r>
            <a:r>
              <a:rPr lang="zh-CN" altLang="en-US"/>
              <a:t>上。顾名思义，它是一种把内部私有网络地址（</a:t>
            </a:r>
            <a:r>
              <a:rPr lang="en-US" altLang="zh-CN"/>
              <a:t>IP</a:t>
            </a:r>
            <a:r>
              <a:rPr lang="zh-CN" altLang="en-US"/>
              <a:t>地址）翻译成合法网络</a:t>
            </a:r>
            <a:r>
              <a:rPr lang="en-US" altLang="zh-CN"/>
              <a:t>IP</a:t>
            </a:r>
            <a:r>
              <a:rPr lang="zh-CN" altLang="en-US"/>
              <a:t>地址的技术。</a:t>
            </a:r>
            <a:r>
              <a:rPr lang="en-US" altLang="zh-CN"/>
              <a:t>NAT </a:t>
            </a:r>
            <a:r>
              <a:rPr lang="zh-CN" altLang="en-US"/>
              <a:t>可以让那些使用私有地址的内部网络连接到</a:t>
            </a:r>
            <a:r>
              <a:rPr lang="en-US" altLang="zh-CN"/>
              <a:t>Internet</a:t>
            </a:r>
            <a:r>
              <a:rPr lang="zh-CN" altLang="en-US"/>
              <a:t>或其它</a:t>
            </a:r>
            <a:r>
              <a:rPr lang="en-US" altLang="zh-CN"/>
              <a:t>IP</a:t>
            </a:r>
            <a:r>
              <a:rPr lang="zh-CN" altLang="en-US"/>
              <a:t>网络上。</a:t>
            </a:r>
            <a:r>
              <a:rPr lang="en-US" altLang="zh-CN"/>
              <a:t>NAT</a:t>
            </a:r>
            <a:r>
              <a:rPr lang="zh-CN" altLang="en-US"/>
              <a:t>路由器在将内部网络的数据包发送到公用网络时，在</a:t>
            </a:r>
            <a:r>
              <a:rPr lang="en-US" altLang="zh-CN"/>
              <a:t>IP</a:t>
            </a:r>
            <a:r>
              <a:rPr lang="zh-CN" altLang="en-US"/>
              <a:t>包的报头把私有地址转换成合法的</a:t>
            </a:r>
            <a:r>
              <a:rPr lang="en-US" altLang="zh-CN"/>
              <a:t>IP</a:t>
            </a:r>
            <a:r>
              <a:rPr lang="zh-CN" altLang="en-US"/>
              <a:t>地址。</a:t>
            </a:r>
          </a:p>
        </p:txBody>
      </p:sp>
      <p:sp>
        <p:nvSpPr>
          <p:cNvPr id="4" name="矩形 3"/>
          <p:cNvSpPr/>
          <p:nvPr/>
        </p:nvSpPr>
        <p:spPr>
          <a:xfrm>
            <a:off x="179512" y="2780928"/>
            <a:ext cx="86049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RFC1918</a:t>
            </a:r>
            <a:r>
              <a:rPr lang="zh-CN" altLang="en-US"/>
              <a:t>规定了三块专有的地址，作为私有的内部组网使用：</a:t>
            </a:r>
          </a:p>
          <a:p>
            <a:endParaRPr lang="zh-CN" altLang="en-US"/>
          </a:p>
          <a:p>
            <a:r>
              <a:rPr lang="en-US" altLang="zh-CN"/>
              <a:t>A</a:t>
            </a:r>
            <a:r>
              <a:rPr lang="zh-CN" altLang="en-US"/>
              <a:t>类：</a:t>
            </a:r>
            <a:r>
              <a:rPr lang="en-US" altLang="zh-CN"/>
              <a:t>10.0.0.0—10.255.255.255      10.0.0.0/8</a:t>
            </a:r>
          </a:p>
          <a:p>
            <a:r>
              <a:rPr lang="en-US" altLang="zh-CN"/>
              <a:t>B</a:t>
            </a:r>
            <a:r>
              <a:rPr lang="zh-CN" altLang="en-US"/>
              <a:t>类：</a:t>
            </a:r>
            <a:r>
              <a:rPr lang="en-US" altLang="zh-CN"/>
              <a:t>172.16.0.0—172.31.255.255   172.16.0.0/12</a:t>
            </a:r>
          </a:p>
          <a:p>
            <a:r>
              <a:rPr lang="en-US" altLang="zh-CN"/>
              <a:t>C</a:t>
            </a:r>
            <a:r>
              <a:rPr lang="zh-CN" altLang="en-US"/>
              <a:t>类：</a:t>
            </a:r>
            <a:r>
              <a:rPr lang="en-US" altLang="zh-CN"/>
              <a:t>192.168.0.0—192.168.255.255 192.168.0.0/16</a:t>
            </a:r>
          </a:p>
          <a:p>
            <a:r>
              <a:rPr lang="zh-CN" altLang="en-US"/>
              <a:t>这三块私有地址本身是可路由的，只是公网上的路由器不会转发这三块私有地址的流量；当一个公司内部配置了这些私有地址后，内部的计算机在和外网通信时，公司的边界路由会通过</a:t>
            </a:r>
            <a:r>
              <a:rPr lang="en-US" altLang="zh-CN"/>
              <a:t>NAT</a:t>
            </a:r>
            <a:r>
              <a:rPr lang="zh-CN" altLang="en-US"/>
              <a:t>技术，将内部的私有地址转换成外网</a:t>
            </a:r>
            <a:r>
              <a:rPr lang="en-US" altLang="zh-CN"/>
              <a:t>IP</a:t>
            </a:r>
            <a:r>
              <a:rPr lang="zh-CN" altLang="en-US"/>
              <a:t>，外部看到的源地址是公司边界路由转换过的公网</a:t>
            </a:r>
            <a:r>
              <a:rPr lang="en-US" altLang="zh-CN"/>
              <a:t>IP</a:t>
            </a:r>
            <a:r>
              <a:rPr lang="zh-CN" altLang="en-US"/>
              <a:t>地址，这在某种意义上也增加了内部网络的安全性。</a:t>
            </a:r>
          </a:p>
        </p:txBody>
      </p:sp>
    </p:spTree>
    <p:extLst>
      <p:ext uri="{BB962C8B-B14F-4D97-AF65-F5344CB8AC3E}">
        <p14:creationId xmlns:p14="http://schemas.microsoft.com/office/powerpoint/2010/main" val="3325364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8" y="290513"/>
            <a:ext cx="9036496" cy="607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894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48" y="836712"/>
            <a:ext cx="90547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Cisco</a:t>
            </a:r>
            <a:r>
              <a:rPr lang="zh-CN" altLang="en-US"/>
              <a:t>路由器配置</a:t>
            </a:r>
            <a:r>
              <a:rPr lang="en-US" altLang="zh-CN"/>
              <a:t>3</a:t>
            </a:r>
            <a:r>
              <a:rPr lang="zh-CN" altLang="en-US"/>
              <a:t>中</a:t>
            </a:r>
            <a:r>
              <a:rPr lang="en-US" altLang="zh-CN"/>
              <a:t>NAT</a:t>
            </a:r>
            <a:r>
              <a:rPr lang="zh-CN" altLang="en-US"/>
              <a:t>的主要命令：</a:t>
            </a:r>
          </a:p>
          <a:p>
            <a:endParaRPr lang="zh-CN" altLang="en-US"/>
          </a:p>
          <a:p>
            <a:r>
              <a:rPr lang="zh-CN" altLang="en-US"/>
              <a:t>  静态</a:t>
            </a:r>
            <a:r>
              <a:rPr lang="en-US" altLang="zh-CN"/>
              <a:t>NAT</a:t>
            </a:r>
            <a:r>
              <a:rPr lang="zh-CN" altLang="en-US"/>
              <a:t>：</a:t>
            </a:r>
          </a:p>
          <a:p>
            <a:r>
              <a:rPr lang="zh-CN" altLang="en-US"/>
              <a:t>     </a:t>
            </a:r>
            <a:r>
              <a:rPr lang="en-US" altLang="zh-CN"/>
              <a:t>1</a:t>
            </a:r>
            <a:r>
              <a:rPr lang="zh-CN" altLang="en-US"/>
              <a:t>、指定</a:t>
            </a:r>
            <a:r>
              <a:rPr lang="en-US" altLang="zh-CN"/>
              <a:t>NAT</a:t>
            </a:r>
            <a:r>
              <a:rPr lang="zh-CN" altLang="en-US"/>
              <a:t>内部接口</a:t>
            </a:r>
          </a:p>
          <a:p>
            <a:r>
              <a:rPr lang="zh-CN" altLang="en-US"/>
              <a:t>         在内网相应接口的接口配置模式下执行：</a:t>
            </a:r>
            <a:r>
              <a:rPr lang="en-US" altLang="zh-CN"/>
              <a:t>ip nat inside</a:t>
            </a:r>
          </a:p>
          <a:p>
            <a:r>
              <a:rPr lang="en-US" altLang="zh-CN"/>
              <a:t>     2</a:t>
            </a:r>
            <a:r>
              <a:rPr lang="zh-CN" altLang="en-US"/>
              <a:t>、指定</a:t>
            </a:r>
            <a:r>
              <a:rPr lang="en-US" altLang="zh-CN"/>
              <a:t>NAT</a:t>
            </a:r>
            <a:r>
              <a:rPr lang="zh-CN" altLang="en-US"/>
              <a:t>外部接口</a:t>
            </a:r>
          </a:p>
          <a:p>
            <a:r>
              <a:rPr lang="zh-CN" altLang="en-US"/>
              <a:t>         在外网相应接口的接口配置模式下执行：</a:t>
            </a:r>
            <a:r>
              <a:rPr lang="en-US" altLang="zh-CN"/>
              <a:t>ip nat outside</a:t>
            </a:r>
          </a:p>
          <a:p>
            <a:r>
              <a:rPr lang="en-US" altLang="zh-CN"/>
              <a:t>     3</a:t>
            </a:r>
            <a:r>
              <a:rPr lang="zh-CN" altLang="en-US"/>
              <a:t>、在内部本地地址与内部全局地址之间建立静态地址转换关系：</a:t>
            </a:r>
          </a:p>
          <a:p>
            <a:r>
              <a:rPr lang="zh-CN" altLang="en-US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</a:rPr>
              <a:t>ip nat insde source static </a:t>
            </a:r>
            <a:r>
              <a:rPr lang="zh-CN" altLang="en-US">
                <a:solidFill>
                  <a:srgbClr val="FF0000"/>
                </a:solidFill>
              </a:rPr>
              <a:t>内部本地地址 内部全局地址</a:t>
            </a:r>
          </a:p>
          <a:p>
            <a:endParaRPr lang="zh-CN" altLang="en-US"/>
          </a:p>
          <a:p>
            <a:r>
              <a:rPr lang="zh-CN" altLang="en-US"/>
              <a:t>  </a:t>
            </a:r>
          </a:p>
        </p:txBody>
      </p:sp>
      <p:sp>
        <p:nvSpPr>
          <p:cNvPr id="3" name="矩形 2"/>
          <p:cNvSpPr/>
          <p:nvPr/>
        </p:nvSpPr>
        <p:spPr>
          <a:xfrm>
            <a:off x="467544" y="3933056"/>
            <a:ext cx="84249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R (config)# ip nat inside source static 192.168.1.6 200.10.10.2</a:t>
            </a:r>
          </a:p>
          <a:p>
            <a:r>
              <a:rPr lang="zh-CN" altLang="en-US"/>
              <a:t>本例定义了一个内部源地址静态</a:t>
            </a:r>
            <a:r>
              <a:rPr lang="en-US" altLang="zh-CN"/>
              <a:t>NAT</a:t>
            </a:r>
            <a:r>
              <a:rPr lang="zh-CN" altLang="en-US"/>
              <a:t>，内部本地地址为</a:t>
            </a:r>
            <a:r>
              <a:rPr lang="en-US" altLang="zh-CN"/>
              <a:t>192.168.1.6</a:t>
            </a:r>
            <a:r>
              <a:rPr lang="zh-CN" altLang="en-US"/>
              <a:t>，内部全局地址为</a:t>
            </a:r>
            <a:r>
              <a:rPr lang="en-US" altLang="zh-CN"/>
              <a:t>200.10.10.2</a:t>
            </a:r>
            <a:r>
              <a:rPr lang="zh-CN" altLang="en-US"/>
              <a:t>。外网用户只能用</a:t>
            </a:r>
            <a:r>
              <a:rPr lang="en-US" altLang="zh-CN"/>
              <a:t>200.10.10.2</a:t>
            </a:r>
            <a:r>
              <a:rPr lang="zh-CN" altLang="en-US"/>
              <a:t>访问这台主机，内网用户只能用</a:t>
            </a:r>
            <a:r>
              <a:rPr lang="en-US" altLang="zh-CN"/>
              <a:t>192.168.1.6</a:t>
            </a:r>
            <a:r>
              <a:rPr lang="zh-CN" altLang="en-US"/>
              <a:t>访问这台主机，如果加上</a:t>
            </a:r>
            <a:r>
              <a:rPr lang="en-US" altLang="zh-CN"/>
              <a:t>permit-inside</a:t>
            </a:r>
            <a:r>
              <a:rPr lang="zh-CN" altLang="en-US"/>
              <a:t>关键字，内网用户也能用</a:t>
            </a:r>
            <a:r>
              <a:rPr lang="en-US" altLang="zh-CN"/>
              <a:t>200.10.10.2</a:t>
            </a:r>
            <a:r>
              <a:rPr lang="zh-CN" altLang="en-US"/>
              <a:t>访问。</a:t>
            </a:r>
          </a:p>
        </p:txBody>
      </p:sp>
    </p:spTree>
    <p:extLst>
      <p:ext uri="{BB962C8B-B14F-4D97-AF65-F5344CB8AC3E}">
        <p14:creationId xmlns:p14="http://schemas.microsoft.com/office/powerpoint/2010/main" val="2015365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8" y="476672"/>
            <a:ext cx="8964488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80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849" y="404664"/>
            <a:ext cx="89827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动态地址</a:t>
            </a:r>
            <a:r>
              <a:rPr lang="en-US" altLang="zh-CN"/>
              <a:t>NAT</a:t>
            </a:r>
            <a:r>
              <a:rPr lang="zh-CN" altLang="en-US"/>
              <a:t>：</a:t>
            </a:r>
          </a:p>
          <a:p>
            <a:r>
              <a:rPr lang="zh-CN" altLang="en-US"/>
              <a:t>     </a:t>
            </a:r>
            <a:r>
              <a:rPr lang="en-US" altLang="zh-CN"/>
              <a:t>1</a:t>
            </a:r>
            <a:r>
              <a:rPr lang="zh-CN" altLang="en-US"/>
              <a:t>、指定</a:t>
            </a:r>
            <a:r>
              <a:rPr lang="en-US" altLang="zh-CN"/>
              <a:t>NAT</a:t>
            </a:r>
            <a:r>
              <a:rPr lang="zh-CN" altLang="en-US"/>
              <a:t>内部接口</a:t>
            </a:r>
          </a:p>
          <a:p>
            <a:r>
              <a:rPr lang="zh-CN" altLang="en-US"/>
              <a:t>         在内网相应接口的接口配置模式下执行：</a:t>
            </a:r>
            <a:r>
              <a:rPr lang="en-US" altLang="zh-CN"/>
              <a:t>ip nat inside</a:t>
            </a:r>
          </a:p>
          <a:p>
            <a:r>
              <a:rPr lang="en-US" altLang="zh-CN"/>
              <a:t>     2</a:t>
            </a:r>
            <a:r>
              <a:rPr lang="zh-CN" altLang="en-US"/>
              <a:t>、指定</a:t>
            </a:r>
            <a:r>
              <a:rPr lang="en-US" altLang="zh-CN"/>
              <a:t>NAT</a:t>
            </a:r>
            <a:r>
              <a:rPr lang="zh-CN" altLang="en-US"/>
              <a:t>外部接口</a:t>
            </a:r>
          </a:p>
          <a:p>
            <a:r>
              <a:rPr lang="zh-CN" altLang="en-US"/>
              <a:t>         在外网相应接口的接口配置模式下执行：</a:t>
            </a:r>
            <a:r>
              <a:rPr lang="en-US" altLang="zh-CN"/>
              <a:t>ip nat outside</a:t>
            </a:r>
          </a:p>
          <a:p>
            <a:r>
              <a:rPr lang="en-US" altLang="zh-CN"/>
              <a:t>     3</a:t>
            </a:r>
            <a:r>
              <a:rPr lang="zh-CN" altLang="en-US"/>
              <a:t>、在全局配置模式下，定义一个标准的</a:t>
            </a:r>
            <a:r>
              <a:rPr lang="en-US" altLang="zh-CN"/>
              <a:t>access-list</a:t>
            </a:r>
            <a:r>
              <a:rPr lang="zh-CN" altLang="en-US"/>
              <a:t>规则，声明允许哪些内部本地地址可以进行动态地址转换：</a:t>
            </a:r>
          </a:p>
          <a:p>
            <a:r>
              <a:rPr lang="zh-CN" altLang="en-US"/>
              <a:t>         </a:t>
            </a:r>
            <a:r>
              <a:rPr lang="en-US" altLang="zh-CN"/>
              <a:t>access-list list-number permit </a:t>
            </a:r>
            <a:r>
              <a:rPr lang="zh-CN" altLang="en-US"/>
              <a:t>源地址 </a:t>
            </a:r>
            <a:r>
              <a:rPr lang="zh-CN" altLang="en-US">
                <a:solidFill>
                  <a:srgbClr val="FF0000"/>
                </a:solidFill>
              </a:rPr>
              <a:t>通配符</a:t>
            </a:r>
          </a:p>
          <a:p>
            <a:r>
              <a:rPr lang="zh-CN" altLang="en-US"/>
              <a:t>         其中，</a:t>
            </a:r>
            <a:r>
              <a:rPr lang="en-US" altLang="zh-CN"/>
              <a:t>list-number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－</a:t>
            </a:r>
            <a:r>
              <a:rPr lang="en-US" altLang="zh-CN"/>
              <a:t>99</a:t>
            </a:r>
            <a:r>
              <a:rPr lang="zh-CN" altLang="en-US"/>
              <a:t>之间的一个任意整数。</a:t>
            </a:r>
          </a:p>
          <a:p>
            <a:r>
              <a:rPr lang="zh-CN" altLang="en-US"/>
              <a:t>     </a:t>
            </a:r>
            <a:r>
              <a:rPr lang="en-US" altLang="zh-CN"/>
              <a:t>4</a:t>
            </a:r>
            <a:r>
              <a:rPr lang="zh-CN" altLang="en-US"/>
              <a:t>、在全局配置模式下，定义内部全局地址池：</a:t>
            </a:r>
          </a:p>
          <a:p>
            <a:r>
              <a:rPr lang="zh-CN" altLang="en-US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</a:rPr>
              <a:t>ip nat pool </a:t>
            </a:r>
            <a:r>
              <a:rPr lang="zh-CN" altLang="en-US">
                <a:solidFill>
                  <a:srgbClr val="FF0000"/>
                </a:solidFill>
              </a:rPr>
              <a:t>地址池名  起始</a:t>
            </a:r>
            <a:r>
              <a:rPr lang="en-US" altLang="zh-CN">
                <a:solidFill>
                  <a:srgbClr val="FF0000"/>
                </a:solidFill>
              </a:rPr>
              <a:t>IP</a:t>
            </a:r>
            <a:r>
              <a:rPr lang="zh-CN" altLang="en-US">
                <a:solidFill>
                  <a:srgbClr val="FF0000"/>
                </a:solidFill>
              </a:rPr>
              <a:t>地址  终止</a:t>
            </a:r>
            <a:r>
              <a:rPr lang="en-US" altLang="zh-CN">
                <a:solidFill>
                  <a:srgbClr val="FF0000"/>
                </a:solidFill>
              </a:rPr>
              <a:t>IP</a:t>
            </a:r>
            <a:r>
              <a:rPr lang="zh-CN" altLang="en-US">
                <a:solidFill>
                  <a:srgbClr val="FF0000"/>
                </a:solidFill>
              </a:rPr>
              <a:t>地址  </a:t>
            </a:r>
            <a:r>
              <a:rPr lang="en-US" altLang="zh-CN">
                <a:solidFill>
                  <a:srgbClr val="FF0000"/>
                </a:solidFill>
              </a:rPr>
              <a:t>netmask  </a:t>
            </a:r>
            <a:r>
              <a:rPr lang="zh-CN" altLang="en-US">
                <a:solidFill>
                  <a:srgbClr val="FF0000"/>
                </a:solidFill>
              </a:rPr>
              <a:t>子网掩码</a:t>
            </a:r>
          </a:p>
          <a:p>
            <a:r>
              <a:rPr lang="zh-CN" altLang="en-US"/>
              <a:t>         其中，地址池名可以任意设定，但最好有一定的说明意义。</a:t>
            </a:r>
          </a:p>
          <a:p>
            <a:r>
              <a:rPr lang="zh-CN" altLang="en-US"/>
              <a:t>     </a:t>
            </a:r>
            <a:r>
              <a:rPr lang="en-US" altLang="zh-CN"/>
              <a:t>5</a:t>
            </a:r>
            <a:r>
              <a:rPr lang="zh-CN" altLang="en-US"/>
              <a:t>、在全局配置模式下，定义符合先前定义的</a:t>
            </a:r>
            <a:r>
              <a:rPr lang="en-US" altLang="zh-CN"/>
              <a:t>access-list</a:t>
            </a:r>
            <a:r>
              <a:rPr lang="zh-CN" altLang="en-US"/>
              <a:t>规则的</a:t>
            </a:r>
            <a:r>
              <a:rPr lang="en-US" altLang="zh-CN"/>
              <a:t>IP</a:t>
            </a:r>
            <a:r>
              <a:rPr lang="zh-CN" altLang="en-US"/>
              <a:t>数据包与先前定义的地址池中的</a:t>
            </a:r>
            <a:r>
              <a:rPr lang="en-US" altLang="zh-CN"/>
              <a:t>IP</a:t>
            </a:r>
            <a:r>
              <a:rPr lang="zh-CN" altLang="en-US"/>
              <a:t>地址进行转换：</a:t>
            </a:r>
          </a:p>
          <a:p>
            <a:r>
              <a:rPr lang="zh-CN" altLang="en-US"/>
              <a:t>         </a:t>
            </a:r>
            <a:r>
              <a:rPr lang="en-US" altLang="zh-CN">
                <a:solidFill>
                  <a:srgbClr val="FF0000"/>
                </a:solidFill>
              </a:rPr>
              <a:t>ip nat inside source list list-number pool </a:t>
            </a:r>
            <a:r>
              <a:rPr lang="zh-CN" altLang="en-US">
                <a:solidFill>
                  <a:srgbClr val="FF0000"/>
                </a:solidFill>
              </a:rPr>
              <a:t>内部全局地址池名</a:t>
            </a:r>
          </a:p>
        </p:txBody>
      </p:sp>
      <p:sp>
        <p:nvSpPr>
          <p:cNvPr id="3" name="矩形 2"/>
          <p:cNvSpPr/>
          <p:nvPr/>
        </p:nvSpPr>
        <p:spPr>
          <a:xfrm>
            <a:off x="323528" y="4869160"/>
            <a:ext cx="77768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在访问列表中将通配符掩码中的一位设成</a:t>
            </a:r>
            <a:r>
              <a:rPr lang="en-US" altLang="zh-CN"/>
              <a:t>1</a:t>
            </a:r>
            <a:r>
              <a:rPr lang="zh-CN" altLang="en-US"/>
              <a:t>表示</a:t>
            </a:r>
            <a:r>
              <a:rPr lang="en-US" altLang="zh-CN"/>
              <a:t>I P</a:t>
            </a:r>
            <a:r>
              <a:rPr lang="zh-CN" altLang="en-US"/>
              <a:t>地址中对应的位既可以是</a:t>
            </a:r>
            <a:r>
              <a:rPr lang="en-US" altLang="zh-CN"/>
              <a:t>1</a:t>
            </a:r>
            <a:r>
              <a:rPr lang="zh-CN" altLang="en-US"/>
              <a:t>又可以是</a:t>
            </a:r>
            <a:r>
              <a:rPr lang="en-US" altLang="zh-CN"/>
              <a:t>0</a:t>
            </a:r>
            <a:r>
              <a:rPr lang="zh-CN" altLang="en-US"/>
              <a:t>。有时，可将其称作“无关”位，因为路由器在判断是否匹配时并不关心它们。掩码位设成</a:t>
            </a:r>
            <a:r>
              <a:rPr lang="en-US" altLang="zh-CN"/>
              <a:t>0</a:t>
            </a:r>
            <a:r>
              <a:rPr lang="zh-CN" altLang="en-US"/>
              <a:t>则表示</a:t>
            </a:r>
            <a:r>
              <a:rPr lang="en-US" altLang="zh-CN"/>
              <a:t>IP</a:t>
            </a:r>
            <a:r>
              <a:rPr lang="zh-CN" altLang="en-US"/>
              <a:t>地址中相对应的位必须精确匹配。</a:t>
            </a:r>
          </a:p>
        </p:txBody>
      </p:sp>
    </p:spTree>
    <p:extLst>
      <p:ext uri="{BB962C8B-B14F-4D97-AF65-F5344CB8AC3E}">
        <p14:creationId xmlns:p14="http://schemas.microsoft.com/office/powerpoint/2010/main" val="352564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48" y="1196752"/>
            <a:ext cx="90547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 网络地址端口转换</a:t>
            </a:r>
            <a:r>
              <a:rPr lang="en-US" altLang="zh-CN"/>
              <a:t>NAPT</a:t>
            </a:r>
            <a:r>
              <a:rPr lang="zh-CN" altLang="en-US"/>
              <a:t>：</a:t>
            </a:r>
          </a:p>
          <a:p>
            <a:r>
              <a:rPr lang="zh-CN" altLang="en-US"/>
              <a:t>     </a:t>
            </a:r>
            <a:r>
              <a:rPr lang="en-US" altLang="zh-CN"/>
              <a:t>1</a:t>
            </a:r>
            <a:r>
              <a:rPr lang="zh-CN" altLang="en-US"/>
              <a:t>、指定</a:t>
            </a:r>
            <a:r>
              <a:rPr lang="en-US" altLang="zh-CN"/>
              <a:t>NAT</a:t>
            </a:r>
            <a:r>
              <a:rPr lang="zh-CN" altLang="en-US"/>
              <a:t>内部接口</a:t>
            </a:r>
          </a:p>
          <a:p>
            <a:r>
              <a:rPr lang="zh-CN" altLang="en-US"/>
              <a:t>         在内网相应接口的接口配置模式下执行：</a:t>
            </a:r>
            <a:r>
              <a:rPr lang="en-US" altLang="zh-CN"/>
              <a:t>ip nat inside</a:t>
            </a:r>
          </a:p>
          <a:p>
            <a:r>
              <a:rPr lang="en-US" altLang="zh-CN"/>
              <a:t>     2</a:t>
            </a:r>
            <a:r>
              <a:rPr lang="zh-CN" altLang="en-US"/>
              <a:t>、指定</a:t>
            </a:r>
            <a:r>
              <a:rPr lang="en-US" altLang="zh-CN"/>
              <a:t>NAT</a:t>
            </a:r>
            <a:r>
              <a:rPr lang="zh-CN" altLang="en-US"/>
              <a:t>外部接口</a:t>
            </a:r>
          </a:p>
          <a:p>
            <a:r>
              <a:rPr lang="zh-CN" altLang="en-US"/>
              <a:t>         在外网相应接口的接口配置模式下执行：</a:t>
            </a:r>
            <a:r>
              <a:rPr lang="en-US" altLang="zh-CN"/>
              <a:t>ip nat outside</a:t>
            </a:r>
          </a:p>
          <a:p>
            <a:r>
              <a:rPr lang="en-US" altLang="zh-CN"/>
              <a:t>     3</a:t>
            </a:r>
            <a:r>
              <a:rPr lang="zh-CN" altLang="en-US"/>
              <a:t>、在全局配置模式下，定义内部全局地址池：</a:t>
            </a:r>
          </a:p>
          <a:p>
            <a:r>
              <a:rPr lang="zh-CN" altLang="en-US"/>
              <a:t>         </a:t>
            </a:r>
            <a:r>
              <a:rPr lang="en-US" altLang="zh-CN">
                <a:solidFill>
                  <a:srgbClr val="FF0000"/>
                </a:solidFill>
              </a:rPr>
              <a:t>ip nat pool  </a:t>
            </a:r>
            <a:r>
              <a:rPr lang="zh-CN" altLang="en-US">
                <a:solidFill>
                  <a:srgbClr val="FF0000"/>
                </a:solidFill>
              </a:rPr>
              <a:t>地址池名  起始</a:t>
            </a:r>
            <a:r>
              <a:rPr lang="en-US" altLang="zh-CN">
                <a:solidFill>
                  <a:srgbClr val="FF0000"/>
                </a:solidFill>
              </a:rPr>
              <a:t>IP</a:t>
            </a:r>
            <a:r>
              <a:rPr lang="zh-CN" altLang="en-US">
                <a:solidFill>
                  <a:srgbClr val="FF0000"/>
                </a:solidFill>
              </a:rPr>
              <a:t>地址  终止</a:t>
            </a:r>
            <a:r>
              <a:rPr lang="en-US" altLang="zh-CN">
                <a:solidFill>
                  <a:srgbClr val="FF0000"/>
                </a:solidFill>
              </a:rPr>
              <a:t>IP</a:t>
            </a:r>
            <a:r>
              <a:rPr lang="zh-CN" altLang="en-US">
                <a:solidFill>
                  <a:srgbClr val="FF0000"/>
                </a:solidFill>
              </a:rPr>
              <a:t>地址  </a:t>
            </a:r>
            <a:r>
              <a:rPr lang="en-US" altLang="zh-CN">
                <a:solidFill>
                  <a:srgbClr val="FF0000"/>
                </a:solidFill>
              </a:rPr>
              <a:t>netmask  </a:t>
            </a:r>
            <a:r>
              <a:rPr lang="zh-CN" altLang="en-US">
                <a:solidFill>
                  <a:srgbClr val="FF0000"/>
                </a:solidFill>
              </a:rPr>
              <a:t>子网掩码</a:t>
            </a:r>
          </a:p>
          <a:p>
            <a:r>
              <a:rPr lang="zh-CN" altLang="en-US"/>
              <a:t>         其中，地址池名可以任意设定，但最好有一定的说明意义。</a:t>
            </a:r>
          </a:p>
          <a:p>
            <a:r>
              <a:rPr lang="zh-CN" altLang="en-US"/>
              <a:t>     </a:t>
            </a:r>
            <a:r>
              <a:rPr lang="en-US" altLang="zh-CN"/>
              <a:t>4</a:t>
            </a:r>
            <a:r>
              <a:rPr lang="zh-CN" altLang="en-US"/>
              <a:t>、在全局配置模式下，定义一个标准的</a:t>
            </a:r>
            <a:r>
              <a:rPr lang="en-US" altLang="zh-CN"/>
              <a:t>access-list</a:t>
            </a:r>
            <a:r>
              <a:rPr lang="zh-CN" altLang="en-US"/>
              <a:t>规则，声明允许哪些内部本地地址可以进行复用地址转换：</a:t>
            </a:r>
          </a:p>
          <a:p>
            <a:r>
              <a:rPr lang="zh-CN" altLang="en-US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</a:rPr>
              <a:t>access-list list-number permit </a:t>
            </a:r>
            <a:r>
              <a:rPr lang="zh-CN" altLang="en-US">
                <a:solidFill>
                  <a:srgbClr val="FF0000"/>
                </a:solidFill>
              </a:rPr>
              <a:t>源地址 通配符</a:t>
            </a:r>
          </a:p>
          <a:p>
            <a:r>
              <a:rPr lang="zh-CN" altLang="en-US"/>
              <a:t>         其中，</a:t>
            </a:r>
            <a:r>
              <a:rPr lang="en-US" altLang="zh-CN"/>
              <a:t>list-number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－</a:t>
            </a:r>
            <a:r>
              <a:rPr lang="en-US" altLang="zh-CN"/>
              <a:t>99</a:t>
            </a:r>
            <a:r>
              <a:rPr lang="zh-CN" altLang="en-US"/>
              <a:t>之间的一个任意整数。</a:t>
            </a:r>
          </a:p>
          <a:p>
            <a:r>
              <a:rPr lang="zh-CN" altLang="en-US"/>
              <a:t>     </a:t>
            </a:r>
            <a:r>
              <a:rPr lang="en-US" altLang="zh-CN"/>
              <a:t>5</a:t>
            </a:r>
            <a:r>
              <a:rPr lang="zh-CN" altLang="en-US"/>
              <a:t>、在全局配置模式下，定义符合先前定义的</a:t>
            </a:r>
            <a:r>
              <a:rPr lang="en-US" altLang="zh-CN"/>
              <a:t>access-list</a:t>
            </a:r>
            <a:r>
              <a:rPr lang="zh-CN" altLang="en-US"/>
              <a:t>规则的</a:t>
            </a:r>
            <a:r>
              <a:rPr lang="en-US" altLang="zh-CN"/>
              <a:t>IP</a:t>
            </a:r>
            <a:r>
              <a:rPr lang="zh-CN" altLang="en-US"/>
              <a:t>数据包与先前定义的地址池中的</a:t>
            </a:r>
            <a:r>
              <a:rPr lang="en-US" altLang="zh-CN"/>
              <a:t>IP</a:t>
            </a:r>
            <a:r>
              <a:rPr lang="zh-CN" altLang="en-US"/>
              <a:t>地址进行复用地址转换：</a:t>
            </a:r>
          </a:p>
          <a:p>
            <a:r>
              <a:rPr lang="zh-CN" altLang="en-US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</a:rPr>
              <a:t>ip nat inside source list list-number pool </a:t>
            </a:r>
            <a:r>
              <a:rPr lang="zh-CN" altLang="en-US">
                <a:solidFill>
                  <a:srgbClr val="FF0000"/>
                </a:solidFill>
              </a:rPr>
              <a:t>内部全局地址池名 </a:t>
            </a:r>
            <a:r>
              <a:rPr lang="en-US" altLang="zh-CN">
                <a:solidFill>
                  <a:srgbClr val="FF0000"/>
                </a:solidFill>
              </a:rPr>
              <a:t>overload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1109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454</TotalTime>
  <Words>836</Words>
  <Application>Microsoft Office PowerPoint</Application>
  <PresentationFormat>全屏显示(4:3)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Franklin Gothic Book</vt:lpstr>
      <vt:lpstr>Franklin Gothic Medium</vt:lpstr>
      <vt:lpstr>Wingdings 2</vt:lpstr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道人 观</cp:lastModifiedBy>
  <cp:revision>17</cp:revision>
  <dcterms:created xsi:type="dcterms:W3CDTF">2020-10-14T12:05:50Z</dcterms:created>
  <dcterms:modified xsi:type="dcterms:W3CDTF">2022-11-04T08:16:19Z</dcterms:modified>
</cp:coreProperties>
</file>