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65" r:id="rId3"/>
    <p:sldId id="268" r:id="rId4"/>
    <p:sldId id="259" r:id="rId5"/>
    <p:sldId id="260" r:id="rId6"/>
    <p:sldId id="257" r:id="rId7"/>
    <p:sldId id="262" r:id="rId8"/>
    <p:sldId id="263" r:id="rId9"/>
    <p:sldId id="264" r:id="rId10"/>
    <p:sldId id="266" r:id="rId11"/>
    <p:sldId id="267" r:id="rId12"/>
    <p:sldId id="269" r:id="rId1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标题 28"/>
          <p:cNvSpPr>
            <a:spLocks noGrp="1"/>
          </p:cNvSpPr>
          <p:nvPr>
            <p:ph type="ctrTitle"/>
          </p:nvPr>
        </p:nvSpPr>
        <p:spPr>
          <a:xfrm>
            <a:off x="381000" y="4853411"/>
            <a:ext cx="8458200" cy="1222375"/>
          </a:xfrm>
        </p:spPr>
        <p:txBody>
          <a:bodyPr anchor="t"/>
          <a:lstStyle/>
          <a:p>
            <a:r>
              <a:rPr kumimoji="0" lang="zh-CN" altLang="en-US"/>
              <a:t>单击此处编辑母版标题样式</a:t>
            </a:r>
            <a:endParaRPr kumimoji="0" lang="en-US"/>
          </a:p>
        </p:txBody>
      </p:sp>
      <p:sp>
        <p:nvSpPr>
          <p:cNvPr id="9" name="副标题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16" name="日期占位符 15"/>
          <p:cNvSpPr>
            <a:spLocks noGrp="1"/>
          </p:cNvSpPr>
          <p:nvPr>
            <p:ph type="dt" sz="half" idx="10"/>
          </p:nvPr>
        </p:nvSpPr>
        <p:spPr/>
        <p:txBody>
          <a:bodyPr/>
          <a:lstStyle/>
          <a:p>
            <a:fld id="{530820CF-B880-4189-942D-D702A7CBA730}" type="datetimeFigureOut">
              <a:rPr lang="zh-CN" altLang="en-US" smtClean="0"/>
              <a:t>2022/10/19</a:t>
            </a:fld>
            <a:endParaRPr lang="zh-CN" altLang="en-US"/>
          </a:p>
        </p:txBody>
      </p:sp>
      <p:sp>
        <p:nvSpPr>
          <p:cNvPr id="2" name="页脚占位符 1"/>
          <p:cNvSpPr>
            <a:spLocks noGrp="1"/>
          </p:cNvSpPr>
          <p:nvPr>
            <p:ph type="ftr" sz="quarter" idx="11"/>
          </p:nvPr>
        </p:nvSpPr>
        <p:spPr/>
        <p:txBody>
          <a:bodyPr/>
          <a:lstStyle/>
          <a:p>
            <a:endParaRPr lang="zh-CN" altLang="en-US"/>
          </a:p>
        </p:txBody>
      </p:sp>
      <p:sp>
        <p:nvSpPr>
          <p:cNvPr id="15" name="灯片编号占位符 14"/>
          <p:cNvSpPr>
            <a:spLocks noGrp="1"/>
          </p:cNvSpPr>
          <p:nvPr>
            <p:ph type="sldNum" sz="quarter" idx="12"/>
          </p:nvPr>
        </p:nvSpPr>
        <p:spPr>
          <a:xfrm>
            <a:off x="8229600" y="6473952"/>
            <a:ext cx="758952" cy="246888"/>
          </a:xfrm>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kumimoji="0" lang="zh-CN" altLang="en-US"/>
              <a:t>单击此处编辑母版标题样式</a:t>
            </a:r>
            <a:endParaRPr kumimoji="0" lang="en-US"/>
          </a:p>
        </p:txBody>
      </p:sp>
      <p:sp>
        <p:nvSpPr>
          <p:cNvPr id="27" name="内容占位符 26"/>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fld id="{530820CF-B880-4189-942D-D702A7CBA730}" type="datetimeFigureOut">
              <a:rPr lang="zh-CN" altLang="en-US" smtClean="0"/>
              <a:t>2022/10/19</a:t>
            </a:fld>
            <a:endParaRPr lang="zh-CN" altLang="en-US"/>
          </a:p>
        </p:txBody>
      </p:sp>
      <p:sp>
        <p:nvSpPr>
          <p:cNvPr id="19" name="页脚占位符 18"/>
          <p:cNvSpPr>
            <a:spLocks noGrp="1"/>
          </p:cNvSpPr>
          <p:nvPr>
            <p:ph type="ftr" sz="quarter" idx="11"/>
          </p:nvPr>
        </p:nvSpPr>
        <p:spPr>
          <a:xfrm>
            <a:off x="3581400" y="76200"/>
            <a:ext cx="2895600" cy="288925"/>
          </a:xfrm>
        </p:spPr>
        <p:txBody>
          <a:bodyPr/>
          <a:lstStyle/>
          <a:p>
            <a:endParaRPr lang="zh-CN" altLang="en-US"/>
          </a:p>
        </p:txBody>
      </p:sp>
      <p:sp>
        <p:nvSpPr>
          <p:cNvPr id="16" name="灯片编号占位符 15"/>
          <p:cNvSpPr>
            <a:spLocks noGrp="1"/>
          </p:cNvSpPr>
          <p:nvPr>
            <p:ph type="sldNum" sz="quarter" idx="12"/>
          </p:nvPr>
        </p:nvSpPr>
        <p:spPr>
          <a:xfrm>
            <a:off x="8229600" y="6473952"/>
            <a:ext cx="758952" cy="246888"/>
          </a:xfrm>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文本占位符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19" name="日期占位符 18"/>
          <p:cNvSpPr>
            <a:spLocks noGrp="1"/>
          </p:cNvSpPr>
          <p:nvPr>
            <p:ph type="dt" sz="half" idx="10"/>
          </p:nvPr>
        </p:nvSpPr>
        <p:spPr/>
        <p:txBody>
          <a:bodyPr/>
          <a:lstStyle/>
          <a:p>
            <a:fld id="{530820CF-B880-4189-942D-D702A7CBA730}" type="datetimeFigureOut">
              <a:rPr lang="zh-CN" altLang="en-US" smtClean="0"/>
              <a:t>2022/10/19</a:t>
            </a:fld>
            <a:endParaRPr lang="zh-CN" altLang="en-US"/>
          </a:p>
        </p:txBody>
      </p:sp>
      <p:sp>
        <p:nvSpPr>
          <p:cNvPr id="11" name="页脚占位符 10"/>
          <p:cNvSpPr>
            <a:spLocks noGrp="1"/>
          </p:cNvSpPr>
          <p:nvPr>
            <p:ph type="ftr" sz="quarter" idx="11"/>
          </p:nvPr>
        </p:nvSpPr>
        <p:spPr/>
        <p:txBody>
          <a:bodyPr/>
          <a:lstStyle/>
          <a:p>
            <a:endParaRPr lang="zh-CN" altLang="en-US"/>
          </a:p>
        </p:txBody>
      </p:sp>
      <p:sp>
        <p:nvSpPr>
          <p:cNvPr id="16" name="灯片编号占位符 1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标题 7"/>
          <p:cNvSpPr>
            <a:spLocks noGrp="1"/>
          </p:cNvSpPr>
          <p:nvPr>
            <p:ph type="title"/>
          </p:nvPr>
        </p:nvSpPr>
        <p:spPr>
          <a:xfrm>
            <a:off x="180475" y="2947085"/>
            <a:ext cx="8686800" cy="1184825"/>
          </a:xfrm>
        </p:spPr>
        <p:txBody>
          <a:bodyPr rtlCol="0" anchor="t"/>
          <a:lstStyle>
            <a:lvl1pPr algn="r">
              <a:defRPr/>
            </a:lvl1pPr>
          </a:lstStyle>
          <a:p>
            <a:r>
              <a:rPr kumimoji="0" lang="zh-CN" altLang="en-US"/>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0" name="标题 19"/>
          <p:cNvSpPr>
            <a:spLocks noGrp="1"/>
          </p:cNvSpPr>
          <p:nvPr>
            <p:ph type="title"/>
          </p:nvPr>
        </p:nvSpPr>
        <p:spPr>
          <a:xfrm>
            <a:off x="301752" y="457200"/>
            <a:ext cx="8686800" cy="841248"/>
          </a:xfrm>
        </p:spPr>
        <p:txBody>
          <a:bodyPr/>
          <a:lstStyle/>
          <a:p>
            <a:r>
              <a:rPr kumimoji="0" lang="zh-CN" altLang="en-US"/>
              <a:t>单击此处编辑母版标题样式</a:t>
            </a:r>
            <a:endParaRPr kumimoji="0" lang="en-US"/>
          </a:p>
        </p:txBody>
      </p:sp>
      <p:sp>
        <p:nvSpPr>
          <p:cNvPr id="14" name="内容占位符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1" name="日期占位符 20"/>
          <p:cNvSpPr>
            <a:spLocks noGrp="1"/>
          </p:cNvSpPr>
          <p:nvPr>
            <p:ph type="dt" sz="half" idx="10"/>
          </p:nvPr>
        </p:nvSpPr>
        <p:spPr/>
        <p:txBody>
          <a:bodyPr/>
          <a:lstStyle/>
          <a:p>
            <a:fld id="{530820CF-B880-4189-942D-D702A7CBA730}" type="datetimeFigureOut">
              <a:rPr lang="zh-CN" altLang="en-US" smtClean="0"/>
              <a:t>2022/10/19</a:t>
            </a:fld>
            <a:endParaRPr lang="zh-CN" altLang="en-US"/>
          </a:p>
        </p:txBody>
      </p:sp>
      <p:sp>
        <p:nvSpPr>
          <p:cNvPr id="10" name="页脚占位符 9"/>
          <p:cNvSpPr>
            <a:spLocks noGrp="1"/>
          </p:cNvSpPr>
          <p:nvPr>
            <p:ph type="ftr" sz="quarter" idx="11"/>
          </p:nvPr>
        </p:nvSpPr>
        <p:spPr/>
        <p:txBody>
          <a:bodyPr/>
          <a:lstStyle/>
          <a:p>
            <a:endParaRPr lang="zh-CN" altLang="en-US"/>
          </a:p>
        </p:txBody>
      </p:sp>
      <p:sp>
        <p:nvSpPr>
          <p:cNvPr id="31" name="灯片编号占位符 30"/>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9" name="标题 28"/>
          <p:cNvSpPr>
            <a:spLocks noGrp="1"/>
          </p:cNvSpPr>
          <p:nvPr>
            <p:ph type="title"/>
          </p:nvPr>
        </p:nvSpPr>
        <p:spPr>
          <a:xfrm>
            <a:off x="304800" y="5410200"/>
            <a:ext cx="8610600" cy="882650"/>
          </a:xfrm>
        </p:spPr>
        <p:txBody>
          <a:bodyPr anchor="ctr"/>
          <a:lstStyle>
            <a:lvl1pPr>
              <a:defRPr/>
            </a:lvl1p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25" name="文本占位符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内容占位符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8" name="内容占位符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0" name="日期占位符 9"/>
          <p:cNvSpPr>
            <a:spLocks noGrp="1"/>
          </p:cNvSpPr>
          <p:nvPr>
            <p:ph type="dt" sz="half" idx="10"/>
          </p:nvPr>
        </p:nvSpPr>
        <p:spPr/>
        <p:txBody>
          <a:bodyPr/>
          <a:lstStyle/>
          <a:p>
            <a:fld id="{530820CF-B880-4189-942D-D702A7CBA730}" type="datetimeFigureOut">
              <a:rPr lang="zh-CN" altLang="en-US" smtClean="0"/>
              <a:t>2022/10/19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8229600" y="6477000"/>
            <a:ext cx="762000" cy="246888"/>
          </a:xfrm>
        </p:spPr>
        <p:txBody>
          <a:bodyPr/>
          <a:lstStyle/>
          <a:p>
            <a:fld id="{0C913308-F349-4B6D-A68A-DD1791B4A57B}" type="slidenum">
              <a:rPr lang="zh-CN" altLang="en-US" smtClean="0"/>
              <a:t>‹#›</a:t>
            </a:fld>
            <a:endParaRPr lang="zh-CN" altLang="en-US"/>
          </a:p>
        </p:txBody>
      </p:sp>
      <p:sp>
        <p:nvSpPr>
          <p:cNvPr id="11" name="直接连接符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0" name="标题 29"/>
          <p:cNvSpPr>
            <a:spLocks noGrp="1"/>
          </p:cNvSpPr>
          <p:nvPr>
            <p:ph type="title"/>
          </p:nvPr>
        </p:nvSpPr>
        <p:spPr>
          <a:xfrm>
            <a:off x="301752" y="457200"/>
            <a:ext cx="8686800" cy="841248"/>
          </a:xfrm>
        </p:spPr>
        <p:txBody>
          <a:bodyPr/>
          <a:lstStyle/>
          <a:p>
            <a:r>
              <a:rPr kumimoji="0" lang="zh-CN" altLang="en-US"/>
              <a:t>单击此处编辑母版标题样式</a:t>
            </a:r>
            <a:endParaRPr kumimoji="0" lang="en-US"/>
          </a:p>
        </p:txBody>
      </p:sp>
      <p:sp>
        <p:nvSpPr>
          <p:cNvPr id="12" name="日期占位符 11"/>
          <p:cNvSpPr>
            <a:spLocks noGrp="1"/>
          </p:cNvSpPr>
          <p:nvPr>
            <p:ph type="dt" sz="half" idx="10"/>
          </p:nvPr>
        </p:nvSpPr>
        <p:spPr/>
        <p:txBody>
          <a:bodyPr/>
          <a:lstStyle/>
          <a:p>
            <a:fld id="{530820CF-B880-4189-942D-D702A7CBA730}" type="datetimeFigureOut">
              <a:rPr lang="zh-CN" altLang="en-US" smtClean="0"/>
              <a:t>2022/10/19</a:t>
            </a:fld>
            <a:endParaRPr lang="zh-CN" altLang="en-US"/>
          </a:p>
        </p:txBody>
      </p:sp>
      <p:sp>
        <p:nvSpPr>
          <p:cNvPr id="21" name="页脚占位符 20"/>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530820CF-B880-4189-942D-D702A7CBA730}" type="datetimeFigureOut">
              <a:rPr lang="zh-CN" altLang="en-US" smtClean="0"/>
              <a:t>2022/10/19</a:t>
            </a:fld>
            <a:endParaRPr lang="zh-CN" altLang="en-US"/>
          </a:p>
        </p:txBody>
      </p:sp>
      <p:sp>
        <p:nvSpPr>
          <p:cNvPr id="24" name="页脚占位符 23"/>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直接连接符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标题 11"/>
          <p:cNvSpPr>
            <a:spLocks noGrp="1"/>
          </p:cNvSpPr>
          <p:nvPr>
            <p:ph type="title"/>
          </p:nvPr>
        </p:nvSpPr>
        <p:spPr>
          <a:xfrm>
            <a:off x="457200" y="5486400"/>
            <a:ext cx="8458200" cy="520700"/>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14" name="内容占位符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fld id="{530820CF-B880-4189-942D-D702A7CBA730}" type="datetimeFigureOut">
              <a:rPr lang="zh-CN" altLang="en-US" smtClean="0"/>
              <a:t>2022/10/19</a:t>
            </a:fld>
            <a:endParaRPr lang="zh-CN" altLang="en-US"/>
          </a:p>
        </p:txBody>
      </p:sp>
      <p:sp>
        <p:nvSpPr>
          <p:cNvPr id="29" name="页脚占位符 28"/>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3" name="图片占位符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zh-CN" altLang="en-US"/>
              <a:t>单击图标添加图片</a:t>
            </a:r>
            <a:endParaRPr kumimoji="0" lang="en-US" dirty="0"/>
          </a:p>
        </p:txBody>
      </p:sp>
      <p:sp>
        <p:nvSpPr>
          <p:cNvPr id="7" name="日期占位符 6"/>
          <p:cNvSpPr>
            <a:spLocks noGrp="1"/>
          </p:cNvSpPr>
          <p:nvPr>
            <p:ph type="dt" sz="half" idx="10"/>
          </p:nvPr>
        </p:nvSpPr>
        <p:spPr/>
        <p:txBody>
          <a:bodyPr/>
          <a:lstStyle/>
          <a:p>
            <a:fld id="{530820CF-B880-4189-942D-D702A7CBA730}" type="datetimeFigureOut">
              <a:rPr lang="zh-CN" altLang="en-US" smtClean="0"/>
              <a:t>2022/10/19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31" name="灯片编号占位符 30"/>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17" name="标题 16"/>
          <p:cNvSpPr>
            <a:spLocks noGrp="1"/>
          </p:cNvSpPr>
          <p:nvPr>
            <p:ph type="title"/>
          </p:nvPr>
        </p:nvSpPr>
        <p:spPr>
          <a:xfrm>
            <a:off x="381000" y="4993760"/>
            <a:ext cx="5867400" cy="522288"/>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549276"/>
            <a:ext cx="182880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549276"/>
            <a:ext cx="62484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文本占位符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1" name="日期占位符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530820CF-B880-4189-942D-D702A7CBA730}" type="datetimeFigureOut">
              <a:rPr lang="zh-CN" altLang="en-US" smtClean="0"/>
              <a:t>2022/10/19</a:t>
            </a:fld>
            <a:endParaRPr lang="zh-CN" altLang="en-US"/>
          </a:p>
        </p:txBody>
      </p:sp>
      <p:sp>
        <p:nvSpPr>
          <p:cNvPr id="28" name="页脚占位符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zh-CN" altLang="en-US"/>
          </a:p>
        </p:txBody>
      </p:sp>
      <p:sp>
        <p:nvSpPr>
          <p:cNvPr id="5" name="灯片编号占位符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0C913308-F349-4B6D-A68A-DD1791B4A57B}" type="slidenum">
              <a:rPr lang="zh-CN" altLang="en-US" smtClean="0"/>
              <a:t>‹#›</a:t>
            </a:fld>
            <a:endParaRPr lang="zh-CN" altLang="en-US"/>
          </a:p>
        </p:txBody>
      </p:sp>
      <p:sp>
        <p:nvSpPr>
          <p:cNvPr id="10" name="标题占位符 9"/>
          <p:cNvSpPr>
            <a:spLocks noGrp="1"/>
          </p:cNvSpPr>
          <p:nvPr>
            <p:ph type="title"/>
          </p:nvPr>
        </p:nvSpPr>
        <p:spPr>
          <a:xfrm>
            <a:off x="304800" y="457200"/>
            <a:ext cx="8686800" cy="838200"/>
          </a:xfrm>
          <a:prstGeom prst="rect">
            <a:avLst/>
          </a:prstGeom>
        </p:spPr>
        <p:txBody>
          <a:bodyPr vert="horz" anchor="ctr">
            <a:normAutofit/>
          </a:bodyPr>
          <a:lstStyle/>
          <a:p>
            <a:r>
              <a:rPr kumimoji="0" lang="zh-CN" altLang="en-US"/>
              <a:t>单击此处编辑母版标题样式</a:t>
            </a:r>
            <a:endParaRPr kumimoji="0" lang="en-US"/>
          </a:p>
        </p:txBody>
      </p:sp>
      <p:sp>
        <p:nvSpPr>
          <p:cNvPr id="9" name="直接连接符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直接连接符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60648"/>
            <a:ext cx="7344816" cy="5911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0136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5D06917-707B-09E8-DF09-464DB388066B}"/>
              </a:ext>
            </a:extLst>
          </p:cNvPr>
          <p:cNvSpPr txBox="1"/>
          <p:nvPr/>
        </p:nvSpPr>
        <p:spPr>
          <a:xfrm>
            <a:off x="755576" y="836712"/>
            <a:ext cx="6102424" cy="2308324"/>
          </a:xfrm>
          <a:prstGeom prst="rect">
            <a:avLst/>
          </a:prstGeom>
          <a:noFill/>
        </p:spPr>
        <p:txBody>
          <a:bodyPr wrap="square">
            <a:spAutoFit/>
          </a:bodyPr>
          <a:lstStyle/>
          <a:p>
            <a:r>
              <a:rPr lang="zh-CN" altLang="en-US"/>
              <a:t>通常路由器不进行转发的网络地址是</a:t>
            </a:r>
            <a:r>
              <a:rPr lang="en-US" altLang="zh-CN"/>
              <a:t>_______ </a:t>
            </a:r>
          </a:p>
          <a:p>
            <a:r>
              <a:rPr lang="en-US" altLang="zh-CN"/>
              <a:t>A  101.1.32.7 </a:t>
            </a:r>
          </a:p>
          <a:p>
            <a:r>
              <a:rPr lang="en-US" altLang="zh-CN"/>
              <a:t>B  192.178.32.2 </a:t>
            </a:r>
          </a:p>
          <a:p>
            <a:r>
              <a:rPr lang="en-US" altLang="zh-CN"/>
              <a:t>C  172.16.32.1</a:t>
            </a:r>
          </a:p>
          <a:p>
            <a:r>
              <a:rPr lang="en-US" altLang="zh-CN"/>
              <a:t>D  172.35.32.244</a:t>
            </a:r>
          </a:p>
          <a:p>
            <a:endParaRPr lang="en-US" altLang="zh-CN"/>
          </a:p>
          <a:p>
            <a:endParaRPr lang="en-US" altLang="zh-CN"/>
          </a:p>
          <a:p>
            <a:r>
              <a:rPr lang="zh-CN" altLang="en-US">
                <a:solidFill>
                  <a:srgbClr val="FF0000"/>
                </a:solidFill>
              </a:rPr>
              <a:t>公网路由器对于目的地址是专用地址的数据包一律不转发</a:t>
            </a:r>
          </a:p>
        </p:txBody>
      </p:sp>
      <p:sp>
        <p:nvSpPr>
          <p:cNvPr id="5" name="文本框 4">
            <a:extLst>
              <a:ext uri="{FF2B5EF4-FFF2-40B4-BE49-F238E27FC236}">
                <a16:creationId xmlns:a16="http://schemas.microsoft.com/office/drawing/2014/main" id="{EAE9FAFC-2A54-D119-985D-476A25463485}"/>
              </a:ext>
            </a:extLst>
          </p:cNvPr>
          <p:cNvSpPr txBox="1"/>
          <p:nvPr/>
        </p:nvSpPr>
        <p:spPr>
          <a:xfrm>
            <a:off x="755576" y="3444311"/>
            <a:ext cx="6768752" cy="1754326"/>
          </a:xfrm>
          <a:prstGeom prst="rect">
            <a:avLst/>
          </a:prstGeom>
          <a:noFill/>
        </p:spPr>
        <p:txBody>
          <a:bodyPr wrap="square">
            <a:spAutoFit/>
          </a:bodyPr>
          <a:lstStyle/>
          <a:p>
            <a:r>
              <a:rPr lang="zh-CN" altLang="en-US"/>
              <a:t>本地地址</a:t>
            </a:r>
            <a:r>
              <a:rPr lang="en-US" altLang="zh-CN"/>
              <a:t>——</a:t>
            </a:r>
            <a:r>
              <a:rPr lang="zh-CN" altLang="en-US"/>
              <a:t>仅在机构内部使用的 </a:t>
            </a:r>
            <a:r>
              <a:rPr lang="en-US" altLang="zh-CN"/>
              <a:t>IP </a:t>
            </a:r>
            <a:r>
              <a:rPr lang="zh-CN" altLang="en-US"/>
              <a:t>地址，可以由本机构自行分配，而不需要向因特网的管理机构申请。</a:t>
            </a:r>
          </a:p>
          <a:p>
            <a:r>
              <a:rPr lang="zh-CN" altLang="en-US"/>
              <a:t>全球地址</a:t>
            </a:r>
            <a:r>
              <a:rPr lang="en-US" altLang="zh-CN"/>
              <a:t>——</a:t>
            </a:r>
            <a:r>
              <a:rPr lang="zh-CN" altLang="en-US"/>
              <a:t>全球唯一的</a:t>
            </a:r>
            <a:r>
              <a:rPr lang="en-US" altLang="zh-CN"/>
              <a:t>IP</a:t>
            </a:r>
            <a:r>
              <a:rPr lang="zh-CN" altLang="en-US"/>
              <a:t>地址，必须向因特网的管理机构申请。</a:t>
            </a:r>
          </a:p>
          <a:p>
            <a:r>
              <a:rPr lang="zh-CN" altLang="en-US"/>
              <a:t>专用互联网、又称为本地互联网、专用网：</a:t>
            </a:r>
            <a:r>
              <a:rPr lang="en-US" altLang="zh-CN"/>
              <a:t>P171 (</a:t>
            </a:r>
            <a:r>
              <a:rPr lang="zh-CN" altLang="en-US"/>
              <a:t>局域网内部并不是所有的主机都需要连接因特网，让这些计算机使用仅在本局域网内部有效的</a:t>
            </a:r>
            <a:r>
              <a:rPr lang="en-US" altLang="zh-CN"/>
              <a:t>IP</a:t>
            </a:r>
            <a:r>
              <a:rPr lang="zh-CN" altLang="en-US"/>
              <a:t>地址）</a:t>
            </a:r>
          </a:p>
        </p:txBody>
      </p:sp>
    </p:spTree>
    <p:extLst>
      <p:ext uri="{BB962C8B-B14F-4D97-AF65-F5344CB8AC3E}">
        <p14:creationId xmlns:p14="http://schemas.microsoft.com/office/powerpoint/2010/main" val="3508795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A103E28-1796-7172-C5F9-7ABE8CE60DE4}"/>
              </a:ext>
            </a:extLst>
          </p:cNvPr>
          <p:cNvPicPr>
            <a:picLocks noChangeAspect="1"/>
          </p:cNvPicPr>
          <p:nvPr/>
        </p:nvPicPr>
        <p:blipFill>
          <a:blip r:embed="rId2"/>
          <a:stretch>
            <a:fillRect/>
          </a:stretch>
        </p:blipFill>
        <p:spPr>
          <a:xfrm>
            <a:off x="899592" y="980728"/>
            <a:ext cx="7156905" cy="3024336"/>
          </a:xfrm>
          <a:prstGeom prst="rect">
            <a:avLst/>
          </a:prstGeom>
        </p:spPr>
      </p:pic>
    </p:spTree>
    <p:extLst>
      <p:ext uri="{BB962C8B-B14F-4D97-AF65-F5344CB8AC3E}">
        <p14:creationId xmlns:p14="http://schemas.microsoft.com/office/powerpoint/2010/main" val="4245110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412776"/>
            <a:ext cx="8694737" cy="349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313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下箭头标注 1"/>
          <p:cNvSpPr/>
          <p:nvPr/>
        </p:nvSpPr>
        <p:spPr>
          <a:xfrm>
            <a:off x="2915816" y="116632"/>
            <a:ext cx="2088232" cy="576064"/>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Generic</a:t>
            </a:r>
            <a:r>
              <a:rPr lang="zh-CN" altLang="en-US"/>
              <a:t>通用路由器</a:t>
            </a:r>
          </a:p>
        </p:txBody>
      </p:sp>
      <p:grpSp>
        <p:nvGrpSpPr>
          <p:cNvPr id="4" name="组合 3"/>
          <p:cNvGrpSpPr/>
          <p:nvPr/>
        </p:nvGrpSpPr>
        <p:grpSpPr>
          <a:xfrm>
            <a:off x="923925" y="908720"/>
            <a:ext cx="7294563" cy="4333142"/>
            <a:chOff x="923925" y="908720"/>
            <a:chExt cx="7294563" cy="4333142"/>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36448"/>
            <a:stretch/>
          </p:blipFill>
          <p:spPr bwMode="auto">
            <a:xfrm>
              <a:off x="923925" y="908720"/>
              <a:ext cx="7294563" cy="4333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5220072" y="1412776"/>
              <a:ext cx="1008112"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695973" y="3212976"/>
              <a:ext cx="1008112"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956148" y="3176137"/>
              <a:ext cx="1008112"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522557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764704"/>
            <a:ext cx="6761163" cy="466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2709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39552" y="1556792"/>
            <a:ext cx="6750496" cy="1200329"/>
          </a:xfrm>
          <a:prstGeom prst="rect">
            <a:avLst/>
          </a:prstGeom>
        </p:spPr>
        <p:txBody>
          <a:bodyPr wrap="square">
            <a:spAutoFit/>
          </a:bodyPr>
          <a:lstStyle/>
          <a:p>
            <a:r>
              <a:rPr lang="zh-CN" altLang="en-US"/>
              <a:t>专用</a:t>
            </a:r>
            <a:r>
              <a:rPr lang="en-US" altLang="zh-CN"/>
              <a:t>ip</a:t>
            </a:r>
            <a:r>
              <a:rPr lang="zh-CN" altLang="en-US"/>
              <a:t>地址</a:t>
            </a:r>
            <a:endParaRPr lang="en-US" altLang="zh-CN"/>
          </a:p>
          <a:p>
            <a:r>
              <a:rPr lang="en-US" altLang="zh-CN"/>
              <a:t>A</a:t>
            </a:r>
            <a:r>
              <a:rPr lang="zh-CN" altLang="en-US"/>
              <a:t>类</a:t>
            </a:r>
            <a:r>
              <a:rPr lang="en-US" altLang="zh-CN"/>
              <a:t>10.0.0.0--10.255.255.255</a:t>
            </a:r>
          </a:p>
          <a:p>
            <a:r>
              <a:rPr lang="en-US" altLang="zh-CN"/>
              <a:t>B</a:t>
            </a:r>
            <a:r>
              <a:rPr lang="zh-CN" altLang="en-US"/>
              <a:t>类 </a:t>
            </a:r>
            <a:r>
              <a:rPr lang="en-US" altLang="zh-CN"/>
              <a:t>172.16.0.0--172.31.255.255</a:t>
            </a:r>
          </a:p>
          <a:p>
            <a:r>
              <a:rPr lang="en-US" altLang="zh-CN"/>
              <a:t>C</a:t>
            </a:r>
            <a:r>
              <a:rPr lang="zh-CN" altLang="en-US"/>
              <a:t>类 </a:t>
            </a:r>
            <a:r>
              <a:rPr lang="en-US" altLang="zh-CN"/>
              <a:t>192.168.0.0--192.168.255.255</a:t>
            </a:r>
            <a:endParaRPr lang="zh-CN" altLang="en-US"/>
          </a:p>
        </p:txBody>
      </p:sp>
      <p:sp>
        <p:nvSpPr>
          <p:cNvPr id="3" name="矩形 2"/>
          <p:cNvSpPr/>
          <p:nvPr/>
        </p:nvSpPr>
        <p:spPr>
          <a:xfrm>
            <a:off x="683568" y="3140968"/>
            <a:ext cx="5832648" cy="1200329"/>
          </a:xfrm>
          <a:prstGeom prst="rect">
            <a:avLst/>
          </a:prstGeom>
        </p:spPr>
        <p:txBody>
          <a:bodyPr wrap="square">
            <a:spAutoFit/>
          </a:bodyPr>
          <a:lstStyle/>
          <a:p>
            <a:r>
              <a:rPr lang="zh-CN" altLang="en-US"/>
              <a:t> </a:t>
            </a:r>
            <a:r>
              <a:rPr lang="en-US" altLang="zh-CN"/>
              <a:t>"ip route  &lt;</a:t>
            </a:r>
            <a:r>
              <a:rPr lang="zh-CN" altLang="en-US"/>
              <a:t>目的网段</a:t>
            </a:r>
            <a:r>
              <a:rPr lang="en-US" altLang="zh-CN"/>
              <a:t>&gt;  &lt;</a:t>
            </a:r>
            <a:r>
              <a:rPr lang="zh-CN" altLang="en-US"/>
              <a:t>目的网段掩码</a:t>
            </a:r>
            <a:r>
              <a:rPr lang="en-US" altLang="zh-CN"/>
              <a:t>&gt;  &lt;</a:t>
            </a:r>
            <a:r>
              <a:rPr lang="zh-CN" altLang="en-US"/>
              <a:t>下一跳</a:t>
            </a:r>
            <a:r>
              <a:rPr lang="en-US" altLang="zh-CN"/>
              <a:t>&gt;"</a:t>
            </a:r>
          </a:p>
          <a:p>
            <a:r>
              <a:rPr lang="zh-CN" altLang="en-US"/>
              <a:t>是配置静态路由的通用命令，目的网段是所要到达的对方的网段；目的网段掩码就是该目的网段的子网掩码；下一跳是下一台路由器的入口。</a:t>
            </a:r>
          </a:p>
        </p:txBody>
      </p:sp>
      <p:sp>
        <p:nvSpPr>
          <p:cNvPr id="4" name="矩形 3"/>
          <p:cNvSpPr/>
          <p:nvPr/>
        </p:nvSpPr>
        <p:spPr>
          <a:xfrm>
            <a:off x="683568" y="4581128"/>
            <a:ext cx="7200800" cy="1754326"/>
          </a:xfrm>
          <a:prstGeom prst="rect">
            <a:avLst/>
          </a:prstGeom>
        </p:spPr>
        <p:txBody>
          <a:bodyPr wrap="square">
            <a:spAutoFit/>
          </a:bodyPr>
          <a:lstStyle/>
          <a:p>
            <a:r>
              <a:rPr lang="en-US" altLang="zh-CN"/>
              <a:t>Ruijie(config)# ip nat inside source static 192.168.1.6 200.10.10.2</a:t>
            </a:r>
          </a:p>
          <a:p>
            <a:r>
              <a:rPr lang="zh-CN" altLang="en-US"/>
              <a:t>本例定义了一个内部源地址静态</a:t>
            </a:r>
            <a:r>
              <a:rPr lang="en-US" altLang="zh-CN"/>
              <a:t>NAT</a:t>
            </a:r>
            <a:r>
              <a:rPr lang="zh-CN" altLang="en-US"/>
              <a:t>，内部本地地址为</a:t>
            </a:r>
            <a:r>
              <a:rPr lang="en-US" altLang="zh-CN"/>
              <a:t>192.168.1.6</a:t>
            </a:r>
            <a:r>
              <a:rPr lang="zh-CN" altLang="en-US"/>
              <a:t>，内部全局地址为</a:t>
            </a:r>
            <a:r>
              <a:rPr lang="en-US" altLang="zh-CN"/>
              <a:t>200.10.10.2</a:t>
            </a:r>
            <a:r>
              <a:rPr lang="zh-CN" altLang="en-US"/>
              <a:t>。外网用户只能用</a:t>
            </a:r>
            <a:r>
              <a:rPr lang="en-US" altLang="zh-CN"/>
              <a:t>200.10.10.2</a:t>
            </a:r>
            <a:r>
              <a:rPr lang="zh-CN" altLang="en-US"/>
              <a:t>访问这台主机，内网用户只能用</a:t>
            </a:r>
            <a:r>
              <a:rPr lang="en-US" altLang="zh-CN"/>
              <a:t>192.168.1.6</a:t>
            </a:r>
            <a:r>
              <a:rPr lang="zh-CN" altLang="en-US"/>
              <a:t>访问这台主机</a:t>
            </a:r>
            <a:endParaRPr lang="en-US" altLang="zh-CN"/>
          </a:p>
          <a:p>
            <a:endParaRPr lang="en-US" altLang="zh-CN"/>
          </a:p>
          <a:p>
            <a:r>
              <a:rPr lang="en-US" altLang="zh-CN"/>
              <a:t>Show ip nat translation</a:t>
            </a:r>
            <a:endParaRPr lang="zh-CN" altLang="en-US"/>
          </a:p>
        </p:txBody>
      </p:sp>
      <p:sp>
        <p:nvSpPr>
          <p:cNvPr id="6" name="文本框 5">
            <a:extLst>
              <a:ext uri="{FF2B5EF4-FFF2-40B4-BE49-F238E27FC236}">
                <a16:creationId xmlns:a16="http://schemas.microsoft.com/office/drawing/2014/main" id="{29921F04-C2A9-BB69-678E-E81340265EB8}"/>
              </a:ext>
            </a:extLst>
          </p:cNvPr>
          <p:cNvSpPr txBox="1"/>
          <p:nvPr/>
        </p:nvSpPr>
        <p:spPr>
          <a:xfrm>
            <a:off x="539552" y="109839"/>
            <a:ext cx="6912768" cy="1200329"/>
          </a:xfrm>
          <a:prstGeom prst="rect">
            <a:avLst/>
          </a:prstGeom>
          <a:noFill/>
        </p:spPr>
        <p:txBody>
          <a:bodyPr wrap="square">
            <a:spAutoFit/>
          </a:bodyPr>
          <a:lstStyle/>
          <a:p>
            <a:r>
              <a:rPr lang="zh-CN" altLang="en-US"/>
              <a:t>这些地址只能用于一个机构的内部通信，而不能用于和因特网上的主机通信。</a:t>
            </a:r>
          </a:p>
          <a:p>
            <a:r>
              <a:rPr lang="zh-CN" altLang="en-US"/>
              <a:t>专用地址只能用作本地地址而不能用作全球地址。在因特网中的所有路由器对目的地址是专用地址的数据报一律不进行转发。 </a:t>
            </a:r>
          </a:p>
        </p:txBody>
      </p:sp>
    </p:spTree>
    <p:extLst>
      <p:ext uri="{BB962C8B-B14F-4D97-AF65-F5344CB8AC3E}">
        <p14:creationId xmlns:p14="http://schemas.microsoft.com/office/powerpoint/2010/main" val="3475485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0510AC-7248-0A64-F894-CCC50ECD928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930C07B-1D55-74D8-3CF8-5B53841B5374}"/>
              </a:ext>
            </a:extLst>
          </p:cNvPr>
          <p:cNvSpPr>
            <a:spLocks noGrp="1"/>
          </p:cNvSpPr>
          <p:nvPr>
            <p:ph idx="1"/>
          </p:nvPr>
        </p:nvSpPr>
        <p:spPr/>
        <p:txBody>
          <a:bodyPr/>
          <a:lstStyle/>
          <a:p>
            <a:r>
              <a:rPr lang="zh-CN" altLang="en-US"/>
              <a:t>取消</a:t>
            </a:r>
            <a:r>
              <a:rPr lang="en-US" altLang="zh-CN"/>
              <a:t>Router2</a:t>
            </a:r>
            <a:r>
              <a:rPr lang="zh-CN" altLang="en-US"/>
              <a:t>到专用网</a:t>
            </a:r>
            <a:r>
              <a:rPr lang="en-US" altLang="zh-CN"/>
              <a:t>192.168.1.0/24</a:t>
            </a:r>
            <a:r>
              <a:rPr lang="zh-CN" altLang="en-US"/>
              <a:t>的路由</a:t>
            </a:r>
            <a:endParaRPr lang="en-US" altLang="zh-CN"/>
          </a:p>
          <a:p>
            <a:r>
              <a:rPr lang="zh-CN" altLang="en-US"/>
              <a:t>只能通过</a:t>
            </a:r>
            <a:r>
              <a:rPr lang="en-US" altLang="zh-CN"/>
              <a:t>222.0.1.3</a:t>
            </a:r>
            <a:r>
              <a:rPr lang="zh-CN" altLang="en-US"/>
              <a:t>访问服务器。而不能通过</a:t>
            </a:r>
            <a:r>
              <a:rPr lang="en-US" altLang="zh-CN"/>
              <a:t>192.168.1.2</a:t>
            </a:r>
            <a:r>
              <a:rPr lang="zh-CN" altLang="en-US"/>
              <a:t>访问。</a:t>
            </a:r>
            <a:endParaRPr lang="en-US" altLang="zh-CN"/>
          </a:p>
          <a:p>
            <a:r>
              <a:rPr lang="zh-CN" altLang="en-US"/>
              <a:t>三台服务器分别映射到三个公网</a:t>
            </a:r>
            <a:r>
              <a:rPr lang="en-US" altLang="zh-CN"/>
              <a:t>IP</a:t>
            </a:r>
          </a:p>
          <a:p>
            <a:r>
              <a:rPr lang="zh-CN" altLang="en-US"/>
              <a:t>三台服务器分别映射到同一个公网</a:t>
            </a:r>
            <a:r>
              <a:rPr lang="en-US" altLang="zh-CN"/>
              <a:t>IP</a:t>
            </a:r>
            <a:r>
              <a:rPr lang="zh-CN" altLang="en-US"/>
              <a:t>的不同端口</a:t>
            </a:r>
            <a:endParaRPr lang="en-US" altLang="zh-CN"/>
          </a:p>
          <a:p>
            <a:r>
              <a:rPr lang="zh-CN" altLang="en-US"/>
              <a:t>内网主机</a:t>
            </a:r>
            <a:r>
              <a:rPr lang="en-US" altLang="zh-CN"/>
              <a:t>NAPT</a:t>
            </a:r>
            <a:r>
              <a:rPr lang="zh-CN" altLang="en-US"/>
              <a:t>自动映射（多对一）</a:t>
            </a:r>
          </a:p>
        </p:txBody>
      </p:sp>
    </p:spTree>
    <p:extLst>
      <p:ext uri="{BB962C8B-B14F-4D97-AF65-F5344CB8AC3E}">
        <p14:creationId xmlns:p14="http://schemas.microsoft.com/office/powerpoint/2010/main" val="213550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7A3D4B-DEA1-B411-B18D-BCF385ACA283}"/>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EB1139A0-A603-2B21-6559-55F2AF1ECCA0}"/>
              </a:ext>
            </a:extLst>
          </p:cNvPr>
          <p:cNvPicPr>
            <a:picLocks noGrp="1" noChangeAspect="1"/>
          </p:cNvPicPr>
          <p:nvPr>
            <p:ph idx="1"/>
          </p:nvPr>
        </p:nvPicPr>
        <p:blipFill>
          <a:blip r:embed="rId2"/>
          <a:stretch>
            <a:fillRect/>
          </a:stretch>
        </p:blipFill>
        <p:spPr>
          <a:xfrm>
            <a:off x="1400175" y="1959769"/>
            <a:ext cx="6496050" cy="3714750"/>
          </a:xfrm>
        </p:spPr>
      </p:pic>
    </p:spTree>
    <p:extLst>
      <p:ext uri="{BB962C8B-B14F-4D97-AF65-F5344CB8AC3E}">
        <p14:creationId xmlns:p14="http://schemas.microsoft.com/office/powerpoint/2010/main" val="738225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98235D-40E4-F53A-1308-192708CF188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65ADDA8-5542-CA95-1ADA-EFF41793B156}"/>
              </a:ext>
            </a:extLst>
          </p:cNvPr>
          <p:cNvSpPr>
            <a:spLocks noGrp="1"/>
          </p:cNvSpPr>
          <p:nvPr>
            <p:ph idx="1"/>
          </p:nvPr>
        </p:nvSpPr>
        <p:spPr/>
        <p:txBody>
          <a:bodyPr/>
          <a:lstStyle/>
          <a:p>
            <a:r>
              <a:rPr lang="en-US" altLang="zh-CN"/>
              <a:t>server0 80</a:t>
            </a:r>
            <a:r>
              <a:rPr lang="en-US" altLang="zh-CN">
                <a:sym typeface="Wingdings" panose="05000000000000000000" pitchFamily="2" charset="2"/>
              </a:rPr>
              <a:t>IP 80</a:t>
            </a:r>
          </a:p>
          <a:p>
            <a:r>
              <a:rPr lang="en-US" altLang="zh-CN">
                <a:sym typeface="Wingdings" panose="05000000000000000000" pitchFamily="2" charset="2"/>
              </a:rPr>
              <a:t>server1 443IP 443   </a:t>
            </a:r>
            <a:r>
              <a:rPr lang="en-US" altLang="zh-CN">
                <a:solidFill>
                  <a:srgbClr val="FF0000"/>
                </a:solidFill>
                <a:sym typeface="Wingdings" panose="05000000000000000000" pitchFamily="2" charset="2"/>
              </a:rPr>
              <a:t>HTTPS://</a:t>
            </a:r>
          </a:p>
          <a:p>
            <a:r>
              <a:rPr lang="en-US" altLang="zh-CN">
                <a:sym typeface="Wingdings" panose="05000000000000000000" pitchFamily="2" charset="2"/>
              </a:rPr>
              <a:t>server2 80IP 65535</a:t>
            </a:r>
          </a:p>
          <a:p>
            <a:pPr marL="0" indent="0">
              <a:buNone/>
            </a:pPr>
            <a:r>
              <a:rPr lang="zh-CN" altLang="en-US" b="0" i="0">
                <a:solidFill>
                  <a:srgbClr val="121212"/>
                </a:solidFill>
                <a:effectLst/>
                <a:latin typeface="-apple-system"/>
              </a:rPr>
              <a:t>端口</a:t>
            </a:r>
            <a:r>
              <a:rPr lang="en-US" altLang="zh-CN" b="0" i="0">
                <a:solidFill>
                  <a:srgbClr val="121212"/>
                </a:solidFill>
                <a:effectLst/>
                <a:latin typeface="-apple-system"/>
              </a:rPr>
              <a:t>443</a:t>
            </a:r>
            <a:r>
              <a:rPr lang="zh-CN" altLang="en-US" b="0" i="0">
                <a:solidFill>
                  <a:srgbClr val="121212"/>
                </a:solidFill>
                <a:effectLst/>
                <a:latin typeface="-apple-system"/>
              </a:rPr>
              <a:t>明确用于</a:t>
            </a:r>
            <a:r>
              <a:rPr lang="en-US" altLang="zh-CN" b="0" i="0">
                <a:solidFill>
                  <a:srgbClr val="121212"/>
                </a:solidFill>
                <a:effectLst/>
                <a:latin typeface="-apple-system"/>
              </a:rPr>
              <a:t>HTTPS</a:t>
            </a:r>
            <a:r>
              <a:rPr lang="zh-CN" altLang="en-US" b="0" i="0">
                <a:solidFill>
                  <a:srgbClr val="121212"/>
                </a:solidFill>
                <a:effectLst/>
                <a:latin typeface="-apple-system"/>
              </a:rPr>
              <a:t>服务，因此是</a:t>
            </a:r>
            <a:r>
              <a:rPr lang="en-US" altLang="zh-CN" b="0" i="0">
                <a:solidFill>
                  <a:srgbClr val="121212"/>
                </a:solidFill>
                <a:effectLst/>
                <a:latin typeface="-apple-system"/>
              </a:rPr>
              <a:t>HTTPS</a:t>
            </a:r>
            <a:r>
              <a:rPr lang="zh-CN" altLang="en-US" b="0" i="0">
                <a:solidFill>
                  <a:srgbClr val="121212"/>
                </a:solidFill>
                <a:effectLst/>
                <a:latin typeface="-apple-system"/>
              </a:rPr>
              <a:t>（加密）流量的标准端口。它也称为</a:t>
            </a:r>
            <a:r>
              <a:rPr lang="en-US" altLang="zh-CN" b="0" i="0">
                <a:solidFill>
                  <a:srgbClr val="121212"/>
                </a:solidFill>
                <a:effectLst/>
                <a:latin typeface="-apple-system"/>
              </a:rPr>
              <a:t>HTTPS</a:t>
            </a:r>
            <a:r>
              <a:rPr lang="zh-CN" altLang="en-US" b="0" i="0">
                <a:solidFill>
                  <a:srgbClr val="121212"/>
                </a:solidFill>
                <a:effectLst/>
                <a:latin typeface="-apple-system"/>
              </a:rPr>
              <a:t>端口</a:t>
            </a:r>
            <a:r>
              <a:rPr lang="zh-CN" altLang="en-US">
                <a:solidFill>
                  <a:srgbClr val="121212"/>
                </a:solidFill>
                <a:latin typeface="-apple-system"/>
              </a:rPr>
              <a:t>。</a:t>
            </a:r>
            <a:endParaRPr lang="en-US" altLang="zh-CN">
              <a:solidFill>
                <a:srgbClr val="121212"/>
              </a:solidFill>
              <a:latin typeface="-apple-system"/>
            </a:endParaRPr>
          </a:p>
          <a:p>
            <a:pPr marL="0" indent="0">
              <a:buNone/>
            </a:pPr>
            <a:r>
              <a:rPr lang="zh-CN" altLang="en-US" b="0" i="0">
                <a:solidFill>
                  <a:srgbClr val="121212"/>
                </a:solidFill>
                <a:effectLst/>
                <a:latin typeface="-apple-system"/>
              </a:rPr>
              <a:t>每当您连接到安全站点（即以</a:t>
            </a:r>
            <a:r>
              <a:rPr lang="en-US" altLang="zh-CN" b="0" i="0">
                <a:solidFill>
                  <a:srgbClr val="121212"/>
                </a:solidFill>
                <a:effectLst/>
                <a:latin typeface="-apple-system"/>
              </a:rPr>
              <a:t>HTTPS</a:t>
            </a:r>
            <a:r>
              <a:rPr lang="zh-CN" altLang="en-US" b="0" i="0">
                <a:solidFill>
                  <a:srgbClr val="121212"/>
                </a:solidFill>
                <a:effectLst/>
                <a:latin typeface="-apple-system"/>
              </a:rPr>
              <a:t>开头的站点）时，都会通过端口</a:t>
            </a:r>
            <a:r>
              <a:rPr lang="en-US" altLang="zh-CN" b="0" i="0">
                <a:solidFill>
                  <a:srgbClr val="121212"/>
                </a:solidFill>
                <a:effectLst/>
                <a:latin typeface="-apple-system"/>
              </a:rPr>
              <a:t>443</a:t>
            </a:r>
            <a:r>
              <a:rPr lang="zh-CN" altLang="en-US" b="0" i="0">
                <a:solidFill>
                  <a:srgbClr val="121212"/>
                </a:solidFill>
                <a:effectLst/>
                <a:latin typeface="-apple-system"/>
              </a:rPr>
              <a:t>连接到</a:t>
            </a:r>
            <a:r>
              <a:rPr lang="en-US" altLang="zh-CN" b="0" i="0">
                <a:solidFill>
                  <a:srgbClr val="121212"/>
                </a:solidFill>
                <a:effectLst/>
                <a:latin typeface="-apple-system"/>
              </a:rPr>
              <a:t>Web</a:t>
            </a:r>
            <a:r>
              <a:rPr lang="zh-CN" altLang="en-US" b="0" i="0">
                <a:solidFill>
                  <a:srgbClr val="121212"/>
                </a:solidFill>
                <a:effectLst/>
                <a:latin typeface="-apple-system"/>
              </a:rPr>
              <a:t>服务器</a:t>
            </a:r>
            <a:endParaRPr lang="en-US" altLang="zh-CN" b="0" i="0">
              <a:solidFill>
                <a:srgbClr val="121212"/>
              </a:solidFill>
              <a:effectLst/>
              <a:latin typeface="-apple-system"/>
            </a:endParaRPr>
          </a:p>
          <a:p>
            <a:pPr marL="0" indent="0">
              <a:buNone/>
            </a:pPr>
            <a:endParaRPr lang="en-US" altLang="zh-CN"/>
          </a:p>
        </p:txBody>
      </p:sp>
    </p:spTree>
    <p:extLst>
      <p:ext uri="{BB962C8B-B14F-4D97-AF65-F5344CB8AC3E}">
        <p14:creationId xmlns:p14="http://schemas.microsoft.com/office/powerpoint/2010/main" val="1276873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AE4A7C-1101-BC4C-E886-DB20A86C553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EDD7484-BF38-71D2-750C-905DE05C789A}"/>
              </a:ext>
            </a:extLst>
          </p:cNvPr>
          <p:cNvSpPr>
            <a:spLocks noGrp="1"/>
          </p:cNvSpPr>
          <p:nvPr>
            <p:ph idx="1"/>
          </p:nvPr>
        </p:nvSpPr>
        <p:spPr/>
        <p:txBody>
          <a:bodyPr>
            <a:normAutofit/>
          </a:bodyPr>
          <a:lstStyle/>
          <a:p>
            <a:pPr marL="0" indent="0">
              <a:buNone/>
            </a:pPr>
            <a:r>
              <a:rPr lang="en-US" altLang="zh-CN" sz="2000"/>
              <a:t>//</a:t>
            </a:r>
            <a:r>
              <a:rPr lang="zh-CN" altLang="en-US" sz="2000"/>
              <a:t>端口映射</a:t>
            </a:r>
            <a:r>
              <a:rPr lang="en-US" altLang="zh-CN" sz="2000"/>
              <a:t>,</a:t>
            </a:r>
            <a:r>
              <a:rPr lang="zh-CN" altLang="en-US" sz="2000"/>
              <a:t>将公网</a:t>
            </a:r>
            <a:r>
              <a:rPr lang="en-US" altLang="zh-CN" sz="2000"/>
              <a:t>ip</a:t>
            </a:r>
            <a:r>
              <a:rPr lang="zh-CN" altLang="en-US" sz="2000"/>
              <a:t>的不同端口分别映射给三台服务器</a:t>
            </a:r>
            <a:endParaRPr lang="en-US" altLang="zh-CN" sz="2000"/>
          </a:p>
          <a:p>
            <a:pPr marL="0" indent="0">
              <a:buNone/>
            </a:pPr>
            <a:r>
              <a:rPr lang="en-US" altLang="zh-CN" sz="2000"/>
              <a:t>ip nat inside source static tcp 10.0.0.5 80 131.107.0.1 80</a:t>
            </a:r>
          </a:p>
          <a:p>
            <a:pPr marL="0" indent="0">
              <a:buNone/>
            </a:pPr>
            <a:r>
              <a:rPr lang="en-US" altLang="zh-CN" sz="2000"/>
              <a:t>ip nat inside source static tcp 10.0.0.6 443 131.107.0.1 443</a:t>
            </a:r>
          </a:p>
          <a:p>
            <a:pPr marL="0" indent="0">
              <a:buNone/>
            </a:pPr>
            <a:r>
              <a:rPr lang="en-US" altLang="zh-CN" sz="2000"/>
              <a:t>ip nat inside source static tcp 10.0.0.7 80 131.107.0.1 65535</a:t>
            </a:r>
            <a:endParaRPr lang="zh-CN" altLang="en-US" sz="2000"/>
          </a:p>
        </p:txBody>
      </p:sp>
    </p:spTree>
    <p:extLst>
      <p:ext uri="{BB962C8B-B14F-4D97-AF65-F5344CB8AC3E}">
        <p14:creationId xmlns:p14="http://schemas.microsoft.com/office/powerpoint/2010/main" val="1044925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35AD6-82A5-226B-F922-549D4401096C}"/>
              </a:ext>
            </a:extLst>
          </p:cNvPr>
          <p:cNvSpPr>
            <a:spLocks noGrp="1"/>
          </p:cNvSpPr>
          <p:nvPr>
            <p:ph type="title"/>
          </p:nvPr>
        </p:nvSpPr>
        <p:spPr/>
        <p:txBody>
          <a:bodyPr/>
          <a:lstStyle/>
          <a:p>
            <a:endParaRPr lang="zh-CN" altLang="en-US"/>
          </a:p>
        </p:txBody>
      </p:sp>
      <p:pic>
        <p:nvPicPr>
          <p:cNvPr id="4" name="内容占位符 3">
            <a:extLst>
              <a:ext uri="{FF2B5EF4-FFF2-40B4-BE49-F238E27FC236}">
                <a16:creationId xmlns:a16="http://schemas.microsoft.com/office/drawing/2014/main" id="{24E0C526-1DFD-F0ED-CE95-76BFCE1D018D}"/>
              </a:ext>
            </a:extLst>
          </p:cNvPr>
          <p:cNvPicPr>
            <a:picLocks noGrp="1" noChangeAspect="1"/>
          </p:cNvPicPr>
          <p:nvPr>
            <p:ph idx="1"/>
          </p:nvPr>
        </p:nvPicPr>
        <p:blipFill>
          <a:blip r:embed="rId2"/>
          <a:stretch>
            <a:fillRect/>
          </a:stretch>
        </p:blipFill>
        <p:spPr>
          <a:xfrm>
            <a:off x="338337" y="1628800"/>
            <a:ext cx="8123220" cy="4525962"/>
          </a:xfrm>
          <a:prstGeom prst="rect">
            <a:avLst/>
          </a:prstGeom>
        </p:spPr>
      </p:pic>
    </p:spTree>
    <p:extLst>
      <p:ext uri="{BB962C8B-B14F-4D97-AF65-F5344CB8AC3E}">
        <p14:creationId xmlns:p14="http://schemas.microsoft.com/office/powerpoint/2010/main" val="197947841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跋涉">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跋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142</TotalTime>
  <Words>475</Words>
  <Application>Microsoft Office PowerPoint</Application>
  <PresentationFormat>全屏显示(4:3)</PresentationFormat>
  <Paragraphs>38</Paragraphs>
  <Slides>12</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-apple-system</vt:lpstr>
      <vt:lpstr>Franklin Gothic Book</vt:lpstr>
      <vt:lpstr>Franklin Gothic Medium</vt:lpstr>
      <vt:lpstr>Wingdings 2</vt:lpstr>
      <vt:lpstr>跋涉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道人 观</cp:lastModifiedBy>
  <cp:revision>25</cp:revision>
  <dcterms:created xsi:type="dcterms:W3CDTF">2020-10-13T12:43:21Z</dcterms:created>
  <dcterms:modified xsi:type="dcterms:W3CDTF">2022-10-19T07:48:10Z</dcterms:modified>
</cp:coreProperties>
</file>