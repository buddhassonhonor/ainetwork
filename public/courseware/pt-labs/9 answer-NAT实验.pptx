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9" r:id="rId3"/>
    <p:sldId id="260" r:id="rId4"/>
    <p:sldId id="261" r:id="rId5"/>
    <p:sldId id="257" r:id="rId6"/>
    <p:sldId id="262" r:id="rId7"/>
    <p:sldId id="263" r:id="rId8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-170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直接连接符 6"/>
          <p:cNvSpPr>
            <a:spLocks noChangeShapeType="1"/>
          </p:cNvSpPr>
          <p:nvPr/>
        </p:nvSpPr>
        <p:spPr bwMode="auto">
          <a:xfrm>
            <a:off x="514350" y="5349902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标题 28"/>
          <p:cNvSpPr>
            <a:spLocks noGrp="1"/>
          </p:cNvSpPr>
          <p:nvPr>
            <p:ph type="ctrTitle"/>
          </p:nvPr>
        </p:nvSpPr>
        <p:spPr>
          <a:xfrm>
            <a:off x="381000" y="4853411"/>
            <a:ext cx="8458200" cy="1222375"/>
          </a:xfrm>
        </p:spPr>
        <p:txBody>
          <a:bodyPr anchor="t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381000" y="3886200"/>
            <a:ext cx="8458200" cy="914400"/>
          </a:xfrm>
        </p:spPr>
        <p:txBody>
          <a:bodyPr anchor="b"/>
          <a:lstStyle>
            <a:lvl1pPr marL="0" indent="0" algn="l">
              <a:buNone/>
              <a:defRPr sz="2400">
                <a:solidFill>
                  <a:schemeClr val="tx2">
                    <a:shade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2020/10/14</a:t>
            </a:fld>
            <a:endParaRPr lang="zh-CN" altLang="en-US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12"/>
          </p:nvPr>
        </p:nvSpPr>
        <p:spPr>
          <a:xfrm>
            <a:off x="8229600" y="6473952"/>
            <a:ext cx="758952" cy="246888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标题 2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27" name="内容占位符 2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25" name="日期占位符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2020/10/14</a:t>
            </a:fld>
            <a:endParaRPr lang="zh-CN" altLang="en-US"/>
          </a:p>
        </p:txBody>
      </p:sp>
      <p:sp>
        <p:nvSpPr>
          <p:cNvPr id="19" name="页脚占位符 18"/>
          <p:cNvSpPr>
            <a:spLocks noGrp="1"/>
          </p:cNvSpPr>
          <p:nvPr>
            <p:ph type="ftr" sz="quarter" idx="11"/>
          </p:nvPr>
        </p:nvSpPr>
        <p:spPr>
          <a:xfrm>
            <a:off x="3581400" y="76200"/>
            <a:ext cx="2895600" cy="2889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6" name="灯片编号占位符 15"/>
          <p:cNvSpPr>
            <a:spLocks noGrp="1"/>
          </p:cNvSpPr>
          <p:nvPr>
            <p:ph type="sldNum" sz="quarter" idx="12"/>
          </p:nvPr>
        </p:nvSpPr>
        <p:spPr>
          <a:xfrm>
            <a:off x="8229600" y="6473952"/>
            <a:ext cx="758952" cy="246888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直接连接符 6"/>
          <p:cNvSpPr>
            <a:spLocks noChangeShapeType="1"/>
          </p:cNvSpPr>
          <p:nvPr/>
        </p:nvSpPr>
        <p:spPr bwMode="auto">
          <a:xfrm>
            <a:off x="514350" y="3444902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>
          <a:xfrm>
            <a:off x="381000" y="1676400"/>
            <a:ext cx="8458200" cy="1219200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2">
                    <a:shade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19" name="日期占位符 1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2020/10/14</a:t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6" name="灯片编号占位符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180475" y="2947085"/>
            <a:ext cx="8686800" cy="1184825"/>
          </a:xfrm>
        </p:spPr>
        <p:txBody>
          <a:bodyPr rtlCol="0" anchor="t"/>
          <a:lstStyle>
            <a:lvl1pPr algn="r"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19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841248"/>
          </a:xfrm>
        </p:spPr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4" name="内容占位符 13"/>
          <p:cNvSpPr>
            <a:spLocks noGrp="1"/>
          </p:cNvSpPr>
          <p:nvPr>
            <p:ph sz="half" idx="1"/>
          </p:nvPr>
        </p:nvSpPr>
        <p:spPr>
          <a:xfrm>
            <a:off x="304800" y="1600200"/>
            <a:ext cx="4191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13" name="内容占位符 12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3434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21" name="日期占位符 2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2020/10/14</a:t>
            </a:fld>
            <a:endParaRPr lang="zh-CN" alt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1" name="灯片编号占位符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标题 28"/>
          <p:cNvSpPr>
            <a:spLocks noGrp="1"/>
          </p:cNvSpPr>
          <p:nvPr>
            <p:ph type="title"/>
          </p:nvPr>
        </p:nvSpPr>
        <p:spPr>
          <a:xfrm>
            <a:off x="304800" y="5410200"/>
            <a:ext cx="8610600" cy="8826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"/>
          </p:nvPr>
        </p:nvSpPr>
        <p:spPr>
          <a:xfrm>
            <a:off x="281444" y="666750"/>
            <a:ext cx="4290556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25" name="文本占位符 24"/>
          <p:cNvSpPr>
            <a:spLocks noGrp="1"/>
          </p:cNvSpPr>
          <p:nvPr>
            <p:ph type="body" sz="half" idx="3"/>
          </p:nvPr>
        </p:nvSpPr>
        <p:spPr>
          <a:xfrm>
            <a:off x="4645025" y="666750"/>
            <a:ext cx="4292241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281444" y="1316037"/>
            <a:ext cx="4290556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28" name="内容占位符 27"/>
          <p:cNvSpPr>
            <a:spLocks noGrp="1"/>
          </p:cNvSpPr>
          <p:nvPr>
            <p:ph sz="quarter" idx="4"/>
          </p:nvPr>
        </p:nvSpPr>
        <p:spPr>
          <a:xfrm>
            <a:off x="4648730" y="1316037"/>
            <a:ext cx="4288536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2020/10/14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229600" y="6477000"/>
            <a:ext cx="762000" cy="246888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直接连接符 10"/>
          <p:cNvSpPr>
            <a:spLocks noChangeShapeType="1"/>
          </p:cNvSpPr>
          <p:nvPr/>
        </p:nvSpPr>
        <p:spPr bwMode="auto">
          <a:xfrm>
            <a:off x="514350" y="6019800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标题 29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841248"/>
          </a:xfrm>
        </p:spPr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2" name="日期占位符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2020/10/14</a:t>
            </a:fld>
            <a:endParaRPr lang="zh-CN" altLang="en-US"/>
          </a:p>
        </p:txBody>
      </p:sp>
      <p:sp>
        <p:nvSpPr>
          <p:cNvPr id="21" name="页脚占位符 2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2020/10/14</a:t>
            </a:fld>
            <a:endParaRPr lang="zh-CN" altLang="en-US"/>
          </a:p>
        </p:txBody>
      </p:sp>
      <p:sp>
        <p:nvSpPr>
          <p:cNvPr id="24" name="页脚占位符 2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直接连接符 7"/>
          <p:cNvSpPr>
            <a:spLocks noChangeShapeType="1"/>
          </p:cNvSpPr>
          <p:nvPr/>
        </p:nvSpPr>
        <p:spPr bwMode="auto">
          <a:xfrm>
            <a:off x="514350" y="5849117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457200" y="5486400"/>
            <a:ext cx="8458200" cy="520700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26" name="文本占位符 25"/>
          <p:cNvSpPr>
            <a:spLocks noGrp="1"/>
          </p:cNvSpPr>
          <p:nvPr>
            <p:ph type="body" idx="2"/>
          </p:nvPr>
        </p:nvSpPr>
        <p:spPr>
          <a:xfrm>
            <a:off x="457200" y="609600"/>
            <a:ext cx="3008313" cy="4800600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14" name="内容占位符 13"/>
          <p:cNvSpPr>
            <a:spLocks noGrp="1"/>
          </p:cNvSpPr>
          <p:nvPr>
            <p:ph sz="half" idx="1"/>
          </p:nvPr>
        </p:nvSpPr>
        <p:spPr>
          <a:xfrm>
            <a:off x="3575050" y="609600"/>
            <a:ext cx="5340350" cy="48006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25" name="日期占位符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2020/10/14</a:t>
            </a:fld>
            <a:endParaRPr lang="zh-CN" altLang="en-US"/>
          </a:p>
        </p:txBody>
      </p:sp>
      <p:sp>
        <p:nvSpPr>
          <p:cNvPr id="29" name="页脚占位符 2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图片占位符 12"/>
          <p:cNvSpPr>
            <a:spLocks noGrp="1"/>
          </p:cNvSpPr>
          <p:nvPr>
            <p:ph type="pic" idx="1"/>
          </p:nvPr>
        </p:nvSpPr>
        <p:spPr>
          <a:xfrm>
            <a:off x="3505200" y="616634"/>
            <a:ext cx="5029200" cy="3657600"/>
          </a:xfrm>
          <a:solidFill>
            <a:schemeClr val="bg1"/>
          </a:solidFill>
          <a:ln w="6350">
            <a:solidFill>
              <a:schemeClr val="accent1"/>
            </a:solidFill>
          </a:ln>
          <a:effectLst>
            <a:reflection blurRad="1000" stA="49000" endA="500" endPos="10000" dist="900" dir="5400000" sy="-90000" algn="bl" rotWithShape="0"/>
          </a:effectLst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CN" altLang="en-US" smtClean="0"/>
              <a:t>单击图标添加图片</a:t>
            </a:r>
            <a:endParaRPr kumimoji="0"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2020/10/14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1" name="灯片编号占位符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7" name="标题 16"/>
          <p:cNvSpPr>
            <a:spLocks noGrp="1"/>
          </p:cNvSpPr>
          <p:nvPr>
            <p:ph type="title"/>
          </p:nvPr>
        </p:nvSpPr>
        <p:spPr>
          <a:xfrm>
            <a:off x="381000" y="4993760"/>
            <a:ext cx="5867400" cy="522288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26" name="文本占位符 25"/>
          <p:cNvSpPr>
            <a:spLocks noGrp="1"/>
          </p:cNvSpPr>
          <p:nvPr>
            <p:ph type="body" sz="half" idx="2"/>
          </p:nvPr>
        </p:nvSpPr>
        <p:spPr>
          <a:xfrm>
            <a:off x="381000" y="5533218"/>
            <a:ext cx="5867400" cy="768350"/>
          </a:xfrm>
        </p:spPr>
        <p:txBody>
          <a:bodyPr lIns="109728" tIns="0"/>
          <a:lstStyle>
            <a:lvl1pPr marL="0" indent="0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2020/10/14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58000" y="549276"/>
            <a:ext cx="1828800" cy="5851525"/>
          </a:xfrm>
        </p:spPr>
        <p:txBody>
          <a:bodyPr vert="eaVert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549276"/>
            <a:ext cx="6248400" cy="5851525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2020/10/14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直接连接符 6"/>
          <p:cNvSpPr>
            <a:spLocks noChangeShapeType="1"/>
          </p:cNvSpPr>
          <p:nvPr/>
        </p:nvSpPr>
        <p:spPr bwMode="auto">
          <a:xfrm>
            <a:off x="514350" y="1050898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"/>
          </p:nvPr>
        </p:nvSpPr>
        <p:spPr>
          <a:xfrm>
            <a:off x="304800" y="1554162"/>
            <a:ext cx="86868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smtClean="0"/>
              <a:t>第二级</a:t>
            </a:r>
          </a:p>
          <a:p>
            <a:pPr lvl="2" eaLnBrk="1" latinLnBrk="0" hangingPunct="1"/>
            <a:r>
              <a:rPr kumimoji="0" lang="zh-CN" altLang="en-US" smtClean="0"/>
              <a:t>第三级</a:t>
            </a:r>
          </a:p>
          <a:p>
            <a:pPr lvl="3" eaLnBrk="1" latinLnBrk="0" hangingPunct="1"/>
            <a:r>
              <a:rPr kumimoji="0" lang="zh-CN" altLang="en-US" smtClean="0"/>
              <a:t>第四级</a:t>
            </a:r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11" name="日期占位符 10"/>
          <p:cNvSpPr>
            <a:spLocks noGrp="1"/>
          </p:cNvSpPr>
          <p:nvPr>
            <p:ph type="dt" sz="half" idx="2"/>
          </p:nvPr>
        </p:nvSpPr>
        <p:spPr>
          <a:xfrm>
            <a:off x="6477000" y="76200"/>
            <a:ext cx="2514600" cy="288925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2020/10/14</a:t>
            </a:fld>
            <a:endParaRPr lang="zh-CN" altLang="en-US"/>
          </a:p>
        </p:txBody>
      </p:sp>
      <p:sp>
        <p:nvSpPr>
          <p:cNvPr id="28" name="页脚占位符 27"/>
          <p:cNvSpPr>
            <a:spLocks noGrp="1"/>
          </p:cNvSpPr>
          <p:nvPr>
            <p:ph type="ftr" sz="quarter" idx="3"/>
          </p:nvPr>
        </p:nvSpPr>
        <p:spPr>
          <a:xfrm>
            <a:off x="3124200" y="76200"/>
            <a:ext cx="3352800" cy="28892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8229600" y="6477000"/>
            <a:ext cx="762000" cy="24447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标题占位符 9"/>
          <p:cNvSpPr>
            <a:spLocks noGrp="1"/>
          </p:cNvSpPr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9" name="直接连接符 8"/>
          <p:cNvSpPr>
            <a:spLocks noChangeShapeType="1"/>
          </p:cNvSpPr>
          <p:nvPr/>
        </p:nvSpPr>
        <p:spPr bwMode="auto">
          <a:xfrm>
            <a:off x="514350" y="1050898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直接连接符 11"/>
          <p:cNvSpPr>
            <a:spLocks noChangeShapeType="1"/>
          </p:cNvSpPr>
          <p:nvPr/>
        </p:nvSpPr>
        <p:spPr bwMode="auto">
          <a:xfrm>
            <a:off x="514350" y="1057986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600" kern="1200" cap="all" baseline="0">
          <a:solidFill>
            <a:schemeClr val="tx2"/>
          </a:solidFill>
          <a:effectLst>
            <a:reflection blurRad="12700" stA="48000" endA="300" endPos="55000" dir="5400000" sy="-90000" algn="bl" rotWithShape="0"/>
          </a:effectLst>
          <a:latin typeface="+mj-lt"/>
          <a:ea typeface="+mj-ea"/>
          <a:cs typeface="+mj-cs"/>
        </a:defRPr>
      </a:lvl1pPr>
    </p:titleStyle>
    <p:bodyStyle>
      <a:lvl1pPr marL="342900" indent="-3429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"/>
        <a:defRPr kumimoji="0" sz="32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"/>
        <a:defRPr kumimoji="0" sz="2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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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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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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"/>
        <a:defRPr kumimoji="0" sz="1600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260648"/>
            <a:ext cx="7344816" cy="59113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10136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412776"/>
            <a:ext cx="8694737" cy="3495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73139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925" y="19050"/>
            <a:ext cx="7294563" cy="681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下箭头标注 1"/>
          <p:cNvSpPr/>
          <p:nvPr/>
        </p:nvSpPr>
        <p:spPr>
          <a:xfrm>
            <a:off x="2915816" y="116632"/>
            <a:ext cx="2088232" cy="576064"/>
          </a:xfrm>
          <a:prstGeom prst="down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mtClean="0"/>
              <a:t>Generic</a:t>
            </a:r>
            <a:r>
              <a:rPr lang="zh-CN" altLang="en-US"/>
              <a:t>通用路由器</a:t>
            </a:r>
          </a:p>
        </p:txBody>
      </p:sp>
    </p:spTree>
    <p:extLst>
      <p:ext uri="{BB962C8B-B14F-4D97-AF65-F5344CB8AC3E}">
        <p14:creationId xmlns:p14="http://schemas.microsoft.com/office/powerpoint/2010/main" val="2522557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97910"/>
            <a:ext cx="3714750" cy="645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2" name="组合 1"/>
          <p:cNvGrpSpPr/>
          <p:nvPr/>
        </p:nvGrpSpPr>
        <p:grpSpPr>
          <a:xfrm>
            <a:off x="4499992" y="236010"/>
            <a:ext cx="3762375" cy="6418263"/>
            <a:chOff x="4499992" y="236010"/>
            <a:chExt cx="3762375" cy="6418263"/>
          </a:xfrm>
        </p:grpSpPr>
        <p:pic>
          <p:nvPicPr>
            <p:cNvPr id="5123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99992" y="236010"/>
              <a:ext cx="3762375" cy="64182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124" name="Picture 4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89585" y="236010"/>
              <a:ext cx="1000125" cy="3238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884971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764704"/>
            <a:ext cx="6761163" cy="4667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02709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39552" y="1556792"/>
            <a:ext cx="675049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mtClean="0"/>
              <a:t>专用</a:t>
            </a:r>
            <a:r>
              <a:rPr lang="en-US" altLang="zh-CN" smtClean="0"/>
              <a:t>ip</a:t>
            </a:r>
            <a:r>
              <a:rPr lang="zh-CN" altLang="en-US" smtClean="0"/>
              <a:t>地址</a:t>
            </a:r>
            <a:endParaRPr lang="en-US" altLang="zh-CN" smtClean="0"/>
          </a:p>
          <a:p>
            <a:r>
              <a:rPr lang="en-US" altLang="zh-CN" smtClean="0"/>
              <a:t>A</a:t>
            </a:r>
            <a:r>
              <a:rPr lang="zh-CN" altLang="en-US" smtClean="0"/>
              <a:t>类</a:t>
            </a:r>
            <a:r>
              <a:rPr lang="en-US" altLang="zh-CN" smtClean="0"/>
              <a:t>10.0.0.0-</a:t>
            </a:r>
            <a:r>
              <a:rPr lang="en-US" altLang="zh-CN"/>
              <a:t>-</a:t>
            </a:r>
            <a:r>
              <a:rPr lang="en-US" altLang="zh-CN" smtClean="0"/>
              <a:t>10.255.255.255</a:t>
            </a:r>
          </a:p>
          <a:p>
            <a:r>
              <a:rPr lang="en-US" altLang="zh-CN" smtClean="0"/>
              <a:t>B</a:t>
            </a:r>
            <a:r>
              <a:rPr lang="zh-CN" altLang="en-US"/>
              <a:t>类 </a:t>
            </a:r>
            <a:r>
              <a:rPr lang="en-US" altLang="zh-CN"/>
              <a:t>172.16.0.0--</a:t>
            </a:r>
            <a:r>
              <a:rPr lang="en-US" altLang="zh-CN" smtClean="0"/>
              <a:t>172.31.255.255</a:t>
            </a:r>
          </a:p>
          <a:p>
            <a:r>
              <a:rPr lang="en-US" altLang="zh-CN" smtClean="0"/>
              <a:t>C</a:t>
            </a:r>
            <a:r>
              <a:rPr lang="zh-CN" altLang="en-US"/>
              <a:t>类 </a:t>
            </a:r>
            <a:r>
              <a:rPr lang="en-US" altLang="zh-CN"/>
              <a:t>192.168.0.0--192.168.255.255</a:t>
            </a:r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683568" y="3140968"/>
            <a:ext cx="583264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/>
              <a:t> </a:t>
            </a:r>
            <a:r>
              <a:rPr lang="en-US" altLang="zh-CN"/>
              <a:t>"ip router &lt;</a:t>
            </a:r>
            <a:r>
              <a:rPr lang="zh-CN" altLang="en-US"/>
              <a:t>目的网段</a:t>
            </a:r>
            <a:r>
              <a:rPr lang="en-US" altLang="zh-CN"/>
              <a:t>&gt; &lt;</a:t>
            </a:r>
            <a:r>
              <a:rPr lang="zh-CN" altLang="en-US"/>
              <a:t>目的网段掩码</a:t>
            </a:r>
            <a:r>
              <a:rPr lang="en-US" altLang="zh-CN"/>
              <a:t>&gt;&lt;</a:t>
            </a:r>
            <a:r>
              <a:rPr lang="zh-CN" altLang="en-US"/>
              <a:t>下一跳</a:t>
            </a:r>
            <a:r>
              <a:rPr lang="en-US" altLang="zh-CN"/>
              <a:t>&gt;"</a:t>
            </a:r>
          </a:p>
          <a:p>
            <a:r>
              <a:rPr lang="zh-CN" altLang="en-US"/>
              <a:t>是配置静态路由的通用命令，目的网段</a:t>
            </a:r>
            <a:r>
              <a:rPr lang="zh-CN" altLang="en-US" smtClean="0"/>
              <a:t>是所</a:t>
            </a:r>
            <a:r>
              <a:rPr lang="zh-CN" altLang="en-US"/>
              <a:t>要到达的对方的网段；目的网段掩码就是该目的网段的子网掩码</a:t>
            </a:r>
            <a:r>
              <a:rPr lang="zh-CN" altLang="en-US" smtClean="0"/>
              <a:t>；下</a:t>
            </a:r>
            <a:r>
              <a:rPr lang="zh-CN" altLang="en-US"/>
              <a:t>一</a:t>
            </a:r>
            <a:r>
              <a:rPr lang="zh-CN" altLang="en-US" smtClean="0"/>
              <a:t>跳是</a:t>
            </a:r>
            <a:r>
              <a:rPr lang="zh-CN" altLang="en-US"/>
              <a:t>下一台路由器的入口。</a:t>
            </a:r>
          </a:p>
        </p:txBody>
      </p:sp>
      <p:sp>
        <p:nvSpPr>
          <p:cNvPr id="4" name="矩形 3"/>
          <p:cNvSpPr/>
          <p:nvPr/>
        </p:nvSpPr>
        <p:spPr>
          <a:xfrm>
            <a:off x="683568" y="4581128"/>
            <a:ext cx="72008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/>
              <a:t>Ruijie(config)# ip nat inside source static 192.168.1.6 200.10.10.2</a:t>
            </a:r>
          </a:p>
          <a:p>
            <a:r>
              <a:rPr lang="zh-CN" altLang="en-US"/>
              <a:t>本例定义了一个内部源地址静态</a:t>
            </a:r>
            <a:r>
              <a:rPr lang="en-US" altLang="zh-CN"/>
              <a:t>NAT</a:t>
            </a:r>
            <a:r>
              <a:rPr lang="zh-CN" altLang="en-US"/>
              <a:t>，内部本地地址为</a:t>
            </a:r>
            <a:r>
              <a:rPr lang="en-US" altLang="zh-CN"/>
              <a:t>192.168.1.6</a:t>
            </a:r>
            <a:r>
              <a:rPr lang="zh-CN" altLang="en-US"/>
              <a:t>，内部全局地址为</a:t>
            </a:r>
            <a:r>
              <a:rPr lang="en-US" altLang="zh-CN"/>
              <a:t>200.10.10.2</a:t>
            </a:r>
            <a:r>
              <a:rPr lang="zh-CN" altLang="en-US"/>
              <a:t>。外网用户只能用</a:t>
            </a:r>
            <a:r>
              <a:rPr lang="en-US" altLang="zh-CN"/>
              <a:t>200.10.10.2</a:t>
            </a:r>
            <a:r>
              <a:rPr lang="zh-CN" altLang="en-US"/>
              <a:t>访问这台主机，内网用户只能用</a:t>
            </a:r>
            <a:r>
              <a:rPr lang="en-US" altLang="zh-CN"/>
              <a:t>192.168.1.6</a:t>
            </a:r>
            <a:r>
              <a:rPr lang="zh-CN" altLang="en-US"/>
              <a:t>访问这台主机</a:t>
            </a:r>
          </a:p>
        </p:txBody>
      </p:sp>
    </p:spTree>
    <p:extLst>
      <p:ext uri="{BB962C8B-B14F-4D97-AF65-F5344CB8AC3E}">
        <p14:creationId xmlns:p14="http://schemas.microsoft.com/office/powerpoint/2010/main" val="3475485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827584" y="478559"/>
            <a:ext cx="7398568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/>
              <a:t>公司希望在路由器上配置</a:t>
            </a:r>
            <a:r>
              <a:rPr lang="en-US" altLang="zh-CN"/>
              <a:t>NAT</a:t>
            </a:r>
            <a:r>
              <a:rPr lang="zh-CN" altLang="en-US"/>
              <a:t>功能，让内网中的用户使用</a:t>
            </a:r>
            <a:r>
              <a:rPr lang="en-US" altLang="zh-CN"/>
              <a:t>NAT</a:t>
            </a:r>
            <a:r>
              <a:rPr lang="zh-CN" altLang="en-US"/>
              <a:t>访问外</a:t>
            </a:r>
            <a:r>
              <a:rPr lang="zh-CN" altLang="en-US"/>
              <a:t>网</a:t>
            </a:r>
            <a:r>
              <a:rPr lang="zh-CN" altLang="en-US" smtClean="0"/>
              <a:t>。路由器</a:t>
            </a:r>
            <a:r>
              <a:rPr lang="zh-CN" altLang="en-US"/>
              <a:t>上已经配置了外网接口</a:t>
            </a:r>
            <a:r>
              <a:rPr lang="en-US" altLang="zh-CN"/>
              <a:t>IP</a:t>
            </a:r>
            <a:r>
              <a:rPr lang="zh-CN" altLang="en-US"/>
              <a:t>为</a:t>
            </a:r>
            <a:r>
              <a:rPr lang="en-US" altLang="zh-CN"/>
              <a:t>61.51.3.103(</a:t>
            </a:r>
            <a:r>
              <a:rPr lang="zh-CN" altLang="en-US"/>
              <a:t>公网</a:t>
            </a:r>
            <a:r>
              <a:rPr lang="en-US" altLang="zh-CN"/>
              <a:t>IP</a:t>
            </a:r>
            <a:r>
              <a:rPr lang="zh-CN" altLang="en-US"/>
              <a:t>地址），内网接口</a:t>
            </a:r>
            <a:r>
              <a:rPr lang="en-US" altLang="zh-CN"/>
              <a:t>IP</a:t>
            </a:r>
            <a:r>
              <a:rPr lang="zh-CN" altLang="en-US"/>
              <a:t>地址为</a:t>
            </a:r>
            <a:r>
              <a:rPr lang="en-US" altLang="zh-CN"/>
              <a:t>10.83.91.254</a:t>
            </a:r>
            <a:r>
              <a:rPr lang="zh-CN" altLang="en-US"/>
              <a:t>。</a:t>
            </a:r>
            <a:r>
              <a:rPr lang="en-US" altLang="zh-CN"/>
              <a:t>NAT</a:t>
            </a:r>
            <a:r>
              <a:rPr lang="zh-CN" altLang="en-US"/>
              <a:t>配置</a:t>
            </a:r>
            <a:r>
              <a:rPr lang="zh-CN" altLang="en-US"/>
              <a:t>命令</a:t>
            </a:r>
            <a:r>
              <a:rPr lang="zh-CN" altLang="en-US" smtClean="0"/>
              <a:t>如下。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   </a:t>
            </a:r>
            <a:r>
              <a:rPr lang="en-US" altLang="zh-CN"/>
              <a:t>ip nat pool xxzx 61.51.3.103 61.51.3.103 netmask 255.255.255.252</a:t>
            </a:r>
          </a:p>
          <a:p>
            <a:endParaRPr lang="en-US" altLang="zh-CN"/>
          </a:p>
          <a:p>
            <a:r>
              <a:rPr lang="en-US" altLang="zh-CN"/>
              <a:t>   </a:t>
            </a:r>
            <a:r>
              <a:rPr lang="zh-CN" altLang="en-US"/>
              <a:t>定义一个外网地址池名为</a:t>
            </a:r>
            <a:r>
              <a:rPr lang="en-US" altLang="zh-CN"/>
              <a:t>xxzx</a:t>
            </a:r>
            <a:r>
              <a:rPr lang="zh-CN" altLang="en-US"/>
              <a:t>，头一个</a:t>
            </a:r>
            <a:r>
              <a:rPr lang="en-US" altLang="zh-CN"/>
              <a:t>IP</a:t>
            </a:r>
            <a:r>
              <a:rPr lang="zh-CN" altLang="en-US"/>
              <a:t>为地址池起始地址，后一个</a:t>
            </a:r>
            <a:r>
              <a:rPr lang="en-US" altLang="zh-CN"/>
              <a:t>IP</a:t>
            </a:r>
            <a:r>
              <a:rPr lang="zh-CN" altLang="en-US"/>
              <a:t>为地址池的终止地址。如果公网</a:t>
            </a:r>
            <a:r>
              <a:rPr lang="en-US" altLang="zh-CN"/>
              <a:t>IP</a:t>
            </a:r>
            <a:r>
              <a:rPr lang="zh-CN" altLang="en-US"/>
              <a:t>地址不够用的话，可以都用同一个</a:t>
            </a:r>
            <a:r>
              <a:rPr lang="en-US" altLang="zh-CN"/>
              <a:t>IP</a:t>
            </a:r>
            <a:r>
              <a:rPr lang="zh-CN" altLang="en-US"/>
              <a:t>地址。</a:t>
            </a:r>
            <a:r>
              <a:rPr lang="en-US" altLang="zh-CN"/>
              <a:t>NETMASK</a:t>
            </a:r>
            <a:r>
              <a:rPr lang="zh-CN" altLang="en-US"/>
              <a:t>后是子网掩码。</a:t>
            </a:r>
          </a:p>
          <a:p>
            <a:endParaRPr lang="zh-CN" altLang="en-US"/>
          </a:p>
          <a:p>
            <a:r>
              <a:rPr lang="zh-CN" altLang="en-US"/>
              <a:t>   </a:t>
            </a:r>
            <a:r>
              <a:rPr lang="en-US" altLang="zh-CN"/>
              <a:t>access-list 1 permit 10.83.91.0 0.0.1.255</a:t>
            </a:r>
          </a:p>
          <a:p>
            <a:endParaRPr lang="en-US" altLang="zh-CN"/>
          </a:p>
          <a:p>
            <a:r>
              <a:rPr lang="en-US" altLang="zh-CN"/>
              <a:t>   </a:t>
            </a:r>
            <a:r>
              <a:rPr lang="zh-CN" altLang="en-US"/>
              <a:t>定义容许</a:t>
            </a:r>
            <a:r>
              <a:rPr lang="en-US" altLang="zh-CN"/>
              <a:t>NAT</a:t>
            </a:r>
            <a:r>
              <a:rPr lang="zh-CN" altLang="en-US"/>
              <a:t>的网段，同样采用反向掩码进行描述，</a:t>
            </a:r>
            <a:r>
              <a:rPr lang="en-US" altLang="zh-CN"/>
              <a:t>0.0.1.255</a:t>
            </a:r>
            <a:r>
              <a:rPr lang="zh-CN" altLang="en-US"/>
              <a:t>代表的子网掩码</a:t>
            </a:r>
            <a:r>
              <a:rPr lang="en-US" altLang="zh-CN"/>
              <a:t>255.255.255.0</a:t>
            </a:r>
            <a:r>
              <a:rPr lang="zh-CN" altLang="en-US"/>
              <a:t>。</a:t>
            </a:r>
          </a:p>
          <a:p>
            <a:r>
              <a:rPr lang="zh-CN" altLang="en-US"/>
              <a:t>   </a:t>
            </a:r>
            <a:r>
              <a:rPr lang="en-US" altLang="zh-CN"/>
              <a:t>ip nat inside source list 1 pool xxzx overload</a:t>
            </a:r>
          </a:p>
          <a:p>
            <a:endParaRPr lang="en-US" altLang="zh-CN"/>
          </a:p>
          <a:p>
            <a:r>
              <a:rPr lang="en-US" altLang="zh-CN"/>
              <a:t>   </a:t>
            </a:r>
            <a:r>
              <a:rPr lang="zh-CN" altLang="en-US"/>
              <a:t>启用</a:t>
            </a:r>
            <a:r>
              <a:rPr lang="en-US" altLang="zh-CN"/>
              <a:t>NAT</a:t>
            </a:r>
            <a:r>
              <a:rPr lang="zh-CN" altLang="en-US"/>
              <a:t>，容许</a:t>
            </a:r>
            <a:r>
              <a:rPr lang="en-US" altLang="zh-CN"/>
              <a:t>NAT</a:t>
            </a:r>
            <a:r>
              <a:rPr lang="zh-CN" altLang="en-US"/>
              <a:t>的地址为</a:t>
            </a:r>
            <a:r>
              <a:rPr lang="en-US" altLang="zh-CN"/>
              <a:t>ACL 1</a:t>
            </a:r>
            <a:r>
              <a:rPr lang="zh-CN" altLang="en-US"/>
              <a:t>中定义的，而转换后使用的</a:t>
            </a:r>
            <a:r>
              <a:rPr lang="en-US" altLang="zh-CN"/>
              <a:t>IP</a:t>
            </a:r>
            <a:r>
              <a:rPr lang="zh-CN" altLang="en-US"/>
              <a:t>地址为</a:t>
            </a:r>
            <a:r>
              <a:rPr lang="en-US" altLang="zh-CN"/>
              <a:t>XXZX</a:t>
            </a:r>
            <a:r>
              <a:rPr lang="zh-CN" altLang="en-US"/>
              <a:t>地址池中定义的，最后的</a:t>
            </a:r>
            <a:r>
              <a:rPr lang="en-US" altLang="zh-CN"/>
              <a:t>overload</a:t>
            </a:r>
            <a:r>
              <a:rPr lang="zh-CN" altLang="en-US"/>
              <a:t>表示所有内网计算机都使用同一个外网</a:t>
            </a:r>
            <a:r>
              <a:rPr lang="en-US" altLang="zh-CN"/>
              <a:t>IP</a:t>
            </a:r>
            <a:r>
              <a:rPr lang="zh-CN" altLang="en-US"/>
              <a:t>地址，多台机器复用一个 </a:t>
            </a:r>
            <a:r>
              <a:rPr lang="en-US" altLang="zh-CN"/>
              <a:t>IP</a:t>
            </a:r>
            <a:r>
              <a:rPr lang="zh-CN" altLang="en-US"/>
              <a:t>。然后进入内网接口输入</a:t>
            </a:r>
            <a:r>
              <a:rPr lang="en-US" altLang="zh-CN"/>
              <a:t>ip nat inside</a:t>
            </a:r>
            <a:r>
              <a:rPr lang="zh-CN" altLang="en-US"/>
              <a:t>进入外网接口输入</a:t>
            </a:r>
            <a:r>
              <a:rPr lang="en-US" altLang="zh-CN"/>
              <a:t>ip nat outside</a:t>
            </a:r>
            <a:r>
              <a:rPr lang="zh-CN" altLang="en-US"/>
              <a:t>命令。经过上面五步命令就完成了全部的</a:t>
            </a:r>
            <a:r>
              <a:rPr lang="en-US" altLang="zh-CN"/>
              <a:t>NAT</a:t>
            </a:r>
            <a:r>
              <a:rPr lang="zh-CN" altLang="en-US"/>
              <a:t>配置工作。</a:t>
            </a:r>
          </a:p>
        </p:txBody>
      </p:sp>
    </p:spTree>
    <p:extLst>
      <p:ext uri="{BB962C8B-B14F-4D97-AF65-F5344CB8AC3E}">
        <p14:creationId xmlns:p14="http://schemas.microsoft.com/office/powerpoint/2010/main" val="211691338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跋涉">
  <a:themeElements>
    <a:clrScheme name="跋涉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跋涉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跋涉">
      <a:fillStyleLst>
        <a:solidFill>
          <a:schemeClr val="phClr"/>
        </a:solidFill>
        <a:gradFill rotWithShape="1">
          <a:gsLst>
            <a:gs pos="0">
              <a:schemeClr val="phClr">
                <a:tint val="30000"/>
                <a:satMod val="250000"/>
              </a:schemeClr>
            </a:gs>
            <a:gs pos="72000">
              <a:schemeClr val="phClr">
                <a:tint val="75000"/>
                <a:satMod val="210000"/>
              </a:schemeClr>
            </a:gs>
            <a:gs pos="100000">
              <a:schemeClr val="phClr">
                <a:tint val="85000"/>
                <a:satMod val="21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5000"/>
                <a:shade val="85000"/>
                <a:satMod val="230000"/>
              </a:schemeClr>
            </a:gs>
            <a:gs pos="25000">
              <a:schemeClr val="phClr">
                <a:tint val="90000"/>
                <a:shade val="70000"/>
                <a:satMod val="220000"/>
              </a:schemeClr>
            </a:gs>
            <a:gs pos="50000">
              <a:schemeClr val="phClr">
                <a:tint val="90000"/>
                <a:shade val="58000"/>
                <a:satMod val="225000"/>
              </a:schemeClr>
            </a:gs>
            <a:gs pos="65000">
              <a:schemeClr val="phClr">
                <a:tint val="90000"/>
                <a:shade val="58000"/>
                <a:satMod val="225000"/>
              </a:schemeClr>
            </a:gs>
            <a:gs pos="80000">
              <a:schemeClr val="phClr">
                <a:tint val="90000"/>
                <a:shade val="69000"/>
                <a:satMod val="220000"/>
              </a:schemeClr>
            </a:gs>
            <a:gs pos="100000">
              <a:schemeClr val="phClr">
                <a:tint val="77000"/>
                <a:shade val="80000"/>
                <a:satMod val="230000"/>
              </a:schemeClr>
            </a:gs>
          </a:gsLst>
          <a:lin ang="5400000" scaled="1"/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0000" h="10000"/>
          </a:sp3d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bliqueTopLeft" fov="600000">
              <a:rot lat="0" lon="0" rev="0"/>
            </a:camera>
            <a:lightRig rig="balanced" dir="t">
              <a:rot lat="0" lon="0" rev="19200000"/>
            </a:lightRig>
          </a:scene3d>
          <a:sp3d contourW="12700" prstMaterial="matte">
            <a:bevelT w="60000" h="50800"/>
            <a:contourClr>
              <a:schemeClr val="phClr">
                <a:shade val="60000"/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05000"/>
              </a:schemeClr>
            </a:duotone>
          </a:blip>
          <a:tile tx="0" ty="0" sx="95000" sy="95000" flip="none" algn="t"/>
        </a:blipFill>
        <a:blipFill>
          <a:blip xmlns:r="http://schemas.openxmlformats.org/officeDocument/2006/relationships" r:embed="rId2">
            <a:duotone>
              <a:schemeClr val="phClr">
                <a:shade val="30000"/>
                <a:satMod val="455000"/>
              </a:schemeClr>
              <a:schemeClr val="phClr">
                <a:tint val="95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Trek</Template>
  <TotalTime>93</TotalTime>
  <Words>381</Words>
  <Application>Microsoft Office PowerPoint</Application>
  <PresentationFormat>全屏显示(4:3)</PresentationFormat>
  <Paragraphs>21</Paragraphs>
  <Slides>7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8" baseType="lpstr">
      <vt:lpstr>跋涉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微软用户</cp:lastModifiedBy>
  <cp:revision>8</cp:revision>
  <dcterms:created xsi:type="dcterms:W3CDTF">2020-10-13T12:43:21Z</dcterms:created>
  <dcterms:modified xsi:type="dcterms:W3CDTF">2020-10-14T08:32:36Z</dcterms:modified>
</cp:coreProperties>
</file>