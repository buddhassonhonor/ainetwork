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6"/>
  </p:notesMasterIdLst>
  <p:sldIdLst>
    <p:sldId id="257" r:id="rId4"/>
    <p:sldId id="261" r:id="rId5"/>
    <p:sldId id="262" r:id="rId6"/>
    <p:sldId id="258" r:id="rId7"/>
    <p:sldId id="264" r:id="rId8"/>
    <p:sldId id="259" r:id="rId9"/>
    <p:sldId id="265" r:id="rId10"/>
    <p:sldId id="266" r:id="rId11"/>
    <p:sldId id="267" r:id="rId12"/>
    <p:sldId id="270" r:id="rId13"/>
    <p:sldId id="271" r:id="rId14"/>
    <p:sldId id="27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8F2A0-41B9-4165-86FC-DFDCEB028898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59057-B36A-4A31-9158-3F05B7DFE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52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59057-B36A-4A31-9158-3F05B7DFE8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71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EE2109FA-E3B5-4FF9-B884-8CA73213FE73}" type="slidenum">
              <a:rPr lang="en-US" altLang="zh-CN" sz="1200">
                <a:solidFill>
                  <a:prstClr val="black"/>
                </a:solidFill>
                <a:latin typeface="Arial" charset="0"/>
              </a:rPr>
              <a:pPr eaLnBrk="1" hangingPunct="1"/>
              <a:t>2</a:t>
            </a:fld>
            <a:endParaRPr lang="en-US" altLang="zh-CN" sz="120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93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216554D7-BED4-45E4-922D-0A8C06437270}" type="slidenum">
              <a:rPr lang="en-US" altLang="zh-CN" sz="1200">
                <a:solidFill>
                  <a:prstClr val="black"/>
                </a:solidFill>
                <a:latin typeface="Arial" charset="0"/>
              </a:rPr>
              <a:pPr eaLnBrk="1" hangingPunct="1"/>
              <a:t>3</a:t>
            </a:fld>
            <a:endParaRPr lang="en-US" altLang="zh-CN" sz="120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92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</p:grpSp>
      <p:sp>
        <p:nvSpPr>
          <p:cNvPr id="25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5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AE94CA3-7F37-4EFC-B230-52F065F1F8E5}" type="slidenum">
              <a:rPr lang="en-US" altLang="zh-CN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10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65941-FB39-40FD-88D3-9385954042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373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F8B44-980A-492D-9343-B2DE4658371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314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42988" y="177323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5388" y="177323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49D2D-AF21-4206-B4D4-FD248A388EF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1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FE669-AAD1-4CCB-96A0-E2FDF99A7F8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680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31646-D1AE-4DFA-AE61-BB3F3537375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1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84C3-541B-41E6-B0F0-64AB0DBE87E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43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5780A-36E3-4399-9B81-8367AFDE574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6545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9B1FC-03AD-4862-B5A1-8C81405EA29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897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ABDE4-0F4B-42D6-AA66-A7E2DBF7BE2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987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69125" y="214313"/>
            <a:ext cx="1974850" cy="5673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42988" y="214313"/>
            <a:ext cx="5773737" cy="56737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DAF13-B0BC-435E-AFC4-8580585A50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907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</p:grpSp>
      <p:sp>
        <p:nvSpPr>
          <p:cNvPr id="25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5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AE94CA3-7F37-4EFC-B230-52F065F1F8E5}" type="slidenum">
              <a:rPr lang="en-US" altLang="zh-CN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238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65941-FB39-40FD-88D3-9385954042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8436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F8B44-980A-492D-9343-B2DE4658371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940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42988" y="177323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5388" y="177323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49D2D-AF21-4206-B4D4-FD248A388EF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427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FE669-AAD1-4CCB-96A0-E2FDF99A7F8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314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31646-D1AE-4DFA-AE61-BB3F3537375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4024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84C3-541B-41E6-B0F0-64AB0DBE87E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6586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5780A-36E3-4399-9B81-8367AFDE574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3137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9B1FC-03AD-4862-B5A1-8C81405EA29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040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ABDE4-0F4B-42D6-AA66-A7E2DBF7BE2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3196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69125" y="214313"/>
            <a:ext cx="1974850" cy="5673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42988" y="214313"/>
            <a:ext cx="5773737" cy="56737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DAF13-B0BC-435E-AFC4-8580585A50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01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2988" y="17732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FD39A7-5A84-4D63-B568-DC64DC17070C}" type="slidenum">
              <a:rPr lang="en-US" altLang="zh-CN">
                <a:solidFill>
                  <a:srgbClr val="000000"/>
                </a:solidFill>
                <a:latin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65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Tahoma" pitchFamily="34" charset="0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Tahoma" pitchFamily="34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2988" y="17732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FD39A7-5A84-4D63-B568-DC64DC17070C}" type="slidenum">
              <a:rPr lang="en-US" altLang="zh-CN">
                <a:solidFill>
                  <a:srgbClr val="000000"/>
                </a:solidFill>
                <a:latin typeface="Tahom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3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Tahoma" pitchFamily="34" charset="0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Tahoma" pitchFamily="34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476672"/>
            <a:ext cx="61926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DHCP</a:t>
            </a:r>
            <a:r>
              <a:rPr lang="zh-CN" altLang="en-US" sz="2400"/>
              <a:t>（</a:t>
            </a:r>
            <a:r>
              <a:rPr lang="en-US" altLang="zh-CN" sz="2400"/>
              <a:t>Dynamic Host Configuration Protocol</a:t>
            </a:r>
            <a:r>
              <a:rPr lang="zh-CN" altLang="en-US" sz="2400"/>
              <a:t>，动态主机配置协议）通常被应用在大型的局域网络环境中，主要作用是集中的管理、分配</a:t>
            </a:r>
            <a:r>
              <a:rPr lang="en-US" altLang="zh-CN" sz="2400"/>
              <a:t>IP</a:t>
            </a:r>
            <a:r>
              <a:rPr lang="zh-CN" altLang="en-US" sz="2400"/>
              <a:t>地址，使网络环境中的主机动态的获得</a:t>
            </a:r>
            <a:r>
              <a:rPr lang="en-US" altLang="zh-CN" sz="2400">
                <a:solidFill>
                  <a:srgbClr val="FF0000"/>
                </a:solidFill>
              </a:rPr>
              <a:t>IP</a:t>
            </a:r>
            <a:r>
              <a:rPr lang="zh-CN" altLang="en-US" sz="2400">
                <a:solidFill>
                  <a:srgbClr val="FF0000"/>
                </a:solidFill>
              </a:rPr>
              <a:t>地址、</a:t>
            </a:r>
            <a:r>
              <a:rPr lang="en-US" altLang="zh-CN" sz="2400">
                <a:solidFill>
                  <a:srgbClr val="FF0000"/>
                </a:solidFill>
              </a:rPr>
              <a:t>Gateway</a:t>
            </a:r>
            <a:r>
              <a:rPr lang="zh-CN" altLang="en-US" sz="2400">
                <a:solidFill>
                  <a:srgbClr val="FF0000"/>
                </a:solidFill>
              </a:rPr>
              <a:t>地址、</a:t>
            </a:r>
            <a:r>
              <a:rPr lang="en-US" altLang="zh-CN" sz="2400">
                <a:solidFill>
                  <a:srgbClr val="FF0000"/>
                </a:solidFill>
              </a:rPr>
              <a:t>DNS</a:t>
            </a:r>
            <a:r>
              <a:rPr lang="zh-CN" altLang="en-US" sz="2400">
                <a:solidFill>
                  <a:srgbClr val="FF0000"/>
                </a:solidFill>
              </a:rPr>
              <a:t>服务器地址</a:t>
            </a:r>
            <a:r>
              <a:rPr lang="zh-CN" altLang="en-US" sz="2400"/>
              <a:t>等信息，并能够提升地址的使用率。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3284984"/>
            <a:ext cx="66247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/>
              <a:t>需要 </a:t>
            </a:r>
            <a:r>
              <a:rPr lang="en-US" altLang="zh-CN" sz="2400"/>
              <a:t>IP </a:t>
            </a:r>
            <a:r>
              <a:rPr lang="zh-CN" altLang="en-US" sz="2400"/>
              <a:t>地址的主机在启动时就向 </a:t>
            </a:r>
            <a:r>
              <a:rPr lang="en-US" altLang="zh-CN" sz="2400"/>
              <a:t>DHCP </a:t>
            </a:r>
            <a:r>
              <a:rPr lang="zh-CN" altLang="en-US" sz="2400"/>
              <a:t>服务器</a:t>
            </a:r>
            <a:r>
              <a:rPr lang="zh-CN" altLang="en-US" sz="2400">
                <a:solidFill>
                  <a:srgbClr val="FF0000"/>
                </a:solidFill>
              </a:rPr>
              <a:t>广播</a:t>
            </a:r>
            <a:r>
              <a:rPr lang="zh-CN" altLang="en-US" sz="2400"/>
              <a:t>发送发现报文（</a:t>
            </a:r>
            <a:r>
              <a:rPr lang="en-US" altLang="zh-CN" sz="2400"/>
              <a:t>DHCPDISCOVER</a:t>
            </a:r>
            <a:r>
              <a:rPr lang="zh-CN" altLang="en-US" sz="2400"/>
              <a:t>），这时该主机就成为 </a:t>
            </a:r>
            <a:r>
              <a:rPr lang="en-US" altLang="zh-CN" sz="2400"/>
              <a:t>DHCP </a:t>
            </a:r>
            <a:r>
              <a:rPr lang="zh-CN" altLang="en-US" sz="2400"/>
              <a:t>客户。</a:t>
            </a:r>
          </a:p>
          <a:p>
            <a:r>
              <a:rPr lang="zh-CN" altLang="en-US" sz="2400"/>
              <a:t>本地网络上所有主机都能收到此广播报文，但只有 </a:t>
            </a:r>
            <a:r>
              <a:rPr lang="en-US" altLang="zh-CN" sz="2400"/>
              <a:t>DHCP </a:t>
            </a:r>
            <a:r>
              <a:rPr lang="zh-CN" altLang="en-US" sz="2400"/>
              <a:t>服务器才回答此广播报文。</a:t>
            </a:r>
          </a:p>
        </p:txBody>
      </p:sp>
    </p:spTree>
    <p:extLst>
      <p:ext uri="{BB962C8B-B14F-4D97-AF65-F5344CB8AC3E}">
        <p14:creationId xmlns:p14="http://schemas.microsoft.com/office/powerpoint/2010/main" val="28058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DHCP </a:t>
            </a:r>
            <a:r>
              <a:rPr lang="zh-CN" altLang="en-US"/>
              <a:t>中继代理</a:t>
            </a:r>
            <a:br>
              <a:rPr lang="zh-CN" altLang="en-US"/>
            </a:br>
            <a:r>
              <a:rPr lang="zh-CN" altLang="en-US"/>
              <a:t>以单播方式转发发现报文 </a:t>
            </a:r>
          </a:p>
        </p:txBody>
      </p:sp>
      <p:sp>
        <p:nvSpPr>
          <p:cNvPr id="138243" name="Line 5"/>
          <p:cNvSpPr>
            <a:spLocks noChangeShapeType="1"/>
          </p:cNvSpPr>
          <p:nvPr/>
        </p:nvSpPr>
        <p:spPr bwMode="auto">
          <a:xfrm>
            <a:off x="1225550" y="3419475"/>
            <a:ext cx="0" cy="4222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38244" name="Line 6"/>
          <p:cNvSpPr>
            <a:spLocks noChangeShapeType="1"/>
          </p:cNvSpPr>
          <p:nvPr/>
        </p:nvSpPr>
        <p:spPr bwMode="auto">
          <a:xfrm flipV="1">
            <a:off x="3516313" y="4264025"/>
            <a:ext cx="486568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pic>
        <p:nvPicPr>
          <p:cNvPr id="138245" name="Picture 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013" y="3103563"/>
            <a:ext cx="871537" cy="159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8246" name="Text Box 8"/>
          <p:cNvSpPr txBox="1">
            <a:spLocks noChangeArrowheads="1"/>
          </p:cNvSpPr>
          <p:nvPr/>
        </p:nvSpPr>
        <p:spPr bwMode="auto">
          <a:xfrm>
            <a:off x="0" y="20605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主机</a:t>
            </a:r>
          </a:p>
        </p:txBody>
      </p:sp>
      <p:sp>
        <p:nvSpPr>
          <p:cNvPr id="138247" name="Text Box 9"/>
          <p:cNvSpPr txBox="1">
            <a:spLocks noChangeArrowheads="1"/>
          </p:cNvSpPr>
          <p:nvPr/>
        </p:nvSpPr>
        <p:spPr bwMode="auto">
          <a:xfrm>
            <a:off x="8162925" y="2476500"/>
            <a:ext cx="946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DHCP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服务器</a:t>
            </a:r>
          </a:p>
        </p:txBody>
      </p:sp>
      <p:grpSp>
        <p:nvGrpSpPr>
          <p:cNvPr id="138248" name="Group 10"/>
          <p:cNvGrpSpPr>
            <a:grpSpLocks/>
          </p:cNvGrpSpPr>
          <p:nvPr/>
        </p:nvGrpSpPr>
        <p:grpSpPr bwMode="auto">
          <a:xfrm>
            <a:off x="6283325" y="3524250"/>
            <a:ext cx="1465263" cy="1411288"/>
            <a:chOff x="3204" y="2684"/>
            <a:chExt cx="1080" cy="854"/>
          </a:xfrm>
        </p:grpSpPr>
        <p:sp>
          <p:nvSpPr>
            <p:cNvPr id="138268" name="Oval 11"/>
            <p:cNvSpPr>
              <a:spLocks noChangeArrowheads="1"/>
            </p:cNvSpPr>
            <p:nvPr/>
          </p:nvSpPr>
          <p:spPr bwMode="auto">
            <a:xfrm>
              <a:off x="3457" y="2684"/>
              <a:ext cx="464" cy="228"/>
            </a:xfrm>
            <a:prstGeom prst="ellipse">
              <a:avLst/>
            </a:prstGeom>
            <a:solidFill>
              <a:srgbClr val="EAEAEA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69" name="Freeform 12"/>
            <p:cNvSpPr>
              <a:spLocks/>
            </p:cNvSpPr>
            <p:nvPr/>
          </p:nvSpPr>
          <p:spPr bwMode="auto">
            <a:xfrm>
              <a:off x="3853" y="2753"/>
              <a:ext cx="312" cy="202"/>
            </a:xfrm>
            <a:custGeom>
              <a:avLst/>
              <a:gdLst>
                <a:gd name="T0" fmla="*/ 182 w 312"/>
                <a:gd name="T1" fmla="*/ 10 h 202"/>
                <a:gd name="T2" fmla="*/ 150 w 312"/>
                <a:gd name="T3" fmla="*/ 4 h 202"/>
                <a:gd name="T4" fmla="*/ 119 w 312"/>
                <a:gd name="T5" fmla="*/ 0 h 202"/>
                <a:gd name="T6" fmla="*/ 91 w 312"/>
                <a:gd name="T7" fmla="*/ 2 h 202"/>
                <a:gd name="T8" fmla="*/ 67 w 312"/>
                <a:gd name="T9" fmla="*/ 8 h 202"/>
                <a:gd name="T10" fmla="*/ 44 w 312"/>
                <a:gd name="T11" fmla="*/ 16 h 202"/>
                <a:gd name="T12" fmla="*/ 25 w 312"/>
                <a:gd name="T13" fmla="*/ 29 h 202"/>
                <a:gd name="T14" fmla="*/ 12 w 312"/>
                <a:gd name="T15" fmla="*/ 44 h 202"/>
                <a:gd name="T16" fmla="*/ 2 w 312"/>
                <a:gd name="T17" fmla="*/ 61 h 202"/>
                <a:gd name="T18" fmla="*/ 0 w 312"/>
                <a:gd name="T19" fmla="*/ 80 h 202"/>
                <a:gd name="T20" fmla="*/ 6 w 312"/>
                <a:gd name="T21" fmla="*/ 99 h 202"/>
                <a:gd name="T22" fmla="*/ 16 w 312"/>
                <a:gd name="T23" fmla="*/ 117 h 202"/>
                <a:gd name="T24" fmla="*/ 31 w 312"/>
                <a:gd name="T25" fmla="*/ 136 h 202"/>
                <a:gd name="T26" fmla="*/ 51 w 312"/>
                <a:gd name="T27" fmla="*/ 153 h 202"/>
                <a:gd name="T28" fmla="*/ 74 w 312"/>
                <a:gd name="T29" fmla="*/ 170 h 202"/>
                <a:gd name="T30" fmla="*/ 102 w 312"/>
                <a:gd name="T31" fmla="*/ 183 h 202"/>
                <a:gd name="T32" fmla="*/ 133 w 312"/>
                <a:gd name="T33" fmla="*/ 193 h 202"/>
                <a:gd name="T34" fmla="*/ 165 w 312"/>
                <a:gd name="T35" fmla="*/ 199 h 202"/>
                <a:gd name="T36" fmla="*/ 195 w 312"/>
                <a:gd name="T37" fmla="*/ 202 h 202"/>
                <a:gd name="T38" fmla="*/ 223 w 312"/>
                <a:gd name="T39" fmla="*/ 200 h 202"/>
                <a:gd name="T40" fmla="*/ 248 w 312"/>
                <a:gd name="T41" fmla="*/ 195 h 202"/>
                <a:gd name="T42" fmla="*/ 271 w 312"/>
                <a:gd name="T43" fmla="*/ 187 h 202"/>
                <a:gd name="T44" fmla="*/ 289 w 312"/>
                <a:gd name="T45" fmla="*/ 174 h 202"/>
                <a:gd name="T46" fmla="*/ 303 w 312"/>
                <a:gd name="T47" fmla="*/ 159 h 202"/>
                <a:gd name="T48" fmla="*/ 310 w 312"/>
                <a:gd name="T49" fmla="*/ 142 h 202"/>
                <a:gd name="T50" fmla="*/ 312 w 312"/>
                <a:gd name="T51" fmla="*/ 123 h 202"/>
                <a:gd name="T52" fmla="*/ 308 w 312"/>
                <a:gd name="T53" fmla="*/ 104 h 202"/>
                <a:gd name="T54" fmla="*/ 297 w 312"/>
                <a:gd name="T55" fmla="*/ 85 h 202"/>
                <a:gd name="T56" fmla="*/ 284 w 312"/>
                <a:gd name="T57" fmla="*/ 66 h 202"/>
                <a:gd name="T58" fmla="*/ 263 w 312"/>
                <a:gd name="T59" fmla="*/ 50 h 202"/>
                <a:gd name="T60" fmla="*/ 240 w 312"/>
                <a:gd name="T61" fmla="*/ 33 h 202"/>
                <a:gd name="T62" fmla="*/ 212 w 312"/>
                <a:gd name="T63" fmla="*/ 19 h 202"/>
                <a:gd name="T64" fmla="*/ 182 w 312"/>
                <a:gd name="T65" fmla="*/ 10 h 20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2" h="202">
                  <a:moveTo>
                    <a:pt x="182" y="10"/>
                  </a:moveTo>
                  <a:lnTo>
                    <a:pt x="150" y="4"/>
                  </a:lnTo>
                  <a:lnTo>
                    <a:pt x="119" y="0"/>
                  </a:lnTo>
                  <a:lnTo>
                    <a:pt x="91" y="2"/>
                  </a:lnTo>
                  <a:lnTo>
                    <a:pt x="67" y="8"/>
                  </a:lnTo>
                  <a:lnTo>
                    <a:pt x="44" y="16"/>
                  </a:lnTo>
                  <a:lnTo>
                    <a:pt x="25" y="29"/>
                  </a:lnTo>
                  <a:lnTo>
                    <a:pt x="12" y="44"/>
                  </a:lnTo>
                  <a:lnTo>
                    <a:pt x="2" y="61"/>
                  </a:lnTo>
                  <a:lnTo>
                    <a:pt x="0" y="80"/>
                  </a:lnTo>
                  <a:lnTo>
                    <a:pt x="6" y="99"/>
                  </a:lnTo>
                  <a:lnTo>
                    <a:pt x="16" y="117"/>
                  </a:lnTo>
                  <a:lnTo>
                    <a:pt x="31" y="136"/>
                  </a:lnTo>
                  <a:lnTo>
                    <a:pt x="51" y="153"/>
                  </a:lnTo>
                  <a:lnTo>
                    <a:pt x="74" y="170"/>
                  </a:lnTo>
                  <a:lnTo>
                    <a:pt x="102" y="183"/>
                  </a:lnTo>
                  <a:lnTo>
                    <a:pt x="133" y="193"/>
                  </a:lnTo>
                  <a:lnTo>
                    <a:pt x="165" y="199"/>
                  </a:lnTo>
                  <a:lnTo>
                    <a:pt x="195" y="202"/>
                  </a:lnTo>
                  <a:lnTo>
                    <a:pt x="223" y="200"/>
                  </a:lnTo>
                  <a:lnTo>
                    <a:pt x="248" y="195"/>
                  </a:lnTo>
                  <a:lnTo>
                    <a:pt x="271" y="187"/>
                  </a:lnTo>
                  <a:lnTo>
                    <a:pt x="289" y="174"/>
                  </a:lnTo>
                  <a:lnTo>
                    <a:pt x="303" y="159"/>
                  </a:lnTo>
                  <a:lnTo>
                    <a:pt x="310" y="142"/>
                  </a:lnTo>
                  <a:lnTo>
                    <a:pt x="312" y="123"/>
                  </a:lnTo>
                  <a:lnTo>
                    <a:pt x="308" y="104"/>
                  </a:lnTo>
                  <a:lnTo>
                    <a:pt x="297" y="85"/>
                  </a:lnTo>
                  <a:lnTo>
                    <a:pt x="284" y="66"/>
                  </a:lnTo>
                  <a:lnTo>
                    <a:pt x="263" y="50"/>
                  </a:lnTo>
                  <a:lnTo>
                    <a:pt x="240" y="33"/>
                  </a:lnTo>
                  <a:lnTo>
                    <a:pt x="212" y="19"/>
                  </a:lnTo>
                  <a:lnTo>
                    <a:pt x="182" y="10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0" name="Freeform 13"/>
            <p:cNvSpPr>
              <a:spLocks/>
            </p:cNvSpPr>
            <p:nvPr/>
          </p:nvSpPr>
          <p:spPr bwMode="auto">
            <a:xfrm>
              <a:off x="4014" y="2946"/>
              <a:ext cx="270" cy="232"/>
            </a:xfrm>
            <a:custGeom>
              <a:avLst/>
              <a:gdLst>
                <a:gd name="T0" fmla="*/ 181 w 270"/>
                <a:gd name="T1" fmla="*/ 15 h 232"/>
                <a:gd name="T2" fmla="*/ 155 w 270"/>
                <a:gd name="T3" fmla="*/ 6 h 232"/>
                <a:gd name="T4" fmla="*/ 128 w 270"/>
                <a:gd name="T5" fmla="*/ 0 h 232"/>
                <a:gd name="T6" fmla="*/ 104 w 270"/>
                <a:gd name="T7" fmla="*/ 0 h 232"/>
                <a:gd name="T8" fmla="*/ 79 w 270"/>
                <a:gd name="T9" fmla="*/ 4 h 232"/>
                <a:gd name="T10" fmla="*/ 57 w 270"/>
                <a:gd name="T11" fmla="*/ 11 h 232"/>
                <a:gd name="T12" fmla="*/ 38 w 270"/>
                <a:gd name="T13" fmla="*/ 23 h 232"/>
                <a:gd name="T14" fmla="*/ 21 w 270"/>
                <a:gd name="T15" fmla="*/ 38 h 232"/>
                <a:gd name="T16" fmla="*/ 9 w 270"/>
                <a:gd name="T17" fmla="*/ 56 h 232"/>
                <a:gd name="T18" fmla="*/ 2 w 270"/>
                <a:gd name="T19" fmla="*/ 79 h 232"/>
                <a:gd name="T20" fmla="*/ 0 w 270"/>
                <a:gd name="T21" fmla="*/ 100 h 232"/>
                <a:gd name="T22" fmla="*/ 4 w 270"/>
                <a:gd name="T23" fmla="*/ 123 h 232"/>
                <a:gd name="T24" fmla="*/ 13 w 270"/>
                <a:gd name="T25" fmla="*/ 145 h 232"/>
                <a:gd name="T26" fmla="*/ 26 w 270"/>
                <a:gd name="T27" fmla="*/ 166 h 232"/>
                <a:gd name="T28" fmla="*/ 43 w 270"/>
                <a:gd name="T29" fmla="*/ 185 h 232"/>
                <a:gd name="T30" fmla="*/ 64 w 270"/>
                <a:gd name="T31" fmla="*/ 202 h 232"/>
                <a:gd name="T32" fmla="*/ 89 w 270"/>
                <a:gd name="T33" fmla="*/ 217 h 232"/>
                <a:gd name="T34" fmla="*/ 115 w 270"/>
                <a:gd name="T35" fmla="*/ 226 h 232"/>
                <a:gd name="T36" fmla="*/ 142 w 270"/>
                <a:gd name="T37" fmla="*/ 232 h 232"/>
                <a:gd name="T38" fmla="*/ 166 w 270"/>
                <a:gd name="T39" fmla="*/ 232 h 232"/>
                <a:gd name="T40" fmla="*/ 191 w 270"/>
                <a:gd name="T41" fmla="*/ 228 h 232"/>
                <a:gd name="T42" fmla="*/ 213 w 270"/>
                <a:gd name="T43" fmla="*/ 221 h 232"/>
                <a:gd name="T44" fmla="*/ 232 w 270"/>
                <a:gd name="T45" fmla="*/ 209 h 232"/>
                <a:gd name="T46" fmla="*/ 249 w 270"/>
                <a:gd name="T47" fmla="*/ 194 h 232"/>
                <a:gd name="T48" fmla="*/ 261 w 270"/>
                <a:gd name="T49" fmla="*/ 175 h 232"/>
                <a:gd name="T50" fmla="*/ 268 w 270"/>
                <a:gd name="T51" fmla="*/ 155 h 232"/>
                <a:gd name="T52" fmla="*/ 270 w 270"/>
                <a:gd name="T53" fmla="*/ 132 h 232"/>
                <a:gd name="T54" fmla="*/ 266 w 270"/>
                <a:gd name="T55" fmla="*/ 109 h 232"/>
                <a:gd name="T56" fmla="*/ 257 w 270"/>
                <a:gd name="T57" fmla="*/ 87 h 232"/>
                <a:gd name="T58" fmla="*/ 244 w 270"/>
                <a:gd name="T59" fmla="*/ 66 h 232"/>
                <a:gd name="T60" fmla="*/ 227 w 270"/>
                <a:gd name="T61" fmla="*/ 47 h 232"/>
                <a:gd name="T62" fmla="*/ 206 w 270"/>
                <a:gd name="T63" fmla="*/ 30 h 232"/>
                <a:gd name="T64" fmla="*/ 181 w 270"/>
                <a:gd name="T65" fmla="*/ 15 h 2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70" h="232">
                  <a:moveTo>
                    <a:pt x="181" y="15"/>
                  </a:moveTo>
                  <a:lnTo>
                    <a:pt x="155" y="6"/>
                  </a:lnTo>
                  <a:lnTo>
                    <a:pt x="128" y="0"/>
                  </a:lnTo>
                  <a:lnTo>
                    <a:pt x="104" y="0"/>
                  </a:lnTo>
                  <a:lnTo>
                    <a:pt x="79" y="4"/>
                  </a:lnTo>
                  <a:lnTo>
                    <a:pt x="57" y="11"/>
                  </a:lnTo>
                  <a:lnTo>
                    <a:pt x="38" y="23"/>
                  </a:lnTo>
                  <a:lnTo>
                    <a:pt x="21" y="38"/>
                  </a:lnTo>
                  <a:lnTo>
                    <a:pt x="9" y="56"/>
                  </a:lnTo>
                  <a:lnTo>
                    <a:pt x="2" y="79"/>
                  </a:lnTo>
                  <a:lnTo>
                    <a:pt x="0" y="100"/>
                  </a:lnTo>
                  <a:lnTo>
                    <a:pt x="4" y="123"/>
                  </a:lnTo>
                  <a:lnTo>
                    <a:pt x="13" y="145"/>
                  </a:lnTo>
                  <a:lnTo>
                    <a:pt x="26" y="166"/>
                  </a:lnTo>
                  <a:lnTo>
                    <a:pt x="43" y="185"/>
                  </a:lnTo>
                  <a:lnTo>
                    <a:pt x="64" y="202"/>
                  </a:lnTo>
                  <a:lnTo>
                    <a:pt x="89" y="217"/>
                  </a:lnTo>
                  <a:lnTo>
                    <a:pt x="115" y="226"/>
                  </a:lnTo>
                  <a:lnTo>
                    <a:pt x="142" y="232"/>
                  </a:lnTo>
                  <a:lnTo>
                    <a:pt x="166" y="232"/>
                  </a:lnTo>
                  <a:lnTo>
                    <a:pt x="191" y="228"/>
                  </a:lnTo>
                  <a:lnTo>
                    <a:pt x="213" y="221"/>
                  </a:lnTo>
                  <a:lnTo>
                    <a:pt x="232" y="209"/>
                  </a:lnTo>
                  <a:lnTo>
                    <a:pt x="249" y="194"/>
                  </a:lnTo>
                  <a:lnTo>
                    <a:pt x="261" y="175"/>
                  </a:lnTo>
                  <a:lnTo>
                    <a:pt x="268" y="155"/>
                  </a:lnTo>
                  <a:lnTo>
                    <a:pt x="270" y="132"/>
                  </a:lnTo>
                  <a:lnTo>
                    <a:pt x="266" y="109"/>
                  </a:lnTo>
                  <a:lnTo>
                    <a:pt x="257" y="87"/>
                  </a:lnTo>
                  <a:lnTo>
                    <a:pt x="244" y="66"/>
                  </a:lnTo>
                  <a:lnTo>
                    <a:pt x="227" y="47"/>
                  </a:lnTo>
                  <a:lnTo>
                    <a:pt x="206" y="30"/>
                  </a:lnTo>
                  <a:lnTo>
                    <a:pt x="181" y="15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1" name="Freeform 14"/>
            <p:cNvSpPr>
              <a:spLocks/>
            </p:cNvSpPr>
            <p:nvPr/>
          </p:nvSpPr>
          <p:spPr bwMode="auto">
            <a:xfrm>
              <a:off x="3927" y="3165"/>
              <a:ext cx="325" cy="285"/>
            </a:xfrm>
            <a:custGeom>
              <a:avLst/>
              <a:gdLst>
                <a:gd name="T0" fmla="*/ 102 w 325"/>
                <a:gd name="T1" fmla="*/ 19 h 285"/>
                <a:gd name="T2" fmla="*/ 74 w 325"/>
                <a:gd name="T3" fmla="*/ 36 h 285"/>
                <a:gd name="T4" fmla="*/ 49 w 325"/>
                <a:gd name="T5" fmla="*/ 58 h 285"/>
                <a:gd name="T6" fmla="*/ 28 w 325"/>
                <a:gd name="T7" fmla="*/ 81 h 285"/>
                <a:gd name="T8" fmla="*/ 13 w 325"/>
                <a:gd name="T9" fmla="*/ 107 h 285"/>
                <a:gd name="T10" fmla="*/ 4 w 325"/>
                <a:gd name="T11" fmla="*/ 134 h 285"/>
                <a:gd name="T12" fmla="*/ 0 w 325"/>
                <a:gd name="T13" fmla="*/ 162 h 285"/>
                <a:gd name="T14" fmla="*/ 2 w 325"/>
                <a:gd name="T15" fmla="*/ 188 h 285"/>
                <a:gd name="T16" fmla="*/ 11 w 325"/>
                <a:gd name="T17" fmla="*/ 215 h 285"/>
                <a:gd name="T18" fmla="*/ 27 w 325"/>
                <a:gd name="T19" fmla="*/ 237 h 285"/>
                <a:gd name="T20" fmla="*/ 45 w 325"/>
                <a:gd name="T21" fmla="*/ 256 h 285"/>
                <a:gd name="T22" fmla="*/ 70 w 325"/>
                <a:gd name="T23" fmla="*/ 271 h 285"/>
                <a:gd name="T24" fmla="*/ 98 w 325"/>
                <a:gd name="T25" fmla="*/ 279 h 285"/>
                <a:gd name="T26" fmla="*/ 127 w 325"/>
                <a:gd name="T27" fmla="*/ 285 h 285"/>
                <a:gd name="T28" fmla="*/ 159 w 325"/>
                <a:gd name="T29" fmla="*/ 283 h 285"/>
                <a:gd name="T30" fmla="*/ 191 w 325"/>
                <a:gd name="T31" fmla="*/ 275 h 285"/>
                <a:gd name="T32" fmla="*/ 223 w 325"/>
                <a:gd name="T33" fmla="*/ 264 h 285"/>
                <a:gd name="T34" fmla="*/ 251 w 325"/>
                <a:gd name="T35" fmla="*/ 247 h 285"/>
                <a:gd name="T36" fmla="*/ 276 w 325"/>
                <a:gd name="T37" fmla="*/ 226 h 285"/>
                <a:gd name="T38" fmla="*/ 297 w 325"/>
                <a:gd name="T39" fmla="*/ 202 h 285"/>
                <a:gd name="T40" fmla="*/ 312 w 325"/>
                <a:gd name="T41" fmla="*/ 175 h 285"/>
                <a:gd name="T42" fmla="*/ 321 w 325"/>
                <a:gd name="T43" fmla="*/ 149 h 285"/>
                <a:gd name="T44" fmla="*/ 325 w 325"/>
                <a:gd name="T45" fmla="*/ 120 h 285"/>
                <a:gd name="T46" fmla="*/ 323 w 325"/>
                <a:gd name="T47" fmla="*/ 94 h 285"/>
                <a:gd name="T48" fmla="*/ 314 w 325"/>
                <a:gd name="T49" fmla="*/ 68 h 285"/>
                <a:gd name="T50" fmla="*/ 299 w 325"/>
                <a:gd name="T51" fmla="*/ 45 h 285"/>
                <a:gd name="T52" fmla="*/ 280 w 325"/>
                <a:gd name="T53" fmla="*/ 26 h 285"/>
                <a:gd name="T54" fmla="*/ 255 w 325"/>
                <a:gd name="T55" fmla="*/ 11 h 285"/>
                <a:gd name="T56" fmla="*/ 229 w 325"/>
                <a:gd name="T57" fmla="*/ 4 h 285"/>
                <a:gd name="T58" fmla="*/ 198 w 325"/>
                <a:gd name="T59" fmla="*/ 0 h 285"/>
                <a:gd name="T60" fmla="*/ 166 w 325"/>
                <a:gd name="T61" fmla="*/ 0 h 285"/>
                <a:gd name="T62" fmla="*/ 134 w 325"/>
                <a:gd name="T63" fmla="*/ 7 h 285"/>
                <a:gd name="T64" fmla="*/ 102 w 325"/>
                <a:gd name="T65" fmla="*/ 19 h 28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5" h="285">
                  <a:moveTo>
                    <a:pt x="102" y="19"/>
                  </a:moveTo>
                  <a:lnTo>
                    <a:pt x="74" y="36"/>
                  </a:lnTo>
                  <a:lnTo>
                    <a:pt x="49" y="58"/>
                  </a:lnTo>
                  <a:lnTo>
                    <a:pt x="28" y="81"/>
                  </a:lnTo>
                  <a:lnTo>
                    <a:pt x="13" y="107"/>
                  </a:lnTo>
                  <a:lnTo>
                    <a:pt x="4" y="134"/>
                  </a:lnTo>
                  <a:lnTo>
                    <a:pt x="0" y="162"/>
                  </a:lnTo>
                  <a:lnTo>
                    <a:pt x="2" y="188"/>
                  </a:lnTo>
                  <a:lnTo>
                    <a:pt x="11" y="215"/>
                  </a:lnTo>
                  <a:lnTo>
                    <a:pt x="27" y="237"/>
                  </a:lnTo>
                  <a:lnTo>
                    <a:pt x="45" y="256"/>
                  </a:lnTo>
                  <a:lnTo>
                    <a:pt x="70" y="271"/>
                  </a:lnTo>
                  <a:lnTo>
                    <a:pt x="98" y="279"/>
                  </a:lnTo>
                  <a:lnTo>
                    <a:pt x="127" y="285"/>
                  </a:lnTo>
                  <a:lnTo>
                    <a:pt x="159" y="283"/>
                  </a:lnTo>
                  <a:lnTo>
                    <a:pt x="191" y="275"/>
                  </a:lnTo>
                  <a:lnTo>
                    <a:pt x="223" y="264"/>
                  </a:lnTo>
                  <a:lnTo>
                    <a:pt x="251" y="247"/>
                  </a:lnTo>
                  <a:lnTo>
                    <a:pt x="276" y="226"/>
                  </a:lnTo>
                  <a:lnTo>
                    <a:pt x="297" y="202"/>
                  </a:lnTo>
                  <a:lnTo>
                    <a:pt x="312" y="175"/>
                  </a:lnTo>
                  <a:lnTo>
                    <a:pt x="321" y="149"/>
                  </a:lnTo>
                  <a:lnTo>
                    <a:pt x="325" y="120"/>
                  </a:lnTo>
                  <a:lnTo>
                    <a:pt x="323" y="94"/>
                  </a:lnTo>
                  <a:lnTo>
                    <a:pt x="314" y="68"/>
                  </a:lnTo>
                  <a:lnTo>
                    <a:pt x="299" y="45"/>
                  </a:lnTo>
                  <a:lnTo>
                    <a:pt x="280" y="26"/>
                  </a:lnTo>
                  <a:lnTo>
                    <a:pt x="255" y="11"/>
                  </a:lnTo>
                  <a:lnTo>
                    <a:pt x="229" y="4"/>
                  </a:lnTo>
                  <a:lnTo>
                    <a:pt x="198" y="0"/>
                  </a:lnTo>
                  <a:lnTo>
                    <a:pt x="166" y="0"/>
                  </a:lnTo>
                  <a:lnTo>
                    <a:pt x="134" y="7"/>
                  </a:lnTo>
                  <a:lnTo>
                    <a:pt x="102" y="19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2" name="Oval 15"/>
            <p:cNvSpPr>
              <a:spLocks noChangeArrowheads="1"/>
            </p:cNvSpPr>
            <p:nvPr/>
          </p:nvSpPr>
          <p:spPr bwMode="auto">
            <a:xfrm>
              <a:off x="3514" y="3201"/>
              <a:ext cx="538" cy="337"/>
            </a:xfrm>
            <a:prstGeom prst="ellipse">
              <a:avLst/>
            </a:prstGeom>
            <a:solidFill>
              <a:srgbClr val="EAEAEA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3" name="Freeform 16"/>
            <p:cNvSpPr>
              <a:spLocks/>
            </p:cNvSpPr>
            <p:nvPr/>
          </p:nvSpPr>
          <p:spPr bwMode="auto">
            <a:xfrm>
              <a:off x="3289" y="3193"/>
              <a:ext cx="300" cy="232"/>
            </a:xfrm>
            <a:custGeom>
              <a:avLst/>
              <a:gdLst>
                <a:gd name="T0" fmla="*/ 185 w 300"/>
                <a:gd name="T1" fmla="*/ 9 h 232"/>
                <a:gd name="T2" fmla="*/ 155 w 300"/>
                <a:gd name="T3" fmla="*/ 2 h 232"/>
                <a:gd name="T4" fmla="*/ 124 w 300"/>
                <a:gd name="T5" fmla="*/ 0 h 232"/>
                <a:gd name="T6" fmla="*/ 98 w 300"/>
                <a:gd name="T7" fmla="*/ 2 h 232"/>
                <a:gd name="T8" fmla="*/ 71 w 300"/>
                <a:gd name="T9" fmla="*/ 8 h 232"/>
                <a:gd name="T10" fmla="*/ 49 w 300"/>
                <a:gd name="T11" fmla="*/ 17 h 232"/>
                <a:gd name="T12" fmla="*/ 30 w 300"/>
                <a:gd name="T13" fmla="*/ 30 h 232"/>
                <a:gd name="T14" fmla="*/ 15 w 300"/>
                <a:gd name="T15" fmla="*/ 47 h 232"/>
                <a:gd name="T16" fmla="*/ 3 w 300"/>
                <a:gd name="T17" fmla="*/ 68 h 232"/>
                <a:gd name="T18" fmla="*/ 0 w 300"/>
                <a:gd name="T19" fmla="*/ 91 h 232"/>
                <a:gd name="T20" fmla="*/ 2 w 300"/>
                <a:gd name="T21" fmla="*/ 113 h 232"/>
                <a:gd name="T22" fmla="*/ 9 w 300"/>
                <a:gd name="T23" fmla="*/ 136 h 232"/>
                <a:gd name="T24" fmla="*/ 22 w 300"/>
                <a:gd name="T25" fmla="*/ 157 h 232"/>
                <a:gd name="T26" fmla="*/ 39 w 300"/>
                <a:gd name="T27" fmla="*/ 177 h 232"/>
                <a:gd name="T28" fmla="*/ 62 w 300"/>
                <a:gd name="T29" fmla="*/ 196 h 232"/>
                <a:gd name="T30" fmla="*/ 87 w 300"/>
                <a:gd name="T31" fmla="*/ 211 h 232"/>
                <a:gd name="T32" fmla="*/ 115 w 300"/>
                <a:gd name="T33" fmla="*/ 223 h 232"/>
                <a:gd name="T34" fmla="*/ 145 w 300"/>
                <a:gd name="T35" fmla="*/ 230 h 232"/>
                <a:gd name="T36" fmla="*/ 175 w 300"/>
                <a:gd name="T37" fmla="*/ 232 h 232"/>
                <a:gd name="T38" fmla="*/ 202 w 300"/>
                <a:gd name="T39" fmla="*/ 230 h 232"/>
                <a:gd name="T40" fmla="*/ 228 w 300"/>
                <a:gd name="T41" fmla="*/ 225 h 232"/>
                <a:gd name="T42" fmla="*/ 251 w 300"/>
                <a:gd name="T43" fmla="*/ 213 h 232"/>
                <a:gd name="T44" fmla="*/ 270 w 300"/>
                <a:gd name="T45" fmla="*/ 200 h 232"/>
                <a:gd name="T46" fmla="*/ 287 w 300"/>
                <a:gd name="T47" fmla="*/ 183 h 232"/>
                <a:gd name="T48" fmla="*/ 296 w 300"/>
                <a:gd name="T49" fmla="*/ 162 h 232"/>
                <a:gd name="T50" fmla="*/ 300 w 300"/>
                <a:gd name="T51" fmla="*/ 140 h 232"/>
                <a:gd name="T52" fmla="*/ 298 w 300"/>
                <a:gd name="T53" fmla="*/ 117 h 232"/>
                <a:gd name="T54" fmla="*/ 291 w 300"/>
                <a:gd name="T55" fmla="*/ 94 h 232"/>
                <a:gd name="T56" fmla="*/ 277 w 300"/>
                <a:gd name="T57" fmla="*/ 74 h 232"/>
                <a:gd name="T58" fmla="*/ 260 w 300"/>
                <a:gd name="T59" fmla="*/ 55 h 232"/>
                <a:gd name="T60" fmla="*/ 238 w 300"/>
                <a:gd name="T61" fmla="*/ 36 h 232"/>
                <a:gd name="T62" fmla="*/ 213 w 300"/>
                <a:gd name="T63" fmla="*/ 21 h 232"/>
                <a:gd name="T64" fmla="*/ 185 w 300"/>
                <a:gd name="T65" fmla="*/ 9 h 23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00" h="232">
                  <a:moveTo>
                    <a:pt x="185" y="9"/>
                  </a:moveTo>
                  <a:lnTo>
                    <a:pt x="155" y="2"/>
                  </a:lnTo>
                  <a:lnTo>
                    <a:pt x="124" y="0"/>
                  </a:lnTo>
                  <a:lnTo>
                    <a:pt x="98" y="2"/>
                  </a:lnTo>
                  <a:lnTo>
                    <a:pt x="71" y="8"/>
                  </a:lnTo>
                  <a:lnTo>
                    <a:pt x="49" y="17"/>
                  </a:lnTo>
                  <a:lnTo>
                    <a:pt x="30" y="30"/>
                  </a:lnTo>
                  <a:lnTo>
                    <a:pt x="15" y="47"/>
                  </a:lnTo>
                  <a:lnTo>
                    <a:pt x="3" y="68"/>
                  </a:lnTo>
                  <a:lnTo>
                    <a:pt x="0" y="91"/>
                  </a:lnTo>
                  <a:lnTo>
                    <a:pt x="2" y="113"/>
                  </a:lnTo>
                  <a:lnTo>
                    <a:pt x="9" y="136"/>
                  </a:lnTo>
                  <a:lnTo>
                    <a:pt x="22" y="157"/>
                  </a:lnTo>
                  <a:lnTo>
                    <a:pt x="39" y="177"/>
                  </a:lnTo>
                  <a:lnTo>
                    <a:pt x="62" y="196"/>
                  </a:lnTo>
                  <a:lnTo>
                    <a:pt x="87" y="211"/>
                  </a:lnTo>
                  <a:lnTo>
                    <a:pt x="115" y="223"/>
                  </a:lnTo>
                  <a:lnTo>
                    <a:pt x="145" y="230"/>
                  </a:lnTo>
                  <a:lnTo>
                    <a:pt x="175" y="232"/>
                  </a:lnTo>
                  <a:lnTo>
                    <a:pt x="202" y="230"/>
                  </a:lnTo>
                  <a:lnTo>
                    <a:pt x="228" y="225"/>
                  </a:lnTo>
                  <a:lnTo>
                    <a:pt x="251" y="213"/>
                  </a:lnTo>
                  <a:lnTo>
                    <a:pt x="270" y="200"/>
                  </a:lnTo>
                  <a:lnTo>
                    <a:pt x="287" y="183"/>
                  </a:lnTo>
                  <a:lnTo>
                    <a:pt x="296" y="162"/>
                  </a:lnTo>
                  <a:lnTo>
                    <a:pt x="300" y="140"/>
                  </a:lnTo>
                  <a:lnTo>
                    <a:pt x="298" y="117"/>
                  </a:lnTo>
                  <a:lnTo>
                    <a:pt x="291" y="94"/>
                  </a:lnTo>
                  <a:lnTo>
                    <a:pt x="277" y="74"/>
                  </a:lnTo>
                  <a:lnTo>
                    <a:pt x="260" y="55"/>
                  </a:lnTo>
                  <a:lnTo>
                    <a:pt x="238" y="36"/>
                  </a:lnTo>
                  <a:lnTo>
                    <a:pt x="213" y="21"/>
                  </a:lnTo>
                  <a:lnTo>
                    <a:pt x="185" y="9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4" name="Oval 17"/>
            <p:cNvSpPr>
              <a:spLocks noChangeArrowheads="1"/>
            </p:cNvSpPr>
            <p:nvPr/>
          </p:nvSpPr>
          <p:spPr bwMode="auto">
            <a:xfrm>
              <a:off x="3204" y="3023"/>
              <a:ext cx="245" cy="219"/>
            </a:xfrm>
            <a:prstGeom prst="ellipse">
              <a:avLst/>
            </a:prstGeom>
            <a:solidFill>
              <a:srgbClr val="EAEAEA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5" name="Freeform 18"/>
            <p:cNvSpPr>
              <a:spLocks/>
            </p:cNvSpPr>
            <p:nvPr/>
          </p:nvSpPr>
          <p:spPr bwMode="auto">
            <a:xfrm>
              <a:off x="3253" y="2827"/>
              <a:ext cx="315" cy="259"/>
            </a:xfrm>
            <a:custGeom>
              <a:avLst/>
              <a:gdLst>
                <a:gd name="T0" fmla="*/ 100 w 315"/>
                <a:gd name="T1" fmla="*/ 32 h 259"/>
                <a:gd name="T2" fmla="*/ 72 w 315"/>
                <a:gd name="T3" fmla="*/ 53 h 259"/>
                <a:gd name="T4" fmla="*/ 47 w 315"/>
                <a:gd name="T5" fmla="*/ 74 h 259"/>
                <a:gd name="T6" fmla="*/ 28 w 315"/>
                <a:gd name="T7" fmla="*/ 98 h 259"/>
                <a:gd name="T8" fmla="*/ 13 w 315"/>
                <a:gd name="T9" fmla="*/ 123 h 259"/>
                <a:gd name="T10" fmla="*/ 4 w 315"/>
                <a:gd name="T11" fmla="*/ 149 h 259"/>
                <a:gd name="T12" fmla="*/ 0 w 315"/>
                <a:gd name="T13" fmla="*/ 174 h 259"/>
                <a:gd name="T14" fmla="*/ 2 w 315"/>
                <a:gd name="T15" fmla="*/ 196 h 259"/>
                <a:gd name="T16" fmla="*/ 11 w 315"/>
                <a:gd name="T17" fmla="*/ 217 h 259"/>
                <a:gd name="T18" fmla="*/ 26 w 315"/>
                <a:gd name="T19" fmla="*/ 234 h 259"/>
                <a:gd name="T20" fmla="*/ 45 w 315"/>
                <a:gd name="T21" fmla="*/ 247 h 259"/>
                <a:gd name="T22" fmla="*/ 70 w 315"/>
                <a:gd name="T23" fmla="*/ 257 h 259"/>
                <a:gd name="T24" fmla="*/ 96 w 315"/>
                <a:gd name="T25" fmla="*/ 259 h 259"/>
                <a:gd name="T26" fmla="*/ 124 w 315"/>
                <a:gd name="T27" fmla="*/ 259 h 259"/>
                <a:gd name="T28" fmla="*/ 155 w 315"/>
                <a:gd name="T29" fmla="*/ 253 h 259"/>
                <a:gd name="T30" fmla="*/ 185 w 315"/>
                <a:gd name="T31" fmla="*/ 242 h 259"/>
                <a:gd name="T32" fmla="*/ 215 w 315"/>
                <a:gd name="T33" fmla="*/ 226 h 259"/>
                <a:gd name="T34" fmla="*/ 243 w 315"/>
                <a:gd name="T35" fmla="*/ 208 h 259"/>
                <a:gd name="T36" fmla="*/ 268 w 315"/>
                <a:gd name="T37" fmla="*/ 185 h 259"/>
                <a:gd name="T38" fmla="*/ 287 w 315"/>
                <a:gd name="T39" fmla="*/ 160 h 259"/>
                <a:gd name="T40" fmla="*/ 302 w 315"/>
                <a:gd name="T41" fmla="*/ 136 h 259"/>
                <a:gd name="T42" fmla="*/ 311 w 315"/>
                <a:gd name="T43" fmla="*/ 109 h 259"/>
                <a:gd name="T44" fmla="*/ 315 w 315"/>
                <a:gd name="T45" fmla="*/ 87 h 259"/>
                <a:gd name="T46" fmla="*/ 313 w 315"/>
                <a:gd name="T47" fmla="*/ 62 h 259"/>
                <a:gd name="T48" fmla="*/ 304 w 315"/>
                <a:gd name="T49" fmla="*/ 42 h 259"/>
                <a:gd name="T50" fmla="*/ 289 w 315"/>
                <a:gd name="T51" fmla="*/ 25 h 259"/>
                <a:gd name="T52" fmla="*/ 270 w 315"/>
                <a:gd name="T53" fmla="*/ 11 h 259"/>
                <a:gd name="T54" fmla="*/ 247 w 315"/>
                <a:gd name="T55" fmla="*/ 4 h 259"/>
                <a:gd name="T56" fmla="*/ 221 w 315"/>
                <a:gd name="T57" fmla="*/ 0 h 259"/>
                <a:gd name="T58" fmla="*/ 192 w 315"/>
                <a:gd name="T59" fmla="*/ 0 h 259"/>
                <a:gd name="T60" fmla="*/ 162 w 315"/>
                <a:gd name="T61" fmla="*/ 6 h 259"/>
                <a:gd name="T62" fmla="*/ 130 w 315"/>
                <a:gd name="T63" fmla="*/ 17 h 259"/>
                <a:gd name="T64" fmla="*/ 100 w 315"/>
                <a:gd name="T65" fmla="*/ 32 h 2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5" h="259">
                  <a:moveTo>
                    <a:pt x="100" y="32"/>
                  </a:moveTo>
                  <a:lnTo>
                    <a:pt x="72" y="53"/>
                  </a:lnTo>
                  <a:lnTo>
                    <a:pt x="47" y="74"/>
                  </a:lnTo>
                  <a:lnTo>
                    <a:pt x="28" y="98"/>
                  </a:lnTo>
                  <a:lnTo>
                    <a:pt x="13" y="123"/>
                  </a:lnTo>
                  <a:lnTo>
                    <a:pt x="4" y="149"/>
                  </a:lnTo>
                  <a:lnTo>
                    <a:pt x="0" y="174"/>
                  </a:lnTo>
                  <a:lnTo>
                    <a:pt x="2" y="196"/>
                  </a:lnTo>
                  <a:lnTo>
                    <a:pt x="11" y="217"/>
                  </a:lnTo>
                  <a:lnTo>
                    <a:pt x="26" y="234"/>
                  </a:lnTo>
                  <a:lnTo>
                    <a:pt x="45" y="247"/>
                  </a:lnTo>
                  <a:lnTo>
                    <a:pt x="70" y="257"/>
                  </a:lnTo>
                  <a:lnTo>
                    <a:pt x="96" y="259"/>
                  </a:lnTo>
                  <a:lnTo>
                    <a:pt x="124" y="259"/>
                  </a:lnTo>
                  <a:lnTo>
                    <a:pt x="155" y="253"/>
                  </a:lnTo>
                  <a:lnTo>
                    <a:pt x="185" y="242"/>
                  </a:lnTo>
                  <a:lnTo>
                    <a:pt x="215" y="226"/>
                  </a:lnTo>
                  <a:lnTo>
                    <a:pt x="243" y="208"/>
                  </a:lnTo>
                  <a:lnTo>
                    <a:pt x="268" y="185"/>
                  </a:lnTo>
                  <a:lnTo>
                    <a:pt x="287" y="160"/>
                  </a:lnTo>
                  <a:lnTo>
                    <a:pt x="302" y="136"/>
                  </a:lnTo>
                  <a:lnTo>
                    <a:pt x="311" y="109"/>
                  </a:lnTo>
                  <a:lnTo>
                    <a:pt x="315" y="87"/>
                  </a:lnTo>
                  <a:lnTo>
                    <a:pt x="313" y="62"/>
                  </a:lnTo>
                  <a:lnTo>
                    <a:pt x="304" y="42"/>
                  </a:lnTo>
                  <a:lnTo>
                    <a:pt x="289" y="25"/>
                  </a:lnTo>
                  <a:lnTo>
                    <a:pt x="270" y="11"/>
                  </a:lnTo>
                  <a:lnTo>
                    <a:pt x="247" y="4"/>
                  </a:lnTo>
                  <a:lnTo>
                    <a:pt x="221" y="0"/>
                  </a:lnTo>
                  <a:lnTo>
                    <a:pt x="192" y="0"/>
                  </a:lnTo>
                  <a:lnTo>
                    <a:pt x="162" y="6"/>
                  </a:lnTo>
                  <a:lnTo>
                    <a:pt x="130" y="17"/>
                  </a:lnTo>
                  <a:lnTo>
                    <a:pt x="100" y="32"/>
                  </a:lnTo>
                  <a:close/>
                </a:path>
              </a:pathLst>
            </a:custGeom>
            <a:solidFill>
              <a:srgbClr val="EAEAEA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6" name="Freeform 19"/>
            <p:cNvSpPr>
              <a:spLocks/>
            </p:cNvSpPr>
            <p:nvPr/>
          </p:nvSpPr>
          <p:spPr bwMode="auto">
            <a:xfrm>
              <a:off x="3319" y="2831"/>
              <a:ext cx="850" cy="583"/>
            </a:xfrm>
            <a:custGeom>
              <a:avLst/>
              <a:gdLst>
                <a:gd name="T0" fmla="*/ 125 w 850"/>
                <a:gd name="T1" fmla="*/ 117 h 583"/>
                <a:gd name="T2" fmla="*/ 166 w 850"/>
                <a:gd name="T3" fmla="*/ 109 h 583"/>
                <a:gd name="T4" fmla="*/ 210 w 850"/>
                <a:gd name="T5" fmla="*/ 102 h 583"/>
                <a:gd name="T6" fmla="*/ 247 w 850"/>
                <a:gd name="T7" fmla="*/ 96 h 583"/>
                <a:gd name="T8" fmla="*/ 272 w 850"/>
                <a:gd name="T9" fmla="*/ 66 h 583"/>
                <a:gd name="T10" fmla="*/ 234 w 850"/>
                <a:gd name="T11" fmla="*/ 58 h 583"/>
                <a:gd name="T12" fmla="*/ 198 w 850"/>
                <a:gd name="T13" fmla="*/ 66 h 583"/>
                <a:gd name="T14" fmla="*/ 179 w 850"/>
                <a:gd name="T15" fmla="*/ 66 h 583"/>
                <a:gd name="T16" fmla="*/ 217 w 850"/>
                <a:gd name="T17" fmla="*/ 36 h 583"/>
                <a:gd name="T18" fmla="*/ 261 w 850"/>
                <a:gd name="T19" fmla="*/ 21 h 583"/>
                <a:gd name="T20" fmla="*/ 296 w 850"/>
                <a:gd name="T21" fmla="*/ 13 h 583"/>
                <a:gd name="T22" fmla="*/ 334 w 850"/>
                <a:gd name="T23" fmla="*/ 5 h 583"/>
                <a:gd name="T24" fmla="*/ 372 w 850"/>
                <a:gd name="T25" fmla="*/ 0 h 583"/>
                <a:gd name="T26" fmla="*/ 410 w 850"/>
                <a:gd name="T27" fmla="*/ 0 h 583"/>
                <a:gd name="T28" fmla="*/ 446 w 850"/>
                <a:gd name="T29" fmla="*/ 0 h 583"/>
                <a:gd name="T30" fmla="*/ 534 w 850"/>
                <a:gd name="T31" fmla="*/ 0 h 583"/>
                <a:gd name="T32" fmla="*/ 584 w 850"/>
                <a:gd name="T33" fmla="*/ 0 h 583"/>
                <a:gd name="T34" fmla="*/ 627 w 850"/>
                <a:gd name="T35" fmla="*/ 21 h 583"/>
                <a:gd name="T36" fmla="*/ 657 w 850"/>
                <a:gd name="T37" fmla="*/ 51 h 583"/>
                <a:gd name="T38" fmla="*/ 695 w 850"/>
                <a:gd name="T39" fmla="*/ 72 h 583"/>
                <a:gd name="T40" fmla="*/ 733 w 850"/>
                <a:gd name="T41" fmla="*/ 81 h 583"/>
                <a:gd name="T42" fmla="*/ 771 w 850"/>
                <a:gd name="T43" fmla="*/ 109 h 583"/>
                <a:gd name="T44" fmla="*/ 801 w 850"/>
                <a:gd name="T45" fmla="*/ 139 h 583"/>
                <a:gd name="T46" fmla="*/ 825 w 850"/>
                <a:gd name="T47" fmla="*/ 183 h 583"/>
                <a:gd name="T48" fmla="*/ 833 w 850"/>
                <a:gd name="T49" fmla="*/ 234 h 583"/>
                <a:gd name="T50" fmla="*/ 839 w 850"/>
                <a:gd name="T51" fmla="*/ 279 h 583"/>
                <a:gd name="T52" fmla="*/ 839 w 850"/>
                <a:gd name="T53" fmla="*/ 324 h 583"/>
                <a:gd name="T54" fmla="*/ 839 w 850"/>
                <a:gd name="T55" fmla="*/ 368 h 583"/>
                <a:gd name="T56" fmla="*/ 850 w 850"/>
                <a:gd name="T57" fmla="*/ 413 h 583"/>
                <a:gd name="T58" fmla="*/ 850 w 850"/>
                <a:gd name="T59" fmla="*/ 456 h 583"/>
                <a:gd name="T60" fmla="*/ 825 w 850"/>
                <a:gd name="T61" fmla="*/ 500 h 583"/>
                <a:gd name="T62" fmla="*/ 782 w 850"/>
                <a:gd name="T63" fmla="*/ 524 h 583"/>
                <a:gd name="T64" fmla="*/ 746 w 850"/>
                <a:gd name="T65" fmla="*/ 545 h 583"/>
                <a:gd name="T66" fmla="*/ 708 w 850"/>
                <a:gd name="T67" fmla="*/ 568 h 583"/>
                <a:gd name="T68" fmla="*/ 670 w 850"/>
                <a:gd name="T69" fmla="*/ 575 h 583"/>
                <a:gd name="T70" fmla="*/ 621 w 850"/>
                <a:gd name="T71" fmla="*/ 583 h 583"/>
                <a:gd name="T72" fmla="*/ 576 w 850"/>
                <a:gd name="T73" fmla="*/ 583 h 583"/>
                <a:gd name="T74" fmla="*/ 540 w 850"/>
                <a:gd name="T75" fmla="*/ 583 h 583"/>
                <a:gd name="T76" fmla="*/ 502 w 850"/>
                <a:gd name="T77" fmla="*/ 583 h 583"/>
                <a:gd name="T78" fmla="*/ 465 w 850"/>
                <a:gd name="T79" fmla="*/ 583 h 583"/>
                <a:gd name="T80" fmla="*/ 427 w 850"/>
                <a:gd name="T81" fmla="*/ 583 h 583"/>
                <a:gd name="T82" fmla="*/ 391 w 850"/>
                <a:gd name="T83" fmla="*/ 583 h 583"/>
                <a:gd name="T84" fmla="*/ 353 w 850"/>
                <a:gd name="T85" fmla="*/ 583 h 583"/>
                <a:gd name="T86" fmla="*/ 310 w 850"/>
                <a:gd name="T87" fmla="*/ 583 h 583"/>
                <a:gd name="T88" fmla="*/ 272 w 850"/>
                <a:gd name="T89" fmla="*/ 583 h 583"/>
                <a:gd name="T90" fmla="*/ 234 w 850"/>
                <a:gd name="T91" fmla="*/ 583 h 583"/>
                <a:gd name="T92" fmla="*/ 198 w 850"/>
                <a:gd name="T93" fmla="*/ 560 h 583"/>
                <a:gd name="T94" fmla="*/ 160 w 850"/>
                <a:gd name="T95" fmla="*/ 545 h 583"/>
                <a:gd name="T96" fmla="*/ 125 w 850"/>
                <a:gd name="T97" fmla="*/ 524 h 583"/>
                <a:gd name="T98" fmla="*/ 92 w 850"/>
                <a:gd name="T99" fmla="*/ 487 h 583"/>
                <a:gd name="T100" fmla="*/ 68 w 850"/>
                <a:gd name="T101" fmla="*/ 456 h 583"/>
                <a:gd name="T102" fmla="*/ 43 w 850"/>
                <a:gd name="T103" fmla="*/ 413 h 583"/>
                <a:gd name="T104" fmla="*/ 17 w 850"/>
                <a:gd name="T105" fmla="*/ 360 h 583"/>
                <a:gd name="T106" fmla="*/ 0 w 850"/>
                <a:gd name="T107" fmla="*/ 309 h 583"/>
                <a:gd name="T108" fmla="*/ 0 w 850"/>
                <a:gd name="T109" fmla="*/ 264 h 583"/>
                <a:gd name="T110" fmla="*/ 6 w 850"/>
                <a:gd name="T111" fmla="*/ 213 h 583"/>
                <a:gd name="T112" fmla="*/ 30 w 850"/>
                <a:gd name="T113" fmla="*/ 175 h 583"/>
                <a:gd name="T114" fmla="*/ 62 w 850"/>
                <a:gd name="T115" fmla="*/ 155 h 583"/>
                <a:gd name="T116" fmla="*/ 98 w 850"/>
                <a:gd name="T117" fmla="*/ 139 h 583"/>
                <a:gd name="T118" fmla="*/ 130 w 850"/>
                <a:gd name="T119" fmla="*/ 117 h 583"/>
                <a:gd name="T120" fmla="*/ 147 w 850"/>
                <a:gd name="T121" fmla="*/ 139 h 58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50" h="583">
                  <a:moveTo>
                    <a:pt x="104" y="117"/>
                  </a:moveTo>
                  <a:lnTo>
                    <a:pt x="125" y="117"/>
                  </a:lnTo>
                  <a:lnTo>
                    <a:pt x="142" y="117"/>
                  </a:lnTo>
                  <a:lnTo>
                    <a:pt x="166" y="109"/>
                  </a:lnTo>
                  <a:lnTo>
                    <a:pt x="185" y="109"/>
                  </a:lnTo>
                  <a:lnTo>
                    <a:pt x="210" y="102"/>
                  </a:lnTo>
                  <a:lnTo>
                    <a:pt x="228" y="102"/>
                  </a:lnTo>
                  <a:lnTo>
                    <a:pt x="247" y="96"/>
                  </a:lnTo>
                  <a:lnTo>
                    <a:pt x="266" y="88"/>
                  </a:lnTo>
                  <a:lnTo>
                    <a:pt x="272" y="66"/>
                  </a:lnTo>
                  <a:lnTo>
                    <a:pt x="255" y="58"/>
                  </a:lnTo>
                  <a:lnTo>
                    <a:pt x="234" y="58"/>
                  </a:lnTo>
                  <a:lnTo>
                    <a:pt x="217" y="66"/>
                  </a:lnTo>
                  <a:lnTo>
                    <a:pt x="198" y="66"/>
                  </a:lnTo>
                  <a:lnTo>
                    <a:pt x="179" y="88"/>
                  </a:lnTo>
                  <a:lnTo>
                    <a:pt x="179" y="66"/>
                  </a:lnTo>
                  <a:lnTo>
                    <a:pt x="198" y="51"/>
                  </a:lnTo>
                  <a:lnTo>
                    <a:pt x="217" y="36"/>
                  </a:lnTo>
                  <a:lnTo>
                    <a:pt x="242" y="28"/>
                  </a:lnTo>
                  <a:lnTo>
                    <a:pt x="261" y="21"/>
                  </a:lnTo>
                  <a:lnTo>
                    <a:pt x="279" y="21"/>
                  </a:lnTo>
                  <a:lnTo>
                    <a:pt x="296" y="13"/>
                  </a:lnTo>
                  <a:lnTo>
                    <a:pt x="315" y="13"/>
                  </a:lnTo>
                  <a:lnTo>
                    <a:pt x="334" y="5"/>
                  </a:lnTo>
                  <a:lnTo>
                    <a:pt x="353" y="5"/>
                  </a:lnTo>
                  <a:lnTo>
                    <a:pt x="372" y="0"/>
                  </a:lnTo>
                  <a:lnTo>
                    <a:pt x="391" y="0"/>
                  </a:lnTo>
                  <a:lnTo>
                    <a:pt x="410" y="0"/>
                  </a:lnTo>
                  <a:lnTo>
                    <a:pt x="427" y="0"/>
                  </a:lnTo>
                  <a:lnTo>
                    <a:pt x="446" y="0"/>
                  </a:lnTo>
                  <a:lnTo>
                    <a:pt x="483" y="0"/>
                  </a:lnTo>
                  <a:lnTo>
                    <a:pt x="534" y="0"/>
                  </a:lnTo>
                  <a:lnTo>
                    <a:pt x="559" y="0"/>
                  </a:lnTo>
                  <a:lnTo>
                    <a:pt x="584" y="0"/>
                  </a:lnTo>
                  <a:lnTo>
                    <a:pt x="608" y="5"/>
                  </a:lnTo>
                  <a:lnTo>
                    <a:pt x="627" y="21"/>
                  </a:lnTo>
                  <a:lnTo>
                    <a:pt x="638" y="43"/>
                  </a:lnTo>
                  <a:lnTo>
                    <a:pt x="657" y="51"/>
                  </a:lnTo>
                  <a:lnTo>
                    <a:pt x="676" y="66"/>
                  </a:lnTo>
                  <a:lnTo>
                    <a:pt x="695" y="72"/>
                  </a:lnTo>
                  <a:lnTo>
                    <a:pt x="714" y="72"/>
                  </a:lnTo>
                  <a:lnTo>
                    <a:pt x="733" y="81"/>
                  </a:lnTo>
                  <a:lnTo>
                    <a:pt x="752" y="96"/>
                  </a:lnTo>
                  <a:lnTo>
                    <a:pt x="771" y="109"/>
                  </a:lnTo>
                  <a:lnTo>
                    <a:pt x="782" y="132"/>
                  </a:lnTo>
                  <a:lnTo>
                    <a:pt x="801" y="139"/>
                  </a:lnTo>
                  <a:lnTo>
                    <a:pt x="806" y="162"/>
                  </a:lnTo>
                  <a:lnTo>
                    <a:pt x="825" y="183"/>
                  </a:lnTo>
                  <a:lnTo>
                    <a:pt x="833" y="213"/>
                  </a:lnTo>
                  <a:lnTo>
                    <a:pt x="833" y="234"/>
                  </a:lnTo>
                  <a:lnTo>
                    <a:pt x="839" y="258"/>
                  </a:lnTo>
                  <a:lnTo>
                    <a:pt x="839" y="279"/>
                  </a:lnTo>
                  <a:lnTo>
                    <a:pt x="839" y="302"/>
                  </a:lnTo>
                  <a:lnTo>
                    <a:pt x="839" y="324"/>
                  </a:lnTo>
                  <a:lnTo>
                    <a:pt x="839" y="347"/>
                  </a:lnTo>
                  <a:lnTo>
                    <a:pt x="839" y="368"/>
                  </a:lnTo>
                  <a:lnTo>
                    <a:pt x="850" y="390"/>
                  </a:lnTo>
                  <a:lnTo>
                    <a:pt x="850" y="413"/>
                  </a:lnTo>
                  <a:lnTo>
                    <a:pt x="850" y="434"/>
                  </a:lnTo>
                  <a:lnTo>
                    <a:pt x="850" y="456"/>
                  </a:lnTo>
                  <a:lnTo>
                    <a:pt x="844" y="479"/>
                  </a:lnTo>
                  <a:lnTo>
                    <a:pt x="825" y="500"/>
                  </a:lnTo>
                  <a:lnTo>
                    <a:pt x="801" y="517"/>
                  </a:lnTo>
                  <a:lnTo>
                    <a:pt x="782" y="524"/>
                  </a:lnTo>
                  <a:lnTo>
                    <a:pt x="765" y="537"/>
                  </a:lnTo>
                  <a:lnTo>
                    <a:pt x="746" y="545"/>
                  </a:lnTo>
                  <a:lnTo>
                    <a:pt x="725" y="553"/>
                  </a:lnTo>
                  <a:lnTo>
                    <a:pt x="708" y="568"/>
                  </a:lnTo>
                  <a:lnTo>
                    <a:pt x="689" y="575"/>
                  </a:lnTo>
                  <a:lnTo>
                    <a:pt x="670" y="575"/>
                  </a:lnTo>
                  <a:lnTo>
                    <a:pt x="644" y="583"/>
                  </a:lnTo>
                  <a:lnTo>
                    <a:pt x="621" y="583"/>
                  </a:lnTo>
                  <a:lnTo>
                    <a:pt x="602" y="583"/>
                  </a:lnTo>
                  <a:lnTo>
                    <a:pt x="576" y="583"/>
                  </a:lnTo>
                  <a:lnTo>
                    <a:pt x="559" y="583"/>
                  </a:lnTo>
                  <a:lnTo>
                    <a:pt x="540" y="583"/>
                  </a:lnTo>
                  <a:lnTo>
                    <a:pt x="521" y="583"/>
                  </a:lnTo>
                  <a:lnTo>
                    <a:pt x="502" y="583"/>
                  </a:lnTo>
                  <a:lnTo>
                    <a:pt x="483" y="583"/>
                  </a:lnTo>
                  <a:lnTo>
                    <a:pt x="465" y="583"/>
                  </a:lnTo>
                  <a:lnTo>
                    <a:pt x="446" y="583"/>
                  </a:lnTo>
                  <a:lnTo>
                    <a:pt x="427" y="583"/>
                  </a:lnTo>
                  <a:lnTo>
                    <a:pt x="410" y="583"/>
                  </a:lnTo>
                  <a:lnTo>
                    <a:pt x="391" y="583"/>
                  </a:lnTo>
                  <a:lnTo>
                    <a:pt x="372" y="583"/>
                  </a:lnTo>
                  <a:lnTo>
                    <a:pt x="353" y="583"/>
                  </a:lnTo>
                  <a:lnTo>
                    <a:pt x="329" y="583"/>
                  </a:lnTo>
                  <a:lnTo>
                    <a:pt x="310" y="583"/>
                  </a:lnTo>
                  <a:lnTo>
                    <a:pt x="291" y="583"/>
                  </a:lnTo>
                  <a:lnTo>
                    <a:pt x="272" y="583"/>
                  </a:lnTo>
                  <a:lnTo>
                    <a:pt x="255" y="583"/>
                  </a:lnTo>
                  <a:lnTo>
                    <a:pt x="234" y="583"/>
                  </a:lnTo>
                  <a:lnTo>
                    <a:pt x="217" y="568"/>
                  </a:lnTo>
                  <a:lnTo>
                    <a:pt x="198" y="560"/>
                  </a:lnTo>
                  <a:lnTo>
                    <a:pt x="179" y="553"/>
                  </a:lnTo>
                  <a:lnTo>
                    <a:pt x="160" y="545"/>
                  </a:lnTo>
                  <a:lnTo>
                    <a:pt x="142" y="537"/>
                  </a:lnTo>
                  <a:lnTo>
                    <a:pt x="125" y="524"/>
                  </a:lnTo>
                  <a:lnTo>
                    <a:pt x="104" y="509"/>
                  </a:lnTo>
                  <a:lnTo>
                    <a:pt x="92" y="487"/>
                  </a:lnTo>
                  <a:lnTo>
                    <a:pt x="74" y="479"/>
                  </a:lnTo>
                  <a:lnTo>
                    <a:pt x="68" y="456"/>
                  </a:lnTo>
                  <a:lnTo>
                    <a:pt x="49" y="434"/>
                  </a:lnTo>
                  <a:lnTo>
                    <a:pt x="43" y="413"/>
                  </a:lnTo>
                  <a:lnTo>
                    <a:pt x="24" y="390"/>
                  </a:lnTo>
                  <a:lnTo>
                    <a:pt x="17" y="360"/>
                  </a:lnTo>
                  <a:lnTo>
                    <a:pt x="6" y="330"/>
                  </a:lnTo>
                  <a:lnTo>
                    <a:pt x="0" y="309"/>
                  </a:lnTo>
                  <a:lnTo>
                    <a:pt x="0" y="287"/>
                  </a:lnTo>
                  <a:lnTo>
                    <a:pt x="0" y="264"/>
                  </a:lnTo>
                  <a:lnTo>
                    <a:pt x="0" y="243"/>
                  </a:lnTo>
                  <a:lnTo>
                    <a:pt x="6" y="213"/>
                  </a:lnTo>
                  <a:lnTo>
                    <a:pt x="11" y="192"/>
                  </a:lnTo>
                  <a:lnTo>
                    <a:pt x="30" y="175"/>
                  </a:lnTo>
                  <a:lnTo>
                    <a:pt x="43" y="155"/>
                  </a:lnTo>
                  <a:lnTo>
                    <a:pt x="62" y="155"/>
                  </a:lnTo>
                  <a:lnTo>
                    <a:pt x="79" y="147"/>
                  </a:lnTo>
                  <a:lnTo>
                    <a:pt x="98" y="139"/>
                  </a:lnTo>
                  <a:lnTo>
                    <a:pt x="117" y="139"/>
                  </a:lnTo>
                  <a:lnTo>
                    <a:pt x="130" y="117"/>
                  </a:lnTo>
                  <a:lnTo>
                    <a:pt x="130" y="96"/>
                  </a:lnTo>
                  <a:lnTo>
                    <a:pt x="147" y="139"/>
                  </a:lnTo>
                  <a:lnTo>
                    <a:pt x="104" y="117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7" name="Freeform 20"/>
            <p:cNvSpPr>
              <a:spLocks/>
            </p:cNvSpPr>
            <p:nvPr/>
          </p:nvSpPr>
          <p:spPr bwMode="auto">
            <a:xfrm>
              <a:off x="3483" y="2787"/>
              <a:ext cx="132" cy="168"/>
            </a:xfrm>
            <a:custGeom>
              <a:avLst/>
              <a:gdLst>
                <a:gd name="T0" fmla="*/ 6 w 132"/>
                <a:gd name="T1" fmla="*/ 95 h 168"/>
                <a:gd name="T2" fmla="*/ 0 w 132"/>
                <a:gd name="T3" fmla="*/ 72 h 168"/>
                <a:gd name="T4" fmla="*/ 0 w 132"/>
                <a:gd name="T5" fmla="*/ 51 h 168"/>
                <a:gd name="T6" fmla="*/ 17 w 132"/>
                <a:gd name="T7" fmla="*/ 36 h 168"/>
                <a:gd name="T8" fmla="*/ 36 w 132"/>
                <a:gd name="T9" fmla="*/ 21 h 168"/>
                <a:gd name="T10" fmla="*/ 53 w 132"/>
                <a:gd name="T11" fmla="*/ 0 h 168"/>
                <a:gd name="T12" fmla="*/ 72 w 132"/>
                <a:gd name="T13" fmla="*/ 0 h 168"/>
                <a:gd name="T14" fmla="*/ 91 w 132"/>
                <a:gd name="T15" fmla="*/ 0 h 168"/>
                <a:gd name="T16" fmla="*/ 97 w 132"/>
                <a:gd name="T17" fmla="*/ 21 h 168"/>
                <a:gd name="T18" fmla="*/ 110 w 132"/>
                <a:gd name="T19" fmla="*/ 44 h 168"/>
                <a:gd name="T20" fmla="*/ 121 w 132"/>
                <a:gd name="T21" fmla="*/ 66 h 168"/>
                <a:gd name="T22" fmla="*/ 127 w 132"/>
                <a:gd name="T23" fmla="*/ 87 h 168"/>
                <a:gd name="T24" fmla="*/ 132 w 132"/>
                <a:gd name="T25" fmla="*/ 108 h 168"/>
                <a:gd name="T26" fmla="*/ 132 w 132"/>
                <a:gd name="T27" fmla="*/ 132 h 168"/>
                <a:gd name="T28" fmla="*/ 132 w 132"/>
                <a:gd name="T29" fmla="*/ 153 h 168"/>
                <a:gd name="T30" fmla="*/ 115 w 132"/>
                <a:gd name="T31" fmla="*/ 168 h 168"/>
                <a:gd name="T32" fmla="*/ 97 w 132"/>
                <a:gd name="T33" fmla="*/ 168 h 168"/>
                <a:gd name="T34" fmla="*/ 80 w 132"/>
                <a:gd name="T35" fmla="*/ 168 h 168"/>
                <a:gd name="T36" fmla="*/ 61 w 132"/>
                <a:gd name="T37" fmla="*/ 168 h 168"/>
                <a:gd name="T38" fmla="*/ 42 w 132"/>
                <a:gd name="T39" fmla="*/ 161 h 168"/>
                <a:gd name="T40" fmla="*/ 23 w 132"/>
                <a:gd name="T41" fmla="*/ 146 h 168"/>
                <a:gd name="T42" fmla="*/ 12 w 132"/>
                <a:gd name="T43" fmla="*/ 123 h 168"/>
                <a:gd name="T44" fmla="*/ 6 w 132"/>
                <a:gd name="T45" fmla="*/ 102 h 168"/>
                <a:gd name="T46" fmla="*/ 6 w 132"/>
                <a:gd name="T47" fmla="*/ 95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32" h="168">
                  <a:moveTo>
                    <a:pt x="6" y="95"/>
                  </a:moveTo>
                  <a:lnTo>
                    <a:pt x="0" y="72"/>
                  </a:lnTo>
                  <a:lnTo>
                    <a:pt x="0" y="51"/>
                  </a:lnTo>
                  <a:lnTo>
                    <a:pt x="17" y="36"/>
                  </a:lnTo>
                  <a:lnTo>
                    <a:pt x="36" y="21"/>
                  </a:lnTo>
                  <a:lnTo>
                    <a:pt x="53" y="0"/>
                  </a:lnTo>
                  <a:lnTo>
                    <a:pt x="72" y="0"/>
                  </a:lnTo>
                  <a:lnTo>
                    <a:pt x="91" y="0"/>
                  </a:lnTo>
                  <a:lnTo>
                    <a:pt x="97" y="21"/>
                  </a:lnTo>
                  <a:lnTo>
                    <a:pt x="110" y="44"/>
                  </a:lnTo>
                  <a:lnTo>
                    <a:pt x="121" y="66"/>
                  </a:lnTo>
                  <a:lnTo>
                    <a:pt x="127" y="87"/>
                  </a:lnTo>
                  <a:lnTo>
                    <a:pt x="132" y="108"/>
                  </a:lnTo>
                  <a:lnTo>
                    <a:pt x="132" y="132"/>
                  </a:lnTo>
                  <a:lnTo>
                    <a:pt x="132" y="153"/>
                  </a:lnTo>
                  <a:lnTo>
                    <a:pt x="115" y="168"/>
                  </a:lnTo>
                  <a:lnTo>
                    <a:pt x="97" y="168"/>
                  </a:lnTo>
                  <a:lnTo>
                    <a:pt x="80" y="168"/>
                  </a:lnTo>
                  <a:lnTo>
                    <a:pt x="61" y="168"/>
                  </a:lnTo>
                  <a:lnTo>
                    <a:pt x="42" y="161"/>
                  </a:lnTo>
                  <a:lnTo>
                    <a:pt x="23" y="146"/>
                  </a:lnTo>
                  <a:lnTo>
                    <a:pt x="12" y="123"/>
                  </a:lnTo>
                  <a:lnTo>
                    <a:pt x="6" y="102"/>
                  </a:lnTo>
                  <a:lnTo>
                    <a:pt x="6" y="9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38278" name="Freeform 21"/>
            <p:cNvSpPr>
              <a:spLocks/>
            </p:cNvSpPr>
            <p:nvPr/>
          </p:nvSpPr>
          <p:spPr bwMode="auto">
            <a:xfrm>
              <a:off x="3802" y="2742"/>
              <a:ext cx="93" cy="123"/>
            </a:xfrm>
            <a:custGeom>
              <a:avLst/>
              <a:gdLst>
                <a:gd name="T0" fmla="*/ 0 w 93"/>
                <a:gd name="T1" fmla="*/ 0 h 123"/>
                <a:gd name="T2" fmla="*/ 17 w 93"/>
                <a:gd name="T3" fmla="*/ 15 h 123"/>
                <a:gd name="T4" fmla="*/ 36 w 93"/>
                <a:gd name="T5" fmla="*/ 28 h 123"/>
                <a:gd name="T6" fmla="*/ 55 w 93"/>
                <a:gd name="T7" fmla="*/ 28 h 123"/>
                <a:gd name="T8" fmla="*/ 74 w 93"/>
                <a:gd name="T9" fmla="*/ 44 h 123"/>
                <a:gd name="T10" fmla="*/ 87 w 93"/>
                <a:gd name="T11" fmla="*/ 66 h 123"/>
                <a:gd name="T12" fmla="*/ 93 w 93"/>
                <a:gd name="T13" fmla="*/ 87 h 123"/>
                <a:gd name="T14" fmla="*/ 93 w 93"/>
                <a:gd name="T15" fmla="*/ 110 h 123"/>
                <a:gd name="T16" fmla="*/ 74 w 93"/>
                <a:gd name="T17" fmla="*/ 123 h 123"/>
                <a:gd name="T18" fmla="*/ 55 w 93"/>
                <a:gd name="T19" fmla="*/ 123 h 123"/>
                <a:gd name="T20" fmla="*/ 31 w 93"/>
                <a:gd name="T21" fmla="*/ 115 h 123"/>
                <a:gd name="T22" fmla="*/ 12 w 93"/>
                <a:gd name="T23" fmla="*/ 102 h 123"/>
                <a:gd name="T24" fmla="*/ 6 w 93"/>
                <a:gd name="T25" fmla="*/ 79 h 123"/>
                <a:gd name="T26" fmla="*/ 0 w 93"/>
                <a:gd name="T27" fmla="*/ 57 h 123"/>
                <a:gd name="T28" fmla="*/ 0 w 93"/>
                <a:gd name="T29" fmla="*/ 36 h 123"/>
                <a:gd name="T30" fmla="*/ 12 w 93"/>
                <a:gd name="T31" fmla="*/ 15 h 123"/>
                <a:gd name="T32" fmla="*/ 0 w 93"/>
                <a:gd name="T33" fmla="*/ 0 h 1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3" h="123">
                  <a:moveTo>
                    <a:pt x="0" y="0"/>
                  </a:moveTo>
                  <a:lnTo>
                    <a:pt x="17" y="15"/>
                  </a:lnTo>
                  <a:lnTo>
                    <a:pt x="36" y="28"/>
                  </a:lnTo>
                  <a:lnTo>
                    <a:pt x="55" y="28"/>
                  </a:lnTo>
                  <a:lnTo>
                    <a:pt x="74" y="44"/>
                  </a:lnTo>
                  <a:lnTo>
                    <a:pt x="87" y="66"/>
                  </a:lnTo>
                  <a:lnTo>
                    <a:pt x="93" y="87"/>
                  </a:lnTo>
                  <a:lnTo>
                    <a:pt x="93" y="110"/>
                  </a:lnTo>
                  <a:lnTo>
                    <a:pt x="74" y="123"/>
                  </a:lnTo>
                  <a:lnTo>
                    <a:pt x="55" y="123"/>
                  </a:lnTo>
                  <a:lnTo>
                    <a:pt x="31" y="115"/>
                  </a:lnTo>
                  <a:lnTo>
                    <a:pt x="12" y="102"/>
                  </a:lnTo>
                  <a:lnTo>
                    <a:pt x="6" y="79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1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>
                <a:solidFill>
                  <a:srgbClr val="000000"/>
                </a:solidFill>
                <a:latin typeface="Tahoma" pitchFamily="34" charset="0"/>
                <a:ea typeface="宋体" charset="-122"/>
              </a:endParaRPr>
            </a:p>
          </p:txBody>
        </p:sp>
      </p:grpSp>
      <p:sp>
        <p:nvSpPr>
          <p:cNvPr id="138249" name="Line 22"/>
          <p:cNvSpPr>
            <a:spLocks noChangeShapeType="1"/>
          </p:cNvSpPr>
          <p:nvPr/>
        </p:nvSpPr>
        <p:spPr bwMode="auto">
          <a:xfrm>
            <a:off x="134938" y="3397250"/>
            <a:ext cx="3570287" cy="222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38250" name="Line 23"/>
          <p:cNvSpPr>
            <a:spLocks noChangeShapeType="1"/>
          </p:cNvSpPr>
          <p:nvPr/>
        </p:nvSpPr>
        <p:spPr bwMode="auto">
          <a:xfrm>
            <a:off x="366713" y="2995613"/>
            <a:ext cx="0" cy="4238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138251" name="Line 24"/>
          <p:cNvSpPr>
            <a:spLocks noChangeShapeType="1"/>
          </p:cNvSpPr>
          <p:nvPr/>
        </p:nvSpPr>
        <p:spPr bwMode="auto">
          <a:xfrm>
            <a:off x="3324225" y="3419475"/>
            <a:ext cx="0" cy="4222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rgbClr val="000000"/>
              </a:solidFill>
              <a:latin typeface="Tahoma" pitchFamily="34" charset="0"/>
              <a:ea typeface="宋体" charset="-122"/>
            </a:endParaRPr>
          </a:p>
        </p:txBody>
      </p:sp>
      <p:pic>
        <p:nvPicPr>
          <p:cNvPr id="138252" name="Picture 2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2500313"/>
            <a:ext cx="620712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8253" name="Text Box 26"/>
          <p:cNvSpPr txBox="1">
            <a:spLocks noChangeArrowheads="1"/>
          </p:cNvSpPr>
          <p:nvPr/>
        </p:nvSpPr>
        <p:spPr bwMode="auto">
          <a:xfrm>
            <a:off x="6648450" y="3802063"/>
            <a:ext cx="69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其他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网络</a:t>
            </a:r>
          </a:p>
        </p:txBody>
      </p:sp>
      <p:sp>
        <p:nvSpPr>
          <p:cNvPr id="138254" name="Text Box 27"/>
          <p:cNvSpPr txBox="1">
            <a:spLocks noChangeArrowheads="1"/>
          </p:cNvSpPr>
          <p:nvPr/>
        </p:nvSpPr>
        <p:spPr bwMode="auto">
          <a:xfrm>
            <a:off x="2762250" y="4405313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DHCP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中继代理</a:t>
            </a:r>
          </a:p>
        </p:txBody>
      </p:sp>
      <p:grpSp>
        <p:nvGrpSpPr>
          <p:cNvPr id="724009" name="Group 41"/>
          <p:cNvGrpSpPr>
            <a:grpSpLocks/>
          </p:cNvGrpSpPr>
          <p:nvPr/>
        </p:nvGrpSpPr>
        <p:grpSpPr bwMode="auto">
          <a:xfrm>
            <a:off x="906463" y="2349500"/>
            <a:ext cx="2576512" cy="858838"/>
            <a:chOff x="571" y="1480"/>
            <a:chExt cx="1623" cy="541"/>
          </a:xfrm>
        </p:grpSpPr>
        <p:grpSp>
          <p:nvGrpSpPr>
            <p:cNvPr id="138264" name="Group 31"/>
            <p:cNvGrpSpPr>
              <a:grpSpLocks/>
            </p:cNvGrpSpPr>
            <p:nvPr/>
          </p:nvGrpSpPr>
          <p:grpSpPr bwMode="auto">
            <a:xfrm>
              <a:off x="571" y="1754"/>
              <a:ext cx="1623" cy="267"/>
              <a:chOff x="1008" y="2400"/>
              <a:chExt cx="1296" cy="192"/>
            </a:xfrm>
          </p:grpSpPr>
          <p:sp>
            <p:nvSpPr>
              <p:cNvPr id="138266" name="AutoShape 32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240" cy="96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38267" name="Rectangle 33"/>
              <p:cNvSpPr>
                <a:spLocks noChangeArrowheads="1"/>
              </p:cNvSpPr>
              <p:nvPr/>
            </p:nvSpPr>
            <p:spPr bwMode="auto">
              <a:xfrm>
                <a:off x="1008" y="2400"/>
                <a:ext cx="1056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333399"/>
                    </a:solidFill>
                  </a:rPr>
                  <a:t>DHCPDISCOVER</a:t>
                </a:r>
              </a:p>
            </p:txBody>
          </p:sp>
        </p:grpSp>
        <p:sp>
          <p:nvSpPr>
            <p:cNvPr id="138265" name="Text Box 34"/>
            <p:cNvSpPr txBox="1">
              <a:spLocks noChangeArrowheads="1"/>
            </p:cNvSpPr>
            <p:nvPr/>
          </p:nvSpPr>
          <p:spPr bwMode="auto">
            <a:xfrm>
              <a:off x="967" y="148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99"/>
                  </a:solidFill>
                  <a:latin typeface="Arial" charset="0"/>
                  <a:ea typeface="黑体" pitchFamily="2" charset="-122"/>
                </a:rPr>
                <a:t>广播</a:t>
              </a:r>
            </a:p>
          </p:txBody>
        </p:sp>
      </p:grpSp>
      <p:grpSp>
        <p:nvGrpSpPr>
          <p:cNvPr id="724010" name="Group 42"/>
          <p:cNvGrpSpPr>
            <a:grpSpLocks/>
          </p:cNvGrpSpPr>
          <p:nvPr/>
        </p:nvGrpSpPr>
        <p:grpSpPr bwMode="auto">
          <a:xfrm>
            <a:off x="3705225" y="3214688"/>
            <a:ext cx="2578100" cy="838200"/>
            <a:chOff x="2334" y="2025"/>
            <a:chExt cx="1624" cy="528"/>
          </a:xfrm>
        </p:grpSpPr>
        <p:grpSp>
          <p:nvGrpSpPr>
            <p:cNvPr id="138260" name="Group 28"/>
            <p:cNvGrpSpPr>
              <a:grpSpLocks/>
            </p:cNvGrpSpPr>
            <p:nvPr/>
          </p:nvGrpSpPr>
          <p:grpSpPr bwMode="auto">
            <a:xfrm>
              <a:off x="2334" y="2287"/>
              <a:ext cx="1624" cy="266"/>
              <a:chOff x="1008" y="2400"/>
              <a:chExt cx="1296" cy="192"/>
            </a:xfrm>
          </p:grpSpPr>
          <p:sp>
            <p:nvSpPr>
              <p:cNvPr id="138262" name="AutoShape 29"/>
              <p:cNvSpPr>
                <a:spLocks noChangeArrowheads="1"/>
              </p:cNvSpPr>
              <p:nvPr/>
            </p:nvSpPr>
            <p:spPr bwMode="auto">
              <a:xfrm>
                <a:off x="2064" y="2448"/>
                <a:ext cx="240" cy="96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rgbClr val="FFCCFF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600">
                  <a:solidFill>
                    <a:srgbClr val="000000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38263" name="Rectangle 30"/>
              <p:cNvSpPr>
                <a:spLocks noChangeArrowheads="1"/>
              </p:cNvSpPr>
              <p:nvPr/>
            </p:nvSpPr>
            <p:spPr bwMode="auto">
              <a:xfrm>
                <a:off x="1008" y="2400"/>
                <a:ext cx="1056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333399"/>
                    </a:solidFill>
                  </a:rPr>
                  <a:t>DHCPDISCOVER</a:t>
                </a:r>
              </a:p>
            </p:txBody>
          </p:sp>
        </p:grpSp>
        <p:sp>
          <p:nvSpPr>
            <p:cNvPr id="138261" name="Text Box 35"/>
            <p:cNvSpPr txBox="1">
              <a:spLocks noChangeArrowheads="1"/>
            </p:cNvSpPr>
            <p:nvPr/>
          </p:nvSpPr>
          <p:spPr bwMode="auto">
            <a:xfrm>
              <a:off x="2764" y="2025"/>
              <a:ext cx="4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99"/>
                  </a:solidFill>
                  <a:latin typeface="Arial" charset="0"/>
                  <a:ea typeface="黑体" pitchFamily="2" charset="-122"/>
                </a:rPr>
                <a:t>单播</a:t>
              </a:r>
            </a:p>
          </p:txBody>
        </p:sp>
      </p:grpSp>
      <p:pic>
        <p:nvPicPr>
          <p:cNvPr id="138257" name="Picture 36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3725863"/>
            <a:ext cx="620713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8258" name="Picture 3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3762375"/>
            <a:ext cx="62230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4008" name="Text Box 40"/>
          <p:cNvSpPr txBox="1">
            <a:spLocks noChangeArrowheads="1"/>
          </p:cNvSpPr>
          <p:nvPr/>
        </p:nvSpPr>
        <p:spPr bwMode="auto">
          <a:xfrm>
            <a:off x="357188" y="5413375"/>
            <a:ext cx="8391525" cy="528638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注意：</a:t>
            </a:r>
            <a:r>
              <a:rPr lang="en-US" altLang="zh-CN" sz="28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DHCP </a:t>
            </a:r>
            <a:r>
              <a:rPr lang="zh-CN" altLang="en-US" sz="28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报文只是 </a:t>
            </a:r>
            <a:r>
              <a:rPr lang="en-US" altLang="zh-CN" sz="28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UDP </a:t>
            </a:r>
            <a:r>
              <a:rPr lang="zh-CN" altLang="en-US" sz="2800">
                <a:solidFill>
                  <a:srgbClr val="333399"/>
                </a:solidFill>
                <a:latin typeface="Arial" charset="0"/>
                <a:ea typeface="黑体" pitchFamily="2" charset="-122"/>
              </a:rPr>
              <a:t>用户数据报中的数据。 </a:t>
            </a:r>
          </a:p>
        </p:txBody>
      </p:sp>
    </p:spTree>
    <p:extLst>
      <p:ext uri="{BB962C8B-B14F-4D97-AF65-F5344CB8AC3E}">
        <p14:creationId xmlns:p14="http://schemas.microsoft.com/office/powerpoint/2010/main" val="115963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2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00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DHCP </a:t>
            </a:r>
            <a:r>
              <a:rPr lang="zh-CN" altLang="en-US"/>
              <a:t>中继代理</a:t>
            </a:r>
            <a:r>
              <a:rPr lang="en-US" altLang="zh-CN"/>
              <a:t>(relay agent) </a:t>
            </a:r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906588"/>
            <a:ext cx="7777484" cy="4906788"/>
          </a:xfrm>
        </p:spPr>
        <p:txBody>
          <a:bodyPr/>
          <a:lstStyle/>
          <a:p>
            <a:pPr eaLnBrk="1" hangingPunct="1"/>
            <a:r>
              <a:rPr lang="zh-CN" altLang="en-US" sz="2800"/>
              <a:t>并不是每个网络上都有 </a:t>
            </a:r>
            <a:r>
              <a:rPr lang="en-US" altLang="zh-CN" sz="2800"/>
              <a:t>DHCP </a:t>
            </a:r>
            <a:r>
              <a:rPr lang="zh-CN" altLang="en-US" sz="2800"/>
              <a:t>服务器，这样会使 </a:t>
            </a:r>
            <a:r>
              <a:rPr lang="en-US" altLang="zh-CN" sz="2800"/>
              <a:t>DHCP </a:t>
            </a:r>
            <a:r>
              <a:rPr lang="zh-CN" altLang="en-US" sz="2800"/>
              <a:t>服务器的数量太多。现在是每一个网络至少有一个 </a:t>
            </a:r>
            <a:r>
              <a:rPr lang="en-US" altLang="zh-CN" sz="2800"/>
              <a:t>DHCP </a:t>
            </a:r>
            <a:r>
              <a:rPr lang="zh-CN" altLang="en-US" sz="2800">
                <a:solidFill>
                  <a:schemeClr val="hlink"/>
                </a:solidFill>
              </a:rPr>
              <a:t>中继代理</a:t>
            </a:r>
            <a:r>
              <a:rPr lang="zh-CN" altLang="en-US" sz="2800"/>
              <a:t>，它配置了 </a:t>
            </a:r>
            <a:r>
              <a:rPr lang="en-US" altLang="zh-CN" sz="2800"/>
              <a:t>DHCP </a:t>
            </a:r>
            <a:r>
              <a:rPr lang="zh-CN" altLang="en-US" sz="2800"/>
              <a:t>服务器的 </a:t>
            </a:r>
            <a:r>
              <a:rPr lang="en-US" altLang="zh-CN" sz="2800"/>
              <a:t>IP </a:t>
            </a:r>
            <a:r>
              <a:rPr lang="zh-CN" altLang="en-US" sz="2800"/>
              <a:t>地址信息。</a:t>
            </a:r>
          </a:p>
          <a:p>
            <a:pPr eaLnBrk="1" hangingPunct="1"/>
            <a:r>
              <a:rPr lang="zh-CN" altLang="en-US" sz="2800"/>
              <a:t>当 </a:t>
            </a:r>
            <a:r>
              <a:rPr lang="en-US" altLang="zh-CN" sz="2800"/>
              <a:t>DHCP </a:t>
            </a:r>
            <a:r>
              <a:rPr lang="zh-CN" altLang="en-US" sz="2800"/>
              <a:t>中继代理收到主机发送的发现报文后，就以</a:t>
            </a:r>
            <a:r>
              <a:rPr lang="zh-CN" altLang="en-US" sz="2800">
                <a:solidFill>
                  <a:srgbClr val="FF0000"/>
                </a:solidFill>
              </a:rPr>
              <a:t>单播</a:t>
            </a:r>
            <a:r>
              <a:rPr lang="zh-CN" altLang="en-US" sz="2800"/>
              <a:t>方式向 </a:t>
            </a:r>
            <a:r>
              <a:rPr lang="en-US" altLang="zh-CN" sz="2800"/>
              <a:t>DHCP </a:t>
            </a:r>
            <a:r>
              <a:rPr lang="zh-CN" altLang="en-US" sz="2800"/>
              <a:t>服务器转发此报文，并等待其回答。收到 </a:t>
            </a:r>
            <a:r>
              <a:rPr lang="en-US" altLang="zh-CN" sz="2800"/>
              <a:t>DHCP </a:t>
            </a:r>
            <a:r>
              <a:rPr lang="zh-CN" altLang="en-US" sz="2800"/>
              <a:t>服务器回答的提供报文后，</a:t>
            </a:r>
            <a:r>
              <a:rPr lang="en-US" altLang="zh-CN" sz="2800"/>
              <a:t>DHCP </a:t>
            </a:r>
            <a:r>
              <a:rPr lang="zh-CN" altLang="en-US" sz="2800"/>
              <a:t>中继代理再将此提供报文发回给主机。</a:t>
            </a:r>
            <a:endParaRPr lang="en-US" altLang="zh-CN" sz="2800"/>
          </a:p>
          <a:p>
            <a:pPr eaLnBrk="1" hangingPunct="1"/>
            <a:r>
              <a:rPr lang="zh-CN" altLang="en-US" sz="2800"/>
              <a:t>路由器默认是隔离广播包的，所以跨网段的</a:t>
            </a:r>
            <a:r>
              <a:rPr lang="en-US" altLang="zh-CN" sz="2800"/>
              <a:t>DHCP</a:t>
            </a:r>
            <a:r>
              <a:rPr lang="zh-CN" altLang="en-US" sz="2800"/>
              <a:t>必须通过中继代理单播。</a:t>
            </a:r>
          </a:p>
        </p:txBody>
      </p:sp>
    </p:spTree>
    <p:extLst>
      <p:ext uri="{BB962C8B-B14F-4D97-AF65-F5344CB8AC3E}">
        <p14:creationId xmlns:p14="http://schemas.microsoft.com/office/powerpoint/2010/main" val="316158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7105477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D2C7945-85E2-397D-D7A7-2493F3A39B22}"/>
              </a:ext>
            </a:extLst>
          </p:cNvPr>
          <p:cNvSpPr txBox="1"/>
          <p:nvPr/>
        </p:nvSpPr>
        <p:spPr>
          <a:xfrm>
            <a:off x="2627784" y="836712"/>
            <a:ext cx="10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router-pt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/>
              <a:t>依图中所示网段，给路由器端口分配</a:t>
            </a:r>
            <a:r>
              <a:rPr lang="en-US" altLang="zh-CN"/>
              <a:t>IP</a:t>
            </a:r>
            <a:r>
              <a:rPr lang="zh-CN" altLang="en-US"/>
              <a:t>地址、配置静态路由。</a:t>
            </a:r>
            <a:endParaRPr lang="en-US" altLang="zh-CN"/>
          </a:p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服务器的</a:t>
            </a:r>
            <a:r>
              <a:rPr lang="en-US" altLang="zh-CN"/>
              <a:t>IP</a:t>
            </a:r>
            <a:r>
              <a:rPr lang="zh-CN" altLang="en-US"/>
              <a:t>地址为</a:t>
            </a:r>
            <a:r>
              <a:rPr lang="en-US" altLang="zh-CN"/>
              <a:t>192.168.2.254</a:t>
            </a:r>
          </a:p>
          <a:p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服务器的地址池。</a:t>
            </a:r>
            <a:r>
              <a:rPr lang="zh-CN" altLang="en-US">
                <a:solidFill>
                  <a:srgbClr val="FF0000"/>
                </a:solidFill>
              </a:rPr>
              <a:t>默认的</a:t>
            </a:r>
            <a:r>
              <a:rPr lang="en-US" altLang="zh-CN">
                <a:solidFill>
                  <a:srgbClr val="FF0000"/>
                </a:solidFill>
              </a:rPr>
              <a:t>serverPool</a:t>
            </a:r>
            <a:r>
              <a:rPr lang="zh-CN" altLang="en-US">
                <a:solidFill>
                  <a:srgbClr val="FF0000"/>
                </a:solidFill>
              </a:rPr>
              <a:t>为服务器所有网络的地址池，</a:t>
            </a:r>
            <a:r>
              <a:rPr lang="zh-CN" altLang="en-US"/>
              <a:t>必须配置且不可更改名称。</a:t>
            </a:r>
            <a:endParaRPr lang="en-US" altLang="zh-CN"/>
          </a:p>
          <a:p>
            <a:r>
              <a:rPr lang="zh-CN" altLang="en-US"/>
              <a:t>路由器</a:t>
            </a:r>
            <a:r>
              <a:rPr lang="en-US" altLang="zh-CN"/>
              <a:t>Router2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端口</a:t>
            </a:r>
            <a:r>
              <a:rPr lang="en-US" altLang="zh-CN">
                <a:solidFill>
                  <a:srgbClr val="FF0000"/>
                </a:solidFill>
              </a:rPr>
              <a:t>fa0/0</a:t>
            </a:r>
            <a:r>
              <a:rPr lang="zh-CN" altLang="en-US"/>
              <a:t>配置</a:t>
            </a:r>
            <a:r>
              <a:rPr lang="en-US" altLang="zh-CN"/>
              <a:t>DHCP</a:t>
            </a:r>
            <a:r>
              <a:rPr lang="zh-CN" altLang="en-US"/>
              <a:t>中继代理。</a:t>
            </a:r>
            <a:endParaRPr lang="en-US" altLang="zh-CN"/>
          </a:p>
          <a:p>
            <a:r>
              <a:rPr lang="en-US" altLang="zh-CN" sz="2800">
                <a:solidFill>
                  <a:srgbClr val="FF0000"/>
                </a:solidFill>
              </a:rPr>
              <a:t>Router2(config-if)#</a:t>
            </a:r>
            <a:r>
              <a:rPr lang="en-US" altLang="zh-CN" sz="2800"/>
              <a:t>ip helper-address 192.168.2.254</a:t>
            </a:r>
          </a:p>
          <a:p>
            <a:r>
              <a:rPr lang="zh-CN" altLang="en-US" sz="2800"/>
              <a:t>中继代理端口收到广播包后，重新封装成源地址为該端口地址，目的地址为</a:t>
            </a:r>
            <a:r>
              <a:rPr lang="en-US" altLang="zh-CN" sz="2800"/>
              <a:t>DHCP</a:t>
            </a:r>
            <a:r>
              <a:rPr lang="zh-CN" altLang="en-US" sz="2800"/>
              <a:t>服务器地址的单播包。</a:t>
            </a:r>
            <a:endParaRPr lang="en-US" altLang="zh-CN" sz="2800"/>
          </a:p>
          <a:p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418478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3" r="4214"/>
          <a:stretch/>
        </p:blipFill>
        <p:spPr bwMode="auto">
          <a:xfrm>
            <a:off x="107504" y="908720"/>
            <a:ext cx="8814291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135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设置</a:t>
            </a:r>
            <a:r>
              <a:rPr lang="en-US" altLang="zh-CN"/>
              <a:t>PC1</a:t>
            </a:r>
            <a:r>
              <a:rPr lang="zh-CN" altLang="en-US"/>
              <a:t>、</a:t>
            </a:r>
            <a:r>
              <a:rPr lang="en-US" altLang="zh-CN"/>
              <a:t>PC2</a:t>
            </a:r>
            <a:r>
              <a:rPr lang="zh-CN" altLang="en-US"/>
              <a:t>为</a:t>
            </a:r>
            <a:r>
              <a:rPr lang="en-US" altLang="zh-CN"/>
              <a:t>DHCP</a:t>
            </a:r>
            <a:r>
              <a:rPr lang="zh-CN" altLang="en-US"/>
              <a:t>自动获取网络参数</a:t>
            </a:r>
            <a:endParaRPr lang="en-US" altLang="zh-CN"/>
          </a:p>
          <a:p>
            <a:r>
              <a:rPr lang="en-US" altLang="zh-CN"/>
              <a:t>PC1 PING PC2</a:t>
            </a:r>
            <a:r>
              <a:rPr lang="zh-CN" altLang="en-US"/>
              <a:t>成功。</a:t>
            </a:r>
          </a:p>
        </p:txBody>
      </p:sp>
    </p:spTree>
    <p:extLst>
      <p:ext uri="{BB962C8B-B14F-4D97-AF65-F5344CB8AC3E}">
        <p14:creationId xmlns:p14="http://schemas.microsoft.com/office/powerpoint/2010/main" val="357129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E2BCD-5AF6-367B-577A-2608F937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DHCP</a:t>
            </a:r>
            <a:r>
              <a:rPr lang="zh-CN" altLang="en-US"/>
              <a:t>实验二（路由器作为</a:t>
            </a:r>
            <a:r>
              <a:rPr lang="en-US" altLang="zh-CN"/>
              <a:t>DHCP</a:t>
            </a:r>
            <a:r>
              <a:rPr lang="zh-CN" altLang="en-US"/>
              <a:t>服务器）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9B52E4-CC16-8298-CC15-E6FB6DCACE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3"/>
          <a:stretch/>
        </p:blipFill>
        <p:spPr bwMode="auto">
          <a:xfrm>
            <a:off x="4552993" y="1700808"/>
            <a:ext cx="4104456" cy="402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286877D-60A6-DE92-A66F-9F67FE0434EF}"/>
              </a:ext>
            </a:extLst>
          </p:cNvPr>
          <p:cNvSpPr txBox="1"/>
          <p:nvPr/>
        </p:nvSpPr>
        <p:spPr>
          <a:xfrm>
            <a:off x="899592" y="2060848"/>
            <a:ext cx="30963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创建地址池</a:t>
            </a:r>
            <a:br>
              <a:rPr lang="zh-CN" altLang="en-US"/>
            </a:b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2.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分配的地址池范围</a:t>
            </a:r>
            <a:br>
              <a:rPr lang="zh-CN" altLang="en-US"/>
            </a:b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3.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配置网关</a:t>
            </a:r>
            <a:br>
              <a:rPr lang="zh-CN" altLang="en-US"/>
            </a:b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4.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配置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dns</a:t>
            </a:r>
            <a:br>
              <a:rPr lang="zh-CN" altLang="en-US"/>
            </a:b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5.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给路由器端口配置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IP</a:t>
            </a:r>
            <a:br>
              <a:rPr lang="zh-CN" altLang="en-US"/>
            </a:b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6.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如有需要则配置不自动分配的地址段或某个地址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50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C4C6D-EA62-4F9B-E27C-37EE57472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  <a:t>命令配置</a:t>
            </a:r>
            <a:b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</a:b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05B28-E506-C09C-B79F-34D8316E7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/>
              <a:t>Router&gt;en</a:t>
            </a:r>
          </a:p>
          <a:p>
            <a:pPr marL="0" indent="0">
              <a:buNone/>
            </a:pPr>
            <a:r>
              <a:rPr lang="en-US" altLang="zh-CN"/>
              <a:t>Router#config t</a:t>
            </a:r>
          </a:p>
          <a:p>
            <a:pPr marL="0" indent="0">
              <a:buNone/>
            </a:pPr>
            <a:r>
              <a:rPr lang="en-US" altLang="zh-CN"/>
              <a:t>Router(config)#</a:t>
            </a:r>
            <a:r>
              <a:rPr lang="en-US" altLang="zh-CN">
                <a:solidFill>
                  <a:srgbClr val="FF0000"/>
                </a:solidFill>
              </a:rPr>
              <a:t>ip dhcp pool LAN </a:t>
            </a:r>
          </a:p>
          <a:p>
            <a:pPr marL="0" indent="0">
              <a:buNone/>
            </a:pPr>
            <a:r>
              <a:rPr lang="zh-CN" altLang="en-US" sz="2300">
                <a:solidFill>
                  <a:srgbClr val="FF0000"/>
                </a:solidFill>
              </a:rPr>
              <a:t>（创建地址池，名字（</a:t>
            </a:r>
            <a:r>
              <a:rPr lang="en-US" altLang="zh-CN" sz="2300">
                <a:solidFill>
                  <a:srgbClr val="FF0000"/>
                </a:solidFill>
              </a:rPr>
              <a:t>LAN</a:t>
            </a:r>
            <a:r>
              <a:rPr lang="zh-CN" altLang="en-US" sz="2300">
                <a:solidFill>
                  <a:srgbClr val="FF0000"/>
                </a:solidFill>
              </a:rPr>
              <a:t>）自定义）</a:t>
            </a:r>
            <a:endParaRPr lang="en-US" altLang="zh-CN" sz="23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/>
              <a:t>Router(dhcp-config)#</a:t>
            </a:r>
            <a:r>
              <a:rPr lang="en-US" altLang="zh-CN">
                <a:solidFill>
                  <a:srgbClr val="FF0000"/>
                </a:solidFill>
              </a:rPr>
              <a:t>network 192.168.1.0 255.255.255.0 </a:t>
            </a:r>
          </a:p>
          <a:p>
            <a:pPr marL="0" indent="0">
              <a:buNone/>
            </a:pPr>
            <a:r>
              <a:rPr lang="zh-CN" altLang="en-US"/>
              <a:t>（地址池范围）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Router(dhcp-config)#</a:t>
            </a:r>
            <a:r>
              <a:rPr lang="en-US" altLang="zh-CN">
                <a:solidFill>
                  <a:srgbClr val="FF0000"/>
                </a:solidFill>
              </a:rPr>
              <a:t>default-router 192.168.1.1 </a:t>
            </a:r>
            <a:r>
              <a:rPr lang="zh-CN" altLang="en-US"/>
              <a:t>（默认网关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Router(dhcp-config)#</a:t>
            </a:r>
            <a:r>
              <a:rPr lang="en-US" altLang="zh-CN">
                <a:solidFill>
                  <a:srgbClr val="FF0000"/>
                </a:solidFill>
              </a:rPr>
              <a:t>dns-server 192.168.1.2 </a:t>
            </a:r>
            <a:r>
              <a:rPr lang="zh-CN" altLang="en-US"/>
              <a:t>（</a:t>
            </a:r>
            <a:r>
              <a:rPr lang="en-US" altLang="zh-CN"/>
              <a:t>dns-server</a:t>
            </a:r>
            <a:r>
              <a:rPr lang="zh-CN" altLang="en-US"/>
              <a:t>服务）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Router(dhcp-config)#int fa 0/0</a:t>
            </a:r>
          </a:p>
          <a:p>
            <a:pPr marL="0" indent="0">
              <a:buNone/>
            </a:pPr>
            <a:r>
              <a:rPr lang="en-US" altLang="zh-CN"/>
              <a:t>Router(config-if)#ip address 192.168.1.1 255.255.255.0 </a:t>
            </a:r>
            <a:r>
              <a:rPr lang="zh-CN" altLang="en-US"/>
              <a:t>（路由端口</a:t>
            </a:r>
            <a:r>
              <a:rPr lang="en-US" altLang="zh-CN"/>
              <a:t>IP</a:t>
            </a:r>
            <a:r>
              <a:rPr lang="zh-CN" altLang="en-US"/>
              <a:t>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Router(config-if)#no shutdown</a:t>
            </a:r>
          </a:p>
          <a:p>
            <a:pPr marL="0" indent="0">
              <a:buNone/>
            </a:pPr>
            <a:r>
              <a:rPr lang="en-US" altLang="zh-CN"/>
              <a:t>Router(config-if)#exit</a:t>
            </a:r>
          </a:p>
          <a:p>
            <a:pPr marL="0" indent="0">
              <a:buNone/>
            </a:pPr>
            <a:r>
              <a:rPr lang="en-US" altLang="zh-CN"/>
              <a:t>Router(config)#</a:t>
            </a:r>
            <a:r>
              <a:rPr lang="en-US" altLang="zh-CN">
                <a:solidFill>
                  <a:srgbClr val="FF0000"/>
                </a:solidFill>
              </a:rPr>
              <a:t>ip dhcp excluded-address 192.168.1.1 192.168.1.9 </a:t>
            </a:r>
          </a:p>
          <a:p>
            <a:pPr marL="0" indent="0">
              <a:buNone/>
            </a:pPr>
            <a:r>
              <a:rPr lang="zh-CN" altLang="en-US"/>
              <a:t>（表示</a:t>
            </a:r>
            <a:r>
              <a:rPr lang="zh-CN" altLang="en-US">
                <a:solidFill>
                  <a:srgbClr val="FF0000"/>
                </a:solidFill>
              </a:rPr>
              <a:t>某一段</a:t>
            </a:r>
            <a:r>
              <a:rPr lang="en-US" altLang="zh-CN"/>
              <a:t>IP</a:t>
            </a:r>
            <a:r>
              <a:rPr lang="zh-CN" altLang="en-US"/>
              <a:t>地址不由</a:t>
            </a:r>
            <a:r>
              <a:rPr lang="en-US" altLang="zh-CN"/>
              <a:t>DHCP</a:t>
            </a:r>
            <a:r>
              <a:rPr lang="zh-CN" altLang="en-US"/>
              <a:t>分配）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Router(config)#ip dhcp excluded-address 192.168.1.254 </a:t>
            </a:r>
          </a:p>
          <a:p>
            <a:pPr marL="0" indent="0">
              <a:buNone/>
            </a:pPr>
            <a:r>
              <a:rPr lang="zh-CN" altLang="en-US"/>
              <a:t>（表示</a:t>
            </a:r>
            <a:r>
              <a:rPr lang="zh-CN" altLang="en-US">
                <a:solidFill>
                  <a:srgbClr val="FF0000"/>
                </a:solidFill>
              </a:rPr>
              <a:t>某一个</a:t>
            </a:r>
            <a:r>
              <a:rPr lang="en-US" altLang="zh-CN"/>
              <a:t>IP</a:t>
            </a:r>
            <a:r>
              <a:rPr lang="zh-CN" altLang="en-US"/>
              <a:t>地址不由</a:t>
            </a:r>
            <a:r>
              <a:rPr lang="en-US" altLang="zh-CN"/>
              <a:t>DHCP</a:t>
            </a:r>
            <a:r>
              <a:rPr lang="zh-CN" altLang="en-US"/>
              <a:t>分配）</a:t>
            </a:r>
          </a:p>
        </p:txBody>
      </p:sp>
    </p:spTree>
    <p:extLst>
      <p:ext uri="{BB962C8B-B14F-4D97-AF65-F5344CB8AC3E}">
        <p14:creationId xmlns:p14="http://schemas.microsoft.com/office/powerpoint/2010/main" val="335503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E9932-B3FF-1AEF-5DF0-21CDB315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  <a:t>跨网段的动态获取</a:t>
            </a:r>
            <a:r>
              <a:rPr lang="en-US" altLang="zh-CN" b="1" i="0">
                <a:solidFill>
                  <a:srgbClr val="4F4F4F"/>
                </a:solidFill>
                <a:effectLst/>
                <a:latin typeface="PingFang SC"/>
              </a:rPr>
              <a:t>IP</a:t>
            </a:r>
            <a: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  <a:t>地址（路由器做</a:t>
            </a:r>
            <a:r>
              <a:rPr lang="en-US" altLang="zh-CN" b="1" i="0">
                <a:solidFill>
                  <a:srgbClr val="4F4F4F"/>
                </a:solidFill>
                <a:effectLst/>
                <a:latin typeface="PingFang SC"/>
              </a:rPr>
              <a:t>DHCP</a:t>
            </a:r>
            <a: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  <a:t>服务器）即分配不同网段</a:t>
            </a:r>
            <a:br>
              <a:rPr lang="zh-CN" altLang="en-US" b="1" i="0">
                <a:solidFill>
                  <a:srgbClr val="4F4F4F"/>
                </a:solidFill>
                <a:effectLst/>
                <a:latin typeface="PingFang SC"/>
              </a:rPr>
            </a:b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FE30F-0F3F-5E6F-9757-9FD5CFA4F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8466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创建地址池</a:t>
            </a:r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分配地址池范围</a:t>
            </a:r>
          </a:p>
          <a:p>
            <a:pPr marL="0" indent="0">
              <a:buNone/>
            </a:pPr>
            <a:r>
              <a:rPr lang="en-US" altLang="zh-CN"/>
              <a:t>3.</a:t>
            </a:r>
            <a:r>
              <a:rPr lang="zh-CN" altLang="en-US"/>
              <a:t>分配网关</a:t>
            </a:r>
          </a:p>
          <a:p>
            <a:pPr marL="0" indent="0">
              <a:buNone/>
            </a:pPr>
            <a:r>
              <a:rPr lang="en-US" altLang="zh-CN"/>
              <a:t>4.</a:t>
            </a:r>
            <a:r>
              <a:rPr lang="zh-CN" altLang="en-US"/>
              <a:t>分配</a:t>
            </a:r>
            <a:r>
              <a:rPr lang="en-US" altLang="zh-CN"/>
              <a:t>DNS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5.</a:t>
            </a:r>
            <a:r>
              <a:rPr lang="zh-CN" altLang="en-US"/>
              <a:t>如有需要则配置不自动分配的地址段或某个地址</a:t>
            </a:r>
          </a:p>
          <a:p>
            <a:pPr marL="0" indent="0">
              <a:buNone/>
            </a:pPr>
            <a:r>
              <a:rPr lang="zh-CN" altLang="en-US"/>
              <a:t>（由于有两个网段，所以要配置两次，修改范围、网关、</a:t>
            </a:r>
            <a:r>
              <a:rPr lang="en-US" altLang="zh-CN"/>
              <a:t>dns</a:t>
            </a:r>
            <a:r>
              <a:rPr lang="zh-CN" altLang="en-US"/>
              <a:t>、</a:t>
            </a:r>
            <a:r>
              <a:rPr lang="en-US" altLang="zh-CN"/>
              <a:t>ip</a:t>
            </a:r>
            <a:r>
              <a:rPr lang="zh-CN" altLang="en-US"/>
              <a:t>及地址）</a:t>
            </a:r>
          </a:p>
          <a:p>
            <a:pPr marL="0" indent="0">
              <a:buNone/>
            </a:pPr>
            <a:r>
              <a:rPr lang="en-US" altLang="zh-CN"/>
              <a:t>6.</a:t>
            </a:r>
            <a:r>
              <a:rPr lang="zh-CN" altLang="en-US"/>
              <a:t>给路由器接口配置</a:t>
            </a:r>
            <a:r>
              <a:rPr lang="en-US" altLang="zh-CN"/>
              <a:t>IP</a:t>
            </a:r>
            <a:endParaRPr lang="zh-CN" altLang="en-US"/>
          </a:p>
        </p:txBody>
      </p:sp>
      <p:pic>
        <p:nvPicPr>
          <p:cNvPr id="3074" name="Picture 2" descr="这里写图片描述">
            <a:extLst>
              <a:ext uri="{FF2B5EF4-FFF2-40B4-BE49-F238E27FC236}">
                <a16:creationId xmlns:a16="http://schemas.microsoft.com/office/drawing/2014/main" id="{9AC331F6-AE87-0566-FAFB-C26C11416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196752"/>
            <a:ext cx="3136063" cy="325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663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33342-7E1A-48E3-0E6D-CB282A47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FE58C9-F7E4-AC4F-E8B1-CD0EE5E16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/>
              <a:t>Router&gt;</a:t>
            </a:r>
          </a:p>
          <a:p>
            <a:pPr marL="0" indent="0">
              <a:buNone/>
            </a:pPr>
            <a:r>
              <a:rPr lang="en-US" altLang="zh-CN"/>
              <a:t>Router&gt;en</a:t>
            </a:r>
          </a:p>
          <a:p>
            <a:pPr marL="0" indent="0">
              <a:buNone/>
            </a:pPr>
            <a:r>
              <a:rPr lang="en-US" altLang="zh-CN"/>
              <a:t>Router#config t</a:t>
            </a:r>
          </a:p>
          <a:p>
            <a:pPr marL="0" indent="0">
              <a:buNone/>
            </a:pPr>
            <a:r>
              <a:rPr lang="en-US" altLang="zh-CN"/>
              <a:t>Router(config)#ip dhcp exclude 192.168.10.1 192.168.10.9</a:t>
            </a:r>
          </a:p>
          <a:p>
            <a:pPr marL="0" indent="0">
              <a:buNone/>
            </a:pPr>
            <a:r>
              <a:rPr lang="en-US" altLang="zh-CN"/>
              <a:t>Router(config)#ip dhcp pool a</a:t>
            </a:r>
          </a:p>
          <a:p>
            <a:pPr marL="0" indent="0">
              <a:buNone/>
            </a:pPr>
            <a:r>
              <a:rPr lang="en-US" altLang="zh-CN"/>
              <a:t>Router(dhcp-config)#network 192.168.10.0 255.255.255.0</a:t>
            </a:r>
          </a:p>
          <a:p>
            <a:pPr marL="0" indent="0">
              <a:buNone/>
            </a:pPr>
            <a:r>
              <a:rPr lang="en-US" altLang="zh-CN"/>
              <a:t>Router(dhcp-config)#default-router 192.168.10.1</a:t>
            </a:r>
          </a:p>
          <a:p>
            <a:pPr marL="0" indent="0">
              <a:buNone/>
            </a:pPr>
            <a:r>
              <a:rPr lang="en-US" altLang="zh-CN"/>
              <a:t>Router(dhcp-config)#dns-server 192.168.10.1</a:t>
            </a:r>
          </a:p>
          <a:p>
            <a:pPr marL="0" indent="0">
              <a:buNone/>
            </a:pPr>
            <a:r>
              <a:rPr lang="en-US" altLang="zh-CN"/>
              <a:t>Router(dhcp-config)#exit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Router(dhcp-config)#</a:t>
            </a:r>
            <a:r>
              <a:rPr lang="en-US" altLang="zh-CN">
                <a:solidFill>
                  <a:srgbClr val="FF0000"/>
                </a:solidFill>
              </a:rPr>
              <a:t>ip dhcp exclude 192.168.11.1 192.168.11.9</a:t>
            </a:r>
          </a:p>
          <a:p>
            <a:pPr marL="0" indent="0">
              <a:buNone/>
            </a:pPr>
            <a:r>
              <a:rPr lang="en-US" altLang="zh-CN"/>
              <a:t>Router(config)#ip dhcp pool b</a:t>
            </a:r>
          </a:p>
          <a:p>
            <a:pPr marL="0" indent="0">
              <a:buNone/>
            </a:pPr>
            <a:r>
              <a:rPr lang="en-US" altLang="zh-CN"/>
              <a:t>Router(dhcp-config)#network 192.168.11.0 255.255.255.0</a:t>
            </a:r>
          </a:p>
          <a:p>
            <a:pPr marL="0" indent="0">
              <a:buNone/>
            </a:pPr>
            <a:r>
              <a:rPr lang="en-US" altLang="zh-CN"/>
              <a:t>Router(dhcp-config)#default-router 192.168.11.1</a:t>
            </a:r>
          </a:p>
          <a:p>
            <a:pPr marL="0" indent="0">
              <a:buNone/>
            </a:pPr>
            <a:r>
              <a:rPr lang="en-US" altLang="zh-CN"/>
              <a:t>Router(dhcp-config)#dns-server 192.168.11.1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Router(config-if)#int fa0/0</a:t>
            </a:r>
          </a:p>
          <a:p>
            <a:pPr marL="0" indent="0">
              <a:buNone/>
            </a:pPr>
            <a:r>
              <a:rPr lang="en-US" altLang="zh-CN"/>
              <a:t>Router(config-if)#ip address 192.168.10.1 255.255.255.0</a:t>
            </a:r>
          </a:p>
          <a:p>
            <a:pPr marL="0" indent="0">
              <a:buNone/>
            </a:pPr>
            <a:r>
              <a:rPr lang="en-US" altLang="zh-CN"/>
              <a:t>Router(config-if)#no shutdown</a:t>
            </a:r>
          </a:p>
          <a:p>
            <a:pPr marL="0" indent="0">
              <a:buNone/>
            </a:pPr>
            <a:r>
              <a:rPr lang="en-US" altLang="zh-CN"/>
              <a:t>Router(config-if)#int fa0/1</a:t>
            </a:r>
          </a:p>
          <a:p>
            <a:pPr marL="0" indent="0">
              <a:buNone/>
            </a:pPr>
            <a:r>
              <a:rPr lang="en-US" altLang="zh-CN"/>
              <a:t>Router(config-if)#ip address 192.168.11.1 255.255.255.0</a:t>
            </a:r>
          </a:p>
          <a:p>
            <a:pPr marL="0" indent="0">
              <a:buNone/>
            </a:pPr>
            <a:r>
              <a:rPr lang="en-US" altLang="zh-CN"/>
              <a:t>Router(config-if)#no shutdown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58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66E1F-25CF-F316-7555-0980BE17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配置了</a:t>
            </a:r>
            <a:r>
              <a:rPr lang="en-US" altLang="zh-CN"/>
              <a:t>ip helper-address</a:t>
            </a:r>
            <a:r>
              <a:rPr lang="zh-CN" altLang="en-US"/>
              <a:t>命令之后的路由器在中继</a:t>
            </a:r>
            <a:r>
              <a:rPr lang="en-US" altLang="zh-CN"/>
              <a:t>DHCP</a:t>
            </a:r>
            <a:r>
              <a:rPr lang="zh-CN" altLang="en-US"/>
              <a:t>请求时的工作过程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AECAE2-8CCC-894C-B4FF-9819CC9A3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客户端发送请求，由于没有</a:t>
            </a:r>
            <a:r>
              <a:rPr lang="en-US" altLang="zh-CN">
                <a:solidFill>
                  <a:schemeClr val="tx1"/>
                </a:solidFill>
              </a:rPr>
              <a:t>ip</a:t>
            </a:r>
            <a:r>
              <a:rPr lang="zh-CN" altLang="en-US">
                <a:solidFill>
                  <a:schemeClr val="tx1"/>
                </a:solidFill>
              </a:rPr>
              <a:t>地址，所以自己的源</a:t>
            </a:r>
            <a:r>
              <a:rPr lang="en-US" altLang="zh-CN">
                <a:solidFill>
                  <a:schemeClr val="tx1"/>
                </a:solidFill>
              </a:rPr>
              <a:t>IP</a:t>
            </a:r>
            <a:r>
              <a:rPr lang="zh-CN" altLang="en-US">
                <a:solidFill>
                  <a:schemeClr val="tx1"/>
                </a:solidFill>
              </a:rPr>
              <a:t>地址为</a:t>
            </a:r>
            <a:r>
              <a:rPr lang="en-US" altLang="zh-CN">
                <a:solidFill>
                  <a:schemeClr val="tx1"/>
                </a:solidFill>
              </a:rPr>
              <a:t>0.0.0.0</a:t>
            </a:r>
            <a:r>
              <a:rPr lang="zh-CN" altLang="en-US">
                <a:solidFill>
                  <a:schemeClr val="tx1"/>
                </a:solidFill>
              </a:rPr>
              <a:t>，而且也不知道目的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服务器的地址，所以为广播</a:t>
            </a:r>
            <a:r>
              <a:rPr lang="en-US" altLang="zh-CN">
                <a:solidFill>
                  <a:schemeClr val="tx1"/>
                </a:solidFill>
              </a:rPr>
              <a:t>255.255.255.255</a:t>
            </a:r>
            <a:r>
              <a:rPr lang="zh-CN" altLang="en-US">
                <a:solidFill>
                  <a:schemeClr val="tx1"/>
                </a:solidFill>
              </a:rPr>
              <a:t>。该数据报中当然还包含其他信息，比如二层的信息，源</a:t>
            </a:r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地址，和目的</a:t>
            </a:r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地址</a:t>
            </a:r>
            <a:r>
              <a:rPr lang="en-US" altLang="zh-CN">
                <a:solidFill>
                  <a:schemeClr val="tx1"/>
                </a:solidFill>
              </a:rPr>
              <a:t>FFFFFFFFFFFF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endParaRPr lang="zh-CN" altLang="en-US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chemeClr val="tx1"/>
                </a:solidFill>
              </a:rPr>
              <a:t>当路由器接收到该数据报的时候，他就用自己的接口地址（接收到数据报的接口）来取代源地址</a:t>
            </a:r>
            <a:r>
              <a:rPr lang="en-US" altLang="zh-CN">
                <a:solidFill>
                  <a:schemeClr val="tx1"/>
                </a:solidFill>
              </a:rPr>
              <a:t>0.0.0.0</a:t>
            </a:r>
            <a:r>
              <a:rPr lang="zh-CN" altLang="en-US">
                <a:solidFill>
                  <a:schemeClr val="tx1"/>
                </a:solidFill>
              </a:rPr>
              <a:t>，并且用</a:t>
            </a:r>
            <a:r>
              <a:rPr lang="en-US" altLang="zh-CN">
                <a:solidFill>
                  <a:schemeClr val="tx1"/>
                </a:solidFill>
              </a:rPr>
              <a:t>ip help-address </a:t>
            </a:r>
            <a:r>
              <a:rPr lang="zh-CN" altLang="en-US">
                <a:solidFill>
                  <a:schemeClr val="tx1"/>
                </a:solidFill>
              </a:rPr>
              <a:t>命令中指定的地址来取代目的地址</a:t>
            </a:r>
            <a:r>
              <a:rPr lang="en-US" altLang="zh-CN">
                <a:solidFill>
                  <a:schemeClr val="tx1"/>
                </a:solidFill>
              </a:rPr>
              <a:t>255.255.255.255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chemeClr val="tx1"/>
                </a:solidFill>
              </a:rPr>
              <a:t>当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服务器接收到路有器转发过来的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请求包时，他有了足够的信息，（由源</a:t>
            </a:r>
            <a:r>
              <a:rPr lang="en-US" altLang="zh-CN">
                <a:solidFill>
                  <a:schemeClr val="tx1"/>
                </a:solidFill>
              </a:rPr>
              <a:t>IP</a:t>
            </a:r>
            <a:r>
              <a:rPr lang="zh-CN" altLang="en-US">
                <a:solidFill>
                  <a:schemeClr val="tx1"/>
                </a:solidFill>
              </a:rPr>
              <a:t>地址中的地址，确定客户机所在的子网掩码，由此分配相应地址池中的空闲地址，并且知道了客户端的</a:t>
            </a:r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地址，把它写入自己的数据库，建立</a:t>
            </a:r>
            <a:r>
              <a:rPr lang="en-US" altLang="zh-CN">
                <a:solidFill>
                  <a:schemeClr val="tx1"/>
                </a:solidFill>
              </a:rPr>
              <a:t>IP</a:t>
            </a:r>
            <a:r>
              <a:rPr lang="zh-CN" altLang="en-US">
                <a:solidFill>
                  <a:schemeClr val="tx1"/>
                </a:solidFill>
              </a:rPr>
              <a:t>地址和</a:t>
            </a:r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的映射关系）然后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服务器做出响应，并且由路有器把数据报转发给客户端。</a:t>
            </a:r>
            <a:endParaRPr lang="en-US" altLang="zh-CN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chemeClr val="tx1"/>
                </a:solidFill>
              </a:rPr>
              <a:t>如果配置了两个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服务器，我们必须分别用</a:t>
            </a:r>
            <a:r>
              <a:rPr lang="en-US" altLang="zh-CN">
                <a:solidFill>
                  <a:schemeClr val="tx1"/>
                </a:solidFill>
              </a:rPr>
              <a:t>ip helper-address </a:t>
            </a:r>
            <a:r>
              <a:rPr lang="zh-CN" altLang="en-US">
                <a:solidFill>
                  <a:schemeClr val="tx1"/>
                </a:solidFill>
              </a:rPr>
              <a:t>命令指明，路有器会转发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请求包到所有的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服务器上。很多企业的做法都是至少有两台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服务器，有提高冗余和可靠性的作用。此时，如果客户端受到几个来自不同</a:t>
            </a:r>
            <a:r>
              <a:rPr lang="en-US" altLang="zh-CN">
                <a:solidFill>
                  <a:schemeClr val="tx1"/>
                </a:solidFill>
              </a:rPr>
              <a:t>DHCP</a:t>
            </a:r>
            <a:r>
              <a:rPr lang="zh-CN" altLang="en-US">
                <a:solidFill>
                  <a:schemeClr val="tx1"/>
                </a:solidFill>
              </a:rPr>
              <a:t>服务器的应答，则只选择最先接收到的应答数据报。</a:t>
            </a:r>
          </a:p>
        </p:txBody>
      </p:sp>
    </p:spTree>
    <p:extLst>
      <p:ext uri="{BB962C8B-B14F-4D97-AF65-F5344CB8AC3E}">
        <p14:creationId xmlns:p14="http://schemas.microsoft.com/office/powerpoint/2010/main" val="1277625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384</TotalTime>
  <Words>1067</Words>
  <Application>Microsoft Office PowerPoint</Application>
  <PresentationFormat>全屏显示(4:3)</PresentationFormat>
  <Paragraphs>93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-apple-system</vt:lpstr>
      <vt:lpstr>PingFang SC</vt:lpstr>
      <vt:lpstr>Arial</vt:lpstr>
      <vt:lpstr>Calibri</vt:lpstr>
      <vt:lpstr>Franklin Gothic Book</vt:lpstr>
      <vt:lpstr>Franklin Gothic Medium</vt:lpstr>
      <vt:lpstr>Tahoma</vt:lpstr>
      <vt:lpstr>Wingdings</vt:lpstr>
      <vt:lpstr>Wingdings 2</vt:lpstr>
      <vt:lpstr>跋涉</vt:lpstr>
      <vt:lpstr>Blends</vt:lpstr>
      <vt:lpstr>1_Blends</vt:lpstr>
      <vt:lpstr>PowerPoint 演示文稿</vt:lpstr>
      <vt:lpstr>DHCP 中继代理 以单播方式转发发现报文 </vt:lpstr>
      <vt:lpstr>DHCP 中继代理(relay agent) </vt:lpstr>
      <vt:lpstr>PowerPoint 演示文稿</vt:lpstr>
      <vt:lpstr>参数配置</vt:lpstr>
      <vt:lpstr>PowerPoint 演示文稿</vt:lpstr>
      <vt:lpstr>实验结果</vt:lpstr>
      <vt:lpstr>DHCP实验二（路由器作为DHCP服务器）</vt:lpstr>
      <vt:lpstr>命令配置 </vt:lpstr>
      <vt:lpstr>跨网段的动态获取IP地址（路由器做DHCP服务器）即分配不同网段 </vt:lpstr>
      <vt:lpstr>PowerPoint 演示文稿</vt:lpstr>
      <vt:lpstr>配置了ip helper-address命令之后的路由器在中继DHCP请求时的工作过程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道人 观</cp:lastModifiedBy>
  <cp:revision>29</cp:revision>
  <dcterms:created xsi:type="dcterms:W3CDTF">2020-10-23T11:31:08Z</dcterms:created>
  <dcterms:modified xsi:type="dcterms:W3CDTF">2022-10-07T09:53:29Z</dcterms:modified>
</cp:coreProperties>
</file>