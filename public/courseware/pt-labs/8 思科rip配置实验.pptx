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3" r:id="rId3"/>
    <p:sldId id="262" r:id="rId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-1752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直接连接符 6"/>
          <p:cNvSpPr>
            <a:spLocks noChangeShapeType="1"/>
          </p:cNvSpPr>
          <p:nvPr/>
        </p:nvSpPr>
        <p:spPr bwMode="auto">
          <a:xfrm>
            <a:off x="514350" y="5349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标题 28"/>
          <p:cNvSpPr>
            <a:spLocks noGrp="1"/>
          </p:cNvSpPr>
          <p:nvPr>
            <p:ph type="ctrTitle"/>
          </p:nvPr>
        </p:nvSpPr>
        <p:spPr>
          <a:xfrm>
            <a:off x="381000" y="4853411"/>
            <a:ext cx="8458200" cy="1222375"/>
          </a:xfrm>
        </p:spPr>
        <p:txBody>
          <a:bodyPr anchor="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381000" y="3886200"/>
            <a:ext cx="8458200" cy="914400"/>
          </a:xfrm>
        </p:spPr>
        <p:txBody>
          <a:bodyPr anchor="b"/>
          <a:lstStyle>
            <a:lvl1pPr marL="0" indent="0" algn="l">
              <a:buNone/>
              <a:defRPr sz="2400">
                <a:solidFill>
                  <a:schemeClr val="tx2">
                    <a:shade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2020/10/24</a:t>
            </a:fld>
            <a:endParaRPr lang="zh-CN" altLang="en-US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27" name="内容占位符 2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25" name="日期占位符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2020/10/24</a:t>
            </a:fld>
            <a:endParaRPr lang="zh-CN" altLang="en-US"/>
          </a:p>
        </p:txBody>
      </p:sp>
      <p:sp>
        <p:nvSpPr>
          <p:cNvPr id="19" name="页脚占位符 18"/>
          <p:cNvSpPr>
            <a:spLocks noGrp="1"/>
          </p:cNvSpPr>
          <p:nvPr>
            <p:ph type="ftr" sz="quarter" idx="11"/>
          </p:nvPr>
        </p:nvSpPr>
        <p:spPr>
          <a:xfrm>
            <a:off x="3581400" y="76200"/>
            <a:ext cx="2895600" cy="2889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直接连接符 6"/>
          <p:cNvSpPr>
            <a:spLocks noChangeShapeType="1"/>
          </p:cNvSpPr>
          <p:nvPr/>
        </p:nvSpPr>
        <p:spPr bwMode="auto">
          <a:xfrm>
            <a:off x="514350" y="3444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381000" y="1676400"/>
            <a:ext cx="8458200" cy="1219200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2">
                    <a:shade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19" name="日期占位符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2020/10/24</a:t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180475" y="2947085"/>
            <a:ext cx="8686800" cy="1184825"/>
          </a:xfrm>
        </p:spPr>
        <p:txBody>
          <a:bodyPr rtlCol="0" anchor="t"/>
          <a:lstStyle>
            <a:lvl1pPr algn="r"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4" name="内容占位符 13"/>
          <p:cNvSpPr>
            <a:spLocks noGrp="1"/>
          </p:cNvSpPr>
          <p:nvPr>
            <p:ph sz="half" idx="1"/>
          </p:nvPr>
        </p:nvSpPr>
        <p:spPr>
          <a:xfrm>
            <a:off x="304800" y="1600200"/>
            <a:ext cx="4191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3" name="内容占位符 1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3434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21" name="日期占位符 2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2020/10/24</a:t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1" name="灯片编号占位符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标题 28"/>
          <p:cNvSpPr>
            <a:spLocks noGrp="1"/>
          </p:cNvSpPr>
          <p:nvPr>
            <p:ph type="title"/>
          </p:nvPr>
        </p:nvSpPr>
        <p:spPr>
          <a:xfrm>
            <a:off x="304800" y="5410200"/>
            <a:ext cx="8610600" cy="8826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281444" y="666750"/>
            <a:ext cx="4290556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25" name="文本占位符 24"/>
          <p:cNvSpPr>
            <a:spLocks noGrp="1"/>
          </p:cNvSpPr>
          <p:nvPr>
            <p:ph type="body" sz="half" idx="3"/>
          </p:nvPr>
        </p:nvSpPr>
        <p:spPr>
          <a:xfrm>
            <a:off x="4645025" y="666750"/>
            <a:ext cx="4292241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281444" y="1316037"/>
            <a:ext cx="429055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28" name="内容占位符 27"/>
          <p:cNvSpPr>
            <a:spLocks noGrp="1"/>
          </p:cNvSpPr>
          <p:nvPr>
            <p:ph sz="quarter" idx="4"/>
          </p:nvPr>
        </p:nvSpPr>
        <p:spPr>
          <a:xfrm>
            <a:off x="4648730" y="1316037"/>
            <a:ext cx="428853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2020/10/24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229600" y="6477000"/>
            <a:ext cx="762000" cy="246888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直接连接符 10"/>
          <p:cNvSpPr>
            <a:spLocks noChangeShapeType="1"/>
          </p:cNvSpPr>
          <p:nvPr/>
        </p:nvSpPr>
        <p:spPr bwMode="auto">
          <a:xfrm>
            <a:off x="514350" y="6019800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标题 2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2020/10/24</a:t>
            </a:fld>
            <a:endParaRPr lang="zh-CN" altLang="en-US"/>
          </a:p>
        </p:txBody>
      </p:sp>
      <p:sp>
        <p:nvSpPr>
          <p:cNvPr id="21" name="页脚占位符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2020/10/24</a:t>
            </a:fld>
            <a:endParaRPr lang="zh-CN" altLang="en-US"/>
          </a:p>
        </p:txBody>
      </p:sp>
      <p:sp>
        <p:nvSpPr>
          <p:cNvPr id="24" name="页脚占位符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直接连接符 7"/>
          <p:cNvSpPr>
            <a:spLocks noChangeShapeType="1"/>
          </p:cNvSpPr>
          <p:nvPr/>
        </p:nvSpPr>
        <p:spPr bwMode="auto">
          <a:xfrm>
            <a:off x="514350" y="5849117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457200" y="5486400"/>
            <a:ext cx="8458200" cy="520700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26" name="文本占位符 25"/>
          <p:cNvSpPr>
            <a:spLocks noGrp="1"/>
          </p:cNvSpPr>
          <p:nvPr>
            <p:ph type="body" idx="2"/>
          </p:nvPr>
        </p:nvSpPr>
        <p:spPr>
          <a:xfrm>
            <a:off x="457200" y="609600"/>
            <a:ext cx="3008313" cy="4800600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14" name="内容占位符 13"/>
          <p:cNvSpPr>
            <a:spLocks noGrp="1"/>
          </p:cNvSpPr>
          <p:nvPr>
            <p:ph sz="half" idx="1"/>
          </p:nvPr>
        </p:nvSpPr>
        <p:spPr>
          <a:xfrm>
            <a:off x="3575050" y="609600"/>
            <a:ext cx="5340350" cy="4800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25" name="日期占位符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2020/10/24</a:t>
            </a:fld>
            <a:endParaRPr lang="zh-CN" altLang="en-US"/>
          </a:p>
        </p:txBody>
      </p:sp>
      <p:sp>
        <p:nvSpPr>
          <p:cNvPr id="29" name="页脚占位符 2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图片占位符 12"/>
          <p:cNvSpPr>
            <a:spLocks noGrp="1"/>
          </p:cNvSpPr>
          <p:nvPr>
            <p:ph type="pic" idx="1"/>
          </p:nvPr>
        </p:nvSpPr>
        <p:spPr>
          <a:xfrm>
            <a:off x="3505200" y="616634"/>
            <a:ext cx="5029200" cy="3657600"/>
          </a:xfrm>
          <a:solidFill>
            <a:schemeClr val="bg1"/>
          </a:solidFill>
          <a:ln w="6350">
            <a:solidFill>
              <a:schemeClr val="accent1"/>
            </a:solidFill>
          </a:ln>
          <a:effectLst>
            <a:reflection blurRad="1000" stA="49000" endA="500" endPos="10000" dist="900" dir="5400000" sy="-90000" algn="bl" rotWithShape="0"/>
          </a:effectLst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 smtClean="0"/>
              <a:t>单击图标添加图片</a:t>
            </a:r>
            <a:endParaRPr kumimoji="0"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1" name="灯片编号占位符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7" name="标题 16"/>
          <p:cNvSpPr>
            <a:spLocks noGrp="1"/>
          </p:cNvSpPr>
          <p:nvPr>
            <p:ph type="title"/>
          </p:nvPr>
        </p:nvSpPr>
        <p:spPr>
          <a:xfrm>
            <a:off x="381000" y="4993760"/>
            <a:ext cx="5867400" cy="522288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26" name="文本占位符 25"/>
          <p:cNvSpPr>
            <a:spLocks noGrp="1"/>
          </p:cNvSpPr>
          <p:nvPr>
            <p:ph type="body" sz="half" idx="2"/>
          </p:nvPr>
        </p:nvSpPr>
        <p:spPr>
          <a:xfrm>
            <a:off x="381000" y="5533218"/>
            <a:ext cx="5867400" cy="768350"/>
          </a:xfrm>
        </p:spPr>
        <p:txBody>
          <a:bodyPr lIns="109728" tIns="0"/>
          <a:lstStyle>
            <a:lvl1pPr marL="0" indent="0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549276"/>
            <a:ext cx="1828800" cy="5851525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549276"/>
            <a:ext cx="624840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直接连接符 6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"/>
          </p:nvPr>
        </p:nvSpPr>
        <p:spPr>
          <a:xfrm>
            <a:off x="304800" y="1554162"/>
            <a:ext cx="86868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11" name="日期占位符 10"/>
          <p:cNvSpPr>
            <a:spLocks noGrp="1"/>
          </p:cNvSpPr>
          <p:nvPr>
            <p:ph type="dt" sz="half" idx="2"/>
          </p:nvPr>
        </p:nvSpPr>
        <p:spPr>
          <a:xfrm>
            <a:off x="6477000" y="76200"/>
            <a:ext cx="2514600" cy="288925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2020/10/24</a:t>
            </a:fld>
            <a:endParaRPr lang="zh-CN" altLang="en-US"/>
          </a:p>
        </p:txBody>
      </p:sp>
      <p:sp>
        <p:nvSpPr>
          <p:cNvPr id="28" name="页脚占位符 27"/>
          <p:cNvSpPr>
            <a:spLocks noGrp="1"/>
          </p:cNvSpPr>
          <p:nvPr>
            <p:ph type="ftr" sz="quarter" idx="3"/>
          </p:nvPr>
        </p:nvSpPr>
        <p:spPr>
          <a:xfrm>
            <a:off x="3124200" y="76200"/>
            <a:ext cx="3352800" cy="28892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标题占位符 9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直接连接符 8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直接连接符 11"/>
          <p:cNvSpPr>
            <a:spLocks noChangeShapeType="1"/>
          </p:cNvSpPr>
          <p:nvPr/>
        </p:nvSpPr>
        <p:spPr bwMode="auto">
          <a:xfrm>
            <a:off x="514350" y="1057986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600" kern="1200" cap="all" baseline="0">
          <a:solidFill>
            <a:schemeClr val="tx2"/>
          </a:solidFill>
          <a:effectLst>
            <a:reflection blurRad="12700" stA="48000" endA="300" endPos="55000" dir="5400000" sy="-90000" algn="bl" rotWithShape="0"/>
          </a:effectLst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"/>
        <a:defRPr kumimoji="0"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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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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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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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"/>
        <a:defRPr kumimoji="0" sz="16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463" y="257175"/>
            <a:ext cx="7837487" cy="6343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下箭头标注 1"/>
          <p:cNvSpPr/>
          <p:nvPr/>
        </p:nvSpPr>
        <p:spPr>
          <a:xfrm>
            <a:off x="3779912" y="1412776"/>
            <a:ext cx="1008112" cy="360040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mtClean="0"/>
              <a:t>2911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7072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1554163"/>
            <a:ext cx="8686800" cy="1946846"/>
          </a:xfrm>
        </p:spPr>
        <p:txBody>
          <a:bodyPr/>
          <a:lstStyle/>
          <a:p>
            <a:r>
              <a:rPr lang="zh-CN" altLang="en-US" smtClean="0"/>
              <a:t>主机、路由器配置网络参数</a:t>
            </a:r>
            <a:endParaRPr lang="en-US" altLang="zh-CN" smtClean="0"/>
          </a:p>
          <a:p>
            <a:r>
              <a:rPr lang="zh-CN" altLang="en-US" smtClean="0"/>
              <a:t>路由器配置</a:t>
            </a:r>
            <a:r>
              <a:rPr lang="en-US" altLang="zh-CN" smtClean="0"/>
              <a:t>RIP</a:t>
            </a:r>
            <a:r>
              <a:rPr lang="zh-CN" altLang="en-US" smtClean="0"/>
              <a:t>路由</a:t>
            </a:r>
            <a:endParaRPr lang="en-US" altLang="zh-CN" smtClean="0"/>
          </a:p>
          <a:p>
            <a:r>
              <a:rPr lang="en-US" altLang="zh-CN" smtClean="0"/>
              <a:t>PC0</a:t>
            </a:r>
            <a:r>
              <a:rPr lang="zh-CN" altLang="en-US" smtClean="0"/>
              <a:t>是否能够</a:t>
            </a:r>
            <a:r>
              <a:rPr lang="en-US" altLang="zh-CN" smtClean="0"/>
              <a:t>PING</a:t>
            </a:r>
            <a:r>
              <a:rPr lang="zh-CN" altLang="en-US" smtClean="0"/>
              <a:t>通</a:t>
            </a:r>
            <a:r>
              <a:rPr lang="en-US" altLang="zh-CN" smtClean="0"/>
              <a:t>PC1&amp;PC2</a:t>
            </a:r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39552" y="3717032"/>
            <a:ext cx="712879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rgbClr val="0000FF"/>
                </a:solidFill>
                <a:latin typeface="-apple-system"/>
              </a:rPr>
              <a:t>RIP</a:t>
            </a:r>
            <a:r>
              <a:rPr lang="zh-CN" altLang="en-US">
                <a:solidFill>
                  <a:srgbClr val="0000FF"/>
                </a:solidFill>
                <a:latin typeface="-apple-system"/>
              </a:rPr>
              <a:t>协议的配置：</a:t>
            </a:r>
            <a:r>
              <a:rPr lang="zh-CN" altLang="en-US"/>
              <a:t/>
            </a:r>
            <a:br>
              <a:rPr lang="zh-CN" altLang="en-US"/>
            </a:br>
            <a:r>
              <a:rPr lang="en-US" altLang="zh-CN">
                <a:solidFill>
                  <a:srgbClr val="0000FF"/>
                </a:solidFill>
                <a:latin typeface="-apple-system"/>
              </a:rPr>
              <a:t>Router&lt;config&gt;#router rip     </a:t>
            </a:r>
            <a:r>
              <a:rPr lang="zh-CN" altLang="en-US">
                <a:solidFill>
                  <a:srgbClr val="0000FF"/>
                </a:solidFill>
                <a:latin typeface="-apple-system"/>
              </a:rPr>
              <a:t>（激活</a:t>
            </a:r>
            <a:r>
              <a:rPr lang="en-US" altLang="zh-CN">
                <a:solidFill>
                  <a:srgbClr val="0000FF"/>
                </a:solidFill>
                <a:latin typeface="-apple-system"/>
              </a:rPr>
              <a:t>RIP</a:t>
            </a:r>
            <a:r>
              <a:rPr lang="zh-CN" altLang="en-US">
                <a:solidFill>
                  <a:srgbClr val="0000FF"/>
                </a:solidFill>
                <a:latin typeface="-apple-system"/>
              </a:rPr>
              <a:t>协议）</a:t>
            </a:r>
            <a:r>
              <a:rPr lang="zh-CN" altLang="en-US"/>
              <a:t/>
            </a:r>
            <a:br>
              <a:rPr lang="zh-CN" altLang="en-US"/>
            </a:br>
            <a:r>
              <a:rPr lang="en-US" altLang="zh-CN">
                <a:solidFill>
                  <a:srgbClr val="0000FF"/>
                </a:solidFill>
                <a:latin typeface="-apple-system"/>
              </a:rPr>
              <a:t>Router&lt;config-router&gt;#network </a:t>
            </a:r>
            <a:r>
              <a:rPr lang="en-US" altLang="zh-CN" i="1">
                <a:solidFill>
                  <a:srgbClr val="0000FF"/>
                </a:solidFill>
                <a:latin typeface="-apple-system"/>
              </a:rPr>
              <a:t>network-number</a:t>
            </a:r>
            <a:r>
              <a:rPr lang="en-US" altLang="zh-CN">
                <a:solidFill>
                  <a:srgbClr val="0000FF"/>
                </a:solidFill>
                <a:latin typeface="-apple-system"/>
              </a:rPr>
              <a:t> </a:t>
            </a:r>
            <a:r>
              <a:rPr lang="zh-CN" altLang="en-US" smtClean="0">
                <a:solidFill>
                  <a:srgbClr val="0000FF"/>
                </a:solidFill>
                <a:latin typeface="-apple-system"/>
              </a:rPr>
              <a:t>（声明直联网络）</a:t>
            </a:r>
            <a:r>
              <a:rPr lang="zh-CN" altLang="en-US"/>
              <a:t/>
            </a:r>
            <a:br>
              <a:rPr lang="zh-CN" altLang="en-US"/>
            </a:br>
            <a:r>
              <a:rPr lang="zh-CN" altLang="en-US">
                <a:solidFill>
                  <a:srgbClr val="0000FF"/>
                </a:solidFill>
                <a:latin typeface="-apple-system"/>
              </a:rPr>
              <a:t>查看相关信息：</a:t>
            </a:r>
            <a:r>
              <a:rPr lang="zh-CN" altLang="en-US"/>
              <a:t/>
            </a:r>
            <a:br>
              <a:rPr lang="zh-CN" altLang="en-US"/>
            </a:br>
            <a:r>
              <a:rPr lang="en-US" altLang="zh-CN">
                <a:solidFill>
                  <a:srgbClr val="0000FF"/>
                </a:solidFill>
                <a:latin typeface="-apple-system"/>
              </a:rPr>
              <a:t>Router#show ip protocols  </a:t>
            </a:r>
            <a:r>
              <a:rPr lang="zh-CN" altLang="en-US">
                <a:solidFill>
                  <a:srgbClr val="0000FF"/>
                </a:solidFill>
                <a:latin typeface="-apple-system"/>
              </a:rPr>
              <a:t>（查看</a:t>
            </a:r>
            <a:r>
              <a:rPr lang="en-US" altLang="zh-CN">
                <a:solidFill>
                  <a:srgbClr val="0000FF"/>
                </a:solidFill>
                <a:latin typeface="-apple-system"/>
              </a:rPr>
              <a:t>RIP</a:t>
            </a:r>
            <a:r>
              <a:rPr lang="zh-CN" altLang="en-US">
                <a:solidFill>
                  <a:srgbClr val="0000FF"/>
                </a:solidFill>
                <a:latin typeface="-apple-system"/>
              </a:rPr>
              <a:t>协议信息）</a:t>
            </a:r>
            <a:r>
              <a:rPr lang="zh-CN" altLang="en-US"/>
              <a:t/>
            </a:r>
            <a:br>
              <a:rPr lang="zh-CN" altLang="en-US"/>
            </a:br>
            <a:r>
              <a:rPr lang="en-US" altLang="zh-CN">
                <a:solidFill>
                  <a:srgbClr val="0000FF"/>
                </a:solidFill>
                <a:latin typeface="-apple-system"/>
              </a:rPr>
              <a:t>Router#show ip route      </a:t>
            </a:r>
            <a:r>
              <a:rPr lang="zh-CN" altLang="en-US">
                <a:solidFill>
                  <a:srgbClr val="0000FF"/>
                </a:solidFill>
                <a:latin typeface="-apple-system"/>
              </a:rPr>
              <a:t>（查看路由表）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9261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71600" y="1628800"/>
            <a:ext cx="703996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mtClean="0"/>
              <a:t>特权模式</a:t>
            </a:r>
            <a:r>
              <a:rPr lang="en-US" altLang="zh-CN"/>
              <a:t>Router</a:t>
            </a:r>
            <a:r>
              <a:rPr lang="en-US" altLang="zh-CN" smtClean="0"/>
              <a:t>#</a:t>
            </a:r>
            <a:r>
              <a:rPr lang="zh-CN" altLang="en-US" smtClean="0"/>
              <a:t> </a:t>
            </a:r>
            <a:r>
              <a:rPr lang="en-US" altLang="zh-CN" smtClean="0"/>
              <a:t>show ip protocols</a:t>
            </a:r>
          </a:p>
          <a:p>
            <a:r>
              <a:rPr lang="zh-CN" altLang="en-US" smtClean="0"/>
              <a:t>全局配置模式 </a:t>
            </a:r>
            <a:r>
              <a:rPr lang="en-US" altLang="zh-CN"/>
              <a:t>Router(config)#do show ip protocols</a:t>
            </a:r>
          </a:p>
          <a:p>
            <a:r>
              <a:rPr lang="zh-CN" altLang="en-US" smtClean="0"/>
              <a:t>等价</a:t>
            </a:r>
            <a:endParaRPr lang="en-US" altLang="zh-CN" smtClean="0"/>
          </a:p>
          <a:p>
            <a:r>
              <a:rPr lang="zh-CN" altLang="en-US"/>
              <a:t>一般思科的设备如果当前不是在</a:t>
            </a:r>
            <a:r>
              <a:rPr lang="en-US" altLang="zh-CN"/>
              <a:t>#</a:t>
            </a:r>
            <a:r>
              <a:rPr lang="zh-CN" altLang="en-US"/>
              <a:t>和</a:t>
            </a:r>
            <a:r>
              <a:rPr lang="en-US" altLang="zh-CN"/>
              <a:t>&gt;</a:t>
            </a:r>
            <a:r>
              <a:rPr lang="zh-CN" altLang="en-US"/>
              <a:t>模式下</a:t>
            </a:r>
            <a:r>
              <a:rPr lang="zh-CN" altLang="en-US" smtClean="0"/>
              <a:t>，</a:t>
            </a:r>
            <a:endParaRPr lang="en-US" altLang="zh-CN" smtClean="0"/>
          </a:p>
          <a:p>
            <a:r>
              <a:rPr lang="zh-CN" altLang="en-US" smtClean="0"/>
              <a:t>想</a:t>
            </a:r>
            <a:r>
              <a:rPr lang="zh-CN" altLang="en-US"/>
              <a:t>查看或者测试，使用</a:t>
            </a:r>
            <a:r>
              <a:rPr lang="en-US" altLang="zh-CN"/>
              <a:t>show</a:t>
            </a:r>
            <a:r>
              <a:rPr lang="zh-CN" altLang="en-US"/>
              <a:t>的时候，要在前面加个</a:t>
            </a:r>
            <a:r>
              <a:rPr lang="en-US" altLang="zh-CN" smtClean="0"/>
              <a:t>DO</a:t>
            </a:r>
          </a:p>
          <a:p>
            <a:r>
              <a:rPr lang="en-US" altLang="zh-CN" smtClean="0"/>
              <a:t>Show ip route </a:t>
            </a:r>
            <a:r>
              <a:rPr lang="zh-CN" altLang="en-US" smtClean="0"/>
              <a:t>查看路由配置情况</a:t>
            </a:r>
            <a:endParaRPr lang="en-US" altLang="zh-CN"/>
          </a:p>
          <a:p>
            <a:r>
              <a:rPr lang="en-US" altLang="zh-CN" smtClean="0"/>
              <a:t>rip</a:t>
            </a:r>
            <a:r>
              <a:rPr lang="zh-CN" altLang="en-US" smtClean="0"/>
              <a:t>两个版本不能混用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66709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跋涉">
  <a:themeElements>
    <a:clrScheme name="跋涉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跋涉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跋涉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05000"/>
              </a:schemeClr>
            </a:duotone>
          </a:blip>
          <a:tile tx="0" ty="0" sx="95000" sy="95000" flip="none" algn="t"/>
        </a:blipFill>
        <a:blipFill>
          <a:blip xmlns:r="http://schemas.openxmlformats.org/officeDocument/2006/relationships" r:embed="rId2">
            <a:duotone>
              <a:schemeClr val="phClr">
                <a:shade val="30000"/>
                <a:satMod val="455000"/>
              </a:schemeClr>
              <a:schemeClr val="phClr">
                <a:tint val="95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Trek</Template>
  <TotalTime>197</TotalTime>
  <Words>84</Words>
  <Application>Microsoft Office PowerPoint</Application>
  <PresentationFormat>全屏显示(4:3)</PresentationFormat>
  <Paragraphs>12</Paragraphs>
  <Slides>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4" baseType="lpstr">
      <vt:lpstr>跋涉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微软用户</cp:lastModifiedBy>
  <cp:revision>16</cp:revision>
  <dcterms:created xsi:type="dcterms:W3CDTF">2020-10-05T02:52:15Z</dcterms:created>
  <dcterms:modified xsi:type="dcterms:W3CDTF">2020-10-24T10:18:27Z</dcterms:modified>
</cp:coreProperties>
</file>