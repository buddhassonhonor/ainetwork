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3" r:id="rId7"/>
    <p:sldId id="259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4F7E-6A79-4C04-BAC2-B13F82B28FC7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F5124-C05A-42CC-B1A7-D0D43C6B69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57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ip route 0.0.0.0 0.0.0.0 nexthop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F5124-C05A-42CC-B1A7-D0D43C6B69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5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3A478-B401-75AF-29C8-82CF48F13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30FDDD-D910-ADCD-0FE9-02EFE23B0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88179-C215-B6AE-A1FF-16DD48C3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43F30-6D7A-4138-7DB1-8003B5D9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80985-291C-7661-1A63-4BC72071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03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24954-0D18-2E09-8F09-4CCF620E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CAA62-8082-4C64-6A64-81EA0A935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D767B-059A-2798-4D7D-3022185A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DB7BD-83C9-9631-05D5-2AFEBB8E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6D7D96-86DE-8384-96F6-0C072CF3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66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032F6-CBE1-E50D-5776-F34E3F9D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7436A3-FDD6-1C5B-E147-6FCAF484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FC27F7-5B9D-5CF4-F23C-06314EBD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9DDC4-EB18-8513-7285-36B810A43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F02ED-464F-8DF1-4617-8992F778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3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62185-9B1A-7A72-12A7-A679B190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3C17E0-9FB4-5795-3E54-FAB5BEA2D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890D74-9058-F090-3051-F3191E5B5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862EBE-2631-4E8F-F042-005F072E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91C8F-F3EC-59D1-96C3-255F85D4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87AD01-27B5-31A5-829F-B612497B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2D4A8-CA38-A1CE-FA16-888B4676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998217-FD81-C8D2-DB06-2727CC43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614B5-E50D-7185-F02E-BC99A6CCB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34E5EB-9B54-FE4B-AA7B-1CDC59309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CBEF67-38B8-54C7-BD0C-D54F1682C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06B6F-90E9-3222-5F3F-A570E54E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4294EB-F16E-F3C9-47F3-6B84317C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E39DC4-F9CA-20D1-0993-C74318AD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36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FE64C-FD74-102D-1680-7A3199AF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7B990-B8B0-DD81-DA64-42B1B86B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7CAE6-06F7-9A15-35E8-20D6490A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F640FD-5B59-C0BF-620B-5B4BDD97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34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562E15-491C-6367-5846-6C6924E0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E60F14-69F5-73B9-DE0A-942DC508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A7669-4D46-67F7-1CB1-84C63763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77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BE03C-3F51-C5F9-51D3-90CCA755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598EF-1F7A-B3A5-EFA9-9164EA798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3F6BC3-DD45-4B56-E900-4AE8EB3CB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043551-BCA3-8D0E-1185-2D97FAB0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7CF72-622C-3D16-2E75-61FF700E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7AFD95-27B1-B8FE-D236-C6460FEE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1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948D6-88A3-0B23-96DC-9A28E6EC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C2D615-6CF5-DAAC-AAFD-3884296AF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BEB845-639D-B1EF-EA3B-7E3BA5683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1B055B-A5BF-26E2-0931-0081AEF2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B3475-F013-4ED2-36DD-7A900A22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6C000-FF2E-37CC-88F8-FD98E1B3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69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5AD8D-E84F-1925-647C-53D07DB5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D91EC1-DB34-AAF6-49C8-32680E0B4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1A12A-1747-CA9C-6E3C-A0D8AF96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6EE6D-A037-4D81-5C1D-689C961B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D9777F-5A13-EB3D-B5F3-96BAC727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16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038F5F-4B4D-C47A-5912-5AC2E6756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C73CB-D069-87DE-7AC1-97F7C9866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C7803-8768-E68D-39F0-678E3B3C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CA8F2-4628-8CB2-989C-BD5DCADD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B21D3-2A12-662F-5AC3-6010291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5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5682F9-8927-EA82-037D-440A625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D0E745-D06A-C5B1-963A-ED77D90E5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E57869-756F-6397-09FA-0626FD5BC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E743D-59D9-4C45-90D4-AC61267212F9}" type="datetimeFigureOut">
              <a:rPr lang="zh-CN" altLang="en-US" smtClean="0"/>
              <a:t>2022/11/11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31210-DACA-B39D-0301-8D1A7ED05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818BF6-151D-D6FA-1F0E-DBC8AA6A9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82F78-F037-4875-B664-3CAE8FFCB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79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A0D20-32B5-2B71-4CCF-8D6A71BEF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标准访问控制列表实验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334DA3-D006-89D9-08F1-974BA60C6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8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779EB-E273-EB24-0FFC-BAC20FC1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45" y="198870"/>
            <a:ext cx="10515600" cy="13255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18509E-FEDE-2C91-7019-083B9C81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45" y="181638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/>
              <a:t>ACL </a:t>
            </a:r>
            <a:r>
              <a:rPr lang="zh-CN" altLang="en-US"/>
              <a:t>的全称为接入控制列表（</a:t>
            </a:r>
            <a:r>
              <a:rPr lang="en-US" altLang="zh-CN"/>
              <a:t>Access Control Lists</a:t>
            </a:r>
            <a:r>
              <a:rPr lang="zh-CN" altLang="en-US"/>
              <a:t>），也称</a:t>
            </a:r>
            <a:r>
              <a:rPr lang="zh-CN" altLang="en-US">
                <a:solidFill>
                  <a:srgbClr val="FF0000"/>
                </a:solidFill>
              </a:rPr>
              <a:t>访问控制列表</a:t>
            </a:r>
            <a:r>
              <a:rPr lang="zh-CN" altLang="en-US"/>
              <a:t>（</a:t>
            </a:r>
            <a:r>
              <a:rPr lang="en-US" altLang="zh-CN"/>
              <a:t>AccessLists</a:t>
            </a:r>
            <a:r>
              <a:rPr lang="zh-CN" altLang="en-US"/>
              <a:t>），俗称防火墙，在有的文档中还称包过滤。</a:t>
            </a:r>
            <a:endParaRPr lang="en-US" altLang="zh-CN"/>
          </a:p>
          <a:p>
            <a:r>
              <a:rPr lang="en-US" altLang="zh-CN"/>
              <a:t>ACLs </a:t>
            </a:r>
            <a:r>
              <a:rPr lang="zh-CN" altLang="en-US"/>
              <a:t>通过定义一些规则对网络设备接口上的数据报文进行控制；允许通过或丢弃，从而提高网络可管理型和安全性；</a:t>
            </a:r>
            <a:endParaRPr lang="en-US" altLang="zh-CN"/>
          </a:p>
          <a:p>
            <a:r>
              <a:rPr lang="en-US" altLang="zh-CN"/>
              <a:t>IP ACL </a:t>
            </a:r>
            <a:r>
              <a:rPr lang="zh-CN" altLang="en-US"/>
              <a:t>分为两种：标准 </a:t>
            </a:r>
            <a:r>
              <a:rPr lang="en-US" altLang="zh-CN"/>
              <a:t>IP </a:t>
            </a:r>
            <a:r>
              <a:rPr lang="zh-CN" altLang="en-US"/>
              <a:t>访问列表和扩展 </a:t>
            </a:r>
            <a:r>
              <a:rPr lang="en-US" altLang="zh-CN"/>
              <a:t>IP </a:t>
            </a:r>
            <a:r>
              <a:rPr lang="zh-CN" altLang="en-US"/>
              <a:t>访问列表，编号范围为 </a:t>
            </a:r>
            <a:r>
              <a:rPr lang="en-US" altLang="zh-CN"/>
              <a:t>1</a:t>
            </a:r>
            <a:r>
              <a:rPr lang="zh-CN" altLang="en-US"/>
              <a:t>～</a:t>
            </a:r>
            <a:r>
              <a:rPr lang="en-US" altLang="zh-CN"/>
              <a:t>99</a:t>
            </a:r>
            <a:r>
              <a:rPr lang="zh-CN" altLang="en-US"/>
              <a:t>、</a:t>
            </a:r>
            <a:r>
              <a:rPr lang="en-US" altLang="zh-CN"/>
              <a:t>1300</a:t>
            </a:r>
            <a:r>
              <a:rPr lang="zh-CN" altLang="en-US"/>
              <a:t>～</a:t>
            </a:r>
            <a:r>
              <a:rPr lang="en-US" altLang="zh-CN"/>
              <a:t>1999</a:t>
            </a:r>
            <a:r>
              <a:rPr lang="zh-CN" altLang="en-US"/>
              <a:t>、</a:t>
            </a:r>
            <a:r>
              <a:rPr lang="en-US" altLang="zh-CN"/>
              <a:t>100</a:t>
            </a:r>
            <a:r>
              <a:rPr lang="zh-CN" altLang="en-US"/>
              <a:t>～</a:t>
            </a:r>
            <a:r>
              <a:rPr lang="en-US" altLang="zh-CN"/>
              <a:t>199</a:t>
            </a:r>
            <a:r>
              <a:rPr lang="zh-CN" altLang="en-US"/>
              <a:t>、</a:t>
            </a:r>
            <a:r>
              <a:rPr lang="en-US" altLang="zh-CN"/>
              <a:t>2000</a:t>
            </a:r>
            <a:r>
              <a:rPr lang="zh-CN" altLang="en-US"/>
              <a:t>～</a:t>
            </a:r>
            <a:r>
              <a:rPr lang="en-US" altLang="zh-CN"/>
              <a:t>2699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标准 </a:t>
            </a:r>
            <a:r>
              <a:rPr lang="en-US" altLang="zh-CN">
                <a:solidFill>
                  <a:srgbClr val="FF0000"/>
                </a:solidFill>
              </a:rPr>
              <a:t>IP </a:t>
            </a:r>
            <a:r>
              <a:rPr lang="zh-CN" altLang="en-US">
                <a:solidFill>
                  <a:srgbClr val="FF0000"/>
                </a:solidFill>
              </a:rPr>
              <a:t>访问控制列表</a:t>
            </a:r>
            <a:r>
              <a:rPr lang="zh-CN" altLang="en-US"/>
              <a:t>可以根据数据包的源 </a:t>
            </a:r>
            <a:r>
              <a:rPr lang="en-US" altLang="zh-CN"/>
              <a:t>IP </a:t>
            </a:r>
            <a:r>
              <a:rPr lang="zh-CN" altLang="en-US"/>
              <a:t>地址定义规则，进行数据包的过滤； </a:t>
            </a:r>
            <a:endParaRPr lang="en-US" altLang="zh-CN"/>
          </a:p>
          <a:p>
            <a:r>
              <a:rPr lang="zh-CN" altLang="en-US"/>
              <a:t>扩展 </a:t>
            </a:r>
            <a:r>
              <a:rPr lang="en-US" altLang="zh-CN"/>
              <a:t>IP </a:t>
            </a:r>
            <a:r>
              <a:rPr lang="zh-CN" altLang="en-US"/>
              <a:t>访问列表可以根据数据包的源 </a:t>
            </a:r>
            <a:r>
              <a:rPr lang="en-US" altLang="zh-CN"/>
              <a:t>IP</a:t>
            </a:r>
            <a:r>
              <a:rPr lang="zh-CN" altLang="en-US"/>
              <a:t>、目的 </a:t>
            </a:r>
            <a:r>
              <a:rPr lang="en-US" altLang="zh-CN"/>
              <a:t>IP</a:t>
            </a:r>
            <a:r>
              <a:rPr lang="zh-CN" altLang="en-US"/>
              <a:t>、源端口、目的端口、协议来定义规则，进行数据包的过滤；</a:t>
            </a:r>
            <a:r>
              <a:rPr lang="en-US" altLang="zh-CN"/>
              <a:t>IP ACL </a:t>
            </a:r>
            <a:r>
              <a:rPr lang="zh-CN" altLang="en-US"/>
              <a:t>基于接口进行规则的应用，分为：入栈应用和出栈应用；</a:t>
            </a:r>
          </a:p>
        </p:txBody>
      </p:sp>
    </p:spTree>
    <p:extLst>
      <p:ext uri="{BB962C8B-B14F-4D97-AF65-F5344CB8AC3E}">
        <p14:creationId xmlns:p14="http://schemas.microsoft.com/office/powerpoint/2010/main" val="40629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FB416-6309-0110-CB22-1CD5CD85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91" y="18255"/>
            <a:ext cx="10515600" cy="1325563"/>
          </a:xfrm>
        </p:spPr>
        <p:txBody>
          <a:bodyPr/>
          <a:lstStyle/>
          <a:p>
            <a:r>
              <a:rPr lang="zh-CN" altLang="en-US"/>
              <a:t>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6E7E2-1FD1-3565-A717-37A2BF8A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1" y="1293091"/>
            <a:ext cx="10873509" cy="4883872"/>
          </a:xfrm>
        </p:spPr>
        <p:txBody>
          <a:bodyPr>
            <a:normAutofit/>
          </a:bodyPr>
          <a:lstStyle/>
          <a:p>
            <a:r>
              <a:rPr lang="zh-CN" altLang="en-US" sz="1800"/>
              <a:t>为各 </a:t>
            </a:r>
            <a:r>
              <a:rPr lang="en-US" altLang="zh-CN" sz="1800"/>
              <a:t>PC </a:t>
            </a:r>
            <a:r>
              <a:rPr lang="zh-CN" altLang="en-US" sz="1800"/>
              <a:t>设置 </a:t>
            </a:r>
            <a:r>
              <a:rPr lang="en-US" altLang="zh-CN" sz="1800"/>
              <a:t>IP </a:t>
            </a:r>
            <a:r>
              <a:rPr lang="zh-CN" altLang="en-US" sz="1800"/>
              <a:t>及网关地址</a:t>
            </a:r>
            <a:endParaRPr lang="en-US" altLang="zh-CN" sz="1800"/>
          </a:p>
          <a:p>
            <a:r>
              <a:rPr lang="zh-CN" altLang="en-US" sz="1800"/>
              <a:t>对各 </a:t>
            </a:r>
            <a:r>
              <a:rPr lang="en-US" altLang="zh-CN" sz="1800"/>
              <a:t>Router </a:t>
            </a:r>
            <a:r>
              <a:rPr lang="zh-CN" altLang="en-US" sz="1800"/>
              <a:t>进行相关配置</a:t>
            </a:r>
            <a:r>
              <a:rPr lang="en-US" altLang="zh-CN" sz="1800"/>
              <a:t>(</a:t>
            </a:r>
            <a:r>
              <a:rPr lang="zh-CN" altLang="en-US" sz="1800"/>
              <a:t>接口 </a:t>
            </a:r>
            <a:r>
              <a:rPr lang="en-US" altLang="zh-CN" sz="1800"/>
              <a:t>IP </a:t>
            </a:r>
            <a:r>
              <a:rPr lang="zh-CN" altLang="en-US" sz="1800"/>
              <a:t>等</a:t>
            </a:r>
            <a:r>
              <a:rPr lang="en-US" altLang="zh-CN" sz="1800"/>
              <a:t>)</a:t>
            </a:r>
          </a:p>
          <a:p>
            <a:r>
              <a:rPr lang="zh-CN" altLang="en-US" sz="1800"/>
              <a:t>为各 </a:t>
            </a:r>
            <a:r>
              <a:rPr lang="en-US" altLang="zh-CN" sz="1800"/>
              <a:t>Router </a:t>
            </a:r>
            <a:r>
              <a:rPr lang="zh-CN" altLang="en-US" sz="1800"/>
              <a:t>配置静态路由或默认路由</a:t>
            </a:r>
            <a:endParaRPr lang="en-US" altLang="zh-CN" sz="1800"/>
          </a:p>
          <a:p>
            <a:pPr lvl="1"/>
            <a:r>
              <a:rPr lang="en-US" altLang="zh-CN" sz="1600"/>
              <a:t>ip route 0.0.0.0 0.0.0.0 nexthop</a:t>
            </a:r>
            <a:endParaRPr lang="zh-CN" altLang="en-US" sz="1600"/>
          </a:p>
          <a:p>
            <a:pPr lvl="1"/>
            <a:endParaRPr lang="en-US" altLang="zh-CN" sz="1400"/>
          </a:p>
          <a:p>
            <a:r>
              <a:rPr lang="zh-CN" altLang="en-US" sz="1800"/>
              <a:t>测试并确保各终端</a:t>
            </a:r>
            <a:r>
              <a:rPr lang="en-US" altLang="zh-CN" sz="1800"/>
              <a:t>(PC)</a:t>
            </a:r>
            <a:r>
              <a:rPr lang="zh-CN" altLang="en-US" sz="1800"/>
              <a:t>之间的互通性</a:t>
            </a:r>
            <a:endParaRPr lang="en-US" altLang="zh-CN" sz="1800"/>
          </a:p>
          <a:p>
            <a:r>
              <a:rPr lang="zh-CN" altLang="en-US" sz="1800"/>
              <a:t>在 </a:t>
            </a:r>
            <a:r>
              <a:rPr lang="en-US" altLang="zh-CN" sz="1800"/>
              <a:t>R0 </a:t>
            </a:r>
            <a:r>
              <a:rPr lang="zh-CN" altLang="en-US" sz="1800"/>
              <a:t>上配置</a:t>
            </a:r>
            <a:r>
              <a:rPr lang="en-US" altLang="zh-CN" sz="1800"/>
              <a:t>ACL </a:t>
            </a:r>
            <a:r>
              <a:rPr lang="zh-CN" altLang="en-US" sz="1800"/>
              <a:t>实现以下功能：</a:t>
            </a:r>
            <a:endParaRPr lang="en-US" altLang="zh-CN" sz="1800"/>
          </a:p>
          <a:p>
            <a:pPr lvl="1"/>
            <a:r>
              <a:rPr lang="en-US" altLang="zh-CN" sz="1600"/>
              <a:t>pc0 </a:t>
            </a:r>
            <a:r>
              <a:rPr lang="zh-CN" altLang="en-US" sz="1600"/>
              <a:t>能访问 </a:t>
            </a:r>
            <a:r>
              <a:rPr lang="en-US" altLang="zh-CN" sz="1600"/>
              <a:t>server0</a:t>
            </a:r>
          </a:p>
          <a:p>
            <a:pPr lvl="1"/>
            <a:r>
              <a:rPr lang="en-US" altLang="zh-CN" sz="1600"/>
              <a:t>PC0</a:t>
            </a:r>
            <a:r>
              <a:rPr lang="zh-CN" altLang="en-US" sz="1600"/>
              <a:t>所在网段其它主机不能访问 </a:t>
            </a:r>
            <a:r>
              <a:rPr lang="en-US" altLang="zh-CN" sz="1600"/>
              <a:t>server0</a:t>
            </a:r>
            <a:r>
              <a:rPr lang="zh-CN" altLang="en-US" sz="1600"/>
              <a:t>；</a:t>
            </a:r>
            <a:endParaRPr lang="en-US" altLang="zh-CN" sz="1600"/>
          </a:p>
          <a:p>
            <a:pPr lvl="1"/>
            <a:r>
              <a:rPr lang="zh-CN" altLang="en-US" sz="1600"/>
              <a:t> 其它网段的流量都可以正常访问 </a:t>
            </a:r>
            <a:r>
              <a:rPr lang="en-US" altLang="zh-CN" sz="1600"/>
              <a:t>server0</a:t>
            </a:r>
          </a:p>
          <a:p>
            <a:pPr lvl="1"/>
            <a:r>
              <a:rPr lang="zh-CN" altLang="en-US" sz="1600"/>
              <a:t>除</a:t>
            </a:r>
            <a:r>
              <a:rPr lang="en-US" altLang="zh-CN" sz="1600"/>
              <a:t>server0</a:t>
            </a:r>
            <a:r>
              <a:rPr lang="zh-CN" altLang="en-US" sz="1600"/>
              <a:t>外的</a:t>
            </a:r>
            <a:r>
              <a:rPr lang="en-US" altLang="zh-CN" sz="1600"/>
              <a:t>PC</a:t>
            </a:r>
            <a:r>
              <a:rPr lang="zh-CN" altLang="en-US" sz="1600"/>
              <a:t>之间可以正常访问</a:t>
            </a:r>
            <a:r>
              <a:rPr lang="en-US" altLang="zh-CN" sz="1600"/>
              <a:t>.</a:t>
            </a:r>
            <a:endParaRPr lang="zh-CN" altLang="en-US" sz="16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5F8B05-7E91-0454-C018-3A8845334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45" y="681036"/>
            <a:ext cx="53244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2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8DE06-9A19-6E6C-0555-8B31526B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89187A-60E2-B3F9-F823-9BD6B824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/>
              <a:t>标准访问控制列表的配置：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• </a:t>
            </a:r>
            <a:r>
              <a:rPr lang="zh-CN" altLang="en-US"/>
              <a:t>第一步，使用 </a:t>
            </a:r>
            <a:r>
              <a:rPr lang="en-US" altLang="zh-CN"/>
              <a:t>access-list </a:t>
            </a:r>
            <a:r>
              <a:rPr lang="zh-CN" altLang="en-US"/>
              <a:t>命令创建访问控制列表</a:t>
            </a:r>
            <a:r>
              <a:rPr lang="en-US" altLang="zh-CN"/>
              <a:t>Router(</a:t>
            </a:r>
            <a:r>
              <a:rPr lang="en-US" altLang="zh-CN">
                <a:solidFill>
                  <a:srgbClr val="FF0000"/>
                </a:solidFill>
              </a:rPr>
              <a:t>config</a:t>
            </a:r>
            <a:r>
              <a:rPr lang="en-US" altLang="zh-CN"/>
              <a:t>)#access-list </a:t>
            </a:r>
            <a:r>
              <a:rPr lang="en-US" altLang="zh-CN" u="sng"/>
              <a:t>access-list-number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{ permit | deny </a:t>
            </a:r>
            <a:r>
              <a:rPr lang="en-US" altLang="zh-CN"/>
              <a:t>} source [ source-wildcard ] [log]12</a:t>
            </a:r>
          </a:p>
          <a:p>
            <a:pPr marL="0" indent="0">
              <a:buNone/>
            </a:pPr>
            <a:r>
              <a:rPr lang="en-US" altLang="zh-CN"/>
              <a:t>• </a:t>
            </a:r>
            <a:r>
              <a:rPr lang="zh-CN" altLang="en-US"/>
              <a:t>第二步，使用 </a:t>
            </a:r>
            <a:r>
              <a:rPr lang="en-US" altLang="zh-CN"/>
              <a:t>ip access-group </a:t>
            </a:r>
            <a:r>
              <a:rPr lang="zh-CN" altLang="en-US"/>
              <a:t>命令把访问控制列表应用到某接口</a:t>
            </a:r>
            <a:r>
              <a:rPr lang="en-US" altLang="zh-CN"/>
              <a:t>Router(config-if)#ip access-group access-list-number { in | out }</a:t>
            </a:r>
          </a:p>
          <a:p>
            <a:pPr marL="0" indent="0">
              <a:buNone/>
            </a:pP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en-US" altLang="zh-CN" b="0" i="0">
                <a:solidFill>
                  <a:srgbClr val="FF0000"/>
                </a:solidFill>
                <a:effectLst/>
                <a:latin typeface="-apple-system"/>
              </a:rPr>
              <a:t>Source-wildcard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: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源地址</a:t>
            </a:r>
            <a:r>
              <a:rPr lang="zh-CN" altLang="en-US" b="0" i="0">
                <a:solidFill>
                  <a:srgbClr val="FF0000"/>
                </a:solidFill>
                <a:effectLst/>
                <a:latin typeface="-apple-system"/>
              </a:rPr>
              <a:t>通配符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掩码，可选项。通配符掩码是一个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32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比特位的数字字符串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使用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或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0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来表示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它被用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“.”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分成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4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组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每组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8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位。在通配符掩码位中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,0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表示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“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检查相应的位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”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zh-CN" altLang="en-US" b="0" i="0">
                <a:solidFill>
                  <a:srgbClr val="FF0000"/>
                </a:solidFill>
                <a:effectLst/>
                <a:latin typeface="-apple-system"/>
              </a:rPr>
              <a:t>必须匹配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）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而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表示不检查相应位。通配符掩码相当于</a:t>
            </a:r>
            <a:r>
              <a:rPr lang="zh-CN" altLang="en-US" b="0" i="0">
                <a:solidFill>
                  <a:srgbClr val="FF0000"/>
                </a:solidFill>
                <a:effectLst/>
                <a:latin typeface="-apple-system"/>
              </a:rPr>
              <a:t>子网掩码的反码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"access-list"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命令前加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"no"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的形式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来删除一个已经建立的标准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ACL</a:t>
            </a:r>
          </a:p>
          <a:p>
            <a:pPr marL="0" indent="0">
              <a:buNone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79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FB968-19B3-D5FB-40F5-98B3E985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通配符示例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82432-25AC-73A7-7282-0BCB78F27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access-list 1 permit 192.168.1.48     0.0.0.15</a:t>
            </a:r>
          </a:p>
          <a:p>
            <a:pPr algn="l"/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这句话的意思是建立一个名为“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1”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的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ACL 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（也即：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access-list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），它允许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192.168.1.48--192.168.1.63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的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IP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地址</a:t>
            </a:r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en-US" altLang="zh-CN">
                <a:solidFill>
                  <a:srgbClr val="4D4D4D"/>
                </a:solidFill>
                <a:latin typeface="-apple-system"/>
              </a:rPr>
              <a:t>IP:48==00110000  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通配符：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15=</a:t>
            </a:r>
            <a:r>
              <a:rPr lang="en-US" altLang="zh-CN">
                <a:solidFill>
                  <a:srgbClr val="FF0000"/>
                </a:solidFill>
                <a:latin typeface="-apple-system"/>
              </a:rPr>
              <a:t>0000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1111 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即要求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IP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的前四比特匹配保持不变，后四位任意。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pPr algn="l"/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范围即</a:t>
            </a:r>
            <a:r>
              <a:rPr lang="en-US" altLang="zh-CN" b="0" i="0">
                <a:solidFill>
                  <a:srgbClr val="FF0000"/>
                </a:solidFill>
                <a:effectLst/>
                <a:latin typeface="-apple-system"/>
              </a:rPr>
              <a:t>0011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0000-</a:t>
            </a:r>
            <a:r>
              <a:rPr lang="en-US" altLang="zh-CN" b="0" i="0">
                <a:solidFill>
                  <a:srgbClr val="FF0000"/>
                </a:solidFill>
                <a:effectLst/>
                <a:latin typeface="-apple-system"/>
              </a:rPr>
              <a:t>0011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1111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0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C49D3-8558-B920-9642-D7C06559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in or out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41435-08DD-8B07-BA24-3E5E72B2F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interface fastethernet 0/0 </a:t>
            </a:r>
            <a:r>
              <a:rPr lang="zh-CN" altLang="en-US"/>
              <a:t>进入路由器的</a:t>
            </a:r>
            <a:r>
              <a:rPr lang="en-US" altLang="zh-CN"/>
              <a:t>fastethernet 0/0</a:t>
            </a:r>
            <a:r>
              <a:rPr lang="zh-CN" altLang="en-US"/>
              <a:t>端口。</a:t>
            </a:r>
            <a:endParaRPr lang="en-US" altLang="zh-CN"/>
          </a:p>
          <a:p>
            <a:r>
              <a:rPr lang="zh-CN" altLang="en-US"/>
              <a:t>然后再输入语句</a:t>
            </a:r>
            <a:r>
              <a:rPr lang="en-US" altLang="zh-CN"/>
              <a:t>ip access-group 1 in</a:t>
            </a:r>
            <a:r>
              <a:rPr lang="zh-CN" altLang="en-US"/>
              <a:t>，表示让</a:t>
            </a:r>
            <a:r>
              <a:rPr lang="en-US" altLang="zh-CN"/>
              <a:t>access-list</a:t>
            </a:r>
            <a:r>
              <a:rPr lang="zh-CN" altLang="en-US"/>
              <a:t>组里面的</a:t>
            </a:r>
            <a:r>
              <a:rPr lang="en-US" altLang="zh-CN"/>
              <a:t>1</a:t>
            </a:r>
            <a:r>
              <a:rPr lang="zh-CN" altLang="en-US"/>
              <a:t>号</a:t>
            </a:r>
            <a:r>
              <a:rPr lang="en-US" altLang="zh-CN"/>
              <a:t>ACL</a:t>
            </a:r>
            <a:r>
              <a:rPr lang="zh-CN" altLang="en-US"/>
              <a:t>应用到</a:t>
            </a:r>
            <a:r>
              <a:rPr lang="en-US" altLang="zh-CN"/>
              <a:t>fastethernet 0/0</a:t>
            </a:r>
            <a:r>
              <a:rPr lang="zh-CN" altLang="en-US"/>
              <a:t>端口的</a:t>
            </a:r>
            <a:r>
              <a:rPr lang="en-US" altLang="zh-CN"/>
              <a:t>in</a:t>
            </a:r>
            <a:r>
              <a:rPr lang="zh-CN" altLang="en-US"/>
              <a:t>方向（也即，接口流入方向）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0806E-A02A-45D1-D1FD-8A3F84C9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357" y="3153064"/>
            <a:ext cx="69532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0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E1C23-3851-F299-D566-E2EA0CD5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access-list 1</a:t>
            </a:r>
            <a:r>
              <a:rPr lang="zh-CN" altLang="en-US"/>
              <a:t>的规则按先后顺序匹配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63C83-199B-6B2D-EEDD-EAD2EA0D6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Router(config)#access-list 1 permit 192.168.1.2 0.0.0.0</a:t>
            </a:r>
          </a:p>
          <a:p>
            <a:pPr lvl="1"/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等价于：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access-list 1 permit host 192.168.1.2</a:t>
            </a:r>
            <a:endParaRPr lang="en-US" altLang="zh-CN">
              <a:effectLst/>
            </a:endParaRPr>
          </a:p>
          <a:p>
            <a:r>
              <a:rPr lang="en-US" altLang="zh-CN">
                <a:effectLst/>
              </a:rPr>
              <a:t>Router(config)#access-list 1 deny 192.168.1.0 0.0.0.255</a:t>
            </a:r>
          </a:p>
          <a:p>
            <a:r>
              <a:rPr lang="en-US" altLang="zh-CN">
                <a:effectLst/>
              </a:rPr>
              <a:t>Router(config)#access-list 1 permit </a:t>
            </a:r>
            <a:r>
              <a:rPr lang="en-US" altLang="zh-CN">
                <a:solidFill>
                  <a:srgbClr val="FF0000"/>
                </a:solidFill>
                <a:effectLst/>
              </a:rPr>
              <a:t>any</a:t>
            </a:r>
          </a:p>
          <a:p>
            <a:r>
              <a:rPr lang="en-US" altLang="zh-CN">
                <a:effectLst/>
              </a:rPr>
              <a:t>Router(config)#int s2/0</a:t>
            </a:r>
          </a:p>
          <a:p>
            <a:r>
              <a:rPr lang="en-US" altLang="zh-CN">
                <a:effectLst/>
              </a:rPr>
              <a:t>Router(config-if)#ip access-group 1 </a:t>
            </a:r>
            <a:r>
              <a:rPr lang="en-US" altLang="zh-CN">
                <a:solidFill>
                  <a:srgbClr val="FF0000"/>
                </a:solidFill>
                <a:effectLst/>
              </a:rPr>
              <a:t>out</a:t>
            </a: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router#show access-list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68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1DBD9-21B6-7301-8F4B-A99653AE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DF5CD-F516-68CD-20B7-D670929F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若第一条语句匹配成功，则</a:t>
            </a:r>
            <a:r>
              <a:rPr lang="zh-CN" altLang="en-US">
                <a:solidFill>
                  <a:srgbClr val="FF0000"/>
                </a:solidFill>
              </a:rPr>
              <a:t>不再处理其他语句</a:t>
            </a:r>
            <a:r>
              <a:rPr lang="zh-CN" altLang="en-US"/>
              <a:t>，路由器将允许（</a:t>
            </a:r>
            <a:r>
              <a:rPr lang="en-US" altLang="zh-CN"/>
              <a:t>Permit</a:t>
            </a:r>
            <a:r>
              <a:rPr lang="zh-CN" altLang="en-US"/>
              <a:t>）或拒绝（</a:t>
            </a:r>
            <a:r>
              <a:rPr lang="en-US" altLang="zh-CN"/>
              <a:t>Deny</a:t>
            </a:r>
            <a:r>
              <a:rPr lang="zh-CN" altLang="en-US"/>
              <a:t>）分组通过；</a:t>
            </a:r>
          </a:p>
          <a:p>
            <a:r>
              <a:rPr lang="zh-CN" altLang="en-US"/>
              <a:t> 若不匹配，则与下一条 </a:t>
            </a:r>
            <a:r>
              <a:rPr lang="en-US" altLang="zh-CN"/>
              <a:t>ACL </a:t>
            </a:r>
            <a:r>
              <a:rPr lang="zh-CN" altLang="en-US"/>
              <a:t>语句比较，直到匹配成功并进行允许或拒绝处理；</a:t>
            </a:r>
          </a:p>
          <a:p>
            <a:r>
              <a:rPr lang="zh-CN" altLang="en-US"/>
              <a:t> 若整个 </a:t>
            </a:r>
            <a:r>
              <a:rPr lang="en-US" altLang="zh-CN"/>
              <a:t>ACL </a:t>
            </a:r>
            <a:r>
              <a:rPr lang="zh-CN" altLang="en-US"/>
              <a:t>列表中没有匹配的语句，则分组将默认被丢弃</a:t>
            </a:r>
            <a:r>
              <a:rPr lang="en-US" altLang="zh-CN"/>
              <a:t>/</a:t>
            </a:r>
            <a:r>
              <a:rPr lang="zh-CN" altLang="en-US"/>
              <a:t>拒绝；</a:t>
            </a:r>
          </a:p>
        </p:txBody>
      </p:sp>
    </p:spTree>
    <p:extLst>
      <p:ext uri="{BB962C8B-B14F-4D97-AF65-F5344CB8AC3E}">
        <p14:creationId xmlns:p14="http://schemas.microsoft.com/office/powerpoint/2010/main" val="4214760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96CF3-1CFE-E25B-AF00-1FD2C39A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8683DB-AE0C-AF6B-35BB-A1B4205B6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access-list 1 deny host 192.46.27.8</a:t>
            </a:r>
            <a:b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access-list 1 permit any</a:t>
            </a:r>
          </a:p>
          <a:p>
            <a:pPr algn="just"/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注意上述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条访问列表语句的次序。第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条语句把来自源地址为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192.46.27.8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的数据包过滤掉，第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条语句则允许来自任何源地址的数据包通过访问列表作用的接口。</a:t>
            </a:r>
            <a:endParaRPr lang="en-US" altLang="zh-CN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如果改变上述语句的次序，那么访问列表将不能够阻止来自源地址为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192.46.27.8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的数据包通过接口。因为访问列表是按从上到下的次序执行语句的。</a:t>
            </a:r>
            <a:endParaRPr lang="en-US" altLang="zh-CN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在默认情况下，除非明确规定允许通过，访问列表总是阻止或拒绝一切数据包的通过，即实际上在每个访问列表的最后，都隐含有一条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"deny any"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的语句</a:t>
            </a:r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71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82C19D4-17BC-32B8-4445-E0CDBA79C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678" y="1063410"/>
            <a:ext cx="4312327" cy="57736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Router#show access-lists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Standard IP access list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 permit host 172.18.0.10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20 permit host 172.18.0.11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30 permit host 172.18.0.12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40 permit host 172.18.0.13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50 permit host 172.18.0.14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60 permit host 172.18.0.15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70 permit host 172.18.0.16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80 permit host 172.18.0.17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90 permit host 172.18.0.18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100 permit host 172.18.0.19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110 permit host 172.18.0.20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Router#show ip access-lists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Standard IP access list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 permit host 172.18.0.10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20 permit host 172.18.0.11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30 permit host 172.18.0.12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40 permit host 172.18.0.13</a:t>
            </a:r>
            <a:b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50 permit host 172.18.0.14</a:t>
            </a:r>
            <a:b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60 permit host 172.18.0.15</a:t>
            </a:r>
            <a:b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70 permit host 172.18.0.16</a:t>
            </a:r>
            <a:b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80 permit host 172.18.0.17</a:t>
            </a:r>
            <a:b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FF0000"/>
                </a:solidFill>
                <a:effectLst/>
                <a:latin typeface="-apple-system"/>
              </a:rPr>
              <a:t>    90 permit host 172.18.0.18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100 permit host 172.18.0.19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110 permit host 172.18.0.20</a:t>
            </a:r>
            <a:endParaRPr lang="zh-CN" altLang="en-US" sz="120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3AA2B6-153B-2E47-1676-89B9E67A3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1492" y="597477"/>
            <a:ext cx="4312328" cy="5995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删除</a:t>
            </a: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ACL</a:t>
            </a: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中的条目</a:t>
            </a:r>
            <a:br>
              <a:rPr lang="zh-CN" altLang="en-US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Router(config)#ip access-list standard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40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50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60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70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80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Router(config-std-nacl)#no 90</a:t>
            </a:r>
            <a:br>
              <a:rPr lang="en-US" altLang="zh-CN" sz="1200"/>
            </a:br>
            <a:br>
              <a:rPr lang="en-US" altLang="zh-CN" sz="1200"/>
            </a:b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再看一下条目，</a:t>
            </a: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40 50 60 70 80 90</a:t>
            </a: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已被删除</a:t>
            </a:r>
            <a:br>
              <a:rPr lang="zh-CN" altLang="en-US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Router#show ip access-lists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Standard IP access list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 permit host 172.18.0.10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20 permit host 172.18.0.11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30 permit host 172.18.0.12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100 permit host 172.18.0.19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110 permit host 172.18.0.20</a:t>
            </a:r>
            <a:br>
              <a:rPr lang="en-US" altLang="zh-CN" sz="1200"/>
            </a:b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如果要在中间添加条目</a:t>
            </a:r>
            <a:br>
              <a:rPr lang="zh-CN" altLang="en-US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Router(config)#ip access-list standard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Router(config-std-nacl)#50 permit 172.18.0.111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Router(config-std-nacl)#60 permit 172.18.0.222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Router(config-std-nacl)#55 permit 172.18.0.150</a:t>
            </a:r>
            <a:br>
              <a:rPr lang="en-US" altLang="zh-CN" sz="1200"/>
            </a:br>
            <a:br>
              <a:rPr lang="en-US" altLang="zh-CN" sz="1200"/>
            </a:br>
            <a:br>
              <a:rPr lang="en-US" altLang="zh-CN" sz="1200"/>
            </a:br>
            <a:r>
              <a:rPr lang="zh-CN" altLang="en-US" sz="1200" b="0" i="0">
                <a:solidFill>
                  <a:srgbClr val="4D4D4D"/>
                </a:solidFill>
                <a:effectLst/>
                <a:latin typeface="-apple-system"/>
              </a:rPr>
              <a:t>再看一下</a:t>
            </a:r>
            <a:br>
              <a:rPr lang="zh-CN" altLang="en-US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Router#show access-lists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Standard IP access list 20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 permit host 172.18.0.10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20 permit host 172.18.0.11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30 permit host 172.18.0.12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0070C0"/>
                </a:solidFill>
                <a:effectLst/>
                <a:latin typeface="-apple-system"/>
              </a:rPr>
              <a:t>    50 permit host 172.18.0.111</a:t>
            </a:r>
            <a:br>
              <a:rPr lang="en-US" altLang="zh-CN" sz="1200" b="0" i="0">
                <a:solidFill>
                  <a:srgbClr val="0070C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0070C0"/>
                </a:solidFill>
                <a:effectLst/>
                <a:latin typeface="-apple-system"/>
              </a:rPr>
              <a:t>    55 permit host 172.18.0.150</a:t>
            </a:r>
            <a:br>
              <a:rPr lang="en-US" altLang="zh-CN" sz="1200" b="0" i="0">
                <a:solidFill>
                  <a:srgbClr val="0070C0"/>
                </a:solidFill>
                <a:effectLst/>
                <a:latin typeface="-apple-system"/>
              </a:rPr>
            </a:br>
            <a:r>
              <a:rPr lang="en-US" altLang="zh-CN" sz="1200" b="0" i="0">
                <a:solidFill>
                  <a:srgbClr val="0070C0"/>
                </a:solidFill>
                <a:effectLst/>
                <a:latin typeface="-apple-system"/>
              </a:rPr>
              <a:t>    60 permit host 172.18.0.222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100 permit host 172.18.0.19</a:t>
            </a:r>
            <a:br>
              <a:rPr lang="en-US" altLang="zh-CN" sz="1200"/>
            </a:br>
            <a:r>
              <a:rPr lang="en-US" altLang="zh-CN" sz="1200" b="0" i="0">
                <a:solidFill>
                  <a:srgbClr val="4D4D4D"/>
                </a:solidFill>
                <a:effectLst/>
                <a:latin typeface="-apple-system"/>
              </a:rPr>
              <a:t>    110 permit host 172.18.0.20</a:t>
            </a:r>
            <a:endParaRPr lang="zh-CN" altLang="en-US" sz="12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B4B33F-70C5-D35E-F8C3-A0987DB00521}"/>
              </a:ext>
            </a:extLst>
          </p:cNvPr>
          <p:cNvSpPr txBox="1"/>
          <p:nvPr/>
        </p:nvSpPr>
        <p:spPr>
          <a:xfrm>
            <a:off x="2026328" y="22814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b="1" i="0">
                <a:solidFill>
                  <a:srgbClr val="222226"/>
                </a:solidFill>
                <a:effectLst/>
                <a:latin typeface="PingFang SC"/>
              </a:rPr>
              <a:t>Cisco</a:t>
            </a:r>
            <a:r>
              <a:rPr lang="zh-CN" altLang="en-US" b="1" i="0">
                <a:solidFill>
                  <a:srgbClr val="222226"/>
                </a:solidFill>
                <a:effectLst/>
                <a:latin typeface="PingFang SC"/>
              </a:rPr>
              <a:t>删除及添加</a:t>
            </a:r>
            <a:r>
              <a:rPr lang="en-US" altLang="zh-CN" b="1" i="0">
                <a:solidFill>
                  <a:srgbClr val="222226"/>
                </a:solidFill>
                <a:effectLst/>
                <a:latin typeface="PingFang SC"/>
              </a:rPr>
              <a:t>access-list</a:t>
            </a:r>
            <a:r>
              <a:rPr lang="zh-CN" altLang="en-US" b="1" i="0">
                <a:solidFill>
                  <a:srgbClr val="222226"/>
                </a:solidFill>
                <a:effectLst/>
                <a:latin typeface="PingFang SC"/>
              </a:rPr>
              <a:t>中的条目</a:t>
            </a:r>
          </a:p>
        </p:txBody>
      </p:sp>
    </p:spTree>
    <p:extLst>
      <p:ext uri="{BB962C8B-B14F-4D97-AF65-F5344CB8AC3E}">
        <p14:creationId xmlns:p14="http://schemas.microsoft.com/office/powerpoint/2010/main" val="28261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1181</Words>
  <Application>Microsoft Office PowerPoint</Application>
  <PresentationFormat>宽屏</PresentationFormat>
  <Paragraphs>52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-apple-system</vt:lpstr>
      <vt:lpstr>PingFang SC</vt:lpstr>
      <vt:lpstr>等线</vt:lpstr>
      <vt:lpstr>等线 Light</vt:lpstr>
      <vt:lpstr>微软雅黑</vt:lpstr>
      <vt:lpstr>Arial</vt:lpstr>
      <vt:lpstr>Office 主题​​</vt:lpstr>
      <vt:lpstr>标准访问控制列表实验</vt:lpstr>
      <vt:lpstr>PowerPoint 演示文稿</vt:lpstr>
      <vt:lpstr>实验步骤</vt:lpstr>
      <vt:lpstr>PowerPoint 演示文稿</vt:lpstr>
      <vt:lpstr>通配符示例</vt:lpstr>
      <vt:lpstr>in or out</vt:lpstr>
      <vt:lpstr>access-list 1的规则按先后顺序匹配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道人 观</dc:creator>
  <cp:lastModifiedBy>道人 观</cp:lastModifiedBy>
  <cp:revision>26</cp:revision>
  <dcterms:created xsi:type="dcterms:W3CDTF">2022-09-24T09:58:27Z</dcterms:created>
  <dcterms:modified xsi:type="dcterms:W3CDTF">2022-11-11T10:01:36Z</dcterms:modified>
</cp:coreProperties>
</file>